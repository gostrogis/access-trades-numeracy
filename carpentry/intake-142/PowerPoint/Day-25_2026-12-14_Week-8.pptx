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53.xml" ContentType="application/vnd.openxmlformats-officedocument.presentationml.notesSlide+xml"/>
  <Override PartName="/ppt/notesSlides/notesSlide156.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22" r:id="rId154"/>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25" r:id="rId157"/>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54" Type="http://schemas.openxmlformats.org/officeDocument/2006/relationships/slide" Target="slides/slide7.xml"/><Relationship Id="rId157" Type="http://schemas.openxmlformats.org/officeDocument/2006/relationships/slide" Target="slides/slide2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9:10 AM–9:25 AM  •  15 MIN TOTAL — shared across this phase’s slides.</a:t>
            </a:r>
          </a:p>
          <a:p/>
          <a:p>
            <a:r>
              <a:t>Our four stations use the listed exercise-book questions. The number station uses 1B Q3. Fractions and decimals use 4A Q14(a) and Q15(a), plus 5A Q12–13. Conversion and scale use 6A Q19 and 7A Q11–12. Formulas use 8C Q1–2. Start with your highest-need topics during practice, while using the paired rotation to hear an explanation at each station. What must your partner hear? Why the selected method applies and how the answer can be checked. Keep displayed answers hidden during the first attempt so that explanation belongs to you.</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10:40 AM–10:55 AM  •  15 MIN TOTAL — shared across this phase’s slides.</a:t>
            </a:r>
          </a:p>
          <a:p/>
          <a:p>
            <a:r>
              <a:t>Use the requested quantity to connect each drawing, formula and unit. A rectangle's boundary uses an edge-sum formula and length units. Its surface uses an area formula and square units. A prism extends base area through a height, producing cubic units. For the paired work, 10B Q1 is a no-waste floor coverage problem, while 12B Q3 includes its stated cutting details. What would go wrong if we used one question's assumptions in the other? We would solve a different problem. Read the conditions as carefully as the numbers.</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is a review of choosing methods, first for numbers, units and formulas, then for geometry and job problems. Start with the two priorities you identified last week. We will use stations and worked explanations to strengthen those decisions before another independent check. The aim is not to race through familiar answers. It is to explain why an operation fits the unknown and how you would detect an error in your own result.</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The first review block runs from 9:00 to 10:15, including twenty minutes for station practice and a ten-minute independent check. We break until 10:30, then review geometry and job problems until noon. The second block has thirty-five minutes of practice because the applications need time for drawings and working. Keep the scheduled phases together: the slides within one phase share its minutes, leaving enough time for your actual problem solving.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9:00 AM–9:05 AM  •  5 MIN TOTAL — shared across this phase’s slides.</a:t>
            </a:r>
          </a:p>
          <a:p/>
          <a:p>
            <a:r>
              <a:t>Open your two revision priorities from last week. Today the number, fraction, conversion and formula stations give you a chance to test those methods again. Keep the formula sheet on page 219 and conversion factors on pages 220–221 available. What should you decide before entering calculator keys? The operation or relationship that fits the question. By the end of this block, you should be able to justify that decision and demonstrate a check on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9:05 AM–9:10 AM  •  5 MIN TOTAL — shared across this phase’s slides.</a:t>
            </a:r>
          </a:p>
          <a:p/>
          <a:p>
            <a:r>
              <a:t>Choose one checking strategy for each of your two priorities. If fractions were difficult, adding back can test a subtraction. If conversion direction was difficult, a reverse conversion can recover the starting quantity. If a missing dimension caused trouble, substitute it into the original formula. Which check would expose your specific earlier mistake? Explain that choice to a neighbour. We are not just repeating calculations today; we are using evidence to make the next attempt more reliable.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At the number station, distinguish the total required from the number of whole purchase units. At fractions and decimals, preserve the quantity while changing its form or regrouping it. At conversion and scale, identify the starting and target units and choose the correct direction. At formulas, isolate the missing dimension and substitute it back. What connects these stations? In each case, the meaning of the quantity controls the operation. The calculator can perform arithmetic, but it cannot decide whether the question asks for bolts, boxes, millimetres, a drawing length or a width.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An error log is useful when it identifies a step you can change. “Wrong answer” tells us little; “I divided the inches by 25.4” tells us to revisit conversion direction. Missing brackets, an incorrect common denominator and a lost whole number are different errors with different repairs. Use the relevant textbook explanation to name why the repair works. What should you record about support? Whether you solved independently, checked afterward with a tool or needed a prompt. That distinction helps us choose the next practice rather than treating every matching answer as equal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Figure 8.1 on page 127 represents equality as a balance. If we divide one side of an equation, we divide the other side by the same nonzero quantity to preserve equality. This is the reasoning behind finding width from area and length. Starting with A = l × w, dividing both sides by l leaves A/l = w. Why is this more than a rule to move symbols? We are keeping two equal quantities equal while isolating the unknown. Substitution afterward checks that our proposed value still satisfies the original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In Example 8.4, identify the operation acting on the unknown, then undo it using the inverse operation. Do not jump straight to a remembered final formula. Read the equation as a statement about quantities and follow the balance at each line. What comes after solving? Substitute the result back into the original equation. If the original values are not reproduced, inspect the rearrangement before trying random calculator entries. This check is especially useful when a problem gives area but asks for a length, because the units also reveal whether the operation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“Multiply by the factor” is incomplete without the units and direction. A factor that converts inches to millimetres is used differently when converting millimetres to inches. Name the starting unit and requested unit, then explain how the factor changes one into the other. What size clue can help? Moving from a larger unit to a smaller unit normally increases the numerical count for the same length. After the paper attempt, use Unit Conversions to compare. Keep the factor and working so the tool result does not replace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Rotate through the four stations with your partner. At each stop, one person explains a solution while the other asks a checking question. Then swap roles. At the number station, ask whether the quantity can be purchased fractionally. At conversions, ask which unit cancels. At formulas, ask whether substitution recreates the given value. Keep the discussion tied to the listed questions and retain the working. A clear spoken explanation should make the next written attempt easier to choose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Complete the listed station questions, beginning with your two highest-need topics. Keep each reference above its working and note whether the response was independent, checked with a tool afterward or completed with a prompt. Those labels help us interpret progress accurately. Before checking a final number, inspect the vulnerable step from your error log. Which line could show the same old mistake? Test that line using the strategy you selected at the start of the block.</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Open Numeracy Hub Calculator for the number checks or Unit Conversions for the length station. Keep the exercise-book values and units beside the screen. Your first attempt stays on paper; the tool then helps you compare the result and locate any difference. What would you do if the tool gives a different value? Check the entered quantity, units and direction against your written method before replacing the answer. A mismatch is information to investigate, not a reason to erase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At the formula station, build the assigned rectangle in Shape Canvas and identify the missing dimension. Solve it on paper, then substitute the result into the area relationship. At the other stations, use Calculator or Unit Conversions after your written attempt. Mark how much support each answer needed. Why keep that distinction? A solution you can explain independently tells us something different from one reached after a hint, and both help plan the next step when recorded honestly.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For 1B Q3, separate the bolt requirement from the box order. Attempt both quantities before checking. After your attempt, fourteen baseplates times eight bolts gives 112 bolts. Dividing by twenty-five per box gives 4.48 boxes, so five boxes are needed. Why not four? Four boxes contain only one hundred bolts. Check that five boxes supply 125, enough for the stated requirement. The arithmetic and purchasing decision belong on separate lines so the rounding is justified.</a:t>
            </a:r>
          </a:p>
          <a:p/>
          <a:p>
            <a:r>
              <a:t>INSTRUCTOR ONLY — AFTER THE ATTEMPT: 112 bolts, 5 boxes Working: 14 × 8 = 112. 112 ÷ 25 = 4.48, round up to 5 boxes.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For 8C Q1, use the rectangle's given length and area to find its width. Attempt the inverse relationship before checking. After the attempt, divide 4,800 square centimetres by the shown 80-centimetre length to obtain 60 centimetres. Multiplying 80 by 60 recreates 4,800 square centimetres. What happened to the square unit during division? Dividing area by a length leaves a length. That unit reasoning helps confirm that the operation is finding the requested width.</a:t>
            </a:r>
          </a:p>
          <a:p/>
          <a:p>
            <a:r>
              <a:t>INSTRUCTOR ONLY — AFTER THE ATTEMPT: 60 cm</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6A Q19, 7A Q11 and 8C Q2 independently. Each question uses a different decision: scale, unit conversion or a missing dimension. Identify the method before calculating, then include working and an appropriate check. Keep worked solutions closed until you have finished. I am looking for evidence that you can recognize the relationship from the question, not just repeat a sequence used by the previous station.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In 6A Q19, use the stated drawing scale to find the real length. Show the relationship between the drawing measurement and actual measurement, including the unit. Keep the response independent and record a check of the direction.</a:t>
            </a:r>
          </a:p>
          <a:p/>
          <a:p>
            <a:r>
              <a:t>INSTRUCTOR ONLY — AFTER THE ATTEMPT: 1:40 means each drawing unit represents 40 real units. Real length = 85 × 40 = 3,400 mm. Dividing 3,400 by 40 recovers the 85 mm drawing length.</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7A Q11 with the starting and target units visible. Write the factor or relationship that converts the fractional-inch measurement, then show how you would check it. Keep your numerical answer private until collection.</a:t>
            </a:r>
          </a:p>
          <a:p/>
          <a:p>
            <a:r>
              <a:t>INSTRUCTOR ONLY — AFTER THE ATTEMPT: 5/8 = 0.625 in. Multiplying by 25.4 mm per inch gives 15.875 mm. The reverse calculation, 15.875/25.4, returns 0.625 in. Check that the student converted the entire quantity and used the correct direction.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For 8C Q2, find the square's side from its given area. Record the relationship and your inverse operation, then check the proposed length against the original area. Include the appropriate unit in the final answer.</a:t>
            </a:r>
          </a:p>
          <a:p/>
          <a:p>
            <a:r>
              <a:t>INSTRUCTOR ONLY — AFTER THE ATTEMPT: Side = √3,136 = 56 mm. Check: 56 × 56 = 3,136 mm². The result is a length; dividing by four would use a perimeter idea on an area quantity.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10:10 AM–10:15 AM  •  5 MIN TOTAL — shared across this phase’s slides.</a:t>
            </a:r>
          </a:p>
          <a:p/>
          <a:p>
            <a:r>
              <a:t>Which of the three check questions required you to reverse a relationship? In different ways, all three asked you to connect a known measurement to another representation or quantity. Name the method you can now justify most clearly, and the step that still needs attention. Keep the relevant question and checking strategy in your notes. After the break, we will apply that same habit of identifying the unknown to perimeter, area, volume and triangles.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Take the scheduled break and return at 10:30. Keep your calculator, textbook formula sheet and error notes ready. The next review block focuses on geometry and job problems. We will use the drawing and the requested unit to decide which calculation belongs, then test whether the answer makes physical sense.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10:30 AM–10:35 AM  •  5 MIN TOTAL — shared across this phase’s slides.</a:t>
            </a:r>
          </a:p>
          <a:p/>
          <a:p>
            <a:r>
              <a:t>For this geometry review, begin with the unknown rather than the formula. Are we measuring an outside boundary, covering a surface, filling space or finding a triangle side? The answer to that question determines the method and unit. We will use selected work from chapters 9–13, the formula sheet on page 219 and the listed exercises. What should you draw before entering numbers? A labelled sketch that separates the given dimensions from the quantity you are trying to find.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10:35 AM–10:40 AM  •  5 MIN TOTAL — shared across this phase’s slides.</a:t>
            </a:r>
          </a:p>
          <a:p/>
          <a:p>
            <a:r>
              <a:t>Compare a rectangle, a rectangular prism and a right triangle. A boundary or side length may use millimetres; surface coverage uses square millimetres; volume uses cubic millimetres. Which picture needs three dimensions for its volume? The prism. Which triangle setting must agree with degree-marked angles? DEG. These quick decisions can detect an error before arithmetic begins. If the requested unit and your formula disagree, stop and reconsider the quantity rather than trying to repair only the label afterward.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Perimeter follows the outside edge, so it adds lengths. Area covers a surface, so it uses square units and subtracts openings when the problem says material is removed. Volume measures space; for a prism it is base area times height and uses cubic units. A right-triangle side remains a length even when its calculation uses squared values or trig ratios. What first question sorts these methods? “What quantity is being asked for?” The same rectangle may appear in a perimeter problem, an area problem or the base of a volume problem, so the shape alone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Annotate the dimensions that belong to the problem you are solving. A kerf stated in 12B Q3 belongs with that cutting calculation; it should not be imported into an unrelated no-waste floor problem. Check the magnitude against the drawing as well as the unit. A hypotenuse shorter than a leg or an opening larger than the entire plate should make you stop. What should you retain from a fresh Numeracy Hub question? Its prompt or code, the written method and your reason for choosing the formula. That record makes the later check meaningful.</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Figure 11.1 on page 172 builds volume from unit cubes. A row counts one direction, a layer adds a second, and stacked layers add the third. That is why length times width times height produces cubic units. What does multiplying the base area by height count? The same-sized area repeated through the prism's depth. Keep the three directions conceptually separate even if two dimensions happen to match. A number with square units describes only the base surface, not the space occupied by all the stacked layers.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Cubic conversion applies the length conversion in three directions. One metre contains one thousand millimetres, so a cubic metre contains one thousand times one thousand times one thousand cubic millimetres: one billion. What happens if you divide cubic millimetres by only one thousand? You apply a length conversion to a volume and get the wrong scale. An alternative is to convert each of the three dimensions into metres first, then multiply. Both approaches must give the same cubic-metre volume when the units are handled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The answer is labelled cubic millimetres, but the question asked for surface coverage. Cubic units describe volume, so the label signals that either the formula or the interpretation may be wrong. Do not simply cross out the exponent and assume the number is fine. Check whether you multiplied two relevant dimensions for area or accidentally included a third. What unit should surface coverage use? Square units. A correct-looking number and a wrong unit are a reason to inspect the method together, because the unit tells us what the calculation actually measured.</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Work 10B Q1 and 12B Q3 with your partner. Annotate every dimension before selecting the relationship. In the floor question, retain the stated no-waste condition. In the cutting question, include its stated kerf. One partner explains why the formula matches the unknown; the other checks whether the result's unit and size fit the drawing. Then swap roles. If the arithmetic differs, compare assumptions and diagrams before repeating keys, because those determine which numbers belong in the equation.</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For 10B Q1, calculate the floor area and one-sheet area, then use them to find the no-waste count. Attempt the question with your partner before checking. Read the exact condition: the checker plate sheets are laid edge to edge with no waste. Do we automatically add the ten-percent allowance from our earlier classroom adaptation? No. That allowance belonged to a different stated task. This question's answer follows its own dimensions and no-waste condition.</a:t>
            </a:r>
          </a:p>
          <a:p/>
          <a:p>
            <a:r>
              <a:t>INSTRUCTOR ONLY — AFTER THE ATTEMPT: 25.92 m², 9 sheets Working: 7.2 × 3.6 = 25.92 m², one sheet = 2.88 m², 25.92 ÷ 2.88 = 9</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The floor area is 7.2 times 3.6, or 25.92 square metres. One sheet covers 1.2 times 2.4, or 2.88 square metres. Division gives nine sheets. Check the layout: three lengths of 2.4 span 7.2 metres, and three widths of 1.2 span 3.6 metres. Why does the answer remain nine here? The question explicitly says no waste. We do not add an unstated allowance just because another lesson used one. Conditions are part of the mathematics.</a:t>
            </a:r>
          </a:p>
          <a:p/>
          <a:p>
            <a:r>
              <a:t>INSTRUCTOR ONLY — AFTER THE ATTEMPT: 25.92 m², 9 sheets Working: 7.2 × 3.6 = 25.92 m², one sheet = 2.88 m², 25.92 ÷ 2.88 = 9</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Complete the remaining listed exercises, prioritizing the needs shown in your work. Finish with one Easy Numeracy Hub question in a taught topic and keep its question or code. Before calculating, write why the formula applies. For example, a plate with a hole requires net area, while a box's missing height requires reversing volume divided by base area. The specific explanation makes it easier to see whether a wrong answer came from interpretation, arithmetic, units or calculator entry.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Open Volume and Layout or Angles and Trig in Numeracy Hub, choosing the taught topic that matches your documented need. Use one Easy question after the assigned paper work. Copy its values and retain the code so the answer can be checked against the right prompt. What must you write before revealing the solution? The unknown, selected formula and unit. The tool supplies feedback, while your written reasoning shows the decision you made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In Shape Canvas, compare the rectangle, prism and right triangle using the dimensions relevant to your problem. Mark the unknown so the picture tells us what the calculation should return. After the paper work, use one Easy Numeracy Hub task from the matching taught module. Keep the diagram, formula, unit and question code together. If the result seems unreasonable, point to the drawing feature that contradicts it: a leg too long, an area too large or a volume unit where a length was requested.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Attempt 9A Q1 by tracing the entire rectangle boundary. After your attempt, compare two equivalent calculations: 2 times the sum of 2,400 and 1,150, or 2,400 plus 1,150 plus 2,400 plus 1,150. Both give 7,100 millimetres. What would 3,550 millimetres represent? Only one length and one width, halfway around. A quick boundary trace makes that missing-half error visible without needing a second calculator entry.</a:t>
            </a:r>
          </a:p>
          <a:p/>
          <a:p>
            <a:r>
              <a:t>INSTRUCTOR ONLY — AFTER THE ATTEMPT: 7,100 mm</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For 9A Q8, the full perimeter is 3,800 millimetres and each long edge is 1,200. Attempt the missing width first. Afterward, halve the perimeter to get length plus width: 1,900 millimetres. Subtract the length, 1,200, leaving a 700-millimetre width. Check by tracing all four edges: 1,200 plus 700 plus 1,200 plus 700 equals 3,800. Why not subtract only one long edge from the full perimeter? The remaining distance would still include three edges, not one width.</a:t>
            </a:r>
          </a:p>
          <a:p/>
          <a:p>
            <a:r>
              <a:t>INSTRUCTOR ONLY — AFTER THE ATTEMPT: 700 mm</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Complete 10B Q11, 11A Q19 and 13A Q14 independently, with diagrams and units. These questions ask for different quantities, so name the unknown before selecting the formula. Keep the solution displays closed and retain working through the final requested rounding. Your drawing should help explain which dimensions belong together and what the answer measures. Submit your own method before comparing results with the class.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For 10B Q11, show the plate and opening on a labelled sketch, then find the area left in both requested units. Retain the conversion working so the relationship between the two answers is clear. Keep the check independent until collection.</a:t>
            </a:r>
          </a:p>
          <a:p/>
          <a:p>
            <a:r>
              <a:t>INSTRUCTOR ONLY — AFTER THE ATTEMPT: Outer area 1,200 × 800 = 960,000 mm²; opening 300 × 200 = 60,000 mm²; remaining 900,000 mm². Divide by 1,000,000 to obtain 0.9 m². The opening is subtracted once.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For 11A Q19, identify the unknown height and the given base dimensions. Show the volume relationship, your rearrangement and a substitution check. Include the length unit with the answer rather than carrying the volume unit into the unknown.</a:t>
            </a:r>
          </a:p>
          <a:p/>
          <a:p>
            <a:r>
              <a:t>INSTRUCTOR ONLY — AFTER THE ATTEMPT: Base area = 0.8 × 0.5 = 0.4 m²; height = 0.24/0.4 = 0.6 m. Check: 0.8 × 0.5 × 0.6 = 0.24 m³. Dividing volume by base area returns a length.</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For 13A Q14, calculate percentage grade and angle as separate outputs. Retain the stated rise and run and label both answers clearly. Keep the method independent and show the final requested rounding.</a:t>
            </a:r>
          </a:p>
          <a:p/>
          <a:p>
            <a:r>
              <a:t>INSTRUCTOR ONLY — AFTER THE ATTEMPT: rise/run = 120/6,000 = 0.02. Grade = 2%; angle = tan⁻¹(0.02) ≈ 1.15° in DEG mode. A 2° result incorrectly treats percent grade and degree angle as the same scale.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11:55 AM–12:00 PM  •  5 MIN TOTAL — shared across this phase’s slides.</a:t>
            </a:r>
          </a:p>
          <a:p/>
          <a:p>
            <a:r>
              <a:t>Choose the geometry decision that is now clearest to you: boundary, coverage, volume, triangle side or slope. Explain the unit that belongs to it and one check that would expose an error. Then record the method you still need to review before the readiness check. Use a precise reference and action, such as reworking a net-area question while keeping square-unit conversion visible. Your drawings and error notes are useful evidence; keep them with the corrected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books/ACCESS-Trades-Numeracy-Textbook.pdf#page=12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books/ACCESS-Trades-Numeracy-Textbook.pdf#page=12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25  |  Monday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14,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Review: numbers, units and formulas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Review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Review: geometry and job problems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Review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8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25  /  WEEK 8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Review: numbers, units and formulas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Review  •  Math Week 8,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Review: geometry and job problems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Review  •  Math Week 8,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Review: numbers, units and formulas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Retrieve core methods across the course and explain when each method is appropriate.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1–8, selected; formula sheet p.219; conversion factors pp.220–221</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Stations: 1B Q3 p.8; 4A Q14(a),15(a) p.26; 5A Q12–13 p.33; 6A Q19 p.40; 7A Q11–12 p.45; 8C Q1–2 p.55.</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learners’ two priorities from Week 7. Ask each to identify a useful checking strategy.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the method before the keys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1–8, selected; formula sheet p.219; conversion factors pp.220–221</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At the number station, explain the operation choice and any rounding needed for a whole purchase unit.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At the fraction/decimal station, show the regrouping or conversion that keeps the quantity unchanged.</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At the conversion/scale station, record the factor, its direction and both units.</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At the formulas station, find the missing dimension and substitute it back into the original relationship.</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Let your error log guide the review</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1–8, selected; formula sheet p.219; conversion factors pp.220–221</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Begin with the two revision priorities from Week 7 and select a checking strategy for each.</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Look for the step behind the error: regrouping, a wrong factor, a wrong denominator or missing brackets.</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selected Textbook chapters, formula sheet p.219 and conversion factors pp.220–221 to explain why the method applies.</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written working and record whether the solution was independent, tool-checked or completed with a prompt.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W08-L01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Rotate through four method stations</a:t>
            </a:r>
            <a:endParaRPr lang="en-US" sz="3000" dirty="0"/>
          </a:p>
        </p:txBody>
      </p:sp>
      <p:sp>
        <p:nvSpPr>
          <p:cNvPr id="5" name="Text 3"/>
          <p:cNvSpPr/>
          <p:nvPr/>
        </p:nvSpPr>
        <p:spPr>
          <a:xfrm>
            <a:off x="609585" y="1714500"/>
            <a:ext cx="5048124"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1 • NUMBER DECISIONS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1B Q3 p.8.</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Explain operation choice and</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whole-purchase-unit rounding.</a:t>
            </a:r>
            <a:endParaRPr lang="en-US" sz="1800" dirty="0"/>
          </a:p>
        </p:txBody>
      </p:sp>
      <p:sp>
        <p:nvSpPr>
          <p:cNvPr id="6" name="Text 4"/>
          <p:cNvSpPr/>
          <p:nvPr/>
        </p:nvSpPr>
        <p:spPr>
          <a:xfrm>
            <a:off x="6476838" y="1714500"/>
            <a:ext cx="5048124"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2 • FRACTIONS / DECIMALS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4A Q14(a),15(a) p.26;</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5A Q12–13 p.33.</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Explain regrouping or conversion.</a:t>
            </a:r>
            <a:endParaRPr lang="en-US" sz="1800" dirty="0"/>
          </a:p>
        </p:txBody>
      </p:sp>
      <p:sp>
        <p:nvSpPr>
          <p:cNvPr id="7" name="Text 5"/>
          <p:cNvSpPr/>
          <p:nvPr/>
        </p:nvSpPr>
        <p:spPr>
          <a:xfrm>
            <a:off x="609585" y="3571875"/>
            <a:ext cx="5048124"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3 • CONVERSION / SCALE</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6A Q19 p.40;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7A Q11–12 p.45.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Show factor, direction and units.</a:t>
            </a:r>
            <a:endParaRPr lang="en-US" sz="1800" dirty="0"/>
          </a:p>
        </p:txBody>
      </p:sp>
      <p:sp>
        <p:nvSpPr>
          <p:cNvPr id="8" name="Text 6"/>
          <p:cNvSpPr/>
          <p:nvPr/>
        </p:nvSpPr>
        <p:spPr>
          <a:xfrm>
            <a:off x="6476838" y="3571875"/>
            <a:ext cx="5048124" cy="1279922"/>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4 • FORMULAS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8C Q1–2 p.55.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Find the missing dimension,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then substitute it back.</a:t>
            </a:r>
            <a:endParaRPr lang="en-US" sz="1800" dirty="0"/>
          </a:p>
        </p:txBody>
      </p:sp>
      <p:sp>
        <p:nvSpPr>
          <p:cNvPr id="9" name="Text 7"/>
          <p:cNvSpPr/>
          <p:nvPr/>
        </p:nvSpPr>
        <p:spPr>
          <a:xfrm>
            <a:off x="609585" y="5381625"/>
            <a:ext cx="10972526" cy="533400"/>
          </a:xfrm>
          <a:prstGeom prst="rect">
            <a:avLst/>
          </a:prstGeom>
          <a:noFill/>
          <a:ln/>
        </p:spPr>
        <p:txBody>
          <a:bodyPr wrap="square" lIns="0" tIns="0" rIns="0" bIns="0" rtlCol="0" anchor="t">
            <a:normAutofit fontScale="100000" lnSpcReduction="0"/>
          </a:bodyPr>
          <a:lstStyle/>
          <a:p>
            <a:pPr marL="0" indent="0" algn="l">
              <a:buNone/>
            </a:pPr>
            <a:r>
              <a:rPr lang="en-US" sz="1500" dirty="0">
                <a:solidFill>
                  <a:srgbClr val="111218"/>
                </a:solidFill>
                <a:latin typeface="Arial" pitchFamily="34" charset="0"/>
                <a:ea typeface="Arial" pitchFamily="34" charset="-122"/>
                <a:cs typeface="Arial" pitchFamily="34" charset="-120"/>
              </a:rPr>
              <a:t>Instructor: model one error from the logs. Partners explain one method at each stop.</a:t>
            </a:r>
            <a:endParaRPr lang="en-US" sz="1500" dirty="0"/>
          </a:p>
          <a:p>
            <a:pPr marL="0" indent="0" algn="l">
              <a:buNone/>
            </a:pPr>
            <a:r>
              <a:rPr lang="en-US" sz="1500" dirty="0">
                <a:solidFill>
                  <a:srgbClr val="111218"/>
                </a:solidFill>
                <a:latin typeface="Arial" pitchFamily="34" charset="0"/>
                <a:ea typeface="Arial" pitchFamily="34" charset="-122"/>
                <a:cs typeface="Arial" pitchFamily="34" charset="-120"/>
              </a:rPr>
              <a:t>Tools after paper: Calculator, Unit Conversions, or a Shape Canvas missing-dimension rectangle.</a:t>
            </a:r>
            <a:endParaRPr lang="en-US" sz="1500" dirty="0"/>
          </a:p>
        </p:txBody>
      </p:sp>
      <p:sp>
        <p:nvSpPr>
          <p:cNvPr id="10" name="Text 8"/>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practice stations • No displayed answers during first attempts</a:t>
            </a:r>
            <a:endParaRPr lang="en-US" sz="1050" dirty="0"/>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07</a:t>
            </a:r>
          </a:p>
        </p:txBody>
      </p:sp>
    </p:spTree>
    <p:extLst>
      <p:ext uri="{BB962C8B-B14F-4D97-AF65-F5344CB8AC3E}">
        <p14:creationId xmlns:p14="http://schemas.microsoft.com/office/powerpoint/2010/main" val="460526846"/>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127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W08-L01-1.png"/>
          <p:cNvPicPr>
            <a:picLocks noChangeAspect="1"/>
          </p:cNvPicPr>
          <p:nvPr/>
        </p:nvPicPr>
        <p:blipFill>
          <a:blip r:embed="rId3"/>
          <a:stretch>
            <a:fillRect/>
          </a:stretch>
        </p:blipFill>
        <p:spPr>
          <a:xfrm>
            <a:off x="685800" y="2438986"/>
            <a:ext cx="10698480" cy="257438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Figure 8.1: inverse operations preserve equality.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127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W08-L01-2.png"/>
          <p:cNvPicPr>
            <a:picLocks noChangeAspect="1"/>
          </p:cNvPicPr>
          <p:nvPr/>
        </p:nvPicPr>
        <p:blipFill>
          <a:blip r:embed="rId3"/>
          <a:stretch>
            <a:fillRect/>
          </a:stretch>
        </p:blipFill>
        <p:spPr>
          <a:xfrm>
            <a:off x="1119046" y="1691640"/>
            <a:ext cx="983198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Example 8.4: name the operation, undo it, then substitute back.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conversion response says “multiply by the factor” but omits the starting and target units. What still needs to be justified?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Name both units and show why the chosen factor and direction produce the requested unit. Check the result with Unit Conversions after the paper attempt; retain the factor and working.</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Pairs rotate through number, fraction/decimal, conversion and formula stations; explain one solution aloud at each stop.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the listed station questions; start with the two highest-need topics. Keep written working and note whether a tool or prompt was required.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At the relevant stations, write the selected book solution first and state the method and units.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Use Numeracy Hub Calculator for number checks or Unit Conversions for length practice; at the formulas station, use the scheduled Shape Canvas rectangle with one missing dimension.</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Compare the tool check with your working, and substitute the missing dimension back where relevant. Mark whether each solution was independent, tool-checked or prompted.</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1B-Q3.png"/>
          <p:cNvPicPr>
            <a:picLocks noChangeAspect="1"/>
          </p:cNvPicPr>
          <p:nvPr/>
        </p:nvPicPr>
        <p:blipFill>
          <a:blip r:embed="rId3"/>
          <a:srcRect l="741" t="6452" r="1790" b="12903"/>
          <a:stretch>
            <a:fillRect/>
          </a:stretch>
        </p:blipFill>
        <p:spPr>
          <a:xfrm>
            <a:off x="765048" y="1920240"/>
            <a:ext cx="10427716"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15</a:t>
            </a:r>
          </a:p>
        </p:txBody>
      </p:sp>
      <p:pic>
        <p:nvPicPr>
          <p:cNvPr id="20" name="Visual baseplates and bolts" descr="One baseplate drawn with 8 anchor bolt holes, times 14 baseplates, a box labelled 25 bolts per box, and question marks for bolts needed and boxes."/>
          <p:cNvPicPr>
            <a:picLocks noChangeAspect="1"/>
          </p:cNvPicPr>
          <p:nvPr/>
        </p:nvPicPr>
        <p:blipFill>
          <a:blip r:embed="rId9"/>
          <a:stretch>
            <a:fillRect/>
          </a:stretch>
        </p:blipFill>
        <p:spPr>
          <a:xfrm>
            <a:off x="1087208" y="3534156"/>
            <a:ext cx="10023681" cy="186994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8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6A Q19, 7A Q11 and 8C Q2; identify the appropriate method for each.</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6A Q19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6A-Q19.png"/>
          <p:cNvPicPr>
            <a:picLocks noChangeAspect="1"/>
          </p:cNvPicPr>
          <p:nvPr/>
        </p:nvPicPr>
        <p:blipFill>
          <a:blip r:embed="rId3"/>
          <a:srcRect l="741" t="13333" r="1914" b="26667"/>
          <a:stretch>
            <a:fillRect/>
          </a:stretch>
        </p:blipFill>
        <p:spPr>
          <a:xfrm>
            <a:off x="765048" y="1920240"/>
            <a:ext cx="1041450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18</a:t>
            </a:r>
          </a:p>
        </p:txBody>
      </p:sp>
      <p:pic>
        <p:nvPicPr>
          <p:cNvPr id="20" name="Visual scale 1 : 40" descr="A line on a drawing measured 85 mm, the scale 1 : 40, and the real length as a red question mark."/>
          <p:cNvPicPr>
            <a:picLocks noChangeAspect="1"/>
          </p:cNvPicPr>
          <p:nvPr/>
        </p:nvPicPr>
        <p:blipFill>
          <a:blip r:embed="rId9"/>
          <a:stretch>
            <a:fillRect/>
          </a:stretch>
        </p:blipFill>
        <p:spPr>
          <a:xfrm>
            <a:off x="945157" y="2896362"/>
            <a:ext cx="10307782" cy="2194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7A-Q11.png"/>
          <p:cNvPicPr>
            <a:picLocks noChangeAspect="1"/>
          </p:cNvPicPr>
          <p:nvPr/>
        </p:nvPicPr>
        <p:blipFill>
          <a:blip r:embed="rId3"/>
          <a:srcRect l="864" t="13333" r="68951" b="33333"/>
          <a:stretch>
            <a:fillRect/>
          </a:stretch>
        </p:blipFill>
        <p:spPr>
          <a:xfrm>
            <a:off x="778256" y="1920240"/>
            <a:ext cx="322935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19</a:t>
            </a:r>
          </a:p>
        </p:txBody>
      </p:sp>
      <p:pic>
        <p:nvPicPr>
          <p:cNvPr id="20" name="Visual inch scale 5/8 in" descr="An inch scale from 0 to 1 inch in sixteenths with a bar 5/8 in long above it. No millimetre scale is drawn. Beside it, in mm is a red question mark."/>
          <p:cNvPicPr>
            <a:picLocks noChangeAspect="1"/>
          </p:cNvPicPr>
          <p:nvPr/>
        </p:nvPicPr>
        <p:blipFill>
          <a:blip r:embed="rId9"/>
          <a:stretch>
            <a:fillRect/>
          </a:stretch>
        </p:blipFill>
        <p:spPr>
          <a:xfrm>
            <a:off x="940003" y="2775204"/>
            <a:ext cx="10318090" cy="23774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pic>
        <p:nvPicPr>
          <p:cNvPr id="5" name="Picture 4" descr="8C-Q2.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W08-L01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25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Review: geometry and job problems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Review: geometry and job problems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Select perimeter, area, volume or triangle methods from a drawing and report the correct unit.</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9–13 pp.140–214, selected; formula sheet p.219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9A Q1,8 p.57; 10B Q1,11 pp.65–66; 11A Q7,19 pp.69–70; 12B Q3 p.77; 13A Q6,14 p.82.</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Display three drawings and ask which result uses mm, mm² or mm³; retrieve DEG mode for trig.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Match the drawing to the requested quantity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9–13 pp.140–214, selected; formula sheet p.219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Outside boundary is perimeter: add edges, or use 2(l + w) for a rectangle. Report a length unit such as mm or m.</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Surface coverage is area: use the appropriate area formula and subtract openings where stated. Report square units.</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Space or capacity is volume: base area × height for a prism. Report the requested cubic or capacity unit.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right-triangle side uses Pythagoras or the selected trig ratio. The side answer is a length; confirm DEG mode for trig.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the drawing to check the calculation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9–13 pp.140–214, selected; formula sheet p.219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Identify the unknown before selecting the formula, and label all given dimensions on the appropriate drawing.</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each stated cut and kerf with its own problem; include the stated kerf in the paired work on 12B Q3.</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Reject an answer whose unit does not match the quantity or whose magnitude does not fit the drawing.</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the scheduled fresh Hub question, explain why the formula applies and retain the question/code for checking.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W08-L02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Match the quantity, formula and unit</a:t>
            </a:r>
            <a:endParaRPr lang="en-US" sz="3000" dirty="0"/>
          </a:p>
        </p:txBody>
      </p:sp>
      <p:graphicFrame>
        <p:nvGraphicFramePr>
          <p:cNvPr id="5" name="Table 0"/>
          <p:cNvGraphicFramePr>
            <a:graphicFrameLocks noGrp="1"/>
          </p:cNvGraphicFramePr>
          <p:nvPr/>
        </p:nvGraphicFramePr>
        <p:xfrm>
          <a:off x="609585" y="1714500"/>
          <a:ext cx="10972525" cy="2714624"/>
        </p:xfrm>
        <a:graphic>
          <a:graphicData uri="http://schemas.openxmlformats.org/drawingml/2006/table">
            <a:tbl>
              <a:tblPr/>
              <a:tblGrid>
                <a:gridCol w="3237377">
                  <a:extLst>
                    <a:ext uri="{9D8B030D-6E8A-4147-A177-3AD203B41FA5}">
                      <a16:colId xmlns:a16="http://schemas.microsoft.com/office/drawing/2014/main" val="20000"/>
                    </a:ext>
                  </a:extLst>
                </a:gridCol>
                <a:gridCol w="5289219">
                  <a:extLst>
                    <a:ext uri="{9D8B030D-6E8A-4147-A177-3AD203B41FA5}">
                      <a16:colId xmlns:a16="http://schemas.microsoft.com/office/drawing/2014/main" val="20001"/>
                    </a:ext>
                  </a:extLst>
                </a:gridCol>
                <a:gridCol w="2445929">
                  <a:extLst>
                    <a:ext uri="{9D8B030D-6E8A-4147-A177-3AD203B41FA5}">
                      <a16:colId xmlns:a16="http://schemas.microsoft.com/office/drawing/2014/main" val="20002"/>
                    </a:ext>
                  </a:extLst>
                </a:gridCol>
              </a:tblGrid>
              <a:tr h="539108">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Find</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BFC3C8"/>
                      </a:solidFill>
                      <a:prstDash val="solid"/>
                      <a:round/>
                      <a:headEnd type="none" w="med" len="med"/>
                      <a:tailEnd type="none" w="med" len="med"/>
                    </a:lnB>
                    <a:solidFill>
                      <a:srgbClr val="D0002B"/>
                    </a:solidFill>
                  </a:tcPr>
                </a:tc>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Method example</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BFC3C8"/>
                      </a:solidFill>
                      <a:prstDash val="solid"/>
                      <a:round/>
                      <a:headEnd type="none" w="med" len="med"/>
                      <a:tailEnd type="none" w="med" len="med"/>
                    </a:lnB>
                    <a:solidFill>
                      <a:srgbClr val="D0002B"/>
                    </a:solidFill>
                  </a:tcPr>
                </a:tc>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Result unit</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BFC3C8"/>
                      </a:solidFill>
                      <a:prstDash val="solid"/>
                      <a:round/>
                      <a:headEnd type="none" w="med" len="med"/>
                      <a:tailEnd type="none" w="med" len="med"/>
                    </a:lnB>
                    <a:solidFill>
                      <a:srgbClr val="D0002B"/>
                    </a:solidFill>
                  </a:tcPr>
                </a:tc>
                <a:extLst>
                  <a:ext uri="{0D108BD9-81ED-4DB2-BD59-A6C34878D82A}">
                    <a16:rowId xmlns:a16="http://schemas.microsoft.com/office/drawing/2014/main" val="10000"/>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Outside boundary</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Add edges; rectangle 2(l + w)</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 or m</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1"/>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Surface coverage</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Area; subtract openings</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mm² or m²</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2"/>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Space / capacity</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Base area × height</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mm³, m³ or L</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3"/>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Right-triangle side</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Pythagoras or selected trig ratio</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 or m</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4"/>
                  </a:ext>
                </a:extLst>
              </a:tr>
            </a:tbl>
          </a:graphicData>
        </a:graphic>
      </p:graphicFrame>
      <p:sp>
        <p:nvSpPr>
          <p:cNvPr id="6" name="Text 3"/>
          <p:cNvSpPr/>
          <p:nvPr/>
        </p:nvSpPr>
        <p:spPr>
          <a:xfrm>
            <a:off x="609585" y="509587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10B Q1 and 12B Q3 in pairs.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Annotate every dimension and include stated kerf. Explain why the method</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matches the unknown; reject an unreasonable unit or magnitude.</a:t>
            </a:r>
            <a:endParaRPr lang="en-US" sz="1800" dirty="0"/>
          </a:p>
        </p:txBody>
      </p:sp>
      <p:sp>
        <p:nvSpPr>
          <p:cNvPr id="7" name="Text 4"/>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pp.65,77 • Shape Canvas rectangle, prism and right triangle • Formula sheet p.219</a:t>
            </a:r>
            <a:endParaRPr lang="en-US" sz="1050" dirty="0"/>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27</a:t>
            </a:r>
          </a:p>
        </p:txBody>
      </p:sp>
    </p:spTree>
    <p:extLst>
      <p:ext uri="{BB962C8B-B14F-4D97-AF65-F5344CB8AC3E}">
        <p14:creationId xmlns:p14="http://schemas.microsoft.com/office/powerpoint/2010/main" val="4000820979"/>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172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W08-L02-1.png"/>
          <p:cNvPicPr>
            <a:picLocks noChangeAspect="1"/>
          </p:cNvPicPr>
          <p:nvPr/>
        </p:nvPicPr>
        <p:blipFill>
          <a:blip r:embed="rId3"/>
          <a:stretch>
            <a:fillRect/>
          </a:stretch>
        </p:blipFill>
        <p:spPr>
          <a:xfrm>
            <a:off x="841339" y="1691640"/>
            <a:ext cx="10387400"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Figure 11.1: volume counts unit cubes in three directions.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172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W08-L02-2.png"/>
          <p:cNvPicPr>
            <a:picLocks noChangeAspect="1"/>
          </p:cNvPicPr>
          <p:nvPr/>
        </p:nvPicPr>
        <p:blipFill>
          <a:blip r:embed="rId3"/>
          <a:stretch>
            <a:fillRect/>
          </a:stretch>
        </p:blipFill>
        <p:spPr>
          <a:xfrm>
            <a:off x="685800" y="2542158"/>
            <a:ext cx="10698480" cy="236804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Cubic conversions use the length factor three times.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surface-coverage calculation is labelled mm³. What does that unit suggest, and what should you recheck?</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Cubic units describe volume. Recheck the requested quantity and formula: surface coverage needs an area calculation and square units; a correct-looking number with the wrong unit is not a complete result.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10B Q1 and 12B Q3 in pairs. Annotate all dimensions and explicitly include stated kerf.</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10B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10B-Q1.png"/>
          <p:cNvPicPr>
            <a:picLocks noChangeAspect="1"/>
          </p:cNvPicPr>
          <p:nvPr/>
        </p:nvPicPr>
        <p:blipFill>
          <a:blip r:embed="rId3"/>
          <a:srcRect l="741" t="6452" r="1605" b="16129"/>
          <a:stretch>
            <a:fillRect/>
          </a:stretch>
        </p:blipFill>
        <p:spPr>
          <a:xfrm>
            <a:off x="765048" y="1920240"/>
            <a:ext cx="10447528" cy="142646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32</a:t>
            </a:r>
          </a:p>
        </p:txBody>
      </p:sp>
      <p:pic>
        <p:nvPicPr>
          <p:cNvPr id="20" name="Visual floor and one sheet" descr="A floor rectangle 7.2 m by 3.6 m and, beside it at the same scale, one sheet 1.2 m by 2.4 m. Beside them, floor area and sheets are red question marks."/>
          <p:cNvPicPr>
            <a:picLocks noChangeAspect="1"/>
          </p:cNvPicPr>
          <p:nvPr/>
        </p:nvPicPr>
        <p:blipFill>
          <a:blip r:embed="rId9"/>
          <a:stretch>
            <a:fillRect/>
          </a:stretch>
        </p:blipFill>
        <p:spPr>
          <a:xfrm>
            <a:off x="942936" y="3474720"/>
            <a:ext cx="10312225" cy="192938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10B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10B-Q1.png"/>
          <p:cNvPicPr>
            <a:picLocks noChangeAspect="1"/>
          </p:cNvPicPr>
          <p:nvPr/>
        </p:nvPicPr>
        <p:blipFill>
          <a:blip r:embed="rId3"/>
          <a:stretch>
            <a:fillRect/>
          </a:stretch>
        </p:blipFill>
        <p:spPr>
          <a:xfrm>
            <a:off x="1654769" y="1783080"/>
            <a:ext cx="8760541"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25.92 m², 9 sheets</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7.2 × 3.6 = 25.92 m², one sheet = 2.88 m², 25.92 ÷ 2.88 = 9</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the remaining listed exercises, prioritizing documented needs. Finish with one fresh Numeracy Hub question; explain why that formula applies and keep its question/code for checking.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In Shape Canvas, compare the scheduled rectangle, rectangular prism and right triangle. Label the given dimensions and identify the unknown for the relevant written problem.</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After the listed paper work, use Numeracy Hub Volume and Layout or Angles and Trig for one Easy task in a taught topic, chosen to match the documented need.</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Keep the question/code, written formula, diagram and units. Explain why the method applies and use the drawing to reject an unreasonable unit or magnitude.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9A-Q1.png"/>
          <p:cNvPicPr>
            <a:picLocks noChangeAspect="1"/>
          </p:cNvPicPr>
          <p:nvPr/>
        </p:nvPicPr>
        <p:blipFill>
          <a:blip r:embed="rId3"/>
          <a:srcRect l="926" t="13333" r="21667" b="26667"/>
          <a:stretch>
            <a:fillRect/>
          </a:stretch>
        </p:blipFill>
        <p:spPr>
          <a:xfrm>
            <a:off x="784860" y="1920240"/>
            <a:ext cx="828141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37</a:t>
            </a:r>
          </a:p>
        </p:txBody>
      </p:sp>
      <p:pic>
        <p:nvPicPr>
          <p:cNvPr id="20" name="Visual rectangle 2,400 by 1,150" descr="Rectangle 2,400 mm long and 1,150 mm wide. Beside it, the perimeter is a red question mark."/>
          <p:cNvPicPr>
            <a:picLocks noChangeAspect="1"/>
          </p:cNvPicPr>
          <p:nvPr/>
        </p:nvPicPr>
        <p:blipFill>
          <a:blip r:embed="rId9"/>
          <a:stretch>
            <a:fillRect/>
          </a:stretch>
        </p:blipFill>
        <p:spPr>
          <a:xfrm>
            <a:off x="940003" y="2804922"/>
            <a:ext cx="10318090" cy="23774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9A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9A-Q8.png"/>
          <p:cNvPicPr>
            <a:picLocks noChangeAspect="1"/>
          </p:cNvPicPr>
          <p:nvPr/>
        </p:nvPicPr>
        <p:blipFill>
          <a:blip r:embed="rId3"/>
          <a:srcRect l="741" t="8696" r="1852" b="21739"/>
          <a:stretch>
            <a:fillRect/>
          </a:stretch>
        </p:blipFill>
        <p:spPr>
          <a:xfrm>
            <a:off x="765048" y="1920240"/>
            <a:ext cx="10421112" cy="95097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38</a:t>
            </a:r>
          </a:p>
        </p:txBody>
      </p:sp>
      <p:pic>
        <p:nvPicPr>
          <p:cNvPr id="20" name="Visual rectangle width unknown" descr="Rectangle with the length labelled 1,200 mm and the width a red question mark. Beside it: perimeter 3,800 mm. Not drawn to scale."/>
          <p:cNvPicPr>
            <a:picLocks noChangeAspect="1"/>
          </p:cNvPicPr>
          <p:nvPr/>
        </p:nvPicPr>
        <p:blipFill>
          <a:blip r:embed="rId9"/>
          <a:stretch>
            <a:fillRect/>
          </a:stretch>
        </p:blipFill>
        <p:spPr>
          <a:xfrm>
            <a:off x="940003" y="3012948"/>
            <a:ext cx="10318090" cy="23774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10B Q11, 11A Q19 and 13A Q14, with diagrams and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10B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10B-Q11.png"/>
          <p:cNvPicPr>
            <a:picLocks noChangeAspect="1"/>
          </p:cNvPicPr>
          <p:nvPr/>
        </p:nvPicPr>
        <p:blipFill>
          <a:blip r:embed="rId3"/>
          <a:srcRect l="741" t="8696" r="864" b="17391"/>
          <a:stretch>
            <a:fillRect/>
          </a:stretch>
        </p:blipFill>
        <p:spPr>
          <a:xfrm>
            <a:off x="765048" y="1920240"/>
            <a:ext cx="1052677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40</a:t>
            </a:r>
          </a:p>
        </p:txBody>
      </p:sp>
      <p:pic>
        <p:nvPicPr>
          <p:cNvPr id="20" name="Visual plate with hole" descr="Cover plate 1,200 mm by 800 mm with a dashed access hole drawn inside it, labelled hole 300 mm by 200 mm. Beside it, the plate left in square millimetres and in square metres are red question marks."/>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11A Q19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11A-Q19.png"/>
          <p:cNvPicPr>
            <a:picLocks noChangeAspect="1"/>
          </p:cNvPicPr>
          <p:nvPr/>
        </p:nvPicPr>
        <p:blipFill>
          <a:blip r:embed="rId3"/>
          <a:srcRect l="741" t="13333" r="14753" b="26667"/>
          <a:stretch>
            <a:fillRect/>
          </a:stretch>
        </p:blipFill>
        <p:spPr>
          <a:xfrm>
            <a:off x="765048" y="1920240"/>
            <a:ext cx="904087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41</a:t>
            </a:r>
          </a:p>
        </p:txBody>
      </p:sp>
      <p:pic>
        <p:nvPicPr>
          <p:cNvPr id="20" name="Visual box height unknown" descr="A rectangular box with base edges 0.8 m and 0.5 m and the height a red question mark. Beside it: volume 0.24 cubic metres, and height as a red question mark. Not drawn to scale."/>
          <p:cNvPicPr>
            <a:picLocks noChangeAspect="1"/>
          </p:cNvPicPr>
          <p:nvPr/>
        </p:nvPicPr>
        <p:blipFill>
          <a:blip r:embed="rId9"/>
          <a:stretch>
            <a:fillRect/>
          </a:stretch>
        </p:blipFill>
        <p:spPr>
          <a:xfrm>
            <a:off x="947635" y="2759202"/>
            <a:ext cx="10302826" cy="246888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13A Q14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pic>
        <p:nvPicPr>
          <p:cNvPr id="5" name="Picture 4" descr="13A-Q14.png"/>
          <p:cNvPicPr>
            <a:picLocks noChangeAspect="1"/>
          </p:cNvPicPr>
          <p:nvPr/>
        </p:nvPicPr>
        <p:blipFill>
          <a:blip r:embed="rId3"/>
          <a:srcRect l="741" t="8696" r="5864" b="17391"/>
          <a:stretch>
            <a:fillRect/>
          </a:stretch>
        </p:blipFill>
        <p:spPr>
          <a:xfrm>
            <a:off x="765048" y="1920240"/>
            <a:ext cx="999185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42</a:t>
            </a:r>
          </a:p>
        </p:txBody>
      </p:sp>
      <p:pic>
        <p:nvPicPr>
          <p:cNvPr id="20" name="Visual slope 13A Q14" descr="A slope drawn to scale: a run of 6,000 mm with a rise of 120 mm at its end, so it looks almost flat. Beside it, percent grade and angle are red question marks."/>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W08-L02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25  •  2026-12-14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25 | 2026-12-14</dc:title>
  <dc:creator>ACCESS Trades</dc:creator>
  <dc:subject>Review: numbers, units and formulas; Review: geometry and job problems</dc:subject>
</cp:coreProperties>
</file>