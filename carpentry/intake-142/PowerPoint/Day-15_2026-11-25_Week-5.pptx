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94.xml" ContentType="application/vnd.openxmlformats-officedocument.presentationml.notesSlide+xml"/>
  <Override PartName="/ppt/notesSlides/notesSlide9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7"/>
  </p:notesMasterIdLst>
  <p:sldIdLst>
    <p:sldId id="435" r:id="rId172"/>
    <p:sldId id="436" r:id="rId173"/>
    <p:sldId id="437" r:id="rId174"/>
    <p:sldId id="438" r:id="rId175"/>
    <p:sldId id="439" r:id="rId176"/>
    <p:sldId id="440" r:id="rId177"/>
    <p:sldId id="362" r:id="rId95"/>
    <p:sldId id="441" r:id="rId178"/>
    <p:sldId id="442" r:id="rId179"/>
    <p:sldId id="443" r:id="rId180"/>
    <p:sldId id="444" r:id="rId181"/>
    <p:sldId id="445" r:id="rId182"/>
    <p:sldId id="446" r:id="rId183"/>
    <p:sldId id="447" r:id="rId184"/>
    <p:sldId id="448" r:id="rId185"/>
    <p:sldId id="449" r:id="rId186"/>
    <p:sldId id="450" r:id="rId187"/>
    <p:sldId id="451" r:id="rId188"/>
    <p:sldId id="452" r:id="rId189"/>
    <p:sldId id="453" r:id="rId190"/>
    <p:sldId id="454" r:id="rId191"/>
    <p:sldId id="455" r:id="rId192"/>
    <p:sldId id="456" r:id="rId193"/>
    <p:sldId id="457" r:id="rId194"/>
    <p:sldId id="458" r:id="rId195"/>
    <p:sldId id="459" r:id="rId196"/>
    <p:sldId id="460" r:id="rId197"/>
    <p:sldId id="461" r:id="rId198"/>
    <p:sldId id="365" r:id="rId98"/>
    <p:sldId id="462" r:id="rId199"/>
    <p:sldId id="463" r:id="rId200"/>
    <p:sldId id="464" r:id="rId201"/>
    <p:sldId id="465" r:id="rId202"/>
    <p:sldId id="466" r:id="rId203"/>
    <p:sldId id="467" r:id="rId204"/>
    <p:sldId id="468" r:id="rId205"/>
    <p:sldId id="469" r:id="rId206"/>
    <p:sldId id="470" r:id="rId207"/>
    <p:sldId id="471" r:id="rId208"/>
    <p:sldId id="472" r:id="rId209"/>
    <p:sldId id="473" r:id="rId210"/>
    <p:sldId id="474" r:id="rId211"/>
    <p:sldId id="475" r:id="rId212"/>
    <p:sldId id="476" r:id="rId2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21" autoAdjust="0"/>
    <p:restoredTop sz="90520" autoAdjust="0"/>
  </p:normalViewPr>
  <p:slideViewPr>
    <p:cSldViewPr snapToGrid="0">
      <p:cViewPr varScale="1">
        <p:scale>
          <a:sx n="65" d="100"/>
          <a:sy n="65" d="100"/>
        </p:scale>
        <p:origin x="234"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95" Type="http://schemas.openxmlformats.org/officeDocument/2006/relationships/slide" Target="slides/slide7.xml"/><Relationship Id="rId98" Type="http://schemas.openxmlformats.org/officeDocument/2006/relationships/slide" Target="slides/slide29.xml"/><Relationship Id="rId167" Type="http://schemas.openxmlformats.org/officeDocument/2006/relationships/notesMaster" Target="notesMasters/notesMaster1.xml"/><Relationship Id="rId168" Type="http://schemas.openxmlformats.org/officeDocument/2006/relationships/presProps" Target="presProps.xml"/><Relationship Id="rId169" Type="http://schemas.openxmlformats.org/officeDocument/2006/relationships/viewProps" Target="viewProps.xml"/><Relationship Id="rId170" Type="http://schemas.openxmlformats.org/officeDocument/2006/relationships/theme" Target="theme/theme1.xml"/><Relationship Id="rId171" Type="http://schemas.openxmlformats.org/officeDocument/2006/relationships/tableStyles" Target="tableStyles.xml"/><Relationship Id="rId172" Type="http://schemas.openxmlformats.org/officeDocument/2006/relationships/slide" Target="slides/slide1.xml"/><Relationship Id="rId173" Type="http://schemas.openxmlformats.org/officeDocument/2006/relationships/slide" Target="slides/slide2.xml"/><Relationship Id="rId174" Type="http://schemas.openxmlformats.org/officeDocument/2006/relationships/slide" Target="slides/slide3.xml"/><Relationship Id="rId175" Type="http://schemas.openxmlformats.org/officeDocument/2006/relationships/slide" Target="slides/slide4.xml"/><Relationship Id="rId176" Type="http://schemas.openxmlformats.org/officeDocument/2006/relationships/slide" Target="slides/slide5.xml"/><Relationship Id="rId177" Type="http://schemas.openxmlformats.org/officeDocument/2006/relationships/slide" Target="slides/slide6.xml"/><Relationship Id="rId178" Type="http://schemas.openxmlformats.org/officeDocument/2006/relationships/slide" Target="slides/slide8.xml"/><Relationship Id="rId179" Type="http://schemas.openxmlformats.org/officeDocument/2006/relationships/slide" Target="slides/slide9.xml"/><Relationship Id="rId180" Type="http://schemas.openxmlformats.org/officeDocument/2006/relationships/slide" Target="slides/slide10.xml"/><Relationship Id="rId181" Type="http://schemas.openxmlformats.org/officeDocument/2006/relationships/slide" Target="slides/slide11.xml"/><Relationship Id="rId182" Type="http://schemas.openxmlformats.org/officeDocument/2006/relationships/slide" Target="slides/slide12.xml"/><Relationship Id="rId183" Type="http://schemas.openxmlformats.org/officeDocument/2006/relationships/slide" Target="slides/slide13.xml"/><Relationship Id="rId184" Type="http://schemas.openxmlformats.org/officeDocument/2006/relationships/slide" Target="slides/slide14.xml"/><Relationship Id="rId185" Type="http://schemas.openxmlformats.org/officeDocument/2006/relationships/slide" Target="slides/slide15.xml"/><Relationship Id="rId186" Type="http://schemas.openxmlformats.org/officeDocument/2006/relationships/slide" Target="slides/slide16.xml"/><Relationship Id="rId187" Type="http://schemas.openxmlformats.org/officeDocument/2006/relationships/slide" Target="slides/slide17.xml"/><Relationship Id="rId188" Type="http://schemas.openxmlformats.org/officeDocument/2006/relationships/slide" Target="slides/slide18.xml"/><Relationship Id="rId189" Type="http://schemas.openxmlformats.org/officeDocument/2006/relationships/slide" Target="slides/slide19.xml"/><Relationship Id="rId190" Type="http://schemas.openxmlformats.org/officeDocument/2006/relationships/slide" Target="slides/slide20.xml"/><Relationship Id="rId191" Type="http://schemas.openxmlformats.org/officeDocument/2006/relationships/slide" Target="slides/slide21.xml"/><Relationship Id="rId192" Type="http://schemas.openxmlformats.org/officeDocument/2006/relationships/slide" Target="slides/slide22.xml"/><Relationship Id="rId193" Type="http://schemas.openxmlformats.org/officeDocument/2006/relationships/slide" Target="slides/slide23.xml"/><Relationship Id="rId194" Type="http://schemas.openxmlformats.org/officeDocument/2006/relationships/slide" Target="slides/slide24.xml"/><Relationship Id="rId195" Type="http://schemas.openxmlformats.org/officeDocument/2006/relationships/slide" Target="slides/slide25.xml"/><Relationship Id="rId196" Type="http://schemas.openxmlformats.org/officeDocument/2006/relationships/slide" Target="slides/slide26.xml"/><Relationship Id="rId197" Type="http://schemas.openxmlformats.org/officeDocument/2006/relationships/slide" Target="slides/slide27.xml"/><Relationship Id="rId198" Type="http://schemas.openxmlformats.org/officeDocument/2006/relationships/slide" Target="slides/slide28.xml"/><Relationship Id="rId199" Type="http://schemas.openxmlformats.org/officeDocument/2006/relationships/slide" Target="slides/slide30.xml"/><Relationship Id="rId200" Type="http://schemas.openxmlformats.org/officeDocument/2006/relationships/slide" Target="slides/slide31.xml"/><Relationship Id="rId201" Type="http://schemas.openxmlformats.org/officeDocument/2006/relationships/slide" Target="slides/slide32.xml"/><Relationship Id="rId202" Type="http://schemas.openxmlformats.org/officeDocument/2006/relationships/slide" Target="slides/slide33.xml"/><Relationship Id="rId203" Type="http://schemas.openxmlformats.org/officeDocument/2006/relationships/slide" Target="slides/slide34.xml"/><Relationship Id="rId204" Type="http://schemas.openxmlformats.org/officeDocument/2006/relationships/slide" Target="slides/slide35.xml"/><Relationship Id="rId205" Type="http://schemas.openxmlformats.org/officeDocument/2006/relationships/slide" Target="slides/slide36.xml"/><Relationship Id="rId206" Type="http://schemas.openxmlformats.org/officeDocument/2006/relationships/slide" Target="slides/slide37.xml"/><Relationship Id="rId207" Type="http://schemas.openxmlformats.org/officeDocument/2006/relationships/slide" Target="slides/slide38.xml"/><Relationship Id="rId208" Type="http://schemas.openxmlformats.org/officeDocument/2006/relationships/slide" Target="slides/slide39.xml"/><Relationship Id="rId209" Type="http://schemas.openxmlformats.org/officeDocument/2006/relationships/slide" Target="slides/slide40.xml"/><Relationship Id="rId210" Type="http://schemas.openxmlformats.org/officeDocument/2006/relationships/slide" Target="slides/slide41.xml"/><Relationship Id="rId211" Type="http://schemas.openxmlformats.org/officeDocument/2006/relationships/slide" Target="slides/slide42.xml"/><Relationship Id="rId212" Type="http://schemas.openxmlformats.org/officeDocument/2006/relationships/slide" Target="slides/slide43.xml"/><Relationship Id="rId213" Type="http://schemas.openxmlformats.org/officeDocument/2006/relationships/slide" Target="slides/slide4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22A43CA-EE69-4B9A-80F8-91B7489D0DD8}" type="datetimeFigureOut">
              <a:rPr lang="en-CA" smtClean="0"/>
              <a:t>2026-10-19</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99165C-7370-4B52-8859-B50CCB89355C}" type="slidenum">
              <a:rPr lang="en-CA" smtClean="0"/>
              <a:t>‹#›</a:t>
            </a:fld>
            <a:endParaRPr lang="en-CA"/>
          </a:p>
        </p:txBody>
      </p:sp>
    </p:spTree>
    <p:extLst>
      <p:ext uri="{BB962C8B-B14F-4D97-AF65-F5344CB8AC3E}">
        <p14:creationId xmlns:p14="http://schemas.microsoft.com/office/powerpoint/2010/main" val="23686139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TEACH | 12:55 PM–1:10 PM | 15 MIN TOTAL. Shared phase allocation across these slides.</a:t>
            </a:r>
          </a:p>
          <a:p/>
          <a:p>
            <a:r>
              <a:t>Our rectangle is four metres long and two metres wide. Area asks how much surface it covers: A = l × w = 4 × 2 = 8 square metres. Perimeter asks the distance around all four edges: P = 2(l + w) = 2(4 + 2) = 12 metres. Why is one answer in square metres and the other in metres? Area multiplies two lengths, while perimeter adds lengths around the boundary. Before keying, say the requested quantity aloud. The same rectangle supplies the numbers for two different questions and therefore two different formulas.</a:t>
            </a:r>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TEACH | 2:25 PM–2:40 PM | 15 MIN TOTAL. Shared phase allocation across these slides.</a:t>
            </a:r>
          </a:p>
          <a:p/>
          <a:p>
            <a:r>
              <a:t>For P = 4000 millimetres and w = 700 millimetres, halve the perimeter to get one length plus one width: 2000 millimetres. Subtract the width: 2000 − 700 = 1300 millimetres. Check the original equation: 2 × (1300 + 700) = 4000. Now try the mistaken l = P − 2w: it gives 2600, which returns a perimeter of 6600, not 4000. What does 2600 actually represent here? Both lengths together. Dividing that remaining pair by two would recover the correct single length of 1300 millimetres.</a:t>
            </a:r>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opening orientation within the scheduled start period.</a:t>
            </a:r>
          </a:p>
          <a:p/>
          <a:p>
            <a:r>
              <a:t>Today we use formulas as readable descriptions of a shape, then work backwards to find a missing dimension. From 12:45 to 2:00, we name each quantity and substitute its value. After our 2:00–2:15 break, we rearrange equations and check the result in the original formula, finishing at 3:30. The calculator can handle arithmetic, but we must choose what the symbols mean. Keep the textbook, exercise book and your written working together so every result has a clear explanation.</a:t>
            </a:r>
          </a:p>
        </p:txBody>
      </p:sp>
      <p:sp>
        <p:nvSpPr>
          <p:cNvPr id="4" name="Slide Number Placeholder 3"/>
          <p:cNvSpPr>
            <a:spLocks noGrp="1"/>
          </p:cNvSpPr>
          <p:nvPr>
            <p:ph type="sldNum" idx="5" sz="quarter"/>
          </p:nvPr>
        </p:nvSpPr>
        <p:spPr/>
      </p:sp>
    </p:spTree>
  </p:cSld>
  <p:clrMapOvr>
    <a:masterClrMapping/>
  </p:clrMapOvr>
</p:notes>
</file>

<file path=ppt/notesSlides/notesSlide1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opening orientation within the scheduled start period.</a:t>
            </a:r>
          </a:p>
          <a:p/>
          <a:p>
            <a:r>
              <a:t>The first block develops the routine: identify what is given, decide what to find, write the formula, substitute and check. The second block uses the same routine when a dimension is unknown. Both follow the displayed five, five, fifteen, fifteen, twenty, ten and five-minute phases. Our break is 2:00–2:15. What will distinguish a correct-looking number from a useful answer today? A formula that matches the requested quantity, correct units and a check that confirms the meaning.</a:t>
            </a:r>
          </a:p>
        </p:txBody>
      </p:sp>
      <p:sp>
        <p:nvSpPr>
          <p:cNvPr id="4" name="Slide Number Placeholder 3"/>
          <p:cNvSpPr>
            <a:spLocks noGrp="1"/>
          </p:cNvSpPr>
          <p:nvPr>
            <p:ph type="sldNum" idx="5" sz="quarter"/>
          </p:nvPr>
        </p:nvSpPr>
        <p:spPr/>
      </p:sp>
    </p:spTree>
  </p:cSld>
  <p:clrMapOvr>
    <a:masterClrMapping/>
  </p:clrMapOvr>
</p:notes>
</file>

<file path=ppt/notesSlides/notesSlide1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START | 12:45 PM–12:50 PM | 5 MIN TOTAL. Shared phase allocation across these slides.</a:t>
            </a:r>
          </a:p>
          <a:p/>
          <a:p>
            <a:r>
              <a:t>Open textbook sections 8.1–8.2 on pages 124–125 and keep the formula sheet on page 219 available. We will use exercise book 8A Q1–8 and 8B Q12. A letter in a formula stands for a quantity, such as the length of a rectangle. It is not an instruction to guess a number. What must we know before replacing that letter? Which measurement it represents and its unit. We will write those meanings before entering values into a calculator.</a:t>
            </a:r>
          </a:p>
        </p:txBody>
      </p:sp>
      <p:sp>
        <p:nvSpPr>
          <p:cNvPr id="4" name="Slide Number Placeholder 3"/>
          <p:cNvSpPr>
            <a:spLocks noGrp="1"/>
          </p:cNvSpPr>
          <p:nvPr>
            <p:ph type="sldNum" idx="5" sz="quarter"/>
          </p:nvPr>
        </p:nvSpPr>
        <p:spPr/>
      </p:sp>
    </p:spTree>
  </p:cSld>
  <p:clrMapOvr>
    <a:masterClrMapping/>
  </p:clrMapOvr>
</p:notes>
</file>

<file path=ppt/notesSlides/notesSlide1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RECALL | 12:50 PM–12:55 PM | 5 MIN TOTAL. Shared phase allocation across these slides.</a:t>
            </a:r>
          </a:p>
          <a:p/>
          <a:p>
            <a:r>
              <a:t>In A = l × w, what do l and w stand for? Length and width; A stands for area. Now recall the order of operations in 2 × (4 + 2). The brackets give six first, then multiplying by two gives twelve. What would happen without the brackets? Two times four plus two gives ten. The formula’s grouping matters, so when we substitute values, we must keep the same operations and brackets as the original relationship.</a:t>
            </a:r>
          </a:p>
        </p:txBody>
      </p:sp>
      <p:sp>
        <p:nvSpPr>
          <p:cNvPr id="4" name="Slide Number Placeholder 3"/>
          <p:cNvSpPr>
            <a:spLocks noGrp="1"/>
          </p:cNvSpPr>
          <p:nvPr>
            <p:ph type="sldNum" idx="5" sz="quarter"/>
          </p:nvPr>
        </p:nvSpPr>
        <p:spPr/>
      </p:sp>
    </p:spTree>
  </p:cSld>
  <p:clrMapOvr>
    <a:masterClrMapping/>
  </p:clrMapOvr>
</p:notes>
</file>

<file path=ppt/notesSlides/notesSlide1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TEACH | 12:55 PM–1:10 PM | 15 MIN TOTAL. Shared phase allocation across these slides.</a:t>
            </a:r>
          </a:p>
          <a:p/>
          <a:p>
            <a:r>
              <a:t>Begin by listing the given measurements and the quantity requested. Then match each formula letter to a labelled dimension. In a rectangle, l is length and w is width, but the label alone does not tell us the measurement unit. Convert dimensions to consistent units before combining them. Keep the brackets when the formula groups quantities, such as length plus width in the perimeter formula. What is the risk of copying the numbers without the symbols? We can put a correct measurement in the wrong place or calculate the wrong quantity. The symbolic line is our map for the numerical line.</a:t>
            </a:r>
          </a:p>
        </p:txBody>
      </p:sp>
      <p:sp>
        <p:nvSpPr>
          <p:cNvPr id="4" name="Slide Number Placeholder 3"/>
          <p:cNvSpPr>
            <a:spLocks noGrp="1"/>
          </p:cNvSpPr>
          <p:nvPr>
            <p:ph type="sldNum" idx="5" sz="quarter"/>
          </p:nvPr>
        </p:nvSpPr>
        <p:spPr/>
      </p:sp>
    </p:spTree>
  </p:cSld>
  <p:clrMapOvr>
    <a:masterClrMapping/>
  </p:clrMapOvr>
</p:notes>
</file>

<file path=ppt/notesSlides/notesSlide1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TEACH | 12:55 PM–1:10 PM | 15 MIN TOTAL. Shared phase allocation across these slides.</a:t>
            </a:r>
          </a:p>
          <a:p/>
          <a:p>
            <a:r>
              <a:t>Write the formula first, then replace each known letter with its value in the same position. Follow the order of operations and attach the resulting unit. Multiplying two lengths produces area in square units; adding edge lengths produces perimeter in ordinary length units. After checking the arithmetic, ask what the answer tells us physically. Does an equal area prove that one rectangular part will fit exactly over another? No. Different lengths and widths can have the same product. A formula answers a particular question; we still need the actual dimensions when deciding whether a part fits.</a:t>
            </a:r>
          </a:p>
        </p:txBody>
      </p:sp>
      <p:sp>
        <p:nvSpPr>
          <p:cNvPr id="4" name="Slide Number Placeholder 3"/>
          <p:cNvSpPr>
            <a:spLocks noGrp="1"/>
          </p:cNvSpPr>
          <p:nvPr>
            <p:ph type="sldNum" idx="5" sz="quarter"/>
          </p:nvPr>
        </p:nvSpPr>
        <p:spPr/>
      </p:sp>
    </p:spTree>
  </p:cSld>
  <p:clrMapOvr>
    <a:masterClrMapping/>
  </p:clrMapOvr>
</p:notes>
</file>

<file path=ppt/notesSlides/notesSlide1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TEACH | 12:55 PM–1:10 PM | 15 MIN TOTAL. Shared phase allocation across these slides.</a:t>
            </a:r>
          </a:p>
          <a:p/>
          <a:p>
            <a:r>
              <a:t>Textbook Example 8.1 uses a plate 1200 millimetres long and 800 millimetres wide. Substitute into the area formula: A = 1200 × 800 = 960000 square millimetres. For perimeter, add one length and one width first: 1200 + 800 = 2000 millimetres, then double that to get 4000 millimetres. Why does doubling the pair count the whole boundary? A rectangle has two equal lengths and two equal widths. The numbers describe the same plate, but area counts surface coverage while perimeter counts the edge distance. Keep each quantity and unit labelled.</a:t>
            </a:r>
          </a:p>
        </p:txBody>
      </p:sp>
      <p:sp>
        <p:nvSpPr>
          <p:cNvPr id="4" name="Slide Number Placeholder 3"/>
          <p:cNvSpPr>
            <a:spLocks noGrp="1"/>
          </p:cNvSpPr>
          <p:nvPr>
            <p:ph type="sldNum" idx="5" sz="quarter"/>
          </p:nvPr>
        </p:nvSpPr>
        <p:spPr/>
      </p:sp>
    </p:spTree>
  </p:cSld>
  <p:clrMapOvr>
    <a:masterClrMapping/>
  </p:clrMapOvr>
</p:notes>
</file>

<file path=ppt/notesSlides/notesSlide1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TEACH | 12:55 PM–1:10 PM | 15 MIN TOTAL. Shared phase allocation across these slides.</a:t>
            </a:r>
          </a:p>
          <a:p/>
          <a:p>
            <a:r>
              <a:t>The calculator line on page 125 includes brackets: 2 × (1200 + 800). Entering those brackets gives 4000 millimetres. Without them, the calculator multiplies two by 1200 first, then adds 800, producing 3200. That arithmetic is valid for a different expression, but it is not the rectangle’s perimeter. What edge lengths would be missing? The ungrouped expression counts two lengths and only one width. This physical interpretation explains why the brackets matter. Copy the formula’s structure before replacing letters with numbers, and confirm the output unit is millimetres rather than square millimetres.</a:t>
            </a:r>
          </a:p>
        </p:txBody>
      </p:sp>
      <p:sp>
        <p:nvSpPr>
          <p:cNvPr id="4" name="Slide Number Placeholder 3"/>
          <p:cNvSpPr>
            <a:spLocks noGrp="1"/>
          </p:cNvSpPr>
          <p:nvPr>
            <p:ph type="sldNum" idx="5" sz="quarter"/>
          </p:nvPr>
        </p:nvSpPr>
        <p:spPr/>
      </p:sp>
    </p:spTree>
  </p:cSld>
  <p:clrMapOvr>
    <a:masterClrMapping/>
  </p:clrMapOvr>
</p:notes>
</file>

<file path=ppt/notesSlides/notesSlide1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TEACH | 12:55 PM–1:10 PM | 15 MIN TOTAL. Shared phase allocation across these slides.</a:t>
            </a:r>
          </a:p>
          <a:p/>
          <a:p>
            <a:r>
              <a:t>If two rectangles have the same area, must their dimensions match? No. Our four-by-two rectangle has area eight square metres, but an eight-by-one rectangle also has area eight square metres. One is too narrow and too long to match the other exactly. What additional information is needed to check fit? Compare length and width, including orientation and the required dimensions. The area calculation can be perfectly correct while being insufficient for a fit decision. Keep the question in view: “How much surface?” and “Will this part fit?” require different evidence.</a:t>
            </a:r>
          </a:p>
        </p:txBody>
      </p:sp>
      <p:sp>
        <p:nvSpPr>
          <p:cNvPr id="4" name="Slide Number Placeholder 3"/>
          <p:cNvSpPr>
            <a:spLocks noGrp="1"/>
          </p:cNvSpPr>
          <p:nvPr>
            <p:ph type="sldNum" idx="5" sz="quarter"/>
          </p:nvPr>
        </p:nvSpPr>
        <p:spPr/>
      </p:sp>
    </p:spTree>
  </p:cSld>
  <p:clrMapOvr>
    <a:masterClrMapping/>
  </p:clrMapOvr>
</p:notes>
</file>

<file path=ppt/notesSlides/notesSlide1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TOGETHER | 1:10 PM–1:25 PM | 15 MIN TOTAL. Shared phase allocation across these slides.</a:t>
            </a:r>
          </a:p>
          <a:p/>
          <a:p>
            <a:r>
              <a:t>Work together on 8A Q2–4 and Q7. Before using calculator keys, read each symbol aloud and say what quantity the answer will represent. Your partner checks that the substituted values occupy the right positions and that brackets are preserved. For Q2, we will first make hidden multiplication signs visible. Why does that help? It prevents adjacent letters from looking like one unfamiliar symbol and makes the order of operations easier to explain.</a:t>
            </a:r>
          </a:p>
        </p:txBody>
      </p:sp>
      <p:sp>
        <p:nvSpPr>
          <p:cNvPr id="4" name="Slide Number Placeholder 3"/>
          <p:cNvSpPr>
            <a:spLocks noGrp="1"/>
          </p:cNvSpPr>
          <p:nvPr>
            <p:ph type="sldNum" idx="5" sz="quarter"/>
          </p:nvPr>
        </p:nvSpPr>
        <p:spPr/>
      </p:sp>
    </p:spTree>
  </p:cSld>
  <p:clrMapOvr>
    <a:masterClrMapping/>
  </p:clrMapOvr>
</p:notes>
</file>

<file path=ppt/notesSlides/notesSlide1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TOGETHER | 1:10 PM–1:25 PM | 15 MIN TOTAL. Shared phase allocation across these slides.</a:t>
            </a:r>
          </a:p>
          <a:p/>
          <a:p>
            <a:r>
              <a:t>In 8A Q2, rewrite 3ab and πr² using multiplication signs. Identify which quantities are multiplied and what the exponent applies to. Explain the expansion to your partner before revealing the answer.</a:t>
            </a:r>
          </a:p>
          <a:p/>
          <a:p>
            <a:r>
              <a:t>Instructor-only, after the attempt: 3 × a × b and π × r × r. The square applies to r only. It means r multiplied by itself, not two times r and not the entire product πr squared.</a:t>
            </a:r>
          </a:p>
        </p:txBody>
      </p:sp>
      <p:sp>
        <p:nvSpPr>
          <p:cNvPr id="4" name="Slide Number Placeholder 3"/>
          <p:cNvSpPr>
            <a:spLocks noGrp="1"/>
          </p:cNvSpPr>
          <p:nvPr>
            <p:ph type="sldNum" idx="5" sz="quarter"/>
          </p:nvPr>
        </p:nvSpPr>
        <p:spPr/>
      </p:sp>
    </p:spTree>
  </p:cSld>
  <p:clrMapOvr>
    <a:masterClrMapping/>
  </p:clrMapOvr>
</p:notes>
</file>

<file path=ppt/notesSlides/notesSlide1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TOGETHER | 1:10 PM–1:25 PM | 15 MIN TOTAL. Shared phase allocation across these slides.</a:t>
            </a:r>
          </a:p>
          <a:p/>
          <a:p>
            <a:r>
              <a:t>The expanded forms are 3 × a × b and π × r × r. In algebra, adjacent symbols commonly imply multiplication, so 3ab includes three factors. The superscript two in r² repeats r as a factor twice. What changes if we write 2r instead? That means two times r, a different calculation. Making the signs explicit lets us substitute numbers without losing an operation. Read the second expression as “pi times radius times radius.”</a:t>
            </a:r>
          </a:p>
        </p:txBody>
      </p:sp>
      <p:sp>
        <p:nvSpPr>
          <p:cNvPr id="4" name="Slide Number Placeholder 3"/>
          <p:cNvSpPr>
            <a:spLocks noGrp="1"/>
          </p:cNvSpPr>
          <p:nvPr>
            <p:ph type="sldNum" idx="5" sz="quarter"/>
          </p:nvPr>
        </p:nvSpPr>
        <p:spPr/>
      </p:sp>
    </p:spTree>
  </p:cSld>
  <p:clrMapOvr>
    <a:masterClrMapping/>
  </p:clrMapOvr>
</p:notes>
</file>

<file path=ppt/notesSlides/notesSlide1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PRACTISE | 1:25 PM–1:45 PM | 20 MIN TOTAL. Shared phase allocation across these slides.</a:t>
            </a:r>
          </a:p>
          <a:p/>
          <a:p>
            <a:r>
              <a:t>Complete 8A Q5–6 and Q8, plus 8B Q12. These applications introduce formulas; focus on reading the symbols, substituting correctly and checking the resulting units. Use Shape Canvas dimensions to confirm the values you substituted. What should you do before trusting a matching number? Confirm that it answers the requested quantity. For a circle, distinguish the diameter used in the circumference formula from the radius used in the area formula. Keep the original formula visible above the numerical working.</a:t>
            </a:r>
          </a:p>
        </p:txBody>
      </p:sp>
      <p:sp>
        <p:nvSpPr>
          <p:cNvPr id="4" name="Slide Number Placeholder 3"/>
          <p:cNvSpPr>
            <a:spLocks noGrp="1"/>
          </p:cNvSpPr>
          <p:nvPr>
            <p:ph type="sldNum" idx="5" sz="quarter"/>
          </p:nvPr>
        </p:nvSpPr>
        <p:spPr/>
      </p:sp>
    </p:spTree>
  </p:cSld>
  <p:clrMapOvr>
    <a:masterClrMapping/>
  </p:clrMapOvr>
</p:notes>
</file>

<file path=ppt/notesSlides/notesSlide1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PRACTISE | 1:25 PM–1:45 PM | 20 MIN TOTAL. Shared phase allocation across these slides.</a:t>
            </a:r>
          </a:p>
          <a:p/>
          <a:p>
            <a:r>
              <a:t>Open Shape Canvas and display the assigned rectangle’s sizes and formula. Point from each written dimension to the letter it replaces in your paper formula. Which calculation describes the inside surface, and which describes the boundary? Area multiplies the two dimensions; perimeter totals the edges. Use the canvas to confirm that your labels represent the intended values, then compare the calculation. The picture helps connect letters to dimensions, but the written equation still explains how the result was obtained.</a:t>
            </a:r>
          </a:p>
        </p:txBody>
      </p:sp>
      <p:sp>
        <p:nvSpPr>
          <p:cNvPr id="4" name="Slide Number Placeholder 3"/>
          <p:cNvSpPr>
            <a:spLocks noGrp="1"/>
          </p:cNvSpPr>
          <p:nvPr>
            <p:ph type="sldNum" idx="5" sz="quarter"/>
          </p:nvPr>
        </p:nvSpPr>
        <p:spPr/>
      </p:sp>
    </p:spTree>
  </p:cSld>
  <p:clrMapOvr>
    <a:masterClrMapping/>
  </p:clrMapOvr>
</p:notes>
</file>

<file path=ppt/notesSlides/notesSlide1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PRACTISE | 1:25 PM–1:45 PM | 20 MIN TOTAL. Shared phase allocation across these slides.</a:t>
            </a:r>
          </a:p>
          <a:p/>
          <a:p>
            <a:r>
              <a:t>In Numeracy Hub Shape Studio, compare the Letters and values view with the Calculations view. Read a formula before revealing its substituted values. Then create the assigned rectangle in Shape Canvas and show its dimensions. What should the values in your notebook match? The corresponding labelled lengths, in consistent units. Calculate on paper first, then compare the result with the tool. If the number agrees but the unit does not, examine whether you found area or perimeter.</a:t>
            </a:r>
          </a:p>
        </p:txBody>
      </p:sp>
      <p:sp>
        <p:nvSpPr>
          <p:cNvPr id="4" name="Slide Number Placeholder 3"/>
          <p:cNvSpPr>
            <a:spLocks noGrp="1"/>
          </p:cNvSpPr>
          <p:nvPr>
            <p:ph type="sldNum" idx="5" sz="quarter"/>
          </p:nvPr>
        </p:nvSpPr>
        <p:spPr/>
      </p:sp>
    </p:spTree>
  </p:cSld>
  <p:clrMapOvr>
    <a:masterClrMapping/>
  </p:clrMapOvr>
</p:notes>
</file>

<file path=ppt/notesSlides/notesSlide1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PRACTISE | 1:25 PM–1:45 PM | 20 MIN TOTAL. Shared phase allocation across these slides.</a:t>
            </a:r>
          </a:p>
          <a:p/>
          <a:p>
            <a:r>
              <a:t>For 8A Q5, substitute a diameter of 450 millimetres into C = π × D. Use the calculator’s pi value and round only the final result to two decimal places. Predict a circumference a little more than three diameters.</a:t>
            </a:r>
          </a:p>
          <a:p/>
          <a:p>
            <a:r>
              <a:t>Instructor-only, after the attempt: π × 450 ≈ 1413.716694 mm, rounding to 1413.72 mm. The unit is millimetres because this is a distance around the circle. Using the radius instead would halve the required input.</a:t>
            </a:r>
          </a:p>
        </p:txBody>
      </p:sp>
      <p:sp>
        <p:nvSpPr>
          <p:cNvPr id="4" name="Slide Number Placeholder 3"/>
          <p:cNvSpPr>
            <a:spLocks noGrp="1"/>
          </p:cNvSpPr>
          <p:nvPr>
            <p:ph type="sldNum" idx="5" sz="quarter"/>
          </p:nvPr>
        </p:nvSpPr>
        <p:spPr/>
      </p:sp>
    </p:spTree>
  </p:cSld>
  <p:clrMapOvr>
    <a:masterClrMapping/>
  </p:clrMapOvr>
</p:notes>
</file>

<file path=ppt/notesSlides/notesSlide1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PRACTISE | 1:25 PM–1:45 PM | 20 MIN TOTAL. Shared phase allocation across these slides.</a:t>
            </a:r>
          </a:p>
          <a:p/>
          <a:p>
            <a:r>
              <a:t>For 8A Q6, substitute a radius of thirty-five millimetres into A = π × r². Explain what gets squared before calculating and round the final area to two decimal places.</a:t>
            </a:r>
          </a:p>
          <a:p/>
          <a:p>
            <a:r>
              <a:t>Instructor-only, after the attempt: 35² = 1225, then π × 1225 ≈ 3848.451001, giving 3848.45 mm². Square the radius, not pi and not twice the radius. The square-millimetre unit records that two length factors were multiplied.</a:t>
            </a:r>
          </a:p>
        </p:txBody>
      </p:sp>
      <p:sp>
        <p:nvSpPr>
          <p:cNvPr id="4" name="Slide Number Placeholder 3"/>
          <p:cNvSpPr>
            <a:spLocks noGrp="1"/>
          </p:cNvSpPr>
          <p:nvPr>
            <p:ph type="sldNum" idx="5" sz="quarter"/>
          </p:nvPr>
        </p:nvSpPr>
        <p:spPr/>
      </p:sp>
    </p:spTree>
  </p:cSld>
  <p:clrMapOvr>
    <a:masterClrMapping/>
  </p:clrMapOvr>
</p:notes>
</file>

<file path=ppt/notesSlides/notesSlide1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CHECK | 1:45 PM–1:55 PM | 10 MIN TOTAL. Shared phase allocation across these slides.</a:t>
            </a:r>
          </a:p>
          <a:p/>
          <a:p>
            <a:r>
              <a:t>Complete 8A Q3–4 independently. Label each result as area or perimeter and include its correct unit. Copy the formula, substitute the dimensions and show the grouped calculation. What should be visible in the perimeter work? The addition inside brackets before multiplication by two. What should be visible in the area result? A square unit. These details show the meaning of your calculation even if the arithmetic could be done mentally.</a:t>
            </a:r>
          </a:p>
        </p:txBody>
      </p:sp>
      <p:sp>
        <p:nvSpPr>
          <p:cNvPr id="4" name="Slide Number Placeholder 3"/>
          <p:cNvSpPr>
            <a:spLocks noGrp="1"/>
          </p:cNvSpPr>
          <p:nvPr>
            <p:ph type="sldNum" idx="5" sz="quarter"/>
          </p:nvPr>
        </p:nvSpPr>
        <p:spPr/>
      </p:sp>
    </p:spTree>
  </p:cSld>
  <p:clrMapOvr>
    <a:masterClrMapping/>
  </p:clrMapOvr>
</p:notes>
</file>

<file path=ppt/notesSlides/notesSlide1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CHECK | 1:45 PM–1:55 PM | 10 MIN TOTAL. Shared phase allocation across these slides.</a:t>
            </a:r>
          </a:p>
          <a:p/>
          <a:p>
            <a:r>
              <a:t>For 8A Q3, substitute length 3.6 metres and width 2.5 metres into A = l × w. Write the formula and numerical substitution, then decide the unit from the operation. Complete the attempt before checking.</a:t>
            </a:r>
          </a:p>
          <a:p/>
          <a:p>
            <a:r>
              <a:t>Instructor-only, after the attempt: 3.6 × 2.5 = 9 m². One check is 3.6 × (2 + 0.5) = 7.2 + 1.8 = 9. This is surface area, so the result is square metres, not metres.</a:t>
            </a:r>
          </a:p>
        </p:txBody>
      </p:sp>
      <p:sp>
        <p:nvSpPr>
          <p:cNvPr id="4" name="Slide Number Placeholder 3"/>
          <p:cNvSpPr>
            <a:spLocks noGrp="1"/>
          </p:cNvSpPr>
          <p:nvPr>
            <p:ph type="sldNum" idx="5" sz="quarter"/>
          </p:nvPr>
        </p:nvSpPr>
        <p:spPr/>
      </p:sp>
    </p:spTree>
  </p:cSld>
  <p:clrMapOvr>
    <a:masterClrMapping/>
  </p:clrMapOvr>
</p:notes>
</file>

<file path=ppt/notesSlides/notesSlide1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CHECK | 1:45 PM–1:55 PM | 10 MIN TOTAL. Shared phase allocation across these slides.</a:t>
            </a:r>
          </a:p>
          <a:p/>
          <a:p>
            <a:r>
              <a:t>For 8A Q4, find P = 2 × (l + w) using length 1250 millimetres and width 875 millimetres. Preserve the brackets and show which operation you complete first. Record the perimeter unit.</a:t>
            </a:r>
          </a:p>
          <a:p/>
          <a:p>
            <a:r>
              <a:t>Instructor-only, after the attempt: 1250 + 875 = 2125 mm; doubling gives 4250 mm. An edge-by-edge check is 1250 + 875 + 1250 + 875. Millimetres remain ordinary length units because the edges are added, not multiplied together.</a:t>
            </a:r>
          </a:p>
        </p:txBody>
      </p:sp>
      <p:sp>
        <p:nvSpPr>
          <p:cNvPr id="4" name="Slide Number Placeholder 3"/>
          <p:cNvSpPr>
            <a:spLocks noGrp="1"/>
          </p:cNvSpPr>
          <p:nvPr>
            <p:ph type="sldNum" idx="5" sz="quarter"/>
          </p:nvPr>
        </p:nvSpPr>
        <p:spPr/>
      </p:sp>
    </p:spTree>
  </p:cSld>
  <p:clrMapOvr>
    <a:masterClrMapping/>
  </p:clrMapOvr>
</p:notes>
</file>

<file path=ppt/notesSlides/notesSlide1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WRAP UP | 1:55 PM–2:00 PM | 5 MIN TOTAL. Shared phase allocation across these slides.</a:t>
            </a:r>
          </a:p>
          <a:p/>
          <a:p>
            <a:r>
              <a:t>Explain how you moved from a formula to a labelled answer. Which step was most important for you: naming the letters, matching units, retaining brackets or choosing area versus perimeter? Use one completed exercise as evidence. What do square units tell us? We have calculated area by multiplying lengths. After the break, we will keep this written routine but reverse the operations to find a missing dimension. The original formula will become our final check.</a:t>
            </a:r>
          </a:p>
        </p:txBody>
      </p:sp>
      <p:sp>
        <p:nvSpPr>
          <p:cNvPr id="4" name="Slide Number Placeholder 3"/>
          <p:cNvSpPr>
            <a:spLocks noGrp="1"/>
          </p:cNvSpPr>
          <p:nvPr>
            <p:ph type="sldNum" idx="5" sz="quarter"/>
          </p:nvPr>
        </p:nvSpPr>
        <p:spPr/>
      </p:sp>
    </p:spTree>
  </p:cSld>
  <p:clrMapOvr>
    <a:masterClrMapping/>
  </p:clrMapOvr>
</p:notes>
</file>

<file path=ppt/notesSlides/notesSlide1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scheduled break, 2:00–2:15 PM.</a:t>
            </a:r>
          </a:p>
          <a:p/>
          <a:p>
            <a:r>
              <a:t>Take the scheduled break from 2:00 to 2:15. When we return, we will work backwards from an area or perimeter to find an unknown dimension, then test the result in the original equation.</a:t>
            </a:r>
          </a:p>
        </p:txBody>
      </p:sp>
      <p:sp>
        <p:nvSpPr>
          <p:cNvPr id="4" name="Slide Number Placeholder 3"/>
          <p:cNvSpPr>
            <a:spLocks noGrp="1"/>
          </p:cNvSpPr>
          <p:nvPr>
            <p:ph type="sldNum" idx="5" sz="quarter"/>
          </p:nvPr>
        </p:nvSpPr>
        <p:spPr/>
      </p:sp>
    </p:spTree>
  </p:cSld>
  <p:clrMapOvr>
    <a:masterClrMapping/>
  </p:clrMapOvr>
</p:notes>
</file>

<file path=ppt/notesSlides/notesSlide1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START | 2:15 PM–2:20 PM | 5 MIN TOTAL. Shared phase allocation across these slides.</a:t>
            </a:r>
          </a:p>
          <a:p/>
          <a:p>
            <a:r>
              <a:t>Suppose you know the total distance around a frame and its width, but the length is missing. A formula can help us recover that length if we undo its operations carefully. Open textbook sections 8.3–8.5, pages 126–130, and section 8.7 on page 134. What must stay true while we rearrange? Both sides must remain equal. We will use inverse operations, write each step and put the answer back into the original formula to check it.</a:t>
            </a:r>
          </a:p>
        </p:txBody>
      </p:sp>
      <p:sp>
        <p:nvSpPr>
          <p:cNvPr id="4" name="Slide Number Placeholder 3"/>
          <p:cNvSpPr>
            <a:spLocks noGrp="1"/>
          </p:cNvSpPr>
          <p:nvPr>
            <p:ph type="sldNum" idx="5" sz="quarter"/>
          </p:nvPr>
        </p:nvSpPr>
        <p:spPr/>
      </p:sp>
    </p:spTree>
  </p:cSld>
  <p:clrMapOvr>
    <a:masterClrMapping/>
  </p:clrMapOvr>
</p:notes>
</file>

<file path=ppt/notesSlides/notesSlide1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RECALL | 2:20 PM–2:25 PM | 5 MIN TOTAL. Shared phase allocation across these slides.</a:t>
            </a:r>
          </a:p>
          <a:p/>
          <a:p>
            <a:r>
              <a:t>Use 8A Q9 and Q11 to recall inverse operations. Addition is undone by subtraction; multiplication is undone by division. But we must apply the same operation to both sides of the equation. Why? The equals sign states that both sides represent the same amount. Changing only one side would usually destroy that equality. In the next question, identify what has been added to the unknown and remove that amount from both sides.</a:t>
            </a:r>
          </a:p>
        </p:txBody>
      </p:sp>
      <p:sp>
        <p:nvSpPr>
          <p:cNvPr id="4" name="Slide Number Placeholder 3"/>
          <p:cNvSpPr>
            <a:spLocks noGrp="1"/>
          </p:cNvSpPr>
          <p:nvPr>
            <p:ph type="sldNum" idx="5" sz="quarter"/>
          </p:nvPr>
        </p:nvSpPr>
        <p:spPr/>
      </p:sp>
    </p:spTree>
  </p:cSld>
  <p:clrMapOvr>
    <a:masterClrMapping/>
  </p:clrMapOvr>
</p:notes>
</file>

<file path=ppt/notesSlides/notesSlide1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RECALL | 2:20 PM–2:25 PM | 5 MIN TOTAL. Shared phase allocation across these slides.</a:t>
            </a:r>
          </a:p>
          <a:p/>
          <a:p>
            <a:r>
              <a:t>For 8A Q9, solve x + 175 = 640. Name the operation attached to x, then use its inverse on both sides. Verify your value by replacing x in the original equation.</a:t>
            </a:r>
          </a:p>
          <a:p/>
          <a:p>
            <a:r>
              <a:t>Instructor-only, after the attempt: Subtract 175 from both sides: x = 640 − 175 = 465. Check: 465 + 175 = 640. Merely changing the sign without explaining the operation hides why the rearrangement preserves equality.</a:t>
            </a:r>
          </a:p>
        </p:txBody>
      </p:sp>
      <p:sp>
        <p:nvSpPr>
          <p:cNvPr id="4" name="Slide Number Placeholder 3"/>
          <p:cNvSpPr>
            <a:spLocks noGrp="1"/>
          </p:cNvSpPr>
          <p:nvPr>
            <p:ph type="sldNum" idx="5" sz="quarter"/>
          </p:nvPr>
        </p:nvSpPr>
        <p:spPr/>
      </p:sp>
    </p:spTree>
  </p:cSld>
  <p:clrMapOvr>
    <a:masterClrMapping/>
  </p:clrMapOvr>
</p:notes>
</file>

<file path=ppt/notesSlides/notesSlide1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TEACH | 2:25 PM–2:40 PM | 15 MIN TOTAL. Shared phase allocation across these slides.</a:t>
            </a:r>
          </a:p>
          <a:p/>
          <a:p>
            <a:r>
              <a:t>An equation is a statement of equality. To isolate an unknown, undo operations while doing the same thing to both sides. If an amount was added, subtract it; if the unknown was multiplied by a nonzero quantity, divide by that quantity. In a grouped expression, keep the entire group together when applying an operation. Why do we undo the outside operation first in a two-step formula? It frees the inner expression without changing its internal relationship. Write the operation on both sides until the balance is clear; shortcuts are useful only when you understand what they preserve.</a:t>
            </a:r>
          </a:p>
        </p:txBody>
      </p:sp>
      <p:sp>
        <p:nvSpPr>
          <p:cNvPr id="4" name="Slide Number Placeholder 3"/>
          <p:cNvSpPr>
            <a:spLocks noGrp="1"/>
          </p:cNvSpPr>
          <p:nvPr>
            <p:ph type="sldNum" idx="5" sz="quarter"/>
          </p:nvPr>
        </p:nvSpPr>
        <p:spPr/>
      </p:sp>
    </p:spTree>
  </p:cSld>
  <p:clrMapOvr>
    <a:masterClrMapping/>
  </p:clrMapOvr>
</p:notes>
</file>

<file path=ppt/notesSlides/notesSlide1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TEACH | 2:25 PM–2:40 PM | 15 MIN TOTAL. Shared phase allocation across these slides.</a:t>
            </a:r>
          </a:p>
          <a:p/>
          <a:p>
            <a:r>
              <a:t>Start from the rectangle’s perimeter formula, P = 2(l + w). The bracketed length-plus-width pair was multiplied by two, so divide both sides by two: P/2 = l + w. Then subtract the known width from both sides, leaving l = P/2 − w. What must we do after calculating l? Substitute it into the original perimeter formula. This check is stronger than repeating the rearranged calculation because it tests whether the found length actually recreates the given perimeter. Keep the units consistent so the equality represents the same quantity on both sides.</a:t>
            </a:r>
          </a:p>
        </p:txBody>
      </p:sp>
      <p:sp>
        <p:nvSpPr>
          <p:cNvPr id="4" name="Slide Number Placeholder 3"/>
          <p:cNvSpPr>
            <a:spLocks noGrp="1"/>
          </p:cNvSpPr>
          <p:nvPr>
            <p:ph type="sldNum" idx="5" sz="quarter"/>
          </p:nvPr>
        </p:nvSpPr>
        <p:spPr/>
      </p:sp>
    </p:spTree>
  </p:cSld>
  <p:clrMapOvr>
    <a:masterClrMapping/>
  </p:clrMapOvr>
</p:notes>
</file>

<file path=ppt/notesSlides/notesSlide1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TEACH | 2:25 PM–2:40 PM | 15 MIN TOTAL. Shared phase allocation across these slides.</a:t>
            </a:r>
          </a:p>
          <a:p/>
          <a:p>
            <a:r>
              <a:t>Textbook Example 8.8 gives a frame with perimeter 5000 millimetres and width 900 millimetres. Divide the perimeter by two to find one length plus one width: 2500 millimetres. Subtract the width to isolate the length: 2500 − 900 = 1600 millimetres. Why is the first division by two appropriate? Opposite sides of the rectangle are equal, so the full perimeter contains two identical length-plus-width pairs. The rearranged formula expresses that geometric reasoning. State the answer as a length in millimetres, then prepare to check it using all four sides.</a:t>
            </a:r>
          </a:p>
        </p:txBody>
      </p:sp>
      <p:sp>
        <p:nvSpPr>
          <p:cNvPr id="4" name="Slide Number Placeholder 3"/>
          <p:cNvSpPr>
            <a:spLocks noGrp="1"/>
          </p:cNvSpPr>
          <p:nvPr>
            <p:ph type="sldNum" idx="5" sz="quarter"/>
          </p:nvPr>
        </p:nvSpPr>
        <p:spPr/>
      </p:sp>
    </p:spTree>
  </p:cSld>
  <p:clrMapOvr>
    <a:masterClrMapping/>
  </p:clrMapOvr>
</p:notes>
</file>

<file path=ppt/notesSlides/notesSlide1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TEACH | 2:25 PM–2:40 PM | 15 MIN TOTAL. Shared phase allocation across these slides.</a:t>
            </a:r>
          </a:p>
          <a:p/>
          <a:p>
            <a:r>
              <a:t>Check the textbook result by returning to P = 2(l + w). Replace l with 1600 millimetres and w with 900: inside the brackets we get 2500, and doubling gives 5000 millimetres. That matches the given perimeter. What if our calculation produced 3200 millimetres for the length? Substitution would give 2 × (3200 + 900) = 8200, exposing the mismatch. The check must use the original formula and given values, not only repeat the same rearrangement. It answers whether the candidate dimension satisfies the original information.</a:t>
            </a:r>
          </a:p>
        </p:txBody>
      </p:sp>
      <p:sp>
        <p:nvSpPr>
          <p:cNvPr id="4" name="Slide Number Placeholder 3"/>
          <p:cNvSpPr>
            <a:spLocks noGrp="1"/>
          </p:cNvSpPr>
          <p:nvPr>
            <p:ph type="sldNum" idx="5" sz="quarter"/>
          </p:nvPr>
        </p:nvSpPr>
        <p:spPr/>
      </p:sp>
    </p:spTree>
  </p:cSld>
  <p:clrMapOvr>
    <a:masterClrMapping/>
  </p:clrMapOvr>
</p:notes>
</file>

<file path=ppt/notesSlides/notesSlide1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TEACH | 2:25 PM–2:40 PM | 15 MIN TOTAL. Shared phase allocation across these slides.</a:t>
            </a:r>
          </a:p>
          <a:p/>
          <a:p>
            <a:r>
              <a:t>Why is l = P − 2w incomplete? Expand the original perimeter equation as P = 2l + 2w. Subtracting 2w leaves P − 2w = 2l, which is still two lengths. We must divide the whole remaining expression by two to isolate one length: l = (P − 2w)/2. That simplifies to P/2 − w. Which part of the incorrect method was reasonable? Removing the two widths. The missing step was sharing what remained between the two equal lengths. Explaining that missing step is more useful than just calling the formula wrong.</a:t>
            </a:r>
          </a:p>
        </p:txBody>
      </p:sp>
      <p:sp>
        <p:nvSpPr>
          <p:cNvPr id="4" name="Slide Number Placeholder 3"/>
          <p:cNvSpPr>
            <a:spLocks noGrp="1"/>
          </p:cNvSpPr>
          <p:nvPr>
            <p:ph type="sldNum" idx="5" sz="quarter"/>
          </p:nvPr>
        </p:nvSpPr>
        <p:spPr/>
      </p:sp>
    </p:spTree>
  </p:cSld>
  <p:clrMapOvr>
    <a:masterClrMapping/>
  </p:clrMapOvr>
</p:notes>
</file>

<file path=ppt/notesSlides/notesSlide1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TOGETHER | 2:40 PM–2:55 PM | 15 MIN TOTAL. Shared phase allocation across these slides.</a:t>
            </a:r>
          </a:p>
          <a:p/>
          <a:p>
            <a:r>
              <a:t>Work together on 8A Q15, Q18–19 and 8B Q1. Identify the unknown, say the inverse operation and apply it to both sides before entering numbers. After solving, substitute into the original relationship. What should your partner check? That the operation affects the entire required expression and that the original equality is recovered. Begin by isolating length in the area formula on the next slide; it needs one inverse step rather than the perimeter formula’s two.</a:t>
            </a:r>
          </a:p>
        </p:txBody>
      </p:sp>
      <p:sp>
        <p:nvSpPr>
          <p:cNvPr id="4" name="Slide Number Placeholder 3"/>
          <p:cNvSpPr>
            <a:spLocks noGrp="1"/>
          </p:cNvSpPr>
          <p:nvPr>
            <p:ph type="sldNum" idx="5" sz="quarter"/>
          </p:nvPr>
        </p:nvSpPr>
        <p:spPr/>
      </p:sp>
    </p:spTree>
  </p:cSld>
  <p:clrMapOvr>
    <a:masterClrMapping/>
  </p:clrMapOvr>
</p:notes>
</file>

<file path=ppt/notesSlides/notesSlide1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TOGETHER | 2:40 PM–2:55 PM | 15 MIN TOTAL. Shared phase allocation across these slides.</a:t>
            </a:r>
          </a:p>
          <a:p/>
          <a:p>
            <a:r>
              <a:t>For 8A Q15, make l the subject of A = l × w. Which operation currently connects l to w, and what inverse operation isolates l? Write the step on both sides before simplifying.</a:t>
            </a:r>
          </a:p>
          <a:p/>
          <a:p>
            <a:r>
              <a:t>Instructor-only, after the attempt: Divide both sides by w, giving l = A ÷ w, with w nonzero. For an actual rectangle the width is positive. Area divided by width leaves a length, matching the requested quantity.</a:t>
            </a:r>
          </a:p>
        </p:txBody>
      </p:sp>
      <p:sp>
        <p:nvSpPr>
          <p:cNvPr id="4" name="Slide Number Placeholder 3"/>
          <p:cNvSpPr>
            <a:spLocks noGrp="1"/>
          </p:cNvSpPr>
          <p:nvPr>
            <p:ph type="sldNum" idx="5" sz="quarter"/>
          </p:nvPr>
        </p:nvSpPr>
        <p:spPr/>
      </p:sp>
    </p:spTree>
  </p:cSld>
  <p:clrMapOvr>
    <a:masterClrMapping/>
  </p:clrMapOvr>
</p:notes>
</file>

<file path=ppt/notesSlides/notesSlide1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TOGETHER | 2:40 PM–2:55 PM | 15 MIN TOTAL. Shared phase allocation across these slides.</a:t>
            </a:r>
          </a:p>
          <a:p/>
          <a:p>
            <a:r>
              <a:t>Our rearrangement is l = A ÷ w. The original formula multiplied length by width; dividing both sides by width undoes that multiplication. Why does the unit also make sense? Square metres divided by metres leaves metres, a length. To check the rearrangement, multiply the resulting length by the same width and recover the original area. This is the same balance principle as solving a simple multiplication equation, now written with quantities rather than specific numbers.</a:t>
            </a:r>
          </a:p>
        </p:txBody>
      </p:sp>
      <p:sp>
        <p:nvSpPr>
          <p:cNvPr id="4" name="Slide Number Placeholder 3"/>
          <p:cNvSpPr>
            <a:spLocks noGrp="1"/>
          </p:cNvSpPr>
          <p:nvPr>
            <p:ph type="sldNum" idx="5" sz="quarter"/>
          </p:nvPr>
        </p:nvSpPr>
        <p:spPr/>
      </p:sp>
    </p:spTree>
  </p:cSld>
  <p:clrMapOvr>
    <a:masterClrMapping/>
  </p:clrMapOvr>
</p:notes>
</file>

<file path=ppt/notesSlides/notesSlide1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PRACTISE | 2:55 PM–3:15 PM | 20 MIN TOTAL. Shared phase allocation across these slides.</a:t>
            </a:r>
          </a:p>
          <a:p/>
          <a:p>
            <a:r>
              <a:t>Complete selected 8A Q12–14, Q16–17 and Q20–22, plus 8B Q4 and Q15. For each, keep the original equation visible, rearrange on paper and substitute your result back. Use the tools after that written explanation. What should you investigate if the original equation does not balance? A missing inverse step, an operation applied to only part of a group, an arithmetic error or inconsistent units. Keep the failed check and correction so you can explain why the revised answer works.</a:t>
            </a:r>
          </a:p>
        </p:txBody>
      </p:sp>
      <p:sp>
        <p:nvSpPr>
          <p:cNvPr id="4" name="Slide Number Placeholder 3"/>
          <p:cNvSpPr>
            <a:spLocks noGrp="1"/>
          </p:cNvSpPr>
          <p:nvPr>
            <p:ph type="sldNum" idx="5" sz="quarter"/>
          </p:nvPr>
        </p:nvSpPr>
        <p:spPr/>
      </p:sp>
    </p:spTree>
  </p:cSld>
  <p:clrMapOvr>
    <a:masterClrMapping/>
  </p:clrMapOvr>
</p:notes>
</file>

<file path=ppt/notesSlides/notesSlide2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PRACTISE | 2:55 PM–3:15 PM | 20 MIN TOTAL. Shared phase allocation across these slides.</a:t>
            </a:r>
          </a:p>
          <a:p/>
          <a:p>
            <a:r>
              <a:t>Use the rectangle in Shape Canvas to connect the known area or perimeter with one missing dimension. Identify which quantity is provided before selecting a formula. An area problem divides by the known width; a perimeter problem first accounts for two length-width pairs. What should the canvas help you verify? That your found length, combined with the given width, reproduces the stated quantity. Write that check on paper as well so the explanation does not depend on reading a screen result.</a:t>
            </a:r>
          </a:p>
        </p:txBody>
      </p:sp>
      <p:sp>
        <p:nvSpPr>
          <p:cNvPr id="4" name="Slide Number Placeholder 3"/>
          <p:cNvSpPr>
            <a:spLocks noGrp="1"/>
          </p:cNvSpPr>
          <p:nvPr>
            <p:ph type="sldNum" idx="5" sz="quarter"/>
          </p:nvPr>
        </p:nvSpPr>
        <p:spPr/>
      </p:sp>
    </p:spTree>
  </p:cSld>
  <p:clrMapOvr>
    <a:masterClrMapping/>
  </p:clrMapOvr>
</p:notes>
</file>

<file path=ppt/notesSlides/notesSlide2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PRACTISE | 2:55 PM–3:15 PM | 20 MIN TOTAL. Shared phase allocation across these slides.</a:t>
            </a:r>
          </a:p>
          <a:p/>
          <a:p>
            <a:r>
              <a:t>Start with the given area or perimeter and one known rectangle dimension. Rearrange the matching formula on paper and solve for the missing dimension. Then use Numeracy Hub Calculator to put the value back into the original formula. What must match at the end? The original area or perimeter, including its unit. A plausible-looking rectangle alone is not enough. Read the label for the known quantity and show the equality that confirms your unknown dimension satisfies it.</a:t>
            </a:r>
          </a:p>
        </p:txBody>
      </p:sp>
      <p:sp>
        <p:nvSpPr>
          <p:cNvPr id="4" name="Slide Number Placeholder 3"/>
          <p:cNvSpPr>
            <a:spLocks noGrp="1"/>
          </p:cNvSpPr>
          <p:nvPr>
            <p:ph type="sldNum" idx="5" sz="quarter"/>
          </p:nvPr>
        </p:nvSpPr>
        <p:spPr/>
      </p:sp>
    </p:spTree>
  </p:cSld>
  <p:clrMapOvr>
    <a:masterClrMapping/>
  </p:clrMapOvr>
</p:notes>
</file>

<file path=ppt/notesSlides/notesSlide2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PRACTISE | 2:55 PM–3:15 PM | 20 MIN TOTAL. Shared phase allocation across these slides.</a:t>
            </a:r>
          </a:p>
          <a:p/>
          <a:p>
            <a:r>
              <a:t>For 8A Q12, solve x ÷ 6 = 45. Identify the inverse of division by six and apply it to both sides. Check by substituting your result into the original division statement.</a:t>
            </a:r>
          </a:p>
          <a:p/>
          <a:p>
            <a:r>
              <a:t>Instructor-only, after the attempt: Multiply both sides by six: x = 45 × 6 = 270. The check is 270 ÷ 6 = 45. Dividing forty-five by six again would make the value smaller and would not undo the original operation.</a:t>
            </a:r>
          </a:p>
        </p:txBody>
      </p:sp>
      <p:sp>
        <p:nvSpPr>
          <p:cNvPr id="4" name="Slide Number Placeholder 3"/>
          <p:cNvSpPr>
            <a:spLocks noGrp="1"/>
          </p:cNvSpPr>
          <p:nvPr>
            <p:ph type="sldNum" idx="5" sz="quarter"/>
          </p:nvPr>
        </p:nvSpPr>
        <p:spPr/>
      </p:sp>
    </p:spTree>
  </p:cSld>
  <p:clrMapOvr>
    <a:masterClrMapping/>
  </p:clrMapOvr>
</p:notes>
</file>

<file path=ppt/notesSlides/notesSlide2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PRACTISE | 2:55 PM–3:15 PM | 20 MIN TOTAL. Shared phase allocation across these slides.</a:t>
            </a:r>
          </a:p>
          <a:p/>
          <a:p>
            <a:r>
              <a:t>For 8A Q13, solve 15 × x = 1350. Ask how many equal groups of fifteen make 1350, then use the inverse operation on both sides. Show the multiplication check after solving.</a:t>
            </a:r>
          </a:p>
          <a:p/>
          <a:p>
            <a:r>
              <a:t>Instructor-only, after the attempt: x = 1350 ÷ 15 = 90. Check: 15 × 90 = 1350. Since 15 × 100 = 1500, an answer somewhat below one hundred is a reasonable size estimate.</a:t>
            </a:r>
          </a:p>
        </p:txBody>
      </p:sp>
      <p:sp>
        <p:nvSpPr>
          <p:cNvPr id="4" name="Slide Number Placeholder 3"/>
          <p:cNvSpPr>
            <a:spLocks noGrp="1"/>
          </p:cNvSpPr>
          <p:nvPr>
            <p:ph type="sldNum" idx="5" sz="quarter"/>
          </p:nvPr>
        </p:nvSpPr>
        <p:spPr/>
      </p:sp>
    </p:spTree>
  </p:cSld>
  <p:clrMapOvr>
    <a:masterClrMapping/>
  </p:clrMapOvr>
</p:notes>
</file>

<file path=ppt/notesSlides/notesSlide2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CHECK | 3:15 PM–3:25 PM | 10 MIN TOTAL. Shared phase allocation across these slides.</a:t>
            </a:r>
          </a:p>
          <a:p/>
          <a:p>
            <a:r>
              <a:t>Complete 8B Q4 and Q15 independently. Show the missing length and a substitution check for Q4. For Q15, calculate the mistaken answer, demonstrate why it fails the original equation, then give and check the correction. What evidence proves a rearrangement error? The proposed dimension cannot recreate the stated perimeter when substituted back. Keep the original equation visible; an answer without that check does not yet show the reasoning requested here.</a:t>
            </a:r>
          </a:p>
        </p:txBody>
      </p:sp>
      <p:sp>
        <p:nvSpPr>
          <p:cNvPr id="4" name="Slide Number Placeholder 3"/>
          <p:cNvSpPr>
            <a:spLocks noGrp="1"/>
          </p:cNvSpPr>
          <p:nvPr>
            <p:ph type="sldNum" idx="5" sz="quarter"/>
          </p:nvPr>
        </p:nvSpPr>
        <p:spPr/>
      </p:sp>
    </p:spTree>
  </p:cSld>
  <p:clrMapOvr>
    <a:masterClrMapping/>
  </p:clrMapOvr>
</p:notes>
</file>

<file path=ppt/notesSlides/notesSlide2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CHECK | 3:15 PM–3:25 PM | 10 MIN TOTAL. Shared phase allocation across these slides.</a:t>
            </a:r>
          </a:p>
          <a:p/>
          <a:p>
            <a:r>
              <a:t>For 8B Q4, the rectangular frame uses 6400 millimetres of tube around its boundary and is 1250 millimetres wide. Find its length and show the check in the original perimeter formula.</a:t>
            </a:r>
          </a:p>
          <a:p/>
          <a:p>
            <a:r>
              <a:t>Instructor-only, after the attempt: l = 6400/2 − 1250 = 3200 − 1250 = 1950 mm. Check: 2 × (1950 + 1250) = 6400 mm. Subtracting the two widths without halving the remaining amount would give two lengths, not one.</a:t>
            </a:r>
          </a:p>
        </p:txBody>
      </p:sp>
      <p:sp>
        <p:nvSpPr>
          <p:cNvPr id="4" name="Slide Number Placeholder 3"/>
          <p:cNvSpPr>
            <a:spLocks noGrp="1"/>
          </p:cNvSpPr>
          <p:nvPr>
            <p:ph type="sldNum" idx="5" sz="quarter"/>
          </p:nvPr>
        </p:nvSpPr>
        <p:spPr/>
      </p:sp>
    </p:spTree>
  </p:cSld>
  <p:clrMapOvr>
    <a:masterClrMapping/>
  </p:clrMapOvr>
</p:notes>
</file>

<file path=ppt/notesSlides/notesSlide2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CHECK | 3:15 PM–3:25 PM | 10 MIN TOTAL. Shared phase allocation across these slides.</a:t>
            </a:r>
          </a:p>
          <a:p/>
          <a:p>
            <a:r>
              <a:t>In 8B Q15, evaluate the learner’s l = P − 2w using P = 4000 millimetres and w = 700 millimetres. Test it in the original equation, then correct the method. Show all three stages before comparing.</a:t>
            </a:r>
          </a:p>
          <a:p/>
          <a:p>
            <a:r>
              <a:t>Instructor-only, after the attempt: The learner gets 2600 mm. Substituting gives 2 × (2600 + 700) = 6600 mm, which fails. Correctly, l = 4000/2 − 700 = 1300 mm; 2 × (1300 + 700) = 4000 mm. The mistaken value counts both lengths together.</a:t>
            </a:r>
          </a:p>
        </p:txBody>
      </p:sp>
      <p:sp>
        <p:nvSpPr>
          <p:cNvPr id="4" name="Slide Number Placeholder 3"/>
          <p:cNvSpPr>
            <a:spLocks noGrp="1"/>
          </p:cNvSpPr>
          <p:nvPr>
            <p:ph type="sldNum" idx="5" sz="quarter"/>
          </p:nvPr>
        </p:nvSpPr>
        <p:spPr/>
      </p:sp>
    </p:spTree>
  </p:cSld>
  <p:clrMapOvr>
    <a:masterClrMapping/>
  </p:clrMapOvr>
</p:notes>
</file>

<file path=ppt/notesSlides/notesSlide2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WRAP UP | 3:25 PM–3:30 PM | 5 MIN TOTAL. Shared phase allocation across these slides.</a:t>
            </a:r>
          </a:p>
          <a:p/>
          <a:p>
            <a:r>
              <a:t>Explain why a substitution check is valuable even when your algebra looks tidy. It asks whether the found dimension actually recreates the information in the original problem. Which inverse operation did you use today, and what did it undo? Use one exercise to answer precisely. Keep one corrected equation in your notebook with its successful check. Before moving into squares and square roots, make sure the one- and two-step balance routines are clear: preserve equality, isolate the unknown, then verify the original relationship.</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6.xml"/><Relationship Id="rId3" Type="http://schemas.openxmlformats.org/officeDocument/2006/relationships/image" Target="../media/image17.png"/><Relationship Id="rId4" Type="http://schemas.openxmlformats.org/officeDocument/2006/relationships/hyperlink" Target="../../../books/ACCESS-Trades-Numeracy-Textbook.pdf" TargetMode="External"/><Relationship Id="rId5" Type="http://schemas.openxmlformats.org/officeDocument/2006/relationships/hyperlink" Target="../../../books/ACCESS-Trades-Numeracy-Exercise-Book.pdf"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7.xml"/><Relationship Id="rId3" Type="http://schemas.openxmlformats.org/officeDocument/2006/relationships/image" Target="../media/image17.png"/><Relationship Id="rId4" Type="http://schemas.openxmlformats.org/officeDocument/2006/relationships/hyperlink" Target="../../../books/ACCESS-Trades-Numeracy-Textbook.pdf#page=124" TargetMode="External"/><Relationship Id="rId5" Type="http://schemas.openxmlformats.org/officeDocument/2006/relationships/hyperlink" Target="../../../books/ACCESS-Trades-Numeracy-Exercise-Book.pdf#page=51"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8.xml"/><Relationship Id="rId3" Type="http://schemas.openxmlformats.org/officeDocument/2006/relationships/image" Target="../media/image17.png"/><Relationship Id="rId4" Type="http://schemas.openxmlformats.org/officeDocument/2006/relationships/hyperlink" Target="../../../books/ACCESS-Trades-Numeracy-Textbook.pdf#page=124" TargetMode="External"/><Relationship Id="rId5" Type="http://schemas.openxmlformats.org/officeDocument/2006/relationships/hyperlink" Target="../../../books/ACCESS-Trades-Numeracy-Exercise-Book.pdf#page=51"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9.xml"/><Relationship Id="rId3" Type="http://schemas.openxmlformats.org/officeDocument/2006/relationships/image" Target="../media/image17.png"/><Relationship Id="rId4" Type="http://schemas.openxmlformats.org/officeDocument/2006/relationships/hyperlink" Target="../../../books/ACCESS-Trades-Numeracy-Textbook.pdf#page=124" TargetMode="External"/><Relationship Id="rId5" Type="http://schemas.openxmlformats.org/officeDocument/2006/relationships/hyperlink" Target="../../../books/ACCESS-Trades-Numeracy-Exercise-Book.pdf#page=51"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0.xml"/><Relationship Id="rId3" Type="http://schemas.openxmlformats.org/officeDocument/2006/relationships/image" Target="../media/image17.png"/><Relationship Id="rId4" Type="http://schemas.openxmlformats.org/officeDocument/2006/relationships/hyperlink" Target="../../../books/ACCESS-Trades-Numeracy-Textbook.pdf#page=124" TargetMode="External"/><Relationship Id="rId5" Type="http://schemas.openxmlformats.org/officeDocument/2006/relationships/hyperlink" Target="../../../books/ACCESS-Trades-Numeracy-Exercise-Book.pdf#page=51"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 Id="rId8" Type="http://schemas.openxmlformats.org/officeDocument/2006/relationships/image" Target="../media/image1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1.xml"/><Relationship Id="rId3" Type="http://schemas.openxmlformats.org/officeDocument/2006/relationships/image" Target="../media/image17.png"/><Relationship Id="rId4" Type="http://schemas.openxmlformats.org/officeDocument/2006/relationships/hyperlink" Target="../../../books/ACCESS-Trades-Numeracy-Textbook.pdf#page=124" TargetMode="External"/><Relationship Id="rId5" Type="http://schemas.openxmlformats.org/officeDocument/2006/relationships/hyperlink" Target="../../../books/ACCESS-Trades-Numeracy-Exercise-Book.pdf#page=51"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 Id="rId8" Type="http://schemas.openxmlformats.org/officeDocument/2006/relationships/image" Target="../media/image1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 Id="rId3" Type="http://schemas.openxmlformats.org/officeDocument/2006/relationships/image" Target="../media/image17.png"/><Relationship Id="rId4" Type="http://schemas.openxmlformats.org/officeDocument/2006/relationships/hyperlink" Target="../../../books/ACCESS-Trades-Numeracy-Textbook.pdf#page=124" TargetMode="External"/><Relationship Id="rId5" Type="http://schemas.openxmlformats.org/officeDocument/2006/relationships/hyperlink" Target="../../../books/ACCESS-Trades-Numeracy-Exercise-Book.pdf#page=51"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2.xml"/><Relationship Id="rId3" Type="http://schemas.openxmlformats.org/officeDocument/2006/relationships/image" Target="../media/image1.png"/><Relationship Id="rId4" Type="http://schemas.openxmlformats.org/officeDocument/2006/relationships/image" Target="../media/image17.png"/><Relationship Id="rId5" Type="http://schemas.openxmlformats.org/officeDocument/2006/relationships/hyperlink" Target="../../../books/ACCESS-Trades-Numeracy-Textbook.pdf#page=125" TargetMode="External"/><Relationship Id="rId6" Type="http://schemas.openxmlformats.org/officeDocument/2006/relationships/hyperlink" Target="../../../books/ACCESS-Trades-Numeracy-Exercise-Book.pdf#page=51"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3.xml"/><Relationship Id="rId3" Type="http://schemas.openxmlformats.org/officeDocument/2006/relationships/image" Target="../media/image2.png"/><Relationship Id="rId4" Type="http://schemas.openxmlformats.org/officeDocument/2006/relationships/image" Target="../media/image17.png"/><Relationship Id="rId5" Type="http://schemas.openxmlformats.org/officeDocument/2006/relationships/hyperlink" Target="../../../books/ACCESS-Trades-Numeracy-Textbook.pdf#page=125" TargetMode="External"/><Relationship Id="rId6" Type="http://schemas.openxmlformats.org/officeDocument/2006/relationships/hyperlink" Target="../../../books/ACCESS-Trades-Numeracy-Exercise-Book.pdf#page=51"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4.xml"/><Relationship Id="rId3" Type="http://schemas.openxmlformats.org/officeDocument/2006/relationships/image" Target="../media/image17.png"/><Relationship Id="rId4" Type="http://schemas.openxmlformats.org/officeDocument/2006/relationships/hyperlink" Target="../../../books/ACCESS-Trades-Numeracy-Textbook.pdf#page=124" TargetMode="External"/><Relationship Id="rId5" Type="http://schemas.openxmlformats.org/officeDocument/2006/relationships/hyperlink" Target="../../../books/ACCESS-Trades-Numeracy-Exercise-Book.pdf#page=51"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5.xml"/><Relationship Id="rId3" Type="http://schemas.openxmlformats.org/officeDocument/2006/relationships/image" Target="../media/image17.png"/><Relationship Id="rId4" Type="http://schemas.openxmlformats.org/officeDocument/2006/relationships/hyperlink" Target="../../../books/ACCESS-Trades-Numeracy-Textbook.pdf#page=124" TargetMode="External"/><Relationship Id="rId5" Type="http://schemas.openxmlformats.org/officeDocument/2006/relationships/hyperlink" Target="../../../books/ACCESS-Trades-Numeracy-Exercise-Book.pdf#page=51"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6.xml"/><Relationship Id="rId3" Type="http://schemas.openxmlformats.org/officeDocument/2006/relationships/image" Target="../media/image3.png"/><Relationship Id="rId4" Type="http://schemas.openxmlformats.org/officeDocument/2006/relationships/image" Target="../media/image17.png"/><Relationship Id="rId5" Type="http://schemas.openxmlformats.org/officeDocument/2006/relationships/hyperlink" Target="../../../books/ACCESS-Trades-Numeracy-Textbook.pdf#page=124" TargetMode="External"/><Relationship Id="rId6" Type="http://schemas.openxmlformats.org/officeDocument/2006/relationships/hyperlink" Target="../../../books/ACCESS-Trades-Numeracy-Exercise-Book.pdf#page=51"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7.xml"/><Relationship Id="rId3" Type="http://schemas.openxmlformats.org/officeDocument/2006/relationships/image" Target="../media/image3.png"/><Relationship Id="rId4" Type="http://schemas.openxmlformats.org/officeDocument/2006/relationships/image" Target="../media/image17.png"/><Relationship Id="rId5" Type="http://schemas.openxmlformats.org/officeDocument/2006/relationships/hyperlink" Target="../../../books/ACCESS-Trades-Numeracy-Textbook.pdf#page=124" TargetMode="External"/><Relationship Id="rId6" Type="http://schemas.openxmlformats.org/officeDocument/2006/relationships/hyperlink" Target="../../../books/ACCESS-Trades-Numeracy-Exercise-Book.pdf#page=51"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8.xml"/><Relationship Id="rId3" Type="http://schemas.openxmlformats.org/officeDocument/2006/relationships/image" Target="../media/image17.png"/><Relationship Id="rId4" Type="http://schemas.openxmlformats.org/officeDocument/2006/relationships/hyperlink" Target="../../../books/ACCESS-Trades-Numeracy-Textbook.pdf#page=124" TargetMode="External"/><Relationship Id="rId5" Type="http://schemas.openxmlformats.org/officeDocument/2006/relationships/hyperlink" Target="../../../books/ACCESS-Trades-Numeracy-Exercise-Book.pdf#page=51"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9.xml"/><Relationship Id="rId3" Type="http://schemas.openxmlformats.org/officeDocument/2006/relationships/image" Target="../media/image4.png"/><Relationship Id="rId4" Type="http://schemas.openxmlformats.org/officeDocument/2006/relationships/image" Target="../media/image17.png"/><Relationship Id="rId5" Type="http://schemas.openxmlformats.org/officeDocument/2006/relationships/hyperlink" Target="../../../books/ACCESS-Trades-Numeracy-Textbook.pdf#page=124" TargetMode="External"/><Relationship Id="rId6" Type="http://schemas.openxmlformats.org/officeDocument/2006/relationships/hyperlink" Target="../../../books/ACCESS-Trades-Numeracy-Exercise-Book.pdf#page=51"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0.xml"/><Relationship Id="rId3" Type="http://schemas.openxmlformats.org/officeDocument/2006/relationships/image" Target="../media/image17.png"/><Relationship Id="rId4" Type="http://schemas.openxmlformats.org/officeDocument/2006/relationships/hyperlink" Target="../../../books/ACCESS-Trades-Numeracy-Textbook.pdf#page=124" TargetMode="External"/><Relationship Id="rId5" Type="http://schemas.openxmlformats.org/officeDocument/2006/relationships/hyperlink" Target="../../../books/ACCESS-Trades-Numeracy-Exercise-Book.pdf#page=51"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1.xml"/><Relationship Id="rId3" Type="http://schemas.openxmlformats.org/officeDocument/2006/relationships/image" Target="../media/image5.png"/><Relationship Id="rId4" Type="http://schemas.openxmlformats.org/officeDocument/2006/relationships/image" Target="../media/image17.png"/><Relationship Id="rId5" Type="http://schemas.openxmlformats.org/officeDocument/2006/relationships/hyperlink" Target="../../../books/ACCESS-Trades-Numeracy-Textbook.pdf#page=124" TargetMode="External"/><Relationship Id="rId6" Type="http://schemas.openxmlformats.org/officeDocument/2006/relationships/hyperlink" Target="../../../books/ACCESS-Trades-Numeracy-Exercise-Book.pdf#page=51"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 Id="rId9" Type="http://schemas.openxmlformats.org/officeDocument/2006/relationships/image" Target="../media/image2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2.xml"/><Relationship Id="rId3" Type="http://schemas.openxmlformats.org/officeDocument/2006/relationships/image" Target="../media/image6.png"/><Relationship Id="rId4" Type="http://schemas.openxmlformats.org/officeDocument/2006/relationships/image" Target="../media/image17.png"/><Relationship Id="rId5" Type="http://schemas.openxmlformats.org/officeDocument/2006/relationships/hyperlink" Target="../../../books/ACCESS-Trades-Numeracy-Textbook.pdf#page=124" TargetMode="External"/><Relationship Id="rId6" Type="http://schemas.openxmlformats.org/officeDocument/2006/relationships/hyperlink" Target="../../../books/ACCESS-Trades-Numeracy-Exercise-Book.pdf#page=51"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 Id="rId9" Type="http://schemas.openxmlformats.org/officeDocument/2006/relationships/image" Target="../media/image2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3.xml"/><Relationship Id="rId3" Type="http://schemas.openxmlformats.org/officeDocument/2006/relationships/image" Target="../media/image17.png"/><Relationship Id="rId4" Type="http://schemas.openxmlformats.org/officeDocument/2006/relationships/hyperlink" Target="../../../books/ACCESS-Trades-Numeracy-Textbook.pdf#page=124" TargetMode="External"/><Relationship Id="rId5" Type="http://schemas.openxmlformats.org/officeDocument/2006/relationships/hyperlink" Target="../../../books/ACCESS-Trades-Numeracy-Exercise-Book.pdf#page=51"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4.xml"/><Relationship Id="rId3" Type="http://schemas.openxmlformats.org/officeDocument/2006/relationships/image" Target="../media/image7.png"/><Relationship Id="rId4" Type="http://schemas.openxmlformats.org/officeDocument/2006/relationships/image" Target="../media/image17.png"/><Relationship Id="rId5" Type="http://schemas.openxmlformats.org/officeDocument/2006/relationships/hyperlink" Target="../../../books/ACCESS-Trades-Numeracy-Textbook.pdf#page=124" TargetMode="External"/><Relationship Id="rId6" Type="http://schemas.openxmlformats.org/officeDocument/2006/relationships/hyperlink" Target="../../../books/ACCESS-Trades-Numeracy-Exercise-Book.pdf#page=51"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 Id="rId9" Type="http://schemas.openxmlformats.org/officeDocument/2006/relationships/image" Target="../media/image2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5.xml"/><Relationship Id="rId3" Type="http://schemas.openxmlformats.org/officeDocument/2006/relationships/image" Target="../media/image8.png"/><Relationship Id="rId4" Type="http://schemas.openxmlformats.org/officeDocument/2006/relationships/image" Target="../media/image17.png"/><Relationship Id="rId5" Type="http://schemas.openxmlformats.org/officeDocument/2006/relationships/hyperlink" Target="../../../books/ACCESS-Trades-Numeracy-Textbook.pdf#page=124" TargetMode="External"/><Relationship Id="rId6" Type="http://schemas.openxmlformats.org/officeDocument/2006/relationships/hyperlink" Target="../../../books/ACCESS-Trades-Numeracy-Exercise-Book.pdf#page=51"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 Id="rId9" Type="http://schemas.openxmlformats.org/officeDocument/2006/relationships/image" Target="../media/image2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6.xml"/><Relationship Id="rId3" Type="http://schemas.openxmlformats.org/officeDocument/2006/relationships/image" Target="../media/image17.png"/><Relationship Id="rId4" Type="http://schemas.openxmlformats.org/officeDocument/2006/relationships/hyperlink" Target="../../../books/ACCESS-Trades-Numeracy-Textbook.pdf#page=124" TargetMode="External"/><Relationship Id="rId5" Type="http://schemas.openxmlformats.org/officeDocument/2006/relationships/hyperlink" Target="../../../books/ACCESS-Trades-Numeracy-Exercise-Book.pdf#page=51"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7.xml"/><Relationship Id="rId3" Type="http://schemas.openxmlformats.org/officeDocument/2006/relationships/image" Target="../media/image17.png"/><Relationship Id="rId4" Type="http://schemas.openxmlformats.org/officeDocument/2006/relationships/hyperlink" Target="../../../books/ACCESS-Trades-Numeracy-Textbook.pdf" TargetMode="External"/><Relationship Id="rId5" Type="http://schemas.openxmlformats.org/officeDocument/2006/relationships/hyperlink" Target="../../../books/ACCESS-Trades-Numeracy-Exercise-Book.pdf"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8.xml"/><Relationship Id="rId3" Type="http://schemas.openxmlformats.org/officeDocument/2006/relationships/image" Target="../media/image17.png"/><Relationship Id="rId4" Type="http://schemas.openxmlformats.org/officeDocument/2006/relationships/hyperlink" Target="../../../books/ACCESS-Trades-Numeracy-Textbook.pdf#page=126" TargetMode="External"/><Relationship Id="rId5" Type="http://schemas.openxmlformats.org/officeDocument/2006/relationships/hyperlink" Target="../../../books/ACCESS-Trades-Numeracy-Exercise-Book.pdf#page=51"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9.xml"/><Relationship Id="rId3" Type="http://schemas.openxmlformats.org/officeDocument/2006/relationships/image" Target="../media/image17.png"/><Relationship Id="rId4" Type="http://schemas.openxmlformats.org/officeDocument/2006/relationships/hyperlink" Target="../../../books/ACCESS-Trades-Numeracy-Textbook.pdf#page=126" TargetMode="External"/><Relationship Id="rId5" Type="http://schemas.openxmlformats.org/officeDocument/2006/relationships/hyperlink" Target="../../../books/ACCESS-Trades-Numeracy-Exercise-Book.pdf#page=51"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0.xml"/><Relationship Id="rId3" Type="http://schemas.openxmlformats.org/officeDocument/2006/relationships/image" Target="../media/image9.png"/><Relationship Id="rId4" Type="http://schemas.openxmlformats.org/officeDocument/2006/relationships/image" Target="../media/image17.png"/><Relationship Id="rId5" Type="http://schemas.openxmlformats.org/officeDocument/2006/relationships/hyperlink" Target="../../../books/ACCESS-Trades-Numeracy-Textbook.pdf#page=126" TargetMode="External"/><Relationship Id="rId6" Type="http://schemas.openxmlformats.org/officeDocument/2006/relationships/hyperlink" Target="../../../books/ACCESS-Trades-Numeracy-Exercise-Book.pdf#page=51"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 Id="rId9" Type="http://schemas.openxmlformats.org/officeDocument/2006/relationships/image" Target="../media/image2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1.xml"/><Relationship Id="rId3" Type="http://schemas.openxmlformats.org/officeDocument/2006/relationships/image" Target="../media/image17.png"/><Relationship Id="rId4" Type="http://schemas.openxmlformats.org/officeDocument/2006/relationships/hyperlink" Target="../../../books/ACCESS-Trades-Numeracy-Textbook.pdf#page=126" TargetMode="External"/><Relationship Id="rId5" Type="http://schemas.openxmlformats.org/officeDocument/2006/relationships/hyperlink" Target="../../../books/ACCESS-Trades-Numeracy-Exercise-Book.pdf#page=51"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2.xml"/><Relationship Id="rId3" Type="http://schemas.openxmlformats.org/officeDocument/2006/relationships/image" Target="../media/image17.png"/><Relationship Id="rId4" Type="http://schemas.openxmlformats.org/officeDocument/2006/relationships/hyperlink" Target="../../../books/ACCESS-Trades-Numeracy-Textbook.pdf#page=126" TargetMode="External"/><Relationship Id="rId5" Type="http://schemas.openxmlformats.org/officeDocument/2006/relationships/hyperlink" Target="../../../books/ACCESS-Trades-Numeracy-Exercise-Book.pdf#page=51"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 Id="rId8" Type="http://schemas.openxmlformats.org/officeDocument/2006/relationships/image" Target="../media/image2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 Id="rId3" Type="http://schemas.openxmlformats.org/officeDocument/2006/relationships/image" Target="../media/image17.png"/><Relationship Id="rId4" Type="http://schemas.openxmlformats.org/officeDocument/2006/relationships/hyperlink" Target="../../../books/ACCESS-Trades-Numeracy-Textbook.pdf#page=126" TargetMode="External"/><Relationship Id="rId5" Type="http://schemas.openxmlformats.org/officeDocument/2006/relationships/hyperlink" Target="../../../books/ACCESS-Trades-Numeracy-Exercise-Book.pdf#page=51"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3.xml"/><Relationship Id="rId3" Type="http://schemas.openxmlformats.org/officeDocument/2006/relationships/image" Target="../media/image10.png"/><Relationship Id="rId4" Type="http://schemas.openxmlformats.org/officeDocument/2006/relationships/image" Target="../media/image17.png"/><Relationship Id="rId5" Type="http://schemas.openxmlformats.org/officeDocument/2006/relationships/hyperlink" Target="../../../books/ACCESS-Trades-Numeracy-Textbook.pdf#page=130" TargetMode="External"/><Relationship Id="rId6" Type="http://schemas.openxmlformats.org/officeDocument/2006/relationships/hyperlink" Target="../../../books/ACCESS-Trades-Numeracy-Exercise-Book.pdf#page=51"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4.xml"/><Relationship Id="rId3" Type="http://schemas.openxmlformats.org/officeDocument/2006/relationships/image" Target="../media/image11.png"/><Relationship Id="rId4" Type="http://schemas.openxmlformats.org/officeDocument/2006/relationships/image" Target="../media/image17.png"/><Relationship Id="rId5" Type="http://schemas.openxmlformats.org/officeDocument/2006/relationships/hyperlink" Target="../../../books/ACCESS-Trades-Numeracy-Textbook.pdf#page=130" TargetMode="External"/><Relationship Id="rId6" Type="http://schemas.openxmlformats.org/officeDocument/2006/relationships/hyperlink" Target="../../../books/ACCESS-Trades-Numeracy-Exercise-Book.pdf#page=51"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5.xml"/><Relationship Id="rId3" Type="http://schemas.openxmlformats.org/officeDocument/2006/relationships/image" Target="../media/image17.png"/><Relationship Id="rId4" Type="http://schemas.openxmlformats.org/officeDocument/2006/relationships/hyperlink" Target="../../../books/ACCESS-Trades-Numeracy-Textbook.pdf#page=126" TargetMode="External"/><Relationship Id="rId5" Type="http://schemas.openxmlformats.org/officeDocument/2006/relationships/hyperlink" Target="../../../books/ACCESS-Trades-Numeracy-Exercise-Book.pdf#page=51"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6.xml"/><Relationship Id="rId3" Type="http://schemas.openxmlformats.org/officeDocument/2006/relationships/image" Target="../media/image17.png"/><Relationship Id="rId4" Type="http://schemas.openxmlformats.org/officeDocument/2006/relationships/hyperlink" Target="../../../books/ACCESS-Trades-Numeracy-Textbook.pdf#page=126" TargetMode="External"/><Relationship Id="rId5" Type="http://schemas.openxmlformats.org/officeDocument/2006/relationships/hyperlink" Target="../../../books/ACCESS-Trades-Numeracy-Exercise-Book.pdf#page=51"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7.xml"/><Relationship Id="rId3" Type="http://schemas.openxmlformats.org/officeDocument/2006/relationships/image" Target="../media/image12.png"/><Relationship Id="rId4" Type="http://schemas.openxmlformats.org/officeDocument/2006/relationships/image" Target="../media/image17.png"/><Relationship Id="rId5" Type="http://schemas.openxmlformats.org/officeDocument/2006/relationships/hyperlink" Target="../../../books/ACCESS-Trades-Numeracy-Textbook.pdf#page=126" TargetMode="External"/><Relationship Id="rId6" Type="http://schemas.openxmlformats.org/officeDocument/2006/relationships/hyperlink" Target="../../../books/ACCESS-Trades-Numeracy-Exercise-Book.pdf#page=51"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 Id="rId9" Type="http://schemas.openxmlformats.org/officeDocument/2006/relationships/image" Target="../media/image26.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8.xml"/><Relationship Id="rId3" Type="http://schemas.openxmlformats.org/officeDocument/2006/relationships/image" Target="../media/image12.png"/><Relationship Id="rId4" Type="http://schemas.openxmlformats.org/officeDocument/2006/relationships/image" Target="../media/image17.png"/><Relationship Id="rId5" Type="http://schemas.openxmlformats.org/officeDocument/2006/relationships/hyperlink" Target="../../../books/ACCESS-Trades-Numeracy-Textbook.pdf#page=126" TargetMode="External"/><Relationship Id="rId6" Type="http://schemas.openxmlformats.org/officeDocument/2006/relationships/hyperlink" Target="../../../books/ACCESS-Trades-Numeracy-Exercise-Book.pdf#page=51"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9.xml"/><Relationship Id="rId3" Type="http://schemas.openxmlformats.org/officeDocument/2006/relationships/image" Target="../media/image17.png"/><Relationship Id="rId4" Type="http://schemas.openxmlformats.org/officeDocument/2006/relationships/hyperlink" Target="../../../books/ACCESS-Trades-Numeracy-Textbook.pdf#page=126" TargetMode="External"/><Relationship Id="rId5" Type="http://schemas.openxmlformats.org/officeDocument/2006/relationships/hyperlink" Target="../../../books/ACCESS-Trades-Numeracy-Exercise-Book.pdf#page=51"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0.xml"/><Relationship Id="rId3" Type="http://schemas.openxmlformats.org/officeDocument/2006/relationships/image" Target="../media/image4.png"/><Relationship Id="rId4" Type="http://schemas.openxmlformats.org/officeDocument/2006/relationships/image" Target="../media/image17.png"/><Relationship Id="rId5" Type="http://schemas.openxmlformats.org/officeDocument/2006/relationships/hyperlink" Target="../../../books/ACCESS-Trades-Numeracy-Textbook.pdf#page=126" TargetMode="External"/><Relationship Id="rId6" Type="http://schemas.openxmlformats.org/officeDocument/2006/relationships/hyperlink" Target="../../../books/ACCESS-Trades-Numeracy-Exercise-Book.pdf#page=51"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1.xml"/><Relationship Id="rId3" Type="http://schemas.openxmlformats.org/officeDocument/2006/relationships/image" Target="../media/image17.png"/><Relationship Id="rId4" Type="http://schemas.openxmlformats.org/officeDocument/2006/relationships/hyperlink" Target="../../../books/ACCESS-Trades-Numeracy-Textbook.pdf#page=126" TargetMode="External"/><Relationship Id="rId5" Type="http://schemas.openxmlformats.org/officeDocument/2006/relationships/hyperlink" Target="../../../books/ACCESS-Trades-Numeracy-Exercise-Book.pdf#page=51"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2.xml"/><Relationship Id="rId3" Type="http://schemas.openxmlformats.org/officeDocument/2006/relationships/image" Target="../media/image13.png"/><Relationship Id="rId4" Type="http://schemas.openxmlformats.org/officeDocument/2006/relationships/image" Target="../media/image17.png"/><Relationship Id="rId5" Type="http://schemas.openxmlformats.org/officeDocument/2006/relationships/hyperlink" Target="../../../books/ACCESS-Trades-Numeracy-Textbook.pdf#page=126" TargetMode="External"/><Relationship Id="rId6" Type="http://schemas.openxmlformats.org/officeDocument/2006/relationships/hyperlink" Target="../../../books/ACCESS-Trades-Numeracy-Exercise-Book.pdf#page=51"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 Id="rId9" Type="http://schemas.openxmlformats.org/officeDocument/2006/relationships/image" Target="../media/image27.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3.xml"/><Relationship Id="rId3" Type="http://schemas.openxmlformats.org/officeDocument/2006/relationships/image" Target="../media/image14.png"/><Relationship Id="rId4" Type="http://schemas.openxmlformats.org/officeDocument/2006/relationships/image" Target="../media/image17.png"/><Relationship Id="rId5" Type="http://schemas.openxmlformats.org/officeDocument/2006/relationships/hyperlink" Target="../../../books/ACCESS-Trades-Numeracy-Textbook.pdf#page=126" TargetMode="External"/><Relationship Id="rId6" Type="http://schemas.openxmlformats.org/officeDocument/2006/relationships/hyperlink" Target="../../../books/ACCESS-Trades-Numeracy-Exercise-Book.pdf#page=51"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 Id="rId9" Type="http://schemas.openxmlformats.org/officeDocument/2006/relationships/image" Target="../media/image28.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4.xml"/><Relationship Id="rId3" Type="http://schemas.openxmlformats.org/officeDocument/2006/relationships/image" Target="../media/image17.png"/><Relationship Id="rId4" Type="http://schemas.openxmlformats.org/officeDocument/2006/relationships/hyperlink" Target="../../../books/ACCESS-Trades-Numeracy-Textbook.pdf#page=126" TargetMode="External"/><Relationship Id="rId5" Type="http://schemas.openxmlformats.org/officeDocument/2006/relationships/hyperlink" Target="../../../books/ACCESS-Trades-Numeracy-Exercise-Book.pdf#page=51"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5.xml"/><Relationship Id="rId3" Type="http://schemas.openxmlformats.org/officeDocument/2006/relationships/image" Target="../media/image15.png"/><Relationship Id="rId4" Type="http://schemas.openxmlformats.org/officeDocument/2006/relationships/image" Target="../media/image17.png"/><Relationship Id="rId5" Type="http://schemas.openxmlformats.org/officeDocument/2006/relationships/hyperlink" Target="../../../books/ACCESS-Trades-Numeracy-Textbook.pdf#page=126" TargetMode="External"/><Relationship Id="rId6" Type="http://schemas.openxmlformats.org/officeDocument/2006/relationships/hyperlink" Target="../../../books/ACCESS-Trades-Numeracy-Exercise-Book.pdf#page=53"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 Id="rId9" Type="http://schemas.openxmlformats.org/officeDocument/2006/relationships/image" Target="../media/image29.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6.xml"/><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hyperlink" Target="../../../books/ACCESS-Trades-Numeracy-Textbook.pdf#page=126" TargetMode="External"/><Relationship Id="rId6" Type="http://schemas.openxmlformats.org/officeDocument/2006/relationships/hyperlink" Target="../../../books/ACCESS-Trades-Numeracy-Exercise-Book.pdf#page=53"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 Id="rId9" Type="http://schemas.openxmlformats.org/officeDocument/2006/relationships/image" Target="../media/image30.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7.xml"/><Relationship Id="rId3" Type="http://schemas.openxmlformats.org/officeDocument/2006/relationships/image" Target="../media/image17.png"/><Relationship Id="rId4" Type="http://schemas.openxmlformats.org/officeDocument/2006/relationships/hyperlink" Target="../../../books/ACCESS-Trades-Numeracy-Textbook.pdf#page=126" TargetMode="External"/><Relationship Id="rId5" Type="http://schemas.openxmlformats.org/officeDocument/2006/relationships/hyperlink" Target="../../../books/ACCESS-Trades-Numeracy-Exercise-Book.pdf#page=51"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9" name="Rectangle 18"/>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585216" y="2587752"/>
            <a:ext cx="10991088" cy="978408"/>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585216" y="3685032"/>
            <a:ext cx="10991088" cy="978408"/>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38912"/>
            <a:ext cx="9144000" cy="228600"/>
          </a:xfrm>
          <a:prstGeom prst="rect">
            <a:avLst/>
          </a:prstGeom>
          <a:noFill/>
        </p:spPr>
        <p:txBody>
          <a:bodyPr wrap="square" lIns="0" rIns="0" tIns="0" bIns="0" anchor="t">
            <a:normAutofit fontScale="100000" lnSpcReduction="0"/>
          </a:bodyPr>
          <a:lstStyle/>
          <a:p>
            <a:pPr>
              <a:spcBef>
                <a:spcPts val="0"/>
              </a:spcBef>
              <a:spcAft>
                <a:spcPts val="300"/>
              </a:spcAft>
              <a:defRPr sz="1200" b="1">
                <a:solidFill>
                  <a:srgbClr val="D2181F"/>
                </a:solidFill>
                <a:latin typeface="Arial"/>
              </a:defRPr>
            </a:pPr>
            <a:r>
              <a:rPr>
                <a:solidFill>
                  <a:srgbClr val="FFFFFF"/>
                </a:solidFill>
                <a:latin typeface="Arial"/>
              </a:rPr>
              <a:t>CARPENTRY FOUNDATION  /  INTAKE 142</a:t>
            </a:r>
          </a:p>
        </p:txBody>
      </p:sp>
      <p:sp>
        <p:nvSpPr>
          <p:cNvPr id="3" name="TextBox 2"/>
          <p:cNvSpPr txBox="1"/>
          <p:nvPr/>
        </p:nvSpPr>
        <p:spPr>
          <a:xfrm>
            <a:off x="612648" y="1143000"/>
            <a:ext cx="8549640" cy="658368"/>
          </a:xfrm>
          <a:prstGeom prst="rect">
            <a:avLst/>
          </a:prstGeom>
          <a:noFill/>
        </p:spPr>
        <p:txBody>
          <a:bodyPr wrap="square" lIns="0" rIns="0" tIns="0" bIns="0" anchor="t">
            <a:normAutofit fontScale="100000" lnSpcReduction="0"/>
          </a:bodyPr>
          <a:lstStyle/>
          <a:p>
            <a:pPr>
              <a:spcBef>
                <a:spcPts val="0"/>
              </a:spcBef>
              <a:spcAft>
                <a:spcPts val="300"/>
              </a:spcAft>
              <a:defRPr sz="3600" b="1">
                <a:solidFill>
                  <a:srgbClr val="111218"/>
                </a:solidFill>
                <a:latin typeface="Arial"/>
              </a:defRPr>
            </a:pPr>
            <a:r>
              <a:rPr b="1" sz="4300">
                <a:solidFill>
                  <a:srgbClr val="FFFFFF"/>
                </a:solidFill>
                <a:latin typeface="Arial"/>
              </a:rPr>
              <a:t>Day 15  |  Wednesday</a:t>
            </a:r>
          </a:p>
        </p:txBody>
      </p:sp>
      <p:sp>
        <p:nvSpPr>
          <p:cNvPr id="4" name="TextBox 3"/>
          <p:cNvSpPr txBox="1"/>
          <p:nvPr/>
        </p:nvSpPr>
        <p:spPr>
          <a:xfrm>
            <a:off x="612648" y="1993392"/>
            <a:ext cx="10789920" cy="420624"/>
          </a:xfrm>
          <a:prstGeom prst="rect">
            <a:avLst/>
          </a:prstGeom>
          <a:noFill/>
        </p:spPr>
        <p:txBody>
          <a:bodyPr wrap="square" lIns="0" rIns="0" tIns="0" bIns="0" anchor="t">
            <a:normAutofit fontScale="100000" lnSpcReduction="0"/>
          </a:bodyPr>
          <a:lstStyle/>
          <a:p>
            <a:pPr>
              <a:spcBef>
                <a:spcPts val="0"/>
              </a:spcBef>
              <a:spcAft>
                <a:spcPts val="300"/>
              </a:spcAft>
              <a:defRPr sz="2600" b="0">
                <a:solidFill>
                  <a:srgbClr val="4A4E54"/>
                </a:solidFill>
                <a:latin typeface="Arial"/>
              </a:defRPr>
            </a:pPr>
            <a:r>
              <a:rPr b="0" sz="2500">
                <a:solidFill>
                  <a:srgbClr val="F7F8FC"/>
                </a:solidFill>
                <a:latin typeface="Arial"/>
              </a:rPr>
              <a:t>November 25, 2026</a:t>
            </a:r>
          </a:p>
        </p:txBody>
      </p:sp>
      <p:sp>
        <p:nvSpPr>
          <p:cNvPr id="6" name="TextBox 5"/>
          <p:cNvSpPr txBox="1"/>
          <p:nvPr/>
        </p:nvSpPr>
        <p:spPr>
          <a:xfrm>
            <a:off x="932688" y="2743200"/>
            <a:ext cx="10287000" cy="384048"/>
          </a:xfrm>
          <a:prstGeom prst="rect">
            <a:avLst/>
          </a:prstGeom>
          <a:noFill/>
        </p:spPr>
        <p:txBody>
          <a:bodyPr wrap="square" lIns="0" rIns="0" tIns="0" bIns="0" anchor="t">
            <a:normAutofit fontScale="100000" lnSpcReduction="0"/>
          </a:bodyPr>
          <a:lstStyle/>
          <a:p>
            <a:pPr>
              <a:spcBef>
                <a:spcPts val="0"/>
              </a:spcBef>
              <a:spcAft>
                <a:spcPts val="300"/>
              </a:spcAft>
              <a:defRPr sz="2400" b="1">
                <a:solidFill>
                  <a:srgbClr val="111218"/>
                </a:solidFill>
                <a:latin typeface="Arial"/>
              </a:defRPr>
            </a:pPr>
            <a:r>
              <a:rPr b="1">
                <a:solidFill>
                  <a:srgbClr val="FFFFFF"/>
                </a:solidFill>
                <a:latin typeface="Arial"/>
              </a:rPr>
              <a:t>Reading and substituting into formulas</a:t>
            </a:r>
          </a:p>
        </p:txBody>
      </p:sp>
      <p:sp>
        <p:nvSpPr>
          <p:cNvPr id="7" name="TextBox 6"/>
          <p:cNvSpPr txBox="1"/>
          <p:nvPr/>
        </p:nvSpPr>
        <p:spPr>
          <a:xfrm>
            <a:off x="932688" y="3200400"/>
            <a:ext cx="10058400" cy="292608"/>
          </a:xfrm>
          <a:prstGeom prst="rect">
            <a:avLst/>
          </a:prstGeom>
          <a:noFill/>
        </p:spPr>
        <p:txBody>
          <a:bodyPr wrap="square" lIns="0" rIns="0" tIns="0" bIns="0" anchor="t">
            <a:normAutofit fontScale="100000" lnSpcReduction="0"/>
          </a:bodyPr>
          <a:lstStyle/>
          <a:p>
            <a:pPr>
              <a:spcBef>
                <a:spcPts val="0"/>
              </a:spcBef>
              <a:spcAft>
                <a:spcPts val="300"/>
              </a:spcAft>
              <a:defRPr sz="1600" b="0">
                <a:solidFill>
                  <a:srgbClr val="4A4E54"/>
                </a:solidFill>
                <a:latin typeface="Arial"/>
              </a:defRPr>
            </a:pPr>
            <a:r>
              <a:rPr b="0">
                <a:solidFill>
                  <a:srgbClr val="DEE2EC"/>
                </a:solidFill>
                <a:latin typeface="Arial"/>
              </a:rPr>
              <a:t>12:45 PM–2:00 PM  •  Math  •  75 min</a:t>
            </a:r>
          </a:p>
        </p:txBody>
      </p:sp>
      <p:sp>
        <p:nvSpPr>
          <p:cNvPr id="8" name="TextBox 7"/>
          <p:cNvSpPr txBox="1"/>
          <p:nvPr/>
        </p:nvSpPr>
        <p:spPr>
          <a:xfrm>
            <a:off x="932688" y="3840480"/>
            <a:ext cx="10287000" cy="384048"/>
          </a:xfrm>
          <a:prstGeom prst="rect">
            <a:avLst/>
          </a:prstGeom>
          <a:noFill/>
        </p:spPr>
        <p:txBody>
          <a:bodyPr wrap="square" lIns="0" rIns="0" tIns="0" bIns="0" anchor="t">
            <a:normAutofit fontScale="100000" lnSpcReduction="0"/>
          </a:bodyPr>
          <a:lstStyle/>
          <a:p>
            <a:pPr>
              <a:spcBef>
                <a:spcPts val="0"/>
              </a:spcBef>
              <a:spcAft>
                <a:spcPts val="300"/>
              </a:spcAft>
              <a:defRPr sz="2400" b="1">
                <a:solidFill>
                  <a:srgbClr val="111218"/>
                </a:solidFill>
                <a:latin typeface="Arial"/>
              </a:defRPr>
            </a:pPr>
            <a:r>
              <a:rPr b="1">
                <a:solidFill>
                  <a:srgbClr val="FFFFFF"/>
                </a:solidFill>
                <a:latin typeface="Arial"/>
              </a:rPr>
              <a:t>Rearranging formulas and checking backwards</a:t>
            </a:r>
          </a:p>
        </p:txBody>
      </p:sp>
      <p:sp>
        <p:nvSpPr>
          <p:cNvPr id="9" name="TextBox 8"/>
          <p:cNvSpPr txBox="1"/>
          <p:nvPr/>
        </p:nvSpPr>
        <p:spPr>
          <a:xfrm>
            <a:off x="932688" y="4297680"/>
            <a:ext cx="10058400" cy="292608"/>
          </a:xfrm>
          <a:prstGeom prst="rect">
            <a:avLst/>
          </a:prstGeom>
          <a:noFill/>
        </p:spPr>
        <p:txBody>
          <a:bodyPr wrap="square" lIns="0" rIns="0" tIns="0" bIns="0" anchor="t">
            <a:normAutofit fontScale="100000" lnSpcReduction="0"/>
          </a:bodyPr>
          <a:lstStyle/>
          <a:p>
            <a:pPr>
              <a:spcBef>
                <a:spcPts val="0"/>
              </a:spcBef>
              <a:spcAft>
                <a:spcPts val="300"/>
              </a:spcAft>
              <a:defRPr sz="1600" b="0">
                <a:solidFill>
                  <a:srgbClr val="4A4E54"/>
                </a:solidFill>
                <a:latin typeface="Arial"/>
              </a:defRPr>
            </a:pPr>
            <a:r>
              <a:rPr b="0">
                <a:solidFill>
                  <a:srgbClr val="DEE2EC"/>
                </a:solidFill>
                <a:latin typeface="Arial"/>
              </a:rPr>
              <a:t>2:15 PM–3:30 PM  •  Math  •  75 min</a:t>
            </a:r>
          </a:p>
        </p:txBody>
      </p:sp>
      <p:sp>
        <p:nvSpPr>
          <p:cNvPr id="10" name="TextBox 9"/>
          <p:cNvSpPr txBox="1"/>
          <p:nvPr/>
        </p:nvSpPr>
        <p:spPr>
          <a:xfrm>
            <a:off x="612648" y="5440680"/>
            <a:ext cx="10881360" cy="411480"/>
          </a:xfrm>
          <a:prstGeom prst="rect">
            <a:avLst/>
          </a:prstGeom>
          <a:noFill/>
        </p:spPr>
        <p:txBody>
          <a:bodyPr wrap="square" lIns="0" rIns="0" tIns="0" bIns="0" anchor="t">
            <a:normAutofit fontScale="100000" lnSpcReduction="0"/>
          </a:bodyPr>
          <a:lstStyle/>
          <a:p>
            <a:pPr>
              <a:spcBef>
                <a:spcPts val="0"/>
              </a:spcBef>
              <a:spcAft>
                <a:spcPts val="300"/>
              </a:spcAft>
              <a:defRPr sz="1800" b="1">
                <a:solidFill>
                  <a:srgbClr val="D2181F"/>
                </a:solidFill>
                <a:latin typeface="Arial"/>
              </a:defRPr>
            </a:pPr>
            <a:r>
              <a:rPr>
                <a:solidFill>
                  <a:srgbClr val="F7F8FC"/>
                </a:solidFill>
                <a:latin typeface="Arial"/>
              </a:rPr>
              <a:t>Week 5  •  2 scheduled blocks  •  150 teaching minutes</a:t>
            </a:r>
          </a:p>
        </p:txBody>
      </p:sp>
      <p:sp>
        <p:nvSpPr>
          <p:cNvPr id="11" name="TextBox 10"/>
          <p:cNvSpPr txBox="1"/>
          <p:nvPr/>
        </p:nvSpPr>
        <p:spPr>
          <a:xfrm>
            <a:off x="612648" y="5943600"/>
            <a:ext cx="10881360" cy="27432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Estimate. Show the method. Label units. Check the result.</a:t>
            </a:r>
          </a:p>
        </p:txBody>
      </p:sp>
      <p:pic>
        <p:nvPicPr>
          <p:cNvPr id="12" name="Picture 11"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4" name="TextBox 13"/>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5" name="TextBox 14"/>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6" name="TextBox 15"/>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7" name="TextBox 16"/>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8" name="TextBox 17"/>
          <p:cNvSpPr txBox="1"/>
          <p:nvPr/>
        </p:nvSpPr>
        <p:spPr>
          <a:xfrm>
            <a:off x="8412480" y="6606540"/>
            <a:ext cx="8549640" cy="658368"/>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15  •  2026-11-25  •  01</a:t>
            </a:r>
          </a:p>
        </p:txBody>
      </p:sp>
      <p:sp>
        <p:nvSpPr>
          <p:cNvPr id="36" name="TextBox 35"/>
          <p:cNvSpPr txBox="1"/>
          <p:nvPr/>
        </p:nvSpPr>
        <p:spPr>
          <a:xfrm>
            <a:off x="9491472" y="1033271"/>
            <a:ext cx="2423160" cy="1481328"/>
          </a:xfrm>
          <a:prstGeom prst="rect">
            <a:avLst/>
          </a:prstGeom>
          <a:noFill/>
        </p:spPr>
        <p:txBody>
          <a:bodyPr wrap="none" anchor="t">
            <a:normAutofit fontScale="100000" lnSpcReduction="0"/>
          </a:bodyPr>
          <a:lstStyle/>
          <a:p>
            <a:r>
              <a:rPr b="1" sz="10000">
                <a:solidFill>
                  <a:srgbClr val="FFFFFF"/>
                </a:solidFill>
                <a:latin typeface="Arial"/>
              </a:rPr>
              <a:t>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60" name="Rectangle 59"/>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ounded Rectangle 63"/>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ounded Rectangle 64"/>
          <p:cNvSpPr/>
          <p:nvPr/>
        </p:nvSpPr>
        <p:spPr>
          <a:xfrm>
            <a:off x="466344" y="1773936"/>
            <a:ext cx="5486400" cy="4169663"/>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594360" y="3090672"/>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594360" y="3803904"/>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594360" y="4517135"/>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594360" y="5230368"/>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ounded Rectangle 70"/>
          <p:cNvSpPr/>
          <p:nvPr/>
        </p:nvSpPr>
        <p:spPr>
          <a:xfrm>
            <a:off x="6089904" y="1773936"/>
            <a:ext cx="5486400" cy="4169663"/>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6217920" y="3090672"/>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6217920" y="3803904"/>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6217920" y="4517135"/>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6217920" y="5230368"/>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ounded Rectangle 76"/>
          <p:cNvSpPr/>
          <p:nvPr/>
        </p:nvSpPr>
        <p:spPr>
          <a:xfrm>
            <a:off x="521208" y="5993892"/>
            <a:ext cx="11109959" cy="438912"/>
          </a:xfrm>
          <a:prstGeom prst="roundRect">
            <a:avLst>
              <a:gd name="adj" fmla="val 8000"/>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57200"/>
            <a:ext cx="9418320" cy="228600"/>
          </a:xfrm>
          <a:prstGeom prst="rect">
            <a:avLst/>
          </a:prstGeom>
          <a:noFill/>
        </p:spPr>
        <p:txBody>
          <a:bodyPr wrap="square" lIns="0" rIns="0" tIns="0" bIns="0" anchor="t">
            <a:normAutofit fontScale="100000" lnSpcReduction="0"/>
          </a:bodyPr>
          <a:lstStyle/>
          <a:p>
            <a:pPr>
              <a:spcBef>
                <a:spcPts val="0"/>
              </a:spcBef>
              <a:spcAft>
                <a:spcPts val="300"/>
              </a:spcAft>
              <a:defRPr sz="1200" b="1">
                <a:solidFill>
                  <a:srgbClr val="D2181F"/>
                </a:solidFill>
                <a:latin typeface="Arial"/>
              </a:defRPr>
            </a:pPr>
            <a:r>
              <a:rPr>
                <a:solidFill>
                  <a:srgbClr val="FFFFFF"/>
                </a:solidFill>
                <a:latin typeface="Arial"/>
              </a:rPr>
              <a:t>DAY 15  /  WEEK 5  /  CLASS TIMETABLE</a:t>
            </a:r>
          </a:p>
        </p:txBody>
      </p:sp>
      <p:sp>
        <p:nvSpPr>
          <p:cNvPr id="3" name="TextBox 2"/>
          <p:cNvSpPr txBox="1"/>
          <p:nvPr/>
        </p:nvSpPr>
        <p:spPr>
          <a:xfrm>
            <a:off x="612648" y="896112"/>
            <a:ext cx="1097280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Today’s exact schedule</a:t>
            </a:r>
          </a:p>
        </p:txBody>
      </p:sp>
      <p:sp>
        <p:nvSpPr>
          <p:cNvPr id="4" name="TextBox 3"/>
          <p:cNvSpPr txBox="1"/>
          <p:nvPr/>
        </p:nvSpPr>
        <p:spPr>
          <a:xfrm>
            <a:off x="685800" y="1920240"/>
            <a:ext cx="5166360" cy="347472"/>
          </a:xfrm>
          <a:prstGeom prst="rect">
            <a:avLst/>
          </a:prstGeom>
          <a:noFill/>
        </p:spPr>
        <p:txBody>
          <a:bodyPr wrap="square" lIns="0" rIns="0" tIns="0" bIns="0" anchor="t">
            <a:normAutofit fontScale="100000" lnSpcReduction="0"/>
          </a:bodyPr>
          <a:lstStyle/>
          <a:p>
            <a:pPr>
              <a:spcBef>
                <a:spcPts val="0"/>
              </a:spcBef>
              <a:spcAft>
                <a:spcPts val="0"/>
              </a:spcAft>
              <a:defRPr sz="2100" b="1">
                <a:solidFill>
                  <a:srgbClr val="D2181F"/>
                </a:solidFill>
                <a:latin typeface="Arial"/>
              </a:defRPr>
            </a:pPr>
            <a:r>
              <a:rPr b="1" sz="2100">
                <a:solidFill>
                  <a:srgbClr val="760023"/>
                </a:solidFill>
                <a:latin typeface="Arial"/>
              </a:rPr>
              <a:t>12:45 PM–2:00 PM  •  75 min</a:t>
            </a:r>
          </a:p>
        </p:txBody>
      </p:sp>
      <p:sp>
        <p:nvSpPr>
          <p:cNvPr id="5" name="TextBox 4"/>
          <p:cNvSpPr txBox="1"/>
          <p:nvPr/>
        </p:nvSpPr>
        <p:spPr>
          <a:xfrm>
            <a:off x="685800" y="2368296"/>
            <a:ext cx="5166360" cy="612648"/>
          </a:xfrm>
          <a:prstGeom prst="rect">
            <a:avLst/>
          </a:prstGeom>
          <a:noFill/>
        </p:spPr>
        <p:txBody>
          <a:bodyPr wrap="square" lIns="0" rIns="0" tIns="0" bIns="0" anchor="t">
            <a:normAutofit fontScale="100000" lnSpcReduction="0"/>
          </a:bodyPr>
          <a:lstStyle/>
          <a:p>
            <a:pPr>
              <a:spcBef>
                <a:spcPts val="0"/>
              </a:spcBef>
              <a:spcAft>
                <a:spcPts val="0"/>
              </a:spcAft>
              <a:defRPr sz="2000" b="1">
                <a:solidFill>
                  <a:srgbClr val="111218"/>
                </a:solidFill>
                <a:latin typeface="Arial"/>
              </a:defRPr>
            </a:pPr>
            <a:r>
              <a:rPr b="1" sz="2000">
                <a:solidFill>
                  <a:srgbClr val="760023"/>
                </a:solidFill>
                <a:latin typeface="Arial"/>
              </a:rPr>
              <a:t>Reading and substituting into formulas</a:t>
            </a:r>
          </a:p>
        </p:txBody>
      </p:sp>
      <p:sp>
        <p:nvSpPr>
          <p:cNvPr id="6" name="TextBox 5"/>
          <p:cNvSpPr txBox="1"/>
          <p:nvPr/>
        </p:nvSpPr>
        <p:spPr>
          <a:xfrm>
            <a:off x="612648" y="3154680"/>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12:45 PM–12:50 PM</a:t>
            </a:r>
          </a:p>
        </p:txBody>
      </p:sp>
      <p:sp>
        <p:nvSpPr>
          <p:cNvPr id="7" name="TextBox 6"/>
          <p:cNvSpPr txBox="1"/>
          <p:nvPr/>
        </p:nvSpPr>
        <p:spPr>
          <a:xfrm>
            <a:off x="2898648" y="3154680"/>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Start</a:t>
            </a:r>
          </a:p>
        </p:txBody>
      </p:sp>
      <p:sp>
        <p:nvSpPr>
          <p:cNvPr id="8" name="TextBox 7"/>
          <p:cNvSpPr txBox="1"/>
          <p:nvPr/>
        </p:nvSpPr>
        <p:spPr>
          <a:xfrm>
            <a:off x="5367528" y="3154680"/>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5</a:t>
            </a:r>
          </a:p>
        </p:txBody>
      </p:sp>
      <p:sp>
        <p:nvSpPr>
          <p:cNvPr id="9" name="TextBox 8"/>
          <p:cNvSpPr txBox="1"/>
          <p:nvPr/>
        </p:nvSpPr>
        <p:spPr>
          <a:xfrm>
            <a:off x="612648" y="3511296"/>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12:50 PM–12:55 PM</a:t>
            </a:r>
          </a:p>
        </p:txBody>
      </p:sp>
      <p:sp>
        <p:nvSpPr>
          <p:cNvPr id="10" name="TextBox 9"/>
          <p:cNvSpPr txBox="1"/>
          <p:nvPr/>
        </p:nvSpPr>
        <p:spPr>
          <a:xfrm>
            <a:off x="2898648" y="3511296"/>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Recall</a:t>
            </a:r>
          </a:p>
        </p:txBody>
      </p:sp>
      <p:sp>
        <p:nvSpPr>
          <p:cNvPr id="11" name="TextBox 10"/>
          <p:cNvSpPr txBox="1"/>
          <p:nvPr/>
        </p:nvSpPr>
        <p:spPr>
          <a:xfrm>
            <a:off x="5367528" y="3511296"/>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5</a:t>
            </a:r>
          </a:p>
        </p:txBody>
      </p:sp>
      <p:sp>
        <p:nvSpPr>
          <p:cNvPr id="12" name="TextBox 11"/>
          <p:cNvSpPr txBox="1"/>
          <p:nvPr/>
        </p:nvSpPr>
        <p:spPr>
          <a:xfrm>
            <a:off x="612648" y="3867912"/>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12:55 PM–1:10 PM</a:t>
            </a:r>
          </a:p>
        </p:txBody>
      </p:sp>
      <p:sp>
        <p:nvSpPr>
          <p:cNvPr id="13" name="TextBox 12"/>
          <p:cNvSpPr txBox="1"/>
          <p:nvPr/>
        </p:nvSpPr>
        <p:spPr>
          <a:xfrm>
            <a:off x="2898648" y="3867912"/>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Teach</a:t>
            </a:r>
          </a:p>
        </p:txBody>
      </p:sp>
      <p:sp>
        <p:nvSpPr>
          <p:cNvPr id="14" name="TextBox 13"/>
          <p:cNvSpPr txBox="1"/>
          <p:nvPr/>
        </p:nvSpPr>
        <p:spPr>
          <a:xfrm>
            <a:off x="5367528" y="3867912"/>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15</a:t>
            </a:r>
          </a:p>
        </p:txBody>
      </p:sp>
      <p:sp>
        <p:nvSpPr>
          <p:cNvPr id="15" name="TextBox 14"/>
          <p:cNvSpPr txBox="1"/>
          <p:nvPr/>
        </p:nvSpPr>
        <p:spPr>
          <a:xfrm>
            <a:off x="612648" y="4224528"/>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1:10 PM–1:25 PM</a:t>
            </a:r>
          </a:p>
        </p:txBody>
      </p:sp>
      <p:sp>
        <p:nvSpPr>
          <p:cNvPr id="16" name="TextBox 15"/>
          <p:cNvSpPr txBox="1"/>
          <p:nvPr/>
        </p:nvSpPr>
        <p:spPr>
          <a:xfrm>
            <a:off x="2898648" y="4224528"/>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Together</a:t>
            </a:r>
          </a:p>
        </p:txBody>
      </p:sp>
      <p:sp>
        <p:nvSpPr>
          <p:cNvPr id="17" name="TextBox 16"/>
          <p:cNvSpPr txBox="1"/>
          <p:nvPr/>
        </p:nvSpPr>
        <p:spPr>
          <a:xfrm>
            <a:off x="5367528" y="4224528"/>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15</a:t>
            </a:r>
          </a:p>
        </p:txBody>
      </p:sp>
      <p:sp>
        <p:nvSpPr>
          <p:cNvPr id="18" name="TextBox 17"/>
          <p:cNvSpPr txBox="1"/>
          <p:nvPr/>
        </p:nvSpPr>
        <p:spPr>
          <a:xfrm>
            <a:off x="612648" y="4581144"/>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1:25 PM–1:45 PM</a:t>
            </a:r>
          </a:p>
        </p:txBody>
      </p:sp>
      <p:sp>
        <p:nvSpPr>
          <p:cNvPr id="19" name="TextBox 18"/>
          <p:cNvSpPr txBox="1"/>
          <p:nvPr/>
        </p:nvSpPr>
        <p:spPr>
          <a:xfrm>
            <a:off x="2898648" y="4581144"/>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Practise</a:t>
            </a:r>
          </a:p>
        </p:txBody>
      </p:sp>
      <p:sp>
        <p:nvSpPr>
          <p:cNvPr id="20" name="TextBox 19"/>
          <p:cNvSpPr txBox="1"/>
          <p:nvPr/>
        </p:nvSpPr>
        <p:spPr>
          <a:xfrm>
            <a:off x="5367528" y="4581144"/>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20</a:t>
            </a:r>
          </a:p>
        </p:txBody>
      </p:sp>
      <p:sp>
        <p:nvSpPr>
          <p:cNvPr id="21" name="TextBox 20"/>
          <p:cNvSpPr txBox="1"/>
          <p:nvPr/>
        </p:nvSpPr>
        <p:spPr>
          <a:xfrm>
            <a:off x="612648" y="4937759"/>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1:45 PM–1:55 PM</a:t>
            </a:r>
          </a:p>
        </p:txBody>
      </p:sp>
      <p:sp>
        <p:nvSpPr>
          <p:cNvPr id="22" name="TextBox 21"/>
          <p:cNvSpPr txBox="1"/>
          <p:nvPr/>
        </p:nvSpPr>
        <p:spPr>
          <a:xfrm>
            <a:off x="2898648" y="4937759"/>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Check</a:t>
            </a:r>
          </a:p>
        </p:txBody>
      </p:sp>
      <p:sp>
        <p:nvSpPr>
          <p:cNvPr id="23" name="TextBox 22"/>
          <p:cNvSpPr txBox="1"/>
          <p:nvPr/>
        </p:nvSpPr>
        <p:spPr>
          <a:xfrm>
            <a:off x="5367528" y="4937759"/>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10</a:t>
            </a:r>
          </a:p>
        </p:txBody>
      </p:sp>
      <p:sp>
        <p:nvSpPr>
          <p:cNvPr id="24" name="TextBox 23"/>
          <p:cNvSpPr txBox="1"/>
          <p:nvPr/>
        </p:nvSpPr>
        <p:spPr>
          <a:xfrm>
            <a:off x="612648" y="5294375"/>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1:55 PM–2:00 PM</a:t>
            </a:r>
          </a:p>
        </p:txBody>
      </p:sp>
      <p:sp>
        <p:nvSpPr>
          <p:cNvPr id="25" name="TextBox 24"/>
          <p:cNvSpPr txBox="1"/>
          <p:nvPr/>
        </p:nvSpPr>
        <p:spPr>
          <a:xfrm>
            <a:off x="2898648" y="5294375"/>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Wrap up</a:t>
            </a:r>
          </a:p>
        </p:txBody>
      </p:sp>
      <p:sp>
        <p:nvSpPr>
          <p:cNvPr id="26" name="TextBox 25"/>
          <p:cNvSpPr txBox="1"/>
          <p:nvPr/>
        </p:nvSpPr>
        <p:spPr>
          <a:xfrm>
            <a:off x="5367528" y="5294375"/>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5</a:t>
            </a:r>
          </a:p>
        </p:txBody>
      </p:sp>
      <p:sp>
        <p:nvSpPr>
          <p:cNvPr id="27" name="TextBox 26"/>
          <p:cNvSpPr txBox="1"/>
          <p:nvPr/>
        </p:nvSpPr>
        <p:spPr>
          <a:xfrm>
            <a:off x="685800" y="5669280"/>
            <a:ext cx="5166360" cy="228600"/>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111218"/>
                </a:solidFill>
                <a:latin typeface="Arial"/>
              </a:rPr>
              <a:t>Math  •  Math Week 5, Lesson 3</a:t>
            </a:r>
          </a:p>
        </p:txBody>
      </p:sp>
      <p:sp>
        <p:nvSpPr>
          <p:cNvPr id="28" name="TextBox 27"/>
          <p:cNvSpPr txBox="1"/>
          <p:nvPr/>
        </p:nvSpPr>
        <p:spPr>
          <a:xfrm>
            <a:off x="6309360" y="1920240"/>
            <a:ext cx="5166360" cy="347472"/>
          </a:xfrm>
          <a:prstGeom prst="rect">
            <a:avLst/>
          </a:prstGeom>
          <a:noFill/>
        </p:spPr>
        <p:txBody>
          <a:bodyPr wrap="square" lIns="0" rIns="0" tIns="0" bIns="0" anchor="t">
            <a:normAutofit fontScale="100000" lnSpcReduction="0"/>
          </a:bodyPr>
          <a:lstStyle/>
          <a:p>
            <a:pPr>
              <a:spcBef>
                <a:spcPts val="0"/>
              </a:spcBef>
              <a:spcAft>
                <a:spcPts val="0"/>
              </a:spcAft>
              <a:defRPr sz="2100" b="1">
                <a:solidFill>
                  <a:srgbClr val="D2181F"/>
                </a:solidFill>
                <a:latin typeface="Arial"/>
              </a:defRPr>
            </a:pPr>
            <a:r>
              <a:rPr b="1" sz="2100">
                <a:solidFill>
                  <a:srgbClr val="760023"/>
                </a:solidFill>
                <a:latin typeface="Arial"/>
              </a:rPr>
              <a:t>2:15 PM–3:30 PM  •  75 min</a:t>
            </a:r>
          </a:p>
        </p:txBody>
      </p:sp>
      <p:sp>
        <p:nvSpPr>
          <p:cNvPr id="29" name="TextBox 28"/>
          <p:cNvSpPr txBox="1"/>
          <p:nvPr/>
        </p:nvSpPr>
        <p:spPr>
          <a:xfrm>
            <a:off x="6309360" y="2368296"/>
            <a:ext cx="5166360" cy="612648"/>
          </a:xfrm>
          <a:prstGeom prst="rect">
            <a:avLst/>
          </a:prstGeom>
          <a:noFill/>
        </p:spPr>
        <p:txBody>
          <a:bodyPr wrap="square" lIns="0" rIns="0" tIns="0" bIns="0" anchor="t">
            <a:normAutofit fontScale="100000" lnSpcReduction="0"/>
          </a:bodyPr>
          <a:lstStyle/>
          <a:p>
            <a:pPr>
              <a:spcBef>
                <a:spcPts val="0"/>
              </a:spcBef>
              <a:spcAft>
                <a:spcPts val="0"/>
              </a:spcAft>
              <a:defRPr sz="2000" b="1">
                <a:solidFill>
                  <a:srgbClr val="111218"/>
                </a:solidFill>
                <a:latin typeface="Arial"/>
              </a:defRPr>
            </a:pPr>
            <a:r>
              <a:rPr b="1" sz="2000">
                <a:solidFill>
                  <a:srgbClr val="760023"/>
                </a:solidFill>
                <a:latin typeface="Arial"/>
              </a:rPr>
              <a:t>Rearranging formulas and checking backwards</a:t>
            </a:r>
          </a:p>
        </p:txBody>
      </p:sp>
      <p:sp>
        <p:nvSpPr>
          <p:cNvPr id="30" name="TextBox 29"/>
          <p:cNvSpPr txBox="1"/>
          <p:nvPr/>
        </p:nvSpPr>
        <p:spPr>
          <a:xfrm>
            <a:off x="6236208" y="3154680"/>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2:15 PM–2:20 PM</a:t>
            </a:r>
          </a:p>
        </p:txBody>
      </p:sp>
      <p:sp>
        <p:nvSpPr>
          <p:cNvPr id="31" name="TextBox 30"/>
          <p:cNvSpPr txBox="1"/>
          <p:nvPr/>
        </p:nvSpPr>
        <p:spPr>
          <a:xfrm>
            <a:off x="8522208" y="3154680"/>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Start</a:t>
            </a:r>
          </a:p>
        </p:txBody>
      </p:sp>
      <p:sp>
        <p:nvSpPr>
          <p:cNvPr id="32" name="TextBox 31"/>
          <p:cNvSpPr txBox="1"/>
          <p:nvPr/>
        </p:nvSpPr>
        <p:spPr>
          <a:xfrm>
            <a:off x="10991088" y="3154680"/>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5</a:t>
            </a:r>
          </a:p>
        </p:txBody>
      </p:sp>
      <p:sp>
        <p:nvSpPr>
          <p:cNvPr id="33" name="TextBox 32"/>
          <p:cNvSpPr txBox="1"/>
          <p:nvPr/>
        </p:nvSpPr>
        <p:spPr>
          <a:xfrm>
            <a:off x="6236208" y="3511296"/>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2:20 PM–2:25 PM</a:t>
            </a:r>
          </a:p>
        </p:txBody>
      </p:sp>
      <p:sp>
        <p:nvSpPr>
          <p:cNvPr id="34" name="TextBox 33"/>
          <p:cNvSpPr txBox="1"/>
          <p:nvPr/>
        </p:nvSpPr>
        <p:spPr>
          <a:xfrm>
            <a:off x="8522208" y="3511296"/>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Recall</a:t>
            </a:r>
          </a:p>
        </p:txBody>
      </p:sp>
      <p:sp>
        <p:nvSpPr>
          <p:cNvPr id="35" name="TextBox 34"/>
          <p:cNvSpPr txBox="1"/>
          <p:nvPr/>
        </p:nvSpPr>
        <p:spPr>
          <a:xfrm>
            <a:off x="10991088" y="3511296"/>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5</a:t>
            </a:r>
          </a:p>
        </p:txBody>
      </p:sp>
      <p:sp>
        <p:nvSpPr>
          <p:cNvPr id="36" name="TextBox 35"/>
          <p:cNvSpPr txBox="1"/>
          <p:nvPr/>
        </p:nvSpPr>
        <p:spPr>
          <a:xfrm>
            <a:off x="6236208" y="3867912"/>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2:25 PM–2:40 PM</a:t>
            </a:r>
          </a:p>
        </p:txBody>
      </p:sp>
      <p:sp>
        <p:nvSpPr>
          <p:cNvPr id="37" name="TextBox 36"/>
          <p:cNvSpPr txBox="1"/>
          <p:nvPr/>
        </p:nvSpPr>
        <p:spPr>
          <a:xfrm>
            <a:off x="8522208" y="3867912"/>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Teach</a:t>
            </a:r>
          </a:p>
        </p:txBody>
      </p:sp>
      <p:sp>
        <p:nvSpPr>
          <p:cNvPr id="38" name="TextBox 37"/>
          <p:cNvSpPr txBox="1"/>
          <p:nvPr/>
        </p:nvSpPr>
        <p:spPr>
          <a:xfrm>
            <a:off x="10991088" y="3867912"/>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15</a:t>
            </a:r>
          </a:p>
        </p:txBody>
      </p:sp>
      <p:sp>
        <p:nvSpPr>
          <p:cNvPr id="39" name="TextBox 38"/>
          <p:cNvSpPr txBox="1"/>
          <p:nvPr/>
        </p:nvSpPr>
        <p:spPr>
          <a:xfrm>
            <a:off x="6236208" y="4224528"/>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2:40 PM–2:55 PM</a:t>
            </a:r>
          </a:p>
        </p:txBody>
      </p:sp>
      <p:sp>
        <p:nvSpPr>
          <p:cNvPr id="40" name="TextBox 39"/>
          <p:cNvSpPr txBox="1"/>
          <p:nvPr/>
        </p:nvSpPr>
        <p:spPr>
          <a:xfrm>
            <a:off x="8522208" y="4224528"/>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Together</a:t>
            </a:r>
          </a:p>
        </p:txBody>
      </p:sp>
      <p:sp>
        <p:nvSpPr>
          <p:cNvPr id="41" name="TextBox 40"/>
          <p:cNvSpPr txBox="1"/>
          <p:nvPr/>
        </p:nvSpPr>
        <p:spPr>
          <a:xfrm>
            <a:off x="10991088" y="4224528"/>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15</a:t>
            </a:r>
          </a:p>
        </p:txBody>
      </p:sp>
      <p:sp>
        <p:nvSpPr>
          <p:cNvPr id="42" name="TextBox 41"/>
          <p:cNvSpPr txBox="1"/>
          <p:nvPr/>
        </p:nvSpPr>
        <p:spPr>
          <a:xfrm>
            <a:off x="6236208" y="4581144"/>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2:55 PM–3:15 PM</a:t>
            </a:r>
          </a:p>
        </p:txBody>
      </p:sp>
      <p:sp>
        <p:nvSpPr>
          <p:cNvPr id="43" name="TextBox 42"/>
          <p:cNvSpPr txBox="1"/>
          <p:nvPr/>
        </p:nvSpPr>
        <p:spPr>
          <a:xfrm>
            <a:off x="8522208" y="4581144"/>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Practise</a:t>
            </a:r>
          </a:p>
        </p:txBody>
      </p:sp>
      <p:sp>
        <p:nvSpPr>
          <p:cNvPr id="44" name="TextBox 43"/>
          <p:cNvSpPr txBox="1"/>
          <p:nvPr/>
        </p:nvSpPr>
        <p:spPr>
          <a:xfrm>
            <a:off x="10991088" y="4581144"/>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20</a:t>
            </a:r>
          </a:p>
        </p:txBody>
      </p:sp>
      <p:sp>
        <p:nvSpPr>
          <p:cNvPr id="45" name="TextBox 44"/>
          <p:cNvSpPr txBox="1"/>
          <p:nvPr/>
        </p:nvSpPr>
        <p:spPr>
          <a:xfrm>
            <a:off x="6236208" y="4937759"/>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3:15 PM–3:25 PM</a:t>
            </a:r>
          </a:p>
        </p:txBody>
      </p:sp>
      <p:sp>
        <p:nvSpPr>
          <p:cNvPr id="46" name="TextBox 45"/>
          <p:cNvSpPr txBox="1"/>
          <p:nvPr/>
        </p:nvSpPr>
        <p:spPr>
          <a:xfrm>
            <a:off x="8522208" y="4937759"/>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Check</a:t>
            </a:r>
          </a:p>
        </p:txBody>
      </p:sp>
      <p:sp>
        <p:nvSpPr>
          <p:cNvPr id="47" name="TextBox 46"/>
          <p:cNvSpPr txBox="1"/>
          <p:nvPr/>
        </p:nvSpPr>
        <p:spPr>
          <a:xfrm>
            <a:off x="10991088" y="4937759"/>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10</a:t>
            </a:r>
          </a:p>
        </p:txBody>
      </p:sp>
      <p:sp>
        <p:nvSpPr>
          <p:cNvPr id="48" name="TextBox 47"/>
          <p:cNvSpPr txBox="1"/>
          <p:nvPr/>
        </p:nvSpPr>
        <p:spPr>
          <a:xfrm>
            <a:off x="6236208" y="5294375"/>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3:25 PM–3:30 PM</a:t>
            </a:r>
          </a:p>
        </p:txBody>
      </p:sp>
      <p:sp>
        <p:nvSpPr>
          <p:cNvPr id="49" name="TextBox 48"/>
          <p:cNvSpPr txBox="1"/>
          <p:nvPr/>
        </p:nvSpPr>
        <p:spPr>
          <a:xfrm>
            <a:off x="8522208" y="5294375"/>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Wrap up</a:t>
            </a:r>
          </a:p>
        </p:txBody>
      </p:sp>
      <p:sp>
        <p:nvSpPr>
          <p:cNvPr id="50" name="TextBox 49"/>
          <p:cNvSpPr txBox="1"/>
          <p:nvPr/>
        </p:nvSpPr>
        <p:spPr>
          <a:xfrm>
            <a:off x="10991088" y="5294375"/>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5</a:t>
            </a:r>
          </a:p>
        </p:txBody>
      </p:sp>
      <p:sp>
        <p:nvSpPr>
          <p:cNvPr id="51" name="TextBox 50"/>
          <p:cNvSpPr txBox="1"/>
          <p:nvPr/>
        </p:nvSpPr>
        <p:spPr>
          <a:xfrm>
            <a:off x="6309360" y="5669280"/>
            <a:ext cx="5166360" cy="228600"/>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111218"/>
                </a:solidFill>
                <a:latin typeface="Arial"/>
              </a:rPr>
              <a:t>Math  •  Math Week 5, Lesson 4</a:t>
            </a:r>
          </a:p>
        </p:txBody>
      </p:sp>
      <p:sp>
        <p:nvSpPr>
          <p:cNvPr id="52" name="TextBox 51"/>
          <p:cNvSpPr txBox="1"/>
          <p:nvPr/>
        </p:nvSpPr>
        <p:spPr>
          <a:xfrm>
            <a:off x="612648" y="6053328"/>
            <a:ext cx="10927080" cy="320040"/>
          </a:xfrm>
          <a:prstGeom prst="rect">
            <a:avLst/>
          </a:prstGeom>
          <a:noFill/>
        </p:spPr>
        <p:txBody>
          <a:bodyPr wrap="square" lIns="0" rIns="0" tIns="0" bIns="0" anchor="t">
            <a:normAutofit fontScale="100000" lnSpcReduction="0"/>
          </a:bodyPr>
          <a:lstStyle/>
          <a:p>
            <a:pPr>
              <a:spcBef>
                <a:spcPts val="0"/>
              </a:spcBef>
              <a:spcAft>
                <a:spcPts val="300"/>
              </a:spcAft>
              <a:defRPr sz="1500" b="0">
                <a:solidFill>
                  <a:srgbClr val="111218"/>
                </a:solidFill>
                <a:latin typeface="Arial"/>
              </a:defRPr>
            </a:pPr>
            <a:r>
              <a:rPr b="1">
                <a:solidFill>
                  <a:srgbClr val="111218"/>
                </a:solidFill>
                <a:latin typeface="Arial"/>
              </a:rPr>
              <a:t>Break: 2:00 PM–2:15 PM  •  15 minutes  •  excluded from teaching time</a:t>
            </a:r>
          </a:p>
        </p:txBody>
      </p:sp>
      <p:pic>
        <p:nvPicPr>
          <p:cNvPr id="53" name="Picture 5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55" name="TextBox 54"/>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56" name="TextBox 55"/>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57" name="TextBox 56"/>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58" name="TextBox 57"/>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59" name="TextBox 58"/>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15  •  2026-11-25  •  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760023"/>
        </a:solidFill>
        <a:effectLst/>
      </p:bgPr>
    </p:bg>
    <p:spTree>
      <p:nvGrpSpPr>
        <p:cNvPr id="1" name=""/>
        <p:cNvGrpSpPr/>
        <p:nvPr/>
      </p:nvGrpSpPr>
      <p:grpSpPr/>
      <p:sp>
        <p:nvSpPr>
          <p:cNvPr id="18" name="Rectangle 17"/>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W05-L03  •  START  •  12:45 PM–12:50 PM  •  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Reading and substituting into formulas</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8.1–8.2 pp.124–125; formula sheet p.219</a:t>
            </a:r>
          </a:p>
        </p:txBody>
      </p:sp>
      <p:sp>
        <p:nvSpPr>
          <p:cNvPr id="5" name="TextBox 4"/>
          <p:cNvSpPr txBox="1"/>
          <p:nvPr/>
        </p:nvSpPr>
        <p:spPr>
          <a:xfrm>
            <a:off x="612648" y="1856231"/>
            <a:ext cx="10927080" cy="1005840"/>
          </a:xfrm>
          <a:prstGeom prst="rect">
            <a:avLst/>
          </a:prstGeom>
          <a:noFill/>
        </p:spPr>
        <p:txBody>
          <a:bodyPr wrap="square" lIns="0" rIns="0" tIns="0" bIns="0" anchor="t">
            <a:normAutofit fontScale="100000" lnSpcReduction="0"/>
          </a:bodyPr>
          <a:lstStyle/>
          <a:p>
            <a:pPr>
              <a:spcBef>
                <a:spcPts val="0"/>
              </a:spcBef>
              <a:spcAft>
                <a:spcPts val="300"/>
              </a:spcAft>
              <a:defRPr sz="2400" b="1">
                <a:solidFill>
                  <a:srgbClr val="111218"/>
                </a:solidFill>
                <a:latin typeface="Arial"/>
              </a:defRPr>
            </a:pPr>
            <a:r>
              <a:rPr b="1">
                <a:solidFill>
                  <a:srgbClr val="FFFFFF"/>
                </a:solidFill>
                <a:latin typeface="Arial"/>
              </a:rPr>
              <a:t>Today’s goal: Name variables and substitute dimensions into a formula with correct brackets and units.</a:t>
            </a:r>
          </a:p>
        </p:txBody>
      </p:sp>
      <p:sp>
        <p:nvSpPr>
          <p:cNvPr id="6" name="TextBox 5"/>
          <p:cNvSpPr txBox="1"/>
          <p:nvPr/>
        </p:nvSpPr>
        <p:spPr>
          <a:xfrm>
            <a:off x="612648" y="3154680"/>
            <a:ext cx="10927080" cy="59436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Describe a prior use of the skill; identify the given and unknown quantities.</a:t>
            </a:r>
          </a:p>
        </p:txBody>
      </p:sp>
      <p:sp>
        <p:nvSpPr>
          <p:cNvPr id="7" name="Rectangle 6"/>
          <p:cNvSpPr/>
          <p:nvPr/>
        </p:nvSpPr>
        <p:spPr>
          <a:xfrm>
            <a:off x="612648" y="4114800"/>
            <a:ext cx="10927080" cy="1371600"/>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8" name="TextBox 7"/>
          <p:cNvSpPr txBox="1"/>
          <p:nvPr/>
        </p:nvSpPr>
        <p:spPr>
          <a:xfrm>
            <a:off x="841248" y="4297680"/>
            <a:ext cx="1042416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111218"/>
                </a:solidFill>
                <a:latin typeface="Arial"/>
              </a:defRPr>
            </a:pPr>
            <a:r>
              <a:rPr>
                <a:solidFill>
                  <a:srgbClr val="111218"/>
                </a:solidFill>
                <a:latin typeface="Arial"/>
              </a:rPr>
              <a:t>Textbook sections 8.1–8.2 pp.124–125; formula sheet p.219</a:t>
            </a:r>
          </a:p>
        </p:txBody>
      </p:sp>
      <p:sp>
        <p:nvSpPr>
          <p:cNvPr id="9" name="TextBox 8"/>
          <p:cNvSpPr txBox="1"/>
          <p:nvPr/>
        </p:nvSpPr>
        <p:spPr>
          <a:xfrm>
            <a:off x="841248" y="4901184"/>
            <a:ext cx="10424160" cy="457200"/>
          </a:xfrm>
          <a:prstGeom prst="rect">
            <a:avLst/>
          </a:prstGeom>
          <a:noFill/>
        </p:spPr>
        <p:txBody>
          <a:bodyPr wrap="square" lIns="0" rIns="0" tIns="0" bIns="0" anchor="t">
            <a:normAutofit fontScale="100000" lnSpcReduction="0"/>
          </a:bodyPr>
          <a:lstStyle/>
          <a:p>
            <a:pPr>
              <a:spcBef>
                <a:spcPts val="0"/>
              </a:spcBef>
              <a:spcAft>
                <a:spcPts val="300"/>
              </a:spcAft>
              <a:defRPr sz="1600" b="0">
                <a:solidFill>
                  <a:srgbClr val="4A4E54"/>
                </a:solidFill>
                <a:latin typeface="Arial"/>
              </a:defRPr>
            </a:pPr>
            <a:r>
              <a:rPr>
                <a:solidFill>
                  <a:srgbClr val="111218"/>
                </a:solidFill>
                <a:latin typeface="Arial"/>
              </a:rPr>
              <a:t>Exercise Book 8A Q1–8 (p.51); 8B Q12 (p.54)</a:t>
            </a:r>
          </a:p>
        </p:txBody>
      </p:sp>
      <p:sp>
        <p:nvSpPr>
          <p:cNvPr id="10" name="TextBox 9"/>
          <p:cNvSpPr txBox="1"/>
          <p:nvPr/>
        </p:nvSpPr>
        <p:spPr>
          <a:xfrm>
            <a:off x="612648" y="5806440"/>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D2181F"/>
                </a:solidFill>
                <a:latin typeface="Arial"/>
              </a:defRPr>
            </a:pPr>
            <a:r>
              <a:rPr>
                <a:solidFill>
                  <a:srgbClr val="F7F8FC"/>
                </a:solidFill>
                <a:latin typeface="Arial"/>
              </a:rPr>
              <a:t>Keep your notebook, textbook, exercise book and chosen calculator ready.</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3" name="TextBox 12"/>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4" name="TextBox 13"/>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5" name="TextBox 14"/>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6" name="TextBox 15"/>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7" name="TextBox 16"/>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15  •  2026-11-25  •  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W05-L03  •  RECALL  •  12:50 PM–12:55 PM  •  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Recall and reconnect</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sections 8.1–8.2 pp.124–125; formula sheet p.219</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Identify what l and w stand for in A = l × w. Check BEDMAS using a two-step expression.</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Attempt the retrieval task independently; explain the method before checking.</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424957"/>
                </a:solidFill>
                <a:latin typeface="Arial"/>
              </a:rPr>
              <a:t>Resources: Exercise Book 8A Q1–8 (p.51); 8B Q12 (p.54)</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15  •  2026-11-25  •  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20" name="Rectangle 19"/>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2648" y="1865376"/>
            <a:ext cx="5349240" cy="9144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17920" y="1865376"/>
            <a:ext cx="5349240" cy="9144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2648" y="2907792"/>
            <a:ext cx="5349240" cy="9144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17920" y="2907792"/>
            <a:ext cx="5349240" cy="9144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W05-L03  •  TEACH  •  12:55 PM–1:10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Identify what each symbol means</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sections 8.1–8.2 pp.124–125; formula sheet p.219</a:t>
            </a:r>
          </a:p>
        </p:txBody>
      </p:sp>
      <p:sp>
        <p:nvSpPr>
          <p:cNvPr id="5" name="Rectangle 4"/>
          <p:cNvSpPr/>
          <p:nvPr/>
        </p:nvSpPr>
        <p:spPr>
          <a:xfrm>
            <a:off x="795528" y="2029968"/>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1</a:t>
            </a:r>
          </a:p>
        </p:txBody>
      </p:sp>
      <p:sp>
        <p:nvSpPr>
          <p:cNvPr id="6" name="TextBox 5"/>
          <p:cNvSpPr txBox="1"/>
          <p:nvPr/>
        </p:nvSpPr>
        <p:spPr>
          <a:xfrm>
            <a:off x="1362456" y="2048256"/>
            <a:ext cx="4343400" cy="658368"/>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List the given measurements and the quantity you need to find.</a:t>
            </a:r>
          </a:p>
        </p:txBody>
      </p:sp>
      <p:sp>
        <p:nvSpPr>
          <p:cNvPr id="7" name="Rectangle 6"/>
          <p:cNvSpPr/>
          <p:nvPr/>
        </p:nvSpPr>
        <p:spPr>
          <a:xfrm>
            <a:off x="6400800" y="2029968"/>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2</a:t>
            </a:r>
          </a:p>
        </p:txBody>
      </p:sp>
      <p:sp>
        <p:nvSpPr>
          <p:cNvPr id="8" name="TextBox 7"/>
          <p:cNvSpPr txBox="1"/>
          <p:nvPr/>
        </p:nvSpPr>
        <p:spPr>
          <a:xfrm>
            <a:off x="6967728" y="2048256"/>
            <a:ext cx="4343400" cy="658368"/>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Match each formula letter to the correct labelled dimension.</a:t>
            </a:r>
          </a:p>
        </p:txBody>
      </p:sp>
      <p:sp>
        <p:nvSpPr>
          <p:cNvPr id="9" name="Rectangle 8"/>
          <p:cNvSpPr/>
          <p:nvPr/>
        </p:nvSpPr>
        <p:spPr>
          <a:xfrm>
            <a:off x="795528" y="3072383"/>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3</a:t>
            </a:r>
          </a:p>
        </p:txBody>
      </p:sp>
      <p:sp>
        <p:nvSpPr>
          <p:cNvPr id="10" name="TextBox 9"/>
          <p:cNvSpPr txBox="1"/>
          <p:nvPr/>
        </p:nvSpPr>
        <p:spPr>
          <a:xfrm>
            <a:off x="1362456" y="3090672"/>
            <a:ext cx="4343400" cy="658368"/>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Use consistent units before substituting values.</a:t>
            </a:r>
          </a:p>
        </p:txBody>
      </p:sp>
      <p:sp>
        <p:nvSpPr>
          <p:cNvPr id="11" name="Rectangle 10"/>
          <p:cNvSpPr/>
          <p:nvPr/>
        </p:nvSpPr>
        <p:spPr>
          <a:xfrm>
            <a:off x="6400800" y="3072383"/>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4</a:t>
            </a:r>
          </a:p>
        </p:txBody>
      </p:sp>
      <p:sp>
        <p:nvSpPr>
          <p:cNvPr id="12" name="TextBox 11"/>
          <p:cNvSpPr txBox="1"/>
          <p:nvPr/>
        </p:nvSpPr>
        <p:spPr>
          <a:xfrm>
            <a:off x="6967728" y="3090672"/>
            <a:ext cx="4343400" cy="658368"/>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Keep brackets where the formula groups operations.</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5" name="TextBox 14"/>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6" name="TextBox 15"/>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7" name="TextBox 16"/>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8" name="TextBox 17"/>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9" name="TextBox 18"/>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15  •  2026-11-25  •  05</a:t>
            </a:r>
          </a:p>
        </p:txBody>
      </p:sp>
      <p:pic>
        <p:nvPicPr>
          <p:cNvPr id="32" name="Visual letters and dimensions" descr="Rectangle with the length labelled l = length, the width labelled w = width, and A = l × w written inside."/>
          <p:cNvPicPr>
            <a:picLocks noChangeAspect="1"/>
          </p:cNvPicPr>
          <p:nvPr/>
        </p:nvPicPr>
        <p:blipFill>
          <a:blip r:embed="rId8"/>
          <a:stretch>
            <a:fillRect/>
          </a:stretch>
        </p:blipFill>
        <p:spPr>
          <a:xfrm>
            <a:off x="2617644" y="3968496"/>
            <a:ext cx="6944519" cy="2121408"/>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20" name="Rectangle 19"/>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2648" y="1865376"/>
            <a:ext cx="5349240" cy="12435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17920" y="1865376"/>
            <a:ext cx="5349240" cy="12435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2648" y="3236976"/>
            <a:ext cx="5349240" cy="12435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17920" y="3236976"/>
            <a:ext cx="5349240" cy="12435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W05-L03  •  TEACH  •  12:55 PM–1:10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Follow a formula from symbols to a result</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sections 8.1–8.2 pp.124–125; formula sheet p.219</a:t>
            </a:r>
          </a:p>
        </p:txBody>
      </p:sp>
      <p:sp>
        <p:nvSpPr>
          <p:cNvPr id="5" name="Rectangle 4"/>
          <p:cNvSpPr/>
          <p:nvPr/>
        </p:nvSpPr>
        <p:spPr>
          <a:xfrm>
            <a:off x="795528" y="2029968"/>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1</a:t>
            </a:r>
          </a:p>
        </p:txBody>
      </p:sp>
      <p:sp>
        <p:nvSpPr>
          <p:cNvPr id="6" name="TextBox 5"/>
          <p:cNvSpPr txBox="1"/>
          <p:nvPr/>
        </p:nvSpPr>
        <p:spPr>
          <a:xfrm>
            <a:off x="1362456" y="2048256"/>
            <a:ext cx="4343400" cy="98755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Write the formula before entering the numbers.</a:t>
            </a:r>
          </a:p>
        </p:txBody>
      </p:sp>
      <p:sp>
        <p:nvSpPr>
          <p:cNvPr id="7" name="Rectangle 6"/>
          <p:cNvSpPr/>
          <p:nvPr/>
        </p:nvSpPr>
        <p:spPr>
          <a:xfrm>
            <a:off x="6400800" y="2029968"/>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2</a:t>
            </a:r>
          </a:p>
        </p:txBody>
      </p:sp>
      <p:sp>
        <p:nvSpPr>
          <p:cNvPr id="8" name="TextBox 7"/>
          <p:cNvSpPr txBox="1"/>
          <p:nvPr/>
        </p:nvSpPr>
        <p:spPr>
          <a:xfrm>
            <a:off x="6967728" y="2048256"/>
            <a:ext cx="4343400" cy="98755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Substitute the known values in the same positions.</a:t>
            </a:r>
          </a:p>
        </p:txBody>
      </p:sp>
      <p:sp>
        <p:nvSpPr>
          <p:cNvPr id="9" name="Rectangle 8"/>
          <p:cNvSpPr/>
          <p:nvPr/>
        </p:nvSpPr>
        <p:spPr>
          <a:xfrm>
            <a:off x="795528" y="3401567"/>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3</a:t>
            </a:r>
          </a:p>
        </p:txBody>
      </p:sp>
      <p:sp>
        <p:nvSpPr>
          <p:cNvPr id="10" name="TextBox 9"/>
          <p:cNvSpPr txBox="1"/>
          <p:nvPr/>
        </p:nvSpPr>
        <p:spPr>
          <a:xfrm>
            <a:off x="1362456" y="3419856"/>
            <a:ext cx="4343400" cy="98755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Calculate in the correct order and attach the resulting unit.</a:t>
            </a:r>
          </a:p>
        </p:txBody>
      </p:sp>
      <p:sp>
        <p:nvSpPr>
          <p:cNvPr id="11" name="Rectangle 10"/>
          <p:cNvSpPr/>
          <p:nvPr/>
        </p:nvSpPr>
        <p:spPr>
          <a:xfrm>
            <a:off x="6400800" y="3401567"/>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4</a:t>
            </a:r>
          </a:p>
        </p:txBody>
      </p:sp>
      <p:sp>
        <p:nvSpPr>
          <p:cNvPr id="12" name="TextBox 11"/>
          <p:cNvSpPr txBox="1"/>
          <p:nvPr/>
        </p:nvSpPr>
        <p:spPr>
          <a:xfrm>
            <a:off x="6967728" y="3419856"/>
            <a:ext cx="4343400" cy="98755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Check both the magnitude and meaning: equal area alone does not prove a part fits.</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5" name="TextBox 14"/>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6" name="TextBox 15"/>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7" name="TextBox 16"/>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8" name="TextBox 17"/>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9" name="TextBox 18"/>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15  •  2026-11-25  •  06</a:t>
            </a:r>
          </a:p>
        </p:txBody>
      </p:sp>
      <p:pic>
        <p:nvPicPr>
          <p:cNvPr id="32" name="Visual formula steps" descr="Four boxes joined by arrows: formula written first, substitute known values, calculate in order, unit and check."/>
          <p:cNvPicPr>
            <a:picLocks noChangeAspect="1"/>
          </p:cNvPicPr>
          <p:nvPr/>
        </p:nvPicPr>
        <p:blipFill>
          <a:blip r:embed="rId8"/>
          <a:stretch>
            <a:fillRect/>
          </a:stretch>
        </p:blipFill>
        <p:spPr>
          <a:xfrm>
            <a:off x="622505" y="4626864"/>
            <a:ext cx="10934799" cy="146304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
    <p:bg>
      <p:bgPr>
        <a:solidFill>
          <a:srgbClr val="F7F8FC"/>
        </a:solidFill>
        <a:effectLst/>
      </p:bgPr>
    </p:bg>
    <p:spTree>
      <p:nvGrpSpPr>
        <p:cNvPr id="1" name=""/>
        <p:cNvGrpSpPr/>
        <p:nvPr/>
      </p:nvGrpSpPr>
      <p:grpSpPr>
        <a:xfrm>
          <a:off x="0" y="0"/>
          <a:ext cx="0" cy="0"/>
          <a:chOff x="0" y="0"/>
          <a:chExt cx="0" cy="0"/>
        </a:xfrm>
      </p:grpSpPr>
      <p:sp>
        <p:nvSpPr>
          <p:cNvPr id="19" name="Rectangle 18"/>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795624" y="2005965"/>
            <a:ext cx="5839066" cy="1127700"/>
          </a:xfrm>
          <a:prstGeom prst="roundRect">
            <a:avLst>
              <a:gd name="adj" fmla="val 8000"/>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 1"/>
          <p:cNvSpPr/>
          <p:nvPr/>
        </p:nvSpPr>
        <p:spPr>
          <a:xfrm>
            <a:off x="609585" y="381000"/>
            <a:ext cx="9418320" cy="213271"/>
          </a:xfrm>
          <a:prstGeom prst="rect">
            <a:avLst/>
          </a:prstGeom>
          <a:noFill/>
          <a:ln/>
        </p:spPr>
        <p:txBody>
          <a:bodyPr wrap="square" lIns="0" tIns="0" rIns="0" bIns="0" rtlCol="0" anchor="t">
            <a:normAutofit fontScale="100000" lnSpcReduction="0"/>
          </a:bodyPr>
          <a:lstStyle/>
          <a:p>
            <a:pPr marL="0" indent="0" algn="l">
              <a:buNone/>
              <a:defRPr sz="1150">
                <a:solidFill>
                  <a:srgbClr val="D2181F"/>
                </a:solidFill>
                <a:latin typeface="Arial"/>
              </a:defRPr>
            </a:pPr>
            <a:r>
              <a:rPr>
                <a:solidFill>
                  <a:srgbClr val="FFFFFF"/>
                </a:solidFill>
                <a:latin typeface="Arial"/>
              </a:rPr>
              <a:t>W05-L03  •  TEACH  •  12:55 PM–1:10 PM  •  15 MIN TOTAL</a:t>
            </a:r>
            <a:endParaRPr lang="en-US" sz="1200" dirty="0"/>
          </a:p>
        </p:txBody>
      </p:sp>
      <p:sp>
        <p:nvSpPr>
          <p:cNvPr id="4" name="Text 2"/>
          <p:cNvSpPr/>
          <p:nvPr/>
        </p:nvSpPr>
        <p:spPr>
          <a:xfrm>
            <a:off x="609585" y="896112"/>
            <a:ext cx="10972526" cy="621792"/>
          </a:xfrm>
          <a:prstGeom prst="rect">
            <a:avLst/>
          </a:prstGeom>
          <a:noFill/>
          <a:ln/>
        </p:spPr>
        <p:txBody>
          <a:bodyPr wrap="square" lIns="0" tIns="0" rIns="0" bIns="0" rtlCol="0" anchor="t">
            <a:normAutofit fontScale="100000" lnSpcReduction="0"/>
          </a:bodyPr>
          <a:lstStyle/>
          <a:p>
            <a:pPr marL="0" indent="0" algn="l">
              <a:spcBef>
                <a:spcPts val="0"/>
              </a:spcBef>
              <a:spcAft>
                <a:spcPts val="0"/>
              </a:spcAft>
              <a:buNone/>
              <a:defRPr sz="3000">
                <a:solidFill>
                  <a:srgbClr val="FFFFFF"/>
                </a:solidFill>
              </a:defRPr>
            </a:pPr>
            <a:r>
              <a:rPr lang="en-US" sz="3000" b="1" dirty="0">
                <a:solidFill>
                  <a:srgbClr val="FFFFFF"/>
                </a:solidFill>
                <a:latin typeface="Arial" pitchFamily="34" charset="0"/>
                <a:ea typeface="Arial" pitchFamily="34" charset="-122"/>
                <a:cs typeface="Arial" pitchFamily="34" charset="-120"/>
              </a:rPr>
              <a:t>Match the formula to the requested quantity</a:t>
            </a:r>
            <a:endParaRPr lang="en-US" sz="3000" dirty="0"/>
          </a:p>
        </p:txBody>
      </p:sp>
      <p:sp>
        <p:nvSpPr>
          <p:cNvPr id="5" name="Shape 3"/>
          <p:cNvSpPr/>
          <p:nvPr/>
        </p:nvSpPr>
        <p:spPr>
          <a:xfrm>
            <a:off x="1333467" y="2524125"/>
            <a:ext cx="3428914" cy="1714500"/>
          </a:xfrm>
          <a:prstGeom prst="rect">
            <a:avLst/>
          </a:prstGeom>
          <a:solidFill>
            <a:srgbClr val="F4F5F6"/>
          </a:solidFill>
          <a:ln w="28575">
            <a:solidFill>
              <a:srgbClr val="D0002B"/>
            </a:solidFill>
            <a:prstDash val="solid"/>
          </a:ln>
        </p:spPr>
        <p:txBody>
          <a:bodyPr/>
          <a:lstStyle/>
          <a:p>
            <a:endParaRPr lang="en-CA"/>
          </a:p>
        </p:txBody>
      </p:sp>
      <p:sp>
        <p:nvSpPr>
          <p:cNvPr id="6" name="Text 4"/>
          <p:cNvSpPr/>
          <p:nvPr/>
        </p:nvSpPr>
        <p:spPr>
          <a:xfrm>
            <a:off x="2095448" y="2000250"/>
            <a:ext cx="2476438" cy="319980"/>
          </a:xfrm>
          <a:prstGeom prst="rect">
            <a:avLst/>
          </a:prstGeom>
          <a:noFill/>
          <a:ln/>
        </p:spPr>
        <p:txBody>
          <a:bodyPr wrap="square" lIns="0" tIns="0" rIns="0" bIns="0" rtlCol="0" anchor="t">
            <a:normAutofit fontScale="100000" lnSpcReduction="0"/>
          </a:bodyPr>
          <a:lstStyle/>
          <a:p>
            <a:pPr marL="0" indent="0" algn="l">
              <a:buNone/>
            </a:pPr>
            <a:r>
              <a:rPr lang="en-US" sz="1800" dirty="0">
                <a:solidFill>
                  <a:srgbClr val="111218"/>
                </a:solidFill>
                <a:latin typeface="Arial" pitchFamily="34" charset="0"/>
                <a:ea typeface="Arial" pitchFamily="34" charset="-122"/>
                <a:cs typeface="Arial" pitchFamily="34" charset="-120"/>
              </a:rPr>
              <a:t>Length l = 4 m</a:t>
            </a:r>
            <a:endParaRPr lang="en-US" sz="1800" dirty="0"/>
          </a:p>
        </p:txBody>
      </p:sp>
      <p:sp>
        <p:nvSpPr>
          <p:cNvPr id="7" name="Text 5"/>
          <p:cNvSpPr/>
          <p:nvPr/>
        </p:nvSpPr>
        <p:spPr>
          <a:xfrm>
            <a:off x="1333467" y="4429125"/>
            <a:ext cx="3524162" cy="319980"/>
          </a:xfrm>
          <a:prstGeom prst="rect">
            <a:avLst/>
          </a:prstGeom>
          <a:noFill/>
          <a:ln/>
        </p:spPr>
        <p:txBody>
          <a:bodyPr wrap="square" lIns="0" tIns="0" rIns="0" bIns="0" rtlCol="0" anchor="t">
            <a:normAutofit fontScale="100000" lnSpcReduction="0"/>
          </a:bodyPr>
          <a:lstStyle/>
          <a:p>
            <a:pPr marL="0" indent="0" algn="l">
              <a:buNone/>
            </a:pPr>
            <a:r>
              <a:rPr lang="en-US" sz="1800" dirty="0" b="1">
                <a:solidFill>
                  <a:srgbClr val="760023"/>
                </a:solidFill>
                <a:latin typeface="Arial" pitchFamily="34" charset="0"/>
                <a:ea typeface="Arial" pitchFamily="34" charset="-122"/>
                <a:cs typeface="Arial" pitchFamily="34" charset="-120"/>
              </a:rPr>
              <a:t>Width w = 2 m</a:t>
            </a:r>
            <a:endParaRPr lang="en-US" sz="1800" dirty="0"/>
          </a:p>
        </p:txBody>
      </p:sp>
      <p:sp>
        <p:nvSpPr>
          <p:cNvPr id="8" name="Text 6"/>
          <p:cNvSpPr/>
          <p:nvPr/>
        </p:nvSpPr>
        <p:spPr>
          <a:xfrm>
            <a:off x="5905352" y="2143125"/>
            <a:ext cx="5619610" cy="853380"/>
          </a:xfrm>
          <a:prstGeom prst="rect">
            <a:avLst/>
          </a:prstGeom>
          <a:noFill/>
          <a:ln/>
        </p:spPr>
        <p:txBody>
          <a:bodyPr wrap="square" lIns="0" tIns="0" rIns="0" bIns="0" rtlCol="0" anchor="t">
            <a:normAutofit fontScale="100000" lnSpcReduction="0"/>
          </a:bodyPr>
          <a:lstStyle/>
          <a:p>
            <a:pPr marL="0" indent="0" algn="l">
              <a:buNone/>
            </a:pPr>
            <a:r>
              <a:rPr lang="en-US" sz="2400" dirty="0" b="1">
                <a:solidFill>
                  <a:srgbClr val="111218"/>
                </a:solidFill>
                <a:latin typeface="Arial" pitchFamily="34" charset="0"/>
                <a:ea typeface="Arial" pitchFamily="34" charset="-122"/>
                <a:cs typeface="Arial" pitchFamily="34" charset="-120"/>
              </a:rPr>
              <a:t>A = l × w</a:t>
            </a:r>
            <a:endParaRPr lang="en-US" sz="2400" dirty="0"/>
          </a:p>
          <a:p>
            <a:pPr marL="0" indent="0" algn="l">
              <a:buNone/>
            </a:pPr>
            <a:r>
              <a:rPr lang="en-US" sz="2400" dirty="0" b="1">
                <a:solidFill>
                  <a:srgbClr val="111218"/>
                </a:solidFill>
                <a:latin typeface="Arial" pitchFamily="34" charset="0"/>
                <a:ea typeface="Arial" pitchFamily="34" charset="-122"/>
                <a:cs typeface="Arial" pitchFamily="34" charset="-120"/>
              </a:rPr>
              <a:t>= 4 × 2 = 8 m²</a:t>
            </a:r>
            <a:endParaRPr lang="en-US" sz="2400" dirty="0"/>
          </a:p>
        </p:txBody>
      </p:sp>
      <p:sp>
        <p:nvSpPr>
          <p:cNvPr id="9" name="Text 7"/>
          <p:cNvSpPr/>
          <p:nvPr/>
        </p:nvSpPr>
        <p:spPr>
          <a:xfrm>
            <a:off x="5905352" y="3524250"/>
            <a:ext cx="5619610" cy="853380"/>
          </a:xfrm>
          <a:prstGeom prst="rect">
            <a:avLst/>
          </a:prstGeom>
          <a:noFill/>
          <a:ln/>
        </p:spPr>
        <p:txBody>
          <a:bodyPr wrap="square" lIns="0" tIns="0" rIns="0" bIns="0" rtlCol="0" anchor="t">
            <a:normAutofit fontScale="100000" lnSpcReduction="0"/>
          </a:bodyPr>
          <a:lstStyle/>
          <a:p>
            <a:pPr marL="0" indent="0" algn="l">
              <a:buNone/>
            </a:pPr>
            <a:r>
              <a:rPr lang="en-US" sz="2400" dirty="0">
                <a:solidFill>
                  <a:srgbClr val="111218"/>
                </a:solidFill>
                <a:latin typeface="Arial" pitchFamily="34" charset="0"/>
                <a:ea typeface="Arial" pitchFamily="34" charset="-122"/>
                <a:cs typeface="Arial" pitchFamily="34" charset="-120"/>
              </a:rPr>
              <a:t>P = 2(l + w)</a:t>
            </a:r>
            <a:endParaRPr lang="en-US" sz="2400" dirty="0"/>
          </a:p>
          <a:p>
            <a:pPr marL="0" indent="0" algn="l">
              <a:buNone/>
            </a:pPr>
            <a:r>
              <a:rPr lang="en-US" sz="2400" dirty="0">
                <a:solidFill>
                  <a:srgbClr val="111218"/>
                </a:solidFill>
                <a:latin typeface="Arial" pitchFamily="34" charset="0"/>
                <a:ea typeface="Arial" pitchFamily="34" charset="-122"/>
                <a:cs typeface="Arial" pitchFamily="34" charset="-120"/>
              </a:rPr>
              <a:t>= 2(4 + 2) = 12 m</a:t>
            </a:r>
            <a:endParaRPr lang="en-US" sz="2400" dirty="0"/>
          </a:p>
        </p:txBody>
      </p:sp>
      <p:sp>
        <p:nvSpPr>
          <p:cNvPr id="10" name="Text 8"/>
          <p:cNvSpPr/>
          <p:nvPr/>
        </p:nvSpPr>
        <p:spPr>
          <a:xfrm>
            <a:off x="609585" y="5286375"/>
            <a:ext cx="10972526" cy="639961"/>
          </a:xfrm>
          <a:prstGeom prst="rect">
            <a:avLst/>
          </a:prstGeom>
          <a:noFill/>
          <a:ln/>
        </p:spPr>
        <p:txBody>
          <a:bodyPr wrap="square" lIns="0" tIns="0" rIns="0" bIns="0" rtlCol="0" anchor="t">
            <a:normAutofit fontScale="100000" lnSpcReduction="0"/>
          </a:bodyPr>
          <a:lstStyle/>
          <a:p>
            <a:pPr marL="0" indent="0" algn="l">
              <a:buNone/>
            </a:pPr>
            <a:r>
              <a:rPr lang="en-US" sz="1800" dirty="0">
                <a:solidFill>
                  <a:srgbClr val="111218"/>
                </a:solidFill>
                <a:latin typeface="Arial" pitchFamily="34" charset="0"/>
                <a:ea typeface="Arial" pitchFamily="34" charset="-122"/>
                <a:cs typeface="Arial" pitchFamily="34" charset="-120"/>
              </a:rPr>
              <a:t>Together: 8A Q2–4 and Q7. Name each quantity before keying.</a:t>
            </a:r>
            <a:endParaRPr lang="en-US" sz="1800" dirty="0"/>
          </a:p>
          <a:p>
            <a:pPr marL="0" indent="0" algn="l">
              <a:buNone/>
            </a:pPr>
            <a:r>
              <a:rPr lang="en-US" sz="1800" dirty="0">
                <a:solidFill>
                  <a:srgbClr val="111218"/>
                </a:solidFill>
                <a:latin typeface="Arial" pitchFamily="34" charset="0"/>
                <a:ea typeface="Arial" pitchFamily="34" charset="-122"/>
                <a:cs typeface="Arial" pitchFamily="34" charset="-120"/>
              </a:rPr>
              <a:t>Numeracy Hub Shape Studio: compare letters, values and calculations.</a:t>
            </a:r>
            <a:endParaRPr lang="en-US" sz="1800" dirty="0"/>
          </a:p>
        </p:txBody>
      </p:sp>
      <p:sp>
        <p:nvSpPr>
          <p:cNvPr id="11" name="Text 9"/>
          <p:cNvSpPr/>
          <p:nvPr/>
        </p:nvSpPr>
        <p:spPr>
          <a:xfrm>
            <a:off x="609585" y="6236208"/>
            <a:ext cx="10881360" cy="256032"/>
          </a:xfrm>
          <a:prstGeom prst="rect">
            <a:avLst/>
          </a:prstGeom>
          <a:noFill/>
          <a:ln/>
        </p:spPr>
        <p:txBody>
          <a:bodyPr wrap="square" lIns="0" tIns="0" rIns="0" bIns="0" rtlCol="0" anchor="t">
            <a:normAutofit fontScale="100000" lnSpcReduction="0"/>
          </a:bodyPr>
          <a:lstStyle/>
          <a:p>
            <a:pPr marL="0" indent="0" algn="l">
              <a:spcBef>
                <a:spcPts val="0"/>
              </a:spcBef>
              <a:spcAft>
                <a:spcPts val="0"/>
              </a:spcAft>
              <a:buNone/>
              <a:defRPr sz="1150"/>
            </a:pPr>
            <a:r>
              <a:rPr lang="en-US" sz="1150" dirty="0">
                <a:solidFill>
                  <a:srgbClr val="424957"/>
                </a:solidFill>
                <a:latin typeface="Arial" pitchFamily="34" charset="0"/>
                <a:ea typeface="Arial" pitchFamily="34" charset="-122"/>
                <a:cs typeface="Arial" pitchFamily="34" charset="-120"/>
              </a:rPr>
              <a:t>W5 L3 • Classroom rectangle, not a scale drawing • Area and perimeter are different quantities</a:t>
            </a:r>
            <a:endParaRPr lang="en-US" sz="1050" dirty="0"/>
          </a:p>
        </p:txBody>
      </p:sp>
      <p:pic>
        <p:nvPicPr>
          <p:cNvPr id="12" name="Picture 11"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4" name="TextBox 13"/>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5" name="TextBox 14"/>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6" name="TextBox 15"/>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7" name="TextBox 16"/>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8" name="TextBox 17"/>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15  •  2026-11-25  •  07</a:t>
            </a:r>
          </a:p>
        </p:txBody>
      </p:sp>
    </p:spTree>
    <p:extLst>
      <p:ext uri="{BB962C8B-B14F-4D97-AF65-F5344CB8AC3E}">
        <p14:creationId xmlns:p14="http://schemas.microsoft.com/office/powerpoint/2010/main" val="3998728854"/>
      </p:ext>
    </p:extLst>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00784"/>
            <a:ext cx="11173968" cy="41422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W05-L03  •  TEACH  •  12:55 PM–1:10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Textbook  |  page 125</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8.1–8.2 pp.124–125; formula sheet p.219</a:t>
            </a:r>
          </a:p>
        </p:txBody>
      </p:sp>
      <p:pic>
        <p:nvPicPr>
          <p:cNvPr id="5" name="Picture 4" descr="W05-L03.png"/>
          <p:cNvPicPr>
            <a:picLocks noChangeAspect="1"/>
          </p:cNvPicPr>
          <p:nvPr/>
        </p:nvPicPr>
        <p:blipFill>
          <a:blip r:embed="rId3"/>
          <a:stretch>
            <a:fillRect/>
          </a:stretch>
        </p:blipFill>
        <p:spPr>
          <a:xfrm>
            <a:off x="685800" y="2467535"/>
            <a:ext cx="10698480" cy="2517289"/>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a:solidFill>
                  <a:srgbClr val="F7F8FC"/>
                </a:solidFill>
                <a:latin typeface="Arial"/>
              </a:rPr>
              <a:t>Textbook p.125 • Example 8.1 — Substitution into area and perimeter formulas</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15  •  2026-11-25  •  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00784"/>
            <a:ext cx="11173968" cy="41422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W05-L03  •  TEACH  •  12:55 PM–1:10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Textbook  |  page 125</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8.1–8.2 pp.124–125; formula sheet p.219</a:t>
            </a:r>
          </a:p>
        </p:txBody>
      </p:sp>
      <p:pic>
        <p:nvPicPr>
          <p:cNvPr id="5" name="Picture 4" descr="W05-L03-2.png"/>
          <p:cNvPicPr>
            <a:picLocks noChangeAspect="1"/>
          </p:cNvPicPr>
          <p:nvPr/>
        </p:nvPicPr>
        <p:blipFill>
          <a:blip r:embed="rId3"/>
          <a:stretch>
            <a:fillRect/>
          </a:stretch>
        </p:blipFill>
        <p:spPr>
          <a:xfrm>
            <a:off x="685800" y="2038100"/>
            <a:ext cx="10698480" cy="3376159"/>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a:solidFill>
                  <a:srgbClr val="F7F8FC"/>
                </a:solidFill>
                <a:latin typeface="Arial"/>
              </a:rPr>
              <a:t>Textbook p.125 • Example 8.1 — Brackets, calculator checks and units</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15  •  2026-11-25  •  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760023"/>
        </a:solidFill>
        <a:effectLst/>
      </p:bgPr>
    </p:bg>
    <p:spTree>
      <p:nvGrpSpPr>
        <p:cNvPr id="1" name=""/>
        <p:cNvGrpSpPr/>
        <p:nvPr/>
      </p:nvGrpSpPr>
      <p:grpSpPr/>
      <p:sp>
        <p:nvSpPr>
          <p:cNvPr id="15" name="Rectangle 14"/>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93776" y="4453128"/>
            <a:ext cx="11192256" cy="1481328"/>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W05-L03  •  TEACH  •  12:55 PM–1:10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Spot the mistake. Explain the correction.</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8.1–8.2 pp.124–125; formula sheet p.219</a:t>
            </a:r>
          </a:p>
        </p:txBody>
      </p:sp>
      <p:sp>
        <p:nvSpPr>
          <p:cNvPr id="5" name="TextBox 4"/>
          <p:cNvSpPr txBox="1"/>
          <p:nvPr/>
        </p:nvSpPr>
        <p:spPr>
          <a:xfrm>
            <a:off x="612648" y="1847088"/>
            <a:ext cx="10927080" cy="1554480"/>
          </a:xfrm>
          <a:prstGeom prst="rect">
            <a:avLst/>
          </a:prstGeom>
          <a:noFill/>
        </p:spPr>
        <p:txBody>
          <a:bodyPr wrap="square" lIns="0" rIns="0" tIns="0" bIns="0" anchor="t">
            <a:normAutofit fontScale="100000" lnSpcReduction="0"/>
          </a:bodyPr>
          <a:lstStyle/>
          <a:p>
            <a:pPr>
              <a:spcBef>
                <a:spcPts val="0"/>
              </a:spcBef>
              <a:spcAft>
                <a:spcPts val="300"/>
              </a:spcAft>
              <a:defRPr sz="2600" b="1">
                <a:solidFill>
                  <a:srgbClr val="111218"/>
                </a:solidFill>
                <a:latin typeface="Arial"/>
              </a:defRPr>
            </a:pPr>
            <a:r>
              <a:rPr>
                <a:solidFill>
                  <a:srgbClr val="FFFFFF"/>
                </a:solidFill>
                <a:latin typeface="Arial"/>
              </a:rPr>
              <a:t>If two rectangles have the same area, must one fit exactly over the other?</a:t>
            </a:r>
          </a:p>
        </p:txBody>
      </p:sp>
      <p:sp>
        <p:nvSpPr>
          <p:cNvPr id="6" name="TextBox 5"/>
          <p:cNvSpPr txBox="1"/>
          <p:nvPr/>
        </p:nvSpPr>
        <p:spPr>
          <a:xfrm>
            <a:off x="612648" y="3703320"/>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2000" b="0">
                <a:solidFill>
                  <a:srgbClr val="D2181F"/>
                </a:solidFill>
                <a:latin typeface="Arial"/>
              </a:defRPr>
            </a:pPr>
            <a:r>
              <a:rPr>
                <a:solidFill>
                  <a:srgbClr val="FFFFFF"/>
                </a:solidFill>
                <a:latin typeface="Arial"/>
              </a:rPr>
              <a:t>Discuss the method before checking the answer.</a:t>
            </a:r>
          </a:p>
        </p:txBody>
      </p:sp>
      <p:sp>
        <p:nvSpPr>
          <p:cNvPr id="7" name="TextBox 6"/>
          <p:cNvSpPr txBox="1"/>
          <p:nvPr/>
        </p:nvSpPr>
        <p:spPr>
          <a:xfrm>
            <a:off x="612648" y="4617720"/>
            <a:ext cx="10927080" cy="118872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4A4E54"/>
                </a:solidFill>
                <a:latin typeface="Arial"/>
              </a:defRPr>
            </a:pPr>
            <a:r>
              <a:rPr b="1">
                <a:solidFill>
                  <a:srgbClr val="111218"/>
                </a:solidFill>
                <a:latin typeface="Arial"/>
              </a:rPr>
              <a:t>No. Compare their length and width as well; equal products can have different dimensions.</a:t>
            </a:r>
          </a:p>
        </p:txBody>
      </p:sp>
      <p:pic>
        <p:nvPicPr>
          <p:cNvPr id="8" name="Picture 7"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TextBox 9"/>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1" name="TextBox 10"/>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2" name="TextBox 11"/>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3" name="TextBox 12"/>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4" name="TextBox 13"/>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15  •  2026-11-25  •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W05-L03  •  TOGETHER  •  1:10 PM–1:25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Work together</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sections 8.1–8.2 pp.124–125; formula sheet p.219</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Work Exercise Book 8A Q2–4 and Q7. Name each quantity before entering calculator keys.</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Work in pairs, alternating solver and checker. Write a diagram, formula, units and estimate.</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424957"/>
                </a:solidFill>
                <a:latin typeface="Arial"/>
              </a:rPr>
              <a:t>Resources: Exercise Book 8A Q1–8 (p.51); 8B Q12 (p.54)</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15  •  2026-11-25  •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W05-L03  •  TOGETHER  •  1:10 PM–1:25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Guided practice  |  8A Q2</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8.1–8.2 pp.124–125; formula sheet p.219</a:t>
            </a:r>
          </a:p>
        </p:txBody>
      </p:sp>
      <p:pic>
        <p:nvPicPr>
          <p:cNvPr id="5" name="Picture 4" descr="8A-Q2.png"/>
          <p:cNvPicPr>
            <a:picLocks noChangeAspect="1"/>
          </p:cNvPicPr>
          <p:nvPr/>
        </p:nvPicPr>
        <p:blipFill>
          <a:blip r:embed="rId3"/>
          <a:stretch>
            <a:fillRect/>
          </a:stretch>
        </p:blipFill>
        <p:spPr>
          <a:xfrm>
            <a:off x="685800" y="3134106"/>
            <a:ext cx="10698480" cy="891540"/>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Work with a partner. Take turns explaining the next step.</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15  •  2026-11-25  •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5" name="Rectangle 14"/>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12064" y="1764792"/>
            <a:ext cx="11173968" cy="16459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512064" y="3511296"/>
            <a:ext cx="11173968" cy="2331720"/>
          </a:xfrm>
          <a:prstGeom prst="roundRect">
            <a:avLst>
              <a:gd name="adj" fmla="val 8000"/>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W05-L03  •  TOGETHER  •  1:10 PM–1:25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Compare your method  |  8A Q2</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8.1–8.2 pp.124–125; formula sheet p.219</a:t>
            </a:r>
          </a:p>
        </p:txBody>
      </p:sp>
      <p:pic>
        <p:nvPicPr>
          <p:cNvPr id="5" name="Picture 4" descr="8A-Q2.png"/>
          <p:cNvPicPr>
            <a:picLocks noChangeAspect="1"/>
          </p:cNvPicPr>
          <p:nvPr/>
        </p:nvPicPr>
        <p:blipFill>
          <a:blip r:embed="rId3"/>
          <a:stretch>
            <a:fillRect/>
          </a:stretch>
        </p:blipFill>
        <p:spPr>
          <a:xfrm>
            <a:off x="685800" y="2091690"/>
            <a:ext cx="10698480" cy="891540"/>
          </a:xfrm>
          <a:prstGeom prst="rect">
            <a:avLst/>
          </a:prstGeom>
        </p:spPr>
      </p:pic>
      <p:sp>
        <p:nvSpPr>
          <p:cNvPr id="6" name="TextBox 5"/>
          <p:cNvSpPr txBox="1"/>
          <p:nvPr/>
        </p:nvSpPr>
        <p:spPr>
          <a:xfrm>
            <a:off x="685800" y="3611880"/>
            <a:ext cx="2743200" cy="320040"/>
          </a:xfrm>
          <a:prstGeom prst="rect">
            <a:avLst/>
          </a:prstGeom>
          <a:noFill/>
        </p:spPr>
        <p:txBody>
          <a:bodyPr wrap="square" lIns="0" rIns="0" tIns="0" bIns="0" anchor="t">
            <a:normAutofit fontScale="100000" lnSpcReduction="0"/>
          </a:bodyPr>
          <a:lstStyle/>
          <a:p>
            <a:pPr>
              <a:spcBef>
                <a:spcPts val="0"/>
              </a:spcBef>
              <a:spcAft>
                <a:spcPts val="300"/>
              </a:spcAft>
              <a:defRPr sz="1400" b="1">
                <a:solidFill>
                  <a:srgbClr val="D2181F"/>
                </a:solidFill>
                <a:latin typeface="Arial"/>
              </a:defRPr>
            </a:pPr>
            <a:r>
              <a:rPr b="1" sz="1400">
                <a:solidFill>
                  <a:srgbClr val="111218"/>
                </a:solidFill>
                <a:latin typeface="Arial"/>
              </a:rPr>
              <a:t>CHECK TOGETHER</a:t>
            </a:r>
          </a:p>
        </p:txBody>
      </p:sp>
      <p:sp>
        <p:nvSpPr>
          <p:cNvPr id="7" name="TextBox 6"/>
          <p:cNvSpPr txBox="1"/>
          <p:nvPr/>
        </p:nvSpPr>
        <p:spPr>
          <a:xfrm>
            <a:off x="685800" y="4114800"/>
            <a:ext cx="10698480" cy="868680"/>
          </a:xfrm>
          <a:prstGeom prst="rect">
            <a:avLst/>
          </a:prstGeom>
          <a:noFill/>
        </p:spPr>
        <p:txBody>
          <a:bodyPr wrap="square" lIns="0" rIns="0" tIns="0" bIns="0" anchor="t">
            <a:normAutofit fontScale="100000" lnSpcReduction="0"/>
          </a:bodyPr>
          <a:lstStyle/>
          <a:p>
            <a:pPr>
              <a:spcBef>
                <a:spcPts val="0"/>
              </a:spcBef>
              <a:spcAft>
                <a:spcPts val="300"/>
              </a:spcAft>
              <a:defRPr sz="2700" b="1">
                <a:solidFill>
                  <a:srgbClr val="111218"/>
                </a:solidFill>
                <a:latin typeface="Arial"/>
              </a:defRPr>
            </a:pPr>
            <a:r>
              <a:rPr b="1" sz="3400">
                <a:solidFill>
                  <a:srgbClr val="111218"/>
                </a:solidFill>
                <a:latin typeface="Arial"/>
              </a:rPr>
              <a:t>3 × a × b and π × r × r</a:t>
            </a:r>
          </a:p>
        </p:txBody>
      </p:sp>
      <p:pic>
        <p:nvPicPr>
          <p:cNvPr id="8" name="Picture 7" descr="access-logo.png"/>
          <p:cNvPicPr>
            <a:picLocks noChangeAspect="1"/>
          </p:cNvPicPr>
          <p:nvPr/>
        </p:nvPicPr>
        <p:blipFill>
          <a:blip r:embed="rId4"/>
          <a:stretch>
            <a:fillRect/>
          </a:stretch>
        </p:blipFill>
        <p:spPr>
          <a:xfrm>
            <a:off x="10177272" y="146304"/>
            <a:ext cx="1371600" cy="689145"/>
          </a:xfrm>
          <a:prstGeom prst="rect">
            <a:avLst/>
          </a:prstGeom>
        </p:spPr>
      </p:pic>
      <p:sp>
        <p:nvSpPr>
          <p:cNvPr id="10" name="TextBox 9"/>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1" name="TextBox 10"/>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2" name="TextBox 11"/>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3" name="TextBox 12"/>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4" name="TextBox 13"/>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15  •  2026-11-25  •  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W05-L03  •  PRACTISE  •  1:25 PM–1:45 PM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Your scheduled practice</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sections 8.1–8.2 pp.124–125; formula sheet p.219</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Complete Exercise Book 8A Q5–6,8 and 8B Q12. Use Shape Canvas dimensions to verify substituted values; treat formula applications as introductions, not full geometry mastery.</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Solve on paper first; check with tools; correct one error and explain the change.</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424957"/>
                </a:solidFill>
                <a:latin typeface="Arial"/>
              </a:rPr>
              <a:t>Resources: Exercise Book 8A Q1–8 (p.51); 8B Q12 (p.54)</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15  •  2026-11-25  •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664208"/>
            <a:ext cx="11173968" cy="427939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W05-L03  •  PRACTISE  •  1:25 PM–1:45 PM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Open Shape Canvas</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8.1–8.2 pp.124–125; formula sheet p.219</a:t>
            </a:r>
          </a:p>
        </p:txBody>
      </p:sp>
      <p:pic>
        <p:nvPicPr>
          <p:cNvPr id="5" name="Picture 4" descr="shape-rectangle.png"/>
          <p:cNvPicPr>
            <a:picLocks noChangeAspect="1"/>
          </p:cNvPicPr>
          <p:nvPr/>
        </p:nvPicPr>
        <p:blipFill>
          <a:blip r:embed="rId3"/>
          <a:stretch>
            <a:fillRect/>
          </a:stretch>
        </p:blipFill>
        <p:spPr>
          <a:xfrm>
            <a:off x="3014776" y="1664208"/>
            <a:ext cx="6122822" cy="4251960"/>
          </a:xfrm>
          <a:prstGeom prst="rect">
            <a:avLst/>
          </a:prstGeom>
        </p:spPr>
      </p:pic>
      <p:sp>
        <p:nvSpPr>
          <p:cNvPr id="6" name="TextBox 5"/>
          <p:cNvSpPr txBox="1"/>
          <p:nvPr/>
        </p:nvSpPr>
        <p:spPr>
          <a:xfrm>
            <a:off x="612648" y="5998464"/>
            <a:ext cx="10927080" cy="256032"/>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F7F8FC"/>
                </a:solidFill>
                <a:latin typeface="Arial"/>
              </a:rPr>
              <a:t>Navigation example. Use the values and units in the assigned task.</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15  •  2026-11-25  •  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8" name="Rectangle 17"/>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02920" y="1737360"/>
            <a:ext cx="11183112" cy="1197864"/>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02920" y="3035808"/>
            <a:ext cx="11183112" cy="1197864"/>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502920" y="4334256"/>
            <a:ext cx="11183112" cy="1197864"/>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W05-L03  •  PRACTISE  •  1:25 PM–1:45 PM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Practise in Numeracy Hub and Shape Canvas</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8.1–8.2 pp.124–125; formula sheet p.219</a:t>
            </a:r>
          </a:p>
        </p:txBody>
      </p:sp>
      <p:sp>
        <p:nvSpPr>
          <p:cNvPr id="5" name="Rectangle 4"/>
          <p:cNvSpPr/>
          <p:nvPr/>
        </p:nvSpPr>
        <p:spPr>
          <a:xfrm>
            <a:off x="658368" y="1828800"/>
            <a:ext cx="365760" cy="3657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800" b="1">
                <a:solidFill>
                  <a:srgbClr val="111218"/>
                </a:solidFill>
                <a:latin typeface="Arial"/>
              </a:defRPr>
            </a:pPr>
            <a:r>
              <a:rPr b="1" sz="2000">
                <a:solidFill>
                  <a:srgbClr val="111218"/>
                </a:solidFill>
                <a:latin typeface="Arial"/>
              </a:rPr>
              <a:t>1</a:t>
            </a:r>
          </a:p>
        </p:txBody>
      </p:sp>
      <p:sp>
        <p:nvSpPr>
          <p:cNvPr id="6" name="TextBox 5"/>
          <p:cNvSpPr txBox="1"/>
          <p:nvPr/>
        </p:nvSpPr>
        <p:spPr>
          <a:xfrm>
            <a:off x="1234440" y="1828800"/>
            <a:ext cx="10149840" cy="109728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In Numeracy Hub Shape Studio, compare Letters and values with Calculations.</a:t>
            </a:r>
          </a:p>
        </p:txBody>
      </p:sp>
      <p:sp>
        <p:nvSpPr>
          <p:cNvPr id="7" name="Rectangle 6"/>
          <p:cNvSpPr/>
          <p:nvPr/>
        </p:nvSpPr>
        <p:spPr>
          <a:xfrm>
            <a:off x="658368" y="3127248"/>
            <a:ext cx="365760" cy="3657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800" b="1">
                <a:solidFill>
                  <a:srgbClr val="111218"/>
                </a:solidFill>
                <a:latin typeface="Arial"/>
              </a:defRPr>
            </a:pPr>
            <a:r>
              <a:rPr b="1" sz="2000">
                <a:solidFill>
                  <a:srgbClr val="111218"/>
                </a:solidFill>
                <a:latin typeface="Arial"/>
              </a:rPr>
              <a:t>2</a:t>
            </a:r>
          </a:p>
        </p:txBody>
      </p:sp>
      <p:sp>
        <p:nvSpPr>
          <p:cNvPr id="8" name="TextBox 7"/>
          <p:cNvSpPr txBox="1"/>
          <p:nvPr/>
        </p:nvSpPr>
        <p:spPr>
          <a:xfrm>
            <a:off x="1234440" y="3127248"/>
            <a:ext cx="10149840" cy="109728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Create the assigned rectangle in Shape Canvas and show its sizes and formula.</a:t>
            </a:r>
          </a:p>
        </p:txBody>
      </p:sp>
      <p:sp>
        <p:nvSpPr>
          <p:cNvPr id="9" name="Rectangle 8"/>
          <p:cNvSpPr/>
          <p:nvPr/>
        </p:nvSpPr>
        <p:spPr>
          <a:xfrm>
            <a:off x="658368" y="4425696"/>
            <a:ext cx="365760" cy="3657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800" b="1">
                <a:solidFill>
                  <a:srgbClr val="111218"/>
                </a:solidFill>
                <a:latin typeface="Arial"/>
              </a:defRPr>
            </a:pPr>
            <a:r>
              <a:rPr b="1" sz="2000">
                <a:solidFill>
                  <a:srgbClr val="111218"/>
                </a:solidFill>
                <a:latin typeface="Arial"/>
              </a:rPr>
              <a:t>3</a:t>
            </a:r>
          </a:p>
        </p:txBody>
      </p:sp>
      <p:sp>
        <p:nvSpPr>
          <p:cNvPr id="10" name="TextBox 9"/>
          <p:cNvSpPr txBox="1"/>
          <p:nvPr/>
        </p:nvSpPr>
        <p:spPr>
          <a:xfrm>
            <a:off x="1234440" y="4425696"/>
            <a:ext cx="10149840" cy="109728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Substitute the labelled dimensions on paper, then compare with the tool calculation.</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3" name="TextBox 12"/>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4" name="TextBox 13"/>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5" name="TextBox 14"/>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6" name="TextBox 15"/>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7" name="TextBox 16"/>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15  •  2026-11-25  •  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W05-L03  •  PRACTISE  •  1:25 PM–1:45 PM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Practise from the Exercise Book  |  8A Q5</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8.1–8.2 pp.124–125; formula sheet p.219</a:t>
            </a:r>
          </a:p>
        </p:txBody>
      </p:sp>
      <p:pic>
        <p:nvPicPr>
          <p:cNvPr id="5" name="Picture 4" descr="8A-Q5.png"/>
          <p:cNvPicPr>
            <a:picLocks noChangeAspect="1"/>
          </p:cNvPicPr>
          <p:nvPr/>
        </p:nvPicPr>
        <p:blipFill>
          <a:blip r:embed="rId3"/>
          <a:srcRect l="864" t="13333" r="5926" b="26667"/>
          <a:stretch>
            <a:fillRect/>
          </a:stretch>
        </p:blipFill>
        <p:spPr>
          <a:xfrm>
            <a:off x="778256" y="1920240"/>
            <a:ext cx="9972040" cy="534924"/>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15  •  2026-11-25  •  17</a:t>
            </a:r>
          </a:p>
        </p:txBody>
      </p:sp>
      <p:pic>
        <p:nvPicPr>
          <p:cNvPr id="20" name="Visual circle 450 mm" descr="Circle with a diameter line through the centre labelled D = 450 mm. Beside it: circumference C, question mark."/>
          <p:cNvPicPr>
            <a:picLocks noChangeAspect="1"/>
          </p:cNvPicPr>
          <p:nvPr/>
        </p:nvPicPr>
        <p:blipFill>
          <a:blip r:embed="rId9"/>
          <a:stretch>
            <a:fillRect/>
          </a:stretch>
        </p:blipFill>
        <p:spPr>
          <a:xfrm>
            <a:off x="2898648" y="2622042"/>
            <a:ext cx="6400800" cy="27432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W05-L03  •  PRACTISE  •  1:25 PM–1:45 PM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Practise from the Exercise Book  |  8A Q6</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8.1–8.2 pp.124–125; formula sheet p.219</a:t>
            </a:r>
          </a:p>
        </p:txBody>
      </p:sp>
      <p:pic>
        <p:nvPicPr>
          <p:cNvPr id="5" name="Picture 4" descr="8A-Q6.png"/>
          <p:cNvPicPr>
            <a:picLocks noChangeAspect="1"/>
          </p:cNvPicPr>
          <p:nvPr/>
        </p:nvPicPr>
        <p:blipFill>
          <a:blip r:embed="rId3"/>
          <a:srcRect l="864" t="13333" r="9383" b="26667"/>
          <a:stretch>
            <a:fillRect/>
          </a:stretch>
        </p:blipFill>
        <p:spPr>
          <a:xfrm>
            <a:off x="778256" y="1920240"/>
            <a:ext cx="9602216" cy="534924"/>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15  •  2026-11-25  •  18</a:t>
            </a:r>
          </a:p>
        </p:txBody>
      </p:sp>
      <p:pic>
        <p:nvPicPr>
          <p:cNvPr id="20" name="Visual circle 35 mm radius" descr="Circle with a radius line from the centre to the edge labelled r = 35 mm. Beside it: area A, question mark."/>
          <p:cNvPicPr>
            <a:picLocks noChangeAspect="1"/>
          </p:cNvPicPr>
          <p:nvPr/>
        </p:nvPicPr>
        <p:blipFill>
          <a:blip r:embed="rId9"/>
          <a:stretch>
            <a:fillRect/>
          </a:stretch>
        </p:blipFill>
        <p:spPr>
          <a:xfrm>
            <a:off x="2898648" y="2622042"/>
            <a:ext cx="6400800" cy="27432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760023"/>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W05-L03  •  CHECK  •  1:45 PM–1:55 PM  •  10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Check independently</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8.1–8.2 pp.124–125; formula sheet p.219</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Exercise Book 8A Q3–4; label the result as area or perimeter and include units.</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Solve without displayed answers; include working, units and final rounding.</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F7F8FC"/>
                </a:solidFill>
                <a:latin typeface="Arial"/>
              </a:rPr>
              <a:t>Resources: Exercise Book 8A Q1–8 (p.51); 8B Q12 (p.54)</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15  •  2026-11-25  •  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W05-L03  •  CHECK  •  1:45 PM–1:55 PM  •  10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Independent check  |  8A Q3</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8.1–8.2 pp.124–125; formula sheet p.219</a:t>
            </a:r>
          </a:p>
        </p:txBody>
      </p:sp>
      <p:pic>
        <p:nvPicPr>
          <p:cNvPr id="5" name="Picture 4" descr="8A-Q3.png"/>
          <p:cNvPicPr>
            <a:picLocks noChangeAspect="1"/>
          </p:cNvPicPr>
          <p:nvPr/>
        </p:nvPicPr>
        <p:blipFill>
          <a:blip r:embed="rId3"/>
          <a:srcRect l="864" t="13333" r="32531" b="33333"/>
          <a:stretch>
            <a:fillRect/>
          </a:stretch>
        </p:blipFill>
        <p:spPr>
          <a:xfrm>
            <a:off x="778256" y="1920240"/>
            <a:ext cx="7125716" cy="475488"/>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Answer independently. Keep worked solutions closed.</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15  •  2026-11-25  •  20</a:t>
            </a:r>
          </a:p>
        </p:txBody>
      </p:sp>
      <p:pic>
        <p:nvPicPr>
          <p:cNvPr id="20" name="Visual rectangle 3.6 m by 2.5 m" descr="Rectangle with the length labelled l = 3.6 m and the width labelled w = 2.5 m. Beside it: area A, question mark."/>
          <p:cNvPicPr>
            <a:picLocks noChangeAspect="1"/>
          </p:cNvPicPr>
          <p:nvPr/>
        </p:nvPicPr>
        <p:blipFill>
          <a:blip r:embed="rId9"/>
          <a:stretch>
            <a:fillRect/>
          </a:stretch>
        </p:blipFill>
        <p:spPr>
          <a:xfrm>
            <a:off x="2441448" y="2592324"/>
            <a:ext cx="7315200" cy="27432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W05-L03  •  CHECK  •  1:45 PM–1:55 PM  •  10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Independent check  |  8A Q4</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8.1–8.2 pp.124–125; formula sheet p.219</a:t>
            </a:r>
          </a:p>
        </p:txBody>
      </p:sp>
      <p:pic>
        <p:nvPicPr>
          <p:cNvPr id="5" name="Picture 4" descr="8A-Q4.png"/>
          <p:cNvPicPr>
            <a:picLocks noChangeAspect="1"/>
          </p:cNvPicPr>
          <p:nvPr/>
        </p:nvPicPr>
        <p:blipFill>
          <a:blip r:embed="rId3"/>
          <a:srcRect l="864" t="13333" r="16235" b="26667"/>
          <a:stretch>
            <a:fillRect/>
          </a:stretch>
        </p:blipFill>
        <p:spPr>
          <a:xfrm>
            <a:off x="778256" y="1920240"/>
            <a:ext cx="8869172" cy="534924"/>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Answer independently. Keep worked solutions closed.</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15  •  2026-11-25  •  21</a:t>
            </a:r>
          </a:p>
        </p:txBody>
      </p:sp>
      <p:pic>
        <p:nvPicPr>
          <p:cNvPr id="20" name="Visual rectangle 1,250 mm by 875 mm" descr="Rectangle with the length labelled l = 1,250 mm and the width labelled w = 875 mm. Beside it: perimeter P, question mark."/>
          <p:cNvPicPr>
            <a:picLocks noChangeAspect="1"/>
          </p:cNvPicPr>
          <p:nvPr/>
        </p:nvPicPr>
        <p:blipFill>
          <a:blip r:embed="rId9"/>
          <a:stretch>
            <a:fillRect/>
          </a:stretch>
        </p:blipFill>
        <p:spPr>
          <a:xfrm>
            <a:off x="2258568" y="2623062"/>
            <a:ext cx="7680960" cy="274116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W05-L03  •  WRAP UP  •  1:55 PM–2:00 PM  •  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Wrap up and choose the next step</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8.1–8.2 pp.124–125; formula sheet p.219</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Ask: What changed in your understanding? Where will you use it? What should you check next time?</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Name the math and one other essential skill used; record a next practice step.</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F7F8FC"/>
                </a:solidFill>
                <a:latin typeface="Arial"/>
              </a:rPr>
              <a:t>Resources: Exercise Book 8A Q1–8 (p.51); 8B Q12 (p.54)</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15  •  2026-11-25  •  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493776" y="1965960"/>
            <a:ext cx="11192256" cy="288036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57200"/>
            <a:ext cx="9418320" cy="274320"/>
          </a:xfrm>
          <a:prstGeom prst="rect">
            <a:avLst/>
          </a:prstGeom>
          <a:noFill/>
        </p:spPr>
        <p:txBody>
          <a:bodyPr wrap="square" lIns="0" rIns="0" tIns="0" bIns="0" anchor="t">
            <a:normAutofit fontScale="100000" lnSpcReduction="0"/>
          </a:bodyPr>
          <a:lstStyle/>
          <a:p>
            <a:pPr>
              <a:spcBef>
                <a:spcPts val="0"/>
              </a:spcBef>
              <a:spcAft>
                <a:spcPts val="0"/>
              </a:spcAft>
              <a:defRPr sz="1200" b="1">
                <a:solidFill>
                  <a:srgbClr val="D2181F"/>
                </a:solidFill>
                <a:latin typeface="Arial"/>
              </a:defRPr>
            </a:pPr>
            <a:r>
              <a:rPr>
                <a:solidFill>
                  <a:srgbClr val="FFFFFF"/>
                </a:solidFill>
                <a:latin typeface="Arial"/>
              </a:rPr>
              <a:t>DAY 15  •  SCHEDULED BREAK</a:t>
            </a:r>
          </a:p>
        </p:txBody>
      </p:sp>
      <p:sp>
        <p:nvSpPr>
          <p:cNvPr id="3" name="TextBox 2"/>
          <p:cNvSpPr txBox="1"/>
          <p:nvPr/>
        </p:nvSpPr>
        <p:spPr>
          <a:xfrm>
            <a:off x="612648" y="896112"/>
            <a:ext cx="10972800" cy="621792"/>
          </a:xfrm>
          <a:prstGeom prst="rect">
            <a:avLst/>
          </a:prstGeom>
          <a:noFill/>
        </p:spPr>
        <p:txBody>
          <a:bodyPr wrap="square" lIns="0" rIns="0" tIns="0" bIns="0" anchor="t">
            <a:normAutofit fontScale="100000" lnSpcReduction="0"/>
          </a:bodyPr>
          <a:lstStyle/>
          <a:p>
            <a:pPr>
              <a:spcBef>
                <a:spcPts val="0"/>
              </a:spcBef>
              <a:spcAft>
                <a:spcPts val="0"/>
              </a:spcAft>
              <a:defRPr sz="3600" b="1">
                <a:solidFill>
                  <a:srgbClr val="FFFFFF"/>
                </a:solidFill>
                <a:latin typeface="Arial"/>
              </a:defRPr>
            </a:pPr>
            <a:r>
              <a:rPr sz="3600" b="1">
                <a:solidFill>
                  <a:srgbClr val="FFFFFF"/>
                </a:solidFill>
                <a:latin typeface="Arial"/>
              </a:rPr>
              <a:t>Break</a:t>
            </a:r>
          </a:p>
        </p:txBody>
      </p:sp>
      <p:sp>
        <p:nvSpPr>
          <p:cNvPr id="4" name="TextBox 3"/>
          <p:cNvSpPr txBox="1"/>
          <p:nvPr/>
        </p:nvSpPr>
        <p:spPr>
          <a:xfrm>
            <a:off x="822960" y="2423160"/>
            <a:ext cx="10515600" cy="685800"/>
          </a:xfrm>
          <a:prstGeom prst="rect">
            <a:avLst/>
          </a:prstGeom>
          <a:noFill/>
        </p:spPr>
        <p:txBody>
          <a:bodyPr wrap="square" lIns="0" rIns="0" tIns="0" bIns="0" anchor="t">
            <a:normAutofit fontScale="100000" lnSpcReduction="0"/>
          </a:bodyPr>
          <a:lstStyle/>
          <a:p>
            <a:pPr>
              <a:spcBef>
                <a:spcPts val="0"/>
              </a:spcBef>
              <a:spcAft>
                <a:spcPts val="0"/>
              </a:spcAft>
              <a:defRPr sz="3800" b="1">
                <a:solidFill>
                  <a:srgbClr val="FFC400"/>
                </a:solidFill>
                <a:latin typeface="Arial"/>
              </a:defRPr>
            </a:pPr>
            <a:r>
              <a:rPr sz="3800" b="1">
                <a:solidFill>
                  <a:srgbClr val="FFC400"/>
                </a:solidFill>
                <a:latin typeface="Arial"/>
              </a:rPr>
              <a:t>2:00 PM–2:15 PM</a:t>
            </a:r>
          </a:p>
        </p:txBody>
      </p:sp>
      <p:sp>
        <p:nvSpPr>
          <p:cNvPr id="5" name="TextBox 4"/>
          <p:cNvSpPr txBox="1"/>
          <p:nvPr/>
        </p:nvSpPr>
        <p:spPr>
          <a:xfrm>
            <a:off x="822960" y="3474720"/>
            <a:ext cx="10515600" cy="960120"/>
          </a:xfrm>
          <a:prstGeom prst="rect">
            <a:avLst/>
          </a:prstGeom>
          <a:noFill/>
        </p:spPr>
        <p:txBody>
          <a:bodyPr wrap="square" lIns="0" rIns="0" tIns="0" bIns="0" anchor="t">
            <a:normAutofit fontScale="100000" lnSpcReduction="0"/>
          </a:bodyPr>
          <a:lstStyle/>
          <a:p>
            <a:pPr>
              <a:spcBef>
                <a:spcPts val="0"/>
              </a:spcBef>
              <a:spcAft>
                <a:spcPts val="0"/>
              </a:spcAft>
              <a:defRPr sz="2600" b="0">
                <a:solidFill>
                  <a:srgbClr val="FFFFFF"/>
                </a:solidFill>
                <a:latin typeface="Arial"/>
              </a:defRPr>
            </a:pPr>
            <a:r>
              <a:rPr sz="2600">
                <a:solidFill>
                  <a:srgbClr val="FFFFFF"/>
                </a:solidFill>
                <a:latin typeface="Arial"/>
              </a:rPr>
              <a:t>Return ready for: Rearranging formulas and checking backwards</a:t>
            </a:r>
          </a:p>
        </p:txBody>
      </p:sp>
      <p:sp>
        <p:nvSpPr>
          <p:cNvPr id="6" name="TextBox 5"/>
          <p:cNvSpPr txBox="1"/>
          <p:nvPr/>
        </p:nvSpPr>
        <p:spPr>
          <a:xfrm>
            <a:off x="822960" y="5285232"/>
            <a:ext cx="10515600" cy="502920"/>
          </a:xfrm>
          <a:prstGeom prst="rect">
            <a:avLst/>
          </a:prstGeom>
          <a:noFill/>
        </p:spPr>
        <p:txBody>
          <a:bodyPr wrap="square" lIns="0" rIns="0" tIns="0" bIns="0" anchor="t">
            <a:normAutofit fontScale="100000" lnSpcReduction="0"/>
          </a:bodyPr>
          <a:lstStyle/>
          <a:p>
            <a:pPr>
              <a:spcBef>
                <a:spcPts val="0"/>
              </a:spcBef>
              <a:spcAft>
                <a:spcPts val="0"/>
              </a:spcAft>
              <a:defRPr sz="2100" b="0">
                <a:solidFill>
                  <a:srgbClr val="111218"/>
                </a:solidFill>
                <a:latin typeface="Arial"/>
              </a:defRPr>
            </a:pPr>
            <a:r>
              <a:rPr b="1" sz="2100">
                <a:solidFill>
                  <a:srgbClr val="111218"/>
                </a:solidFill>
                <a:latin typeface="Arial"/>
              </a:rPr>
              <a:t>This break is excluded from teaching minutes.</a:t>
            </a:r>
          </a:p>
        </p:txBody>
      </p:sp>
      <p:pic>
        <p:nvPicPr>
          <p:cNvPr id="7" name="Picture 6" descr="access-logo.png"/>
          <p:cNvPicPr>
            <a:picLocks noChangeAspect="1"/>
          </p:cNvPicPr>
          <p:nvPr/>
        </p:nvPicPr>
        <p:blipFill>
          <a:blip r:embed="rId3"/>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15  •  2026-11-25  •  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760023"/>
        </a:solidFill>
        <a:effectLst/>
      </p:bgPr>
    </p:bg>
    <p:spTree>
      <p:nvGrpSpPr>
        <p:cNvPr id="1" name=""/>
        <p:cNvGrpSpPr/>
        <p:nvPr/>
      </p:nvGrpSpPr>
      <p:grpSpPr/>
      <p:sp>
        <p:nvSpPr>
          <p:cNvPr id="18" name="Rectangle 17"/>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W05-L04  •  START  •  2:15 PM–2:20 PM  •  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Rearranging formulas and checking backwards</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8.3–8.5 pp.126–130; sections 8.7 p.134</a:t>
            </a:r>
          </a:p>
        </p:txBody>
      </p:sp>
      <p:sp>
        <p:nvSpPr>
          <p:cNvPr id="5" name="TextBox 4"/>
          <p:cNvSpPr txBox="1"/>
          <p:nvPr/>
        </p:nvSpPr>
        <p:spPr>
          <a:xfrm>
            <a:off x="612648" y="1856231"/>
            <a:ext cx="10927080" cy="1005840"/>
          </a:xfrm>
          <a:prstGeom prst="rect">
            <a:avLst/>
          </a:prstGeom>
          <a:noFill/>
        </p:spPr>
        <p:txBody>
          <a:bodyPr wrap="square" lIns="0" rIns="0" tIns="0" bIns="0" anchor="t">
            <a:normAutofit fontScale="100000" lnSpcReduction="0"/>
          </a:bodyPr>
          <a:lstStyle/>
          <a:p>
            <a:pPr>
              <a:spcBef>
                <a:spcPts val="0"/>
              </a:spcBef>
              <a:spcAft>
                <a:spcPts val="300"/>
              </a:spcAft>
              <a:defRPr sz="2400" b="1">
                <a:solidFill>
                  <a:srgbClr val="111218"/>
                </a:solidFill>
                <a:latin typeface="Arial"/>
              </a:defRPr>
            </a:pPr>
            <a:r>
              <a:rPr b="1">
                <a:solidFill>
                  <a:srgbClr val="FFFFFF"/>
                </a:solidFill>
                <a:latin typeface="Arial"/>
              </a:rPr>
              <a:t>Today’s goal: Rearrange one- and two-step formulas and validate a missing dimension by substitution.</a:t>
            </a:r>
          </a:p>
        </p:txBody>
      </p:sp>
      <p:sp>
        <p:nvSpPr>
          <p:cNvPr id="6" name="TextBox 5"/>
          <p:cNvSpPr txBox="1"/>
          <p:nvPr/>
        </p:nvSpPr>
        <p:spPr>
          <a:xfrm>
            <a:off x="612648" y="3154680"/>
            <a:ext cx="10927080" cy="59436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Describe a prior use of the skill; identify the given and unknown quantities.</a:t>
            </a:r>
          </a:p>
        </p:txBody>
      </p:sp>
      <p:sp>
        <p:nvSpPr>
          <p:cNvPr id="7" name="Rectangle 6"/>
          <p:cNvSpPr/>
          <p:nvPr/>
        </p:nvSpPr>
        <p:spPr>
          <a:xfrm>
            <a:off x="612648" y="4114800"/>
            <a:ext cx="10927080" cy="1371600"/>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8" name="TextBox 7"/>
          <p:cNvSpPr txBox="1"/>
          <p:nvPr/>
        </p:nvSpPr>
        <p:spPr>
          <a:xfrm>
            <a:off x="841248" y="4297680"/>
            <a:ext cx="1042416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111218"/>
                </a:solidFill>
                <a:latin typeface="Arial"/>
              </a:defRPr>
            </a:pPr>
            <a:r>
              <a:rPr>
                <a:solidFill>
                  <a:srgbClr val="111218"/>
                </a:solidFill>
                <a:latin typeface="Arial"/>
              </a:rPr>
              <a:t>Textbook sections 8.3–8.5 pp.126–130; sections 8.7 p.134</a:t>
            </a:r>
          </a:p>
        </p:txBody>
      </p:sp>
      <p:sp>
        <p:nvSpPr>
          <p:cNvPr id="9" name="TextBox 8"/>
          <p:cNvSpPr txBox="1"/>
          <p:nvPr/>
        </p:nvSpPr>
        <p:spPr>
          <a:xfrm>
            <a:off x="841248" y="4901184"/>
            <a:ext cx="10424160" cy="457200"/>
          </a:xfrm>
          <a:prstGeom prst="rect">
            <a:avLst/>
          </a:prstGeom>
          <a:noFill/>
        </p:spPr>
        <p:txBody>
          <a:bodyPr wrap="square" lIns="0" rIns="0" tIns="0" bIns="0" anchor="t">
            <a:normAutofit fontScale="100000" lnSpcReduction="0"/>
          </a:bodyPr>
          <a:lstStyle/>
          <a:p>
            <a:pPr>
              <a:spcBef>
                <a:spcPts val="0"/>
              </a:spcBef>
              <a:spcAft>
                <a:spcPts val="300"/>
              </a:spcAft>
              <a:defRPr sz="1600" b="0">
                <a:solidFill>
                  <a:srgbClr val="4A4E54"/>
                </a:solidFill>
                <a:latin typeface="Arial"/>
              </a:defRPr>
            </a:pPr>
            <a:r>
              <a:rPr>
                <a:solidFill>
                  <a:srgbClr val="111218"/>
                </a:solidFill>
                <a:latin typeface="Arial"/>
              </a:rPr>
              <a:t>Exercise Book 8A Q9–22 (pp.51–52), selected; 8B Q1,4 (p.53), Q15 (p.54)</a:t>
            </a:r>
          </a:p>
        </p:txBody>
      </p:sp>
      <p:sp>
        <p:nvSpPr>
          <p:cNvPr id="10" name="TextBox 9"/>
          <p:cNvSpPr txBox="1"/>
          <p:nvPr/>
        </p:nvSpPr>
        <p:spPr>
          <a:xfrm>
            <a:off x="612648" y="5806440"/>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D2181F"/>
                </a:solidFill>
                <a:latin typeface="Arial"/>
              </a:defRPr>
            </a:pPr>
            <a:r>
              <a:rPr>
                <a:solidFill>
                  <a:srgbClr val="F7F8FC"/>
                </a:solidFill>
                <a:latin typeface="Arial"/>
              </a:rPr>
              <a:t>Keep your notebook, textbook, exercise book and chosen calculator ready.</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3" name="TextBox 12"/>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4" name="TextBox 13"/>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5" name="TextBox 14"/>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6" name="TextBox 15"/>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7" name="TextBox 16"/>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15  •  2026-11-25  •  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W05-L04  •  RECALL  •  2:20 PM–2:25 PM  •  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Recall and reconnect</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sections 8.3–8.5 pp.126–130; sections 8.7 p.134</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Use Exercise Book 8A Q9,11. Discuss which inverse operation preserves equality.</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Attempt the retrieval task independently; explain the method before checking.</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424957"/>
                </a:solidFill>
                <a:latin typeface="Arial"/>
              </a:rPr>
              <a:t>Resources: Exercise Book 8A Q9–22 (pp.51–52), selected; 8B Q1,4 (p.53), Q15 (p.54)</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15  •  2026-11-25  •  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W05-L04  •  RECALL  •  2:20 PM–2:25 PM  •  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Recall from the Exercise Book  |  8A Q9</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8.3–8.5 pp.126–130; sections 8.7 p.134</a:t>
            </a:r>
          </a:p>
        </p:txBody>
      </p:sp>
      <p:pic>
        <p:nvPicPr>
          <p:cNvPr id="5" name="Picture 4" descr="8A-Q9.png"/>
          <p:cNvPicPr>
            <a:picLocks noChangeAspect="1"/>
          </p:cNvPicPr>
          <p:nvPr/>
        </p:nvPicPr>
        <p:blipFill>
          <a:blip r:embed="rId3"/>
          <a:srcRect l="864" t="13333" r="70123" b="33333"/>
          <a:stretch>
            <a:fillRect/>
          </a:stretch>
        </p:blipFill>
        <p:spPr>
          <a:xfrm>
            <a:off x="778256" y="1920240"/>
            <a:ext cx="3103880" cy="475488"/>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15  •  2026-11-25  •  26</a:t>
            </a:r>
          </a:p>
        </p:txBody>
      </p:sp>
      <p:pic>
        <p:nvPicPr>
          <p:cNvPr id="20" name="Visual bar x and 175" descr="Bar with a part labelled x joined to a part labelled 175. A dimension over the whole bar reads 640."/>
          <p:cNvPicPr>
            <a:picLocks noChangeAspect="1"/>
          </p:cNvPicPr>
          <p:nvPr/>
        </p:nvPicPr>
        <p:blipFill>
          <a:blip r:embed="rId9"/>
          <a:stretch>
            <a:fillRect/>
          </a:stretch>
        </p:blipFill>
        <p:spPr>
          <a:xfrm>
            <a:off x="1994936" y="2866644"/>
            <a:ext cx="8208224" cy="219456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20" name="Rectangle 19"/>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2648"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17920"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2648"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17920"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W05-L04  •  TEACH  •  2:25 PM–2:40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Undo operations on both sides</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sections 8.3–8.5 pp.126–130; sections 8.7 p.134</a:t>
            </a:r>
          </a:p>
        </p:txBody>
      </p:sp>
      <p:sp>
        <p:nvSpPr>
          <p:cNvPr id="5" name="Rectangle 4"/>
          <p:cNvSpPr/>
          <p:nvPr/>
        </p:nvSpPr>
        <p:spPr>
          <a:xfrm>
            <a:off x="795528" y="2029968"/>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1</a:t>
            </a:r>
          </a:p>
        </p:txBody>
      </p:sp>
      <p:sp>
        <p:nvSpPr>
          <p:cNvPr id="6" name="TextBox 5"/>
          <p:cNvSpPr txBox="1"/>
          <p:nvPr/>
        </p:nvSpPr>
        <p:spPr>
          <a:xfrm>
            <a:off x="1362456" y="2048256"/>
            <a:ext cx="4343400" cy="162763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Identify the unknown before rearranging the formula.</a:t>
            </a:r>
          </a:p>
        </p:txBody>
      </p:sp>
      <p:sp>
        <p:nvSpPr>
          <p:cNvPr id="7" name="Rectangle 6"/>
          <p:cNvSpPr/>
          <p:nvPr/>
        </p:nvSpPr>
        <p:spPr>
          <a:xfrm>
            <a:off x="6400800" y="2029968"/>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2</a:t>
            </a:r>
          </a:p>
        </p:txBody>
      </p:sp>
      <p:sp>
        <p:nvSpPr>
          <p:cNvPr id="8" name="TextBox 7"/>
          <p:cNvSpPr txBox="1"/>
          <p:nvPr/>
        </p:nvSpPr>
        <p:spPr>
          <a:xfrm>
            <a:off x="6967728" y="2048256"/>
            <a:ext cx="4343400" cy="162763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Use inverse operations: add/subtract and multiply/divide.</a:t>
            </a:r>
          </a:p>
        </p:txBody>
      </p:sp>
      <p:sp>
        <p:nvSpPr>
          <p:cNvPr id="9" name="Rectangle 8"/>
          <p:cNvSpPr/>
          <p:nvPr/>
        </p:nvSpPr>
        <p:spPr>
          <a:xfrm>
            <a:off x="795528" y="4059935"/>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3</a:t>
            </a:r>
          </a:p>
        </p:txBody>
      </p:sp>
      <p:sp>
        <p:nvSpPr>
          <p:cNvPr id="10" name="TextBox 9"/>
          <p:cNvSpPr txBox="1"/>
          <p:nvPr/>
        </p:nvSpPr>
        <p:spPr>
          <a:xfrm>
            <a:off x="1362456" y="4078224"/>
            <a:ext cx="4343400" cy="162763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Apply the same operation to both sides to preserve equality.</a:t>
            </a:r>
          </a:p>
        </p:txBody>
      </p:sp>
      <p:sp>
        <p:nvSpPr>
          <p:cNvPr id="11" name="Rectangle 10"/>
          <p:cNvSpPr/>
          <p:nvPr/>
        </p:nvSpPr>
        <p:spPr>
          <a:xfrm>
            <a:off x="6400800" y="4059935"/>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4</a:t>
            </a:r>
          </a:p>
        </p:txBody>
      </p:sp>
      <p:sp>
        <p:nvSpPr>
          <p:cNvPr id="12" name="TextBox 11"/>
          <p:cNvSpPr txBox="1"/>
          <p:nvPr/>
        </p:nvSpPr>
        <p:spPr>
          <a:xfrm>
            <a:off x="6967728" y="4078224"/>
            <a:ext cx="4343400" cy="162763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Keep the entire grouped expression together when dividing.</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5" name="TextBox 14"/>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6" name="TextBox 15"/>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7" name="TextBox 16"/>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8" name="TextBox 17"/>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9" name="TextBox 18"/>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15  •  2026-11-25  •  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20" name="Rectangle 19"/>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2648" y="1865376"/>
            <a:ext cx="5349240" cy="12435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17920" y="1865376"/>
            <a:ext cx="5349240" cy="12435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2648" y="3236976"/>
            <a:ext cx="5349240" cy="12435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17920" y="3236976"/>
            <a:ext cx="5349240" cy="12435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W05-L04  •  TEACH  •  2:25 PM–2:40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Check a missing dimension backwards</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sections 8.3–8.5 pp.126–130; sections 8.7 p.134</a:t>
            </a:r>
          </a:p>
        </p:txBody>
      </p:sp>
      <p:sp>
        <p:nvSpPr>
          <p:cNvPr id="5" name="Rectangle 4"/>
          <p:cNvSpPr/>
          <p:nvPr/>
        </p:nvSpPr>
        <p:spPr>
          <a:xfrm>
            <a:off x="795528" y="2029968"/>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1</a:t>
            </a:r>
          </a:p>
        </p:txBody>
      </p:sp>
      <p:sp>
        <p:nvSpPr>
          <p:cNvPr id="6" name="TextBox 5"/>
          <p:cNvSpPr txBox="1"/>
          <p:nvPr/>
        </p:nvSpPr>
        <p:spPr>
          <a:xfrm>
            <a:off x="1362456" y="2048256"/>
            <a:ext cx="4343400" cy="98755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For P = 2(l + w), divide by 2 before subtracting the known width.</a:t>
            </a:r>
          </a:p>
        </p:txBody>
      </p:sp>
      <p:sp>
        <p:nvSpPr>
          <p:cNvPr id="7" name="Rectangle 6"/>
          <p:cNvSpPr/>
          <p:nvPr/>
        </p:nvSpPr>
        <p:spPr>
          <a:xfrm>
            <a:off x="6400800" y="2029968"/>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2</a:t>
            </a:r>
          </a:p>
        </p:txBody>
      </p:sp>
      <p:sp>
        <p:nvSpPr>
          <p:cNvPr id="8" name="TextBox 7"/>
          <p:cNvSpPr txBox="1"/>
          <p:nvPr/>
        </p:nvSpPr>
        <p:spPr>
          <a:xfrm>
            <a:off x="6967728" y="2048256"/>
            <a:ext cx="4343400" cy="98755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The rearranged formula is l = P/2 − w.</a:t>
            </a:r>
          </a:p>
        </p:txBody>
      </p:sp>
      <p:sp>
        <p:nvSpPr>
          <p:cNvPr id="9" name="Rectangle 8"/>
          <p:cNvSpPr/>
          <p:nvPr/>
        </p:nvSpPr>
        <p:spPr>
          <a:xfrm>
            <a:off x="795528" y="3401567"/>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3</a:t>
            </a:r>
          </a:p>
        </p:txBody>
      </p:sp>
      <p:sp>
        <p:nvSpPr>
          <p:cNvPr id="10" name="TextBox 9"/>
          <p:cNvSpPr txBox="1"/>
          <p:nvPr/>
        </p:nvSpPr>
        <p:spPr>
          <a:xfrm>
            <a:off x="1362456" y="3419856"/>
            <a:ext cx="4343400" cy="98755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Insert the found length into the original perimeter equation.</a:t>
            </a:r>
          </a:p>
        </p:txBody>
      </p:sp>
      <p:sp>
        <p:nvSpPr>
          <p:cNvPr id="11" name="Rectangle 10"/>
          <p:cNvSpPr/>
          <p:nvPr/>
        </p:nvSpPr>
        <p:spPr>
          <a:xfrm>
            <a:off x="6400800" y="3401567"/>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4</a:t>
            </a:r>
          </a:p>
        </p:txBody>
      </p:sp>
      <p:sp>
        <p:nvSpPr>
          <p:cNvPr id="12" name="TextBox 11"/>
          <p:cNvSpPr txBox="1"/>
          <p:nvPr/>
        </p:nvSpPr>
        <p:spPr>
          <a:xfrm>
            <a:off x="6967728" y="3419856"/>
            <a:ext cx="4343400" cy="98755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Accept the result only when the original equation balances with correct units.</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5" name="TextBox 14"/>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6" name="TextBox 15"/>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7" name="TextBox 16"/>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8" name="TextBox 17"/>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9" name="TextBox 18"/>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15  •  2026-11-25  •  28</a:t>
            </a:r>
          </a:p>
        </p:txBody>
      </p:sp>
      <p:pic>
        <p:nvPicPr>
          <p:cNvPr id="32" name="Visual rearranging steps" descr="Four boxes joined by arrows: P = 2(l + w) start, P divided by 2 = l + w after dividing by 2, l = P divided by 2 minus w after subtracting w, check l back in P."/>
          <p:cNvPicPr>
            <a:picLocks noChangeAspect="1"/>
          </p:cNvPicPr>
          <p:nvPr/>
        </p:nvPicPr>
        <p:blipFill>
          <a:blip r:embed="rId8"/>
          <a:stretch>
            <a:fillRect/>
          </a:stretch>
        </p:blipFill>
        <p:spPr>
          <a:xfrm>
            <a:off x="622505" y="4626864"/>
            <a:ext cx="10934799" cy="146304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1">
    <p:bg>
      <p:bgPr>
        <a:solidFill>
          <a:srgbClr val="F7F8FC"/>
        </a:solidFill>
        <a:effectLst/>
      </p:bgPr>
    </p:bg>
    <p:spTree>
      <p:nvGrpSpPr>
        <p:cNvPr id="1" name=""/>
        <p:cNvGrpSpPr/>
        <p:nvPr/>
      </p:nvGrpSpPr>
      <p:grpSpPr>
        <a:xfrm>
          <a:off x="0" y="0"/>
          <a:ext cx="0" cy="0"/>
          <a:chOff x="0" y="0"/>
          <a:chExt cx="0" cy="0"/>
        </a:xfrm>
      </p:grpSpPr>
      <p:sp>
        <p:nvSpPr>
          <p:cNvPr id="17" name="Rectangle 16"/>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499857" y="2339340"/>
            <a:ext cx="11191982" cy="1234261"/>
          </a:xfrm>
          <a:prstGeom prst="roundRect">
            <a:avLst>
              <a:gd name="adj" fmla="val 8000"/>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 1"/>
          <p:cNvSpPr/>
          <p:nvPr/>
        </p:nvSpPr>
        <p:spPr>
          <a:xfrm>
            <a:off x="609585" y="381000"/>
            <a:ext cx="9418320" cy="213271"/>
          </a:xfrm>
          <a:prstGeom prst="rect">
            <a:avLst/>
          </a:prstGeom>
          <a:noFill/>
          <a:ln/>
        </p:spPr>
        <p:txBody>
          <a:bodyPr wrap="square" lIns="0" tIns="0" rIns="0" bIns="0" rtlCol="0" anchor="t">
            <a:normAutofit fontScale="100000" lnSpcReduction="0"/>
          </a:bodyPr>
          <a:lstStyle/>
          <a:p>
            <a:pPr marL="0" indent="0" algn="l">
              <a:buNone/>
              <a:defRPr sz="1150">
                <a:solidFill>
                  <a:srgbClr val="D2181F"/>
                </a:solidFill>
                <a:latin typeface="Arial"/>
              </a:defRPr>
            </a:pPr>
            <a:r>
              <a:rPr>
                <a:solidFill>
                  <a:srgbClr val="FFFFFF"/>
                </a:solidFill>
                <a:latin typeface="Arial"/>
              </a:rPr>
              <a:t>W05-L04  •  TEACH  •  2:25 PM–2:40 PM  •  15 MIN TOTAL</a:t>
            </a:r>
            <a:endParaRPr lang="en-US" sz="1200" dirty="0"/>
          </a:p>
        </p:txBody>
      </p:sp>
      <p:sp>
        <p:nvSpPr>
          <p:cNvPr id="4" name="Text 2"/>
          <p:cNvSpPr/>
          <p:nvPr/>
        </p:nvSpPr>
        <p:spPr>
          <a:xfrm>
            <a:off x="609585" y="896112"/>
            <a:ext cx="10972526" cy="621792"/>
          </a:xfrm>
          <a:prstGeom prst="rect">
            <a:avLst/>
          </a:prstGeom>
          <a:noFill/>
          <a:ln/>
        </p:spPr>
        <p:txBody>
          <a:bodyPr wrap="square" lIns="0" tIns="0" rIns="0" bIns="0" rtlCol="0" anchor="t">
            <a:normAutofit fontScale="100000" lnSpcReduction="0"/>
          </a:bodyPr>
          <a:lstStyle/>
          <a:p>
            <a:pPr marL="0" indent="0" algn="l">
              <a:spcBef>
                <a:spcPts val="0"/>
              </a:spcBef>
              <a:spcAft>
                <a:spcPts val="0"/>
              </a:spcAft>
              <a:buNone/>
              <a:defRPr sz="3000">
                <a:solidFill>
                  <a:srgbClr val="FFFFFF"/>
                </a:solidFill>
              </a:defRPr>
            </a:pPr>
            <a:r>
              <a:rPr lang="en-US" sz="3000" b="1" dirty="0">
                <a:solidFill>
                  <a:srgbClr val="FFFFFF"/>
                </a:solidFill>
                <a:latin typeface="Arial" pitchFamily="34" charset="0"/>
                <a:ea typeface="Arial" pitchFamily="34" charset="-122"/>
                <a:cs typeface="Arial" pitchFamily="34" charset="-120"/>
              </a:rPr>
              <a:t>Balance the equation, then check</a:t>
            </a:r>
            <a:endParaRPr lang="en-US" sz="3000" dirty="0"/>
          </a:p>
        </p:txBody>
      </p:sp>
      <p:sp>
        <p:nvSpPr>
          <p:cNvPr id="5" name="Text 3"/>
          <p:cNvSpPr/>
          <p:nvPr/>
        </p:nvSpPr>
        <p:spPr>
          <a:xfrm>
            <a:off x="609585" y="1666875"/>
            <a:ext cx="10972526" cy="426690"/>
          </a:xfrm>
          <a:prstGeom prst="rect">
            <a:avLst/>
          </a:prstGeom>
          <a:noFill/>
          <a:ln/>
        </p:spPr>
        <p:txBody>
          <a:bodyPr wrap="square" lIns="0" tIns="0" rIns="0" bIns="0" rtlCol="0" anchor="t">
            <a:normAutofit fontScale="100000" lnSpcReduction="0"/>
          </a:bodyPr>
          <a:lstStyle/>
          <a:p>
            <a:pPr marL="0" indent="0" algn="l">
              <a:buNone/>
            </a:pPr>
            <a:r>
              <a:rPr lang="en-US" sz="2400" dirty="0">
                <a:solidFill>
                  <a:srgbClr val="111218"/>
                </a:solidFill>
                <a:latin typeface="Arial" pitchFamily="34" charset="0"/>
                <a:ea typeface="Arial" pitchFamily="34" charset="-122"/>
                <a:cs typeface="Arial" pitchFamily="34" charset="-120"/>
              </a:rPr>
              <a:t>P = 2(l + w) → P ÷ 2 = l + w → l = P ÷ 2 − w</a:t>
            </a:r>
            <a:endParaRPr lang="en-US" sz="2400" dirty="0"/>
          </a:p>
        </p:txBody>
      </p:sp>
      <p:sp>
        <p:nvSpPr>
          <p:cNvPr id="6" name="Text 4"/>
          <p:cNvSpPr/>
          <p:nvPr/>
        </p:nvSpPr>
        <p:spPr>
          <a:xfrm>
            <a:off x="609585" y="2476500"/>
            <a:ext cx="10972526" cy="959941"/>
          </a:xfrm>
          <a:prstGeom prst="rect">
            <a:avLst/>
          </a:prstGeom>
          <a:noFill/>
          <a:ln/>
        </p:spPr>
        <p:txBody>
          <a:bodyPr wrap="square" lIns="0" tIns="0" rIns="0" bIns="0" rtlCol="0" anchor="t">
            <a:normAutofit fontScale="100000" lnSpcReduction="0"/>
          </a:bodyPr>
          <a:lstStyle/>
          <a:p>
            <a:pPr marL="0" indent="0" algn="l">
              <a:buNone/>
            </a:pPr>
            <a:r>
              <a:rPr lang="en-US" sz="1800" dirty="0" b="1">
                <a:solidFill>
                  <a:srgbClr val="111218"/>
                </a:solidFill>
                <a:latin typeface="Arial" pitchFamily="34" charset="0"/>
                <a:ea typeface="Arial" pitchFamily="34" charset="-122"/>
                <a:cs typeface="Arial" pitchFamily="34" charset="-120"/>
              </a:rPr>
              <a:t>Worked example • P = 4,000 mm; w = 700 mm.</a:t>
            </a:r>
            <a:endParaRPr lang="en-US" sz="1800" dirty="0"/>
          </a:p>
          <a:p>
            <a:pPr marL="0" indent="0" algn="l">
              <a:buNone/>
            </a:pPr>
            <a:r>
              <a:rPr lang="en-US" sz="1800" dirty="0" b="1">
                <a:solidFill>
                  <a:srgbClr val="111218"/>
                </a:solidFill>
                <a:latin typeface="Arial" pitchFamily="34" charset="0"/>
                <a:ea typeface="Arial" pitchFamily="34" charset="-122"/>
                <a:cs typeface="Arial" pitchFamily="34" charset="-120"/>
              </a:rPr>
              <a:t>l = 4,000 ÷ 2 − 700 = 1,300 mm.</a:t>
            </a:r>
            <a:endParaRPr lang="en-US" sz="1800" dirty="0"/>
          </a:p>
          <a:p>
            <a:pPr marL="0" indent="0" algn="l">
              <a:buNone/>
            </a:pPr>
            <a:r>
              <a:rPr lang="en-US" sz="1800" dirty="0" b="1">
                <a:solidFill>
                  <a:srgbClr val="111218"/>
                </a:solidFill>
                <a:latin typeface="Arial" pitchFamily="34" charset="0"/>
                <a:ea typeface="Arial" pitchFamily="34" charset="-122"/>
                <a:cs typeface="Arial" pitchFamily="34" charset="-120"/>
              </a:rPr>
              <a:t>Check: 2 × (1,300 + 700) = 4,000 mm.</a:t>
            </a:r>
            <a:endParaRPr lang="en-US" sz="1800" dirty="0"/>
          </a:p>
        </p:txBody>
      </p:sp>
      <p:sp>
        <p:nvSpPr>
          <p:cNvPr id="7" name="Text 5"/>
          <p:cNvSpPr/>
          <p:nvPr/>
        </p:nvSpPr>
        <p:spPr>
          <a:xfrm>
            <a:off x="609585" y="3857625"/>
            <a:ext cx="10972526" cy="639961"/>
          </a:xfrm>
          <a:prstGeom prst="rect">
            <a:avLst/>
          </a:prstGeom>
          <a:noFill/>
          <a:ln/>
        </p:spPr>
        <p:txBody>
          <a:bodyPr wrap="square" lIns="0" tIns="0" rIns="0" bIns="0" rtlCol="0" anchor="t">
            <a:normAutofit fontScale="100000" lnSpcReduction="0"/>
          </a:bodyPr>
          <a:lstStyle/>
          <a:p>
            <a:pPr marL="0" indent="0" algn="l">
              <a:buNone/>
            </a:pPr>
            <a:r>
              <a:rPr lang="en-US" sz="1800" dirty="0">
                <a:solidFill>
                  <a:srgbClr val="111218"/>
                </a:solidFill>
                <a:latin typeface="Arial" pitchFamily="34" charset="0"/>
                <a:ea typeface="Arial" pitchFamily="34" charset="-122"/>
                <a:cs typeface="Arial" pitchFamily="34" charset="-120"/>
              </a:rPr>
              <a:t>Spot the error • l = P − 2w gives 2,600 mm—not the length.</a:t>
            </a:r>
            <a:endParaRPr lang="en-US" sz="1800" dirty="0"/>
          </a:p>
          <a:p>
            <a:pPr marL="0" indent="0" algn="l">
              <a:buNone/>
            </a:pPr>
            <a:r>
              <a:rPr lang="en-US" sz="1800" dirty="0">
                <a:solidFill>
                  <a:srgbClr val="111218"/>
                </a:solidFill>
                <a:latin typeface="Arial" pitchFamily="34" charset="0"/>
                <a:ea typeface="Arial" pitchFamily="34" charset="-122"/>
                <a:cs typeface="Arial" pitchFamily="34" charset="-120"/>
              </a:rPr>
              <a:t>Substituting that answer gives 6,600 mm, not the stated perimeter.</a:t>
            </a:r>
            <a:endParaRPr lang="en-US" sz="1800" dirty="0"/>
          </a:p>
        </p:txBody>
      </p:sp>
      <p:sp>
        <p:nvSpPr>
          <p:cNvPr id="8" name="Text 6"/>
          <p:cNvSpPr/>
          <p:nvPr/>
        </p:nvSpPr>
        <p:spPr>
          <a:xfrm>
            <a:off x="609585" y="4953000"/>
            <a:ext cx="10972526" cy="959941"/>
          </a:xfrm>
          <a:prstGeom prst="rect">
            <a:avLst/>
          </a:prstGeom>
          <a:noFill/>
          <a:ln/>
        </p:spPr>
        <p:txBody>
          <a:bodyPr wrap="square" lIns="0" tIns="0" rIns="0" bIns="0" rtlCol="0" anchor="t">
            <a:normAutofit fontScale="100000" lnSpcReduction="0"/>
          </a:bodyPr>
          <a:lstStyle/>
          <a:p>
            <a:pPr marL="0" indent="0" algn="l">
              <a:buNone/>
            </a:pPr>
            <a:r>
              <a:rPr lang="en-US" sz="1800" dirty="0">
                <a:solidFill>
                  <a:srgbClr val="111218"/>
                </a:solidFill>
                <a:latin typeface="Arial" pitchFamily="34" charset="0"/>
                <a:ea typeface="Arial" pitchFamily="34" charset="-122"/>
                <a:cs typeface="Arial" pitchFamily="34" charset="-120"/>
              </a:rPr>
              <a:t>Together • Exercise Book 8A Q15,18–19 and 8B Q1.</a:t>
            </a:r>
            <a:endParaRPr lang="en-US" sz="1800" dirty="0"/>
          </a:p>
          <a:p>
            <a:pPr marL="0" indent="0" algn="l">
              <a:buNone/>
            </a:pPr>
            <a:r>
              <a:rPr lang="en-US" sz="1800" dirty="0">
                <a:solidFill>
                  <a:srgbClr val="111218"/>
                </a:solidFill>
                <a:latin typeface="Arial" pitchFamily="34" charset="0"/>
                <a:ea typeface="Arial" pitchFamily="34" charset="-122"/>
                <a:cs typeface="Arial" pitchFamily="34" charset="-120"/>
              </a:rPr>
              <a:t>Say the inverse operation; keep both sides equal. Check every result</a:t>
            </a:r>
            <a:endParaRPr lang="en-US" sz="1800" dirty="0"/>
          </a:p>
          <a:p>
            <a:pPr marL="0" indent="0" algn="l">
              <a:buNone/>
            </a:pPr>
            <a:r>
              <a:rPr lang="en-US" sz="1800" dirty="0">
                <a:solidFill>
                  <a:srgbClr val="111218"/>
                </a:solidFill>
                <a:latin typeface="Arial" pitchFamily="34" charset="0"/>
                <a:ea typeface="Arial" pitchFamily="34" charset="-122"/>
                <a:cs typeface="Arial" pitchFamily="34" charset="-120"/>
              </a:rPr>
              <a:t>in the original formula before using the calculator or Shape Canvas.</a:t>
            </a:r>
            <a:endParaRPr lang="en-US" sz="1800" dirty="0"/>
          </a:p>
        </p:txBody>
      </p:sp>
      <p:sp>
        <p:nvSpPr>
          <p:cNvPr id="9" name="Text 7"/>
          <p:cNvSpPr/>
          <p:nvPr/>
        </p:nvSpPr>
        <p:spPr>
          <a:xfrm>
            <a:off x="609585" y="6236208"/>
            <a:ext cx="10881360" cy="256032"/>
          </a:xfrm>
          <a:prstGeom prst="rect">
            <a:avLst/>
          </a:prstGeom>
          <a:noFill/>
          <a:ln/>
        </p:spPr>
        <p:txBody>
          <a:bodyPr wrap="square" lIns="0" tIns="0" rIns="0" bIns="0" rtlCol="0" anchor="t">
            <a:normAutofit fontScale="100000" lnSpcReduction="0"/>
          </a:bodyPr>
          <a:lstStyle/>
          <a:p>
            <a:pPr marL="0" indent="0" algn="l">
              <a:spcBef>
                <a:spcPts val="0"/>
              </a:spcBef>
              <a:spcAft>
                <a:spcPts val="0"/>
              </a:spcAft>
              <a:buNone/>
              <a:defRPr sz="1150"/>
            </a:pPr>
            <a:r>
              <a:rPr lang="en-US" sz="1150" dirty="0">
                <a:solidFill>
                  <a:srgbClr val="424957"/>
                </a:solidFill>
                <a:latin typeface="Arial" pitchFamily="34" charset="0"/>
                <a:ea typeface="Arial" pitchFamily="34" charset="-122"/>
                <a:cs typeface="Arial" pitchFamily="34" charset="-120"/>
              </a:rPr>
              <a:t>Textbook pp.126–130,134 • Exercise Book pp.51–54 • Worked example: Exercise Book 8B Q15</a:t>
            </a:r>
            <a:endParaRPr lang="en-US" sz="1050" dirty="0"/>
          </a:p>
        </p:txBody>
      </p:sp>
      <p:pic>
        <p:nvPicPr>
          <p:cNvPr id="10" name="Picture 9"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2" name="TextBox 11"/>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3" name="TextBox 12"/>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4" name="TextBox 13"/>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5" name="TextBox 14"/>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6" name="TextBox 15"/>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15  •  2026-11-25  •  29</a:t>
            </a:r>
          </a:p>
        </p:txBody>
      </p:sp>
    </p:spTree>
    <p:extLst>
      <p:ext uri="{BB962C8B-B14F-4D97-AF65-F5344CB8AC3E}">
        <p14:creationId xmlns:p14="http://schemas.microsoft.com/office/powerpoint/2010/main" val="3592801848"/>
      </p:ext>
    </p:extLst>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00784"/>
            <a:ext cx="11173968" cy="41422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W05-L04  •  TEACH  •  2:25 PM–2:40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Textbook  |  page 130</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8.3–8.5 pp.126–130; sections 8.7 p.134</a:t>
            </a:r>
          </a:p>
        </p:txBody>
      </p:sp>
      <p:pic>
        <p:nvPicPr>
          <p:cNvPr id="5" name="Picture 4" descr="W05-L04.png"/>
          <p:cNvPicPr>
            <a:picLocks noChangeAspect="1"/>
          </p:cNvPicPr>
          <p:nvPr/>
        </p:nvPicPr>
        <p:blipFill>
          <a:blip r:embed="rId3"/>
          <a:stretch>
            <a:fillRect/>
          </a:stretch>
        </p:blipFill>
        <p:spPr>
          <a:xfrm>
            <a:off x="685800" y="2272228"/>
            <a:ext cx="10698480" cy="2907903"/>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a:solidFill>
                  <a:srgbClr val="F7F8FC"/>
                </a:solidFill>
                <a:latin typeface="Arial"/>
              </a:rPr>
              <a:t>Textbook p.130 • Example 8.8 — Undo two operations to find a length</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15  •  2026-11-25  •  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00784"/>
            <a:ext cx="11173968" cy="41422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W05-L04  •  TEACH  •  2:25 PM–2:40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Textbook  |  page 130</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8.3–8.5 pp.126–130; sections 8.7 p.134</a:t>
            </a:r>
          </a:p>
        </p:txBody>
      </p:sp>
      <p:pic>
        <p:nvPicPr>
          <p:cNvPr id="5" name="Picture 4" descr="W05-L04-2.png"/>
          <p:cNvPicPr>
            <a:picLocks noChangeAspect="1"/>
          </p:cNvPicPr>
          <p:nvPr/>
        </p:nvPicPr>
        <p:blipFill>
          <a:blip r:embed="rId3"/>
          <a:stretch>
            <a:fillRect/>
          </a:stretch>
        </p:blipFill>
        <p:spPr>
          <a:xfrm>
            <a:off x="685800" y="2334062"/>
            <a:ext cx="10698480" cy="2784235"/>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a:solidFill>
                  <a:srgbClr val="F7F8FC"/>
                </a:solidFill>
                <a:latin typeface="Arial"/>
              </a:rPr>
              <a:t>Textbook p.130 • Example 8.8 — Substitute back into the original perimeter formula</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15  •  2026-11-25  •  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760023"/>
        </a:solidFill>
        <a:effectLst/>
      </p:bgPr>
    </p:bg>
    <p:spTree>
      <p:nvGrpSpPr>
        <p:cNvPr id="1" name=""/>
        <p:cNvGrpSpPr/>
        <p:nvPr/>
      </p:nvGrpSpPr>
      <p:grpSpPr/>
      <p:sp>
        <p:nvSpPr>
          <p:cNvPr id="15" name="Rectangle 14"/>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93776" y="4453128"/>
            <a:ext cx="11192256" cy="1481328"/>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W05-L04  •  TEACH  •  2:25 PM–2:40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Spot the mistake. Explain the correction.</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8.3–8.5 pp.126–130; sections 8.7 p.134</a:t>
            </a:r>
          </a:p>
        </p:txBody>
      </p:sp>
      <p:sp>
        <p:nvSpPr>
          <p:cNvPr id="5" name="TextBox 4"/>
          <p:cNvSpPr txBox="1"/>
          <p:nvPr/>
        </p:nvSpPr>
        <p:spPr>
          <a:xfrm>
            <a:off x="612648" y="1847088"/>
            <a:ext cx="10927080" cy="1554480"/>
          </a:xfrm>
          <a:prstGeom prst="rect">
            <a:avLst/>
          </a:prstGeom>
          <a:noFill/>
        </p:spPr>
        <p:txBody>
          <a:bodyPr wrap="square" lIns="0" rIns="0" tIns="0" bIns="0" anchor="t">
            <a:normAutofit fontScale="100000" lnSpcReduction="0"/>
          </a:bodyPr>
          <a:lstStyle/>
          <a:p>
            <a:pPr>
              <a:spcBef>
                <a:spcPts val="0"/>
              </a:spcBef>
              <a:spcAft>
                <a:spcPts val="300"/>
              </a:spcAft>
              <a:defRPr sz="2600" b="1">
                <a:solidFill>
                  <a:srgbClr val="111218"/>
                </a:solidFill>
                <a:latin typeface="Arial"/>
              </a:defRPr>
            </a:pPr>
            <a:r>
              <a:rPr>
                <a:solidFill>
                  <a:srgbClr val="FFFFFF"/>
                </a:solidFill>
                <a:latin typeface="Arial"/>
              </a:rPr>
              <a:t>Why does l = P − 2w give the wrong length for a rectangle?</a:t>
            </a:r>
          </a:p>
        </p:txBody>
      </p:sp>
      <p:sp>
        <p:nvSpPr>
          <p:cNvPr id="6" name="TextBox 5"/>
          <p:cNvSpPr txBox="1"/>
          <p:nvPr/>
        </p:nvSpPr>
        <p:spPr>
          <a:xfrm>
            <a:off x="612648" y="3703320"/>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2000" b="0">
                <a:solidFill>
                  <a:srgbClr val="D2181F"/>
                </a:solidFill>
                <a:latin typeface="Arial"/>
              </a:defRPr>
            </a:pPr>
            <a:r>
              <a:rPr>
                <a:solidFill>
                  <a:srgbClr val="FFFFFF"/>
                </a:solidFill>
                <a:latin typeface="Arial"/>
              </a:rPr>
              <a:t>Discuss the method before checking the answer.</a:t>
            </a:r>
          </a:p>
        </p:txBody>
      </p:sp>
      <p:sp>
        <p:nvSpPr>
          <p:cNvPr id="7" name="TextBox 6"/>
          <p:cNvSpPr txBox="1"/>
          <p:nvPr/>
        </p:nvSpPr>
        <p:spPr>
          <a:xfrm>
            <a:off x="612648" y="4617720"/>
            <a:ext cx="10927080" cy="118872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4A4E54"/>
                </a:solidFill>
                <a:latin typeface="Arial"/>
              </a:defRPr>
            </a:pPr>
            <a:r>
              <a:rPr b="1">
                <a:solidFill>
                  <a:srgbClr val="111218"/>
                </a:solidFill>
                <a:latin typeface="Arial"/>
              </a:rPr>
              <a:t>After subtracting 2w, the left side is still 2l. Divide the remaining expression by 2.</a:t>
            </a:r>
          </a:p>
        </p:txBody>
      </p:sp>
      <p:pic>
        <p:nvPicPr>
          <p:cNvPr id="8" name="Picture 7"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TextBox 9"/>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1" name="TextBox 10"/>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2" name="TextBox 11"/>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3" name="TextBox 12"/>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4" name="TextBox 13"/>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15  •  2026-11-25  •  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W05-L04  •  TOGETHER  •  2:40 PM–2:55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Work together</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sections 8.3–8.5 pp.126–130; sections 8.7 p.134</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Complete Exercise Book 8A Q15,18–19 and Exercise Book 8B Q1 as a group. Explain the inverse step.</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Work in pairs, alternating solver and checker. Write a diagram, formula, units and estimate.</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424957"/>
                </a:solidFill>
                <a:latin typeface="Arial"/>
              </a:rPr>
              <a:t>Resources: Exercise Book 8A Q9–22 (pp.51–52), selected; 8B Q1,4 (p.53), Q15 (p.54)</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15  •  2026-11-25  •  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W05-L04  •  TOGETHER  •  2:40 PM–2:55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Guided practice  |  8A Q15</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8.3–8.5 pp.126–130; sections 8.7 p.134</a:t>
            </a:r>
          </a:p>
        </p:txBody>
      </p:sp>
      <p:pic>
        <p:nvPicPr>
          <p:cNvPr id="5" name="Picture 4" descr="8A-Q15.png"/>
          <p:cNvPicPr>
            <a:picLocks noChangeAspect="1"/>
          </p:cNvPicPr>
          <p:nvPr/>
        </p:nvPicPr>
        <p:blipFill>
          <a:blip r:embed="rId3"/>
          <a:srcRect l="926" t="13333" r="57407" b="26667"/>
          <a:stretch>
            <a:fillRect/>
          </a:stretch>
        </p:blipFill>
        <p:spPr>
          <a:xfrm>
            <a:off x="784860" y="1920240"/>
            <a:ext cx="4457700" cy="534924"/>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Work with a partner. Take turns explaining the next step.</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15  •  2026-11-25  •  34</a:t>
            </a:r>
          </a:p>
        </p:txBody>
      </p:sp>
      <p:pic>
        <p:nvPicPr>
          <p:cNvPr id="20" name="Visual rectangle A, l and w" descr="Rectangle with the length labelled l, the width labelled w and A written inside."/>
          <p:cNvPicPr>
            <a:picLocks noChangeAspect="1"/>
          </p:cNvPicPr>
          <p:nvPr/>
        </p:nvPicPr>
        <p:blipFill>
          <a:blip r:embed="rId9"/>
          <a:stretch>
            <a:fillRect/>
          </a:stretch>
        </p:blipFill>
        <p:spPr>
          <a:xfrm>
            <a:off x="3172968" y="2623380"/>
            <a:ext cx="5852160" cy="2740524"/>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5" name="Rectangle 14"/>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12064" y="1764792"/>
            <a:ext cx="11173968" cy="16459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512064" y="3511296"/>
            <a:ext cx="11173968" cy="2331720"/>
          </a:xfrm>
          <a:prstGeom prst="roundRect">
            <a:avLst>
              <a:gd name="adj" fmla="val 8000"/>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W05-L04  •  TOGETHER  •  2:40 PM–2:55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Compare your method  |  8A Q15</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8.3–8.5 pp.126–130; sections 8.7 p.134</a:t>
            </a:r>
          </a:p>
        </p:txBody>
      </p:sp>
      <p:pic>
        <p:nvPicPr>
          <p:cNvPr id="5" name="Picture 4" descr="8A-Q15.png"/>
          <p:cNvPicPr>
            <a:picLocks noChangeAspect="1"/>
          </p:cNvPicPr>
          <p:nvPr/>
        </p:nvPicPr>
        <p:blipFill>
          <a:blip r:embed="rId3"/>
          <a:stretch>
            <a:fillRect/>
          </a:stretch>
        </p:blipFill>
        <p:spPr>
          <a:xfrm>
            <a:off x="685800" y="2091690"/>
            <a:ext cx="10698480" cy="891540"/>
          </a:xfrm>
          <a:prstGeom prst="rect">
            <a:avLst/>
          </a:prstGeom>
        </p:spPr>
      </p:pic>
      <p:sp>
        <p:nvSpPr>
          <p:cNvPr id="6" name="TextBox 5"/>
          <p:cNvSpPr txBox="1"/>
          <p:nvPr/>
        </p:nvSpPr>
        <p:spPr>
          <a:xfrm>
            <a:off x="685800" y="3611880"/>
            <a:ext cx="2743200" cy="320040"/>
          </a:xfrm>
          <a:prstGeom prst="rect">
            <a:avLst/>
          </a:prstGeom>
          <a:noFill/>
        </p:spPr>
        <p:txBody>
          <a:bodyPr wrap="square" lIns="0" rIns="0" tIns="0" bIns="0" anchor="t">
            <a:normAutofit fontScale="100000" lnSpcReduction="0"/>
          </a:bodyPr>
          <a:lstStyle/>
          <a:p>
            <a:pPr>
              <a:spcBef>
                <a:spcPts val="0"/>
              </a:spcBef>
              <a:spcAft>
                <a:spcPts val="300"/>
              </a:spcAft>
              <a:defRPr sz="1400" b="1">
                <a:solidFill>
                  <a:srgbClr val="D2181F"/>
                </a:solidFill>
                <a:latin typeface="Arial"/>
              </a:defRPr>
            </a:pPr>
            <a:r>
              <a:rPr b="1" sz="1400">
                <a:solidFill>
                  <a:srgbClr val="111218"/>
                </a:solidFill>
                <a:latin typeface="Arial"/>
              </a:rPr>
              <a:t>CHECK TOGETHER</a:t>
            </a:r>
          </a:p>
        </p:txBody>
      </p:sp>
      <p:sp>
        <p:nvSpPr>
          <p:cNvPr id="7" name="TextBox 6"/>
          <p:cNvSpPr txBox="1"/>
          <p:nvPr/>
        </p:nvSpPr>
        <p:spPr>
          <a:xfrm>
            <a:off x="685800" y="4114800"/>
            <a:ext cx="10698480" cy="868680"/>
          </a:xfrm>
          <a:prstGeom prst="rect">
            <a:avLst/>
          </a:prstGeom>
          <a:noFill/>
        </p:spPr>
        <p:txBody>
          <a:bodyPr wrap="square" lIns="0" rIns="0" tIns="0" bIns="0" anchor="t">
            <a:normAutofit fontScale="100000" lnSpcReduction="0"/>
          </a:bodyPr>
          <a:lstStyle/>
          <a:p>
            <a:pPr>
              <a:spcBef>
                <a:spcPts val="0"/>
              </a:spcBef>
              <a:spcAft>
                <a:spcPts val="300"/>
              </a:spcAft>
              <a:defRPr sz="2700" b="1">
                <a:solidFill>
                  <a:srgbClr val="111218"/>
                </a:solidFill>
                <a:latin typeface="Arial"/>
              </a:defRPr>
            </a:pPr>
            <a:r>
              <a:rPr b="1" sz="3400">
                <a:solidFill>
                  <a:srgbClr val="111218"/>
                </a:solidFill>
                <a:latin typeface="Arial"/>
              </a:rPr>
              <a:t>l = A ÷ w</a:t>
            </a:r>
          </a:p>
        </p:txBody>
      </p:sp>
      <p:pic>
        <p:nvPicPr>
          <p:cNvPr id="8" name="Picture 7" descr="access-logo.png"/>
          <p:cNvPicPr>
            <a:picLocks noChangeAspect="1"/>
          </p:cNvPicPr>
          <p:nvPr/>
        </p:nvPicPr>
        <p:blipFill>
          <a:blip r:embed="rId4"/>
          <a:stretch>
            <a:fillRect/>
          </a:stretch>
        </p:blipFill>
        <p:spPr>
          <a:xfrm>
            <a:off x="10177272" y="146304"/>
            <a:ext cx="1371600" cy="689145"/>
          </a:xfrm>
          <a:prstGeom prst="rect">
            <a:avLst/>
          </a:prstGeom>
        </p:spPr>
      </p:pic>
      <p:sp>
        <p:nvSpPr>
          <p:cNvPr id="10" name="TextBox 9"/>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1" name="TextBox 10"/>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2" name="TextBox 11"/>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3" name="TextBox 12"/>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4" name="TextBox 13"/>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15  •  2026-11-25  •  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W05-L04  •  PRACTISE  •  2:55 PM–3:15 PM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Your scheduled practice</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sections 8.3–8.5 pp.126–130; sections 8.7 p.134</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Solve selected Exercise Book 8A Q12–14,16–17,20–22 and Exercise Book 8B Q4,15. Check every result in the original equation; use tools after the written rearrangement.</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Solve on paper first; check with tools; correct one error and explain the change.</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424957"/>
                </a:solidFill>
                <a:latin typeface="Arial"/>
              </a:rPr>
              <a:t>Resources: Exercise Book 8A Q9–22 (pp.51–52), selected; 8B Q1,4 (p.53), Q15 (p.54)</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15  •  2026-11-25  •  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664208"/>
            <a:ext cx="11173968" cy="427939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W05-L04  •  PRACTISE  •  2:55 PM–3:15 PM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Open Shape Canvas</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8.3–8.5 pp.126–130; sections 8.7 p.134</a:t>
            </a:r>
          </a:p>
        </p:txBody>
      </p:sp>
      <p:pic>
        <p:nvPicPr>
          <p:cNvPr id="5" name="Picture 4" descr="shape-rectangle.png"/>
          <p:cNvPicPr>
            <a:picLocks noChangeAspect="1"/>
          </p:cNvPicPr>
          <p:nvPr/>
        </p:nvPicPr>
        <p:blipFill>
          <a:blip r:embed="rId3"/>
          <a:stretch>
            <a:fillRect/>
          </a:stretch>
        </p:blipFill>
        <p:spPr>
          <a:xfrm>
            <a:off x="3014776" y="1664208"/>
            <a:ext cx="6122822" cy="4251960"/>
          </a:xfrm>
          <a:prstGeom prst="rect">
            <a:avLst/>
          </a:prstGeom>
        </p:spPr>
      </p:pic>
      <p:sp>
        <p:nvSpPr>
          <p:cNvPr id="6" name="TextBox 5"/>
          <p:cNvSpPr txBox="1"/>
          <p:nvPr/>
        </p:nvSpPr>
        <p:spPr>
          <a:xfrm>
            <a:off x="612648" y="5998464"/>
            <a:ext cx="10927080" cy="256032"/>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F7F8FC"/>
                </a:solidFill>
                <a:latin typeface="Arial"/>
              </a:rPr>
              <a:t>Navigation example. Use the values and units in the assigned task.</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15  •  2026-11-25  •  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8" name="Rectangle 17"/>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02920" y="1737360"/>
            <a:ext cx="11183112" cy="1197864"/>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02920" y="3035808"/>
            <a:ext cx="11183112" cy="1197864"/>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502920" y="4334256"/>
            <a:ext cx="11183112" cy="1197864"/>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W05-L04  •  PRACTISE  •  2:55 PM–3:15 PM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Practise in Numeracy Hub and Shape Canvas</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8.3–8.5 pp.126–130; sections 8.7 p.134</a:t>
            </a:r>
          </a:p>
        </p:txBody>
      </p:sp>
      <p:sp>
        <p:nvSpPr>
          <p:cNvPr id="5" name="Rectangle 4"/>
          <p:cNvSpPr/>
          <p:nvPr/>
        </p:nvSpPr>
        <p:spPr>
          <a:xfrm>
            <a:off x="658368" y="1828800"/>
            <a:ext cx="365760" cy="3657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800" b="1">
                <a:solidFill>
                  <a:srgbClr val="111218"/>
                </a:solidFill>
                <a:latin typeface="Arial"/>
              </a:defRPr>
            </a:pPr>
            <a:r>
              <a:rPr b="1" sz="2000">
                <a:solidFill>
                  <a:srgbClr val="111218"/>
                </a:solidFill>
                <a:latin typeface="Arial"/>
              </a:rPr>
              <a:t>1</a:t>
            </a:r>
          </a:p>
        </p:txBody>
      </p:sp>
      <p:sp>
        <p:nvSpPr>
          <p:cNvPr id="6" name="TextBox 5"/>
          <p:cNvSpPr txBox="1"/>
          <p:nvPr/>
        </p:nvSpPr>
        <p:spPr>
          <a:xfrm>
            <a:off x="1234440" y="1828800"/>
            <a:ext cx="10149840" cy="109728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Use a Shape Canvas rectangle with known area or perimeter and one unknown dimension.</a:t>
            </a:r>
          </a:p>
        </p:txBody>
      </p:sp>
      <p:sp>
        <p:nvSpPr>
          <p:cNvPr id="7" name="Rectangle 6"/>
          <p:cNvSpPr/>
          <p:nvPr/>
        </p:nvSpPr>
        <p:spPr>
          <a:xfrm>
            <a:off x="658368" y="3127248"/>
            <a:ext cx="365760" cy="3657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800" b="1">
                <a:solidFill>
                  <a:srgbClr val="111218"/>
                </a:solidFill>
                <a:latin typeface="Arial"/>
              </a:defRPr>
            </a:pPr>
            <a:r>
              <a:rPr b="1" sz="2000">
                <a:solidFill>
                  <a:srgbClr val="111218"/>
                </a:solidFill>
                <a:latin typeface="Arial"/>
              </a:rPr>
              <a:t>2</a:t>
            </a:r>
          </a:p>
        </p:txBody>
      </p:sp>
      <p:sp>
        <p:nvSpPr>
          <p:cNvPr id="8" name="TextBox 7"/>
          <p:cNvSpPr txBox="1"/>
          <p:nvPr/>
        </p:nvSpPr>
        <p:spPr>
          <a:xfrm>
            <a:off x="1234440" y="3127248"/>
            <a:ext cx="10149840" cy="109728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Rearrange the original formula and solve the missing dimension on paper.</a:t>
            </a:r>
          </a:p>
        </p:txBody>
      </p:sp>
      <p:sp>
        <p:nvSpPr>
          <p:cNvPr id="9" name="Rectangle 8"/>
          <p:cNvSpPr/>
          <p:nvPr/>
        </p:nvSpPr>
        <p:spPr>
          <a:xfrm>
            <a:off x="658368" y="4425696"/>
            <a:ext cx="365760" cy="3657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800" b="1">
                <a:solidFill>
                  <a:srgbClr val="111218"/>
                </a:solidFill>
                <a:latin typeface="Arial"/>
              </a:defRPr>
            </a:pPr>
            <a:r>
              <a:rPr b="1" sz="2000">
                <a:solidFill>
                  <a:srgbClr val="111218"/>
                </a:solidFill>
                <a:latin typeface="Arial"/>
              </a:rPr>
              <a:t>3</a:t>
            </a:r>
          </a:p>
        </p:txBody>
      </p:sp>
      <p:sp>
        <p:nvSpPr>
          <p:cNvPr id="10" name="TextBox 9"/>
          <p:cNvSpPr txBox="1"/>
          <p:nvPr/>
        </p:nvSpPr>
        <p:spPr>
          <a:xfrm>
            <a:off x="1234440" y="4425696"/>
            <a:ext cx="10149840" cy="109728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Use Numeracy Hub Calculator to substitute back into the original formula and check equality.</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3" name="TextBox 12"/>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4" name="TextBox 13"/>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5" name="TextBox 14"/>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6" name="TextBox 15"/>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7" name="TextBox 16"/>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15  •  2026-11-25  •  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W05-L04  •  PRACTISE  •  2:55 PM–3:15 PM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Practise from the Exercise Book  |  8A Q12</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8.3–8.5 pp.126–130; sections 8.7 p.134</a:t>
            </a:r>
          </a:p>
        </p:txBody>
      </p:sp>
      <p:pic>
        <p:nvPicPr>
          <p:cNvPr id="5" name="Picture 4" descr="8A-Q12.png"/>
          <p:cNvPicPr>
            <a:picLocks noChangeAspect="1"/>
          </p:cNvPicPr>
          <p:nvPr/>
        </p:nvPicPr>
        <p:blipFill>
          <a:blip r:embed="rId3"/>
          <a:srcRect l="864" t="13333" r="75123" b="33333"/>
          <a:stretch>
            <a:fillRect/>
          </a:stretch>
        </p:blipFill>
        <p:spPr>
          <a:xfrm>
            <a:off x="778256" y="1920240"/>
            <a:ext cx="2568956" cy="475488"/>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15  •  2026-11-25  •  39</a:t>
            </a:r>
          </a:p>
        </p:txBody>
      </p:sp>
      <p:pic>
        <p:nvPicPr>
          <p:cNvPr id="20" name="Visual x in six parts of 45" descr="Bar labelled x overall, divided into six equal parts each labelled 45."/>
          <p:cNvPicPr>
            <a:picLocks noChangeAspect="1"/>
          </p:cNvPicPr>
          <p:nvPr/>
        </p:nvPicPr>
        <p:blipFill>
          <a:blip r:embed="rId9"/>
          <a:stretch>
            <a:fillRect/>
          </a:stretch>
        </p:blipFill>
        <p:spPr>
          <a:xfrm>
            <a:off x="1538923" y="2866644"/>
            <a:ext cx="9120249" cy="2194560"/>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W05-L04  •  PRACTISE  •  2:55 PM–3:15 PM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Practise from the Exercise Book  |  8A Q13</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8.3–8.5 pp.126–130; sections 8.7 p.134</a:t>
            </a:r>
          </a:p>
        </p:txBody>
      </p:sp>
      <p:pic>
        <p:nvPicPr>
          <p:cNvPr id="5" name="Picture 4" descr="8A-Q13.png"/>
          <p:cNvPicPr>
            <a:picLocks noChangeAspect="1"/>
          </p:cNvPicPr>
          <p:nvPr/>
        </p:nvPicPr>
        <p:blipFill>
          <a:blip r:embed="rId3"/>
          <a:srcRect l="864" t="13333" r="69259" b="28889"/>
          <a:stretch>
            <a:fillRect/>
          </a:stretch>
        </p:blipFill>
        <p:spPr>
          <a:xfrm>
            <a:off x="778256" y="1920240"/>
            <a:ext cx="3196336" cy="515112"/>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15  •  2026-11-25  •  40</a:t>
            </a:r>
          </a:p>
        </p:txBody>
      </p:sp>
      <p:pic>
        <p:nvPicPr>
          <p:cNvPr id="20" name="Visual rectangle 15 by x" descr="Rectangle with one side labelled 15, the other side labelled x, and 1,350 written inside."/>
          <p:cNvPicPr>
            <a:picLocks noChangeAspect="1"/>
          </p:cNvPicPr>
          <p:nvPr/>
        </p:nvPicPr>
        <p:blipFill>
          <a:blip r:embed="rId9"/>
          <a:stretch>
            <a:fillRect/>
          </a:stretch>
        </p:blipFill>
        <p:spPr>
          <a:xfrm>
            <a:off x="2898648" y="2612136"/>
            <a:ext cx="6400800" cy="2743200"/>
          </a:xfrm>
          <a:prstGeom prst="rect">
            <a:avLst/>
          </a:prstGeom>
        </p:spPr>
      </p:pic>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760023"/>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W05-L04  •  CHECK  •  3:15 PM–3:25 PM  •  10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Check independently</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8.3–8.5 pp.126–130; sections 8.7 p.134</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Exercise Book 8B Q4 and Q15; show the substitution check, not just the answer.</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Solve without displayed answers; include working, units and final rounding.</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F7F8FC"/>
                </a:solidFill>
                <a:latin typeface="Arial"/>
              </a:rPr>
              <a:t>Resources: Exercise Book 8A Q9–22 (pp.51–52), selected; 8B Q1,4 (p.53), Q15 (p.54)</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15  •  2026-11-25  •  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W05-L04  •  CHECK  •  3:15 PM–3:25 PM  •  10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Independent check  |  8B Q4</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8.3–8.5 pp.126–130; sections 8.7 p.134</a:t>
            </a:r>
          </a:p>
        </p:txBody>
      </p:sp>
      <p:pic>
        <p:nvPicPr>
          <p:cNvPr id="5" name="Picture 4" descr="8B-Q4.png"/>
          <p:cNvPicPr>
            <a:picLocks noChangeAspect="1"/>
          </p:cNvPicPr>
          <p:nvPr/>
        </p:nvPicPr>
        <p:blipFill>
          <a:blip r:embed="rId3"/>
          <a:srcRect l="741" t="8696" r="6358" b="17391"/>
          <a:stretch>
            <a:fillRect/>
          </a:stretch>
        </p:blipFill>
        <p:spPr>
          <a:xfrm>
            <a:off x="765048" y="1920240"/>
            <a:ext cx="9939020" cy="1010412"/>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Answer independently. Keep worked solutions closed.</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15  •  2026-11-25  •  42</a:t>
            </a:r>
          </a:p>
        </p:txBody>
      </p:sp>
      <p:pic>
        <p:nvPicPr>
          <p:cNvPr id="20" name="Visual frame 1,250 mm wide" descr="Rectangle, not to scale, with the width labelled 1,250 mm and the length marked with a question mark. Beside it: all the way around 6,400 mm, length question mark."/>
          <p:cNvPicPr>
            <a:picLocks noChangeAspect="1"/>
          </p:cNvPicPr>
          <p:nvPr/>
        </p:nvPicPr>
        <p:blipFill>
          <a:blip r:embed="rId9"/>
          <a:stretch>
            <a:fillRect/>
          </a:stretch>
        </p:blipFill>
        <p:spPr>
          <a:xfrm>
            <a:off x="2177327" y="3058668"/>
            <a:ext cx="7843442" cy="2345436"/>
          </a:xfrm>
          <a:prstGeom prst="rect">
            <a:avLst/>
          </a:prstGeom>
        </p:spPr>
      </p:pic>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W05-L04  •  CHECK  •  3:15 PM–3:25 PM  •  10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Independent check  |  8B Q15</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8.3–8.5 pp.126–130; sections 8.7 p.134</a:t>
            </a:r>
          </a:p>
        </p:txBody>
      </p:sp>
      <p:pic>
        <p:nvPicPr>
          <p:cNvPr id="5" name="Picture 4" descr="8B-Q15.png"/>
          <p:cNvPicPr>
            <a:picLocks noChangeAspect="1"/>
          </p:cNvPicPr>
          <p:nvPr/>
        </p:nvPicPr>
        <p:blipFill>
          <a:blip r:embed="rId3"/>
          <a:srcRect l="926" t="6452" r="1111" b="12903"/>
          <a:stretch>
            <a:fillRect/>
          </a:stretch>
        </p:blipFill>
        <p:spPr>
          <a:xfrm>
            <a:off x="784860" y="1920240"/>
            <a:ext cx="10480548" cy="1485900"/>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Answer independently. Keep worked solutions closed.</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15  •  2026-11-25  •  43</a:t>
            </a:r>
          </a:p>
        </p:txBody>
      </p:sp>
      <p:pic>
        <p:nvPicPr>
          <p:cNvPr id="20" name="Visual rectangle P 4,000 mm" descr="Rectangle, not to scale, with the width labelled w = 700 mm and the length marked with a question mark. Beside it: P = 4,000 mm, length l question mark."/>
          <p:cNvPicPr>
            <a:picLocks noChangeAspect="1"/>
          </p:cNvPicPr>
          <p:nvPr/>
        </p:nvPicPr>
        <p:blipFill>
          <a:blip r:embed="rId9"/>
          <a:stretch>
            <a:fillRect/>
          </a:stretch>
        </p:blipFill>
        <p:spPr>
          <a:xfrm>
            <a:off x="2178802" y="3534156"/>
            <a:ext cx="7840493" cy="1869948"/>
          </a:xfrm>
          <a:prstGeom prst="rect">
            <a:avLst/>
          </a:prstGeom>
        </p:spPr>
      </p:pic>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W05-L04  •  WRAP UP  •  3:25 PM–3:30 PM  •  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Wrap up and choose the next step</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8.3–8.5 pp.126–130; sections 8.7 p.134</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Ask: What changed in your understanding? Where will you use it? What should you check next time?</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Name the math and one other essential skill used; record a next practice step.</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F7F8FC"/>
                </a:solidFill>
                <a:latin typeface="Arial"/>
              </a:rPr>
              <a:t>Resources: Exercise Book 8A Q9–22 (pp.51–52), selected; 8B Q1,4 (p.53), Q15 (p.54)</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15  •  2026-11-25  •  44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F7F8FC"/>
      </a:hlink>
      <a:folHlink>
        <a:srgbClr val="F7F8FC"/>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F7F8FC"/>
      </a:hlink>
      <a:folHlink>
        <a:srgbClr val="F7F8FC"/>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 Id="rId2" Type="http://schemas.microsoft.com/office/2011/relationships/webextension" Target="webextension2.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 dockstate="right" visibility="0" width="334" row="1">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60FB143F-4C5F-4CFA-83D4-CE599B274CB0}">
  <we:reference id="wa200010725" version="1.0.0.1" store="en-US" storeType="OMEX"/>
  <we:alternateReferences>
    <we:reference id="WA200010725" version="1.0.0.1" store="" storeType="OMEX"/>
  </we:alternateReferences>
  <we:properties>
    <we:property name="claude.fileId" value="&quot;e15ce61c-59d5-4165-9b38-ae3aa70e2273&quot;"/>
  </we:properties>
  <we:bindings/>
  <we:snapshot xmlns:r="http://schemas.openxmlformats.org/officeDocument/2006/relationships"/>
</we:webextension>
</file>

<file path=ppt/webextensions/webextension2.xml><?xml version="1.0" encoding="utf-8"?>
<we:webextension xmlns:we="http://schemas.microsoft.com/office/webextensions/webextension/2010/11" id="{696CE026-134B-41F5-918B-2FB126868299}">
  <we:reference id="wa200010215" version="2.0.0.1" store="en-US" storeType="OMEX"/>
  <we:alternateReferences>
    <we:reference id="WA200010215" version="2.0.0.1" store="" storeType="OMEX"/>
  </we:alternateReferences>
  <we:properties>
    <we:property name="bps.codex_control.document_id" value="&quot;fd5b780e-6113-4733-b1f1-d8726169f489&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44</Slides>
  <Notes>44</Notes>
  <HiddenSlides>0</HiddenSlides>
  <ScaleCrop>false</ScaleCrop>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Carpentry Math | Full Day 15 | 2026-11-25</dc:title>
  <dc:creator>ACCESS Trades</dc:creator>
  <dc:subject>Reading and substituting into formulas; Rearranging formulas and checking backwards</dc:subject>
</cp:coreProperties>
</file>