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80.xml" ContentType="application/vnd.openxmlformats-officedocument.presentationml.notesSlide+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48" r:id="rId81"/>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51" r:id="rId84"/>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1" Type="http://schemas.openxmlformats.org/officeDocument/2006/relationships/slide" Target="slides/slide8.xml"/><Relationship Id="rId84"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First compare two metres with five hundred millimetres. Convert two metres to two thousand millimetres, giving 2000:500. Divide both terms by five hundred: 4:1. Now share twenty units in a 3:2 ratio. There are five equal parts, so each part is four units. The shares are twelve and eight; they add to twenty and simplify to 3:2. Is the first share three halves of the whole? No. It is three of the five total parts, or three fifths. The ratio’s second term describes the other share, not the whole.</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For 6A Q19, the drawing length is eighty-five millimetres at 1:40. Multiply by forty: 85 × 40 = 3400 millimetres, or 3.4 metres. Reverse the calculation to check: 3400 divided by forty returns eighty-five. In our second example, a real length of two thousand millimetres at 1:50 is drawn as forty millimetres because 2000 divided by fifty is forty. Why did the operation change? The direction changed: first drawing to real, then real to drawing. Label that direction beside your equation instead of memorizing one operation for every problem.</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use ratios to keep quantities in proportion, then apply the same reasoning to scale drawings. The first block runs from 12:45 to 2:00. After the 2:00–2:15 break, we work on drawing lengths, real lengths and our weekly check until 3:30. Our main habit is to name the order of the comparison and match the units. A correct calculation can still describe the wrong thing if the quantities are reversed or one is in metres and the other in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We begin each block with five minutes to connect the topic and five to recall earlier skills. Then come fifteen minutes of explanation, fifteen together, twenty for practice, ten for an independent check and five to finish. The scheduled break is 2:00–2:15. In the first block, keep “first quantity to second quantity” clear. In the second, replace those labels with “drawing to real.” That labelled order will tell us which scale factor to apply.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the ratio and proportion work in the textbook and exercise book 6A Q14–18 and 6B Q4, Q6 and Q7. A ratio describes a relationship, not necessarily a total. If two quantities are in the ratio three to two, we know how their sizes compare, but we do not yet know how many units each contains. What extra information would determine their amounts? A total or one known quantity. Today we will use that information while keeping units and order clear.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Start with 6A Q14 and simplify both ratio terms by the same factor. Then think about a length comparison: why can we not treat two metres to five hundred millimetres as two to five hundred? The units are different-sized pieces of length. We must express both lengths in one unit before comparing their counts. What conversion would make that comparison clear? Two metres becomes two thousand millimetres, so the numbers then refer to equal-sized units.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6A Q14, simplify 36:84. Look for a common factor that divides both quantities exactly. You may reduce in more than one step, provided the same factor is applied to each term every time.</a:t>
            </a:r>
          </a:p>
          <a:p/>
          <a:p>
            <a:r>
              <a:t>Instructor-only, after the attempt: Divide both by twelve to get 3:7. Check by multiplying both terms back by twelve. Dividing only one side would change the relationship, so it would no longer be an equivalent ratio.</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ratio compares quantities in a stated order. Three to two and two to three describe reversed comparisons. When comparing lengths, convert them to a common unit first; only then do their numbers count the same-sized units. Simplifying divides both terms by the same common factor. A rate is also a comparison, but it can retain unlike units, such as dollars per metre or metres per second. What does “per metre” tell us? It gives the cost for one metre. Keep those units because they explain what the number means and how to use it in a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To share a total in a ratio, first count all the equal parts. A three-to-two ratio contains five parts altogether. Divide the total by five to find one part, then give three of those parts to the first share and two to the second. For a proportion, corresponding quantities must stay in the same order on both sides. How can we check a shared total? Add the shares to recover the total, then simplify their ratio to recover the stated relationship. Both checks matter: a pair of numbers could total correctly while being shared in the wrong proportions.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Figure 6.2 shows a four-to-one ratio using five equal parts. Four belong to the first component and one to the second. The equal size of each part is essential; the number of containers alone is not enough if their volumes differ. What fraction of the whole is the first component? Four fifths, because the whole contains five parts. The second component is one fifth. We are using the book’s mixing diagram to understand the mathematics of sharing a total. The visual makes the difference between part-to-part and part-to-whole comparisons visible.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In textbook Example 6.8, the total is 750 millilitres and the classroom ratio is four parts to one part. Add four and one to get five equal parts. One part is 750 divided by five, or 150 millilitres. Four parts give 600 millilitres, leaving 150 millilitres for the second component. Check both conditions: 600 plus 150 is 750, and 600:150 simplifies to 4:1. Why would dividing by four be wrong? Four counts only the first component’s parts; the total includes the additional one part too. We are practising this mathematical relationship with the book’s data.</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Can we simplify one metre to fifty millimetres as 1:50? Pause and decide what that would claim. It would make the one-metre length look smaller, even though it is much longer. Convert one metre to one thousand millimetres first. Now the ratio is 1000:50, and dividing both terms by fifty gives 20:1. Which check catches the original mistake immediately? The first length should be twenty times the second, not one fiftieth of it. Matching units is part of the calculation, not just a label added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on 6A Q15, Q17–18 and 6B Q6 together. For a length ratio, convert to common units before reducing. For a unit rate, write the numerator and denominator units so “per” has a clear meaning. In a proportion, line up corresponding quantities in the same order. What should the checker ask before approving an equation? “Which quantity does each number represent?” Start with the conversion in Q15 shown next, and explain the order aloud.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For 6A Q15, compare 250 millimetres to 1.5 metres. Write both in millimetres, preserving the given order, then reduce the ratio. Predict which term should be larger before calculating.</a:t>
            </a:r>
          </a:p>
          <a:p/>
          <a:p>
            <a:r>
              <a:t>Instructor-only, after the attempt: 1.5 m = 1500 mm, so the ratio is 250:1500. Divide both by 250 to get 1:6. Reversing the terms would describe the longer length compared with the shorter, which is not the requested order.</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Our ratio is one to six. The first length is 250 millimetres, and six of those lengths make 1500 millimetres. This checks both the arithmetic and the order. Why did the metre symbol disappear during simplification? We first converted both values to the same length unit, so the reduced ratio expresses their relative size. Before conversion, 250 and 1.5 counted different units and could not be compared directly. Ask your partner to reconstruct the original lengths from 1:6 using 250 millimetres per part.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6B Q4 and Q7. In Q4, connect distance, time and a rate in metres per second. In Q7, share the total using the stated number of equal parts. You can draw proportional parts on Shape Canvas after working on paper. What two checks help with a shared total? Add the shares and compare their ratio. Treat the book’s epoxy question as a mathematics example; use its numbers to explain proportional sharing rather than as instructions for an actual product.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Shape Canvas, compare the labelled dimensions of proportional rectangles. Decide the scale factor from the written values before adjusting a shape. If every length doubles, both length and width should receive the same factor when we want a similar rectangle. What would happen if only one dimension changed? The proportions of the rectangle would change. Read the labels to confirm your ratio; a zoomed screen can change how large the picture looks without changing any dimension.</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Write the assigned ratio or proportion with its units and solve it first. Use Shape Canvas rectangles to compare corresponding dimensions with the same factor. Then check the rate calculation in Numeracy Hub. What do the units “metres per second” tell us to divide? Distance in metres by time in seconds. When finding a time from a distance and rate, the units should leave seconds. Read the answer as a sentence so the mathematical result stays connected to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6B Q4, a conveyor moves eighteen metres in forty-five seconds. Find metres per second, then the time for fifty metres at that rate. Keep the rate’s units in your working so the second operation makes sense.</a:t>
            </a:r>
          </a:p>
          <a:p/>
          <a:p>
            <a:r>
              <a:t>Instructor-only, after the attempt: 18 ÷ 45 = 0.4 m/s. Time is 50 ÷ 0.4 = 125 s. Check by multiplying 0.4 m/s by 125 s to recover 50 m. A slower-than-one-metre-per-second rate needs more than fifty seconds.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the classroom problem 6B Q7, share 1.4 litres in a 5:2 ratio. Count all equal parts before finding one part. Then find each share and check both their sum and ratio.</a:t>
            </a:r>
          </a:p>
          <a:p/>
          <a:p>
            <a:r>
              <a:t>Instructor-only, after the attempt: There are seven parts; 1.4 ÷ 7 = 0.2 L per part. The shares are 5 × 0.2 = 1 L and 2 × 0.2 = 0.4 L. They total 1.4 L and retain 5:2.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6A Q18 and 6B Q6 independently. For the proportion, show how corresponding values stay equivalent. For the bracket quantity, show either the scale factor or the material per bracket. What makes your calculation checkable by another person? Labels that explain what each number counts, plus the intermediate operation. Keep your worked solutions closed until your attempt is recorded, then compare the result with the size you expected.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6A Q18, solve 7/x = 21/36. Keep the numerator and denominator paired. Think about what factor changes seven to twenty-one, and what that implies for the corresponding denominator. Record your reasoning before checking.</a:t>
            </a:r>
          </a:p>
          <a:p/>
          <a:p>
            <a:r>
              <a:t>Instructor-only, after the attempt: The factor is three, so 3x = 36 and x = 12. Alternatively, 7 × 36 = 21x gives the same result. Both 7/12 and 21/36 are equal fractions.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6B Q6, fourteen brackets use 9.8 metres of angle iron. Find the quantity for thirty-five brackets. Decide whether to use the scale factor between bracket counts or find the material for one bracket.</a:t>
            </a:r>
          </a:p>
          <a:p/>
          <a:p>
            <a:r>
              <a:t>Instructor-only, after the attempt: 35 ÷ 14 = 2.5; 9.8 × 2.5 = 24.5 m. The unit-rate route is 9.8 ÷ 14 = 0.7 m per bracket, then 0.7 × 35 = 24.5 m.</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Explain one result using the words “for every.” That phrase helps reveal the ratio’s order. For example, the 1:6 length ratio means one equal part of the first length for every six of the second. What was your most important check today: matching units, preserving order, finding one part or checking the total? Write it beside one example. After the break, the same proportional reasoning will link a dimension on a drawing to the actual size of the part.</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Take the scheduled break from 2:00 to 2:15. When we return, we will use ratios to move between drawing dimensions and real dimensions. Keep your notes on matching units and preserving the comparison order nearby.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We now use a ratio to connect a drawing with a real object. A large object may be drawn smaller so it fits on paper; a tiny detail may be enlarged so we can see it. Open 6A Q19–20, 6B Q8 and 6C Q5 and Q7–8. What must we identify before using a scale? Whether our known length is on the drawing or on the real object. That direction determines the operation, along with the scale’s stated order.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What does a 1:40 scale mean? One drawing unit corresponds to forty real units of the same kind. If the drawing length is one millimetre, the actual length is forty millimetres. Which should be larger on a reduced drawing problem: the real length or the drawn length? The real length. Say “drawing to real” or “real to drawing” before deciding to multiply or divide. This simple spoken check prevents a correct factor being used in the wrong direction.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Read every scale as drawing to real. At 1:40, one on the drawing corresponds to forty in reality, so drawing to real means multiplying by forty; reversing that journey means dividing by forty. At 3:1, the drawing is enlarged: three drawing units correspond to one real unit. Real to drawing then means multiplying by three, while drawing to real means dividing by three. Is “always multiply the drawing measurement” a reliable rule? No. It fails for enlargements. Use the labelled ratio and the direction of travel, with the same units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Written dimensions and the stated scale are our evidence. A projected image or browser zoom may resize the picture, so measuring the screen with a ruler cannot reliably recover the original drawing length. Write which number belongs to the drawing and which to the real object, then connect them with the scale. On a 1:40 reduction, the real object should be larger. On a 3:1 enlargement, the drawing should be larger. What changes when we zoom a labelled drawing? Its appearance on screen, not its stated dimension. Keep these two ideas separate when checking a result.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Figure 6.3 shows paper dimensions of sixty millimetres by thirty-five millimetres at 1:20. Because these are dimensions measured on the paper, multiply each by twenty to find the real plate: 1200 millimetres by 700 millimetres. Why must both dimensions use the same factor? A scale drawing preserves the shape’s proportions. Compare 60:35 with 1200:700; they simplify to the same ratio. Read the caption carefully: these labels are paper measurements for this example. In other drawings, written dimensions may already state the real sizes, so identify what each label means.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6.11 gives a line measured as sixty-three millimetres on a 1:50 drawing. The real length is 63 times 50, which equals 3150 millimetres. Divide by one thousand to express the same length as 3.15 metres. What does a reverse check give? 3150 divided by fifty returns sixty-three millimetres. Keep the scale conversion separate from the millimetre-to-metre conversion: one changes from drawing size to real size, while the other only changes the unit used to describe that same real length. This distinction makes multistep work easier to follow.</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 reduced drawing uses 1:40. A learner takes a drawing measurement and divides by forty again to find the real length. What should warn us? That makes the answer even smaller, though the real object must be larger. The correct drawing-to-real operation is multiplication by forty. Division is appropriate for the reverse journey from real size to the reduced drawing. Point to the known quantity before choosing the operation. Can you explain the correction without saying “because that is the rule”? One drawing unit represents forty actual units, so each drawn unit must expand to forty.</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with a partner on 6A Q20 and 6B Q8. For each, label drawing and real quantities before calculating. When feet and inches appear, convert them explicitly so the scale compares matching units. Why should we not combine a numerical ratio while silently mixing feet and inches? One foot contains twelve inches, so the numerical counts are not directly comparable. Explain the direction and units first, then let your partner check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6A Q20, the actual part is fourteen millimetres and the drawing scale is 3:1. Is this a reduction or an enlargement? Predict whether the drawn length should exceed fourteen millimetres, then calculate it.</a:t>
            </a:r>
          </a:p>
          <a:p/>
          <a:p>
            <a:r>
              <a:t>Instructor-only, after the attempt: It is an enlargement; 14 × 3 = 42 mm on the drawing. The reverse check is 42 ÷ 3 = 14 mm. Dividing fourteen by three would move in the wrong direction.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drawing length is forty-two millimetres. Three drawing units represent one real unit, so fourteen real millimetres become forty-two drawn millimetres. Why is this multiplication correct even though we divided when drawing a real length at 1:50? Here the drawing is enlarged rather than reduced. The scale’s order determines the factor. Ask your partner to state both lengths with labels: real, fourteen millimetres; drawing, forty-two millimetres. Those labels make the answer unambiguous.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6C Q5 and Q7–8, then the scheduled four-question paper checkpoint from the week. For every drawing problem, identify what the labelled sizes represent and record the scale direction. Numeracy Hub review comes after the core paper work. What should you check if a drawing answer looks implausible? Review the scale order, unit conversion and whether you treated a drawn length as a real one. Keep one corrected calculation with a written explanation rather than erasing the reasoning.</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Open Numeracy Hub for review after the core paper tasks. Use the Easy Exam builder only with topics we have already taught this week. The aim is to retrieve the method you used, including decimal placement, percent relationships, ratios and scale direction. What should accompany a calculator result? Your own equation and unit reasoning. Keep the paper checkpoint first so we can see the skills you can use independently before a tool offers additional prompts or feedback.</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Build the assigned rectangle in Shape Canvas using the written dimensions. Before changing a dimension by the stated factor, predict the new label. Then compare the result with your paper calculation. Does zooming accomplish the same mathematical change? No; zoom changes screen appearance without changing the labelled lengths. Finish the core paper work and checkpoint before optional Numeracy Hub review. Explain one result using the words “drawing” and “real” so the direction of the scale stays visible.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6C Q5, use the labelled drawing sizes and the 1:25 scale to find the real length and width. Apply the factor to both dimensions, then check that the rectangle retains the same proportions. Record units on both answers.</a:t>
            </a:r>
          </a:p>
          <a:p/>
          <a:p>
            <a:r>
              <a:t>Instructor-only, after the attempt: The real dimensions are 1400 mm by 800 mm. They correspond to drawing dimensions of 56 mm and 32 mm, each multiplied by twenty-five. Dividing the real answers by twenty-five returns those paper dimensions.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6C Q7, the scale says one-half inch on the drawing represents one foot in reality. Use the labelled line length to count how many half-inch scale units it contains. Convert any fractional foot to inches before giving feet and inches.</a:t>
            </a:r>
          </a:p>
          <a:p/>
          <a:p>
            <a:r>
              <a:t>Instructor-only, after the attempt: The real length is 3.75 ft. The fractional 0.75 ft is 0.75 × 12 = 9 in, so the final result is 3′ 9″. It is not 3′ 75″.</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6A Q19–20 independently. Show the known dimension, the scale and an arrow or sketch identifying the direction from drawing to real or real to drawing. One problem is a reduction and the other an enlargement. What makes a direction check useful? It tells you whether the requested length should be larger or smaller before arithmetic. Include the unit and label your final length as drawn or real, then check your result in reverse.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6A Q19, an eighty-five-millimetre line appears on a 1:40 drawing. Find the real length, with a sketch showing scale direction. Work independently before checking the remembered example.</a:t>
            </a:r>
          </a:p>
          <a:p/>
          <a:p>
            <a:r>
              <a:t>Instructor-only, after the attempt: 85 × 40 = 3400 mm, equivalent to 3.4 m. The real length is forty times the drawing length. A result of 2.125 mm would come from dividing and would conflict with the reduction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6A Q20, draw a fourteen-millimetre part at 3:1. State whether the drawing is larger or smaller than the real part, then give the drawn length. Include the reverse check.</a:t>
            </a:r>
          </a:p>
          <a:p/>
          <a:p>
            <a:r>
              <a:t>Instructor-only, after the attempt: The drawing is enlarged; 14 × 3 = 42 mm. Checking 42 ÷ 3 gives the original 14 mm. The unit stays millimetres because the scale compares matching units; the change is in represented size, not unit type.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Finish by explaining one scale answer in a complete sentence: “At this scale, this drawing length represents this real length.” What distinguishes a changed scale dimension from a zoomed picture? Only changing the labelled dimensions changes the mathematical size. Look back across the week and choose one checking habit to retain: estimate decimal magnitude, name the percent whole, match ratio units or label scale direction. Write the habit beside a corrected example so you can apply it to the next dimensioned drawing.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145"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45"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144"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page=144"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149"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4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148"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13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19,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Ratios, rates and proportions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Scale drawings and weekly check</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13  /  WEEK 4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Ratios, rates and proportions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7</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Scale drawings and weekly check</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8</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Ratios, rates and proportions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Simplify ratios in common units and use proportions to scale a material quantity.</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6.5–6.7 pp.144–148</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6A Q14–18 (p.56); 6B Q4,6 (p.57), Q7 (p.58)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6.5–6.7 pp.144–148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Exercise Book 6A Q14. Explain why millimetres and metres must match before comparing quantities.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Q14–18 (p.56); 6B Q4,6 (p.57), Q7 (p.58)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6A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A-Q14.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Write ratios with clear units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6.5–6.7 pp.144–148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ratio compares quantities in a stated order.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comparable lengths to the same unit before simplifying.</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both terms by the same factor to keep the ratio equivalent.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rate retains its units, such as dollars per metre.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Scale every part by the same factor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6.5–6.7 pp.144–148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ratio terms to find the number of equal parts.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Find the value of one part, then multiply for each required share.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proportion, keep corresponding quantities in the same order.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the scaled quantities against the original ratio.</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07</a:t>
            </a:r>
          </a:p>
        </p:txBody>
      </p:sp>
      <p:pic>
        <p:nvPicPr>
          <p:cNvPr id="32" name="Visual ratio bar 3 : 2" descr="A bar labelled ratio 3 to 2 of 20 units, cut into five equal parts each labelled 4 units. The first three are dimensioned 3 parts equals 12 units and the last two 2 parts equals 8 units."/>
          <p:cNvPicPr>
            <a:picLocks noChangeAspect="1"/>
          </p:cNvPicPr>
          <p:nvPr/>
        </p:nvPicPr>
        <p:blipFill>
          <a:blip r:embed="rId8"/>
          <a:stretch>
            <a:fillRect/>
          </a:stretch>
        </p:blipFill>
        <p:spPr>
          <a:xfrm>
            <a:off x="1060704" y="4672584"/>
            <a:ext cx="10058400" cy="137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2577465"/>
            <a:ext cx="11191982" cy="123426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W04-L07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First make the comparison meaningful</a:t>
            </a:r>
            <a:endParaRPr lang="en-US" sz="3000" dirty="0"/>
          </a:p>
        </p:txBody>
      </p:sp>
      <p:sp>
        <p:nvSpPr>
          <p:cNvPr id="5" name="Text 3"/>
          <p:cNvSpPr/>
          <p:nvPr/>
        </p:nvSpPr>
        <p:spPr>
          <a:xfrm>
            <a:off x="609585" y="1714500"/>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2 m : 500 mm = 2,000 : 500 = 4 : 1</a:t>
            </a:r>
            <a:endParaRPr lang="en-US" sz="2400" dirty="0"/>
          </a:p>
        </p:txBody>
      </p:sp>
      <p:sp>
        <p:nvSpPr>
          <p:cNvPr id="6" name="Text 4"/>
          <p:cNvSpPr/>
          <p:nvPr/>
        </p:nvSpPr>
        <p:spPr>
          <a:xfrm>
            <a:off x="609585" y="2714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Classroom ratio 3:2, total 20 units:</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5 total parts → 20 ÷ 5 = 4 units per part → 12 and 8 units.</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A 3:2 ratio does not mean the first part is 3/2 of the whole.</a:t>
            </a:r>
            <a:endParaRPr lang="en-US" sz="1800" dirty="0"/>
          </a:p>
        </p:txBody>
      </p:sp>
      <p:sp>
        <p:nvSpPr>
          <p:cNvPr id="7" name="Text 5"/>
          <p:cNvSpPr/>
          <p:nvPr/>
        </p:nvSpPr>
        <p:spPr>
          <a:xfrm>
            <a:off x="612648" y="553212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6A Q15,17–18 and 6B Q6. Label rate units.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Use proportional Shape Canvas rectangles; check with the calculator after writing the proportion.</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L7 • Book mixing examples are mathematics only, not real product instructions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08</a:t>
            </a:r>
          </a:p>
        </p:txBody>
      </p:sp>
      <p:pic>
        <p:nvPicPr>
          <p:cNvPr id="22" name="Visual 2 m and 500 mm" descr="Two bars drawn to one scale. 2 m equals 2,000 mm, cut into four parts of 500 mm, note 4 parts. 500 mm, one part, note 1 part."/>
          <p:cNvPicPr>
            <a:picLocks noChangeAspect="1"/>
          </p:cNvPicPr>
          <p:nvPr/>
        </p:nvPicPr>
        <p:blipFill>
          <a:blip r:embed="rId8"/>
          <a:stretch>
            <a:fillRect/>
          </a:stretch>
        </p:blipFill>
        <p:spPr>
          <a:xfrm>
            <a:off x="629529" y="3931920"/>
            <a:ext cx="10939038" cy="1481328"/>
          </a:xfrm>
          <a:prstGeom prst="rect">
            <a:avLst/>
          </a:prstGeom>
        </p:spPr>
      </p:pic>
    </p:spTree>
    <p:extLst>
      <p:ext uri="{BB962C8B-B14F-4D97-AF65-F5344CB8AC3E}">
        <p14:creationId xmlns:p14="http://schemas.microsoft.com/office/powerpoint/2010/main" val="3318482580"/>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W04-L07.png"/>
          <p:cNvPicPr>
            <a:picLocks noChangeAspect="1"/>
          </p:cNvPicPr>
          <p:nvPr/>
        </p:nvPicPr>
        <p:blipFill>
          <a:blip r:embed="rId3"/>
          <a:stretch>
            <a:fillRect/>
          </a:stretch>
        </p:blipFill>
        <p:spPr>
          <a:xfrm>
            <a:off x="685800" y="2723197"/>
            <a:ext cx="10698480" cy="200596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p.145 • Figure 6.2 — Equal parts in a 4:1 ratio</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W04-L07-2.png"/>
          <p:cNvPicPr>
            <a:picLocks noChangeAspect="1"/>
          </p:cNvPicPr>
          <p:nvPr/>
        </p:nvPicPr>
        <p:blipFill>
          <a:blip r:embed="rId3"/>
          <a:stretch>
            <a:fillRect/>
          </a:stretch>
        </p:blipFill>
        <p:spPr>
          <a:xfrm>
            <a:off x="685800" y="1925016"/>
            <a:ext cx="10698480" cy="360232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p.145 • Example 6.8 — Sharing a total in a ratio; classroom math example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Can you simplify 1 m : 50 mm as 1 : 50?</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Convert to common units first: 1,000 mm : 50 mm, then simplify both terms.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6.5–6.7 pp.144–148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6A Q15,17–18 and 6B Q6 in pairs. Label numerator and denominator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Q14–18 (p.56); 6B Q4,6 (p.57), Q7 (p.58)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6A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A-Q1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6A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A-Q15.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 : 6</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250 : 1,500, divide both by 250</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6.5–6.7 pp.144–148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6B Q4 and Q7. Draw proportional parts on Shape Canvas; treat the book’s epoxy mix only as a math example, not a real mixing instruction.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Q14–18 (p.56); 6B Q4,6 (p.57), Q7 (p.58)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Write the assigned ratio or proportion with units and solve it on paper.</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Compare Shape Canvas rectangles whose dimensions use the same scale factor.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rate or proportion with Numeracy Hub Calculator and explain the units.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B-Q4.png"/>
          <p:cNvPicPr>
            <a:picLocks noChangeAspect="1"/>
          </p:cNvPicPr>
          <p:nvPr/>
        </p:nvPicPr>
        <p:blipFill>
          <a:blip r:embed="rId3"/>
          <a:srcRect l="741" t="8696" r="4321" b="17391"/>
          <a:stretch>
            <a:fillRect/>
          </a:stretch>
        </p:blipFill>
        <p:spPr>
          <a:xfrm>
            <a:off x="765048" y="1920240"/>
            <a:ext cx="1015695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18</a:t>
            </a:r>
          </a:p>
        </p:txBody>
      </p:sp>
      <p:pic>
        <p:nvPicPr>
          <p:cNvPr id="20" name="Visual distance and time" descr="Two parallel lines. Top, distance: 0 m, 18 m, 50 m. Bottom, time: 0 s, 45 s under 18 m, and a question mark under 50 m."/>
          <p:cNvPicPr>
            <a:picLocks noChangeAspect="1"/>
          </p:cNvPicPr>
          <p:nvPr/>
        </p:nvPicPr>
        <p:blipFill>
          <a:blip r:embed="rId9"/>
          <a:stretch>
            <a:fillRect/>
          </a:stretch>
        </p:blipFill>
        <p:spPr>
          <a:xfrm>
            <a:off x="1298448" y="3316986"/>
            <a:ext cx="9601200" cy="1828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6B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B-Q7.png"/>
          <p:cNvPicPr>
            <a:picLocks noChangeAspect="1"/>
          </p:cNvPicPr>
          <p:nvPr/>
        </p:nvPicPr>
        <p:blipFill>
          <a:blip r:embed="rId3"/>
          <a:srcRect l="741" t="8696" r="9198" b="17391"/>
          <a:stretch>
            <a:fillRect/>
          </a:stretch>
        </p:blipFill>
        <p:spPr>
          <a:xfrm>
            <a:off x="765048" y="1920240"/>
            <a:ext cx="963523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19</a:t>
            </a:r>
          </a:p>
        </p:txBody>
      </p:sp>
      <p:pic>
        <p:nvPicPr>
          <p:cNvPr id="20" name="Visual ratio bar 5 : 2" descr="A bar labelled 1.4 L mixed, cut into seven equal parts: five labelled A and two labelled B. The A parts and the B parts are each dimensioned with a question mark."/>
          <p:cNvPicPr>
            <a:picLocks noChangeAspect="1"/>
          </p:cNvPicPr>
          <p:nvPr/>
        </p:nvPicPr>
        <p:blipFill>
          <a:blip r:embed="rId9"/>
          <a:stretch>
            <a:fillRect/>
          </a:stretch>
        </p:blipFill>
        <p:spPr>
          <a:xfrm>
            <a:off x="1298448" y="3316986"/>
            <a:ext cx="9601200" cy="1828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6A Q18 and Exercise Book 6B Q6; show the proportion or unit-rate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Q14–18 (p.56); 6B Q4,6 (p.57), Q7 (p.58)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Q18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A-Q1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6B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pic>
        <p:nvPicPr>
          <p:cNvPr id="5" name="Picture 4" descr="6B-Q6.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W04-L07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6.5–6.7 pp.144–148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Q14–18 (p.56); 6B Q4,6 (p.57), Q7 (p.58)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13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Scale drawings and weekly check</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Scale drawings and weekly check</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Translate drawing lengths to real lengths and explain a multi-step calculation from a dimensioned sketch.</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6.8 pp.148–150; review Chapter 4–6</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6A Q19–20 (p.56); 6B Q8 (p.58); 6C Q5,7–8 (p.60)</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6.8 pp.148–150; review Chapter 4–6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1:40 means. Compare a drawing length and a real length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Q19–20 (p.56); 6B Q8 (p.58); 6C Q5,7–8 (p.60)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the direction of a scale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6.8 pp.148–150; review Chapter 4–6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1:40 scale means one drawing unit represents 40 matching real units.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1:n reductions: drawing → real, multiply by n; real → drawing, divide by n.</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n:1 enlargements: drawing → real, divide by n; real → drawing, multiply by n.</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units when needed; keep drawing and real dimensions labelled.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27</a:t>
            </a:r>
          </a:p>
        </p:txBody>
      </p:sp>
      <p:pic>
        <p:nvPicPr>
          <p:cNvPr id="32" name="Visual direction of a scale" descr="Panel 1 : n reduction: small box drawing, arrow times n to a large box real, arrow divide by n back. Panel n : 1 enlargement: small box real, arrow times n to a large box drawing, arrow divide by n back."/>
          <p:cNvPicPr>
            <a:picLocks noChangeAspect="1"/>
          </p:cNvPicPr>
          <p:nvPr/>
        </p:nvPicPr>
        <p:blipFill>
          <a:blip r:embed="rId8"/>
          <a:stretch>
            <a:fillRect/>
          </a:stretch>
        </p:blipFill>
        <p:spPr>
          <a:xfrm>
            <a:off x="1073767" y="4626864"/>
            <a:ext cx="10032274" cy="14630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dimensions, not screen size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6.8 pp.148–150; review Chapter 4–6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Read the written measurement on a drawing.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resized screen image is not a reliable ruler.</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a sketch and an equation showing which length is unknown.</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direction: a 1:40 drawing is smaller; a 3:1 drawing is larger than the real object.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625090"/>
            <a:ext cx="11191982"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W04-L08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Multiply to return to full size</a:t>
            </a:r>
            <a:endParaRPr lang="en-US" sz="3000" dirty="0"/>
          </a:p>
        </p:txBody>
      </p:sp>
      <p:sp>
        <p:nvSpPr>
          <p:cNvPr id="5" name="Text 3"/>
          <p:cNvSpPr/>
          <p:nvPr/>
        </p:nvSpPr>
        <p:spPr>
          <a:xfrm>
            <a:off x="609585" y="1714500"/>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6A Q19: 85 mm × 40 = 3,400 mm = 3.4 m</a:t>
            </a:r>
            <a:endParaRPr lang="en-US" sz="2400" dirty="0"/>
          </a:p>
        </p:txBody>
      </p:sp>
      <p:sp>
        <p:nvSpPr>
          <p:cNvPr id="6" name="Text 4"/>
          <p:cNvSpPr/>
          <p:nvPr/>
        </p:nvSpPr>
        <p:spPr>
          <a:xfrm>
            <a:off x="609585" y="2762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Reverse check: 3,400 mm ÷ 40 = 85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Classroom example: 2,000 mm at 1:50 is drawn as 40 mm.</a:t>
            </a:r>
            <a:endParaRPr lang="en-US" sz="1800" dirty="0"/>
          </a:p>
        </p:txBody>
      </p:sp>
      <p:sp>
        <p:nvSpPr>
          <p:cNvPr id="7" name="Text 5"/>
          <p:cNvSpPr/>
          <p:nvPr/>
        </p:nvSpPr>
        <p:spPr>
          <a:xfrm>
            <a:off x="612648" y="4828032"/>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6A Q20 and 6B Q8. Explain where inches, feet and the scale factor enter. Do unit conversions explicitly.</a:t>
            </a:r>
            <a:endParaRPr lang="en-US" sz="1800" dirty="0"/>
          </a:p>
        </p:txBody>
      </p:sp>
      <p:sp>
        <p:nvSpPr>
          <p:cNvPr id="8" name="Text 6"/>
          <p:cNvSpPr/>
          <p:nvPr/>
        </p:nvSpPr>
        <p:spPr>
          <a:xfrm>
            <a:off x="612648" y="5577840"/>
            <a:ext cx="10972800" cy="603504"/>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Shape Canvas: label a rectangle, then change its dimensions proportionally. Zooming alone does not change the labelled dimensions.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L8 • Use the labelled scale and dimensions</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29</a:t>
            </a:r>
          </a:p>
        </p:txBody>
      </p:sp>
      <p:pic>
        <p:nvPicPr>
          <p:cNvPr id="23" name="Visual drawing to real" descr="Small box drawing 85 mm, arrow times 40 to a larger box real 3,400 mm equals 3.4 m, arrow divide by 40 back."/>
          <p:cNvPicPr>
            <a:picLocks noChangeAspect="1"/>
          </p:cNvPicPr>
          <p:nvPr/>
        </p:nvPicPr>
        <p:blipFill>
          <a:blip r:embed="rId8"/>
          <a:stretch>
            <a:fillRect/>
          </a:stretch>
        </p:blipFill>
        <p:spPr>
          <a:xfrm>
            <a:off x="643999" y="3675888"/>
            <a:ext cx="10910098" cy="1060704"/>
          </a:xfrm>
          <a:prstGeom prst="rect">
            <a:avLst/>
          </a:prstGeom>
        </p:spPr>
      </p:pic>
    </p:spTree>
    <p:extLst>
      <p:ext uri="{BB962C8B-B14F-4D97-AF65-F5344CB8AC3E}">
        <p14:creationId xmlns:p14="http://schemas.microsoft.com/office/powerpoint/2010/main" val="3974316375"/>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W04-L08.png"/>
          <p:cNvPicPr>
            <a:picLocks noChangeAspect="1"/>
          </p:cNvPicPr>
          <p:nvPr/>
        </p:nvPicPr>
        <p:blipFill>
          <a:blip r:embed="rId3"/>
          <a:stretch>
            <a:fillRect/>
          </a:stretch>
        </p:blipFill>
        <p:spPr>
          <a:xfrm>
            <a:off x="685800" y="1730662"/>
            <a:ext cx="10698480" cy="399103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p.148 • Figure 6.3 — Drawing dimensions and real dimensions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W04-L08-2.png"/>
          <p:cNvPicPr>
            <a:picLocks noChangeAspect="1"/>
          </p:cNvPicPr>
          <p:nvPr/>
        </p:nvPicPr>
        <p:blipFill>
          <a:blip r:embed="rId3"/>
          <a:stretch>
            <a:fillRect/>
          </a:stretch>
        </p:blipFill>
        <p:spPr>
          <a:xfrm>
            <a:off x="685800" y="2456684"/>
            <a:ext cx="10698480" cy="253899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p.149 • Example 6.11 — Scale factor from drawing to real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drawing is reduced to 1:40. Should the real length be divided by 40 again?</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From drawing to real, multiply by 40. Divide only when going from real to drawing.</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6.8 pp.148–150; review Chapter 4–6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6A Q20 and 6B Q8 with a partner. Explain where inches, feet and the scale factor enter.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Q19–20 (p.56); 6B Q8 (p.58); 6C Q5,7–8 (p.60)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6A Q20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A-Q20.png"/>
          <p:cNvPicPr>
            <a:picLocks noChangeAspect="1"/>
          </p:cNvPicPr>
          <p:nvPr/>
        </p:nvPicPr>
        <p:blipFill>
          <a:blip r:embed="rId3"/>
          <a:srcRect l="741" t="13333" r="16605" b="26667"/>
          <a:stretch>
            <a:fillRect/>
          </a:stretch>
        </p:blipFill>
        <p:spPr>
          <a:xfrm>
            <a:off x="765048" y="1920240"/>
            <a:ext cx="884275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34</a:t>
            </a:r>
          </a:p>
        </p:txBody>
      </p:sp>
      <p:pic>
        <p:nvPicPr>
          <p:cNvPr id="20" name="Visual real part and drawing" descr="Small box real part 14 mm, arrow labelled drawn at 3 : 1 to a larger box drawing, question mark mm."/>
          <p:cNvPicPr>
            <a:picLocks noChangeAspect="1"/>
          </p:cNvPicPr>
          <p:nvPr/>
        </p:nvPicPr>
        <p:blipFill>
          <a:blip r:embed="rId9"/>
          <a:stretch>
            <a:fillRect/>
          </a:stretch>
        </p:blipFill>
        <p:spPr>
          <a:xfrm>
            <a:off x="1997739" y="3124962"/>
            <a:ext cx="8202618" cy="17373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6A Q20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A-Q20.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42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6.8 pp.148–150; review Chapter 4–6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6C Q5,7–8. Use a four-question paper checkpoint from the week; optional Numeracy Hub review only after core work.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Q19–20 (p.56); 6B Q8 (p.58); 6C Q5,7–8 (p.60)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hub-exa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Build the assigned dimensioned rectangle in Shape Canvas from written sizes.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Change one dimension by the stated factor and predict the resulting labelled dimension.</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Complete the core paper work first; use optional Easy Exam builder review on taught topics only.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6C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C-Q5.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6C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C-Q7.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6A Q19–20 independently, with units and a sketch showing scale direction.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Q19–20 (p.56); 6B Q8 (p.58); 6C Q5,7–8 (p.60)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A-Q1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Q20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pic>
        <p:nvPicPr>
          <p:cNvPr id="5" name="Picture 4" descr="6A-Q2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W04-L08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6.8 pp.148–150; review Chapter 4–6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Q19–20 (p.56); 6B Q8 (p.58); 6C Q5,7–8 (p.60)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13  •  2026-11-19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13 | 2026-11-19</dc:title>
  <dc:creator>ACCESS Trades</dc:creator>
  <dc:subject>Ratios, rates and proportions; Scale drawings and weekly check</dc:subject>
</cp:coreProperties>
</file>