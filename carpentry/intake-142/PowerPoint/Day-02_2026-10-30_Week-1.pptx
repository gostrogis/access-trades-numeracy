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288" r:id="rId11"/>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256" r:id="rId14"/>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4"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9:10 AM–9:25 AM | 15 MIN TOTAL — shared phase allocation.</a:t>
            </a:r>
          </a:p>
          <a:p/>
          <a:p>
            <a:r>
              <a:t>Twelve brackets require six screws each, so the need is 12 times 6, or 72 screws. At twenty screws per box, 72 divided by 20 is 3.6 boxes. Buying four boxes supplies eighty screws and leaves eight; three boxes would supply only sixty. Now compare the average example: 60 plus 64 plus 68 plus 72 is 264 mm, and dividing by four gives 66 mm. What does four mean in each example? Four is the purchase quantity in the first, but the number of measured lengths in the second. Always attach meaning to the divisor or multiplier.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10:40 AM–10:55 AM | 15 MIN TOTAL — shared phase allocation.</a:t>
            </a:r>
          </a:p>
          <a:p/>
          <a:p>
            <a:r>
              <a:t>For 1B Q1, the three pieces total 1,350 plus 980 plus 2,145, which is 4,475 mm. Subtracting from 6,000 leaves 1,525 mm, and adding those two amounts restores the stock length. In the second example, 100 inches divided by 18 inches gives five complete pieces. Five use ninety inches, leaving ten. Could a sixth fit? Six would require 108 inches, more than the stock. That practical comparison explains why we keep five complete pieces, ignoring kerf as this classroom example states.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Today we will turn job descriptions into calculations, then use those calculations to account for stock and offcuts. You will meet three different answers: an exact need, a supplier order and a count of complete pieces. Why might those answers require different rounding decisions? A supplier order must cover the need, while a complete piece must actually fit the available stock. Keep those meanings in view as we move from quantities and averages into cut-list practice.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We begin with quantities, averages and word problems from 9:00 to 10:15. After the break, cut-list practice runs from 10:30 until noon. The first block has twenty minutes of independent practice; the second has thirty-five. What should you do if an operation is unclear during practice? Return to what is given, what is being asked and the answer's unit, then ask about that specific step. We will use independent checks at the end of each block.</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9:00 AM–9:05 AM | 5 MIN TOTAL — shared phase allocation.</a:t>
            </a:r>
          </a:p>
          <a:p/>
          <a:p>
            <a:r>
              <a:t>Today the important choice happens before the arithmetic: what does the question want us to count or measure? An answer of four boxes and an answer of four pieces describe different things. Think about ordering fixings for a frame. What information would you need? How many fixings the job requires and how many come in a box. We will calculate the need first, then decide what whole supplier units must be purchased, keeping those answers separately labelled.</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phase allocation.</a:t>
            </a:r>
          </a:p>
          <a:p/>
          <a:p>
            <a:r>
              <a:t>Read the job problem and identify three things: the information given, the quantity to find and its unit. If the question mentions pieces per box, which number counts boxes and which counts pieces? Say that distinction before choosing multiplication or division. A rough sketch of the groups can help. The expected discussion is about meaning, not speed: a correct operation follows the relationships in the story, even when several different numbers are present.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Translate the story into groups. If we know the number of groups and the amount in each, multiplication gives a total. If we know a total and how many equal groups share it, division gives the amount per group. An average uses two steps: add all the recorded values, then divide by how many values were included. Why must the count match the values actually added? Dividing by a different count changes the meaning of the average. Write labels such as screws, boxes or millimetres so you can explain each stage of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Calculate the job's exact need before thinking about the package size. Then divide by the number supplied in each whole box or stock unit. A decimal answer tells us that the need does not fill an exact number of packages; it does not mean the supplier sells that fraction of a package. Which direction must the order move to cover the need? Up to the next whole unit. Check the proposed order by multiplying it back into the quantity supplied. This check reveals whether the order covers the need and how much remains.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The textbook's Example 1.13 records five daily totals: 38, 42, 45, 40 and 35 joints. Add them to get 200, then divide by the five days to get an average of forty joints per day. Does an average of forty mean the worker completed exactly forty every day? No: it describes the equal share of the total, while the actual daily values varied. On the calculator, the grouped sum must be completed before division. The same reasoning applies when averaging several measured lengths or production counts in a carpentry task.</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In Example 1.14, three units need fourteen brackets each. Multiplication gives forty-two brackets, and six spares increase the need to forty-eight. Each box contains ten, so the quotient is 4.8 boxes. Why is ordering four boxes insufficient? Four boxes supply only forty brackets. Five boxes supply fifty and cover the need. Notice the sequence: calculate the job requirement, add the stated spares, then convert the total to supplier units. The spare allowance is explicit in this example; do not add an unstated allowance to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A need of 3.6 boxes cannot be met with three boxes. In our example, three boxes contain sixty screws, but the job needs seventy-two. Four boxes contain eighty, enough to cover that need. What is wrong with simply dropping the decimal part? That would turn a sufficient quantity into a shortage. The question determines the rounding rule. We are ordering enough whole boxes here; later, counting complete pieces from fixed stock will require a different decision. Check every purchase result by calculating the quantity the whole order actually supplies.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Work through exercise book 1B questions 2 and 3 together. Label one line “needed” and another “whole supplier units.” For the pipe question, those units are feet and purchased lengths; for the bolt question, they are bolts and boxes. Why should we keep both answers? The supplier needs an order quantity, while the job calculation needs a material quantity. Explain the rounding decision aloud to your partner and verify the proposed order by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For 1B Q2, add the five runs: 12, 9, 15, 7 and 18 feet. The supplier sells 21-foot lengths. What must you calculate before dividing by twenty-one? The total footage required. Work out the aggregate need and purchase estimate with your partner. This textbook calculation ignores fittings and waste; a real cutting arrangement would still require its own check. Do not claim that a total-length estimate proves every separate run can be cut as shown.</a:t>
            </a:r>
          </a:p>
          <a:p/>
          <a:p>
            <a:r>
              <a:t>INSTRUCTOR ONLY — AFTER THE ATTEMPT: 61 ft. 61 ÷ 21 = 2.9, so buy 3 lengths. Round up: a part length still has to be bought.</a:t>
            </a:r>
          </a:p>
          <a:p>
            <a:r>
              <a:t>Working to discuss after the attempt: 12 + 9 + 15 + 7 + 18 = 61 ft. 61 ÷ 21 is approximately 2.90. Three lengths supply 63 ft. This is the exercise's aggregate estimate, not proof that its individual runs fit a cutting layout.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The five runs total 61 feet. Dividing by 21 gives about 2.9 supplier lengths, so the stated aggregate estimate rounds up to three lengths. Three lengths provide 63 feet; two provide only 42. What does the spare two feet in the aggregate tell us? Only that total supplied footage exceeds total requested footage. It does not establish a feasible cutting plan for the individual runs. Keep the answer's scope clear while practising the arithmetic the exercise asks for.</a:t>
            </a:r>
          </a:p>
          <a:p/>
          <a:p>
            <a:r>
              <a:t>INSTRUCTOR ONLY — AFTER THE ATTEMPT: 61 ft. 61 ÷ 21 = 2.9, so buy 3 lengths. Round up: a part length still has to be bought.</a:t>
            </a:r>
          </a:p>
          <a:p>
            <a:r>
              <a:t>Working to discuss after the attempt: 12 + 9 + 15 + 7 + 18 = 61 ft. 61 ÷ 21 is approximately 2.90. Three lengths supply 63 ft. This is the exercise's aggregate estimate, not proof that its individual runs fit a cutting layout.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Complete 1A questions 15–18 and 1B questions 4–5. For every word problem, write what the numbers count before entering an operation. Explain the operation in a short phrase such as “groups times amount per group.” Which reverse check fits a multiplication result? Divide the product by one factor and recover the other. When a question asks for whole pieces and a remainder, retain that form instead of reporting only a decimal quotient.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Open the calculator in Numeracy Hub and select your usual model. The calculator will handle the arithmetic after you have drawn or described the groups. Can it decide whether a decimal number of boxes should be rounded up? No; that decision comes from the job's requirement and the supplier's whole packages. Enter your written expression, then check that the display agrees with both your estimate and the units you have recorded.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1B questions 2 and 3, label the groups before keying: feet per supplier length in one problem, bolts per box in the other. Complete the assigned paper calculation, then use Numeracy Hub to check the arithmetic. What would verify a proposed whole-box order? Multiply boxes by bolts per box and compare the supply with the required bolts. Keep this check alongside the original need, rather than replacing the need with the purchased amount.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1A Q15, calculate 32 times 15. One useful way to explain the multiplication is to split fifteen into ten and five, while keeping the same total number of groups. Why must both partial products be added? Together they account for all fifteen groups. Try the calculation first, then use your calculator or an inverse operation to check the product after you have recorded your own result.</a:t>
            </a:r>
          </a:p>
          <a:p/>
          <a:p>
            <a:r>
              <a:t>INSTRUCTOR ONLY — AFTER THE ATTEMPT: 480</a:t>
            </a:r>
          </a:p>
          <a:p>
            <a:r>
              <a:t>Working to discuss after the attempt: 32 × 10 = 320 and 32 × 5 = 160; 320 + 160 = 480.</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1A Q16, work out 215 times 24. Think about twenty groups and four more groups before using the calculator. What must be carried forward when you split the multiplier? The full value 215 must be multiplied by each part. After the attempt, compare 215 times 20 plus 215 times 4 with your original method. Agreement between these forms explains the product rather than only repeating the same keys.</a:t>
            </a:r>
          </a:p>
          <a:p/>
          <a:p>
            <a:r>
              <a:t>INSTRUCTOR ONLY — AFTER THE ATTEMPT: 5,160</a:t>
            </a:r>
          </a:p>
          <a:p>
            <a:r>
              <a:t>Working to discuss after the attempt: 215 × 20 = 4,300 and 215 × 4 = 860; 4,300 + 860 = 5,160.</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Complete 1A Q19 and 1B Q3 independently. The first asks for an average; the second asks for a material need and a whole-box order. What is the key difference between those answers? An average describes an equal share, while an order must supply enough actual items. Show each operation and label the final quantities. Keep previous solutions closed until you have completed both attempts and justified the ordering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1A Q19, find the average of 64, 58, 71 and 67. Show the total and the number of values used. What should the divisor count? The four values being averaged. After the attempt, check that your answer lies between the smallest and largest values; a mean outside that range would signal an error. Use that check as supporting evidence, not as a replacement for the calculation.</a:t>
            </a:r>
          </a:p>
          <a:p/>
          <a:p>
            <a:r>
              <a:t>INSTRUCTOR ONLY — AFTER THE ATTEMPT: 65</a:t>
            </a:r>
          </a:p>
          <a:p>
            <a:r>
              <a:t>Working to discuss after the attempt: 64 + 58 + 71 + 67 = 260. There are four values, so 260 ÷ 4 = 65.</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1B Q3, fourteen baseplates each require eight anchor bolts, and bolts come in boxes of twenty-five. Write separate answers for bolts needed and boxes purchased. Explain the order quantity rather than merely writing “round.” After the attempt, compare the supply from the proposed number of boxes with the required bolt count. The check should show why one fewer box would not cover the job.</a:t>
            </a:r>
          </a:p>
          <a:p/>
          <a:p>
            <a:r>
              <a:t>INSTRUCTOR ONLY — AFTER THE ATTEMPT: 112 bolts, 5 boxes 14 × 8 = 112. 112 ÷ 25 = 4.48, round up to 5 boxes.</a:t>
            </a:r>
          </a:p>
          <a:p>
            <a:r>
              <a:t>Working to discuss after the attempt: Four boxes supply 100 bolts, which is short of 112. Five boxes supply 125 bolts, covering the need with 13 left.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10:10 AM–10:15 AM | 5 MIN TOTAL — shared phase allocation.</a:t>
            </a:r>
          </a:p>
          <a:p/>
          <a:p>
            <a:r>
              <a:t>Choose either an average or an ordering problem and explain why you divided by the number you used. A strong explanation names what that divisor counts. What have we learned about a decimal box quantity? It is a calculation on the way to an order, and a whole-box order must cover the need. Write one checking habit to keep after the break. Next we will account for stock, used lengths and the pieces that can actually be completed.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10:15 AM–10:30 AM</a:t>
            </a:r>
          </a:p>
          <a:p/>
          <a:p>
            <a:r>
              <a:t>Our break ends at 10:30. Before leaving, mark any question where the arithmetic worked but the meaning of the answer was unclear. Bring that question back into the next block. What two quantities will we distinguish next? Complete pieces obtained from fixed stock and whole units purchased to cover a need. We will use cut-list sketches to make that distinction visible.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10:30 AM–10:35 AM | 5 MIN TOTAL — shared phase allocation.</a:t>
            </a:r>
          </a:p>
          <a:p/>
          <a:p>
            <a:r>
              <a:t>Now we will account for an entire stock length. Every required piece uses some of the stock, and the offcut is what remains under the question's stated assumptions. We will also distinguish buying enough supplier units from counting full pieces that fit. Which would let us round a piece count up? Nothing, if that extra complete piece does not fit. Keep your drawing, equation and rounding explanation together so the answer describes the job correctly.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phase allocation.</a:t>
            </a:r>
          </a:p>
          <a:p/>
          <a:p>
            <a:r>
              <a:t>Why do purchases and complete-piece counts need different rounding decisions? Purchases must cover a requirement; complete pieces must fit in what is available. Retrieve 1A Q18 and identify the whole-number quotient and remainder. What does the remainder represent in a stock problem? Material left after the complete groups are counted. A partial group cannot become another full piece merely because its decimal part looks large.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phase allocation.</a:t>
            </a:r>
          </a:p>
          <a:p/>
          <a:p>
            <a:r>
              <a:t>For 1A Q18, divide 5,000 by 320 and report a whole-number quotient with a remainder. Write a multiplication check for the whole groups, then subtract their total from 5,000. What must be true of the remainder? It must be less than one full group of 320. After the attempt, use that condition and the reconstructed total to verify your answer.</a:t>
            </a:r>
          </a:p>
          <a:p/>
          <a:p>
            <a:r>
              <a:t>INSTRUCTOR ONLY — AFTER THE ATTEMPT: 15 remainder 200</a:t>
            </a:r>
          </a:p>
          <a:p>
            <a:r>
              <a:t>Working to discuss after the attempt: 15 × 320 = 4,800; 5,000 − 4,800 = 200. A sixteenth whole group would need 5,120.</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Start by listing the original stock and every specified piece in one common unit. Add the pieces to get the total used, then subtract that total from the stock. Finally, add used length and offcut to reconstruct the starting length. Why is this last line useful? It checks that the whole stock has been accounted for without losing a piece in the calculation. Read the assumptions as well: if the question says to ignore saw cuts, use that simplification. If it states kerf, include the stated cutting loss at the appropriate stage.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The question chooses the rounding direction. When purchasing enough whole boxes or lengths, the order goes up until it covers the need. When cutting complete equal pieces from fixed stock, the count goes down to the number that actually fits. What check can settle an uncertain complete-piece count? Multiply the proposed count by the piece length and compare with the available stock. Then calculate the offcut from the count you will really obtain. A total-length estimate can guide purchasing, but it cannot by itself confirm that a set of different pieces fits a particular cutting arrangement.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Example 1.6 uses four pieces totalling 4,245 mm from a 6,000 mm bar. Subtraction gives an offcut of 1,755 mm. The textbook shows borrowing across the zeros, but the meaning remains simple: remove the used length from the starting stock. How do we check the answer? Add 4,245 and 1,755 to restore 6,000 mm. Notice that these are the textbook's four pieces, not the three different values from our preceding exercise example. Reading the current diagram prevents us from carrying a remembered total into the wrong problem.</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Example 1.7 shows an overall length of 2,400 mm, with two known sections of 750 mm and 900 mm. Add the known sections: 750 plus 900 equals 1,650. The hidden middle section is the remaining 2,400 minus 1,650, or 750 mm. Which line verifies the drawing? 750 plus 750 plus 900 equals 2,400 mm. We can also subtract the two known parts in sequence. Both methods account for the same overall length; the sketch tells us which dimensions belong together.</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The decimal quotient 5.56 does not mean six complete 18-inch pieces fit into 100 inches. Six times eighteen is 108 inches, so that claim needs more material than exists. Five pieces use ninety inches and leave ten, with saw cuts ignored in this example. What does the fractional part describe? A fraction of another piece's required length, not another completed piece. Compare the actual proposed length with the stock before deciding. Ordinary rounding to the nearest whole number is not the rule for counting complete pieces.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Work through 1B questions 2 and 3 again, focusing this time on explaining the whole-unit purchase. Mark the given quantities and label the calculated need before rounding the order. Why is “I rounded up” incomplete as an explanation? It needs a reason: one fewer whole supplier unit would provide less than the calculated need. Use multiplication to demonstrate that shortage and show that the chosen order covers it under the exercise's stated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Revisit 1B Q2 with your partner. Total the five pipe runs, then divide by the 21-foot supplier length. Keep “feet needed” separate from “supplier lengths” in your working. What can the multiplication check prove here? Whether the aggregate supplied length covers the aggregate total. It cannot prove an individual cutting layout. State that limitation while you complete the exercise's purchase estimate, which ignores fittings and waste.</a:t>
            </a:r>
          </a:p>
          <a:p/>
          <a:p>
            <a:r>
              <a:t>INSTRUCTOR ONLY — AFTER THE ATTEMPT: 61 ft. 61 ÷ 21 = 2.9, so buy 3 lengths. Round up: a part length still has to be bought.</a:t>
            </a:r>
          </a:p>
          <a:p>
            <a:r>
              <a:t>Working to discuss after the attempt: 12 + 9 + 15 + 7 + 18 = 61 ft. 61 ÷ 21 is approximately 2.90. Three lengths supply 63 ft. This is the exercise's aggregate estimate, not proof that its individual runs fit a cutting layout.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The total is 61 feet, and 61 divided by 21 is about 2.9, so the textbook's aggregate purchase estimate is three lengths. Three times twenty-one supplies 63 feet. Why is two insufficient? It supplies only 42 feet. Keep the two-foot aggregate surplus labelled as such; separate pipe runs still need a feasible arrangement. This distinction lets us give the exercise's arithmetic answer without pretending that total footage is a completed cutting plan.</a:t>
            </a:r>
          </a:p>
          <a:p/>
          <a:p>
            <a:r>
              <a:t>INSTRUCTOR ONLY — AFTER THE ATTEMPT: 61 ft. 61 ÷ 21 = 2.9, so buy 3 lengths. Round up: a part length still has to be bought.</a:t>
            </a:r>
          </a:p>
          <a:p>
            <a:r>
              <a:t>Working to discuss after the attempt: 12 + 9 + 15 + 7 + 18 = 61 ft. 61 ÷ 21 is approximately 2.90. Three lengths supply 63 ft. This is the exercise's aggregate estimate, not proof that its individual runs fit a cutting layout.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Solve 1B questions 4–5 and 1C questions 1–2. For one cut-list problem, rebuild the sketch in Shape Canvas and write the equation on paper before checking it. What should your drawing make easy to see? The original stock, each stated part and the remaining quantity. Use extra time to correct a mistake and explain a second method. Preserve the original attempt so the improvement in reasoning is visible.</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Open Shape Canvas and use rectangles to represent the cut pieces. The navigation image shows how to work with labelled shapes; enter the values from the assigned question rather than copying unrelated example labels. Add a text label for the stock length. Which information matters more than the drawn width on your screen? The stated dimensions. We are using the diagram to organise quantities and check the cut-list equation.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Place three labelled rectangles for the pieces, then add the original stock length as a text label. On paper, add the piece lengths and subtract the used total from the stock. Next use Numeracy Hub Calculator to verify the arithmetic. How can you reconstruct the original stock? Add the used amount and the offcut, including any loss only where the problem states it. This final line connects the numerical check back to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For 1B Q4, there are nine flanged joints, eight bolts per joint and two nuts per bolt. What does the first multiplication count? Bolts. What does the next multiplication count? Nuts. Keep those labels beside the intermediate quantities so you do not stop after finding the bolts. Attempt the full chain before comparing the answer, then explain why each factor is present.</a:t>
            </a:r>
          </a:p>
          <a:p/>
          <a:p>
            <a:r>
              <a:t>INSTRUCTOR ONLY — AFTER THE ATTEMPT: 144 nuts</a:t>
            </a:r>
          </a:p>
          <a:p>
            <a:r>
              <a:t>Working to discuss after the attempt: 9 × 8 = 72 bolts. Each takes 2 nuts, so 72 × 2 = 144 nuts.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For 1C Q1, read the diagram's three pieces: 1,420 mm, 1,065 mm and 1,890 mm. The stock is 6,000 mm and saw cuts are ignored. Add the piece lengths before finding the remaining offcut. Which relationship will verify your result? Used length plus offcut must equal 6,000 mm. Try the calculation before checking the answer; make sure you use this diagram's values, not an earlier worked example.</a:t>
            </a:r>
          </a:p>
          <a:p/>
          <a:p>
            <a:r>
              <a:t>INSTRUCTOR ONLY — AFTER THE ATTEMPT: 1,625 mm</a:t>
            </a:r>
          </a:p>
          <a:p>
            <a:r>
              <a:t>Working to discuss after the attempt: 1,420 + 1,065 + 1,890 = 4,375 mm used. 6,000 − 4,375 = 1,625 mm offcut. Check: 4,375 + 1,625 = 6,000 mm.</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Rework 1B questions 3 and 5 independently. One asks for enough boxes of bolts, while the other asks how many complete 18-inch pieces can be cut. Explain why the rounding directions differ. What evidence should appear beside each decision? For the boxes, the supply must cover the need; for the pieces, the total used must not exceed the stock. Show those comparisons and keep solutions closed during the attempt.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For 1B Q3, find the bolts needed for fourteen baseplates, then the whole-box order when each box contains twenty-five. Give both quantities and a sentence explaining the order. After the attempt, show why the next lower box count would be short. The arithmetic alone does not explain the purchase decision; the comparison between supplied bolts and required bolts does.</a:t>
            </a:r>
          </a:p>
          <a:p/>
          <a:p>
            <a:r>
              <a:t>INSTRUCTOR ONLY — AFTER THE ATTEMPT: 112 bolts, 5 boxes 14 × 8 = 112. 112 ÷ 25 = 4.48, round up to 5 boxes.</a:t>
            </a:r>
          </a:p>
          <a:p>
            <a:r>
              <a:t>Working to discuss after the attempt: Four boxes supply 100 bolts, which is short of 112. Five boxes supply 125 bolts, covering the need with 13 left.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For 1B Q5, use the supplied conversion of twenty feet to 240 inches. Count complete 18-inch pieces, ignoring saw cuts, and calculate the offcut from that whole-piece count. What comparison rules out the next complete piece? Its total required length would exceed 240 inches. Make the decision before checking the worked answer, then reconstruct the original stock from used length and offcut.</a:t>
            </a:r>
          </a:p>
          <a:p/>
          <a:p>
            <a:r>
              <a:t>INSTRUCTOR ONLY — AFTER THE ATTEMPT: 13 pieces, offcut 6 in 240 ÷ 18 = 13.33. 13 × 18 = 234. 240 − 234 = 6.</a:t>
            </a:r>
          </a:p>
          <a:p>
            <a:r>
              <a:t>Working to discuss after the attempt: A fourteenth complete piece would require 14 × 18 = 252 in, exceeding 240 in. Check the actual result: 234 + 6 = 240 in.</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11:55 AM–12:00 PM | 5 MIN TOTAL — shared phase allocation.</a:t>
            </a:r>
          </a:p>
          <a:p/>
          <a:p>
            <a:r>
              <a:t>Explain the two rounding decisions in your own words: buy enough whole units, but count only complete pieces that fit. Choose a stock problem and point to the check that reconstructs the original amount. Which step will you practise next: translating the problem, adding the pieces, calculating the remainder or justifying the rounding? Write that target beside one corrected solution. Next time we will use brackets to make multi-step calculations communicate their intended order.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books/ACCESS-Trades-Numeracy-Textbook.pdf#page=22"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hyperlink" Target="../../../books/ACCESS-Trades-Numeracy-Textbook.pdf#page=22"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7"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7"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books/ACCESS-Trades-Numeracy-Textbook.pdf#page=17"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hyperlink" Target="../../../books/ACCESS-Trades-Numeracy-Textbook.pdf#page=17"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hyperlink" Target="../../../books/ACCESS-Trades-Numeracy-Textbook.pdf#page=17"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hyperlink" Target="../../../books/ACCESS-Trades-Numeracy-Textbook.pdf#page=17"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books/ACCESS-Trades-Numeracy-Textbook.pdf#page=17"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6.png"/><Relationship Id="rId4" Type="http://schemas.openxmlformats.org/officeDocument/2006/relationships/hyperlink" Target="../../../books/ACCESS-Trades-Numeracy-Textbook.pdf#page=17"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hyperlink" Target="../../../books/ACCESS-Trades-Numeracy-Textbook.pdf#page=16"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16"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10"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6.png"/><Relationship Id="rId4" Type="http://schemas.openxmlformats.org/officeDocument/2006/relationships/hyperlink" Target="../../../books/ACCESS-Trades-Numeracy-Textbook.pdf#page=14"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02  |  Friday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October 30,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Quantities, averages and word problems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Cut-list practice and rounding</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Calculation Practice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1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02  /  WEEK 1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Quantities, averages and word problems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1, Lesson 3</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Cut-list practice and rounding</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Calculation Practice  •  Math Week 1, Lesson 4</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Quantities, averages and word problems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Choose operations from a job problem and explain the difference between full pieces and purchase quantities.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1 pp.17–23</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1A Q15–19 (p.7); 1B Q2–5 (p.8)</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pp.17–23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information is given, what must be found and which unit the answer needs.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Translate the story into groups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pp.17–23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what is given and what must be found before choosing an operation.</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Equal groups: number of groups × amount in each group gives the total.</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Sharing equally: total ÷ number of groups gives the amount in each group.</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Average: add all the values, then divide by how many values were added.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05</a:t>
            </a:r>
          </a:p>
        </p:txBody>
      </p:sp>
      <p:pic>
        <p:nvPicPr>
          <p:cNvPr id="32" name="Visual groups relationship" descr="Three boxes: total at the top, number of groups and amount in each group at the bottom joined by a times sign. Arrow up labelled groups times each, arrow down labelled total divided by groups."/>
          <p:cNvPicPr>
            <a:picLocks noChangeAspect="1"/>
          </p:cNvPicPr>
          <p:nvPr/>
        </p:nvPicPr>
        <p:blipFill>
          <a:blip r:embed="rId8"/>
          <a:stretch>
            <a:fillRect/>
          </a:stretch>
        </p:blipFill>
        <p:spPr>
          <a:xfrm>
            <a:off x="2441804" y="4626864"/>
            <a:ext cx="7296199" cy="14630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Separate need from purchase quantity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pp.17–23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First calculate the exact number or length needed for the job.</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Divide by the supplier’s quantity per box or stock length.</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part box still requires a whole box: round the purchase up.</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how much the whole-unit order supplies and whether it covers the need.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06</a:t>
            </a:r>
          </a:p>
        </p:txBody>
      </p:sp>
      <p:pic>
        <p:nvPicPr>
          <p:cNvPr id="32" name="Visual need and whole boxes" descr="A bar for the calculated need above four boxes. The need ends part way through the fourth box, which is dashed and labelled part box: buy a whole box."/>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99871" y="2136140"/>
            <a:ext cx="11192256" cy="1243816"/>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600" y="457200"/>
            <a:ext cx="9418320" cy="184666"/>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W01-L03  •  TEACH  •  9:10 AM–9:25 AM  •  15 MIN TOTAL</a:t>
            </a:r>
            <a:endParaRPr lang="en-US" sz="1200" dirty="0"/>
          </a:p>
        </p:txBody>
      </p:sp>
      <p:sp>
        <p:nvSpPr>
          <p:cNvPr id="4" name="Text 2"/>
          <p:cNvSpPr/>
          <p:nvPr/>
        </p:nvSpPr>
        <p:spPr>
          <a:xfrm>
            <a:off x="609600" y="896112"/>
            <a:ext cx="10972800"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Pieces needed ≠ boxes purchased</a:t>
            </a:r>
            <a:endParaRPr lang="en-US" sz="3000" dirty="0"/>
          </a:p>
        </p:txBody>
      </p:sp>
      <p:sp>
        <p:nvSpPr>
          <p:cNvPr id="5" name="Text 3"/>
          <p:cNvSpPr/>
          <p:nvPr/>
        </p:nvSpPr>
        <p:spPr>
          <a:xfrm>
            <a:off x="609600" y="1739900"/>
            <a:ext cx="10972800" cy="276999"/>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Classroom example: 12 brackets need 6 screws each. A box holds 20.</a:t>
            </a:r>
            <a:endParaRPr lang="en-US" sz="1800" dirty="0"/>
          </a:p>
        </p:txBody>
      </p:sp>
      <p:sp>
        <p:nvSpPr>
          <p:cNvPr id="6" name="Text 4"/>
          <p:cNvSpPr/>
          <p:nvPr/>
        </p:nvSpPr>
        <p:spPr>
          <a:xfrm>
            <a:off x="609600" y="2273300"/>
            <a:ext cx="10972800" cy="969496"/>
          </a:xfrm>
          <a:prstGeom prst="rect">
            <a:avLst/>
          </a:prstGeom>
          <a:noFill/>
          <a:ln/>
        </p:spPr>
        <p:txBody>
          <a:bodyPr wrap="square" lIns="0" tIns="0" rIns="0" bIns="0" rtlCol="0" anchor="t">
            <a:normAutofit fontScale="100000" lnSpcReduction="0"/>
          </a:bodyPr>
          <a:lstStyle/>
          <a:p>
            <a:pPr marL="0" indent="0" algn="l">
              <a:buNone/>
            </a:pPr>
            <a:r>
              <a:rPr lang="en-US" sz="2100" dirty="0" b="1">
                <a:solidFill>
                  <a:srgbClr val="111218"/>
                </a:solidFill>
                <a:latin typeface="Arial" pitchFamily="34" charset="0"/>
                <a:ea typeface="Arial" pitchFamily="34" charset="-122"/>
                <a:cs typeface="Arial" pitchFamily="34" charset="-120"/>
              </a:rPr>
              <a:t>12 × 6 = 72 screws needed</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72 ÷ 20 = 3.6 boxes → buy 4 whole boxes</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Check: 4 × 20 = 80 screws, so 8 remain</a:t>
            </a:r>
            <a:endParaRPr lang="en-US" sz="2100" dirty="0"/>
          </a:p>
        </p:txBody>
      </p:sp>
      <p:sp>
        <p:nvSpPr>
          <p:cNvPr id="7" name="Text 5"/>
          <p:cNvSpPr/>
          <p:nvPr/>
        </p:nvSpPr>
        <p:spPr>
          <a:xfrm>
            <a:off x="612648" y="3813048"/>
            <a:ext cx="5669280" cy="320040"/>
          </a:xfrm>
          <a:prstGeom prst="rect">
            <a:avLst/>
          </a:prstGeom>
          <a:noFill/>
          <a:ln/>
        </p:spPr>
        <p:txBody>
          <a:bodyPr wrap="square" lIns="0" tIns="0" rIns="0" bIns="0" rtlCol="0" anchor="t">
            <a:normAutofit fontScale="100000" lnSpcReduction="0"/>
          </a:bodyPr>
          <a:lstStyle/>
          <a:p>
            <a:pPr marL="0" indent="0" algn="l">
              <a:buNone/>
            </a:pPr>
            <a:r>
              <a:rPr lang="en-US" sz="2100" b="1" dirty="0">
                <a:solidFill>
                  <a:srgbClr val="111218"/>
                </a:solidFill>
                <a:latin typeface="Arial" pitchFamily="34" charset="0"/>
                <a:ea typeface="Arial" pitchFamily="34" charset="-122"/>
                <a:cs typeface="Arial" pitchFamily="34" charset="-120"/>
              </a:rPr>
              <a:t>Average example</a:t>
            </a:r>
            <a:endParaRPr lang="en-US" sz="2100" dirty="0"/>
          </a:p>
        </p:txBody>
      </p:sp>
      <p:sp>
        <p:nvSpPr>
          <p:cNvPr id="8" name="Text 6"/>
          <p:cNvSpPr/>
          <p:nvPr/>
        </p:nvSpPr>
        <p:spPr>
          <a:xfrm>
            <a:off x="612648" y="4306824"/>
            <a:ext cx="5669280" cy="557784"/>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Lengths 60, 64, 68 and 72 mm: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(60 + 64 + 68 + 72) ÷ 4 = 66 mm</a:t>
            </a:r>
            <a:endParaRPr lang="en-US" sz="1800" dirty="0"/>
          </a:p>
        </p:txBody>
      </p:sp>
      <p:sp>
        <p:nvSpPr>
          <p:cNvPr id="9" name="Text 7"/>
          <p:cNvSpPr/>
          <p:nvPr/>
        </p:nvSpPr>
        <p:spPr>
          <a:xfrm>
            <a:off x="612648" y="5157216"/>
            <a:ext cx="5669280" cy="320040"/>
          </a:xfrm>
          <a:prstGeom prst="rect">
            <a:avLst/>
          </a:prstGeom>
          <a:noFill/>
          <a:ln/>
        </p:spPr>
        <p:txBody>
          <a:bodyPr wrap="square" lIns="0" tIns="0" rIns="0" bIns="0" rtlCol="0" anchor="t">
            <a:normAutofit fontScale="100000" lnSpcReduction="0"/>
          </a:bodyPr>
          <a:lstStyle/>
          <a:p>
            <a:pPr marL="0" indent="0" algn="l">
              <a:buNone/>
            </a:pPr>
            <a:r>
              <a:rPr lang="en-US" sz="2100" b="1" dirty="0">
                <a:solidFill>
                  <a:srgbClr val="111218"/>
                </a:solidFill>
                <a:latin typeface="Arial" pitchFamily="34" charset="0"/>
                <a:ea typeface="Arial" pitchFamily="34" charset="-122"/>
                <a:cs typeface="Arial" pitchFamily="34" charset="-120"/>
              </a:rPr>
              <a:t>Work together</a:t>
            </a:r>
            <a:endParaRPr lang="en-US" sz="2100" dirty="0"/>
          </a:p>
        </p:txBody>
      </p:sp>
      <p:sp>
        <p:nvSpPr>
          <p:cNvPr id="10" name="Text 8"/>
          <p:cNvSpPr/>
          <p:nvPr/>
        </p:nvSpPr>
        <p:spPr>
          <a:xfrm>
            <a:off x="609600" y="5664200"/>
            <a:ext cx="10972800" cy="553998"/>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Exercise Book 1B Q2–3. Separate the calculated need from the supplier order. An aggregate length estimate is not a verified cutting layout.</a:t>
            </a:r>
            <a:endParaRPr lang="en-US" sz="1800" dirty="0"/>
          </a:p>
        </p:txBody>
      </p:sp>
      <p:sp>
        <p:nvSpPr>
          <p:cNvPr id="11" name="TextBox 10">
            <a:extLst>
              <a:ext uri="{FF2B5EF4-FFF2-40B4-BE49-F238E27FC236}">
                <a16:creationId xmlns:a16="http://schemas.microsoft.com/office/drawing/2014/main" id="{3F2FB17D-0485-410E-B752-EBB951159695}"/>
              </a:ext>
            </a:extLst>
          </p:cNvPr>
          <p:cNvSpPr txBox="1"/>
          <p:nvPr/>
        </p:nvSpPr>
        <p:spPr>
          <a:xfrm>
            <a:off x="609600" y="6236208"/>
            <a:ext cx="10881360" cy="256032"/>
          </a:xfrm>
          <a:prstGeom prst="rect">
            <a:avLst/>
          </a:prstGeom>
          <a:noFill/>
        </p:spPr>
        <p:txBody>
          <a:bodyPr vertOverflow="overflow" vert="horz" wrap="square" rtlCol="0" anchor="t" lIns="0" rIns="0" tIns="0" bIns="0">
            <a:normAutofit fontScale="100000" lnSpcReduction="0"/>
          </a:bodyPr>
          <a:lstStyle/>
          <a:p>
            <a:pPr algn="l">
              <a:spcBef>
                <a:spcPts val="0"/>
              </a:spcBef>
              <a:spcAft>
                <a:spcPts val="0"/>
              </a:spcAft>
              <a:defRPr sz="1150"/>
            </a:pPr>
            <a:r>
              <a:rPr lang="en-US" sz="1150">
                <a:solidFill>
                  <a:srgbClr val="424957"/>
                </a:solidFill>
                <a:latin typeface="Arial"/>
              </a:rPr>
              <a:t>W1 L3 • Classroom examples use new values; purchase estimate is not a cutting plan</a:t>
            </a:r>
            <a:endParaRPr lang="en-CA" sz="1050">
              <a:solidFill>
                <a:srgbClr val="4A4E54"/>
              </a:solidFill>
            </a:endParaRP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07</a:t>
            </a:r>
          </a:p>
        </p:txBody>
      </p:sp>
      <p:pic>
        <p:nvPicPr>
          <p:cNvPr id="25" name="Visual boxes of 20" descr="Four boxes each labelled 20. Three are full and the fourth is part full; a dimension over them reads 72 screws needed, and the empty part of the last box reads 8 remain."/>
          <p:cNvPicPr>
            <a:picLocks noChangeAspect="1"/>
          </p:cNvPicPr>
          <p:nvPr/>
        </p:nvPicPr>
        <p:blipFill>
          <a:blip r:embed="rId8"/>
          <a:stretch>
            <a:fillRect/>
          </a:stretch>
        </p:blipFill>
        <p:spPr>
          <a:xfrm>
            <a:off x="6409436" y="3493008"/>
            <a:ext cx="5149088" cy="2048256"/>
          </a:xfrm>
          <a:prstGeom prst="rect">
            <a:avLst/>
          </a:prstGeom>
        </p:spPr>
      </p:pic>
    </p:spTree>
    <p:extLst>
      <p:ext uri="{BB962C8B-B14F-4D97-AF65-F5344CB8AC3E}">
        <p14:creationId xmlns:p14="http://schemas.microsoft.com/office/powerpoint/2010/main" val="2725104699"/>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W01-L03.png"/>
          <p:cNvPicPr>
            <a:picLocks noChangeAspect="1"/>
          </p:cNvPicPr>
          <p:nvPr/>
        </p:nvPicPr>
        <p:blipFill>
          <a:blip r:embed="rId3"/>
          <a:stretch>
            <a:fillRect/>
          </a:stretch>
        </p:blipFill>
        <p:spPr>
          <a:xfrm>
            <a:off x="685800" y="2454639"/>
            <a:ext cx="10698480" cy="254308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p.22 · Example 1.13: add the values, then divide by their count.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W01-L03-2.png"/>
          <p:cNvPicPr>
            <a:picLocks noChangeAspect="1"/>
          </p:cNvPicPr>
          <p:nvPr/>
        </p:nvPicPr>
        <p:blipFill>
          <a:blip r:embed="rId3"/>
          <a:stretch>
            <a:fillRect/>
          </a:stretch>
        </p:blipFill>
        <p:spPr>
          <a:xfrm>
            <a:off x="685800" y="2052491"/>
            <a:ext cx="10698480" cy="334737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p.22 · Example 1.14: calculate need, then round the whole-box order up.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job needs 3.6 boxes. Why is ordering 3 boxes not enough?</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Three boxes provide less than the calculated need. Buy 4 whole boxes and check the quantity supplied.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pp.17–23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1B questions 2–3. Label the number needed and the number of full supplier units separately.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1B-Q2.png"/>
          <p:cNvPicPr>
            <a:picLocks noChangeAspect="1"/>
          </p:cNvPicPr>
          <p:nvPr/>
        </p:nvPicPr>
        <p:blipFill>
          <a:blip r:embed="rId3"/>
          <a:srcRect l="741" t="5128" r="6605" b="10256"/>
          <a:stretch>
            <a:fillRect/>
          </a:stretch>
        </p:blipFill>
        <p:spPr>
          <a:xfrm>
            <a:off x="765048" y="1920240"/>
            <a:ext cx="9912604" cy="1961387"/>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12</a:t>
            </a:r>
          </a:p>
        </p:txBody>
      </p:sp>
      <p:pic>
        <p:nvPicPr>
          <p:cNvPr id="20" name="Visual pipe runs" descr="Five pipe runs laid end to end, 12 ft, 9 ft, 15 ft, 7 ft and 18 ft, with the total marked as a question mark. Under them one 21 ft supplier length at the same scale, and lengths to buy marked as a question mark."/>
          <p:cNvPicPr>
            <a:picLocks noChangeAspect="1"/>
          </p:cNvPicPr>
          <p:nvPr/>
        </p:nvPicPr>
        <p:blipFill>
          <a:blip r:embed="rId9"/>
          <a:stretch>
            <a:fillRect/>
          </a:stretch>
        </p:blipFill>
        <p:spPr>
          <a:xfrm>
            <a:off x="952823" y="4009643"/>
            <a:ext cx="10292450" cy="139446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1B-Q2.png"/>
          <p:cNvPicPr>
            <a:picLocks noChangeAspect="1"/>
          </p:cNvPicPr>
          <p:nvPr/>
        </p:nvPicPr>
        <p:blipFill>
          <a:blip r:embed="rId3"/>
          <a:srcRect l="741" t="5128" r="6605" b="10256"/>
          <a:stretch>
            <a:fillRect/>
          </a:stretch>
        </p:blipFill>
        <p:spPr>
          <a:xfrm>
            <a:off x="2402040" y="1856232"/>
            <a:ext cx="7394017" cy="14630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61 ft. 61 ÷ 21 = 2.9, so buy 3 lengths.</a:t>
            </a:r>
          </a:p>
        </p:txBody>
      </p:sp>
      <p:sp>
        <p:nvSpPr>
          <p:cNvPr id="8" name="TextBox 7"/>
          <p:cNvSpPr txBox="1"/>
          <p:nvPr/>
        </p:nvSpPr>
        <p:spPr>
          <a:xfrm>
            <a:off x="685800" y="5166360"/>
            <a:ext cx="10698480" cy="685800"/>
          </a:xfrm>
          <a:prstGeom prst="rect">
            <a:avLst/>
          </a:prstGeom>
          <a:noFill/>
        </p:spPr>
        <p:txBody>
          <a:bodyPr wrap="square" lIns="0" rIns="0" tIns="0" bIns="0" anchor="t">
            <a:normAutofit fontScale="100000" lnSpcReduction="0"/>
          </a:bodyPr>
          <a:lstStyle/>
          <a:p>
            <a:pPr>
              <a:spcBef>
                <a:spcPts val="0"/>
              </a:spcBef>
              <a:spcAft>
                <a:spcPts val="300"/>
              </a:spcAft>
              <a:defRPr sz="1900" b="0">
                <a:solidFill>
                  <a:srgbClr val="4A4E54"/>
                </a:solidFill>
                <a:latin typeface="Arial"/>
              </a:defRPr>
            </a:pPr>
            <a:r>
              <a:rPr>
                <a:solidFill>
                  <a:srgbClr val="111218"/>
                </a:solidFill>
                <a:latin typeface="Arial"/>
              </a:rPr>
              <a:t>Round up: a part length still has to be bought.</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pp.17–23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1A questions 15–18 and 1B questions 4–5. Explain each operation and check the answer using multiplication or addition.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hub-calc.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Draw the groups and label what each number counts in 1B Q2–3.</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Write the operation and units for the assigned 1A/1B questions before keying.</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Use Numeracy Hub Calculator, then verify with multiplication or addition.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1A-Q15.png"/>
          <p:cNvPicPr>
            <a:picLocks noChangeAspect="1"/>
          </p:cNvPicPr>
          <p:nvPr/>
        </p:nvPicPr>
        <p:blipFill>
          <a:blip r:embed="rId3"/>
          <a:srcRect l="802" t="14074" r="87160" b="33333"/>
          <a:stretch>
            <a:fillRect/>
          </a:stretch>
        </p:blipFill>
        <p:spPr>
          <a:xfrm>
            <a:off x="771652" y="1920240"/>
            <a:ext cx="1287780" cy="468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17</a:t>
            </a:r>
          </a:p>
        </p:txBody>
      </p:sp>
      <p:pic>
        <p:nvPicPr>
          <p:cNvPr id="20" name="Visual area model 32 by 15" descr="Rectangle 32 wide and 15 tall, split by dashed lines into 30 and 2 across and 10 and 5 down. The four parts are empty."/>
          <p:cNvPicPr>
            <a:picLocks noChangeAspect="1"/>
          </p:cNvPicPr>
          <p:nvPr/>
        </p:nvPicPr>
        <p:blipFill>
          <a:blip r:embed="rId9"/>
          <a:stretch>
            <a:fillRect/>
          </a:stretch>
        </p:blipFill>
        <p:spPr>
          <a:xfrm>
            <a:off x="3178361" y="2611882"/>
            <a:ext cx="5841374" cy="26974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1A Q16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1A-Q16.png"/>
          <p:cNvPicPr>
            <a:picLocks noChangeAspect="1"/>
          </p:cNvPicPr>
          <p:nvPr/>
        </p:nvPicPr>
        <p:blipFill>
          <a:blip r:embed="rId3"/>
          <a:srcRect l="864" t="14074" r="85494" b="33333"/>
          <a:stretch>
            <a:fillRect/>
          </a:stretch>
        </p:blipFill>
        <p:spPr>
          <a:xfrm>
            <a:off x="778256" y="1920240"/>
            <a:ext cx="1459484" cy="468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18</a:t>
            </a:r>
          </a:p>
        </p:txBody>
      </p:sp>
      <p:pic>
        <p:nvPicPr>
          <p:cNvPr id="20" name="Visual area model 215 by 24" descr="Rectangle 215 wide and 24 tall, split by dashed lines into 200, 10 and 5 across and 20 and 4 down. The six parts are empty."/>
          <p:cNvPicPr>
            <a:picLocks noChangeAspect="1"/>
          </p:cNvPicPr>
          <p:nvPr/>
        </p:nvPicPr>
        <p:blipFill>
          <a:blip r:embed="rId9"/>
          <a:stretch>
            <a:fillRect/>
          </a:stretch>
        </p:blipFill>
        <p:spPr>
          <a:xfrm>
            <a:off x="2632216" y="2611882"/>
            <a:ext cx="6933663" cy="26974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1A question 19 and 1B question 3 independently.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1A Q19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1A-Q19.png"/>
          <p:cNvPicPr>
            <a:picLocks noChangeAspect="1"/>
          </p:cNvPicPr>
          <p:nvPr/>
        </p:nvPicPr>
        <p:blipFill>
          <a:blip r:embed="rId3"/>
          <a:srcRect l="926" t="13333" r="47037" b="26667"/>
          <a:stretch>
            <a:fillRect/>
          </a:stretch>
        </p:blipFill>
        <p:spPr>
          <a:xfrm>
            <a:off x="784860" y="1920240"/>
            <a:ext cx="5567172"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20</a:t>
            </a:r>
          </a:p>
        </p:txBody>
      </p:sp>
      <p:pic>
        <p:nvPicPr>
          <p:cNvPr id="20" name="Visual four values" descr="Four bars from a zero baseline labelled 64, 58, 71 and 67."/>
          <p:cNvPicPr>
            <a:picLocks noChangeAspect="1"/>
          </p:cNvPicPr>
          <p:nvPr/>
        </p:nvPicPr>
        <p:blipFill>
          <a:blip r:embed="rId9"/>
          <a:stretch>
            <a:fillRect/>
          </a:stretch>
        </p:blipFill>
        <p:spPr>
          <a:xfrm>
            <a:off x="3538728" y="2713482"/>
            <a:ext cx="5120640" cy="25603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1B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pic>
        <p:nvPicPr>
          <p:cNvPr id="5" name="Picture 4" descr="1B-Q3.png"/>
          <p:cNvPicPr>
            <a:picLocks noChangeAspect="1"/>
          </p:cNvPicPr>
          <p:nvPr/>
        </p:nvPicPr>
        <p:blipFill>
          <a:blip r:embed="rId3"/>
          <a:srcRect l="741" t="6452" r="1790" b="12903"/>
          <a:stretch>
            <a:fillRect/>
          </a:stretch>
        </p:blipFill>
        <p:spPr>
          <a:xfrm>
            <a:off x="765048" y="1920240"/>
            <a:ext cx="10427716"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21</a:t>
            </a:r>
          </a:p>
        </p:txBody>
      </p:sp>
      <p:pic>
        <p:nvPicPr>
          <p:cNvPr id="20" name="Visual baseplates and bolts" descr="One baseplate drawn with 8 anchor bolt holes, times 14 baseplates, a box labelled 25 bolts per box, and question marks for bolts needed and boxes."/>
          <p:cNvPicPr>
            <a:picLocks noChangeAspect="1"/>
          </p:cNvPicPr>
          <p:nvPr/>
        </p:nvPicPr>
        <p:blipFill>
          <a:blip r:embed="rId9"/>
          <a:stretch>
            <a:fillRect/>
          </a:stretch>
        </p:blipFill>
        <p:spPr>
          <a:xfrm>
            <a:off x="1087208" y="3534156"/>
            <a:ext cx="10023681" cy="186994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W01-L03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pp.17–23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02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Cut-list practice and rounding</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Cut-list practice and rounding</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Solve multi-step stock problems and distinguish rounding up purchases from rounding down complete pieces.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1.4–1.8 pp.14–23; sections 2.11 p.59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1B Q1–5 (p.8); 1C Q1–2 (p.10)</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1.4–1.8 pp.14–23; sections 2.11 p.59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why buying boxes and cutting full pieces need different rounding decisions. Retrieve 1A Q18 (p.7).</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1A Q18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1A-Q18.png"/>
          <p:cNvPicPr>
            <a:picLocks noChangeAspect="1"/>
          </p:cNvPicPr>
          <p:nvPr/>
        </p:nvPicPr>
        <p:blipFill>
          <a:blip r:embed="rId3"/>
          <a:srcRect l="926" t="13333" r="1914" b="26667"/>
          <a:stretch>
            <a:fillRect/>
          </a:stretch>
        </p:blipFill>
        <p:spPr>
          <a:xfrm>
            <a:off x="784860" y="1920240"/>
            <a:ext cx="1039469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26</a:t>
            </a:r>
          </a:p>
        </p:txBody>
      </p:sp>
      <p:pic>
        <p:nvPicPr>
          <p:cNvPr id="20" name="Visual 5,000 divided into 320s" descr="Bar labelled 5,000 overall. The first part, 320, is marked; the rest is dashed with the text how many 320s fit, what is left over."/>
          <p:cNvPicPr>
            <a:picLocks noChangeAspect="1"/>
          </p:cNvPicPr>
          <p:nvPr/>
        </p:nvPicPr>
        <p:blipFill>
          <a:blip r:embed="rId9"/>
          <a:stretch>
            <a:fillRect/>
          </a:stretch>
        </p:blipFill>
        <p:spPr>
          <a:xfrm>
            <a:off x="1082911" y="2896362"/>
            <a:ext cx="10032274" cy="219456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Account for the stock length</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1.4–1.8 pp.14–23; sections 2.11 p.59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List the original stock and every specified piece in the same unit.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 the piece lengths to obtain the total used.</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Offcut = original stock − total used.</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by adding used length and offcut to restore the original stock.</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27</a:t>
            </a:r>
          </a:p>
        </p:txBody>
      </p:sp>
      <p:pic>
        <p:nvPicPr>
          <p:cNvPr id="32" name="Visual stock account" descr="Stock bar labelled original stock length, cut into three pieces and a dashed offcut. Under it: total used equals add the pieces, offcut equals stock minus used."/>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Let the question choose the rounding direction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1.4–1.8 pp.14–23; sections 2.11 p.59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Buying enough whole supplier units requires rounding up.</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Counting complete pieces from fixed stock requires rounding down.</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Calculate the offcut from the whole pieces actually obtained.</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total-length calculation alone does not prove a cutting arrangement will fit.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28</a:t>
            </a:r>
          </a:p>
        </p:txBody>
      </p:sp>
      <p:pic>
        <p:nvPicPr>
          <p:cNvPr id="32" name="Visual rounding direction" descr="Row 1, buying supplier units, round up: four units with the need ending in the fourth, part unit: buy it. Row 2, cutting complete pieces, round down: three pieces and a dashed leftover, leftover: not a piece."/>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2920" y="2139696"/>
            <a:ext cx="11192256" cy="128016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W01-L04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Account for the whole stock length</a:t>
            </a:r>
            <a:endParaRPr lang="en-US" sz="3000" dirty="0"/>
          </a:p>
        </p:txBody>
      </p:sp>
      <p:sp>
        <p:nvSpPr>
          <p:cNvPr id="5" name="Text 3"/>
          <p:cNvSpPr/>
          <p:nvPr/>
        </p:nvSpPr>
        <p:spPr>
          <a:xfrm>
            <a:off x="609585" y="1666875"/>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Exercise Book 1B Q1: stock 6,000 mm; pieces 1,350, 980 and 2,145 mm.</a:t>
            </a:r>
            <a:endParaRPr lang="en-US" sz="1800" dirty="0"/>
          </a:p>
        </p:txBody>
      </p:sp>
      <p:sp>
        <p:nvSpPr>
          <p:cNvPr id="6" name="Text 4"/>
          <p:cNvSpPr/>
          <p:nvPr/>
        </p:nvSpPr>
        <p:spPr>
          <a:xfrm>
            <a:off x="612648" y="2240280"/>
            <a:ext cx="10972800" cy="109728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Used = 1,350 + 980 + 2,145 = 4,475 mm</a:t>
            </a:r>
            <a:endParaRPr lang="en-US" sz="2400" dirty="0"/>
          </a:p>
          <a:p>
            <a:pPr marL="0" indent="0" algn="l">
              <a:buNone/>
            </a:pPr>
            <a:r>
              <a:rPr lang="en-US" sz="2400" dirty="0" b="1">
                <a:solidFill>
                  <a:srgbClr val="111218"/>
                </a:solidFill>
                <a:latin typeface="Arial" pitchFamily="34" charset="0"/>
                <a:ea typeface="Arial" pitchFamily="34" charset="-122"/>
                <a:cs typeface="Arial" pitchFamily="34" charset="-120"/>
              </a:rPr>
              <a:t>Offcut = 6,000 − 4,475 = 1,525 mm</a:t>
            </a:r>
            <a:endParaRPr lang="en-US" sz="2400" dirty="0"/>
          </a:p>
          <a:p>
            <a:pPr marL="0" indent="0" algn="l">
              <a:buNone/>
            </a:pPr>
            <a:r>
              <a:rPr lang="en-US" sz="2400" dirty="0" b="1">
                <a:solidFill>
                  <a:srgbClr val="111218"/>
                </a:solidFill>
                <a:latin typeface="Arial" pitchFamily="34" charset="0"/>
                <a:ea typeface="Arial" pitchFamily="34" charset="-122"/>
                <a:cs typeface="Arial" pitchFamily="34" charset="-120"/>
              </a:rPr>
              <a:t>Check: 4,475 + 1,525 = 6,000 mm</a:t>
            </a:r>
            <a:endParaRPr lang="en-US" sz="2400" dirty="0"/>
          </a:p>
        </p:txBody>
      </p:sp>
      <p:sp>
        <p:nvSpPr>
          <p:cNvPr id="7" name="Text 5"/>
          <p:cNvSpPr/>
          <p:nvPr/>
        </p:nvSpPr>
        <p:spPr>
          <a:xfrm>
            <a:off x="612648" y="4773168"/>
            <a:ext cx="10972800" cy="566928"/>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Complete-piece example, ignoring kerf: 100 in ÷ 18 in = 5 full pieces.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Offcut = 100 − 5 × 18 = 10 in. A sixth full piece does not fit.</a:t>
            </a:r>
            <a:endParaRPr lang="en-US" sz="1800" dirty="0"/>
          </a:p>
        </p:txBody>
      </p:sp>
      <p:sp>
        <p:nvSpPr>
          <p:cNvPr id="8" name="Text 6"/>
          <p:cNvSpPr/>
          <p:nvPr/>
        </p:nvSpPr>
        <p:spPr>
          <a:xfrm>
            <a:off x="612648" y="5449824"/>
            <a:ext cx="10972800" cy="566928"/>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1B Q2–3. Identify given quantities, choose operations and justify rounding. Add kerf only when stated; never assume a cutting layout is feasible from a total alone.</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Math Week 1 L4 • Shape Canvas: three labelled rectangles and original stock length</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29</a:t>
            </a:r>
          </a:p>
        </p:txBody>
      </p:sp>
      <p:pic>
        <p:nvPicPr>
          <p:cNvPr id="23" name="Visual cut list 6,000 mm" descr="Stock bar 6,000 mm long, drawn to scale, cut into 1,350 mm, 980 mm and 2,145 mm pieces and a dashed offcut of 1,525 mm."/>
          <p:cNvPicPr>
            <a:picLocks noChangeAspect="1"/>
          </p:cNvPicPr>
          <p:nvPr/>
        </p:nvPicPr>
        <p:blipFill>
          <a:blip r:embed="rId8"/>
          <a:stretch>
            <a:fillRect/>
          </a:stretch>
        </p:blipFill>
        <p:spPr>
          <a:xfrm>
            <a:off x="618001" y="3529584"/>
            <a:ext cx="10962095" cy="11704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W01-L04.png"/>
          <p:cNvPicPr>
            <a:picLocks noChangeAspect="1"/>
          </p:cNvPicPr>
          <p:nvPr/>
        </p:nvPicPr>
        <p:blipFill>
          <a:blip r:embed="rId3"/>
          <a:stretch>
            <a:fillRect/>
          </a:stretch>
        </p:blipFill>
        <p:spPr>
          <a:xfrm>
            <a:off x="685800" y="1913809"/>
            <a:ext cx="10698480" cy="362474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p.16 · Example 1.6: used length and offcut account for the original stock.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W01-L04-2.png"/>
          <p:cNvPicPr>
            <a:picLocks noChangeAspect="1"/>
          </p:cNvPicPr>
          <p:nvPr/>
        </p:nvPicPr>
        <p:blipFill>
          <a:blip r:embed="rId3"/>
          <a:stretch>
            <a:fillRect/>
          </a:stretch>
        </p:blipFill>
        <p:spPr>
          <a:xfrm>
            <a:off x="685800" y="2078570"/>
            <a:ext cx="10698480" cy="329521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p.16 · Example 1.7: known parts and a hidden dimension.</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100 in ÷ 18 in is about 5.56. Can the stock produce 6 complete 18 in pieces?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Six pieces need 108 in. Five complete pieces use 90 in, leaving 10 in, ignoring kerf.</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1.4–1.8 pp.14–23; sections 2.11 p.59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1B Q2–3 in pairs. Mark given quantities, choose operations, and justify purchase rounding.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1B-Q2.png"/>
          <p:cNvPicPr>
            <a:picLocks noChangeAspect="1"/>
          </p:cNvPicPr>
          <p:nvPr/>
        </p:nvPicPr>
        <p:blipFill>
          <a:blip r:embed="rId3"/>
          <a:srcRect l="741" t="5128" r="6605" b="10256"/>
          <a:stretch>
            <a:fillRect/>
          </a:stretch>
        </p:blipFill>
        <p:spPr>
          <a:xfrm>
            <a:off x="765048" y="1920240"/>
            <a:ext cx="9912604" cy="1961387"/>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34</a:t>
            </a:r>
          </a:p>
        </p:txBody>
      </p:sp>
      <p:pic>
        <p:nvPicPr>
          <p:cNvPr id="20" name="Visual pipe runs" descr="Five pipe runs laid end to end, 12 ft, 9 ft, 15 ft, 7 ft and 18 ft, with the total marked as a question mark. Under them one 21 ft supplier length at the same scale, and lengths to buy marked as a question mark."/>
          <p:cNvPicPr>
            <a:picLocks noChangeAspect="1"/>
          </p:cNvPicPr>
          <p:nvPr/>
        </p:nvPicPr>
        <p:blipFill>
          <a:blip r:embed="rId9"/>
          <a:stretch>
            <a:fillRect/>
          </a:stretch>
        </p:blipFill>
        <p:spPr>
          <a:xfrm>
            <a:off x="952823" y="4009643"/>
            <a:ext cx="10292450" cy="1394461"/>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1B-Q2.png"/>
          <p:cNvPicPr>
            <a:picLocks noChangeAspect="1"/>
          </p:cNvPicPr>
          <p:nvPr/>
        </p:nvPicPr>
        <p:blipFill>
          <a:blip r:embed="rId3"/>
          <a:srcRect l="741" t="5128" r="6605" b="10256"/>
          <a:stretch>
            <a:fillRect/>
          </a:stretch>
        </p:blipFill>
        <p:spPr>
          <a:xfrm>
            <a:off x="2402040" y="1856232"/>
            <a:ext cx="7394017" cy="14630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61 ft. 61 ÷ 21 = 2.9, so buy 3 lengths.</a:t>
            </a:r>
          </a:p>
        </p:txBody>
      </p:sp>
      <p:sp>
        <p:nvSpPr>
          <p:cNvPr id="8" name="TextBox 7"/>
          <p:cNvSpPr txBox="1"/>
          <p:nvPr/>
        </p:nvSpPr>
        <p:spPr>
          <a:xfrm>
            <a:off x="685800" y="5166360"/>
            <a:ext cx="10698480" cy="685800"/>
          </a:xfrm>
          <a:prstGeom prst="rect">
            <a:avLst/>
          </a:prstGeom>
          <a:noFill/>
        </p:spPr>
        <p:txBody>
          <a:bodyPr wrap="square" lIns="0" rIns="0" tIns="0" bIns="0" anchor="t">
            <a:normAutofit fontScale="100000" lnSpcReduction="0"/>
          </a:bodyPr>
          <a:lstStyle/>
          <a:p>
            <a:pPr>
              <a:spcBef>
                <a:spcPts val="0"/>
              </a:spcBef>
              <a:spcAft>
                <a:spcPts val="300"/>
              </a:spcAft>
              <a:defRPr sz="1900" b="0">
                <a:solidFill>
                  <a:srgbClr val="4A4E54"/>
                </a:solidFill>
                <a:latin typeface="Arial"/>
              </a:defRPr>
            </a:pPr>
            <a:r>
              <a:rPr>
                <a:solidFill>
                  <a:srgbClr val="111218"/>
                </a:solidFill>
                <a:latin typeface="Arial"/>
              </a:rPr>
              <a:t>Round up: a part length still has to be bought.</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1.4–1.8 pp.14–23; sections 2.11 p.59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1B Q4–5 and 1C Q1–2. Recreate one cut-list sketch on Shape Canvas; write the equation before checking. Use extra time to correct and explain a second method.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shape-rectangle-m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In Shape Canvas, add three rectangles for the cut pieces and label their lengths.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Add a Text label for the original stock; write the cut-list equation on paper.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Verify the totals in Numeracy Hub Calculator and reconstruct the stock length.</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1B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1B-Q4.png"/>
          <p:cNvPicPr>
            <a:picLocks noChangeAspect="1"/>
          </p:cNvPicPr>
          <p:nvPr/>
        </p:nvPicPr>
        <p:blipFill>
          <a:blip r:embed="rId3"/>
          <a:srcRect l="741" t="8696" r="6914" b="17391"/>
          <a:stretch>
            <a:fillRect/>
          </a:stretch>
        </p:blipFill>
        <p:spPr>
          <a:xfrm>
            <a:off x="765048" y="1920240"/>
            <a:ext cx="9879584"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39</a:t>
            </a:r>
          </a:p>
        </p:txBody>
      </p:sp>
      <p:pic>
        <p:nvPicPr>
          <p:cNvPr id="20" name="Visual flange bolts and nuts" descr="Flange face with 8 bolt holes labelled 1 joint: 8 bolts, a bolt with two nuts labelled 1 bolt: 2 nuts, times 9 joints, and nuts needed as a question mark."/>
          <p:cNvPicPr>
            <a:picLocks noChangeAspect="1"/>
          </p:cNvPicPr>
          <p:nvPr/>
        </p:nvPicPr>
        <p:blipFill>
          <a:blip r:embed="rId9"/>
          <a:stretch>
            <a:fillRect/>
          </a:stretch>
        </p:blipFill>
        <p:spPr>
          <a:xfrm>
            <a:off x="1085322" y="3058668"/>
            <a:ext cx="10027451" cy="234543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1C-Q1.png"/>
          <p:cNvPicPr>
            <a:picLocks noChangeAspect="1"/>
          </p:cNvPicPr>
          <p:nvPr/>
        </p:nvPicPr>
        <p:blipFill>
          <a:blip r:embed="rId3"/>
          <a:stretch>
            <a:fillRect/>
          </a:stretch>
        </p:blipFill>
        <p:spPr>
          <a:xfrm>
            <a:off x="791988" y="1773936"/>
            <a:ext cx="1048610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Rework Exercise Book 1B Q3 and Q5 independently; explain why the two rounding directions differ.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1B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1B-Q3.png"/>
          <p:cNvPicPr>
            <a:picLocks noChangeAspect="1"/>
          </p:cNvPicPr>
          <p:nvPr/>
        </p:nvPicPr>
        <p:blipFill>
          <a:blip r:embed="rId3"/>
          <a:srcRect l="741" t="6452" r="1790" b="12903"/>
          <a:stretch>
            <a:fillRect/>
          </a:stretch>
        </p:blipFill>
        <p:spPr>
          <a:xfrm>
            <a:off x="765048" y="1920240"/>
            <a:ext cx="10427716"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42</a:t>
            </a:r>
          </a:p>
        </p:txBody>
      </p:sp>
      <p:pic>
        <p:nvPicPr>
          <p:cNvPr id="20" name="Visual baseplates and bolts" descr="One baseplate drawn with 8 anchor bolt holes, times 14 baseplates, a box labelled 25 bolts per box, and question marks for bolts needed and boxes."/>
          <p:cNvPicPr>
            <a:picLocks noChangeAspect="1"/>
          </p:cNvPicPr>
          <p:nvPr/>
        </p:nvPicPr>
        <p:blipFill>
          <a:blip r:embed="rId9"/>
          <a:stretch>
            <a:fillRect/>
          </a:stretch>
        </p:blipFill>
        <p:spPr>
          <a:xfrm>
            <a:off x="1087208" y="3534156"/>
            <a:ext cx="10023681" cy="1869948"/>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1B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pic>
        <p:nvPicPr>
          <p:cNvPr id="5" name="Picture 4" descr="1B-Q5.png"/>
          <p:cNvPicPr>
            <a:picLocks noChangeAspect="1"/>
          </p:cNvPicPr>
          <p:nvPr/>
        </p:nvPicPr>
        <p:blipFill>
          <a:blip r:embed="rId3"/>
          <a:srcRect l="741" t="8696" r="3827" b="17391"/>
          <a:stretch>
            <a:fillRect/>
          </a:stretch>
        </p:blipFill>
        <p:spPr>
          <a:xfrm>
            <a:off x="765048" y="1920240"/>
            <a:ext cx="10209784"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43</a:t>
            </a:r>
          </a:p>
        </p:txBody>
      </p:sp>
      <p:pic>
        <p:nvPicPr>
          <p:cNvPr id="20" name="Visual bar of angle" descr="Bar labelled 20 ft = 240 in. The first 18 in piece is marked; the rest is dashed with the text how many 18 in pieces, how long is the offcut."/>
          <p:cNvPicPr>
            <a:picLocks noChangeAspect="1"/>
          </p:cNvPicPr>
          <p:nvPr/>
        </p:nvPicPr>
        <p:blipFill>
          <a:blip r:embed="rId9"/>
          <a:stretch>
            <a:fillRect/>
          </a:stretch>
        </p:blipFill>
        <p:spPr>
          <a:xfrm>
            <a:off x="1085322" y="3058668"/>
            <a:ext cx="10027451" cy="234543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W01-L04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1.4–1.8 pp.14–23; sections 2.11 p.59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02  •  2026-10-30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02 | 2026-10-30</dc:title>
  <dc:creator>ACCESS Trades</dc:creator>
  <dc:subject>Quantities, averages and word problems; Cut-list practice and rounding</dc:subject>
</cp:coreProperties>
</file>