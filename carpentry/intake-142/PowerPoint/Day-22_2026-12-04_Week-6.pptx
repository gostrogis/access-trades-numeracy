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3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404" r:id="rId136"/>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6" Type="http://schemas.openxmlformats.org/officeDocument/2006/relationships/slide" Target="slides/slide7.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TEACH  •  12:55 PM–1:10 PM  •  15 MIN TOTAL — shared across this phase’s slides.</a:t>
            </a:r>
          </a:p>
          <a:p/>
          <a:p>
            <a:r>
              <a:t>For a rise-to-run ratio of one to fifty, divide one by fifty to get 0.02. Multiplying by one hundred gives a two-percent grade. Applying inverse tangent to 0.02 in degree mode gives about 1.15 degrees. These are two correct descriptions of the same slope. In the second example, 350 divided by 800 is 0.4375. Inverse tangent gives about 23.63 degrees. Why is the second angle steeper? Its rise is a much larger fraction of its run. Neither angle comes from simply moving the decimal point in the ratio.</a:t>
            </a:r>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Today we will describe slopes in two different ways: percentage grade and an angle in degrees. Those descriptions come from the same rise and run, but they are not interchangeable numbers. We will also use inverse trigonometry to find an angle when two sides are known. Keep a calculator ready in DEG mode and a clear triangle on your page. Our one math block runs from 12:45 to 2:00, including practice and an independent check.</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 within the first scheduled Start period; no additional teaching time.</a:t>
            </a:r>
          </a:p>
          <a:p/>
          <a:p>
            <a:r>
              <a:t>We begin with five minutes to set up and five to recall side ratios. The teaching portion runs from 12:55 to 1:10, followed by fifteen minutes together and twenty minutes of practice. At 1:45 you will complete a ten-minute independent check, then we finish at 2:00. The angle and grade slides share their phase allocations. There is one math block today, so keep the full practice period for the assigned slope and angle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START  •  12:45 PM–12:50 PM  •  5 MIN TOTAL — shared across this phase’s slides.</a:t>
            </a:r>
          </a:p>
          <a:p/>
          <a:p>
            <a:r>
              <a:t>A ramp drawing might describe its slope as a percentage, while a brace drawing might label an angle. We need to understand what each number means before using it. Our goal is to find angles from two known sides and to report grade and degrees separately. Read pages 207–209 with the triangle in view. What two measurements define a rise/run slope? Vertical rise and horizontal run. The sloping surface length is a different side and must not silently replace the run.</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RECALL  •  12:50 PM–12:55 PM  •  5 MIN TOTAL — shared across this phase’s slides.</a:t>
            </a:r>
          </a:p>
          <a:p/>
          <a:p>
            <a:r>
              <a:t>Is a two-percent grade the same as an angle of two degrees? Take a moment to explain your first thought. A percentage compares rise with run and then expresses that ratio per hundred. An angle measures the turn from the horizontal. They describe the same triangle in different ways. Which trig ratio connects opposite and adjacent? Tangent. That ratio lets us move from rise/run to an angle, but we need inverse tangent because the angle is the quantity we do not know.</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When rise and run are known, tangent of the angle equals rise divided by run. Previously we put an angle into tangent and obtained a ratio. Now we have the ratio and want the angle that produces it, so we use inverse tangent. The key may show tan⁻¹ or require a shift function; it does not mean one divided by tangent. Check DEG mode before reading the result. If rise equals run, what angle should we expect? Forty-five degrees. That familiar case helps us judge whether our calculator is interpreting the angle correctly.</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Percentage grade uses rise divided by run, multiplied by one hundred. The angle uses inverse tangent of that same rise/run ratio. The inputs are the same, but the operations and output units differ. Make the rise and run units match before dividing: millimetres over millimetres or metres over metres. The units then cancel in the ratio. Which result receives a percent sign? Grade. Which receives the degree symbol? Angle. Write both labels on your answer line so a later reader cannot mistake one slope description for the other.</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Follow Example 13.7 on page 209 from the drawing to the rise/run ratio. Locate the horizontal run, not the sloping length. Copy the ratio first, then branch into two calculations: multiply by one hundred for percentage grade, and apply inverse tangent for degrees. What part of the working should be identical in both branches? The consistent-unit rise/run ratio. If two answers disagree with the example, inspect that shared input first. A correct function applied to a reversed run/rise ratio still describes a different angle.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Look at the inverse-tangent step in the textbook example. The small minus-one notation names an inverse function: it asks which angle has this tangent. It is not an instruction to take a reciprocal. Keep the full ratio in the calculator until the final rounding. Now compare the two answer lines. One carries a percent sign and one a degree symbol. What would be missing if we wrote only two bare numbers? Their meanings. In carpentry communication, the label is part of the measurement, not decoration after the arithmetic.</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TEACH  •  12:55 PM–1:10 PM  •  15 MIN TOTAL — shared across this phase’s slides.</a:t>
            </a:r>
          </a:p>
          <a:p/>
          <a:p>
            <a:r>
              <a:t>The claim is that two percent means two degrees. Use the definitions to test it. Two percent means a rise/run ratio of 2 divided by 100, or 0.02. The angle is inverse tangent of 0.02, about 1.15 degrees. A two-degree angle would instead have a grade of about 3.49 percent. What caused the mistaken claim? Treating two different measures as if they shared a scale. Correct it by naming the ratio first and applying the operation belonging to the requested output.</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Work together on 13A Q10, Q14 and Q15. One partner draws and labels the triangle; the other checks the side pair and requested output. For an angle, write the appropriate inverse trig expression. For grade, write rise divided by run times one hundred. If a question requests both, keep the answer lines separate. Switch roles as you work. Explain why the symbol after the answer matters: percent and degrees cannot be exchanged even when they describe one physical slope.</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For 13A Q10, mark the opposite side as 350 millimetres and the adjacent side as 800 millimetres. Which ratio contains opposite and adjacent? Tangent. Write the ratio before using inverse tangent, then attempt the angle to two decimal places. After the attempt, compare your value with a rough judgment: the rise is less than half the run, so the angle should be well below forty-five degrees. Explain that reasonableness check to your partner before revealing the answer.</a:t>
            </a:r>
          </a:p>
          <a:p/>
          <a:p>
            <a:r>
              <a:t>INSTRUCTOR ONLY — AFTER THE ATTEMPT: 23.63° Working: tan⁻¹(350 ÷ 800)</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TOGETHER  •  1:10 PM–1:25 PM  •  15 MIN TOTAL — shared across this phase’s slides.</a:t>
            </a:r>
          </a:p>
          <a:p/>
          <a:p>
            <a:r>
              <a:t>The angle is inverse tangent of 350 divided by 800. The ratio is 0.4375, and inverse tangent in DEG mode gives 23.63 degrees to two decimal places. Notice that 0.4375 is a ratio, not an angle. If someone reported 43.75 percent, they found the grade instead of the requested degree measure. What would happen if the side order were reversed? We would find the other acute angle. Keep the labels visible so the calculation answers the marked angle, not a different one.</a:t>
            </a:r>
          </a:p>
          <a:p/>
          <a:p>
            <a:r>
              <a:t>INSTRUCTOR ONLY — AFTER THE ATTEMPT: 23.63° Working: tan⁻¹(350 ÷ 800)</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Complete 13A Q11–13 and 13B Q7. Use 13B Q12 as the scheduled carpentry/truss extension when ready. Q11 and Q12 will require you to think about which side pair is given; do not use inverse tangent automatically for every angle. Build the assigned triangle in Shape Canvas, then compare a taught ramp or brace task in Numeracy Hub. Write the equation before opening the answer. Keep percentage and degree labels distinct wherever the task asks for both.</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Open Angles and Trig in Numeracy Hub and choose the right-triangle ramp or brace practice. Read the values on the actual task, then sketch rise, run and the marked angle. The image here shows navigation; use your task's dimensions. Which calculator setting gives the degree measure used on our drawings? DEG. Before checking the answer, write whether the unknown is a side, an angle or a grade. That decision determines the mathematical operation.</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Build the assigned rise/run triangle in Shape Canvas and label both dimensions with matching units. On paper, calculate the percentage grade and the angle as two separate outputs. Compare them with the Numeracy Hub task after your attempt. What should happen if the rise becomes a larger fraction of the run? Both the grade and angle increase, although their numerical values remain different. Use the picture to check the direction of change and your written equations to explain the exact values.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For 13A Q11, the given pair is opposite and hypotenuse, so the angle comes from inverse sine. Attempt it first with 0.45 divided by 1.2 inside the inverse function. Both measurements are in metres, so the ratio is unitless. After your attempt, compare: the ratio is 0.375 and the angle is 22.02 degrees. Which detail ruled out tangent? The known long side is the hypotenuse, not the adjacent leg.</a:t>
            </a:r>
          </a:p>
          <a:p/>
          <a:p>
            <a:r>
              <a:t>INSTRUCTOR ONLY — AFTER THE ATTEMPT: 22.02° Working: sin⁻¹(0.45 ÷ 1.2)</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PRACTISE  •  1:25 PM–1:45 PM  •  20 MIN TOTAL — shared across this phase’s slides.</a:t>
            </a:r>
          </a:p>
          <a:p/>
          <a:p>
            <a:r>
              <a:t>For 13A Q12, identify adjacent as 700 millimetres and hypotenuse as 950 millimetres. Choose the inverse function matching that pair and attempt the calculation to two decimal places. After the attempt, compare your equation with cosine of the angle equals 700 divided by 950. The inverse-cosine result is 42.54 degrees. Why do we not divide 950 by 700? Cosine is adjacent over hypotenuse, and that ratio must be between zero and one for this acute angle.</a:t>
            </a:r>
          </a:p>
          <a:p/>
          <a:p>
            <a:r>
              <a:t>INSTRUCTOR ONLY — AFTER THE ATTEMPT: 42.54° Working: cos⁻¹(700 ÷ 950)</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Complete 13A Q10 and Q14 independently. Q10 needs a degree measure. Q14 needs both percentage grade and an angle, clearly labelled as separate answers. Keep worked answers closed and retain your ratio and calculator expression. Before submitting, check that the rise and run use matching units and that the final symbol matches the requested quantity. We will compare the methods after your attempt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Read 13A Q10 and find the marked angle from the two stated sides. Show the ratio and the inverse operation you choose, then round the final degree answer to two decimal places. Keep your calculation private during the independent check.</a:t>
            </a:r>
          </a:p>
          <a:p/>
          <a:p>
            <a:r>
              <a:t>INSTRUCTOR ONLY — AFTER THE ATTEMPT: tan θ = 350/800 = 0.4375; θ = tan⁻¹(0.4375) = 23.63°. A 43.75% response is grade rather than the requested angle.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CHECK  •  1:45 PM–1:55 PM  •  10 MIN TOTAL — shared across this phase’s slides.</a:t>
            </a:r>
          </a:p>
          <a:p/>
          <a:p>
            <a:r>
              <a:t>For 13A Q14, report the grade and the angle separately. Keep the same supplied rise and run in both calculations and show your working. Label the outputs so there is no doubt which is a percentage and which is a degree measure.</a:t>
            </a:r>
          </a:p>
          <a:p/>
          <a:p>
            <a:r>
              <a:t>INSTRUCTOR ONLY — AFTER THE ATTEMPT: 120/6,000 = 0.02. Grade = 0.02 × 100 = 2%. Angle = tan⁻¹(0.02) ≈ 1.15°. Do not accept 2° as an equivalent angle.</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WRAP UP  •  1:55 PM–2:00 PM  •  5 MIN TOTAL — shared across this phase’s slides.</a:t>
            </a:r>
          </a:p>
          <a:p/>
          <a:p>
            <a:r>
              <a:t>Finish with one sentence explaining why two percent is not two degrees. A strong explanation mentions the shared rise/run ratio and the two different operations. Which side pair calls for inverse tangent? Opposite and adjacent. Inverse sine uses opposite and hypotenuse; inverse cosine uses adjacent and hypotenuse. Record the part that still needs practice, whether it is side labels, inverse keys or output units. Those specific notes will help you choose the right revision work later.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8.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8.png"/><Relationship Id="rId4" Type="http://schemas.openxmlformats.org/officeDocument/2006/relationships/hyperlink" Target="../../../books/ACCESS-Trades-Numeracy-Textbook.pdf#page=207" TargetMode="External"/><Relationship Id="rId5" Type="http://schemas.openxmlformats.org/officeDocument/2006/relationships/hyperlink" Target="../../../books/ACCESS-Trades-Numeracy-Exercise-Book.pdf#page=8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8.png"/><Relationship Id="rId4" Type="http://schemas.openxmlformats.org/officeDocument/2006/relationships/hyperlink" Target="../../../books/ACCESS-Trades-Numeracy-Textbook.pdf#page=207" TargetMode="External"/><Relationship Id="rId5" Type="http://schemas.openxmlformats.org/officeDocument/2006/relationships/hyperlink" Target="../../../books/ACCESS-Trades-Numeracy-Exercise-Book.pdf#page=8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8.png"/><Relationship Id="rId4" Type="http://schemas.openxmlformats.org/officeDocument/2006/relationships/hyperlink" Target="../../../books/ACCESS-Trades-Numeracy-Textbook.pdf#page=207" TargetMode="External"/><Relationship Id="rId5" Type="http://schemas.openxmlformats.org/officeDocument/2006/relationships/hyperlink" Target="../../../books/ACCESS-Trades-Numeracy-Exercise-Book.pdf#page=8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8.png"/><Relationship Id="rId4" Type="http://schemas.openxmlformats.org/officeDocument/2006/relationships/hyperlink" Target="../../../books/ACCESS-Trades-Numeracy-Textbook.pdf#page=207" TargetMode="External"/><Relationship Id="rId5" Type="http://schemas.openxmlformats.org/officeDocument/2006/relationships/hyperlink" Target="../../../books/ACCESS-Trades-Numeracy-Exercise-Book.pdf#page=8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8.png"/><Relationship Id="rId4" Type="http://schemas.openxmlformats.org/officeDocument/2006/relationships/hyperlink" Target="../../../books/ACCESS-Trades-Numeracy-Textbook.pdf#page=207" TargetMode="External"/><Relationship Id="rId5" Type="http://schemas.openxmlformats.org/officeDocument/2006/relationships/hyperlink" Target="../../../books/ACCESS-Trades-Numeracy-Exercise-Book.pdf#page=8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8.png"/><Relationship Id="rId4" Type="http://schemas.openxmlformats.org/officeDocument/2006/relationships/hyperlink" Target="../../../books/ACCESS-Trades-Numeracy-Textbook.pdf#page=207" TargetMode="External"/><Relationship Id="rId5" Type="http://schemas.openxmlformats.org/officeDocument/2006/relationships/hyperlink" Target="../../../books/ACCESS-Trades-Numeracy-Exercise-Book.pdf#page=8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 Id="rId8"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hyperlink" Target="../../../books/ACCESS-Trades-Numeracy-Textbook.pdf#page=209" TargetMode="External"/><Relationship Id="rId6" Type="http://schemas.openxmlformats.org/officeDocument/2006/relationships/hyperlink" Target="../../../books/ACCESS-Trades-Numeracy-Exercise-Book.pdf#page=8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hyperlink" Target="../../../books/ACCESS-Trades-Numeracy-Textbook.pdf#page=209" TargetMode="External"/><Relationship Id="rId6" Type="http://schemas.openxmlformats.org/officeDocument/2006/relationships/hyperlink" Target="../../../books/ACCESS-Trades-Numeracy-Exercise-Book.pdf#page=8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8.png"/><Relationship Id="rId4" Type="http://schemas.openxmlformats.org/officeDocument/2006/relationships/hyperlink" Target="../../../books/ACCESS-Trades-Numeracy-Textbook.pdf#page=207" TargetMode="External"/><Relationship Id="rId5" Type="http://schemas.openxmlformats.org/officeDocument/2006/relationships/hyperlink" Target="../../../books/ACCESS-Trades-Numeracy-Exercise-Book.pdf#page=8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8.png"/><Relationship Id="rId4" Type="http://schemas.openxmlformats.org/officeDocument/2006/relationships/hyperlink" Target="../../../books/ACCESS-Trades-Numeracy-Textbook.pdf#page=207" TargetMode="External"/><Relationship Id="rId5" Type="http://schemas.openxmlformats.org/officeDocument/2006/relationships/hyperlink" Target="../../../books/ACCESS-Trades-Numeracy-Exercise-Book.pdf#page=8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hyperlink" Target="../../../books/ACCESS-Trades-Numeracy-Textbook.pdf#page=207"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hyperlink" Target="../../../books/ACCESS-Trades-Numeracy-Textbook.pdf#page=207"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8.png"/><Relationship Id="rId4" Type="http://schemas.openxmlformats.org/officeDocument/2006/relationships/hyperlink" Target="../../../books/ACCESS-Trades-Numeracy-Textbook.pdf#page=207" TargetMode="External"/><Relationship Id="rId5" Type="http://schemas.openxmlformats.org/officeDocument/2006/relationships/hyperlink" Target="../../../books/ACCESS-Trades-Numeracy-Exercise-Book.pdf#page=8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hyperlink" Target="../../../books/ACCESS-Trades-Numeracy-Textbook.pdf#page=207" TargetMode="External"/><Relationship Id="rId6" Type="http://schemas.openxmlformats.org/officeDocument/2006/relationships/hyperlink" Target="../../../books/ACCESS-Trades-Numeracy-Exercise-Book.pdf#page=82"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8.png"/><Relationship Id="rId4" Type="http://schemas.openxmlformats.org/officeDocument/2006/relationships/hyperlink" Target="../../../books/ACCESS-Trades-Numeracy-Textbook.pdf#page=207" TargetMode="External"/><Relationship Id="rId5" Type="http://schemas.openxmlformats.org/officeDocument/2006/relationships/hyperlink" Target="../../../books/ACCESS-Trades-Numeracy-Exercise-Book.pdf#page=8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hyperlink" Target="../../../books/ACCESS-Trades-Numeracy-Textbook.pdf#page=207"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hyperlink" Target="../../../books/ACCESS-Trades-Numeracy-Textbook.pdf#page=207"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8.png"/><Relationship Id="rId4" Type="http://schemas.openxmlformats.org/officeDocument/2006/relationships/hyperlink" Target="../../../books/ACCESS-Trades-Numeracy-Textbook.pdf#page=207" TargetMode="External"/><Relationship Id="rId5" Type="http://schemas.openxmlformats.org/officeDocument/2006/relationships/hyperlink" Target="../../../books/ACCESS-Trades-Numeracy-Exercise-Book.pdf#page=8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hyperlink" Target="../../../books/ACCESS-Trades-Numeracy-Textbook.pdf#page=207"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hyperlink" Target="../../../books/ACCESS-Trades-Numeracy-Textbook.pdf#page=207" TargetMode="External"/><Relationship Id="rId6" Type="http://schemas.openxmlformats.org/officeDocument/2006/relationships/hyperlink" Target="../../../books/ACCESS-Trades-Numeracy-Exercise-Book.pdf#page=81"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 Id="rId9"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8.png"/><Relationship Id="rId4" Type="http://schemas.openxmlformats.org/officeDocument/2006/relationships/hyperlink" Target="../../../books/ACCESS-Trades-Numeracy-Textbook.pdf#page=207" TargetMode="External"/><Relationship Id="rId5" Type="http://schemas.openxmlformats.org/officeDocument/2006/relationships/hyperlink" Target="../../../books/ACCESS-Trades-Numeracy-Exercise-Book.pdf#page=82"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7" name="Rectangle 16"/>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85216" y="2587752"/>
            <a:ext cx="10991088" cy="978408"/>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142</a:t>
            </a:r>
          </a:p>
        </p:txBody>
      </p:sp>
      <p:sp>
        <p:nvSpPr>
          <p:cNvPr id="3" name="TextBox 2"/>
          <p:cNvSpPr txBox="1"/>
          <p:nvPr/>
        </p:nvSpPr>
        <p:spPr>
          <a:xfrm>
            <a:off x="612648" y="1143000"/>
            <a:ext cx="8549640" cy="658368"/>
          </a:xfrm>
          <a:prstGeom prst="rect">
            <a:avLst/>
          </a:prstGeom>
          <a:noFill/>
        </p:spPr>
        <p:txBody>
          <a:bodyPr wrap="square" lIns="0" rIns="0" tIns="0" bIns="0" anchor="t">
            <a:normAutofit fontScale="100000" lnSpcReduction="0"/>
          </a:bodyPr>
          <a:lstStyle/>
          <a:p>
            <a:pPr>
              <a:spcBef>
                <a:spcPts val="0"/>
              </a:spcBef>
              <a:spcAft>
                <a:spcPts val="300"/>
              </a:spcAft>
              <a:defRPr sz="3600" b="1">
                <a:solidFill>
                  <a:srgbClr val="111218"/>
                </a:solidFill>
                <a:latin typeface="Arial"/>
              </a:defRPr>
            </a:pPr>
            <a:r>
              <a:rPr b="1" sz="4300">
                <a:solidFill>
                  <a:srgbClr val="FFFFFF"/>
                </a:solidFill>
                <a:latin typeface="Arial"/>
              </a:rPr>
              <a:t>Day 22  |  Friday</a:t>
            </a:r>
          </a:p>
        </p:txBody>
      </p:sp>
      <p:sp>
        <p:nvSpPr>
          <p:cNvPr id="4" name="TextBox 3"/>
          <p:cNvSpPr txBox="1"/>
          <p:nvPr/>
        </p:nvSpPr>
        <p:spPr>
          <a:xfrm>
            <a:off x="612648" y="1993392"/>
            <a:ext cx="10789920" cy="420624"/>
          </a:xfrm>
          <a:prstGeom prst="rect">
            <a:avLst/>
          </a:prstGeom>
          <a:noFill/>
        </p:spPr>
        <p:txBody>
          <a:bodyPr wrap="square" lIns="0" rIns="0" tIns="0" bIns="0" anchor="t">
            <a:normAutofit fontScale="100000" lnSpcReduction="0"/>
          </a:bodyPr>
          <a:lstStyle/>
          <a:p>
            <a:pPr>
              <a:spcBef>
                <a:spcPts val="0"/>
              </a:spcBef>
              <a:spcAft>
                <a:spcPts val="300"/>
              </a:spcAft>
              <a:defRPr sz="2600" b="0">
                <a:solidFill>
                  <a:srgbClr val="4A4E54"/>
                </a:solidFill>
                <a:latin typeface="Arial"/>
              </a:defRPr>
            </a:pPr>
            <a:r>
              <a:rPr b="0" sz="2500">
                <a:solidFill>
                  <a:srgbClr val="F7F8FC"/>
                </a:solidFill>
                <a:latin typeface="Arial"/>
              </a:rPr>
              <a:t>December 4, 2026</a:t>
            </a:r>
          </a:p>
        </p:txBody>
      </p:sp>
      <p:sp>
        <p:nvSpPr>
          <p:cNvPr id="6" name="TextBox 5"/>
          <p:cNvSpPr txBox="1"/>
          <p:nvPr/>
        </p:nvSpPr>
        <p:spPr>
          <a:xfrm>
            <a:off x="932688" y="2743200"/>
            <a:ext cx="10287000" cy="384048"/>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Angles, grades and carpentry slope applications</a:t>
            </a:r>
          </a:p>
        </p:txBody>
      </p:sp>
      <p:sp>
        <p:nvSpPr>
          <p:cNvPr id="7" name="TextBox 6"/>
          <p:cNvSpPr txBox="1"/>
          <p:nvPr/>
        </p:nvSpPr>
        <p:spPr>
          <a:xfrm>
            <a:off x="932688" y="3200400"/>
            <a:ext cx="10058400" cy="292608"/>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b="0">
                <a:solidFill>
                  <a:srgbClr val="DEE2EC"/>
                </a:solidFill>
                <a:latin typeface="Arial"/>
              </a:rPr>
              <a:t>12:45 PM–2:00 PM  •  Math  •  75 min</a:t>
            </a:r>
          </a:p>
        </p:txBody>
      </p:sp>
      <p:sp>
        <p:nvSpPr>
          <p:cNvPr id="8" name="TextBox 7"/>
          <p:cNvSpPr txBox="1"/>
          <p:nvPr/>
        </p:nvSpPr>
        <p:spPr>
          <a:xfrm>
            <a:off x="612648" y="5440680"/>
            <a:ext cx="10881360" cy="411480"/>
          </a:xfrm>
          <a:prstGeom prst="rect">
            <a:avLst/>
          </a:prstGeom>
          <a:noFill/>
        </p:spPr>
        <p:txBody>
          <a:bodyPr wrap="square" lIns="0" rIns="0" tIns="0" bIns="0" anchor="t">
            <a:normAutofit fontScale="100000" lnSpcReduction="0"/>
          </a:bodyPr>
          <a:lstStyle/>
          <a:p>
            <a:pPr>
              <a:spcBef>
                <a:spcPts val="0"/>
              </a:spcBef>
              <a:spcAft>
                <a:spcPts val="300"/>
              </a:spcAft>
              <a:defRPr sz="1800" b="1">
                <a:solidFill>
                  <a:srgbClr val="D2181F"/>
                </a:solidFill>
                <a:latin typeface="Arial"/>
              </a:defRPr>
            </a:pPr>
            <a:r>
              <a:rPr>
                <a:solidFill>
                  <a:srgbClr val="F7F8FC"/>
                </a:solidFill>
                <a:latin typeface="Arial"/>
              </a:rPr>
              <a:t>Week 6  •  1 scheduled block  •  75 teaching minutes</a:t>
            </a:r>
          </a:p>
        </p:txBody>
      </p:sp>
      <p:sp>
        <p:nvSpPr>
          <p:cNvPr id="9" name="TextBox 8"/>
          <p:cNvSpPr txBox="1"/>
          <p:nvPr/>
        </p:nvSpPr>
        <p:spPr>
          <a:xfrm>
            <a:off x="612648" y="5943600"/>
            <a:ext cx="10881360" cy="27432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Estimate. Show the method. Label units. Check the result.</a:t>
            </a:r>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TextBox 11"/>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3" name="TextBox 12"/>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4" name="TextBox 13"/>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5" name="TextBox 14"/>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6" name="TextBox 15"/>
          <p:cNvSpPr txBox="1"/>
          <p:nvPr/>
        </p:nvSpPr>
        <p:spPr>
          <a:xfrm>
            <a:off x="8412480" y="6606540"/>
            <a:ext cx="8549640" cy="658368"/>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01</a:t>
            </a:r>
          </a:p>
        </p:txBody>
      </p:sp>
      <p:sp>
        <p:nvSpPr>
          <p:cNvPr id="32" name="TextBox 31"/>
          <p:cNvSpPr txBox="1"/>
          <p:nvPr/>
        </p:nvSpPr>
        <p:spPr>
          <a:xfrm>
            <a:off x="9491472" y="1033271"/>
            <a:ext cx="2423160" cy="1481328"/>
          </a:xfrm>
          <a:prstGeom prst="rect">
            <a:avLst/>
          </a:prstGeom>
          <a:noFill/>
        </p:spPr>
        <p:txBody>
          <a:bodyPr wrap="none" anchor="t">
            <a:normAutofit fontScale="100000" lnSpcReduction="0"/>
          </a:bodyPr>
          <a:lstStyle/>
          <a:p>
            <a:r>
              <a:rPr b="1" sz="10000">
                <a:solidFill>
                  <a:srgbClr val="FFFFFF"/>
                </a:solidFill>
                <a:latin typeface="Arial"/>
              </a:rPr>
              <a:t>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36" name="Rectangle 3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327812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406140" y="3090672"/>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3406140" y="3803904"/>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406140" y="4517135"/>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406140" y="5230368"/>
            <a:ext cx="5230368" cy="338328"/>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521208" y="5993892"/>
            <a:ext cx="11109959" cy="438912"/>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nchor="t">
            <a:normAutofit fontScale="100000" lnSpcReduction="0"/>
          </a:bodyPr>
          <a:lstStyle/>
          <a:p>
            <a:pPr>
              <a:spcBef>
                <a:spcPts val="0"/>
              </a:spcBef>
              <a:spcAft>
                <a:spcPts val="300"/>
              </a:spcAft>
              <a:defRPr sz="1200" b="1">
                <a:solidFill>
                  <a:srgbClr val="D2181F"/>
                </a:solidFill>
                <a:latin typeface="Arial"/>
              </a:defRPr>
            </a:pPr>
            <a:r>
              <a:rPr>
                <a:solidFill>
                  <a:srgbClr val="FFFFFF"/>
                </a:solidFill>
                <a:latin typeface="Arial"/>
              </a:rPr>
              <a:t>DAY 22  /  WEEK 6  /  CLASS TIMETABLE</a:t>
            </a:r>
          </a:p>
        </p:txBody>
      </p:sp>
      <p:sp>
        <p:nvSpPr>
          <p:cNvPr id="3" name="TextBox 2"/>
          <p:cNvSpPr txBox="1"/>
          <p:nvPr/>
        </p:nvSpPr>
        <p:spPr>
          <a:xfrm>
            <a:off x="612648" y="896112"/>
            <a:ext cx="1097280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Today’s exact schedule</a:t>
            </a:r>
          </a:p>
        </p:txBody>
      </p:sp>
      <p:sp>
        <p:nvSpPr>
          <p:cNvPr id="4" name="TextBox 3"/>
          <p:cNvSpPr txBox="1"/>
          <p:nvPr/>
        </p:nvSpPr>
        <p:spPr>
          <a:xfrm>
            <a:off x="3497580" y="1920240"/>
            <a:ext cx="5166360" cy="347472"/>
          </a:xfrm>
          <a:prstGeom prst="rect">
            <a:avLst/>
          </a:prstGeom>
          <a:noFill/>
        </p:spPr>
        <p:txBody>
          <a:bodyPr wrap="square" lIns="0" rIns="0" tIns="0" bIns="0" anchor="t">
            <a:normAutofit fontScale="100000" lnSpcReduction="0"/>
          </a:bodyPr>
          <a:lstStyle/>
          <a:p>
            <a:pPr>
              <a:spcBef>
                <a:spcPts val="0"/>
              </a:spcBef>
              <a:spcAft>
                <a:spcPts val="0"/>
              </a:spcAft>
              <a:defRPr sz="2100" b="1">
                <a:solidFill>
                  <a:srgbClr val="D2181F"/>
                </a:solidFill>
                <a:latin typeface="Arial"/>
              </a:defRPr>
            </a:pPr>
            <a:r>
              <a:rPr b="1" sz="2100">
                <a:solidFill>
                  <a:srgbClr val="760023"/>
                </a:solidFill>
                <a:latin typeface="Arial"/>
              </a:rPr>
              <a:t>12:45 PM–2:00 PM  •  75 min</a:t>
            </a:r>
          </a:p>
        </p:txBody>
      </p:sp>
      <p:sp>
        <p:nvSpPr>
          <p:cNvPr id="5" name="TextBox 4"/>
          <p:cNvSpPr txBox="1"/>
          <p:nvPr/>
        </p:nvSpPr>
        <p:spPr>
          <a:xfrm>
            <a:off x="3497580" y="2368296"/>
            <a:ext cx="5166360" cy="612648"/>
          </a:xfrm>
          <a:prstGeom prst="rect">
            <a:avLst/>
          </a:prstGeom>
          <a:noFill/>
        </p:spPr>
        <p:txBody>
          <a:bodyPr wrap="square" lIns="0" rIns="0" tIns="0" bIns="0" anchor="t">
            <a:normAutofit fontScale="100000" lnSpcReduction="0"/>
          </a:bodyPr>
          <a:lstStyle/>
          <a:p>
            <a:pPr>
              <a:spcBef>
                <a:spcPts val="0"/>
              </a:spcBef>
              <a:spcAft>
                <a:spcPts val="0"/>
              </a:spcAft>
              <a:defRPr sz="2000" b="1">
                <a:solidFill>
                  <a:srgbClr val="111218"/>
                </a:solidFill>
                <a:latin typeface="Arial"/>
              </a:defRPr>
            </a:pPr>
            <a:r>
              <a:rPr b="1" sz="2000">
                <a:solidFill>
                  <a:srgbClr val="760023"/>
                </a:solidFill>
                <a:latin typeface="Arial"/>
              </a:rPr>
              <a:t>Angles, grades and carpentry slope applications</a:t>
            </a:r>
          </a:p>
        </p:txBody>
      </p:sp>
      <p:sp>
        <p:nvSpPr>
          <p:cNvPr id="6" name="TextBox 5"/>
          <p:cNvSpPr txBox="1"/>
          <p:nvPr/>
        </p:nvSpPr>
        <p:spPr>
          <a:xfrm>
            <a:off x="3424428" y="3154680"/>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12:45 PM–12:50 PM</a:t>
            </a:r>
          </a:p>
        </p:txBody>
      </p:sp>
      <p:sp>
        <p:nvSpPr>
          <p:cNvPr id="7" name="TextBox 6"/>
          <p:cNvSpPr txBox="1"/>
          <p:nvPr/>
        </p:nvSpPr>
        <p:spPr>
          <a:xfrm>
            <a:off x="5710428" y="3154680"/>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Start</a:t>
            </a:r>
          </a:p>
        </p:txBody>
      </p:sp>
      <p:sp>
        <p:nvSpPr>
          <p:cNvPr id="8" name="TextBox 7"/>
          <p:cNvSpPr txBox="1"/>
          <p:nvPr/>
        </p:nvSpPr>
        <p:spPr>
          <a:xfrm>
            <a:off x="8179308" y="3154680"/>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9" name="TextBox 8"/>
          <p:cNvSpPr txBox="1"/>
          <p:nvPr/>
        </p:nvSpPr>
        <p:spPr>
          <a:xfrm>
            <a:off x="3424428" y="3511296"/>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12:50 PM–12:55 PM</a:t>
            </a:r>
          </a:p>
        </p:txBody>
      </p:sp>
      <p:sp>
        <p:nvSpPr>
          <p:cNvPr id="10" name="TextBox 9"/>
          <p:cNvSpPr txBox="1"/>
          <p:nvPr/>
        </p:nvSpPr>
        <p:spPr>
          <a:xfrm>
            <a:off x="5710428" y="3511296"/>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Recall</a:t>
            </a:r>
          </a:p>
        </p:txBody>
      </p:sp>
      <p:sp>
        <p:nvSpPr>
          <p:cNvPr id="11" name="TextBox 10"/>
          <p:cNvSpPr txBox="1"/>
          <p:nvPr/>
        </p:nvSpPr>
        <p:spPr>
          <a:xfrm>
            <a:off x="8179308" y="3511296"/>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12" name="TextBox 11"/>
          <p:cNvSpPr txBox="1"/>
          <p:nvPr/>
        </p:nvSpPr>
        <p:spPr>
          <a:xfrm>
            <a:off x="3424428" y="3867912"/>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12:55 PM–1:10 PM</a:t>
            </a:r>
          </a:p>
        </p:txBody>
      </p:sp>
      <p:sp>
        <p:nvSpPr>
          <p:cNvPr id="13" name="TextBox 12"/>
          <p:cNvSpPr txBox="1"/>
          <p:nvPr/>
        </p:nvSpPr>
        <p:spPr>
          <a:xfrm>
            <a:off x="5710428" y="3867912"/>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Teach</a:t>
            </a:r>
          </a:p>
        </p:txBody>
      </p:sp>
      <p:sp>
        <p:nvSpPr>
          <p:cNvPr id="14" name="TextBox 13"/>
          <p:cNvSpPr txBox="1"/>
          <p:nvPr/>
        </p:nvSpPr>
        <p:spPr>
          <a:xfrm>
            <a:off x="8179308" y="3867912"/>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5" name="TextBox 14"/>
          <p:cNvSpPr txBox="1"/>
          <p:nvPr/>
        </p:nvSpPr>
        <p:spPr>
          <a:xfrm>
            <a:off x="3424428" y="4224528"/>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1:10 PM–1:25 PM</a:t>
            </a:r>
          </a:p>
        </p:txBody>
      </p:sp>
      <p:sp>
        <p:nvSpPr>
          <p:cNvPr id="16" name="TextBox 15"/>
          <p:cNvSpPr txBox="1"/>
          <p:nvPr/>
        </p:nvSpPr>
        <p:spPr>
          <a:xfrm>
            <a:off x="5710428" y="4224528"/>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Together</a:t>
            </a:r>
          </a:p>
        </p:txBody>
      </p:sp>
      <p:sp>
        <p:nvSpPr>
          <p:cNvPr id="17" name="TextBox 16"/>
          <p:cNvSpPr txBox="1"/>
          <p:nvPr/>
        </p:nvSpPr>
        <p:spPr>
          <a:xfrm>
            <a:off x="8179308" y="4224528"/>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15</a:t>
            </a:r>
          </a:p>
        </p:txBody>
      </p:sp>
      <p:sp>
        <p:nvSpPr>
          <p:cNvPr id="18" name="TextBox 17"/>
          <p:cNvSpPr txBox="1"/>
          <p:nvPr/>
        </p:nvSpPr>
        <p:spPr>
          <a:xfrm>
            <a:off x="3424428" y="4581144"/>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1:25 PM–1:45 PM</a:t>
            </a:r>
          </a:p>
        </p:txBody>
      </p:sp>
      <p:sp>
        <p:nvSpPr>
          <p:cNvPr id="19" name="TextBox 18"/>
          <p:cNvSpPr txBox="1"/>
          <p:nvPr/>
        </p:nvSpPr>
        <p:spPr>
          <a:xfrm>
            <a:off x="5710428" y="4581144"/>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Practise</a:t>
            </a:r>
          </a:p>
        </p:txBody>
      </p:sp>
      <p:sp>
        <p:nvSpPr>
          <p:cNvPr id="20" name="TextBox 19"/>
          <p:cNvSpPr txBox="1"/>
          <p:nvPr/>
        </p:nvSpPr>
        <p:spPr>
          <a:xfrm>
            <a:off x="8179308" y="4581144"/>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20</a:t>
            </a:r>
          </a:p>
        </p:txBody>
      </p:sp>
      <p:sp>
        <p:nvSpPr>
          <p:cNvPr id="21" name="TextBox 20"/>
          <p:cNvSpPr txBox="1"/>
          <p:nvPr/>
        </p:nvSpPr>
        <p:spPr>
          <a:xfrm>
            <a:off x="3424428" y="4937759"/>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1:45 PM–1:55 PM</a:t>
            </a:r>
          </a:p>
        </p:txBody>
      </p:sp>
      <p:sp>
        <p:nvSpPr>
          <p:cNvPr id="22" name="TextBox 21"/>
          <p:cNvSpPr txBox="1"/>
          <p:nvPr/>
        </p:nvSpPr>
        <p:spPr>
          <a:xfrm>
            <a:off x="5710428" y="4937759"/>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Check</a:t>
            </a:r>
          </a:p>
        </p:txBody>
      </p:sp>
      <p:sp>
        <p:nvSpPr>
          <p:cNvPr id="23" name="TextBox 22"/>
          <p:cNvSpPr txBox="1"/>
          <p:nvPr/>
        </p:nvSpPr>
        <p:spPr>
          <a:xfrm>
            <a:off x="8179308" y="4937759"/>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10</a:t>
            </a:r>
          </a:p>
        </p:txBody>
      </p:sp>
      <p:sp>
        <p:nvSpPr>
          <p:cNvPr id="24" name="TextBox 23"/>
          <p:cNvSpPr txBox="1"/>
          <p:nvPr/>
        </p:nvSpPr>
        <p:spPr>
          <a:xfrm>
            <a:off x="3424428" y="5294375"/>
            <a:ext cx="2194560" cy="256032"/>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4A4E54"/>
                </a:solidFill>
                <a:latin typeface="Arial"/>
              </a:defRPr>
            </a:pPr>
            <a:r>
              <a:rPr sz="1400">
                <a:solidFill>
                  <a:srgbClr val="111218"/>
                </a:solidFill>
                <a:latin typeface="Arial"/>
              </a:rPr>
              <a:t>1:55 PM–2:00 PM</a:t>
            </a:r>
          </a:p>
        </p:txBody>
      </p:sp>
      <p:sp>
        <p:nvSpPr>
          <p:cNvPr id="25" name="TextBox 24"/>
          <p:cNvSpPr txBox="1"/>
          <p:nvPr/>
        </p:nvSpPr>
        <p:spPr>
          <a:xfrm>
            <a:off x="5710428" y="5294375"/>
            <a:ext cx="2514600" cy="274320"/>
          </a:xfrm>
          <a:prstGeom prst="rect">
            <a:avLst/>
          </a:prstGeom>
          <a:noFill/>
        </p:spPr>
        <p:txBody>
          <a:bodyPr wrap="square" lIns="0" rIns="0" tIns="0" bIns="0" anchor="t">
            <a:normAutofit fontScale="100000" lnSpcReduction="0"/>
          </a:bodyPr>
          <a:lstStyle/>
          <a:p>
            <a:pPr>
              <a:spcBef>
                <a:spcPts val="0"/>
              </a:spcBef>
              <a:spcAft>
                <a:spcPts val="0"/>
              </a:spcAft>
              <a:defRPr sz="1500" b="1">
                <a:solidFill>
                  <a:srgbClr val="111218"/>
                </a:solidFill>
                <a:latin typeface="Arial"/>
              </a:defRPr>
            </a:pPr>
            <a:r>
              <a:rPr>
                <a:solidFill>
                  <a:srgbClr val="111218"/>
                </a:solidFill>
                <a:latin typeface="Arial"/>
              </a:rPr>
              <a:t>Wrap up</a:t>
            </a:r>
          </a:p>
        </p:txBody>
      </p:sp>
      <p:sp>
        <p:nvSpPr>
          <p:cNvPr id="26" name="TextBox 25"/>
          <p:cNvSpPr txBox="1"/>
          <p:nvPr/>
        </p:nvSpPr>
        <p:spPr>
          <a:xfrm>
            <a:off x="8179308" y="5294375"/>
            <a:ext cx="548640" cy="274320"/>
          </a:xfrm>
          <a:prstGeom prst="rect">
            <a:avLst/>
          </a:prstGeom>
          <a:noFill/>
        </p:spPr>
        <p:txBody>
          <a:bodyPr wrap="square" lIns="0" rIns="0" tIns="0" bIns="0" anchor="t">
            <a:normAutofit fontScale="100000" lnSpcReduction="0"/>
          </a:bodyPr>
          <a:lstStyle/>
          <a:p>
            <a:pPr>
              <a:spcBef>
                <a:spcPts val="0"/>
              </a:spcBef>
              <a:spcAft>
                <a:spcPts val="0"/>
              </a:spcAft>
              <a:defRPr sz="1400" b="0">
                <a:solidFill>
                  <a:srgbClr val="D2181F"/>
                </a:solidFill>
                <a:latin typeface="Arial"/>
              </a:defRPr>
            </a:pPr>
            <a:r>
              <a:rPr>
                <a:solidFill>
                  <a:srgbClr val="111218"/>
                </a:solidFill>
                <a:latin typeface="Arial"/>
              </a:rPr>
              <a:t>5</a:t>
            </a:r>
          </a:p>
        </p:txBody>
      </p:sp>
      <p:sp>
        <p:nvSpPr>
          <p:cNvPr id="27" name="TextBox 26"/>
          <p:cNvSpPr txBox="1"/>
          <p:nvPr/>
        </p:nvSpPr>
        <p:spPr>
          <a:xfrm>
            <a:off x="3497580" y="5669280"/>
            <a:ext cx="5166360" cy="228600"/>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111218"/>
                </a:solidFill>
                <a:latin typeface="Arial"/>
              </a:rPr>
              <a:t>Math  •  Math Week 6, Lesson 9</a:t>
            </a:r>
          </a:p>
        </p:txBody>
      </p:sp>
      <p:sp>
        <p:nvSpPr>
          <p:cNvPr id="28" name="TextBox 27"/>
          <p:cNvSpPr txBox="1"/>
          <p:nvPr/>
        </p:nvSpPr>
        <p:spPr>
          <a:xfrm>
            <a:off x="612648" y="6053328"/>
            <a:ext cx="10927080" cy="320040"/>
          </a:xfrm>
          <a:prstGeom prst="rect">
            <a:avLst/>
          </a:prstGeom>
          <a:noFill/>
        </p:spPr>
        <p:txBody>
          <a:bodyPr wrap="square" lIns="0" rIns="0" tIns="0" bIns="0" anchor="t">
            <a:normAutofit fontScale="100000" lnSpcReduction="0"/>
          </a:bodyPr>
          <a:lstStyle/>
          <a:p>
            <a:pPr>
              <a:spcBef>
                <a:spcPts val="0"/>
              </a:spcBef>
              <a:spcAft>
                <a:spcPts val="300"/>
              </a:spcAft>
              <a:defRPr sz="1500" b="0">
                <a:solidFill>
                  <a:srgbClr val="111218"/>
                </a:solidFill>
                <a:latin typeface="Arial"/>
              </a:defRPr>
            </a:pPr>
            <a:r>
              <a:rPr b="1">
                <a:solidFill>
                  <a:srgbClr val="111218"/>
                </a:solidFill>
                <a:latin typeface="Arial"/>
              </a:rPr>
              <a:t>One math block today. Other scheduled program sessions remain separate.</a:t>
            </a:r>
          </a:p>
        </p:txBody>
      </p:sp>
      <p:pic>
        <p:nvPicPr>
          <p:cNvPr id="29" name="Picture 2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31" name="TextBox 3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32" name="TextBox 3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33" name="TextBox 3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34" name="TextBox 3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35" name="TextBox 3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START  •  12:45 PM–12:50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Angles, grades and carpentry slope applications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sp>
        <p:nvSpPr>
          <p:cNvPr id="5" name="TextBox 4"/>
          <p:cNvSpPr txBox="1"/>
          <p:nvPr/>
        </p:nvSpPr>
        <p:spPr>
          <a:xfrm>
            <a:off x="612648" y="1856231"/>
            <a:ext cx="10927080" cy="1005840"/>
          </a:xfrm>
          <a:prstGeom prst="rect">
            <a:avLst/>
          </a:prstGeom>
          <a:noFill/>
        </p:spPr>
        <p:txBody>
          <a:bodyPr wrap="square" lIns="0" rIns="0" tIns="0" bIns="0" anchor="t">
            <a:normAutofit fontScale="100000" lnSpcReduction="0"/>
          </a:bodyPr>
          <a:lstStyle/>
          <a:p>
            <a:pPr>
              <a:spcBef>
                <a:spcPts val="0"/>
              </a:spcBef>
              <a:spcAft>
                <a:spcPts val="300"/>
              </a:spcAft>
              <a:defRPr sz="2400" b="1">
                <a:solidFill>
                  <a:srgbClr val="111218"/>
                </a:solidFill>
                <a:latin typeface="Arial"/>
              </a:defRPr>
            </a:pPr>
            <a:r>
              <a:rPr b="1">
                <a:solidFill>
                  <a:srgbClr val="FFFFFF"/>
                </a:solidFill>
                <a:latin typeface="Arial"/>
              </a:rPr>
              <a:t>Today’s goal: Find an angle from two sides and distinguish percentage grade from an angle in degrees.</a:t>
            </a:r>
          </a:p>
        </p:txBody>
      </p:sp>
      <p:sp>
        <p:nvSpPr>
          <p:cNvPr id="6" name="TextBox 5"/>
          <p:cNvSpPr txBox="1"/>
          <p:nvPr/>
        </p:nvSpPr>
        <p:spPr>
          <a:xfrm>
            <a:off x="612648" y="3154680"/>
            <a:ext cx="10927080" cy="59436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Describe a prior use of the skill; identify the given and unknown quantities.</a:t>
            </a:r>
          </a:p>
        </p:txBody>
      </p:sp>
      <p:sp>
        <p:nvSpPr>
          <p:cNvPr id="7" name="Rectangle 6"/>
          <p:cNvSpPr/>
          <p:nvPr/>
        </p:nvSpPr>
        <p:spPr>
          <a:xfrm>
            <a:off x="612648" y="4114800"/>
            <a:ext cx="10927080" cy="1371600"/>
          </a:xfrm>
          <a:prstGeom prst="rect">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111218"/>
                </a:solidFill>
                <a:latin typeface="Arial"/>
              </a:defRPr>
            </a:pPr>
            <a:r>
              <a:rPr>
                <a:solidFill>
                  <a:srgbClr val="111218"/>
                </a:solidFill>
                <a:latin typeface="Arial"/>
              </a:rPr>
              <a:t>Textbook sections 13.4–13.5 pp.207–209; sections 13.7 pp.213–214 (extension)</a:t>
            </a:r>
          </a:p>
        </p:txBody>
      </p:sp>
      <p:sp>
        <p:nvSpPr>
          <p:cNvPr id="9" name="TextBox 8"/>
          <p:cNvSpPr txBox="1"/>
          <p:nvPr/>
        </p:nvSpPr>
        <p:spPr>
          <a:xfrm>
            <a:off x="841248" y="4901184"/>
            <a:ext cx="10424160" cy="457200"/>
          </a:xfrm>
          <a:prstGeom prst="rect">
            <a:avLst/>
          </a:prstGeom>
          <a:noFill/>
        </p:spPr>
        <p:txBody>
          <a:bodyPr wrap="square" lIns="0" rIns="0" tIns="0" bIns="0" anchor="t">
            <a:normAutofit fontScale="100000" lnSpcReduction="0"/>
          </a:bodyPr>
          <a:lstStyle/>
          <a:p>
            <a:pPr>
              <a:spcBef>
                <a:spcPts val="0"/>
              </a:spcBef>
              <a:spcAft>
                <a:spcPts val="300"/>
              </a:spcAft>
              <a:defRPr sz="1600" b="0">
                <a:solidFill>
                  <a:srgbClr val="4A4E54"/>
                </a:solidFill>
                <a:latin typeface="Arial"/>
              </a:defRPr>
            </a:pPr>
            <a:r>
              <a:rPr>
                <a:solidFill>
                  <a:srgbClr val="111218"/>
                </a:solidFill>
                <a:latin typeface="Arial"/>
              </a:rPr>
              <a:t>Exercise Book 13A Q10–15 (p.82); 13B Q7 (p.83), Q12 (p.84)</a:t>
            </a:r>
          </a:p>
        </p:txBody>
      </p:sp>
      <p:sp>
        <p:nvSpPr>
          <p:cNvPr id="10" name="TextBox 9"/>
          <p:cNvSpPr txBox="1"/>
          <p:nvPr/>
        </p:nvSpPr>
        <p:spPr>
          <a:xfrm>
            <a:off x="612648" y="580644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D2181F"/>
                </a:solidFill>
                <a:latin typeface="Arial"/>
              </a:defRPr>
            </a:pPr>
            <a:r>
              <a:rPr>
                <a:solidFill>
                  <a:srgbClr val="F7F8FC"/>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RECALL  •  12:50 PM–12:55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Recall and reconnect</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13.4–13.5 pp.207–209; sections 13.7 pp.213–214 (extension)</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Discuss whether a 2% slope is the same as 2°. Retrieve the opposite/adjacent ratio.</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Attempt the retrieval task independently; explain the method before checking.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13A Q10–15 (p.82); 13B Q7 (p.83), Q12 (p.84)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2907792"/>
            <a:ext cx="5349240" cy="914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Find an angle from two sides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13.4–13.5 pp.207–209; sections 13.7 pp.213–214 (extension)</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For rise and run, tan θ = rise/run.</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inverse tangent to recover θ from the ratio.</a:t>
            </a:r>
          </a:p>
        </p:txBody>
      </p:sp>
      <p:sp>
        <p:nvSpPr>
          <p:cNvPr id="9" name="Rectangle 8"/>
          <p:cNvSpPr/>
          <p:nvPr/>
        </p:nvSpPr>
        <p:spPr>
          <a:xfrm>
            <a:off x="795528" y="3072383"/>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Keep the calculator in DEG mode and label the angle with °.</a:t>
            </a:r>
          </a:p>
        </p:txBody>
      </p:sp>
      <p:sp>
        <p:nvSpPr>
          <p:cNvPr id="11" name="Rectangle 10"/>
          <p:cNvSpPr/>
          <p:nvPr/>
        </p:nvSpPr>
        <p:spPr>
          <a:xfrm>
            <a:off x="6400800" y="3072383"/>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090672"/>
            <a:ext cx="4343400" cy="658368"/>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Check that the calculated angle matches the relative rise and run.</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05</a:t>
            </a:r>
          </a:p>
        </p:txBody>
      </p:sp>
      <p:pic>
        <p:nvPicPr>
          <p:cNvPr id="32" name="Visual rise run angle" descr="Right triangle with the right angle marked 90 degrees, the vertical side labelled rise, the bottom side labelled run and the angle at the bottom right marked theta. Beside it: tan theta equals rise over run, theta equals inverse tangent of rise over run."/>
          <p:cNvPicPr>
            <a:picLocks noChangeAspect="1"/>
          </p:cNvPicPr>
          <p:nvPr/>
        </p:nvPicPr>
        <p:blipFill>
          <a:blip r:embed="rId8"/>
          <a:stretch>
            <a:fillRect/>
          </a:stretch>
        </p:blipFill>
        <p:spPr>
          <a:xfrm>
            <a:off x="615149" y="3968496"/>
            <a:ext cx="10949509" cy="212140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236976"/>
            <a:ext cx="5349240" cy="1243584"/>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Keep grade and angle separate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13.4–13.5 pp.207–209; sections 13.7 pp.213–214 (extension)</a:t>
            </a:r>
          </a:p>
        </p:txBody>
      </p:sp>
      <p:sp>
        <p:nvSpPr>
          <p:cNvPr id="5" name="Rectangle 4"/>
          <p:cNvSpPr/>
          <p:nvPr/>
        </p:nvSpPr>
        <p:spPr>
          <a:xfrm>
            <a:off x="795528" y="2029968"/>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1</a:t>
            </a:r>
          </a:p>
        </p:txBody>
      </p:sp>
      <p:sp>
        <p:nvSpPr>
          <p:cNvPr id="6" name="TextBox 5"/>
          <p:cNvSpPr txBox="1"/>
          <p:nvPr/>
        </p:nvSpPr>
        <p:spPr>
          <a:xfrm>
            <a:off x="1362456"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Percentage grade = rise/run × 100.</a:t>
            </a:r>
          </a:p>
        </p:txBody>
      </p:sp>
      <p:sp>
        <p:nvSpPr>
          <p:cNvPr id="7" name="Rectangle 6"/>
          <p:cNvSpPr/>
          <p:nvPr/>
        </p:nvSpPr>
        <p:spPr>
          <a:xfrm>
            <a:off x="6400800" y="2029968"/>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2</a:t>
            </a:r>
          </a:p>
        </p:txBody>
      </p:sp>
      <p:sp>
        <p:nvSpPr>
          <p:cNvPr id="8" name="TextBox 7"/>
          <p:cNvSpPr txBox="1"/>
          <p:nvPr/>
        </p:nvSpPr>
        <p:spPr>
          <a:xfrm>
            <a:off x="6967728" y="20482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Angle in degrees = tan⁻¹(rise/run).</a:t>
            </a:r>
          </a:p>
        </p:txBody>
      </p:sp>
      <p:sp>
        <p:nvSpPr>
          <p:cNvPr id="9" name="Rectangle 8"/>
          <p:cNvSpPr/>
          <p:nvPr/>
        </p:nvSpPr>
        <p:spPr>
          <a:xfrm>
            <a:off x="795528" y="3401567"/>
            <a:ext cx="393192" cy="393192"/>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111218"/>
                </a:solidFill>
                <a:latin typeface="Arial"/>
              </a:rPr>
              <a:t>3</a:t>
            </a:r>
          </a:p>
        </p:txBody>
      </p:sp>
      <p:sp>
        <p:nvSpPr>
          <p:cNvPr id="10" name="TextBox 9"/>
          <p:cNvSpPr txBox="1"/>
          <p:nvPr/>
        </p:nvSpPr>
        <p:spPr>
          <a:xfrm>
            <a:off x="1362456"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The same triangle gives two different descriptions of its slope.</a:t>
            </a:r>
          </a:p>
        </p:txBody>
      </p:sp>
      <p:sp>
        <p:nvSpPr>
          <p:cNvPr id="11" name="Rectangle 10"/>
          <p:cNvSpPr/>
          <p:nvPr/>
        </p:nvSpPr>
        <p:spPr>
          <a:xfrm>
            <a:off x="6400800" y="3401567"/>
            <a:ext cx="393192" cy="393192"/>
          </a:xfrm>
          <a:prstGeom prst="rect">
            <a:avLst/>
          </a:prstGeom>
          <a:solidFill>
            <a:srgbClr val="D0002B"/>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500" b="1">
                <a:solidFill>
                  <a:srgbClr val="111218"/>
                </a:solidFill>
                <a:latin typeface="Arial"/>
              </a:defRPr>
            </a:pPr>
            <a:r>
              <a:rPr b="1" sz="1900">
                <a:solidFill>
                  <a:srgbClr val="FFFFFF"/>
                </a:solidFill>
                <a:latin typeface="Arial"/>
              </a:rPr>
              <a:t>4</a:t>
            </a:r>
          </a:p>
        </p:txBody>
      </p:sp>
      <p:sp>
        <p:nvSpPr>
          <p:cNvPr id="12" name="TextBox 11"/>
          <p:cNvSpPr txBox="1"/>
          <p:nvPr/>
        </p:nvSpPr>
        <p:spPr>
          <a:xfrm>
            <a:off x="6967728" y="3419856"/>
            <a:ext cx="4343400" cy="987552"/>
          </a:xfrm>
          <a:prstGeom prst="rect">
            <a:avLst/>
          </a:prstGeom>
          <a:noFill/>
        </p:spPr>
        <p:txBody>
          <a:bodyPr wrap="square" lIns="0" rIns="0" tIns="0" bIns="0" anchor="t">
            <a:normAutofit fontScale="100000" lnSpcReduction="0"/>
          </a:bodyPr>
          <a:lstStyle/>
          <a:p>
            <a:pPr>
              <a:lnSpc>
                <a:spcPct val="105000"/>
              </a:lnSpc>
              <a:spcBef>
                <a:spcPts val="0"/>
              </a:spcBef>
              <a:spcAft>
                <a:spcPts val="0"/>
              </a:spcAft>
              <a:defRPr sz="2200" b="0">
                <a:solidFill>
                  <a:srgbClr val="111218"/>
                </a:solidFill>
                <a:latin typeface="Arial"/>
              </a:defRPr>
            </a:pPr>
            <a:r>
              <a:rPr sz="2100">
                <a:solidFill>
                  <a:srgbClr val="111218"/>
                </a:solidFill>
                <a:latin typeface="Arial"/>
              </a:rPr>
              <a:t>Use consistent units for rise and run; label percentage and degree results separately.</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5" name="TextBox 14"/>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6" name="TextBox 15"/>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7" name="TextBox 16"/>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8" name="TextBox 17"/>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9" name="TextBox 18"/>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06</a:t>
            </a:r>
          </a:p>
        </p:txBody>
      </p:sp>
      <p:pic>
        <p:nvPicPr>
          <p:cNvPr id="32" name="Visual grade and angle" descr="Right triangle labelled rise and run with angle theta at the bottom right. Beside it: grade equals rise over run times 100, report in percent, and angle equals inverse tangent of rise over run, report in degrees."/>
          <p:cNvPicPr>
            <a:picLocks noChangeAspect="1"/>
          </p:cNvPicPr>
          <p:nvPr/>
        </p:nvPicPr>
        <p:blipFill>
          <a:blip r:embed="rId8"/>
          <a:stretch>
            <a:fillRect/>
          </a:stretch>
        </p:blipFill>
        <p:spPr>
          <a:xfrm>
            <a:off x="622505" y="4626864"/>
            <a:ext cx="10934799" cy="1463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2920" y="2834640"/>
            <a:ext cx="6254496" cy="1298448"/>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normAutofit fontScale="100000" lnSpcReduction="0"/>
          </a:bodyPr>
          <a:lstStyle/>
          <a:p>
            <a:pPr marL="0" indent="0" algn="l">
              <a:buNone/>
              <a:defRPr sz="1150">
                <a:solidFill>
                  <a:srgbClr val="D2181F"/>
                </a:solidFill>
                <a:latin typeface="Arial"/>
              </a:defRPr>
            </a:pPr>
            <a:r>
              <a:rPr>
                <a:solidFill>
                  <a:srgbClr val="FFFFFF"/>
                </a:solidFill>
                <a:latin typeface="Arial"/>
              </a:rPr>
              <a:t>W06-L09  •  TEACH  •  12:55 PM–1:10 PM  •  15 MIN TOTAL</a:t>
            </a:r>
            <a:endParaRPr lang="en-US" sz="1200" dirty="0"/>
          </a:p>
        </p:txBody>
      </p:sp>
      <p:sp>
        <p:nvSpPr>
          <p:cNvPr id="4" name="Text 2"/>
          <p:cNvSpPr/>
          <p:nvPr/>
        </p:nvSpPr>
        <p:spPr>
          <a:xfrm>
            <a:off x="609585" y="896112"/>
            <a:ext cx="10972526" cy="62179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3000">
                <a:solidFill>
                  <a:srgbClr val="FFFFFF"/>
                </a:solidFill>
              </a:defRPr>
            </a:pPr>
            <a:r>
              <a:rPr lang="en-US" sz="3000" b="1" dirty="0">
                <a:solidFill>
                  <a:srgbClr val="FFFFFF"/>
                </a:solidFill>
                <a:latin typeface="Arial" pitchFamily="34" charset="0"/>
                <a:ea typeface="Arial" pitchFamily="34" charset="-122"/>
                <a:cs typeface="Arial" pitchFamily="34" charset="-120"/>
              </a:rPr>
              <a:t>One rise/run ratio, two different reports</a:t>
            </a:r>
            <a:endParaRPr lang="en-US" sz="3000" dirty="0"/>
          </a:p>
        </p:txBody>
      </p:sp>
      <p:sp>
        <p:nvSpPr>
          <p:cNvPr id="5" name="Text 3"/>
          <p:cNvSpPr/>
          <p:nvPr/>
        </p:nvSpPr>
        <p:spPr>
          <a:xfrm>
            <a:off x="612648" y="1719072"/>
            <a:ext cx="6035040" cy="1005840"/>
          </a:xfrm>
          <a:prstGeom prst="rect">
            <a:avLst/>
          </a:prstGeom>
          <a:noFill/>
          <a:ln/>
        </p:spPr>
        <p:txBody>
          <a:bodyPr wrap="square" lIns="0" tIns="0" rIns="0" bIns="0" rtlCol="0" anchor="t">
            <a:normAutofit fontScale="100000" lnSpcReduction="0"/>
          </a:bodyPr>
          <a:lstStyle/>
          <a:p>
            <a:pPr marL="0" indent="0" algn="l">
              <a:buNone/>
            </a:pPr>
            <a:r>
              <a:rPr lang="en-US" sz="2100" dirty="0">
                <a:solidFill>
                  <a:srgbClr val="111218"/>
                </a:solidFill>
                <a:latin typeface="Arial" pitchFamily="34" charset="0"/>
                <a:ea typeface="Arial" pitchFamily="34" charset="-122"/>
                <a:cs typeface="Arial" pitchFamily="34" charset="-120"/>
              </a:rPr>
              <a:t>Rise : run = 1 : 50 → rise ÷ run = 0.02</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Grade = 0.02 × 100 = 2%</a:t>
            </a:r>
            <a:endParaRPr lang="en-US" sz="2100" dirty="0"/>
          </a:p>
          <a:p>
            <a:pPr marL="0" indent="0" algn="l">
              <a:buNone/>
            </a:pPr>
            <a:r>
              <a:rPr lang="en-US" sz="2100" dirty="0">
                <a:solidFill>
                  <a:srgbClr val="111218"/>
                </a:solidFill>
                <a:latin typeface="Arial" pitchFamily="34" charset="0"/>
                <a:ea typeface="Arial" pitchFamily="34" charset="-122"/>
                <a:cs typeface="Arial" pitchFamily="34" charset="-120"/>
              </a:rPr>
              <a:t>Angle = tan⁻¹(0.02) ≈ 1.15°</a:t>
            </a:r>
            <a:endParaRPr lang="en-US" sz="2100" dirty="0"/>
          </a:p>
        </p:txBody>
      </p:sp>
      <p:sp>
        <p:nvSpPr>
          <p:cNvPr id="6" name="Text 4"/>
          <p:cNvSpPr/>
          <p:nvPr/>
        </p:nvSpPr>
        <p:spPr>
          <a:xfrm>
            <a:off x="612648" y="2926080"/>
            <a:ext cx="6035040" cy="1115568"/>
          </a:xfrm>
          <a:prstGeom prst="rect">
            <a:avLst/>
          </a:prstGeom>
          <a:noFill/>
          <a:ln/>
        </p:spPr>
        <p:txBody>
          <a:bodyPr wrap="square" lIns="0" tIns="0" rIns="0" bIns="0" rtlCol="0" anchor="t">
            <a:normAutofit fontScale="100000" lnSpcReduction="0"/>
          </a:bodyPr>
          <a:lstStyle/>
          <a:p>
            <a:pPr marL="0" indent="0" algn="l">
              <a:buNone/>
            </a:pPr>
            <a:r>
              <a:rPr lang="en-US" sz="1800" dirty="0" b="1">
                <a:solidFill>
                  <a:srgbClr val="111218"/>
                </a:solidFill>
                <a:latin typeface="Arial" pitchFamily="34" charset="0"/>
                <a:ea typeface="Arial" pitchFamily="34" charset="-122"/>
                <a:cs typeface="Arial" pitchFamily="34" charset="-120"/>
              </a:rPr>
              <a:t>Angle example • Rise 350 mm; run 800 mm.</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θ = tan⁻¹(350 ÷ 800) ≈ 23.63°.</a:t>
            </a:r>
            <a:endParaRPr lang="en-US" sz="1800" dirty="0"/>
          </a:p>
          <a:p>
            <a:pPr marL="0" indent="0" algn="l">
              <a:buNone/>
            </a:pPr>
            <a:r>
              <a:rPr lang="en-US" sz="1800" dirty="0" b="1">
                <a:solidFill>
                  <a:srgbClr val="111218"/>
                </a:solidFill>
                <a:latin typeface="Arial" pitchFamily="34" charset="0"/>
                <a:ea typeface="Arial" pitchFamily="34" charset="-122"/>
                <a:cs typeface="Arial" pitchFamily="34" charset="-120"/>
              </a:rPr>
              <a:t>Use the inverse-tangent function, not 1 ÷ tan. Check DEG mode.</a:t>
            </a:r>
            <a:endParaRPr lang="en-US" sz="1800" dirty="0"/>
          </a:p>
        </p:txBody>
      </p:sp>
      <p:sp>
        <p:nvSpPr>
          <p:cNvPr id="7" name="Text 5"/>
          <p:cNvSpPr/>
          <p:nvPr/>
        </p:nvSpPr>
        <p:spPr>
          <a:xfrm>
            <a:off x="612648" y="4261104"/>
            <a:ext cx="6035040" cy="1143000"/>
          </a:xfrm>
          <a:prstGeom prst="rect">
            <a:avLst/>
          </a:prstGeom>
          <a:noFill/>
          <a:ln/>
        </p:spPr>
        <p:txBody>
          <a:bodyPr wrap="square" lIns="0" tIns="0" rIns="0" bIns="0" rtlCol="0" anchor="t">
            <a:normAutofit fontScale="100000" lnSpcReduction="0"/>
          </a:bodyPr>
          <a:lstStyle/>
          <a:p>
            <a:pPr marL="0" indent="0" algn="l">
              <a:buNone/>
            </a:pPr>
            <a:r>
              <a:rPr lang="en-US" sz="1800" dirty="0">
                <a:solidFill>
                  <a:srgbClr val="111218"/>
                </a:solidFill>
                <a:latin typeface="Arial" pitchFamily="34" charset="0"/>
                <a:ea typeface="Arial" pitchFamily="34" charset="-122"/>
                <a:cs typeface="Arial" pitchFamily="34" charset="-120"/>
              </a:rPr>
              <a:t>Together • Solve 13A Q10,14–15.</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Label degree answers differently from percentage answers.</a:t>
            </a:r>
            <a:endParaRPr lang="en-US" sz="1800" dirty="0"/>
          </a:p>
          <a:p>
            <a:pPr marL="0" indent="0" algn="l">
              <a:buNone/>
            </a:pPr>
            <a:r>
              <a:rPr lang="en-US" sz="1800" dirty="0">
                <a:solidFill>
                  <a:srgbClr val="111218"/>
                </a:solidFill>
                <a:latin typeface="Arial" pitchFamily="34" charset="0"/>
                <a:ea typeface="Arial" pitchFamily="34" charset="-122"/>
                <a:cs typeface="Arial" pitchFamily="34" charset="-120"/>
              </a:rPr>
              <a:t>Shape Canvas: show rise and run; compare with a taught Numeracy Hub task.</a:t>
            </a:r>
            <a:endParaRPr lang="en-US" sz="1800" dirty="0"/>
          </a:p>
        </p:txBody>
      </p:sp>
      <p:sp>
        <p:nvSpPr>
          <p:cNvPr id="8" name="Text 6"/>
          <p:cNvSpPr/>
          <p:nvPr/>
        </p:nvSpPr>
        <p:spPr>
          <a:xfrm>
            <a:off x="609585" y="6236208"/>
            <a:ext cx="10881360" cy="256032"/>
          </a:xfrm>
          <a:prstGeom prst="rect">
            <a:avLst/>
          </a:prstGeom>
          <a:noFill/>
          <a:ln/>
        </p:spPr>
        <p:txBody>
          <a:bodyPr wrap="square" lIns="0" tIns="0" rIns="0" bIns="0" rtlCol="0" anchor="t">
            <a:normAutofit fontScale="100000" lnSpcReduction="0"/>
          </a:bodyPr>
          <a:lstStyle/>
          <a:p>
            <a:pPr marL="0" indent="0" algn="l">
              <a:spcBef>
                <a:spcPts val="0"/>
              </a:spcBef>
              <a:spcAft>
                <a:spcPts val="0"/>
              </a:spcAft>
              <a:buNone/>
              <a:defRPr sz="1150"/>
            </a:pPr>
            <a:r>
              <a:rPr lang="en-US" sz="1150" dirty="0">
                <a:solidFill>
                  <a:srgbClr val="424957"/>
                </a:solidFill>
                <a:latin typeface="Arial" pitchFamily="34" charset="0"/>
                <a:ea typeface="Arial" pitchFamily="34" charset="-122"/>
                <a:cs typeface="Arial" pitchFamily="34" charset="-120"/>
              </a:rPr>
              <a:t>Textbook pp.207–209 • Numeracy Hub → Angles and Trig → Right-triangle trigonometry</a:t>
            </a:r>
            <a:endParaRPr lang="en-US" sz="1050" dirty="0"/>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07</a:t>
            </a:r>
          </a:p>
        </p:txBody>
      </p:sp>
      <p:pic>
        <p:nvPicPr>
          <p:cNvPr id="22" name="Visual BCBC plate 9.8.5.4" descr="Drawing from the ACCESS BCBC plate for Article 9.8.5.4, Ramp Slope: four ramps with the same 3 m run. Exterior ramps 1 in 10, interior residential 1 in 10, industrial occupancies 1 in 6, all other occupancies 1 in 8. Source: BCBC 2024, Division B, Article 9.8.5.4. (page 9-33)."/>
          <p:cNvPicPr>
            <a:picLocks noChangeAspect="1"/>
          </p:cNvPicPr>
          <p:nvPr/>
        </p:nvPicPr>
        <p:blipFill>
          <a:blip r:embed="rId8"/>
          <a:stretch>
            <a:fillRect/>
          </a:stretch>
        </p:blipFill>
        <p:spPr>
          <a:xfrm>
            <a:off x="6812280" y="2225832"/>
            <a:ext cx="4754880" cy="3366455"/>
          </a:xfrm>
          <a:prstGeom prst="rect">
            <a:avLst/>
          </a:prstGeom>
        </p:spPr>
      </p:pic>
    </p:spTree>
    <p:extLst>
      <p:ext uri="{BB962C8B-B14F-4D97-AF65-F5344CB8AC3E}">
        <p14:creationId xmlns:p14="http://schemas.microsoft.com/office/powerpoint/2010/main" val="2689777175"/>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209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pic>
        <p:nvPicPr>
          <p:cNvPr id="5" name="Picture 4" descr="W06-L09.png"/>
          <p:cNvPicPr>
            <a:picLocks noChangeAspect="1"/>
          </p:cNvPicPr>
          <p:nvPr/>
        </p:nvPicPr>
        <p:blipFill>
          <a:blip r:embed="rId3"/>
          <a:stretch>
            <a:fillRect/>
          </a:stretch>
        </p:blipFill>
        <p:spPr>
          <a:xfrm>
            <a:off x="685800" y="2272228"/>
            <a:ext cx="10698480" cy="2907903"/>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p.209 • Example 13.7 — Rise, run, angle and percentage grade</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Textbook  |  page 209</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pic>
        <p:nvPicPr>
          <p:cNvPr id="5" name="Picture 4" descr="W06-L09-2.png"/>
          <p:cNvPicPr>
            <a:picLocks noChangeAspect="1"/>
          </p:cNvPicPr>
          <p:nvPr/>
        </p:nvPicPr>
        <p:blipFill>
          <a:blip r:embed="rId3"/>
          <a:stretch>
            <a:fillRect/>
          </a:stretch>
        </p:blipFill>
        <p:spPr>
          <a:xfrm>
            <a:off x="685800" y="2334062"/>
            <a:ext cx="10698480" cy="2784235"/>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a:solidFill>
                  <a:srgbClr val="F7F8FC"/>
                </a:solidFill>
                <a:latin typeface="Arial"/>
              </a:rPr>
              <a:t>Textbook p.209 • Example 13.7 — Inverse tangent and separate degree/percent answers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TEACH  •  12:55 PM–1:10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Spot the mistake. Explain the correction.</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sp>
        <p:nvSpPr>
          <p:cNvPr id="5" name="TextBox 4"/>
          <p:cNvSpPr txBox="1"/>
          <p:nvPr/>
        </p:nvSpPr>
        <p:spPr>
          <a:xfrm>
            <a:off x="612648" y="1847088"/>
            <a:ext cx="10927080" cy="1554480"/>
          </a:xfrm>
          <a:prstGeom prst="rect">
            <a:avLst/>
          </a:prstGeom>
          <a:noFill/>
        </p:spPr>
        <p:txBody>
          <a:bodyPr wrap="square" lIns="0" rIns="0" tIns="0" bIns="0" anchor="t">
            <a:normAutofit fontScale="100000" lnSpcReduction="0"/>
          </a:bodyPr>
          <a:lstStyle/>
          <a:p>
            <a:pPr>
              <a:spcBef>
                <a:spcPts val="0"/>
              </a:spcBef>
              <a:spcAft>
                <a:spcPts val="300"/>
              </a:spcAft>
              <a:defRPr sz="2600" b="1">
                <a:solidFill>
                  <a:srgbClr val="111218"/>
                </a:solidFill>
                <a:latin typeface="Arial"/>
              </a:defRPr>
            </a:pPr>
            <a:r>
              <a:rPr>
                <a:solidFill>
                  <a:srgbClr val="FFFFFF"/>
                </a:solidFill>
                <a:latin typeface="Arial"/>
              </a:rPr>
              <a:t>Does a 2% grade mean an angle of 2°?</a:t>
            </a:r>
          </a:p>
        </p:txBody>
      </p:sp>
      <p:sp>
        <p:nvSpPr>
          <p:cNvPr id="6" name="TextBox 5"/>
          <p:cNvSpPr txBox="1"/>
          <p:nvPr/>
        </p:nvSpPr>
        <p:spPr>
          <a:xfrm>
            <a:off x="612648" y="3703320"/>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4A4E54"/>
                </a:solidFill>
                <a:latin typeface="Arial"/>
              </a:defRPr>
            </a:pPr>
            <a:r>
              <a:rPr b="1">
                <a:solidFill>
                  <a:srgbClr val="111218"/>
                </a:solidFill>
                <a:latin typeface="Arial"/>
              </a:rPr>
              <a:t>No. Percent grade multiplies rise/run by 100; degrees come from inverse tangent in DEG mode.</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TextBox 9"/>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1" name="TextBox 10"/>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2" name="TextBox 11"/>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3" name="TextBox 12"/>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4" name="TextBox 13"/>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Work together</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13.4–13.5 pp.207–209; sections 13.7 pp.213–214 (extension)</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Solve Exercise Book 13A Q10,14–15. Label degree answers differently from percentages.</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Work in pairs, alternating solver and checker. Write a diagram, formula, units and estimate.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13A Q10–15 (p.82); 13B Q7 (p.83), Q12 (p.84)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Guided practice  |  13A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pic>
        <p:nvPicPr>
          <p:cNvPr id="5" name="Picture 4" descr="13A-Q10.png"/>
          <p:cNvPicPr>
            <a:picLocks noChangeAspect="1"/>
          </p:cNvPicPr>
          <p:nvPr/>
        </p:nvPicPr>
        <p:blipFill>
          <a:blip r:embed="rId3"/>
          <a:srcRect l="864" t="8696" r="9259" b="17391"/>
          <a:stretch>
            <a:fillRect/>
          </a:stretch>
        </p:blipFill>
        <p:spPr>
          <a:xfrm>
            <a:off x="778256" y="1920240"/>
            <a:ext cx="9615424"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12</a:t>
            </a:r>
          </a:p>
        </p:txBody>
      </p:sp>
      <p:pic>
        <p:nvPicPr>
          <p:cNvPr id="20" name="Visual triangle 13A Q10" descr="Right triangle with the right angle marked 90 degrees. The vertical side is 350 mm, the bottom side is 800 mm, and the angle at the bottom right, between the 800 mm side and the sloping side, is a red question mark. The sides are named opposite and adjacent."/>
          <p:cNvPicPr>
            <a:picLocks noChangeAspect="1"/>
          </p:cNvPicPr>
          <p:nvPr/>
        </p:nvPicPr>
        <p:blipFill>
          <a:blip r:embed="rId9"/>
          <a:stretch>
            <a:fillRect/>
          </a:stretch>
        </p:blipFill>
        <p:spPr>
          <a:xfrm>
            <a:off x="3136392" y="3058668"/>
            <a:ext cx="5925312" cy="2345436"/>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2064" y="3511296"/>
            <a:ext cx="11173968" cy="2331720"/>
          </a:xfrm>
          <a:prstGeom prst="roundRect">
            <a:avLst>
              <a:gd name="adj" fmla="val 8000"/>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TOGETHER  •  1:10 PM–1:25 PM  •  15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Compare your method  |  13A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pic>
        <p:nvPicPr>
          <p:cNvPr id="5" name="Picture 4" descr="13A-Q10.png"/>
          <p:cNvPicPr>
            <a:picLocks noChangeAspect="1"/>
          </p:cNvPicPr>
          <p:nvPr/>
        </p:nvPicPr>
        <p:blipFill>
          <a:blip r:embed="rId3"/>
          <a:stretch>
            <a:fillRect/>
          </a:stretch>
        </p:blipFill>
        <p:spPr>
          <a:xfrm>
            <a:off x="685800" y="1853945"/>
            <a:ext cx="10698480" cy="1367028"/>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nchor="t">
            <a:normAutofit fontScale="100000" lnSpcReduction="0"/>
          </a:bodyPr>
          <a:lstStyle/>
          <a:p>
            <a:pPr>
              <a:spcBef>
                <a:spcPts val="0"/>
              </a:spcBef>
              <a:spcAft>
                <a:spcPts val="300"/>
              </a:spcAft>
              <a:defRPr sz="1400" b="1">
                <a:solidFill>
                  <a:srgbClr val="D2181F"/>
                </a:solidFill>
                <a:latin typeface="Arial"/>
              </a:defRPr>
            </a:pPr>
            <a:r>
              <a:rPr b="1" sz="1400">
                <a:solidFill>
                  <a:srgbClr val="111218"/>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nchor="t">
            <a:normAutofit fontScale="100000" lnSpcReduction="0"/>
          </a:bodyPr>
          <a:lstStyle/>
          <a:p>
            <a:pPr>
              <a:spcBef>
                <a:spcPts val="0"/>
              </a:spcBef>
              <a:spcAft>
                <a:spcPts val="300"/>
              </a:spcAft>
              <a:defRPr sz="2700" b="1">
                <a:solidFill>
                  <a:srgbClr val="111218"/>
                </a:solidFill>
                <a:latin typeface="Arial"/>
              </a:defRPr>
            </a:pPr>
            <a:r>
              <a:rPr b="1" sz="3400">
                <a:solidFill>
                  <a:srgbClr val="111218"/>
                </a:solidFill>
                <a:latin typeface="Arial"/>
              </a:rPr>
              <a:t>23.63°</a:t>
            </a:r>
          </a:p>
        </p:txBody>
      </p:sp>
      <p:sp>
        <p:nvSpPr>
          <p:cNvPr id="8" name="TextBox 7"/>
          <p:cNvSpPr txBox="1"/>
          <p:nvPr/>
        </p:nvSpPr>
        <p:spPr>
          <a:xfrm>
            <a:off x="685800" y="5166360"/>
            <a:ext cx="10698480" cy="685800"/>
          </a:xfrm>
          <a:prstGeom prst="rect">
            <a:avLst/>
          </a:prstGeom>
          <a:noFill/>
        </p:spPr>
        <p:txBody>
          <a:bodyPr wrap="square" lIns="0" rIns="0" tIns="0" bIns="0" anchor="t">
            <a:normAutofit fontScale="100000" lnSpcReduction="0"/>
          </a:bodyPr>
          <a:lstStyle/>
          <a:p>
            <a:pPr>
              <a:spcBef>
                <a:spcPts val="0"/>
              </a:spcBef>
              <a:spcAft>
                <a:spcPts val="300"/>
              </a:spcAft>
              <a:defRPr sz="1900" b="0">
                <a:solidFill>
                  <a:srgbClr val="4A4E54"/>
                </a:solidFill>
                <a:latin typeface="Arial"/>
              </a:defRPr>
            </a:pPr>
            <a:r>
              <a:rPr>
                <a:solidFill>
                  <a:srgbClr val="111218"/>
                </a:solidFill>
                <a:latin typeface="Arial"/>
              </a:rPr>
              <a:t>tan⁻¹(350 ÷ 800)</a:t>
            </a:r>
          </a:p>
        </p:txBody>
      </p:sp>
      <p:pic>
        <p:nvPicPr>
          <p:cNvPr id="9" name="Picture 8" descr="access-logo.png"/>
          <p:cNvPicPr>
            <a:picLocks noChangeAspect="1"/>
          </p:cNvPicPr>
          <p:nvPr/>
        </p:nvPicPr>
        <p:blipFill>
          <a:blip r:embed="rId4"/>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7600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Your scheduled practice</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424957"/>
                </a:solidFill>
                <a:latin typeface="Arial"/>
              </a:rPr>
              <a:t>Textbook sections 13.4–13.5 pp.207–209; sections 13.7 pp.213–214 (extension)</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Complete Exercise Book 13A Q11–13 and 13B Q7; use Q12 as carpentry/truss extension. Show a Shape Canvas triangle and check the result with the Numeracy Hub.</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on paper first; check with tools; correct one error and explain the change.</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424957"/>
                </a:solidFill>
                <a:latin typeface="Arial"/>
              </a:rPr>
              <a:t>Resources: Exercise Book 13A Q10–15 (p.82); 13B Q7 (p.83), Q12 (p.84)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Open Numeracy Hub</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pic>
        <p:nvPicPr>
          <p:cNvPr id="5" name="Picture 4" descr="hub-angles.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2E15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in Numeracy Hub and Shape Canvas</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sp>
        <p:nvSpPr>
          <p:cNvPr id="5" name="Rectangle 4"/>
          <p:cNvSpPr/>
          <p:nvPr/>
        </p:nvSpPr>
        <p:spPr>
          <a:xfrm>
            <a:off x="658368" y="1828800"/>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Build the assigned rise/run triangle in Shape Canvas and label both dimensions.</a:t>
            </a:r>
          </a:p>
        </p:txBody>
      </p:sp>
      <p:sp>
        <p:nvSpPr>
          <p:cNvPr id="7" name="Rectangle 6"/>
          <p:cNvSpPr/>
          <p:nvPr/>
        </p:nvSpPr>
        <p:spPr>
          <a:xfrm>
            <a:off x="658368" y="3127248"/>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Calculate grade and angle separately on paper, keeping % distinct from °.</a:t>
            </a:r>
          </a:p>
        </p:txBody>
      </p:sp>
      <p:sp>
        <p:nvSpPr>
          <p:cNvPr id="9" name="Rectangle 8"/>
          <p:cNvSpPr/>
          <p:nvPr/>
        </p:nvSpPr>
        <p:spPr>
          <a:xfrm>
            <a:off x="658368" y="4425696"/>
            <a:ext cx="365760" cy="3657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normAutofit fontScale="100000" lnSpcReduction="0"/>
          </a:bodyPr>
          <a:lstStyle/>
          <a:p>
            <a:pPr algn="ctr">
              <a:spcBef>
                <a:spcPts val="0"/>
              </a:spcBef>
              <a:spcAft>
                <a:spcPts val="300"/>
              </a:spcAft>
              <a:defRPr sz="1800" b="1">
                <a:solidFill>
                  <a:srgbClr val="111218"/>
                </a:solidFill>
                <a:latin typeface="Arial"/>
              </a:defRPr>
            </a:pPr>
            <a:r>
              <a:rPr b="1" sz="2000">
                <a:solidFill>
                  <a:srgbClr val="111218"/>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nchor="t">
            <a:normAutofit fontScale="100000" lnSpcReduction="0"/>
          </a:bodyPr>
          <a:lstStyle/>
          <a:p>
            <a:pPr>
              <a:spcBef>
                <a:spcPts val="0"/>
              </a:spcBef>
              <a:spcAft>
                <a:spcPts val="300"/>
              </a:spcAft>
              <a:defRPr sz="2200" b="0">
                <a:solidFill>
                  <a:srgbClr val="111218"/>
                </a:solidFill>
                <a:latin typeface="Arial"/>
              </a:defRPr>
            </a:pPr>
            <a:r>
              <a:rPr>
                <a:solidFill>
                  <a:srgbClr val="FFFFFF"/>
                </a:solidFill>
                <a:latin typeface="Arial"/>
              </a:rPr>
              <a:t>Check the triangle with Numeracy Hub Right-triangle trigonometry ramp/brace practice in DEG mode.</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TextBox 12"/>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4" name="TextBox 13"/>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5" name="TextBox 14"/>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6" name="TextBox 15"/>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7" name="TextBox 16"/>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13A Q11</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pic>
        <p:nvPicPr>
          <p:cNvPr id="5" name="Picture 4" descr="13A-Q11.png"/>
          <p:cNvPicPr>
            <a:picLocks noChangeAspect="1"/>
          </p:cNvPicPr>
          <p:nvPr/>
        </p:nvPicPr>
        <p:blipFill>
          <a:blip r:embed="rId3"/>
          <a:srcRect l="864" t="8696" r="10062" b="17391"/>
          <a:stretch>
            <a:fillRect/>
          </a:stretch>
        </p:blipFill>
        <p:spPr>
          <a:xfrm>
            <a:off x="778256" y="1920240"/>
            <a:ext cx="952957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17</a:t>
            </a:r>
          </a:p>
        </p:txBody>
      </p:sp>
      <p:pic>
        <p:nvPicPr>
          <p:cNvPr id="20" name="Visual triangle 13A Q11" descr="Right triangle with the right angle marked 90 degrees. The vertical side, named opposite, is 0.45 m, the sloping side, named hypotenuse, is 1.2 m, and the angle at the bottom right is a red question mark."/>
          <p:cNvPicPr>
            <a:picLocks noChangeAspect="1"/>
          </p:cNvPicPr>
          <p:nvPr/>
        </p:nvPicPr>
        <p:blipFill>
          <a:blip r:embed="rId9"/>
          <a:stretch>
            <a:fillRect/>
          </a:stretch>
        </p:blipFill>
        <p:spPr>
          <a:xfrm>
            <a:off x="3136392" y="3058668"/>
            <a:ext cx="5925312" cy="2345436"/>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PRACTISE  •  1:25 PM–1:45 PM  •  20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Practise from the Exercise Book  |  13A Q12</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pic>
        <p:nvPicPr>
          <p:cNvPr id="5" name="Picture 4" descr="13A-Q12.png"/>
          <p:cNvPicPr>
            <a:picLocks noChangeAspect="1"/>
          </p:cNvPicPr>
          <p:nvPr/>
        </p:nvPicPr>
        <p:blipFill>
          <a:blip r:embed="rId3"/>
          <a:srcRect l="741" t="8696" r="5494" b="17391"/>
          <a:stretch>
            <a:fillRect/>
          </a:stretch>
        </p:blipFill>
        <p:spPr>
          <a:xfrm>
            <a:off x="765048" y="1920240"/>
            <a:ext cx="10031476"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18</a:t>
            </a:r>
          </a:p>
        </p:txBody>
      </p:sp>
      <p:pic>
        <p:nvPicPr>
          <p:cNvPr id="20" name="Visual triangle 13A Q12" descr="Right triangle with the right angle marked 90 degrees. The bottom side, named adjacent, is 700 mm, the sloping side, named hypotenuse, is 950 mm, and the angle at the bottom right is a red question mark."/>
          <p:cNvPicPr>
            <a:picLocks noChangeAspect="1"/>
          </p:cNvPicPr>
          <p:nvPr/>
        </p:nvPicPr>
        <p:blipFill>
          <a:blip r:embed="rId9"/>
          <a:stretch>
            <a:fillRect/>
          </a:stretch>
        </p:blipFill>
        <p:spPr>
          <a:xfrm>
            <a:off x="3136392" y="3058668"/>
            <a:ext cx="5925312" cy="2345436"/>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760023"/>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Check independently</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Exercise Book 13A Q10 and Q14; give the grade and angle separately.</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Solve without displayed answers; include working, units and final rounding.</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13A Q10–15 (p.82); 13B Q7 (p.83), Q12 (p.84)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13A Q10</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pic>
        <p:nvPicPr>
          <p:cNvPr id="5" name="Picture 4" descr="13A-Q10.png"/>
          <p:cNvPicPr>
            <a:picLocks noChangeAspect="1"/>
          </p:cNvPicPr>
          <p:nvPr/>
        </p:nvPicPr>
        <p:blipFill>
          <a:blip r:embed="rId3"/>
          <a:srcRect l="864" t="8696" r="9259" b="17391"/>
          <a:stretch>
            <a:fillRect/>
          </a:stretch>
        </p:blipFill>
        <p:spPr>
          <a:xfrm>
            <a:off x="778256" y="1920240"/>
            <a:ext cx="9615424"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20</a:t>
            </a:r>
          </a:p>
        </p:txBody>
      </p:sp>
      <p:pic>
        <p:nvPicPr>
          <p:cNvPr id="20" name="Visual triangle 13A Q10" descr="Right triangle with the right angle marked 90 degrees. The vertical side is 350 mm, the bottom side is 800 mm, and the angle at the bottom right, between the 800 mm side and the sloping side, is a red question mark."/>
          <p:cNvPicPr>
            <a:picLocks noChangeAspect="1"/>
          </p:cNvPicPr>
          <p:nvPr/>
        </p:nvPicPr>
        <p:blipFill>
          <a:blip r:embed="rId9"/>
          <a:stretch>
            <a:fillRect/>
          </a:stretch>
        </p:blipFill>
        <p:spPr>
          <a:xfrm>
            <a:off x="3136392" y="3058668"/>
            <a:ext cx="5925312" cy="234543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CHECK  •  1:45 PM–1:55 PM  •  10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Independent check  |  13A Q14</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pic>
        <p:nvPicPr>
          <p:cNvPr id="5" name="Picture 4" descr="13A-Q14.png"/>
          <p:cNvPicPr>
            <a:picLocks noChangeAspect="1"/>
          </p:cNvPicPr>
          <p:nvPr/>
        </p:nvPicPr>
        <p:blipFill>
          <a:blip r:embed="rId3"/>
          <a:srcRect l="741" t="8696" r="5864" b="17391"/>
          <a:stretch>
            <a:fillRect/>
          </a:stretch>
        </p:blipFill>
        <p:spPr>
          <a:xfrm>
            <a:off x="765048" y="1920240"/>
            <a:ext cx="9991852" cy="1010412"/>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nchor="t">
            <a:normAutofit fontScale="100000" lnSpcReduction="0"/>
          </a:bodyPr>
          <a:lstStyle/>
          <a:p>
            <a:pPr>
              <a:spcBef>
                <a:spcPts val="0"/>
              </a:spcBef>
              <a:spcAft>
                <a:spcPts val="300"/>
              </a:spcAft>
              <a:defRPr sz="1700" b="0">
                <a:solidFill>
                  <a:srgbClr val="4A4E54"/>
                </a:solidFill>
                <a:latin typeface="Arial"/>
              </a:defRPr>
            </a:pPr>
            <a:r>
              <a:rPr>
                <a:solidFill>
                  <a:srgbClr val="F7F8FC"/>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TextBox 8"/>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Textbook</a:t>
            </a:r>
          </a:p>
        </p:txBody>
      </p:sp>
      <p:sp>
        <p:nvSpPr>
          <p:cNvPr id="10" name="TextBox 9"/>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Exercise Book</a:t>
            </a:r>
          </a:p>
        </p:txBody>
      </p:sp>
      <p:sp>
        <p:nvSpPr>
          <p:cNvPr id="11" name="TextBox 10"/>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Numeracy Hub</a:t>
            </a:r>
          </a:p>
        </p:txBody>
      </p:sp>
      <p:sp>
        <p:nvSpPr>
          <p:cNvPr id="12" name="TextBox 11"/>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8"/>
              </a:rPr>
              <a:t>Shape Canvas</a:t>
            </a:r>
          </a:p>
        </p:txBody>
      </p:sp>
      <p:sp>
        <p:nvSpPr>
          <p:cNvPr id="13" name="TextBox 12"/>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21</a:t>
            </a:r>
          </a:p>
        </p:txBody>
      </p:sp>
      <p:pic>
        <p:nvPicPr>
          <p:cNvPr id="20" name="Visual slope 13A Q14" descr="A slope drawn to scale: a run of 6,000 mm with a rise of 120 mm at its end, so it looks almost flat. Beside it, percent grade and angle are red question marks."/>
          <p:cNvPicPr>
            <a:picLocks noChangeAspect="1"/>
          </p:cNvPicPr>
          <p:nvPr/>
        </p:nvPicPr>
        <p:blipFill>
          <a:blip r:embed="rId9"/>
          <a:stretch>
            <a:fillRect/>
          </a:stretch>
        </p:blipFill>
        <p:spPr>
          <a:xfrm>
            <a:off x="947635" y="3058668"/>
            <a:ext cx="10302826" cy="2345436"/>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112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112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nchor="t">
            <a:normAutofit fontScale="100000" lnSpcReduction="0"/>
          </a:bodyPr>
          <a:lstStyle/>
          <a:p>
            <a:pPr>
              <a:spcBef>
                <a:spcPts val="0"/>
              </a:spcBef>
              <a:spcAft>
                <a:spcPts val="300"/>
              </a:spcAft>
              <a:defRPr sz="1150" b="1">
                <a:solidFill>
                  <a:srgbClr val="D2181F"/>
                </a:solidFill>
                <a:latin typeface="Arial"/>
              </a:defRPr>
            </a:pPr>
            <a:r>
              <a:rPr>
                <a:solidFill>
                  <a:srgbClr val="FFFFFF"/>
                </a:solidFill>
                <a:latin typeface="Arial"/>
              </a:rPr>
              <a:t>W06-L09  •  WRAP UP  •  1:55 PM–2:00 PM  •  5 MIN TOTAL</a:t>
            </a:r>
          </a:p>
        </p:txBody>
      </p:sp>
      <p:sp>
        <p:nvSpPr>
          <p:cNvPr id="3" name="TextBox 2"/>
          <p:cNvSpPr txBox="1"/>
          <p:nvPr/>
        </p:nvSpPr>
        <p:spPr>
          <a:xfrm>
            <a:off x="612648" y="896112"/>
            <a:ext cx="10927080" cy="621792"/>
          </a:xfrm>
          <a:prstGeom prst="rect">
            <a:avLst/>
          </a:prstGeom>
          <a:noFill/>
        </p:spPr>
        <p:txBody>
          <a:bodyPr wrap="square" lIns="0" rIns="0" tIns="0" bIns="0" anchor="t">
            <a:normAutofit fontScale="100000" lnSpcReduction="0"/>
          </a:bodyPr>
          <a:lstStyle/>
          <a:p>
            <a:pPr>
              <a:spcBef>
                <a:spcPts val="0"/>
              </a:spcBef>
              <a:spcAft>
                <a:spcPts val="0"/>
              </a:spcAft>
              <a:defRPr sz="3000" b="1">
                <a:solidFill>
                  <a:srgbClr val="FFFFFF"/>
                </a:solidFill>
                <a:latin typeface="Arial"/>
              </a:defRPr>
            </a:pPr>
            <a:r>
              <a:rPr b="1" sz="3000">
                <a:solidFill>
                  <a:srgbClr val="FFFFFF"/>
                </a:solidFill>
                <a:latin typeface="Arial"/>
              </a:rPr>
              <a:t>Wrap up and choose the next step</a:t>
            </a:r>
          </a:p>
        </p:txBody>
      </p:sp>
      <p:sp>
        <p:nvSpPr>
          <p:cNvPr id="4" name="TextBox 3"/>
          <p:cNvSpPr txBox="1"/>
          <p:nvPr/>
        </p:nvSpPr>
        <p:spPr>
          <a:xfrm>
            <a:off x="612648" y="6236208"/>
            <a:ext cx="10881360" cy="256032"/>
          </a:xfrm>
          <a:prstGeom prst="rect">
            <a:avLst/>
          </a:prstGeom>
          <a:noFill/>
        </p:spPr>
        <p:txBody>
          <a:bodyPr wrap="square" lIns="0" rIns="0" tIns="0" bIns="0" anchor="t">
            <a:normAutofit fontScale="100000" lnSpcReduction="0"/>
          </a:bodyPr>
          <a:lstStyle/>
          <a:p>
            <a:pPr>
              <a:spcBef>
                <a:spcPts val="0"/>
              </a:spcBef>
              <a:spcAft>
                <a:spcPts val="0"/>
              </a:spcAft>
              <a:defRPr sz="1150" b="0">
                <a:solidFill>
                  <a:srgbClr val="4A4E54"/>
                </a:solidFill>
                <a:latin typeface="Arial"/>
              </a:defRPr>
            </a:pPr>
            <a:r>
              <a:rPr sz="1150">
                <a:solidFill>
                  <a:srgbClr val="DEE2EC"/>
                </a:solidFill>
                <a:latin typeface="Arial"/>
              </a:rPr>
              <a:t>Textbook sections 13.4–13.5 pp.207–209; sections 13.7 pp.213–214 (extension)</a:t>
            </a:r>
          </a:p>
        </p:txBody>
      </p:sp>
      <p:sp>
        <p:nvSpPr>
          <p:cNvPr id="5" name="TextBox 4"/>
          <p:cNvSpPr txBox="1"/>
          <p:nvPr/>
        </p:nvSpPr>
        <p:spPr>
          <a:xfrm>
            <a:off x="612648" y="1874519"/>
            <a:ext cx="10927080" cy="2103120"/>
          </a:xfrm>
          <a:prstGeom prst="rect">
            <a:avLst/>
          </a:prstGeom>
          <a:noFill/>
        </p:spPr>
        <p:txBody>
          <a:bodyPr wrap="square" lIns="0" rIns="0" tIns="0" bIns="0" anchor="t">
            <a:normAutofit fontScale="100000" lnSpcReduction="0"/>
          </a:bodyPr>
          <a:lstStyle/>
          <a:p>
            <a:pPr>
              <a:spcBef>
                <a:spcPts val="0"/>
              </a:spcBef>
              <a:spcAft>
                <a:spcPts val="300"/>
              </a:spcAft>
              <a:defRPr sz="2400" b="0">
                <a:solidFill>
                  <a:srgbClr val="111218"/>
                </a:solidFill>
                <a:latin typeface="Arial"/>
              </a:defRPr>
            </a:pPr>
            <a:r>
              <a:rPr>
                <a:solidFill>
                  <a:srgbClr val="FFFFFF"/>
                </a:solidFill>
                <a:latin typeface="Arial"/>
              </a:rPr>
              <a:t>Ask: What changed in your understanding? Where will you use it? What should you check next time?</a:t>
            </a:r>
          </a:p>
        </p:txBody>
      </p:sp>
      <p:sp>
        <p:nvSpPr>
          <p:cNvPr id="6" name="Rectangle 5"/>
          <p:cNvSpPr/>
          <p:nvPr/>
        </p:nvSpPr>
        <p:spPr>
          <a:xfrm>
            <a:off x="612648" y="4251960"/>
            <a:ext cx="10927080" cy="1280160"/>
          </a:xfrm>
          <a:prstGeom prst="rect">
            <a:avLst/>
          </a:prstGeom>
          <a:solidFill>
            <a:srgbClr val="FFC4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11218"/>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nchor="t">
            <a:normAutofit fontScale="100000" lnSpcReduction="0"/>
          </a:bodyPr>
          <a:lstStyle/>
          <a:p>
            <a:pPr>
              <a:spcBef>
                <a:spcPts val="0"/>
              </a:spcBef>
              <a:spcAft>
                <a:spcPts val="300"/>
              </a:spcAft>
              <a:defRPr sz="2100" b="1">
                <a:solidFill>
                  <a:srgbClr val="111218"/>
                </a:solidFill>
                <a:latin typeface="Arial"/>
              </a:defRPr>
            </a:pPr>
            <a:r>
              <a:rPr b="1">
                <a:solidFill>
                  <a:srgbClr val="111218"/>
                </a:solidFill>
                <a:latin typeface="Arial"/>
              </a:rPr>
              <a:t>Name the math and one other essential skill used; record a next practice step.</a:t>
            </a:r>
          </a:p>
        </p:txBody>
      </p:sp>
      <p:sp>
        <p:nvSpPr>
          <p:cNvPr id="8" name="TextBox 7"/>
          <p:cNvSpPr txBox="1"/>
          <p:nvPr/>
        </p:nvSpPr>
        <p:spPr>
          <a:xfrm>
            <a:off x="612648" y="5788152"/>
            <a:ext cx="10927080" cy="411480"/>
          </a:xfrm>
          <a:prstGeom prst="rect">
            <a:avLst/>
          </a:prstGeom>
          <a:noFill/>
        </p:spPr>
        <p:txBody>
          <a:bodyPr wrap="square" lIns="0" rIns="0" tIns="0" bIns="0" anchor="t">
            <a:normAutofit fontScale="100000" lnSpcReduction="0"/>
          </a:bodyPr>
          <a:lstStyle/>
          <a:p>
            <a:pPr>
              <a:spcBef>
                <a:spcPts val="0"/>
              </a:spcBef>
              <a:spcAft>
                <a:spcPts val="300"/>
              </a:spcAft>
              <a:defRPr sz="1400" b="0">
                <a:solidFill>
                  <a:srgbClr val="4A4E54"/>
                </a:solidFill>
                <a:latin typeface="Arial"/>
              </a:defRPr>
            </a:pPr>
            <a:r>
              <a:rPr sz="1400">
                <a:solidFill>
                  <a:srgbClr val="F7F8FC"/>
                </a:solidFill>
                <a:latin typeface="Arial"/>
              </a:rPr>
              <a:t>Resources: Exercise Book 13A Q10–15 (p.82); 13B Q7 (p.83), Q12 (p.84)</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TextBox 10"/>
          <p:cNvSpPr txBox="1"/>
          <p:nvPr/>
        </p:nvSpPr>
        <p:spPr>
          <a:xfrm>
            <a:off x="612648" y="6606540"/>
            <a:ext cx="10058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4"/>
              </a:rPr>
              <a:t>Textbook</a:t>
            </a:r>
          </a:p>
        </p:txBody>
      </p:sp>
      <p:sp>
        <p:nvSpPr>
          <p:cNvPr id="12" name="TextBox 11"/>
          <p:cNvSpPr txBox="1"/>
          <p:nvPr/>
        </p:nvSpPr>
        <p:spPr>
          <a:xfrm>
            <a:off x="1691640" y="6606540"/>
            <a:ext cx="128016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5"/>
              </a:rPr>
              <a:t>Exercise Book</a:t>
            </a:r>
          </a:p>
        </p:txBody>
      </p:sp>
      <p:sp>
        <p:nvSpPr>
          <p:cNvPr id="13" name="TextBox 12"/>
          <p:cNvSpPr txBox="1"/>
          <p:nvPr/>
        </p:nvSpPr>
        <p:spPr>
          <a:xfrm>
            <a:off x="3136392" y="6606540"/>
            <a:ext cx="146304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6"/>
              </a:rPr>
              <a:t>Numeracy Hub</a:t>
            </a:r>
          </a:p>
        </p:txBody>
      </p:sp>
      <p:sp>
        <p:nvSpPr>
          <p:cNvPr id="14" name="TextBox 13"/>
          <p:cNvSpPr txBox="1"/>
          <p:nvPr/>
        </p:nvSpPr>
        <p:spPr>
          <a:xfrm>
            <a:off x="4736592" y="6606540"/>
            <a:ext cx="141732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D0002B"/>
                </a:solidFill>
                <a:latin typeface="Arial"/>
              </a:defRPr>
            </a:pPr>
            <a:r>
              <a:rPr sz="1000">
                <a:solidFill>
                  <a:srgbClr val="F7F8FC"/>
                </a:solidFill>
                <a:latin typeface="Arial"/>
                <a:hlinkClick r:id="rId7"/>
              </a:rPr>
              <a:t>Shape Canvas</a:t>
            </a:r>
          </a:p>
        </p:txBody>
      </p:sp>
      <p:sp>
        <p:nvSpPr>
          <p:cNvPr id="15" name="TextBox 14"/>
          <p:cNvSpPr txBox="1"/>
          <p:nvPr/>
        </p:nvSpPr>
        <p:spPr>
          <a:xfrm>
            <a:off x="8412480" y="6606540"/>
            <a:ext cx="3154680" cy="210312"/>
          </a:xfrm>
          <a:prstGeom prst="rect">
            <a:avLst/>
          </a:prstGeom>
          <a:noFill/>
        </p:spPr>
        <p:txBody>
          <a:bodyPr wrap="square" lIns="0" rIns="0" tIns="0" bIns="0" anchor="t">
            <a:normAutofit fontScale="100000" lnSpcReduction="0"/>
          </a:bodyPr>
          <a:lstStyle/>
          <a:p>
            <a:pPr>
              <a:spcBef>
                <a:spcPts val="0"/>
              </a:spcBef>
              <a:spcAft>
                <a:spcPts val="0"/>
              </a:spcAft>
              <a:defRPr sz="1000" b="0">
                <a:solidFill>
                  <a:srgbClr val="4A4E54"/>
                </a:solidFill>
                <a:latin typeface="Arial"/>
              </a:defRPr>
            </a:pPr>
            <a:r>
              <a:rPr sz="1000">
                <a:solidFill>
                  <a:srgbClr val="F7F8FC"/>
                </a:solidFill>
                <a:latin typeface="Arial"/>
              </a:rPr>
              <a:t>Day 22  •  2026-12-04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8FC"/>
      </a:hlink>
      <a:folHlink>
        <a:srgbClr val="F7F8F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8FC"/>
      </a:hlink>
      <a:folHlink>
        <a:srgbClr val="F7F8FC"/>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22</Slides>
  <Notes>22</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22 | 2026-12-04</dc:title>
  <dc:creator>ACCESS Trades</dc:creator>
  <dc:subject>Angles, grades and carpentry slope applications</dc:subject>
</cp:coreProperties>
</file>