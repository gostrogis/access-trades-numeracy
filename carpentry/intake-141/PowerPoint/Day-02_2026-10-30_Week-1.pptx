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288" r:id="rId11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256" r:id="rId14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1" Type="http://schemas.openxmlformats.org/officeDocument/2006/relationships/slide" Target="slides/slide7.xml"/><Relationship Id="rId14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1 pp.15–21</a:t>
            </a:r>
          </a:p>
          <a:p>
            <a:r>
              <a:t>ACCESS Trades Numeracy Textbook, PDF/printed p.20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1 pp.15–21</a:t>
            </a:r>
          </a:p>
          <a:p>
            <a:r>
              <a:t>ACCESS Trades Numeracy Textbook, PDF/printed p.20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p.20 · Example 1.13: add the values, then divide by their count.</a:t>
            </a:r>
          </a:p>
          <a:p>
            <a:r>
              <a:t>Exact PDF/printed page: 20. ACCESS Textbook excerpt.</a:t>
            </a:r>
          </a:p>
          <a:p>
            <a:r>
              <a:t>Examples 1.13–1.14 contrast an average with a multi-step whole-box purchase.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p.20 · Example 1.14: calculate need, then round the whole-box order up.</a:t>
            </a:r>
          </a:p>
          <a:p>
            <a:r>
              <a:t>Exact PDF/printed page: 20. ACCESS Textbook excerpt.</a:t>
            </a:r>
          </a:p>
          <a:p>
            <a:r>
              <a:t>Examples 1.13–1.14 contrast an average with a multi-step whole-box purchase.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1B-Q2</a:t>
            </a:r>
          </a:p>
          <a:p>
            <a:r>
              <a:t>Exact question: A plumber measures five pipe runs: 12 ft, 9 ft, 15 ft, 7 ft, 18 ft. The supplier sells this pipe in 21 ft lengths. Ignore fittings and waste. How many feet of pipe are needed, and how many 21 ft lengths must be bought?</a:t>
            </a:r>
          </a:p>
          <a:p>
            <a:r>
              <a:t>Instructor answer: 61 ft. 61 ÷ 21 = 2.9, so buy 3 lengths.</a:t>
            </a:r>
          </a:p>
          <a:p>
            <a:r>
              <a:t>Working: Round up: a part length still has to be bought.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1B-Q2</a:t>
            </a:r>
          </a:p>
          <a:p>
            <a:r>
              <a:t>Exact question: A plumber measures five pipe runs: 12 ft, 9 ft, 15 ft, 7 ft, 18 ft. The supplier sells this pipe in 21 ft lengths. Ignore fittings and waste. How many feet of pipe are needed, and how many 21 ft lengths must be bought?</a:t>
            </a:r>
          </a:p>
          <a:p>
            <a:r>
              <a:t>Instructor answer: 61 ft. 61 ÷ 21 = 2.9, so buy 3 lengths.</a:t>
            </a:r>
          </a:p>
          <a:p>
            <a:r>
              <a:t>Working: Round up: a part length still has to be bought.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Exact scheduled tool activity: Numeracy Hub: Calculator. Draw quantities and groups on paper before keying.</a:t>
            </a:r>
          </a:p>
          <a:p>
            <a:r>
              <a:t>Supported: Draw the groups and label what each number counts in 1B Q2–3.</a:t>
            </a:r>
          </a:p>
          <a:p>
            <a:r>
              <a:t>Independent practice: Write the operation and units for the assigned 1A/1B questions before keying.</a:t>
            </a:r>
          </a:p>
          <a:p>
            <a:r>
              <a:t>Independent checking: Use Numeracy Hub Calculator, then verify with multiplication or addition.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1A-Q15</a:t>
            </a:r>
          </a:p>
          <a:p>
            <a:r>
              <a:t>Exact question: 32 × 15</a:t>
            </a:r>
          </a:p>
          <a:p>
            <a:r>
              <a:t>Instructor answer: 480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1A-Q16</a:t>
            </a:r>
          </a:p>
          <a:p>
            <a:r>
              <a:t>Exact question: 215 × 24</a:t>
            </a:r>
          </a:p>
          <a:p>
            <a:r>
              <a:t>Instructor answer: 5,160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1A-Q19</a:t>
            </a:r>
          </a:p>
          <a:p>
            <a:r>
              <a:t>Exact question: Find the average of 64, 58, 71 and 67.</a:t>
            </a:r>
          </a:p>
          <a:p>
            <a:r>
              <a:t>Instructor answer: 65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1B-Q3</a:t>
            </a:r>
          </a:p>
          <a:p>
            <a:r>
              <a:t>Exact question: A millwright sets 14 baseplates. Each baseplate takes 8 anchor bolts. Anchor bolts come in boxes of 25. How many bolts are needed, and how many boxes?</a:t>
            </a:r>
          </a:p>
          <a:p>
            <a:r>
              <a:t>Instructor answer: 112 bolts, 5 boxes</a:t>
            </a:r>
          </a:p>
          <a:p>
            <a:r>
              <a:t>Working: 14 × 8 = 112. 112 ÷ 25 = 4.48, round up to 5 boxes.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W01-L03 | 2026-10-30 | 9:00 AM–10:15 AM | 75 minutes</a:t>
            </a:r>
          </a:p>
          <a:p>
            <a:r>
              <a:t>Quantities, averages and word problems</a:t>
            </a:r>
          </a:p>
          <a:p>
            <a:r>
              <a:t>Mode: Math</a:t>
            </a:r>
          </a:p>
          <a:p>
            <a:r>
              <a:t>Goal: Choose operations from a job problem and explain the difference between full pieces and purchase quantities.</a:t>
            </a:r>
          </a:p>
          <a:p>
            <a:r>
              <a:t>Read: Textbook Chapter 1 pp.15–21</a:t>
            </a:r>
          </a:p>
          <a:p>
            <a:r>
              <a:t>Practise: Exercise Book 1A Q15–19 (p.7); 1B Q2–5 (p.8)</a:t>
            </a:r>
          </a:p>
          <a:p>
            <a:r>
              <a:t>Tool: Numeracy Hub: Calculator. Draw quantities and groups on paper before keying.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information is given, what must be found and which unit the answer needs.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repeated groups, equal sharing and an average using 1A question 19. Show why a purchase quantity may need rounding up.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Solve 1B questions 2–3. Label the number needed and the number of full supplier units separately.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1A questions 15–18 and 1B questions 4–5. Explain each operation and check the answer using multiplication or addition.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1A question 19 and 1B question 3 independently.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question 19 = 65. 1B question 3 = 112 bolts; buy 5 boxes. Answer Key page 6.</a:t>
            </a:r>
          </a:p>
          <a:p/>
          <a:p>
            <a:r>
              <a:t>Next: combine these methods in a complete cut-list calculation.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Next: combine these methods in a complete cut-list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  <a:p/>
          <a:p>
            <a:r>
              <a:t>ACCESS EXERCISE BOOK: 1A-Q18</a:t>
            </a:r>
          </a:p>
          <a:p>
            <a:r>
              <a:t>Exact question: Divide 5,000 by 320. Give the whole-number quotient and the remainder.</a:t>
            </a:r>
          </a:p>
          <a:p>
            <a:r>
              <a:t>Instructor answer: 15 remainder 200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1.4–1.8 pp.12–21; sections 2.11 p.39</a:t>
            </a:r>
          </a:p>
          <a:p>
            <a:r>
              <a:t>ACCESS Trades Numeracy Textbook, PDF/printed p.14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1.4–1.8 pp.12–21; sections 2.11 p.39</a:t>
            </a:r>
          </a:p>
          <a:p>
            <a:r>
              <a:t>ACCESS Trades Numeracy Textbook, PDF/printed p.14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p.14 · Example 1.6: used length and offcut account for the original stock.</a:t>
            </a:r>
          </a:p>
          <a:p>
            <a:r>
              <a:t>Exact PDF/printed page: 14. ACCESS Textbook excerpt.</a:t>
            </a:r>
          </a:p>
          <a:p>
            <a:r>
              <a:t>The labelled stock and hidden-section diagrams show used length, remainder and overall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p.14 · Example 1.7: known parts and a hidden dimension.</a:t>
            </a:r>
          </a:p>
          <a:p>
            <a:r>
              <a:t>Exact PDF/printed page: 14. ACCESS Textbook excerpt.</a:t>
            </a:r>
          </a:p>
          <a:p>
            <a:r>
              <a:t>The labelled stock and hidden-section diagrams show used length, remainder and overall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1B-Q2</a:t>
            </a:r>
          </a:p>
          <a:p>
            <a:r>
              <a:t>Exact question: A plumber measures five pipe runs: 12 ft, 9 ft, 15 ft, 7 ft, 18 ft. The supplier sells this pipe in 21 ft lengths. Ignore fittings and waste. How many feet of pipe are needed, and how many 21 ft lengths must be bought?</a:t>
            </a:r>
          </a:p>
          <a:p>
            <a:r>
              <a:t>Instructor answer: 61 ft. 61 ÷ 21 = 2.9, so buy 3 lengths.</a:t>
            </a:r>
          </a:p>
          <a:p>
            <a:r>
              <a:t>Working: Round up: a part length still has to be bought.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1B-Q2</a:t>
            </a:r>
          </a:p>
          <a:p>
            <a:r>
              <a:t>Exact question: A plumber measures five pipe runs: 12 ft, 9 ft, 15 ft, 7 ft, 18 ft. The supplier sells this pipe in 21 ft lengths. Ignore fittings and waste. How many feet of pipe are needed, and how many 21 ft lengths must be bought?</a:t>
            </a:r>
          </a:p>
          <a:p>
            <a:r>
              <a:t>Instructor answer: 61 ft. 61 ÷ 21 = 2.9, so buy 3 lengths.</a:t>
            </a:r>
          </a:p>
          <a:p>
            <a:r>
              <a:t>Working: Round up: a part length still has to be bought.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Shape Canvas: add three rectangles to represent the cut pieces; label the original stock length using Text. Numeracy Hub Calculator: check the numerical totals.</a:t>
            </a:r>
          </a:p>
          <a:p>
            <a:r>
              <a:t>Supported: In Shape Canvas, add three rectangles for the cut pieces and label their lengths.</a:t>
            </a:r>
          </a:p>
          <a:p>
            <a:r>
              <a:t>Independent practice: Add a Text label for the original stock; write the cut-list equation on paper.</a:t>
            </a:r>
          </a:p>
          <a:p>
            <a:r>
              <a:t>Independent checking: Verify the totals in Numeracy Hub Calculator and reconstruct the stock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1B-Q4</a:t>
            </a:r>
          </a:p>
          <a:p>
            <a:r>
              <a:t>Exact question: A pipe job has 9 flanged joints. Each joint takes 8 bolts and each bolt takes 2 nuts. How many nuts are needed?</a:t>
            </a:r>
          </a:p>
          <a:p>
            <a:r>
              <a:t>Instructor answer: 144 nuts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1C-Q1</a:t>
            </a:r>
          </a:p>
          <a:p>
            <a:r>
              <a:t>Exact question: Three pieces are cut from a 6,000 mm bar. Ignore the saw cuts. Find the offcut.</a:t>
            </a:r>
          </a:p>
          <a:p>
            <a:r>
              <a:t>Instructor answer: 1,625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1B-Q3</a:t>
            </a:r>
          </a:p>
          <a:p>
            <a:r>
              <a:t>Exact question: A millwright sets 14 baseplates. Each baseplate takes 8 anchor bolts. Anchor bolts come in boxes of 25. How many bolts are needed, and how many boxes?</a:t>
            </a:r>
          </a:p>
          <a:p>
            <a:r>
              <a:t>Instructor answer: 112 bolts, 5 boxes</a:t>
            </a:r>
          </a:p>
          <a:p>
            <a:r>
              <a:t>Working: 14 × 8 = 112. 112 ÷ 25 = 4.48, round up to 5 boxes.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1B-Q5</a:t>
            </a:r>
          </a:p>
          <a:p>
            <a:r>
              <a:t>Exact question: Lengths of 18 in are cut from a 20 ft bar of angle (20 ft = 240 in). Ignore the saw cuts. How many pieces can be cut, and how long is the offcut?</a:t>
            </a:r>
          </a:p>
          <a:p>
            <a:r>
              <a:t>Instructor answer: 13 pieces, offcut 6 in</a:t>
            </a:r>
          </a:p>
          <a:p>
            <a:r>
              <a:t>Working: 240 ÷ 18 = 13.33. 13 × 18 = 234. 240 − 234 = 6.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W01-L04 | 2026-10-30 | 10:30 AM–12:00 PM | 90 minutes</a:t>
            </a:r>
          </a:p>
          <a:p>
            <a:r>
              <a:t>Cut-list practice and rounding</a:t>
            </a:r>
          </a:p>
          <a:p>
            <a:r>
              <a:t>Mode: Calculation Practice</a:t>
            </a:r>
          </a:p>
          <a:p>
            <a:r>
              <a:t>Goal: Solve multi-step stock problems and distinguish rounding up purchases from rounding down complete pieces.</a:t>
            </a:r>
          </a:p>
          <a:p>
            <a:r>
              <a:t>Read: Textbook sections 1.4–1.8 pp.12–21; sections 2.11 p.39</a:t>
            </a:r>
          </a:p>
          <a:p>
            <a:r>
              <a:t>Practise: Exercise Book 1B Q1–5 (p.8); 1C Q1–2 (p.10)</a:t>
            </a:r>
          </a:p>
          <a:p>
            <a:r>
              <a:t>Tool: Shape Canvas: add three rectangles to represent the cut pieces; label the original stock length using Text. Numeracy Hub Calculator: check the numerical totals.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why buying boxes and cutting full pieces need different rounding decisions. Retrieve 1A Q18 (p.7).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Exercise Book 1B Q1: identify stock, total used and remainder. Contrast a purchase quantity with the number of complete pieces from stock.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1B Q2–3 in pairs. Learners mark given quantities, choose operations, and justify purchase rounding.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1B Q4–5 and 1C Q1–2. Recreate one cut-list sketch on Shape Canvas; write the equation before checking. Use extra time to correct and explain a second method.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Rework Exercise Book 1B Q3 and Q5 independently; explain why the two rounding directions differ.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1B Q3 = 112 bolts, 5 boxes; Q5 = 13 pieces and a 6 in offcut. Answer Key p.6. Answer Key p.6</a:t>
            </a:r>
          </a:p>
          <a:p/>
          <a:p>
            <a:r>
              <a:t>Next week: order of operations, then fraction and tape-reading foundations.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Next week: order of operations, then fraction and tape-reading foundations.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0" TargetMode="External"/><Relationship Id="rId6" Type="http://schemas.openxmlformats.org/officeDocument/2006/relationships/hyperlink" Target="../../../books/ACCESS-Trades-Numeracy-Exercise-Book.pdf#page=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0" TargetMode="External"/><Relationship Id="rId6" Type="http://schemas.openxmlformats.org/officeDocument/2006/relationships/hyperlink" Target="../../../books/ACCESS-Trades-Numeracy-Exercise-Book.pdf#page=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5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5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5" TargetMode="External"/><Relationship Id="rId6" Type="http://schemas.openxmlformats.org/officeDocument/2006/relationships/hyperlink" Target="../../../books/ACCESS-Trades-Numeracy-Exercise-Book.pdf#page=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5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5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5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5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5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4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4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10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2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02  |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October 30,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Quantities, averages and word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Cut-list practice and rounding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Calculation Practice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1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02  •  2026-10-30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02  /  WEEK 1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Quantities, averages and word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AM–9:25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9:25 AM–9:40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9:40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1, Lesson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Cut-list practice and rounding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Calculation Practice  •  Math Week 1, Lesson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Quantities, averages and word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Choose operations from a job problem and explain the difference between full pieces and purchase quantities.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1A Q15–19 (p.7); 1B Q2–5 (p.8)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Identify what information is given, what must be found and which unit the answer needs.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Q15–19 (p.7); 1B Q2–5 (p.8)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Translate the story into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what is given and what must be found before choosing an operation.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Equal groups: number of groups × amount in each group gives the total.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Sharing equally: total ÷ number of groups gives the amount in each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Average: add all the values, then divide by how many values were added.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Separate need from purchase quantity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First calculate the exact number or length needed for the job.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Divide by the supplier’s quantity per box or stock length.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part box still requires a whole box: round the purchase 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how much the whole-unit order supplies and whether it covers the need.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457200"/>
            <a:ext cx="941832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W01-L03  •  TEACH  •  9:10 AM–9:25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600" y="838200"/>
            <a:ext cx="10972800" cy="461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needed ≠ boxes purchased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600" y="1739900"/>
            <a:ext cx="10972800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example: 12 brackets need 6 screws each. A box holds 20.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600" y="2273300"/>
            <a:ext cx="10972800" cy="96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× 6 = 72 screws needed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÷ 20 = 3.6 boxes → buy 4 whole boxes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4 × 20 = 80 screws, so 8 remain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09600" y="3810000"/>
            <a:ext cx="1097280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example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09600" y="4305300"/>
            <a:ext cx="10972800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Lengths 60, 64, 68 and 72 mm: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(60 + 64 + 68 + 72) ÷ 4 = 66 mm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600" y="5156200"/>
            <a:ext cx="1097280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together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9600" y="5664200"/>
            <a:ext cx="10972800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1B Q2–3. Separate the calculated need from the supplier order. An aggregate length estimate is not a verified cutting layout.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2FB17D-0485-410E-B752-EBB951159695}"/>
              </a:ext>
            </a:extLst>
          </p:cNvPr>
          <p:cNvSpPr txBox="1"/>
          <p:nvPr/>
        </p:nvSpPr>
        <p:spPr>
          <a:xfrm>
            <a:off x="609600" y="6345936"/>
            <a:ext cx="1088136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>
                <a:solidFill>
                  <a:srgbClr val="4A4E54"/>
                </a:solidFill>
              </a:rPr>
              <a:t>W1 L3 • Classroom examples use new values; purchase estimate is not a cutting plan</a:t>
            </a:r>
            <a:endParaRPr lang="en-CA" sz="1050">
              <a:solidFill>
                <a:srgbClr val="4A4E54"/>
              </a:solidFill>
            </a:endParaRP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07</a:t>
            </a:r>
          </a:p>
        </p:txBody>
      </p:sp>
    </p:spTree>
    <p:extLst>
      <p:ext uri="{BB962C8B-B14F-4D97-AF65-F5344CB8AC3E}">
        <p14:creationId xmlns:p14="http://schemas.microsoft.com/office/powerpoint/2010/main" val="272510469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W01-L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54639"/>
            <a:ext cx="10698480" cy="25430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p.20 · Example 1.13: add the values, then divide by their count.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W01-L0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2491"/>
            <a:ext cx="10698480" cy="33473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p.20 · Example 1.14: calculate need, then round the whole-box order up.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job needs 3.6 boxes. Why is ordering 3 boxes not enough?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Three boxes provide less than the calculated need. Buy 4 whole boxes and check the quantity supplied.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1B questions 2–3. Label the number needed and the number of full supplier units separately.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Q15–19 (p.7); 1B Q2–5 (p.8)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1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20874"/>
            <a:ext cx="10698480" cy="23180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1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3286" y="1783080"/>
            <a:ext cx="6963507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61 ft. 61 ÷ 21 = 2.9, so buy 3 lengths.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0">
                <a:solidFill>
                  <a:srgbClr val="4A4E54"/>
                </a:solidFill>
                <a:latin typeface="Arial"/>
              </a:defRPr>
            </a:pPr>
            <a:r>
              <a:rPr/>
              <a:t>Round up: a part length still has to be bought.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1A questions 15–18 and 1B questions 4–5. Explain each operation and check the answer using multiplication or addition.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Q15–19 (p.7); 1B Q2–5 (p.8)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hub-cal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Draw the groups and label what each number counts in 1B Q2–3.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Write the operation and units for the assigned 1A/1B questions before keying.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Use Numeracy Hub Calculator, then verify with multiplication or addition.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1A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1A-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1A Q16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1A-Q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1A question 19 and 1B question 3 independently.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Q15–19 (p.7); 1B Q2–5 (p.8)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1A Q19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1A-Q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1B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pic>
        <p:nvPicPr>
          <p:cNvPr id="5" name="Picture 4" descr="1B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W01-L03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pp.15–21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Q15–19 (p.7); 1B Q2–5 (p.8)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02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Cut-list practice and rounding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02  •  2026-10-30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Cut-list practice and 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Solve multi-step stock problems and distinguish rounding up purchases from rounding down complete pieces.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1B Q1–5 (p.8); 1C Q1–2 (p.10)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Explain why buying boxes and cutting full pieces need different rounding decisions. Retrieve 1A Q18 (p.7).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1B Q1–5 (p.8); 1C Q1–2 (p.10)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1A Q18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1A-Q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Account for the stock length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List the original stock and every specified piece in the same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 the piece lengths to obtain the total used.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Offcut = original stock − total used.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by adding used length and offcut to restore the original stock.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Let the question choose the rounding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Buying enough whole supplier units requires rounding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Counting complete pieces from fixed stock requires rounding 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the offcut from the whole pieces actually obtained.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total-length calculation alone does not prove a cutting arrangement will fit.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W01-L04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for the whole stock length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66875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1B Q1: stock 6,000 mm; pieces 1,350, 980 and 2,145 mm.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333625"/>
            <a:ext cx="10972526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= 1,350 + 980 + 2,145 = 4,475 mm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Offcut = 6,000 − 4,475 = 1,525 mm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4,475 + 1,525 = 6,000 mm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9528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Complete-piece example, ignoring kerf: 100 in ÷ 18 in = 5 full pieces.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Offcut = 100 − 5 × 18 = 10 in. A sixth full piece does not fit.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50958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1B Q2–3. Identify given quantities, choose operations and justify rounding. Add kerf only when stated; never assume a cutting layout is feasible from a total alone.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4A4E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Week 1 L4 • Shape Canvas: three labelled rectangles and original stock length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W01-L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13809"/>
            <a:ext cx="10698480" cy="3624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p.14 · Example 1.6: used length and offcut account for the original stock.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W01-L0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78570"/>
            <a:ext cx="10698480" cy="32952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p.14 · Example 1.7: known parts and a hidden dimension.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100 in ÷ 18 in is about 5.56. Can the stock produce 6 complete 18 in pieces?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Six pieces need 108 in. Five complete pieces use 90 in, leaving 10 in, ignoring kerf.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1B Q2–3 in pairs. Mark given quantities, choose operations, and justify purchase rounding.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1B Q1–5 (p.8); 1C Q1–2 (p.10)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1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20874"/>
            <a:ext cx="10698480" cy="23180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1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3286" y="1783080"/>
            <a:ext cx="6963507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61 ft. 61 ÷ 21 = 2.9, so buy 3 lengths.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0">
                <a:solidFill>
                  <a:srgbClr val="4A4E54"/>
                </a:solidFill>
                <a:latin typeface="Arial"/>
              </a:defRPr>
            </a:pPr>
            <a:r>
              <a:rPr/>
              <a:t>Round up: a part length still has to be bought.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1B Q4–5 and 1C Q1–2. Recreate one cut-list sketch on Shape Canvas; write the equation before checking. Use extra time to correct and explain a second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1B Q1–5 (p.8); 1C Q1–2 (p.10)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shape-rectangle-m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In Shape Canvas, add three rectangles for the cut pieces and label their lengths.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Add a Text label for the original stock; write the cut-list equation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Verify the totals in Numeracy Hub Calculator and reconstruct the stock length.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1B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1B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1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88" y="1773936"/>
            <a:ext cx="1048610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Rework Exercise Book 1B Q3 and Q5 independently; explain why the two rounding directions differ.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1B Q1–5 (p.8); 1C Q1–2 (p.10)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1B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1B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1B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pic>
        <p:nvPicPr>
          <p:cNvPr id="5" name="Picture 4" descr="1B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W01-L04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1.4–1.8 pp.12–21; sections 2.11 p.39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1B Q1–5 (p.8); 1C Q1–2 (p.10)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02  •  2026-10-30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02 | 2026-10-30</dc:title>
  <dc:creator>ACCESS Trades</dc:creator>
  <dc:subject>Quantities, averages and word problems; Cut-list practice and rounding</dc:subject>
</cp:coreProperties>
</file>