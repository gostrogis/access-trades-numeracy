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88" r:id="rId1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56" r:id="rId1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Worked teaching example retained from original slide 10.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Worked teaching example retained from original slide 13.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Schedule'!F3 | 'Math Week 1'!A54</a:t>
            </a:r>
          </a:p>
          <a:p>
            <a:r>
              <a:t>'Carpentry Schedule'!F5 | 'Math Week 1'!A71</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Start, 9:00 AM–9:05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Recall, 9:05 AM–9:10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'Math Week 1'!A54</a:t>
            </a:r>
          </a:p>
          <a:p>
            <a:r>
              <a:t>'Math Week 1'!B56</a:t>
            </a:r>
          </a:p>
          <a:p>
            <a:r>
              <a:t>'Math Week 1'!B58</a:t>
            </a:r>
          </a:p>
          <a:p>
            <a:r>
              <a:t>Textbook Chapter 1 pp.15–21</a:t>
            </a:r>
          </a:p>
          <a:p>
            <a:r>
              <a:t>ACCESS CARPENTRY SLIDES.pptx slides 9–11</a:t>
            </a:r>
          </a:p>
          <a:p>
            <a:r>
              <a:t>ACCESS Trades Numeracy Textbook, PDF/printed p.20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'Math Week 1'!A54</a:t>
            </a:r>
          </a:p>
          <a:p>
            <a:r>
              <a:t>'Math Week 1'!B56</a:t>
            </a:r>
          </a:p>
          <a:p>
            <a:r>
              <a:t>'Math Week 1'!B58</a:t>
            </a:r>
          </a:p>
          <a:p>
            <a:r>
              <a:t>Textbook Chapter 1 pp.15–21</a:t>
            </a:r>
          </a:p>
          <a:p>
            <a:r>
              <a:t>ACCESS CARPENTRY SLIDES.pptx slides 9–11</a:t>
            </a:r>
          </a:p>
          <a:p>
            <a:r>
              <a:t>ACCESS Trades Numeracy Textbook, PDF/printed p.20</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Textbook p.20 · Example 1.13: add the values, then divide by their count.</a:t>
            </a:r>
          </a:p>
          <a:p>
            <a:r>
              <a:t>Exact PDF/printed page: 20. Excerpt reproduced from the supplied ACCESS Textbook.</a:t>
            </a:r>
          </a:p>
          <a:p>
            <a:r>
              <a:t>Examples 1.13–1.14 contrast an average with a multi-step whole-box purchase.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Textbook p.20 · Example 1.14: calculate need, then round the whole-box order up.</a:t>
            </a:r>
          </a:p>
          <a:p>
            <a:r>
              <a:t>Exact PDF/printed page: 20. Excerpt reproduced from the supplied ACCESS Textbook.</a:t>
            </a:r>
          </a:p>
          <a:p>
            <a:r>
              <a:t>Examples 1.13–1.14 contrast an average with a multi-step whole-box purchase.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Together, 9:25 AM–9:40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1B-Q2</a:t>
            </a:r>
          </a:p>
          <a:p>
            <a:r>
              <a:t>Exact question: A plumber measures five pipe runs: 12 ft, 9 ft, 15 ft, 7 ft, 18 ft. The supplier sells this pipe in 21 ft lengths. Ignore fittings and waste. How many feet of pipe are needed, and how many 21 ft lengths must be bought?</a:t>
            </a:r>
          </a:p>
          <a:p>
            <a:r>
              <a:t>Instructor answer: 61 ft. 61 ÷ 21 = 2.9, so buy 3 lengths.</a:t>
            </a:r>
          </a:p>
          <a:p>
            <a:r>
              <a:t>Working: Round up: a part length still has to be bought.</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1B-Q2</a:t>
            </a:r>
          </a:p>
          <a:p>
            <a:r>
              <a:t>Exact question: A plumber measures five pipe runs: 12 ft, 9 ft, 15 ft, 7 ft, 18 ft. The supplier sells this pipe in 21 ft lengths. Ignore fittings and waste. How many feet of pipe are needed, and how many 21 ft lengths must be bought?</a:t>
            </a:r>
          </a:p>
          <a:p>
            <a:r>
              <a:t>Instructor answer: 61 ft. 61 ÷ 21 = 2.9, so buy 3 lengths.</a:t>
            </a:r>
          </a:p>
          <a:p>
            <a:r>
              <a:t>Working: Round up: a part length still has to be bought.</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Practise, 9:40 AM–10:00 AM.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Exact scheduled tool activity: Numeracy Hub: Calculator. Draw quantities and groups on paper before keying.</a:t>
            </a:r>
          </a:p>
          <a:p>
            <a:r>
              <a:t>Supported: Draw the groups and label what each number counts in 1B Q2–3.</a:t>
            </a:r>
          </a:p>
          <a:p>
            <a:r>
              <a:t>Independent practice: Write the operation and units for the assigned 1A/1B questions before keying.</a:t>
            </a:r>
          </a:p>
          <a:p>
            <a:r>
              <a:t>Independent checking: Use Numeracy Hub Calculator, then verify with multiplication or addition.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1A-Q15</a:t>
            </a:r>
          </a:p>
          <a:p>
            <a:r>
              <a:t>Exact question: 32 × 15</a:t>
            </a:r>
          </a:p>
          <a:p>
            <a:r>
              <a:t>Instructor answer: 480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1A-Q16</a:t>
            </a:r>
          </a:p>
          <a:p>
            <a:r>
              <a:t>Exact question: 215 × 24</a:t>
            </a:r>
          </a:p>
          <a:p>
            <a:r>
              <a:t>Instructor answer: 5,160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Check, 10:00 AM–10:10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1A-Q19</a:t>
            </a:r>
          </a:p>
          <a:p>
            <a:r>
              <a:t>Exact question: Find the average of 64, 58, 71 and 67.</a:t>
            </a:r>
          </a:p>
          <a:p>
            <a:r>
              <a:t>Instructor answer: 65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1B-Q3</a:t>
            </a:r>
          </a:p>
          <a:p>
            <a:r>
              <a:t>Exact question: A millwright sets 14 baseplates. Each baseplate takes 8 anchor bolts. Anchor bolts come in boxes of 25. How many bolts are needed, and how many boxes?</a:t>
            </a:r>
          </a:p>
          <a:p>
            <a:r>
              <a:t>Instructor answer: 112 bolts, 5 boxes</a:t>
            </a:r>
          </a:p>
          <a:p>
            <a:r>
              <a:t>Working: 14 × 8 = 112. 112 ÷ 25 = 4.48, round up to 5 boxes.</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W01-L03 | 2026-10-30 | 9:00 AM–10:15 AM | 75 minutes</a:t>
            </a:r>
          </a:p>
          <a:p>
            <a:r>
              <a:t>Quantities, averages and word problems</a:t>
            </a:r>
          </a:p>
          <a:p>
            <a:r>
              <a:t>Mode: Math</a:t>
            </a:r>
          </a:p>
          <a:p>
            <a:r>
              <a:t>Goal: Choose operations from a job problem and explain the difference between full pieces and purchase quantities.</a:t>
            </a:r>
          </a:p>
          <a:p>
            <a:r>
              <a:t>Read: Textbook Chapter 1 pp.15–21</a:t>
            </a:r>
          </a:p>
          <a:p>
            <a:r>
              <a:t>Practise: Exercise Book 1A Q15–19 (p.7); 1B Q2–5 (p.8)</a:t>
            </a:r>
          </a:p>
          <a:p>
            <a:r>
              <a:t>Tool: Numeracy Hub: Calculator. Draw quantities and groups on paper before keying.</a:t>
            </a:r>
          </a:p>
          <a:p/>
          <a:p>
            <a:r>
              <a:t>EXACT SCHEDULED STEPS</a:t>
            </a:r>
          </a:p>
          <a:p>
            <a:r>
              <a:t>9:00 AM–9:05 AM | 1 Start | 5 min</a:t>
            </a:r>
          </a:p>
          <a:p>
            <a:r>
              <a:t>Instructor: State the goal and connect it to a carpentry drawing or job quantity.</a:t>
            </a:r>
          </a:p>
          <a:p>
            <a:r>
              <a:t>Learners: Name one use for today’s skill.</a:t>
            </a:r>
          </a:p>
          <a:p>
            <a:r>
              <a:t>Materials/check: Notebook; calculator</a:t>
            </a:r>
          </a:p>
          <a:p>
            <a:r>
              <a:t>Source: 'Math Week 1'!A60:F60</a:t>
            </a:r>
          </a:p>
          <a:p/>
          <a:p>
            <a:r>
              <a:t>9:05 AM–9:10 AM | 2 Recall | 5 min</a:t>
            </a:r>
          </a:p>
          <a:p>
            <a:r>
              <a:t>Instructor: Ask what information is given, what must be found and which unit the answer needs.</a:t>
            </a:r>
          </a:p>
          <a:p>
            <a:r>
              <a:t>Learners: Try first without displayed answers.</a:t>
            </a:r>
          </a:p>
          <a:p>
            <a:r>
              <a:t>Materials/check: Identify support needs</a:t>
            </a:r>
          </a:p>
          <a:p>
            <a:r>
              <a:t>Source: 'Math Week 1'!A61:F61</a:t>
            </a:r>
          </a:p>
          <a:p/>
          <a:p>
            <a:r>
              <a:t>9:10 AM–9:25 AM | 3 Teach | 15 min</a:t>
            </a:r>
          </a:p>
          <a:p>
            <a:r>
              <a:t>Instructor: Model repeated groups, equal sharing and an average using 1A question 19. Show why a purchase quantity may need rounding up.</a:t>
            </a:r>
          </a:p>
          <a:p>
            <a:r>
              <a:t>Learners: Follow the example; explain the next step.</a:t>
            </a:r>
          </a:p>
          <a:p>
            <a:r>
              <a:t>Materials/check: Textbook; worked example</a:t>
            </a:r>
          </a:p>
          <a:p>
            <a:r>
              <a:t>Source: 'Math Week 1'!A62:F62</a:t>
            </a:r>
          </a:p>
          <a:p/>
          <a:p>
            <a:r>
              <a:t>9:25 AM–9:40 AM | 4 Together | 15 min</a:t>
            </a:r>
          </a:p>
          <a:p>
            <a:r>
              <a:t>Instructor: Solve 1B questions 2–3. Label the number needed and the number of full supplier units separately.</a:t>
            </a:r>
          </a:p>
          <a:p>
            <a:r>
              <a:t>Learners: Work in pairs; alternate solver and checker.</a:t>
            </a:r>
          </a:p>
          <a:p>
            <a:r>
              <a:t>Materials/check: Exercise Book; tool above</a:t>
            </a:r>
          </a:p>
          <a:p>
            <a:r>
              <a:t>Source: 'Math Week 1'!A63:F63</a:t>
            </a:r>
          </a:p>
          <a:p/>
          <a:p>
            <a:r>
              <a:t>9:40 AM–10:00 AM | 5 Practise | 20 min</a:t>
            </a:r>
          </a:p>
          <a:p>
            <a:r>
              <a:t>Instructor: Complete 1A questions 15–18 and 1B questions 4–5. Explain each operation and check the answer using multiplication or addition.</a:t>
            </a:r>
          </a:p>
          <a:p>
            <a:r>
              <a:t>Learners: Show working and units; estimate, then check.</a:t>
            </a:r>
          </a:p>
          <a:p>
            <a:r>
              <a:t>Materials/check: Paper first; tool second</a:t>
            </a:r>
          </a:p>
          <a:p>
            <a:r>
              <a:t>Source: 'Math Week 1'!A64:F64</a:t>
            </a:r>
          </a:p>
          <a:p/>
          <a:p>
            <a:r>
              <a:t>10:00 AM–10:10 AM | 6 Check | 10 min</a:t>
            </a:r>
          </a:p>
          <a:p>
            <a:r>
              <a:t>Instructor: Complete 1A question 19 and 1B question 3 independently.</a:t>
            </a:r>
          </a:p>
          <a:p>
            <a:r>
              <a:t>Learners: Answer independently and show the method.</a:t>
            </a:r>
          </a:p>
          <a:p>
            <a:r>
              <a:t>Materials/check: Teacher answers below</a:t>
            </a:r>
          </a:p>
          <a:p>
            <a:r>
              <a:t>Source: 'Math Week 1'!A65:F65</a:t>
            </a:r>
          </a:p>
          <a:p/>
          <a:p>
            <a:r>
              <a:t>10:10 AM–10:15 AM | 7 Wrap up | 5 min</a:t>
            </a:r>
          </a:p>
          <a:p>
            <a:r>
              <a:t>Instructor: Ask for one learning point and one skill to practise next.</a:t>
            </a:r>
          </a:p>
          <a:p>
            <a:r>
              <a:t>Learners: Record a takeaway and next action.</a:t>
            </a:r>
          </a:p>
          <a:p>
            <a:r>
              <a:t>Materials/check: Notebook / error log</a:t>
            </a:r>
          </a:p>
          <a:p>
            <a:r>
              <a:t>Source: 'Math Week 1'!A66:F66</a:t>
            </a:r>
          </a:p>
          <a:p/>
          <a:p>
            <a:r>
              <a:t>INSTRUCTOR ONLY: REVEAL ASSESSMENT ANSWERS AFTER THE ATTEMPT</a:t>
            </a:r>
          </a:p>
          <a:p>
            <a:r>
              <a:t>1A question 19 = 65. 1B question 3 = 112 bolts; buy 5 boxes. Answer Key page 6.</a:t>
            </a:r>
          </a:p>
          <a:p/>
          <a:p>
            <a:r>
              <a:t>Next: combine these methods in a complete cut-list calculation.</a:t>
            </a:r>
          </a:p>
          <a:p/>
          <a:p>
            <a:r>
              <a:t>Sources: 'Math Week 1'!A12:E12; 'Carpentry Schedule'!F3; 'Math Week 1'!A54</a:t>
            </a:r>
          </a:p>
          <a:p>
            <a:r>
              <a:t>Navigation/resource slides support these scheduled steps and do not add instructional time.</a:t>
            </a:r>
          </a:p>
          <a:p>
            <a:r>
              <a:t>SLIDE PLACEMENT: Wrap up, 10:10 AM–10:15 AM. All slides with this phase share these 5 minutes; do not restart the time allocation for each slide.</a:t>
            </a:r>
          </a:p>
          <a:p/>
          <a:p>
            <a:r>
              <a:t>Next scheduled learning: Next: combine these methods in a complete cut-list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10:30 AM.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Start, 10:30 AM–10:35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Recall, 10:35 AM–10:40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Recall, 10:35 AM–10:40 AM. All slides with this phase share these 5 minutes; do not restart the time allocation for each slide.</a:t>
            </a:r>
          </a:p>
          <a:p/>
          <a:p>
            <a:r>
              <a:t>ACCESS EXERCISE BOOK: 1A-Q18</a:t>
            </a:r>
          </a:p>
          <a:p>
            <a:r>
              <a:t>Exact question: Divide 5,000 by 320. Give the whole-number quotient and the remainder.</a:t>
            </a:r>
          </a:p>
          <a:p>
            <a:r>
              <a:t>Instructor answer: 15 remainder 200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'Math Week 1'!A71</a:t>
            </a:r>
          </a:p>
          <a:p>
            <a:r>
              <a:t>'Math Week 1'!B73</a:t>
            </a:r>
          </a:p>
          <a:p>
            <a:r>
              <a:t>'Math Week 1'!B75</a:t>
            </a:r>
          </a:p>
          <a:p>
            <a:r>
              <a:t>Textbook sections 1.4–1.8 pp.12–21; sections 2.11 p.39</a:t>
            </a:r>
          </a:p>
          <a:p>
            <a:r>
              <a:t>ACCESS CARPENTRY SLIDES.pptx slides 12–14</a:t>
            </a:r>
          </a:p>
          <a:p>
            <a:r>
              <a:t>ACCESS Trades Numeracy Textbook, PDF/printed p.14</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'Math Week 1'!A71</a:t>
            </a:r>
          </a:p>
          <a:p>
            <a:r>
              <a:t>'Math Week 1'!B73</a:t>
            </a:r>
          </a:p>
          <a:p>
            <a:r>
              <a:t>'Math Week 1'!B75</a:t>
            </a:r>
          </a:p>
          <a:p>
            <a:r>
              <a:t>Textbook sections 1.4–1.8 pp.12–21; sections 2.11 p.39</a:t>
            </a:r>
          </a:p>
          <a:p>
            <a:r>
              <a:t>ACCESS CARPENTRY SLIDES.pptx slides 12–14</a:t>
            </a:r>
          </a:p>
          <a:p>
            <a:r>
              <a:t>ACCESS Trades Numeracy Textbook, PDF/printed p.14</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Textbook p.14 · Example 1.6: used length and offcut account for the original stock.</a:t>
            </a:r>
          </a:p>
          <a:p>
            <a:r>
              <a:t>Exact PDF/printed page: 14. Excerpt reproduced from the supplied ACCESS Textbook.</a:t>
            </a:r>
          </a:p>
          <a:p>
            <a:r>
              <a:t>The labelled stock and hidden-section diagrams show used length, remainder and overall total.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Textbook p.14 · Example 1.7: known parts and a hidden dimension.</a:t>
            </a:r>
          </a:p>
          <a:p>
            <a:r>
              <a:t>Exact PDF/printed page: 14. Excerpt reproduced from the supplied ACCESS Textbook.</a:t>
            </a:r>
          </a:p>
          <a:p>
            <a:r>
              <a:t>The labelled stock and hidden-section diagrams show used length, remainder and overall total.</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Together, 10:55 AM–11:10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1B-Q2</a:t>
            </a:r>
          </a:p>
          <a:p>
            <a:r>
              <a:t>Exact question: A plumber measures five pipe runs: 12 ft, 9 ft, 15 ft, 7 ft, 18 ft. The supplier sells this pipe in 21 ft lengths. Ignore fittings and waste. How many feet of pipe are needed, and how many 21 ft lengths must be bought?</a:t>
            </a:r>
          </a:p>
          <a:p>
            <a:r>
              <a:t>Instructor answer: 61 ft. 61 ÷ 21 = 2.9, so buy 3 lengths.</a:t>
            </a:r>
          </a:p>
          <a:p>
            <a:r>
              <a:t>Working: Round up: a part length still has to be bought.</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1B-Q2</a:t>
            </a:r>
          </a:p>
          <a:p>
            <a:r>
              <a:t>Exact question: A plumber measures five pipe runs: 12 ft, 9 ft, 15 ft, 7 ft, 18 ft. The supplier sells this pipe in 21 ft lengths. Ignore fittings and waste. How many feet of pipe are needed, and how many 21 ft lengths must be bought?</a:t>
            </a:r>
          </a:p>
          <a:p>
            <a:r>
              <a:t>Instructor answer: 61 ft. 61 ÷ 21 = 2.9, so buy 3 lengths.</a:t>
            </a:r>
          </a:p>
          <a:p>
            <a:r>
              <a:t>Working: Round up: a part length still has to be bought.</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Practise, 11:10 AM–11:45 AM. All slides with this phase share these 35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Exact scheduled tool activity: Shape Canvas: add three rectangles to represent the cut pieces; label the original stock length using Text. Numeracy Hub Calculator: check the numerical totals.</a:t>
            </a:r>
          </a:p>
          <a:p>
            <a:r>
              <a:t>Supported: In Shape Canvas, add three rectangles for the cut pieces and label their lengths.</a:t>
            </a:r>
          </a:p>
          <a:p>
            <a:r>
              <a:t>Independent practice: Add a Text label for the original stock; write the cut-list equation on paper.</a:t>
            </a:r>
          </a:p>
          <a:p>
            <a:r>
              <a:t>Independent checking: Verify the totals in Numeracy Hub Calculator and reconstruct the stock length.</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1B-Q4</a:t>
            </a:r>
          </a:p>
          <a:p>
            <a:r>
              <a:t>Exact question: A pipe job has 9 flanged joints. Each joint takes 8 bolts and each bolt takes 2 nuts. How many nuts are needed?</a:t>
            </a:r>
          </a:p>
          <a:p>
            <a:r>
              <a:t>Instructor answer: 144 nuts</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1C-Q1</a:t>
            </a:r>
          </a:p>
          <a:p>
            <a:r>
              <a:t>Exact question: Three pieces are cut from a 6,000 mm bar. Ignore the saw cuts. Find the offcut.</a:t>
            </a:r>
          </a:p>
          <a:p>
            <a:r>
              <a:t>Instructor answer: 1,625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Check, 11:45 AM–11:55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1B-Q3</a:t>
            </a:r>
          </a:p>
          <a:p>
            <a:r>
              <a:t>Exact question: A millwright sets 14 baseplates. Each baseplate takes 8 anchor bolts. Anchor bolts come in boxes of 25. How many bolts are needed, and how many boxes?</a:t>
            </a:r>
          </a:p>
          <a:p>
            <a:r>
              <a:t>Instructor answer: 112 bolts, 5 boxes</a:t>
            </a:r>
          </a:p>
          <a:p>
            <a:r>
              <a:t>Working: 14 × 8 = 112. 112 ÷ 25 = 4.48, round up to 5 boxes.</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1B-Q5</a:t>
            </a:r>
          </a:p>
          <a:p>
            <a:r>
              <a:t>Exact question: Lengths of 18 in are cut from a 20 ft bar of angle (20 ft = 240 in). Ignore the saw cuts. How many pieces can be cut, and how long is the offcut?</a:t>
            </a:r>
          </a:p>
          <a:p>
            <a:r>
              <a:t>Instructor answer: 13 pieces, offcut 6 in</a:t>
            </a:r>
          </a:p>
          <a:p>
            <a:r>
              <a:t>Working: 240 ÷ 18 = 13.33. 13 × 18 = 234. 240 − 234 = 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W01-L04 | 2026-10-30 | 10:30 AM–12:00 PM | 90 minutes</a:t>
            </a:r>
          </a:p>
          <a:p>
            <a:r>
              <a:t>Cut-list practice and rounding</a:t>
            </a:r>
          </a:p>
          <a:p>
            <a:r>
              <a:t>Mode: Calculation Practice</a:t>
            </a:r>
          </a:p>
          <a:p>
            <a:r>
              <a:t>Goal: Solve multi-step stock problems and distinguish rounding up purchases from rounding down complete pieces.</a:t>
            </a:r>
          </a:p>
          <a:p>
            <a:r>
              <a:t>Read: Textbook sections 1.4–1.8 pp.12–21; sections 2.11 p.39</a:t>
            </a:r>
          </a:p>
          <a:p>
            <a:r>
              <a:t>Practise: Exercise Book 1B Q1–5 (p.8); 1C Q1–2 (p.10)</a:t>
            </a:r>
          </a:p>
          <a:p>
            <a:r>
              <a:t>Tool: Shape Canvas: add three rectangles to represent the cut pieces; label the original stock length using Text. Numeracy Hub Calculator: check the numerical totals.</a:t>
            </a:r>
          </a:p>
          <a:p/>
          <a:p>
            <a:r>
              <a:t>EXACT SCHEDULED STEPS</a:t>
            </a:r>
          </a:p>
          <a:p>
            <a:r>
              <a:t>10:30 AM–10:35 AM | 1 Start | 5 min</a:t>
            </a:r>
          </a:p>
          <a:p>
            <a:r>
              <a:t>Instructor: State the goal and connect it to a carpentry drawing or job quantity.</a:t>
            </a:r>
          </a:p>
          <a:p>
            <a:r>
              <a:t>Learners: Name one use for today’s skill.</a:t>
            </a:r>
          </a:p>
          <a:p>
            <a:r>
              <a:t>Materials/check: Notebook; calculator</a:t>
            </a:r>
          </a:p>
          <a:p>
            <a:r>
              <a:t>Source: 'Math Week 1'!A77:F77</a:t>
            </a:r>
          </a:p>
          <a:p/>
          <a:p>
            <a:r>
              <a:t>10:35 AM–10:40 AM | 2 Recall | 5 min</a:t>
            </a:r>
          </a:p>
          <a:p>
            <a:r>
              <a:t>Instructor: Ask why buying boxes and cutting full pieces need different rounding decisions. Retrieve 1A Q18 (p.7).</a:t>
            </a:r>
          </a:p>
          <a:p>
            <a:r>
              <a:t>Learners: Try first without displayed answers.</a:t>
            </a:r>
          </a:p>
          <a:p>
            <a:r>
              <a:t>Materials/check: Identify support needs</a:t>
            </a:r>
          </a:p>
          <a:p>
            <a:r>
              <a:t>Source: 'Math Week 1'!A78:F78</a:t>
            </a:r>
          </a:p>
          <a:p/>
          <a:p>
            <a:r>
              <a:t>10:40 AM–10:55 AM | 3 Teach | 15 min</a:t>
            </a:r>
          </a:p>
          <a:p>
            <a:r>
              <a:t>Instructor: Model Exercise Book 1B Q1: identify stock, total used and remainder. Contrast a purchase quantity with the number of complete pieces from stock.</a:t>
            </a:r>
          </a:p>
          <a:p>
            <a:r>
              <a:t>Learners: Follow the example; explain the next step.</a:t>
            </a:r>
          </a:p>
          <a:p>
            <a:r>
              <a:t>Materials/check: Textbook; worked example</a:t>
            </a:r>
          </a:p>
          <a:p>
            <a:r>
              <a:t>Source: 'Math Week 1'!A79:F79</a:t>
            </a:r>
          </a:p>
          <a:p/>
          <a:p>
            <a:r>
              <a:t>10:55 AM–11:10 AM | 4 Together | 15 min</a:t>
            </a:r>
          </a:p>
          <a:p>
            <a:r>
              <a:t>Instructor: Work Exercise Book 1B Q2–3 in pairs. Learners mark given quantities, choose operations, and justify purchase rounding.</a:t>
            </a:r>
          </a:p>
          <a:p>
            <a:r>
              <a:t>Learners: Work in pairs; alternate solver and checker.</a:t>
            </a:r>
          </a:p>
          <a:p>
            <a:r>
              <a:t>Materials/check: Exercise Book; tool above</a:t>
            </a:r>
          </a:p>
          <a:p>
            <a:r>
              <a:t>Source: 'Math Week 1'!A80:F80</a:t>
            </a:r>
          </a:p>
          <a:p/>
          <a:p>
            <a:r>
              <a:t>11:10 AM–11:45 AM | 5 Practise | 35 min</a:t>
            </a:r>
          </a:p>
          <a:p>
            <a:r>
              <a:t>Instructor: Solve Exercise Book 1B Q4–5 and 1C Q1–2. Recreate one cut-list sketch on Shape Canvas; write the equation before checking. Use extra time to correct and explain a second method.</a:t>
            </a:r>
          </a:p>
          <a:p>
            <a:r>
              <a:t>Learners: Show working and units; estimate, then check.</a:t>
            </a:r>
          </a:p>
          <a:p>
            <a:r>
              <a:t>Materials/check: Paper first; tool second</a:t>
            </a:r>
          </a:p>
          <a:p>
            <a:r>
              <a:t>Source: 'Math Week 1'!A81:F81</a:t>
            </a:r>
          </a:p>
          <a:p/>
          <a:p>
            <a:r>
              <a:t>11:45 AM–11:55 AM | 6 Check | 10 min</a:t>
            </a:r>
          </a:p>
          <a:p>
            <a:r>
              <a:t>Instructor: Rework Exercise Book 1B Q3 and Q5 independently; explain why the two rounding directions differ.</a:t>
            </a:r>
          </a:p>
          <a:p>
            <a:r>
              <a:t>Learners: Answer independently and show the method.</a:t>
            </a:r>
          </a:p>
          <a:p>
            <a:r>
              <a:t>Materials/check: Teacher answers below</a:t>
            </a:r>
          </a:p>
          <a:p>
            <a:r>
              <a:t>Source: 'Math Week 1'!A82:F82</a:t>
            </a:r>
          </a:p>
          <a:p/>
          <a:p>
            <a:r>
              <a:t>11:55 AM–12:00 PM | 7 Wrap up | 5 min</a:t>
            </a:r>
          </a:p>
          <a:p>
            <a:r>
              <a:t>Instructor: Ask for one learning point and one skill to practise next.</a:t>
            </a:r>
          </a:p>
          <a:p>
            <a:r>
              <a:t>Learners: Record a takeaway and next action.</a:t>
            </a:r>
          </a:p>
          <a:p>
            <a:r>
              <a:t>Materials/check: Notebook / error log</a:t>
            </a:r>
          </a:p>
          <a:p>
            <a:r>
              <a:t>Source: 'Math Week 1'!A83:F83</a:t>
            </a:r>
          </a:p>
          <a:p/>
          <a:p>
            <a:r>
              <a:t>INSTRUCTOR ONLY: REVEAL ASSESSMENT ANSWERS AFTER THE ATTEMPT</a:t>
            </a:r>
          </a:p>
          <a:p>
            <a:r>
              <a:t>1B Q3 = 112 bolts, 5 boxes; Q5 = 13 pieces and a 6 in offcut. Answer Key p.6. Answer Key p.6</a:t>
            </a:r>
          </a:p>
          <a:p/>
          <a:p>
            <a:r>
              <a:t>Next week: order of operations, then fraction and tape-reading foundations.</a:t>
            </a:r>
          </a:p>
          <a:p/>
          <a:p>
            <a:r>
              <a:t>Sources: 'Math Week 1'!A13:E13; 'Carpentry Schedule'!F5; 'Math Week 1'!A71</a:t>
            </a:r>
          </a:p>
          <a:p>
            <a:r>
              <a:t>Navigation/resource slides support these scheduled steps and do not add instructional time.</a:t>
            </a:r>
          </a:p>
          <a:p>
            <a:r>
              <a:t>SLIDE PLACEMENT: Wrap up, 11:55 AM–12:00 PM. All slides with this phase share these 5 minutes; do not restart the time allocation for each slide.</a:t>
            </a:r>
          </a:p>
          <a:p/>
          <a:p>
            <a:r>
              <a:t>Next scheduled learning: Next week: order of operations, then fraction and tape-reading foundations.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Resources/ACCESS-Tools/books/ACCESS-Trades-Numeracy-Textbook.pdf#page=20" TargetMode="External"/><Relationship Id="rId6" Type="http://schemas.openxmlformats.org/officeDocument/2006/relationships/hyperlink" Target="../Resources/ACCESS-Tools/books/ACCESS-Trades-Numeracy-Exercise-Book.pdf#page=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Resources/ACCESS-Tools/books/ACCESS-Trades-Numeracy-Textbook.pdf#page=20" TargetMode="External"/><Relationship Id="rId6" Type="http://schemas.openxmlformats.org/officeDocument/2006/relationships/hyperlink" Target="../Resources/ACCESS-Tools/books/ACCESS-Trades-Numeracy-Exercise-Book.pdf#page=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Resources/ACCESS-Tools/books/ACCESS-Trades-Numeracy-Textbook.pdf#page=15"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Resources/ACCESS-Tools/books/ACCESS-Trades-Numeracy-Textbook.pdf#page=15"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Resources/ACCESS-Tools/books/ACCESS-Trades-Numeracy-Textbook.pdf#page=15" TargetMode="External"/><Relationship Id="rId6" Type="http://schemas.openxmlformats.org/officeDocument/2006/relationships/hyperlink" Target="../Resources/ACCESS-Tools/books/ACCESS-Trades-Numeracy-Exercise-Book.pdf#page=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Resources/ACCESS-Tools/books/ACCESS-Trades-Numeracy-Textbook.pdf#page=15" TargetMode="External"/><Relationship Id="rId6" Type="http://schemas.openxmlformats.org/officeDocument/2006/relationships/hyperlink" Target="../Resources/ACCESS-Tools/books/ACCESS-Trades-Numeracy-Exercise-Book.pdf#page=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Resources/ACCESS-Tools/books/ACCESS-Trades-Numeracy-Textbook.pdf#page=15" TargetMode="External"/><Relationship Id="rId6" Type="http://schemas.openxmlformats.org/officeDocument/2006/relationships/hyperlink" Target="../Resources/ACCESS-Tools/books/ACCESS-Trades-Numeracy-Exercise-Book.pdf#page=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Resources/ACCESS-Tools/books/ACCESS-Trades-Numeracy-Textbook.pdf#page=15" TargetMode="External"/><Relationship Id="rId6" Type="http://schemas.openxmlformats.org/officeDocument/2006/relationships/hyperlink" Target="../Resources/ACCESS-Tools/books/ACCESS-Trades-Numeracy-Exercise-Book.pdf#page=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Resources/ACCESS-Tools/books/ACCESS-Trades-Numeracy-Textbook.pdf#page=15"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Resources/ACCESS-Tools/books/ACCESS-Trades-Numeracy-Textbook.pdf#page=15" TargetMode="External"/><Relationship Id="rId5" Type="http://schemas.openxmlformats.org/officeDocument/2006/relationships/hyperlink" Target="../Resources/ACCESS-Tools/books/ACCESS-Trades-Numeracy-Exercise-Book.pdf#page=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Resources/ACCESS-Tools/books/ACCESS-Trades-Numeracy-Textbook.pdf#page=14"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Resources/ACCESS-Tools/books/ACCESS-Trades-Numeracy-Textbook.pdf#page=14"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10"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Resources/ACCESS-Tools/books/ACCESS-Trades-Numeracy-Textbook.pdf#page=12"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Resources/ACCESS-Tools/books/ACCESS-Trades-Numeracy-Textbook.pdf#page=12"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02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October 30,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Quantities, averages and word problems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Cut-list practice and rounding</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02  •  2026-10-30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02  /  WEEK 1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Quantities, averages and word problems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1,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Cut-list practice and rounding</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Calculation Practice  •  Math Week 1,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Quantities, averages and word problems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Choose operations from a job problem and explain the difference between full pieces and purchase quantities.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1 pp.15–21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1A Q15–19 (p.7); 1B Q2–5 (p.8)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information is given, what must be found and which unit the answer needs.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Translate the story into groups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what is given and what must be found before choosing an operation.</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Equal groups: number of groups × amount in each group gives the total.</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Sharing equally: total ÷ number of groups gives the amount in each group.</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Average: add all the values, then divide by how many values were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Separate need from purchase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First calculate the exact number or length needed for the job.</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Divide by the supplier’s quantity per box or stock length.</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part box still requires a whole box: round the purchase up.</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how much the whole-unit order supplies and whether it covers the need.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p:nvPr/>
        </p:nvSpPr>
        <p:spPr>
          <a:xfrm>
            <a:off x="609600" y="457200"/>
            <a:ext cx="9418320" cy="184666"/>
          </a:xfrm>
          <a:prstGeom prst="rect">
            <a:avLst/>
          </a:prstGeom>
          <a:noFill/>
          <a:ln/>
        </p:spPr>
        <p:txBody>
          <a:bodyPr wrap="square" lIns="0" tIns="0" rIns="0" bIns="0" rtlCol="0" anchor="t">
            <a:spAutoFit/>
          </a:bodyPr>
          <a:lstStyle/>
          <a:p>
            <a:pPr marL="0" indent="0" algn="l">
              <a:buNone/>
              <a:defRPr sz="1150">
                <a:solidFill>
                  <a:srgbClr val="D2181F"/>
                </a:solidFill>
                <a:latin typeface="Arial"/>
              </a:defRPr>
            </a:pPr>
            <a:r>
              <a:rPr/>
              <a:t>W01-L03  •  TEACH  •  9:10 AM–9:25 AM  •  15 MIN TOTAL</a:t>
            </a:r>
            <a:endParaRPr lang="en-US" sz="1200" dirty="0"/>
          </a:p>
        </p:txBody>
      </p:sp>
      <p:sp>
        <p:nvSpPr>
          <p:cNvPr id="4" name="Text 2"/>
          <p:cNvSpPr/>
          <p:nvPr/>
        </p:nvSpPr>
        <p:spPr>
          <a:xfrm>
            <a:off x="609600" y="838200"/>
            <a:ext cx="10972800" cy="461665"/>
          </a:xfrm>
          <a:prstGeom prst="rect">
            <a:avLst/>
          </a:prstGeom>
          <a:noFill/>
          <a:ln/>
        </p:spPr>
        <p:txBody>
          <a:bodyPr wrap="square" lIns="0" tIns="0" rIns="0" bIns="0" rtlCol="0" anchor="t">
            <a:spAutoFit/>
          </a:bodyPr>
          <a:lstStyle/>
          <a:p>
            <a:pPr marL="0" indent="0" algn="l">
              <a:buNone/>
            </a:pPr>
            <a:r>
              <a:rPr lang="en-US" sz="3000" b="1" dirty="0">
                <a:solidFill>
                  <a:srgbClr val="1A1A1A"/>
                </a:solidFill>
                <a:latin typeface="Arial" pitchFamily="34" charset="0"/>
                <a:ea typeface="Arial" pitchFamily="34" charset="-122"/>
                <a:cs typeface="Arial" pitchFamily="34" charset="-120"/>
              </a:rPr>
              <a:t>Pieces needed ≠ boxes purchased</a:t>
            </a:r>
            <a:endParaRPr lang="en-US" sz="3000" dirty="0"/>
          </a:p>
        </p:txBody>
      </p:sp>
      <p:sp>
        <p:nvSpPr>
          <p:cNvPr id="5" name="Text 3"/>
          <p:cNvSpPr/>
          <p:nvPr/>
        </p:nvSpPr>
        <p:spPr>
          <a:xfrm>
            <a:off x="609600" y="1739900"/>
            <a:ext cx="10972800" cy="276999"/>
          </a:xfrm>
          <a:prstGeom prst="rect">
            <a:avLst/>
          </a:prstGeom>
          <a:noFill/>
          <a:ln/>
        </p:spPr>
        <p:txBody>
          <a:bodyPr wrap="square" lIns="0" tIns="0" rIns="0" bIns="0" rtlCol="0" anchor="t">
            <a:spAutoFit/>
          </a:bodyPr>
          <a:lstStyle/>
          <a:p>
            <a:pPr marL="0" indent="0" algn="l">
              <a:buNone/>
            </a:pPr>
            <a:r>
              <a:rPr lang="en-US" sz="1800" dirty="0">
                <a:solidFill>
                  <a:srgbClr val="1A1A1A"/>
                </a:solidFill>
                <a:latin typeface="Arial" pitchFamily="34" charset="0"/>
                <a:ea typeface="Arial" pitchFamily="34" charset="-122"/>
                <a:cs typeface="Arial" pitchFamily="34" charset="-120"/>
              </a:rPr>
              <a:t>Classroom example: 12 brackets need 6 screws each. A box holds 20.</a:t>
            </a:r>
            <a:endParaRPr lang="en-US" sz="1800" dirty="0"/>
          </a:p>
        </p:txBody>
      </p:sp>
      <p:sp>
        <p:nvSpPr>
          <p:cNvPr id="6" name="Text 4"/>
          <p:cNvSpPr/>
          <p:nvPr/>
        </p:nvSpPr>
        <p:spPr>
          <a:xfrm>
            <a:off x="609600" y="2273300"/>
            <a:ext cx="10972800" cy="969496"/>
          </a:xfrm>
          <a:prstGeom prst="rect">
            <a:avLst/>
          </a:prstGeom>
          <a:noFill/>
          <a:ln/>
        </p:spPr>
        <p:txBody>
          <a:bodyPr wrap="square" lIns="0" tIns="0" rIns="0" bIns="0" rtlCol="0" anchor="t">
            <a:spAutoFit/>
          </a:bodyPr>
          <a:lstStyle/>
          <a:p>
            <a:pPr marL="0" indent="0" algn="l">
              <a:buNone/>
            </a:pPr>
            <a:r>
              <a:rPr lang="en-US" sz="2100" dirty="0">
                <a:solidFill>
                  <a:srgbClr val="1A1A1A"/>
                </a:solidFill>
                <a:latin typeface="Arial" pitchFamily="34" charset="0"/>
                <a:ea typeface="Arial" pitchFamily="34" charset="-122"/>
                <a:cs typeface="Arial" pitchFamily="34" charset="-120"/>
              </a:rPr>
              <a:t>12 × 6 = 72 screws needed</a:t>
            </a:r>
            <a:endParaRPr lang="en-US" sz="2100" dirty="0"/>
          </a:p>
          <a:p>
            <a:pPr marL="0" indent="0" algn="l">
              <a:buNone/>
            </a:pPr>
            <a:r>
              <a:rPr lang="en-US" sz="2100" dirty="0">
                <a:solidFill>
                  <a:srgbClr val="1A1A1A"/>
                </a:solidFill>
                <a:latin typeface="Arial" pitchFamily="34" charset="0"/>
                <a:ea typeface="Arial" pitchFamily="34" charset="-122"/>
                <a:cs typeface="Arial" pitchFamily="34" charset="-120"/>
              </a:rPr>
              <a:t>72 ÷ 20 = 3.6 boxes → buy 4 whole boxes</a:t>
            </a:r>
            <a:endParaRPr lang="en-US" sz="2100" dirty="0"/>
          </a:p>
          <a:p>
            <a:pPr marL="0" indent="0" algn="l">
              <a:buNone/>
            </a:pPr>
            <a:r>
              <a:rPr lang="en-US" sz="2100" dirty="0">
                <a:solidFill>
                  <a:srgbClr val="1A1A1A"/>
                </a:solidFill>
                <a:latin typeface="Arial" pitchFamily="34" charset="0"/>
                <a:ea typeface="Arial" pitchFamily="34" charset="-122"/>
                <a:cs typeface="Arial" pitchFamily="34" charset="-120"/>
              </a:rPr>
              <a:t>Check: 4 × 20 = 80 screws, so 8 remain</a:t>
            </a:r>
            <a:endParaRPr lang="en-US" sz="2100" dirty="0"/>
          </a:p>
        </p:txBody>
      </p:sp>
      <p:sp>
        <p:nvSpPr>
          <p:cNvPr id="7" name="Text 5"/>
          <p:cNvSpPr/>
          <p:nvPr/>
        </p:nvSpPr>
        <p:spPr>
          <a:xfrm>
            <a:off x="609600" y="38100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1A1A1A"/>
                </a:solidFill>
                <a:latin typeface="Arial" pitchFamily="34" charset="0"/>
                <a:ea typeface="Arial" pitchFamily="34" charset="-122"/>
                <a:cs typeface="Arial" pitchFamily="34" charset="-120"/>
              </a:rPr>
              <a:t>Average example</a:t>
            </a:r>
            <a:endParaRPr lang="en-US" sz="2100" dirty="0"/>
          </a:p>
        </p:txBody>
      </p:sp>
      <p:sp>
        <p:nvSpPr>
          <p:cNvPr id="8" name="Text 6"/>
          <p:cNvSpPr/>
          <p:nvPr/>
        </p:nvSpPr>
        <p:spPr>
          <a:xfrm>
            <a:off x="609600" y="4305300"/>
            <a:ext cx="10972800" cy="553998"/>
          </a:xfrm>
          <a:prstGeom prst="rect">
            <a:avLst/>
          </a:prstGeom>
          <a:noFill/>
          <a:ln/>
        </p:spPr>
        <p:txBody>
          <a:bodyPr wrap="square" lIns="0" tIns="0" rIns="0" bIns="0" rtlCol="0" anchor="t">
            <a:spAutoFit/>
          </a:bodyPr>
          <a:lstStyle/>
          <a:p>
            <a:pPr marL="0" indent="0" algn="l">
              <a:buNone/>
            </a:pPr>
            <a:r>
              <a:rPr lang="en-US" sz="1800" dirty="0">
                <a:solidFill>
                  <a:srgbClr val="1A1A1A"/>
                </a:solidFill>
                <a:latin typeface="Arial" pitchFamily="34" charset="0"/>
                <a:ea typeface="Arial" pitchFamily="34" charset="-122"/>
                <a:cs typeface="Arial" pitchFamily="34" charset="-120"/>
              </a:rPr>
              <a:t>Lengths 60, 64, 68 and 72 mm:</a:t>
            </a:r>
            <a:endParaRPr lang="en-US" sz="1800" dirty="0"/>
          </a:p>
          <a:p>
            <a:pPr marL="0" indent="0" algn="l">
              <a:buNone/>
            </a:pPr>
            <a:r>
              <a:rPr lang="en-US" sz="1800" dirty="0">
                <a:solidFill>
                  <a:srgbClr val="1A1A1A"/>
                </a:solidFill>
                <a:latin typeface="Arial" pitchFamily="34" charset="0"/>
                <a:ea typeface="Arial" pitchFamily="34" charset="-122"/>
                <a:cs typeface="Arial" pitchFamily="34" charset="-120"/>
              </a:rPr>
              <a:t>(60 + 64 + 68 + 72) ÷ 4 = 66 mm</a:t>
            </a:r>
            <a:endParaRPr lang="en-US" sz="1800" dirty="0"/>
          </a:p>
        </p:txBody>
      </p:sp>
      <p:sp>
        <p:nvSpPr>
          <p:cNvPr id="9" name="Text 7"/>
          <p:cNvSpPr/>
          <p:nvPr/>
        </p:nvSpPr>
        <p:spPr>
          <a:xfrm>
            <a:off x="609600" y="51562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1A1A1A"/>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664200"/>
            <a:ext cx="10972800" cy="553998"/>
          </a:xfrm>
          <a:prstGeom prst="rect">
            <a:avLst/>
          </a:prstGeom>
          <a:noFill/>
          <a:ln/>
        </p:spPr>
        <p:txBody>
          <a:bodyPr wrap="square" lIns="0" tIns="0" rIns="0" bIns="0" rtlCol="0" anchor="t">
            <a:spAutoFit/>
          </a:bodyPr>
          <a:lstStyle/>
          <a:p>
            <a:pPr marL="0" indent="0" algn="l">
              <a:buNone/>
            </a:pPr>
            <a:r>
              <a:rPr lang="en-US" sz="1800" dirty="0">
                <a:solidFill>
                  <a:srgbClr val="1A1A1A"/>
                </a:solidFill>
                <a:latin typeface="Arial" pitchFamily="34" charset="0"/>
                <a:ea typeface="Arial" pitchFamily="34" charset="-122"/>
                <a:cs typeface="Arial" pitchFamily="34" charset="-120"/>
              </a:rPr>
              <a:t>Exercise Book 1B Q2–3. Separate the calculated need from the supplier order. An aggregate length estimate is not a verified cutting layout.</a:t>
            </a:r>
            <a:endParaRPr lang="en-US" sz="1800" dirty="0"/>
          </a:p>
        </p:txBody>
      </p:sp>
      <p:sp>
        <p:nvSpPr>
          <p:cNvPr id="11" name="TextBox 10">
            <a:extLst>
              <a:ext uri="{FF2B5EF4-FFF2-40B4-BE49-F238E27FC236}">
                <a16:creationId xmlns:a16="http://schemas.microsoft.com/office/drawing/2014/main" id="{3F2FB17D-0485-410E-B752-EBB951159695}"/>
              </a:ext>
            </a:extLst>
          </p:cNvPr>
          <p:cNvSpPr txBox="1"/>
          <p:nvPr/>
        </p:nvSpPr>
        <p:spPr>
          <a:xfrm>
            <a:off x="609600" y="6345936"/>
            <a:ext cx="10881360" cy="228600"/>
          </a:xfrm>
          <a:prstGeom prst="rect">
            <a:avLst/>
          </a:prstGeom>
          <a:noFill/>
        </p:spPr>
        <p:txBody>
          <a:bodyPr vertOverflow="overflow" vert="horz" wrap="square" rtlCol="0" anchor="t">
            <a:spAutoFit/>
          </a:bodyPr>
          <a:lstStyle/>
          <a:p>
            <a:pPr algn="l"/>
            <a:r>
              <a:rPr lang="en-US" sz="1050">
                <a:solidFill>
                  <a:srgbClr val="4A4E54"/>
                </a:solidFill>
              </a:rPr>
              <a:t>W1 L3 • Classroom examples use new values; purchase estimate is not a cutting plan</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07</a:t>
            </a:r>
          </a:p>
        </p:txBody>
      </p:sp>
    </p:spTree>
    <p:extLst>
      <p:ext uri="{BB962C8B-B14F-4D97-AF65-F5344CB8AC3E}">
        <p14:creationId xmlns:p14="http://schemas.microsoft.com/office/powerpoint/2010/main" val="272510469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W01-L03.png"/>
          <p:cNvPicPr>
            <a:picLocks noChangeAspect="1"/>
          </p:cNvPicPr>
          <p:nvPr/>
        </p:nvPicPr>
        <p:blipFill>
          <a:blip r:embed="rId3"/>
          <a:stretch>
            <a:fillRect/>
          </a:stretch>
        </p:blipFill>
        <p:spPr>
          <a:xfrm>
            <a:off x="685800" y="2454639"/>
            <a:ext cx="10698480" cy="254308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p.20 · Example 1.13: add the values, then divide by their count.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W01-L03-2.png"/>
          <p:cNvPicPr>
            <a:picLocks noChangeAspect="1"/>
          </p:cNvPicPr>
          <p:nvPr/>
        </p:nvPicPr>
        <p:blipFill>
          <a:blip r:embed="rId3"/>
          <a:stretch>
            <a:fillRect/>
          </a:stretch>
        </p:blipFill>
        <p:spPr>
          <a:xfrm>
            <a:off x="685800" y="2052491"/>
            <a:ext cx="10698480" cy="33473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p.20 · Example 1.14: calculate need, then round the whole-box order up.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job needs 3.6 boxes. Why is ordering 3 boxes not enough?</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Three boxes provide less than the calculated need. Buy 4 whole boxes and check the quantity supplied.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1B questions 2–3. Label the number needed and the number of full supplier units separately.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1B-Q2.png"/>
          <p:cNvPicPr>
            <a:picLocks noChangeAspect="1"/>
          </p:cNvPicPr>
          <p:nvPr/>
        </p:nvPicPr>
        <p:blipFill>
          <a:blip r:embed="rId3"/>
          <a:stretch>
            <a:fillRect/>
          </a:stretch>
        </p:blipFill>
        <p:spPr>
          <a:xfrm>
            <a:off x="685800" y="2420874"/>
            <a:ext cx="10698480" cy="23180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1B-Q2.png"/>
          <p:cNvPicPr>
            <a:picLocks noChangeAspect="1"/>
          </p:cNvPicPr>
          <p:nvPr/>
        </p:nvPicPr>
        <p:blipFill>
          <a:blip r:embed="rId3"/>
          <a:stretch>
            <a:fillRect/>
          </a:stretch>
        </p:blipFill>
        <p:spPr>
          <a:xfrm>
            <a:off x="2553286" y="1783080"/>
            <a:ext cx="6963507"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1A questions 15–18 and 1B questions 4–5. Explain each operation and check the answer using multiplication or addition.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Draw the groups and label what each number counts in 1B Q2–3.</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Write the operation and units for the assigned 1A/1B questions before keying.</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Use Numeracy Hub Calculator, then verify with multiplication or addition.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1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1A Q16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1A-Q1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1A question 19 and 1B question 3 independently.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1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W01-L03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02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Cut-list practice and rounding</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02  •  2026-10-30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Cut-list practice and rounding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Solve multi-step stock problems and distinguish rounding up purchases from rounding down complete pieces.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1.4–1.8 pp.12–21; sections 2.11 p.39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1B Q1–5 (p.8); 1C Q1–2 (p.10)</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why buying boxes and cutting full pieces need different rounding decisions. Retrieve 1A Q18 (p.7).</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1A Q18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1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Account for the stock length</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List the original stock and every specified piece in the same unit.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the piece lengths to obtain the total used.</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Offcut = original stock − total used.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by adding used length and offcut to restore the original stock.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Let the question choose the rounding direction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Buying enough whole supplier units requires rounding up.</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Counting complete pieces from fixed stock requires rounding down.</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the offcut from the whole pieces actually obtained.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total-length calculation alone does not prove a cutting arrangement will fit.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W01-L04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A1A1A"/>
                </a:solidFill>
                <a:latin typeface="Arial" pitchFamily="34" charset="0"/>
                <a:ea typeface="Arial" pitchFamily="34" charset="-122"/>
                <a:cs typeface="Arial" pitchFamily="34" charset="-120"/>
              </a:rPr>
              <a:t>Account for the whole stock length</a:t>
            </a:r>
            <a:endParaRPr lang="en-US" sz="3000" dirty="0"/>
          </a:p>
        </p:txBody>
      </p:sp>
      <p:sp>
        <p:nvSpPr>
          <p:cNvPr id="5" name="Text 3"/>
          <p:cNvSpPr/>
          <p:nvPr/>
        </p:nvSpPr>
        <p:spPr>
          <a:xfrm>
            <a:off x="609585" y="1666875"/>
            <a:ext cx="10972526" cy="319980"/>
          </a:xfrm>
          <a:prstGeom prst="rect">
            <a:avLst/>
          </a:prstGeom>
          <a:noFill/>
          <a:ln/>
        </p:spPr>
        <p:txBody>
          <a:bodyPr wrap="square" lIns="0" tIns="0" rIns="0" bIns="0" rtlCol="0" anchor="t"/>
          <a:lstStyle/>
          <a:p>
            <a:pPr marL="0" indent="0" algn="l">
              <a:buNone/>
            </a:pPr>
            <a:r>
              <a:rPr lang="en-US" sz="1800" dirty="0">
                <a:solidFill>
                  <a:srgbClr val="1A1A1A"/>
                </a:solidFill>
                <a:latin typeface="Arial" pitchFamily="34" charset="0"/>
                <a:ea typeface="Arial" pitchFamily="34" charset="-122"/>
                <a:cs typeface="Arial" pitchFamily="34" charset="-120"/>
              </a:rPr>
              <a:t>Exercise Book 1B Q1: stock 6,000 mm; pieces 1,350, 980 and 2,145 mm.</a:t>
            </a:r>
            <a:endParaRPr lang="en-US" sz="1800" dirty="0"/>
          </a:p>
        </p:txBody>
      </p:sp>
      <p:sp>
        <p:nvSpPr>
          <p:cNvPr id="6" name="Text 4"/>
          <p:cNvSpPr/>
          <p:nvPr/>
        </p:nvSpPr>
        <p:spPr>
          <a:xfrm>
            <a:off x="609585" y="2333625"/>
            <a:ext cx="10972526" cy="1280071"/>
          </a:xfrm>
          <a:prstGeom prst="rect">
            <a:avLst/>
          </a:prstGeom>
          <a:noFill/>
          <a:ln/>
        </p:spPr>
        <p:txBody>
          <a:bodyPr wrap="square" lIns="0" tIns="0" rIns="0" bIns="0" rtlCol="0" anchor="t"/>
          <a:lstStyle/>
          <a:p>
            <a:pPr marL="0" indent="0" algn="l">
              <a:buNone/>
            </a:pPr>
            <a:r>
              <a:rPr lang="en-US" sz="2400" dirty="0">
                <a:solidFill>
                  <a:srgbClr val="1A1A1A"/>
                </a:solidFill>
                <a:latin typeface="Arial" pitchFamily="34" charset="0"/>
                <a:ea typeface="Arial" pitchFamily="34" charset="-122"/>
                <a:cs typeface="Arial" pitchFamily="34" charset="-120"/>
              </a:rPr>
              <a:t>Used = 1,350 + 980 + 2,145 = 4,475 mm</a:t>
            </a:r>
            <a:endParaRPr lang="en-US" sz="2400" dirty="0"/>
          </a:p>
          <a:p>
            <a:pPr marL="0" indent="0" algn="l">
              <a:buNone/>
            </a:pPr>
            <a:r>
              <a:rPr lang="en-US" sz="2400" dirty="0">
                <a:solidFill>
                  <a:srgbClr val="1A1A1A"/>
                </a:solidFill>
                <a:latin typeface="Arial" pitchFamily="34" charset="0"/>
                <a:ea typeface="Arial" pitchFamily="34" charset="-122"/>
                <a:cs typeface="Arial" pitchFamily="34" charset="-120"/>
              </a:rPr>
              <a:t>Offcut = 6,000 − 4,475 = 1,525 mm</a:t>
            </a:r>
            <a:endParaRPr lang="en-US" sz="2400" dirty="0"/>
          </a:p>
          <a:p>
            <a:pPr marL="0" indent="0" algn="l">
              <a:buNone/>
            </a:pPr>
            <a:r>
              <a:rPr lang="en-US" sz="2400" dirty="0">
                <a:solidFill>
                  <a:srgbClr val="1A1A1A"/>
                </a:solidFill>
                <a:latin typeface="Arial" pitchFamily="34" charset="0"/>
                <a:ea typeface="Arial" pitchFamily="34" charset="-122"/>
                <a:cs typeface="Arial" pitchFamily="34" charset="-120"/>
              </a:rPr>
              <a:t>Check: 4,475 + 1,525 = 6,000 mm</a:t>
            </a:r>
            <a:endParaRPr lang="en-US" sz="2400" dirty="0"/>
          </a:p>
        </p:txBody>
      </p:sp>
      <p:sp>
        <p:nvSpPr>
          <p:cNvPr id="7" name="Text 5"/>
          <p:cNvSpPr/>
          <p:nvPr/>
        </p:nvSpPr>
        <p:spPr>
          <a:xfrm>
            <a:off x="609585" y="3952875"/>
            <a:ext cx="10972526" cy="639961"/>
          </a:xfrm>
          <a:prstGeom prst="rect">
            <a:avLst/>
          </a:prstGeom>
          <a:noFill/>
          <a:ln/>
        </p:spPr>
        <p:txBody>
          <a:bodyPr wrap="square" lIns="0" tIns="0" rIns="0" bIns="0" rtlCol="0" anchor="t"/>
          <a:lstStyle/>
          <a:p>
            <a:pPr marL="0" indent="0" algn="l">
              <a:buNone/>
            </a:pPr>
            <a:r>
              <a:rPr lang="en-US" sz="1800" dirty="0">
                <a:solidFill>
                  <a:srgbClr val="1A1A1A"/>
                </a:solidFill>
                <a:latin typeface="Arial" pitchFamily="34" charset="0"/>
                <a:ea typeface="Arial" pitchFamily="34" charset="-122"/>
                <a:cs typeface="Arial" pitchFamily="34" charset="-120"/>
              </a:rPr>
              <a:t>Complete-piece example, ignoring kerf: 100 in ÷ 18 in = 5 full pieces.</a:t>
            </a:r>
            <a:endParaRPr lang="en-US" sz="1800" dirty="0"/>
          </a:p>
          <a:p>
            <a:pPr marL="0" indent="0" algn="l">
              <a:buNone/>
            </a:pPr>
            <a:r>
              <a:rPr lang="en-US" sz="1800" dirty="0">
                <a:solidFill>
                  <a:srgbClr val="1A1A1A"/>
                </a:solidFill>
                <a:latin typeface="Arial" pitchFamily="34" charset="0"/>
                <a:ea typeface="Arial" pitchFamily="34" charset="-122"/>
                <a:cs typeface="Arial" pitchFamily="34" charset="-120"/>
              </a:rPr>
              <a:t>Offcut = 100 − 5 × 18 = 10 in. A sixth full piece does not fit.</a:t>
            </a:r>
            <a:endParaRPr lang="en-US" sz="1800" dirty="0"/>
          </a:p>
        </p:txBody>
      </p:sp>
      <p:sp>
        <p:nvSpPr>
          <p:cNvPr id="8" name="Text 6"/>
          <p:cNvSpPr/>
          <p:nvPr/>
        </p:nvSpPr>
        <p:spPr>
          <a:xfrm>
            <a:off x="609585" y="5095875"/>
            <a:ext cx="10972526" cy="639961"/>
          </a:xfrm>
          <a:prstGeom prst="rect">
            <a:avLst/>
          </a:prstGeom>
          <a:noFill/>
          <a:ln/>
        </p:spPr>
        <p:txBody>
          <a:bodyPr wrap="square" lIns="0" tIns="0" rIns="0" bIns="0" rtlCol="0" anchor="t"/>
          <a:lstStyle/>
          <a:p>
            <a:pPr marL="0" indent="0" algn="l">
              <a:buNone/>
            </a:pPr>
            <a:r>
              <a:rPr lang="en-US" sz="1800" dirty="0">
                <a:solidFill>
                  <a:srgbClr val="1A1A1A"/>
                </a:solidFill>
                <a:latin typeface="Arial" pitchFamily="34" charset="0"/>
                <a:ea typeface="Arial" pitchFamily="34" charset="-122"/>
                <a:cs typeface="Arial" pitchFamily="34" charset="-120"/>
              </a:rPr>
              <a:t>Together: 1B Q2–3. Identify given quantities, choose operations and justify rounding. Add kerf only when stated; never assume a cutting layout is feasible from a total alone.</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4A4E54"/>
                </a:solidFill>
                <a:latin typeface="Arial" pitchFamily="34" charset="0"/>
                <a:ea typeface="Arial" pitchFamily="34" charset="-122"/>
                <a:cs typeface="Arial" pitchFamily="34" charset="-120"/>
              </a:rPr>
              <a:t>Math Week 1 L4 • Shape Canvas: three labelled rectangles and original stock length</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W01-L04.png"/>
          <p:cNvPicPr>
            <a:picLocks noChangeAspect="1"/>
          </p:cNvPicPr>
          <p:nvPr/>
        </p:nvPicPr>
        <p:blipFill>
          <a:blip r:embed="rId3"/>
          <a:stretch>
            <a:fillRect/>
          </a:stretch>
        </p:blipFill>
        <p:spPr>
          <a:xfrm>
            <a:off x="685800" y="1913809"/>
            <a:ext cx="10698480" cy="36247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p.14 · Example 1.6: used length and offcut account for the original stock.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W01-L04-2.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p.14 · Example 1.7: known parts and a hidden dimension.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100 in ÷ 18 in is about 5.56. Can the stock produce 6 complete 18 in pieces?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Six pieces need 108 in. Five complete pieces use 90 in, leaving 10 in, ignoring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1B Q2–3 in pairs. Mark given quantities, choose operations, and justify purchase rounding.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1B-Q2.png"/>
          <p:cNvPicPr>
            <a:picLocks noChangeAspect="1"/>
          </p:cNvPicPr>
          <p:nvPr/>
        </p:nvPicPr>
        <p:blipFill>
          <a:blip r:embed="rId3"/>
          <a:stretch>
            <a:fillRect/>
          </a:stretch>
        </p:blipFill>
        <p:spPr>
          <a:xfrm>
            <a:off x="685800" y="2420874"/>
            <a:ext cx="10698480" cy="23180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1B-Q2.png"/>
          <p:cNvPicPr>
            <a:picLocks noChangeAspect="1"/>
          </p:cNvPicPr>
          <p:nvPr/>
        </p:nvPicPr>
        <p:blipFill>
          <a:blip r:embed="rId3"/>
          <a:stretch>
            <a:fillRect/>
          </a:stretch>
        </p:blipFill>
        <p:spPr>
          <a:xfrm>
            <a:off x="2553286" y="1783080"/>
            <a:ext cx="6963507"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1B Q4–5 and 1C Q1–2. Recreate one cut-list sketch on Shape Canvas; write the equation before checking. Use extra time to correct and explain a second method.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In Shape Canvas, add three rectangles for the cut pieces and label their lengths.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Add a Text label for the original stock; write the cut-list equation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Verify the totals in Numeracy Hub Calculator and reconstruct the stock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1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1C-Q1.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Rework Exercise Book 1B Q3 and Q5 independently; explain why the two rounding directions differ.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pic>
        <p:nvPicPr>
          <p:cNvPr id="5" name="Picture 4" descr="1B-Q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W01-L04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02  •  2026-10-30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02 | 2026-10-30</dc:title>
  <dc:creator>ACCESS Trades</dc:creator>
  <cp:lastModifiedBy>Gabriel Ostrowidzki</cp:lastModifiedBy>
  <cp:revision>3</cp:revision>
  <dcterms:created xsi:type="dcterms:W3CDTF">2026-10-19T18:44:52Z</dcterms:created>
  <dcterms:modified xsi:type="dcterms:W3CDTF">2026-10-19T19:22:04Z</dcterms:modified>
  <dc:subject>Quantities, averages and word problems; Cut-list practice and rounding</dc:subject>
</cp:coreProperties>
</file>