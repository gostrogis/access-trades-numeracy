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2.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31" r:id="rId163"/>
    <p:sldId id="463" r:id="rId200"/>
    <p:sldId id="464" r:id="rId201"/>
    <p:sldId id="465" r:id="rId202"/>
    <p:sldId id="466" r:id="rId203"/>
    <p:sldId id="467" r:id="rId204"/>
    <p:sldId id="468" r:id="rId205"/>
    <p:sldId id="469" r:id="rId206"/>
    <p:sldId id="470" r:id="rId207"/>
    <p:sldId id="471" r:id="rId208"/>
    <p:sldId id="472" r:id="rId209"/>
    <p:sldId id="473" r:id="rId2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3"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8.xml"/><Relationship Id="rId180" Type="http://schemas.openxmlformats.org/officeDocument/2006/relationships/slide" Target="slides/slide9.xml"/><Relationship Id="rId181" Type="http://schemas.openxmlformats.org/officeDocument/2006/relationships/slide" Target="slides/slide10.xml"/><Relationship Id="rId182" Type="http://schemas.openxmlformats.org/officeDocument/2006/relationships/slide" Target="slides/slide11.xml"/><Relationship Id="rId183" Type="http://schemas.openxmlformats.org/officeDocument/2006/relationships/slide" Target="slides/slide12.xml"/><Relationship Id="rId184" Type="http://schemas.openxmlformats.org/officeDocument/2006/relationships/slide" Target="slides/slide13.xml"/><Relationship Id="rId185" Type="http://schemas.openxmlformats.org/officeDocument/2006/relationships/slide" Target="slides/slide14.xml"/><Relationship Id="rId186" Type="http://schemas.openxmlformats.org/officeDocument/2006/relationships/slide" Target="slides/slide15.xml"/><Relationship Id="rId187" Type="http://schemas.openxmlformats.org/officeDocument/2006/relationships/slide" Target="slides/slide16.xml"/><Relationship Id="rId188" Type="http://schemas.openxmlformats.org/officeDocument/2006/relationships/slide" Target="slides/slide17.xml"/><Relationship Id="rId189" Type="http://schemas.openxmlformats.org/officeDocument/2006/relationships/slide" Target="slides/slide18.xml"/><Relationship Id="rId190" Type="http://schemas.openxmlformats.org/officeDocument/2006/relationships/slide" Target="slides/slide19.xml"/><Relationship Id="rId191" Type="http://schemas.openxmlformats.org/officeDocument/2006/relationships/slide" Target="slides/slide20.xml"/><Relationship Id="rId192" Type="http://schemas.openxmlformats.org/officeDocument/2006/relationships/slide" Target="slides/slide21.xml"/><Relationship Id="rId193" Type="http://schemas.openxmlformats.org/officeDocument/2006/relationships/slide" Target="slides/slide22.xml"/><Relationship Id="rId194" Type="http://schemas.openxmlformats.org/officeDocument/2006/relationships/slide" Target="slides/slide23.xml"/><Relationship Id="rId195" Type="http://schemas.openxmlformats.org/officeDocument/2006/relationships/slide" Target="slides/slide24.xml"/><Relationship Id="rId196" Type="http://schemas.openxmlformats.org/officeDocument/2006/relationships/slide" Target="slides/slide25.xml"/><Relationship Id="rId197" Type="http://schemas.openxmlformats.org/officeDocument/2006/relationships/slide" Target="slides/slide26.xml"/><Relationship Id="rId198" Type="http://schemas.openxmlformats.org/officeDocument/2006/relationships/slide" Target="slides/slide27.xml"/><Relationship Id="rId199" Type="http://schemas.openxmlformats.org/officeDocument/2006/relationships/slide" Target="slides/slide28.xml"/><Relationship Id="rId200" Type="http://schemas.openxmlformats.org/officeDocument/2006/relationships/slide" Target="slides/slide30.xml"/><Relationship Id="rId201" Type="http://schemas.openxmlformats.org/officeDocument/2006/relationships/slide" Target="slides/slide31.xml"/><Relationship Id="rId202" Type="http://schemas.openxmlformats.org/officeDocument/2006/relationships/slide" Target="slides/slide32.xml"/><Relationship Id="rId203" Type="http://schemas.openxmlformats.org/officeDocument/2006/relationships/slide" Target="slides/slide33.xml"/><Relationship Id="rId204" Type="http://schemas.openxmlformats.org/officeDocument/2006/relationships/slide" Target="slides/slide34.xml"/><Relationship Id="rId205" Type="http://schemas.openxmlformats.org/officeDocument/2006/relationships/slide" Target="slides/slide35.xml"/><Relationship Id="rId206" Type="http://schemas.openxmlformats.org/officeDocument/2006/relationships/slide" Target="slides/slide36.xml"/><Relationship Id="rId207" Type="http://schemas.openxmlformats.org/officeDocument/2006/relationships/slide" Target="slides/slide37.xml"/><Relationship Id="rId208" Type="http://schemas.openxmlformats.org/officeDocument/2006/relationships/slide" Target="slides/slide38.xml"/><Relationship Id="rId209" Type="http://schemas.openxmlformats.org/officeDocument/2006/relationships/slide" Target="slides/slide39.xml"/><Relationship Id="rId210"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Worked teaching example retained from original slide 162. Use within the scheduled Teach block.</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deck uses only this date’s math blocks from the current visible Carpentry Schedule and Math Week sheets.</a:t>
            </a:r>
          </a:p>
          <a:p>
            <a:r>
              <a:t>'Carpentry Schedule'!D76 | 'Math Week 8'!A54</a:t>
            </a:r>
          </a:p>
          <a:p>
            <a:r>
              <a:t>'Carpentry Schedule'!D78 | 'Math Week 8'!A71</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Start, 9:00 AM–9:05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Recall, 9:05 AM–9:10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Teach, 9:10 AM–9:15 AM. All slides with this phase share these 5 minutes; do not restart the time allocation for each slide.</a:t>
            </a:r>
          </a:p>
          <a:p/>
          <a:p>
            <a:r>
              <a:t>Teaching content sources:</a:t>
            </a:r>
          </a:p>
          <a:p>
            <a:r>
              <a:t>schedule_math_audit.json: 'Math Week 8'!A54</a:t>
            </a:r>
          </a:p>
          <a:p>
            <a:r>
              <a:t>schedule_math_audit.json: 'Math Week 8'!B56; 'Math Week 8'!B57; 'Math Week 8'!B58</a:t>
            </a:r>
          </a:p>
          <a:p>
            <a:r>
              <a:t>schedule_math_audit.json: 'Math Week 8'!A61:F61, 'Math Week 8'!A62:F62, 'Math Week 8'!A63:F63, 'Math Week 8'!A64:F64, 'Math Week 8'!A65:F65</a:t>
            </a:r>
          </a:p>
          <a:p>
            <a:r>
              <a:t>source_deck_audit.json: ACCESS CARPENTRY SLIDES.pptx slides 158, 159, 160</a:t>
            </a:r>
          </a:p>
          <a:p>
            <a:r>
              <a:t>Textbook formula sheet p.219; conversion factors pp.220–221 permitted for this proposed formative check</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Teach, 9:10 AM–9:15 AM. All slides with this phase share these 5 minutes; do not restart the time allocation for each slide.</a:t>
            </a:r>
          </a:p>
          <a:p/>
          <a:p>
            <a:r>
              <a:t>Teaching content sources:</a:t>
            </a:r>
          </a:p>
          <a:p>
            <a:r>
              <a:t>schedule_math_audit.json: 'Math Week 8'!A54</a:t>
            </a:r>
          </a:p>
          <a:p>
            <a:r>
              <a:t>schedule_math_audit.json: 'Math Week 8'!B56; 'Math Week 8'!B57; 'Math Week 8'!B58</a:t>
            </a:r>
          </a:p>
          <a:p>
            <a:r>
              <a:t>schedule_math_audit.json: 'Math Week 8'!A61:F61, 'Math Week 8'!A62:F62, 'Math Week 8'!A63:F63, 'Math Week 8'!A64:F64, 'Math Week 8'!A65:F65</a:t>
            </a:r>
          </a:p>
          <a:p>
            <a:r>
              <a:t>source_deck_audit.json: ACCESS CARPENTRY SLIDES.pptx slides 158, 159, 160</a:t>
            </a:r>
          </a:p>
          <a:p>
            <a:r>
              <a:t>Textbook formula sheet p.219; conversion factors pp.220–221 permitted for this proposed formative check</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Teach, 9:10 AM–9:15 AM. All slides with this phase share these 5 minutes; do not restart the time allocation for each slide.</a:t>
            </a:r>
          </a:p>
          <a:p/>
          <a:p>
            <a:r>
              <a:t>Unscored different-number response example from original source slide159. This is not one of the twelve readiness items. Fits the scheduled 9:10–9:15 Teach step.</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Directions, 9:15 AM–9:20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4A-Q14a</a:t>
            </a:r>
          </a:p>
          <a:p>
            <a:r>
              <a:t>Exact question: Add. (a)   5/16 +  3/4</a:t>
            </a:r>
          </a:p>
          <a:p>
            <a:r>
              <a:t>Instructor answer: (a)  1 1/16</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5A-Q12first</a:t>
            </a:r>
          </a:p>
          <a:p>
            <a:r>
              <a:t>Exact question: Change  7/8 to a decimal.</a:t>
            </a:r>
          </a:p>
          <a:p>
            <a:r>
              <a:t>Instructor answer: 0.875</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6B-Q2</a:t>
            </a:r>
          </a:p>
          <a:p>
            <a:r>
              <a:t>Exact question: A fabrication job needs 18 sheets of 4 ft × 8 ft plate. Add a 15% allowance and round up to whole sheets.</a:t>
            </a:r>
          </a:p>
          <a:p>
            <a:r>
              <a:t>Instructor answer: 21 sheets (20.7 rounded up)</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6A-Q19</a:t>
            </a:r>
          </a:p>
          <a:p>
            <a:r>
              <a:t>Exact question: At a scale of 1 : 40, a line measures 85 mm. How long is the real length?</a:t>
            </a:r>
          </a:p>
          <a:p>
            <a:r>
              <a:t>Instructor answer: 3,400 mm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7A-Q11</a:t>
            </a:r>
          </a:p>
          <a:p>
            <a:r>
              <a:t>Exact question: Convert 5/8 in to mm.</a:t>
            </a:r>
          </a:p>
          <a:p>
            <a:r>
              <a:t>Instructor answer: 15.875 mm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8C-Q1</a:t>
            </a:r>
          </a:p>
          <a:p>
            <a:r>
              <a:t>Exact question: The rectangle has an area of 4,800 cm². Find the width.</a:t>
            </a:r>
          </a:p>
          <a:p>
            <a:r>
              <a:t>Instructor answer: 60 cm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9A-Q1</a:t>
            </a:r>
          </a:p>
          <a:p>
            <a:r>
              <a:t>Exact question: Find the perimeter of a rectangle 2,400 mm by 1,150 mm.</a:t>
            </a:r>
          </a:p>
          <a:p>
            <a:r>
              <a:t>Instructor answer: 7,100 mm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10B-Q11</a:t>
            </a:r>
          </a:p>
          <a:p>
            <a:r>
              <a:t>Exact question: A 300 mm by 200 mm access hole is cut in a 1,200 mm by 800 mm cover plate. Find the area of plate left in mm² and in m².</a:t>
            </a:r>
          </a:p>
          <a:p>
            <a:r>
              <a:t>Instructor answer: 900,000 mm² = 0.9 m²</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11A-Q7</a:t>
            </a:r>
          </a:p>
          <a:p>
            <a:r>
              <a:t>Exact question: Box 700 mm by 400 mm by 250 mm. Find the volume in m³.</a:t>
            </a:r>
          </a:p>
          <a:p>
            <a:r>
              <a:t>Instructor answer: 0.07 m³</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12A-Q10</a:t>
            </a:r>
          </a:p>
          <a:p>
            <a:r>
              <a:t>Exact question: Legs of 700 mm and 2,400 mm. Find the hypotenuse.</a:t>
            </a:r>
          </a:p>
          <a:p>
            <a:r>
              <a:t>Instructor answer: 2,500 mm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13A-Q6</a:t>
            </a:r>
          </a:p>
          <a:p>
            <a:r>
              <a:t>Exact question: Adjacent 900 mm, angle 24°. Find the opposite side to two decimal places.</a:t>
            </a:r>
          </a:p>
          <a:p>
            <a:r>
              <a:t>Instructor answer: 400.71 mm</a:t>
            </a:r>
          </a:p>
          <a:p>
            <a:r>
              <a:t>Working: 900 × tan 24°</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Independent check, 9:20 AM–10:00 AM. All slides with this phase share these 40 minutes; do not restart the time allocation for each slide.</a:t>
            </a:r>
          </a:p>
          <a:p/>
          <a:p>
            <a:r>
              <a:t>ACCESS EXERCISE BOOK: 13A-Q14</a:t>
            </a:r>
          </a:p>
          <a:p>
            <a:r>
              <a:t>Exact question: A slope rises 120 mm over a run of 6,000 mm. Find the percent grade and the angle to two decimal places.</a:t>
            </a:r>
          </a:p>
          <a:p>
            <a:r>
              <a:t>Instructor answer: Grade 2%, angle 1.15°</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Collect &amp; reflect, 10:00 AM–10:10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W08-L03 | 2026-12-16 | 9:00 AM–10:15 AM | 75 minutes</a:t>
            </a:r>
          </a:p>
          <a:p>
            <a:r>
              <a:t>Readiness check: 12 core questions</a:t>
            </a:r>
          </a:p>
          <a:p>
            <a:r>
              <a:t>Mode: Math Review</a:t>
            </a:r>
          </a:p>
          <a:p>
            <a:r>
              <a:t>Goal: Demonstrate independent calculation, units, working and checking across the core course skills.</a:t>
            </a:r>
          </a:p>
          <a:p>
            <a:r>
              <a:t>Read: Textbook formula sheet p.219; conversion factors pp.220–221 permitted for this proposed formative check</a:t>
            </a:r>
          </a:p>
          <a:p>
            <a:r>
              <a:t>Practise: Set in order: 4A Q14(a) p.26; 5A Q12 first value p.33; 6B Q2 p.41; 6A Q19 p.40; 7A Q11 p.45; 8C Q1 p.55; 9A Q1 p.57; 10B Q11 p.66; 11A Q7 p.69; 12A Q10 p.76; 13A Q6,14 p.82.</a:t>
            </a:r>
          </a:p>
          <a:p>
            <a:r>
              <a:t>Tool: Use the book questions on paper with the chosen calculator. Numeracy Hub worked answers and Shape Canvas answer displays stay closed during the independent check.</a:t>
            </a:r>
          </a:p>
          <a:p/>
          <a:p>
            <a:r>
              <a:t>EXACT SCHEDULED STEPS</a:t>
            </a:r>
          </a:p>
          <a:p>
            <a:r>
              <a:t>9:00 AM–9:05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8'!A60:F60</a:t>
            </a:r>
          </a:p>
          <a:p/>
          <a:p>
            <a:r>
              <a:t>9:05 AM–9:10 AM | 2 Recall | 5 min</a:t>
            </a:r>
          </a:p>
          <a:p>
            <a:r>
              <a:t>Instructor: Confirm access needs, calculator model and permitted formula/conversion sheets. Explain this is not an official KPU entry exam or pass standard.</a:t>
            </a:r>
          </a:p>
          <a:p>
            <a:r>
              <a:t>Learners: Review previous feedback and attempt the retrieval prompt without displayed solutions.</a:t>
            </a:r>
          </a:p>
          <a:p>
            <a:r>
              <a:t>Materials/check: Identify support needs</a:t>
            </a:r>
          </a:p>
          <a:p>
            <a:r>
              <a:t>Source: 'Math Week 8'!A61:F61</a:t>
            </a:r>
          </a:p>
          <a:p/>
          <a:p>
            <a:r>
              <a:t>9:10 AM–9:15 AM | 3 Teach | 5 min</a:t>
            </a:r>
          </a:p>
          <a:p>
            <a:r>
              <a:t>Instructor: Show the required response format using a different worked example: diagram where useful, formula, units, calculation and final check.</a:t>
            </a:r>
          </a:p>
          <a:p>
            <a:r>
              <a:t>Learners: Annotate the example or response expectations; ask about unclear steps.</a:t>
            </a:r>
          </a:p>
          <a:p>
            <a:r>
              <a:t>Materials/check: Textbook; worked example</a:t>
            </a:r>
          </a:p>
          <a:p>
            <a:r>
              <a:t>Source: 'Math Week 8'!A62:F62</a:t>
            </a:r>
          </a:p>
          <a:p/>
          <a:p>
            <a:r>
              <a:t>9:15 AM–9:20 AM | 4 Directions | 5 min</a:t>
            </a:r>
          </a:p>
          <a:p>
            <a:r>
              <a:t>Instructor: Clarify directions and rounding without solving any scored item. Learners set up a numbered 1–12 response page.</a:t>
            </a:r>
          </a:p>
          <a:p>
            <a:r>
              <a:t>Learners: Set up a numbered response page. Clarify directions only; do not work with a partner on test items.</a:t>
            </a:r>
          </a:p>
          <a:p>
            <a:r>
              <a:t>Materials/check: Paper; permitted reference sheets</a:t>
            </a:r>
          </a:p>
          <a:p>
            <a:r>
              <a:t>Source: 'Math Week 8'!A63:F63</a:t>
            </a:r>
          </a:p>
          <a:p/>
          <a:p>
            <a:r>
              <a:t>9:20 AM–10:00 AM | 5 Independent check | 40 min</a:t>
            </a:r>
          </a:p>
          <a:p>
            <a:r>
              <a:t>Instructor: Complete the twelve listed questions independently in 40 minutes. Ask learners to attempt all core items; record help separately. If a skill was deferred, mark it not yet taught rather than assigning a false readiness judgement.</a:t>
            </a:r>
          </a:p>
          <a:p>
            <a:r>
              <a:t>Learners: Keep numbered written solutions and units. Use tools only under the conditions stated for this block.</a:t>
            </a:r>
          </a:p>
          <a:p>
            <a:r>
              <a:t>Materials/check: No worked answers or tool hints</a:t>
            </a:r>
          </a:p>
          <a:p>
            <a:r>
              <a:t>Source: 'Math Week 8'!A64:F64</a:t>
            </a:r>
          </a:p>
          <a:p/>
          <a:p>
            <a:r>
              <a:t>10:00 AM–10:10 AM | 6 Collect &amp; reflect | 10 min</a:t>
            </a:r>
          </a:p>
          <a:p>
            <a:r>
              <a:t>Instructor: Collect work and have learners self-identify two uncertain items. Use the key below to tag concept, operation, calculator and units errors.</a:t>
            </a:r>
          </a:p>
          <a:p>
            <a:r>
              <a:t>Learners: Submit work and demonstrate the checking strategy; identify a remaining difficulty.</a:t>
            </a:r>
          </a:p>
          <a:p>
            <a:r>
              <a:t>Materials/check: Teacher answers below</a:t>
            </a:r>
          </a:p>
          <a:p>
            <a:r>
              <a:t>Source: 'Math Week 8'!A65:F65</a:t>
            </a:r>
          </a:p>
          <a:p/>
          <a:p>
            <a:r>
              <a:t>10:10 AM–10:15 AM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8'!A66:F66</a:t>
            </a:r>
          </a:p>
          <a:p/>
          <a:p>
            <a:r>
              <a:t>INSTRUCTOR ONLY: REVEAL ASSESSMENT ANSWERS AFTER THE ATTEMPT</a:t>
            </a:r>
          </a:p>
          <a:p>
            <a:r>
              <a:t>In set order: 1 1/16; 0.875; 21 sheets; 3,400 mm; 15.875 mm; 60 cm; 7,100 mm; 900,000 mm² = 0.9 m²; 0.07 m³; 2,500 mm; 400.71 mm; 2% and 1.15°. Compare the listed Answer Key pages. Answer Key pp.13,16,19,21,24,26,28,30,32,34</a:t>
            </a:r>
          </a:p>
          <a:p/>
          <a:p>
            <a:r>
              <a:t>Use results for feedback and reteaching in the next scheduled block. No institutional pass mark is assumed.</a:t>
            </a:r>
          </a:p>
          <a:p/>
          <a:p>
            <a:r>
              <a:t>Sources: 'Math Week 8'!A12:E12; 'Carpentry Schedule'!D76; 'Math Week 8'!A54</a:t>
            </a:r>
          </a:p>
          <a:p>
            <a:r>
              <a:t>Navigation/resource slides support these scheduled steps and do not add instructional time.</a:t>
            </a:r>
          </a:p>
          <a:p>
            <a:r>
              <a:t>SLIDE PLACEMENT: Wrap up, 10:10 AM–10:15 AM. All slides with this phase share these 5 minutes; do not restart the time allocation for each slide.</a:t>
            </a:r>
          </a:p>
          <a:p/>
          <a:p>
            <a:r>
              <a:t>Next scheduled learning: Use results for feedback and reteaching in the next scheduled block. No institutional pass mark is assumed.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Scheduled break, 15 minutes. Resume at 10:30 AM. Do not move the following math block into the break.</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Start, 10:30 AM–10:35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Recall, 10:35 AM–10:40 AM. All slides with this phase share these 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schedule_math_audit.json: 'Math Week 8'!A71</a:t>
            </a:r>
          </a:p>
          <a:p>
            <a:r>
              <a:t>schedule_math_audit.json: 'Math Week 8'!B73; 'Math Week 8'!B74; 'Math Week 8'!B75</a:t>
            </a:r>
          </a:p>
          <a:p>
            <a:r>
              <a:t>schedule_math_audit.json: 'Math Week 8'!A78:F78, 'Math Week 8'!A79:F79, 'Math Week 8'!A80:F80, 'Math Week 8'!A81:F81, 'Math Week 8'!A82:F82</a:t>
            </a:r>
          </a:p>
          <a:p>
            <a:r>
              <a:t>source_deck_audit.json: ACCESS CARPENTRY SLIDES.pptx slides 161, 162, 163</a:t>
            </a:r>
          </a:p>
          <a:p>
            <a:r>
              <a:t>Textbook relevant chapters from readiness errors; formula sheet p.219; glossary pp.222–225</a:t>
            </a:r>
          </a:p>
          <a:p>
            <a:r>
              <a:t>ACCESS-Trades-Numeracy-Textbook.pdf printed/PDF p.66; selected visual verified in actual PDF text and rendered page</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Teaching content sources:</a:t>
            </a:r>
          </a:p>
          <a:p>
            <a:r>
              <a:t>schedule_math_audit.json: 'Math Week 8'!A71</a:t>
            </a:r>
          </a:p>
          <a:p>
            <a:r>
              <a:t>schedule_math_audit.json: 'Math Week 8'!B73; 'Math Week 8'!B74; 'Math Week 8'!B75</a:t>
            </a:r>
          </a:p>
          <a:p>
            <a:r>
              <a:t>schedule_math_audit.json: 'Math Week 8'!A78:F78, 'Math Week 8'!A79:F79, 'Math Week 8'!A80:F80, 'Math Week 8'!A81:F81, 'Math Week 8'!A82:F82</a:t>
            </a:r>
          </a:p>
          <a:p>
            <a:r>
              <a:t>source_deck_audit.json: ACCESS CARPENTRY SLIDES.pptx slides 161, 162, 163</a:t>
            </a:r>
          </a:p>
          <a:p>
            <a:r>
              <a:t>Textbook relevant chapters from readiness errors; formula sheet p.219; glossary pp.222–225</a:t>
            </a:r>
          </a:p>
          <a:p>
            <a:r>
              <a:t>ACCESS-Trades-Numeracy-Textbook.pdf printed/PDF p.66; selected visual verified in actual PDF text and rendered page</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Use for a fraction priority: regrouping and an offcut diagram.</a:t>
            </a:r>
          </a:p>
          <a:p>
            <a:r>
              <a:t>Exact PDF/printed page: 66. Excerpt reproduced from the supplied ACCESS Textbook.</a:t>
            </a:r>
          </a:p>
          <a:p>
            <a:r>
              <a:t>Example 4.10 and Check by adding: a visual bar/offcut example for regrouping and verification. Use only if the actual readiness errors call for fraction correction; otherwise choose a visual in the relevant chapter for the two selected errors.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Teach, 10:40 AM–10:55 AM. All slides with this phase share these 15 minutes; do not restart the time allocation for each slide.</a:t>
            </a:r>
          </a:p>
          <a:p/>
          <a:p>
            <a:r>
              <a:t>Textbook visual: Use for a fraction priority: verify subtraction by adding back.</a:t>
            </a:r>
          </a:p>
          <a:p>
            <a:r>
              <a:t>Exact PDF/printed page: 66. Excerpt reproduced from the supplied ACCESS Textbook.</a:t>
            </a:r>
          </a:p>
          <a:p>
            <a:r>
              <a:t>Example 4.10 and Check by adding: a visual bar/offcut example for regrouping and verification. Use only if the actual readiness errors call for fraction correction; otherwise choose a visual in the relevant chapter for the two selected errors.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Teach, 10:40 AM–10:55 AM. All slides with this phase share these 15 minutes; do not restart the time allocation for each slide.</a:t>
            </a:r>
          </a:p>
          <a:p/>
          <a:p>
            <a:r>
              <a:t>Pause on the prompt before discussing the correction. This is included within the scheduled Teach block, not an additional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Together, 10:55 AM–11:10 AM. All slides with this phase share these 15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Practise, 11:10 AM–11:45 AM. All slides with this phase share these 35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Live-tool screenshot, not an answer to the scheduled task. Open the resource link and follow the exact values in the assignment. Keep worked answers hidden until learners attempt the task. Screenshot illustrates navigation and occupies time within the same scheduled practice phase.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Exact scheduled tool activity: Numeracy Hub: Exam builder: select only taught weak topics; Easy; 5 questions; worked answers off. Retain code and use worked answers after the attempt. Shape Canvas: rebuild one missed diagram.</a:t>
            </a:r>
          </a:p>
          <a:p>
            <a:r>
              <a:t>After the written attempt, use Shape Canvas to rebuild one missed diagram and connect its labels to the corrected method and units.</a:t>
            </a:r>
          </a:p>
          <a:p>
            <a:r>
              <a:t>If appropriate during the scheduled practice, create a Numeracy Hub Exam builder set with only taught weak topics: Easy, 5 questions, worked answers off. Retain its code and written attempts.</a:t>
            </a:r>
          </a:p>
          <a:p>
            <a:r>
              <a:t>Reveal worked answers only after the attempt to support corrections. Keep the code, corrected work and the two-skill plan with exact book pages and tool modules.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4A-Q15b</a:t>
            </a:r>
          </a:p>
          <a:p>
            <a:r>
              <a:t>Exact question: Subtract. (b)  9 1/8 − 4 3/4</a:t>
            </a:r>
          </a:p>
          <a:p>
            <a:r>
              <a:t>Instructor answer: (b)  4 3/8</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Practise, 11:10 AM–11:45 AM. All slides with this phase share these 35 minutes; do not restart the time allocation for each slide.</a:t>
            </a:r>
          </a:p>
          <a:p/>
          <a:p>
            <a:r>
              <a:t>ACCESS EXERCISE BOOK: 7A-Q12</a:t>
            </a:r>
          </a:p>
          <a:p>
            <a:r>
              <a:t>Exact question: Convert 2 1/4 in to mm.</a:t>
            </a:r>
          </a:p>
          <a:p>
            <a:r>
              <a:t>Instructor answer: 57.15 mm</a:t>
            </a:r>
          </a:p>
          <a:p>
            <a:r>
              <a:t>Working: </a:t>
            </a:r>
          </a:p>
          <a:p>
            <a:r>
              <a:t>The projected item is part of the full scheduled assignment shown in this block. All other assigned questions remain in the Exercise Book.</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Check, 11:45 AM–11:55 AM. All slides with this phase share these 10 minutes; do not restart the time allocation for each slide.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W08-L04 | 2026-12-16 | 10:30 AM–12:00 PM | 90 minutes</a:t>
            </a:r>
          </a:p>
          <a:p>
            <a:r>
              <a:t>Corrections and a personal practice plan</a:t>
            </a:r>
          </a:p>
          <a:p>
            <a:r>
              <a:t>Mode: Math Review</a:t>
            </a:r>
          </a:p>
          <a:p>
            <a:r>
              <a:t>Goal: Correct a demonstrated error, solve a fresh problem of the same type and plan continued practice.</a:t>
            </a:r>
          </a:p>
          <a:p>
            <a:r>
              <a:t>Read: Textbook relevant chapters from readiness errors; formula sheet p.219; glossary pp.222–225</a:t>
            </a:r>
          </a:p>
          <a:p>
            <a:r>
              <a:t>Practise: Choose missed types from the readiness set. Fresh checks: 4A Q15(b) p.26; 7A Q12 p.45; 10A Q6 p.63; 12A Q12 p.76; 13A Q10 p.82.</a:t>
            </a:r>
          </a:p>
          <a:p>
            <a:r>
              <a:t>Tool: Numeracy Hub: Exam builder: select only taught weak topics; Easy; 5 questions; worked answers off. Retain code and use worked answers after the attempt. Shape Canvas: rebuild one missed diagram.</a:t>
            </a:r>
          </a:p>
          <a:p/>
          <a:p>
            <a:r>
              <a:t>EXACT SCHEDULED STEPS</a:t>
            </a:r>
          </a:p>
          <a:p>
            <a:r>
              <a:t>10:30 AM–10:35 AM | 1 Start | 5 min</a:t>
            </a:r>
          </a:p>
          <a:p>
            <a:r>
              <a:t>Instructor: State the objective and connect this block to the previous work. Confirm the role of paper working and tool checking.</a:t>
            </a:r>
          </a:p>
          <a:p>
            <a:r>
              <a:t>Learners: Identify one target skill and the checking habit to use today.</a:t>
            </a:r>
          </a:p>
          <a:p>
            <a:r>
              <a:t>Materials/check: Notebook; calculator</a:t>
            </a:r>
          </a:p>
          <a:p>
            <a:r>
              <a:t>Source: 'Math Week 8'!A77:F77</a:t>
            </a:r>
          </a:p>
          <a:p/>
          <a:p>
            <a:r>
              <a:t>10:35 AM–10:40 AM | 2 Recall | 5 min</a:t>
            </a:r>
          </a:p>
          <a:p>
            <a:r>
              <a:t>Instructor: Return the readiness work privately; ask each learner to choose two errors to understand rather than only counting a score.</a:t>
            </a:r>
          </a:p>
          <a:p>
            <a:r>
              <a:t>Learners: Review previous feedback and attempt the retrieval prompt without displayed solutions.</a:t>
            </a:r>
          </a:p>
          <a:p>
            <a:r>
              <a:t>Materials/check: Identify support needs</a:t>
            </a:r>
          </a:p>
          <a:p>
            <a:r>
              <a:t>Source: 'Math Week 8'!A78:F78</a:t>
            </a:r>
          </a:p>
          <a:p/>
          <a:p>
            <a:r>
              <a:t>10:40 AM–10:55 AM | 3 Teach | 15 min</a:t>
            </a:r>
          </a:p>
          <a:p>
            <a:r>
              <a:t>Instructor: Reteach the two most common methods using different numbers. Model how to write a correction explaining why the first method failed.</a:t>
            </a:r>
          </a:p>
          <a:p>
            <a:r>
              <a:t>Learners: Annotate the example or response expectations; ask about unclear steps.</a:t>
            </a:r>
          </a:p>
          <a:p>
            <a:r>
              <a:t>Materials/check: Textbook; worked example</a:t>
            </a:r>
          </a:p>
          <a:p>
            <a:r>
              <a:t>Source: 'Math Week 8'!A79:F79</a:t>
            </a:r>
          </a:p>
          <a:p/>
          <a:p>
            <a:r>
              <a:t>10:55 AM–11:10 AM | 4 Together | 15 min</a:t>
            </a:r>
          </a:p>
          <a:p>
            <a:r>
              <a:t>Instructor: Learners pair-check one correction while the instructor supports the highest-need group. Require a diagram and units where relevant.</a:t>
            </a:r>
          </a:p>
          <a:p>
            <a:r>
              <a:t>Learners: Explain the method and check directions; work with a partner only where permitted.</a:t>
            </a:r>
          </a:p>
          <a:p>
            <a:r>
              <a:t>Materials/check: Exercise Book; tool above</a:t>
            </a:r>
          </a:p>
          <a:p>
            <a:r>
              <a:t>Source: 'Math Week 8'!A80:F80</a:t>
            </a:r>
          </a:p>
          <a:p/>
          <a:p>
            <a:r>
              <a:t>11:10 AM–11:45 AM | 5 Practise | 35 min</a:t>
            </a:r>
          </a:p>
          <a:p>
            <a:r>
              <a:t>Instructor: Correct missed items, then solve fresh checks matching the same skills. Create a five-question Numeracy Hub set if appropriate; keep its code. Write a personal plan naming two skills, book pages and tool modules for continued study.</a:t>
            </a:r>
          </a:p>
          <a:p>
            <a:r>
              <a:t>Learners: Keep numbered written solutions and units. Use tools only under the conditions stated for this block.</a:t>
            </a:r>
          </a:p>
          <a:p>
            <a:r>
              <a:t>Materials/check: Paper first; tool second</a:t>
            </a:r>
          </a:p>
          <a:p>
            <a:r>
              <a:t>Source: 'Math Week 8'!A81:F81</a:t>
            </a:r>
          </a:p>
          <a:p/>
          <a:p>
            <a:r>
              <a:t>11:45 AM–11:55 AM | 6 Check | 10 min</a:t>
            </a:r>
          </a:p>
          <a:p>
            <a:r>
              <a:t>Instructor: Independently complete one fresh question in each priority skill and explain the checking strategy.</a:t>
            </a:r>
          </a:p>
          <a:p>
            <a:r>
              <a:t>Learners: Submit work and demonstrate the checking strategy; identify a remaining difficulty.</a:t>
            </a:r>
          </a:p>
          <a:p>
            <a:r>
              <a:t>Materials/check: Teacher answers below</a:t>
            </a:r>
          </a:p>
          <a:p>
            <a:r>
              <a:t>Source: 'Math Week 8'!A82:F82</a:t>
            </a:r>
          </a:p>
          <a:p/>
          <a:p>
            <a:r>
              <a:t>11:55 AM–12:00 PM | 7 Wrap up | 5 min</a:t>
            </a:r>
          </a:p>
          <a:p>
            <a:r>
              <a:t>Instructor: Ask what improved, what needs another attempt and which resource will support the next step.</a:t>
            </a:r>
          </a:p>
          <a:p>
            <a:r>
              <a:t>Learners: Name the math and another essential skill used; record a concrete follow-up action.</a:t>
            </a:r>
          </a:p>
          <a:p>
            <a:r>
              <a:t>Materials/check: Notebook / error log</a:t>
            </a:r>
          </a:p>
          <a:p>
            <a:r>
              <a:t>Source: 'Math Week 8'!A83:F83</a:t>
            </a:r>
          </a:p>
          <a:p/>
          <a:p>
            <a:r>
              <a:t>INSTRUCTOR ONLY: REVEAL ASSESSMENT ANSWERS AFTER THE ATTEMPT</a:t>
            </a:r>
          </a:p>
          <a:p>
            <a:r>
              <a:t>Fresh checks in order: 4 3/8; 57.15 mm; 2.56 m²; 1,500 mm; 23.63°. Answer Key pp.13,21,28,32,34. Generated questions use their own saved-code worked answers. Answer Key pp.13,21,28,32,34</a:t>
            </a:r>
          </a:p>
          <a:p/>
          <a:p>
            <a:r>
              <a:t>Learner leaves with corrected work and a specific practice plan. Keep subsequent graduation and school-prep schedule activities unchanged.</a:t>
            </a:r>
          </a:p>
          <a:p/>
          <a:p>
            <a:r>
              <a:t>Sources: 'Math Week 8'!A13:E13; 'Carpentry Schedule'!D78; 'Math Week 8'!A71</a:t>
            </a:r>
          </a:p>
          <a:p>
            <a:r>
              <a:t>Navigation/resource slides support these scheduled steps and do not add instructional time.</a:t>
            </a:r>
          </a:p>
          <a:p>
            <a:r>
              <a:t>SLIDE PLACEMENT: Wrap up, 11:55 AM–12:00 PM. All slides with this phase share these 5 minutes; do not restart the time allocation for each slide.</a:t>
            </a:r>
          </a:p>
          <a:p/>
          <a:p>
            <a:r>
              <a:t>Next scheduled learning: Learner leaves with corrected work and a specific practice plan. Keep subsequent graduation and school-prep schedule activities unchanged.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8.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32"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4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39"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4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5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57"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8.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6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69"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7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81"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8.png"/><Relationship Id="rId4" Type="http://schemas.openxmlformats.org/officeDocument/2006/relationships/hyperlink" Target="../Resources/ACCESS-Tools/books/ACCESS-Trades-Numeracy-Textbook.pdf" TargetMode="External"/><Relationship Id="rId5" Type="http://schemas.openxmlformats.org/officeDocument/2006/relationships/hyperlink" Target="../Resources/ACCESS-Tools/books/ACCESS-Trades-Numeracy-Exercise-Book.pdf"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hyperlink" Target="../Resources/ACCESS-Tools/books/ACCESS-Trades-Numeracy-Textbook.pdf#page=66" TargetMode="External"/><Relationship Id="rId6" Type="http://schemas.openxmlformats.org/officeDocument/2006/relationships/hyperlink" Target="../Resources/ACCESS-Tools/books/ACCESS-Trades-Numeracy-Exercise-Book.pdf#page=2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Resources/ACCESS-Tools/books/ACCESS-Trades-Numeracy-Textbook.pdf#page=66" TargetMode="External"/><Relationship Id="rId6" Type="http://schemas.openxmlformats.org/officeDocument/2006/relationships/hyperlink" Target="../Resources/ACCESS-Tools/books/ACCESS-Trades-Numeracy-Exercise-Book.pdf#page=2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26"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2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hyperlink" Target="../Resources/ACCESS-Tools/books/ACCESS-Trades-Numeracy-Textbook.pdf#page=219" TargetMode="External"/><Relationship Id="rId6" Type="http://schemas.openxmlformats.org/officeDocument/2006/relationships/hyperlink" Target="../Resources/ACCESS-Tools/books/ACCESS-Trades-Numeracy-Exercise-Book.pdf#page=45" TargetMode="External"/><Relationship Id="rId7" Type="http://schemas.openxmlformats.org/officeDocument/2006/relationships/hyperlink" Target="../Resources/ACCESS-Tools/numeracy-hub/index.html" TargetMode="External"/><Relationship Id="rId8" Type="http://schemas.openxmlformats.org/officeDocument/2006/relationships/hyperlink" Target="../Resources/ACCESS-Tools/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8.png"/><Relationship Id="rId4" Type="http://schemas.openxmlformats.org/officeDocument/2006/relationships/hyperlink" Target="../Resources/ACCESS-Tools/books/ACCESS-Trades-Numeracy-Textbook.pdf#page=219" TargetMode="External"/><Relationship Id="rId5" Type="http://schemas.openxmlformats.org/officeDocument/2006/relationships/hyperlink" Target="../Resources/ACCESS-Tools/books/ACCESS-Trades-Numeracy-Exercise-Book.pdf#page=26" TargetMode="External"/><Relationship Id="rId6" Type="http://schemas.openxmlformats.org/officeDocument/2006/relationships/hyperlink" Target="../Resources/ACCESS-Tools/numeracy-hub/index.html" TargetMode="External"/><Relationship Id="rId7" Type="http://schemas.openxmlformats.org/officeDocument/2006/relationships/hyperlink" Target="../Resources/ACCESS-Tools/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ACCESS  /  CARPENTRY FOUNDATION  /  INTAKE 141</a:t>
            </a:r>
          </a:p>
        </p:txBody>
      </p:sp>
      <p:sp>
        <p:nvSpPr>
          <p:cNvPr id="3" name="TextBox 2"/>
          <p:cNvSpPr txBox="1"/>
          <p:nvPr/>
        </p:nvSpPr>
        <p:spPr>
          <a:xfrm>
            <a:off x="612648" y="1143000"/>
            <a:ext cx="10789920" cy="64008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t>Day 26  |  Wednesday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t>December 16,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Readiness check: 12 core questions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9:00 AM–10:15 AM  •  Math Review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t>Corrections and a personal practice plan</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t>10:30 AM–12:00 PM  •  Math Review  •  90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t>Week 8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5" name="TextBox 14"/>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6" name="TextBox 15"/>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7" name="TextBox 16"/>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8" name="TextBox 17"/>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26  •  2026-12-16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t>DAY 26  /  WEEK 8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9:00 AM–10:15 AM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Readiness check: 12 core questions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9:00 AM–9:05 AM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9:05 AM–9:10 AM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9:10 AM–9:15 AM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9:15 AM–9:20 AM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Directions</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9:20 AM–10:00 AM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Independent check</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40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10:00 AM–10:10 AM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Collect &amp; reflect</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10:10 AM–10:15 AM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Review  •  Math Week 8,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a:t>10:30 AM–12:00 PM  •  90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a:t>Corrections and a personal practice plan</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10:30 AM–10:35 AM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10:35 AM–10:40 AM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10:40 AM–10:55 AM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10:55 AM–11:10 AM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11:10 AM–11:45 AM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35</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11:45 AM–11:55 AM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11:55 AM–12:00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t>Math Review  •  Math Week 8,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56" name="TextBox 5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57" name="TextBox 5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58" name="TextBox 5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59" name="TextBox 5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START  •  9:00 AM–9:05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check: 12 core questions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Demonstrate independent calculation, units, working and checking across the core course skills.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Identify one target skill and the checking habit to use today.</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formula sheet p.219; conversion factors pp.220–221 permitted for this proposed formative check</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Set in order: 4A Q14(a) p.26; 5A Q12 first value p.33; 6B Q2 p.41; 6A Q19 p.40; 7A Q11 p.45; 8C Q1 p.55; 9A Q1 p.57; 10B Q11 p.66; 11A Q7 p.69; 12A Q10 p.76; 13A Q6,14 p.82.</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RECALL  •  9:05 AM–9:10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Confirm access needs, calculator model and permitted formula/conversion sheets. Explain this is not an official KPU entry exam or pass standard.</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TEACH  •  9:10 AM–9:15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Set up the independent response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Prepare a numbered 1–12 response page in the exact order of the listed book questions.</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For each response, retain a diagram where useful, the formula, units, calculation and final check.</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the scheduled five-minute response example to see this format; it is a different example, not a scored item.</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During Directions, clarify wording and rounding only. Do not solve readiness items together.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TEACH  •  9:10 AM–9:15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Keep the readiness attempt independent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the chosen calculator, Textbook formula sheet p.219 and conversion factors pp.220–221 under the stated conditions.</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Keep Numeracy Hub worked answers and Shape Canvas answer displays closed; do not use tool hints or partner solutions.</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Attempt all taught core items in the scheduled independent period. Any assistance is recorded separately; deferred skills are marked not yet taught.</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Submit your working and identify two uncertain items during Collect &amp; reflect. This is formative feedback, not an official KPU entry exam or institutional pass standard.</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TEACH  •  9:10 AM–9:15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Unscored example: show a complete response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Rectangle 4"/>
          <p:cNvSpPr/>
          <p:nvPr/>
        </p:nvSpPr>
        <p:spPr>
          <a:xfrm>
            <a:off x="1005840" y="2194560"/>
            <a:ext cx="3840480" cy="2560320"/>
          </a:xfrm>
          <a:prstGeom prst="rect">
            <a:avLst/>
          </a:prstGeom>
          <a:solidFill>
            <a:srgbClr val="FFEBB2"/>
          </a:solidFill>
          <a:ln>
            <a:solidFill>
              <a:srgbClr val="C600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4892040"/>
            <a:ext cx="1554480" cy="36576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3 m</a:t>
            </a:r>
          </a:p>
        </p:txBody>
      </p:sp>
      <p:sp>
        <p:nvSpPr>
          <p:cNvPr id="7" name="TextBox 6"/>
          <p:cNvSpPr txBox="1"/>
          <p:nvPr/>
        </p:nvSpPr>
        <p:spPr>
          <a:xfrm>
            <a:off x="5074920" y="3200400"/>
            <a:ext cx="914400" cy="36576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2 m</a:t>
            </a:r>
          </a:p>
        </p:txBody>
      </p:sp>
      <p:sp>
        <p:nvSpPr>
          <p:cNvPr id="8" name="TextBox 7"/>
          <p:cNvSpPr txBox="1"/>
          <p:nvPr/>
        </p:nvSpPr>
        <p:spPr>
          <a:xfrm>
            <a:off x="6400800" y="2194560"/>
            <a:ext cx="4754880" cy="128016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a:t>P = 2 × (3 + 2)</a:t>
            </a:r>
          </a:p>
          <a:p>
            <a:pPr>
              <a:spcBef>
                <a:spcPts val="0"/>
              </a:spcBef>
              <a:spcAft>
                <a:spcPts val="300"/>
              </a:spcAft>
              <a:defRPr sz="2700" b="1">
                <a:solidFill>
                  <a:srgbClr val="1A1A1A"/>
                </a:solidFill>
                <a:latin typeface="Arial"/>
              </a:defRPr>
            </a:pPr>
            <a:r>
              <a:rPr/>
              <a:t>P = 10 m</a:t>
            </a:r>
          </a:p>
        </p:txBody>
      </p:sp>
      <p:sp>
        <p:nvSpPr>
          <p:cNvPr id="9" name="TextBox 8"/>
          <p:cNvSpPr txBox="1"/>
          <p:nvPr/>
        </p:nvSpPr>
        <p:spPr>
          <a:xfrm>
            <a:off x="6400800" y="3840480"/>
            <a:ext cx="4754880" cy="109728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t>Check: 3 + 2 + 3 + 2 = 10 m</a:t>
            </a:r>
          </a:p>
        </p:txBody>
      </p:sp>
      <p:sp>
        <p:nvSpPr>
          <p:cNvPr id="10" name="TextBox 9"/>
          <p:cNvSpPr txBox="1"/>
          <p:nvPr/>
        </p:nvSpPr>
        <p:spPr>
          <a:xfrm>
            <a:off x="685800" y="5669280"/>
            <a:ext cx="10515600" cy="36576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a:t>Record a labelled sketch, formula, substitution, answer, units and check.</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DIRECTIONS  •  9:15 AM–9:20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Directions for the readiness check</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Clarify directions and rounding without solving any scored item. Learners set up a numbered 1–12 response page.</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Set up a numbered response page. Clarify directions only; do not work with a partner on test items.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Independent readiness check</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Complete the twelve listed questions independently in 40 minutes. Try to attempt all core items; record help separately. If a skill was deferred, mark it not yet taught rather than assigning a false readiness judgement.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1 of 12  |  4A Q14a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2 of 12  |  5A Q12 — first value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5A-Q12first.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3 of 12  |  6B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6B-Q2.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4 of 12  |  6A Q19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6A-Q1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5 of 12  |  7A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7A-Q1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6 of 12  |  8C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8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7 of 12  |  9A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9A-Q1.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8 of 12  |  10B Q11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10B-Q11.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9 of 12  |  11A Q7</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11A-Q7.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10 of 12  |  12A Q10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12A-Q10.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11 of 12  |  13A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13A-Q6.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INDEPENDENT CHECK  •  9:20 AM–10:00 AM  •  40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Readiness question 12 of 12  |  13A Q14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pic>
        <p:nvPicPr>
          <p:cNvPr id="5" name="Picture 4" descr="13A-Q1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Independent readiness check. Record all working on your numbered response page.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COLLECT &amp; REFLECT  •  10:00 AM–10:10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Collect and reflect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Submit your work and identify two items you were uncertain about. Describe whether the difficulty involved the concept, operation, calculator entry or units.</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W08-L03  •  WRAP UP  •  10:10 AM–10:15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formula sheet p.219; conversion factors pp.220–221 permitted for this proposed formative check</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Set in order: 4A Q14(a) p.26; 5A Q12 first value p.33; 6B Q2 p.41; 6A Q19 p.40; 7A Q11 p.45; 8C Q1 p.55; 9A Q1 p.57; 10B Q11 p.66; 11A Q7 p.69; 12A Q10 p.76; 13A Q6,14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t>DAY 26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t>10:15 AM–10:30 AM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t>Return ready for: Corrections and a personal practice plan</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t>Day 26  •  2026-12-16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START  •  10:30 AM–10:35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Corrections and a personal practice plan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a:t>Today’s goal: Correct a demonstrated error, solve a fresh problem of the same type and plan continued practice.</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Identify one target skill and the checking habit to use today.</a:t>
            </a:r>
          </a:p>
        </p:txBody>
      </p:sp>
      <p:sp>
        <p:nvSpPr>
          <p:cNvPr id="7" name="Rectangle 6"/>
          <p:cNvSpPr/>
          <p:nvPr/>
        </p:nvSpPr>
        <p:spPr>
          <a:xfrm>
            <a:off x="612648" y="4114800"/>
            <a:ext cx="10927080" cy="137160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t>Textbook relevant chapters from readiness errors; formula sheet p.219; glossary pp.222–225</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t>Choose missed types from the readiness set. Fresh checks: 4A Q15(b) p.26; 7A Q12 p.45; 10A Q6 p.63; 12A Q12 p.76; 13A Q10 p.82.</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t>Keep your notebook, assigned ACCESS books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RECALL  •  10:35 AM–10:40 AM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Return the readiness work privately; ask each learner to choose two errors to understand rather than only counting a score.</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Review previous feedback and attempt the retrieval prompt without displayed solutions.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Explain the step that failed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your private readiness feedback to choose two errors to understand, rather than only counting a score.</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Keep the correction record in order: original method → why it failed → corrected working → independent retry.</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Use the relevant Textbook chapter, formula sheet p.219 and glossary pp.222–225 to make the explanation precise.</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Include a diagram and units where relevant. Pair-check one correction, then use the scheduled fresh checks to show the method independently.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Match the fresh attempt to the repaired skill</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Rectangle 4"/>
          <p:cNvSpPr/>
          <p:nvPr/>
        </p:nvSpPr>
        <p:spPr>
          <a:xfrm>
            <a:off x="640080" y="190195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1</a:t>
            </a:r>
          </a:p>
        </p:txBody>
      </p:sp>
      <p:sp>
        <p:nvSpPr>
          <p:cNvPr id="6" name="TextBox 5"/>
          <p:cNvSpPr txBox="1"/>
          <p:nvPr/>
        </p:nvSpPr>
        <p:spPr>
          <a:xfrm>
            <a:off x="1188720" y="187451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Choose from the listed fresh checks according to the skills shown by your readiness errors; they are not a new requirement to complete every topic.</a:t>
            </a:r>
          </a:p>
        </p:txBody>
      </p:sp>
      <p:sp>
        <p:nvSpPr>
          <p:cNvPr id="7" name="Rectangle 6"/>
          <p:cNvSpPr/>
          <p:nvPr/>
        </p:nvSpPr>
        <p:spPr>
          <a:xfrm>
            <a:off x="640080" y="286207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2</a:t>
            </a:r>
          </a:p>
        </p:txBody>
      </p:sp>
      <p:sp>
        <p:nvSpPr>
          <p:cNvPr id="8" name="TextBox 7"/>
          <p:cNvSpPr txBox="1"/>
          <p:nvPr/>
        </p:nvSpPr>
        <p:spPr>
          <a:xfrm>
            <a:off x="1188720" y="283463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 fresh problem of the same type tests the method without relying on a remembered answer.</a:t>
            </a:r>
          </a:p>
        </p:txBody>
      </p:sp>
      <p:sp>
        <p:nvSpPr>
          <p:cNvPr id="9" name="Rectangle 8"/>
          <p:cNvSpPr/>
          <p:nvPr/>
        </p:nvSpPr>
        <p:spPr>
          <a:xfrm>
            <a:off x="640080" y="3822191"/>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3</a:t>
            </a:r>
          </a:p>
        </p:txBody>
      </p:sp>
      <p:sp>
        <p:nvSpPr>
          <p:cNvPr id="10" name="TextBox 9"/>
          <p:cNvSpPr txBox="1"/>
          <p:nvPr/>
        </p:nvSpPr>
        <p:spPr>
          <a:xfrm>
            <a:off x="1188720" y="379475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If the five-question Hub set is used, select only taught weak topics and keep worked answers off until after the attempt.</a:t>
            </a:r>
          </a:p>
        </p:txBody>
      </p:sp>
      <p:sp>
        <p:nvSpPr>
          <p:cNvPr id="11" name="Rectangle 10"/>
          <p:cNvSpPr/>
          <p:nvPr/>
        </p:nvSpPr>
        <p:spPr>
          <a:xfrm>
            <a:off x="640080" y="4782312"/>
            <a:ext cx="329184" cy="329184"/>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a:t>4</a:t>
            </a:r>
          </a:p>
        </p:txBody>
      </p:sp>
      <p:sp>
        <p:nvSpPr>
          <p:cNvPr id="12" name="TextBox 11"/>
          <p:cNvSpPr txBox="1"/>
          <p:nvPr/>
        </p:nvSpPr>
        <p:spPr>
          <a:xfrm>
            <a:off x="1188720" y="4754879"/>
            <a:ext cx="10058400" cy="77724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Your practice plan names two skills, exact book pages, tool modules and a concrete next practice step.</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6" name="TextBox 15"/>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7" name="TextBox 16"/>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8" name="TextBox 17"/>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9" name="TextBox 18"/>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CA"/>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t>W08-L04  •  TEACH  •  10:40 AM–10:55 AM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181818"/>
                </a:solidFill>
                <a:latin typeface="Arial" pitchFamily="34" charset="0"/>
                <a:ea typeface="Arial" pitchFamily="34" charset="-122"/>
                <a:cs typeface="Arial" pitchFamily="34" charset="-120"/>
              </a:rPr>
              <a:t>Explain why the first method failed</a:t>
            </a:r>
            <a:endParaRPr lang="en-US" sz="3000" dirty="0"/>
          </a:p>
        </p:txBody>
      </p:sp>
      <p:sp>
        <p:nvSpPr>
          <p:cNvPr id="5" name="Text 3"/>
          <p:cNvSpPr/>
          <p:nvPr/>
        </p:nvSpPr>
        <p:spPr>
          <a:xfrm>
            <a:off x="609585" y="1666875"/>
            <a:ext cx="10972526" cy="959941"/>
          </a:xfrm>
          <a:prstGeom prst="rect">
            <a:avLst/>
          </a:prstGeom>
          <a:noFill/>
          <a:ln/>
        </p:spPr>
        <p:txBody>
          <a:bodyPr wrap="square" lIns="0" tIns="0" rIns="0" bIns="0" rtlCol="0" anchor="t"/>
          <a:lstStyle/>
          <a:p>
            <a:pPr marL="0" indent="0" algn="l">
              <a:buNone/>
            </a:pPr>
            <a:r>
              <a:rPr lang="en-US" sz="1800" dirty="0">
                <a:solidFill>
                  <a:srgbClr val="181818"/>
                </a:solidFill>
                <a:latin typeface="Arial" pitchFamily="34" charset="0"/>
                <a:ea typeface="Arial" pitchFamily="34" charset="-122"/>
                <a:cs typeface="Arial" pitchFamily="34" charset="-120"/>
              </a:rPr>
              <a:t>Possible demonstration A • Regroup before subtraction.</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5 1/4 − 2 3/8 = 4 10/8 − 2 3/8 = 2 7/8.</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Check: 2 7/8 + 2 3/8 = 5 1/4. Explain why the whole was regrouped.</a:t>
            </a:r>
            <a:endParaRPr lang="en-US" sz="1800" dirty="0"/>
          </a:p>
        </p:txBody>
      </p:sp>
      <p:sp>
        <p:nvSpPr>
          <p:cNvPr id="6" name="Text 4"/>
          <p:cNvSpPr/>
          <p:nvPr/>
        </p:nvSpPr>
        <p:spPr>
          <a:xfrm>
            <a:off x="609585" y="3095625"/>
            <a:ext cx="10972526" cy="959941"/>
          </a:xfrm>
          <a:prstGeom prst="rect">
            <a:avLst/>
          </a:prstGeom>
          <a:noFill/>
          <a:ln/>
        </p:spPr>
        <p:txBody>
          <a:bodyPr wrap="square" lIns="0" tIns="0" rIns="0" bIns="0" rtlCol="0" anchor="t"/>
          <a:lstStyle/>
          <a:p>
            <a:pPr marL="0" indent="0" algn="l">
              <a:buNone/>
            </a:pPr>
            <a:r>
              <a:rPr lang="en-US" sz="1800" dirty="0">
                <a:solidFill>
                  <a:srgbClr val="181818"/>
                </a:solidFill>
                <a:latin typeface="Arial" pitchFamily="34" charset="0"/>
                <a:ea typeface="Arial" pitchFamily="34" charset="-122"/>
                <a:cs typeface="Arial" pitchFamily="34" charset="-120"/>
              </a:rPr>
              <a:t>Possible demonstration B • Convert the entire mixed number.</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1 3/4 in = 1.75 in; 1.75 × 25.4 = 44.45 mm.</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Check: 44.45 ÷ 25.4 = 1.75 in—not 1.34 in.</a:t>
            </a:r>
            <a:endParaRPr lang="en-US" sz="1800" dirty="0"/>
          </a:p>
        </p:txBody>
      </p:sp>
      <p:sp>
        <p:nvSpPr>
          <p:cNvPr id="7" name="Text 5"/>
          <p:cNvSpPr/>
          <p:nvPr/>
        </p:nvSpPr>
        <p:spPr>
          <a:xfrm>
            <a:off x="609585" y="4572000"/>
            <a:ext cx="10972526" cy="959941"/>
          </a:xfrm>
          <a:prstGeom prst="rect">
            <a:avLst/>
          </a:prstGeom>
          <a:noFill/>
          <a:ln/>
        </p:spPr>
        <p:txBody>
          <a:bodyPr wrap="square" lIns="0" tIns="0" rIns="0" bIns="0" rtlCol="0" anchor="t"/>
          <a:lstStyle/>
          <a:p>
            <a:pPr marL="0" indent="0" algn="l">
              <a:buNone/>
            </a:pPr>
            <a:r>
              <a:rPr lang="en-US" sz="1800" dirty="0">
                <a:solidFill>
                  <a:srgbClr val="181818"/>
                </a:solidFill>
                <a:latin typeface="Arial" pitchFamily="34" charset="0"/>
                <a:ea typeface="Arial" pitchFamily="34" charset="-122"/>
                <a:cs typeface="Arial" pitchFamily="34" charset="-120"/>
              </a:rPr>
              <a:t>Instructor • Choose the two most common actual errors; use different numbers.</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Together • Pair-check one correction while the instructor supports</a:t>
            </a:r>
            <a:endParaRPr lang="en-US" sz="1800" dirty="0"/>
          </a:p>
          <a:p>
            <a:pPr marL="0" indent="0" algn="l">
              <a:buNone/>
            </a:pPr>
            <a:r>
              <a:rPr lang="en-US" sz="1800" dirty="0">
                <a:solidFill>
                  <a:srgbClr val="181818"/>
                </a:solidFill>
                <a:latin typeface="Arial" pitchFamily="34" charset="0"/>
                <a:ea typeface="Arial" pitchFamily="34" charset="-122"/>
                <a:cs typeface="Arial" pitchFamily="34" charset="-120"/>
              </a:rPr>
              <a:t>the highest-need group. Require a diagram and units where relevant.</a:t>
            </a:r>
            <a:endParaRPr lang="en-US" sz="1800" dirty="0"/>
          </a:p>
        </p:txBody>
      </p:sp>
      <p:sp>
        <p:nvSpPr>
          <p:cNvPr id="8" name="Text 6"/>
          <p:cNvSpPr/>
          <p:nvPr/>
        </p:nvSpPr>
        <p:spPr>
          <a:xfrm>
            <a:off x="609585" y="5810250"/>
            <a:ext cx="10972526" cy="266700"/>
          </a:xfrm>
          <a:prstGeom prst="rect">
            <a:avLst/>
          </a:prstGeom>
          <a:noFill/>
          <a:ln/>
        </p:spPr>
        <p:txBody>
          <a:bodyPr wrap="square" lIns="0" tIns="0" rIns="0" bIns="0" rtlCol="0" anchor="t"/>
          <a:lstStyle/>
          <a:p>
            <a:pPr marL="0" indent="0" algn="l">
              <a:buNone/>
            </a:pPr>
            <a:r>
              <a:rPr lang="en-US" sz="1500" dirty="0">
                <a:solidFill>
                  <a:srgbClr val="181818"/>
                </a:solidFill>
                <a:latin typeface="Arial" pitchFamily="34" charset="0"/>
                <a:ea typeface="Arial" pitchFamily="34" charset="-122"/>
                <a:cs typeface="Arial" pitchFamily="34" charset="-120"/>
              </a:rPr>
              <a:t>These are fresh classroom demonstrations, not the independent retry questions.</a:t>
            </a:r>
            <a:endParaRPr lang="en-US" sz="15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181818"/>
                </a:solidFill>
                <a:latin typeface="Arial" pitchFamily="34" charset="0"/>
                <a:ea typeface="Arial" pitchFamily="34" charset="-122"/>
                <a:cs typeface="Arial" pitchFamily="34" charset="-120"/>
              </a:rPr>
              <a:t>Relevant Textbook chapters selected from readiness errors • Explain the change, do not copy an answer</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3" name="TextBox 12"/>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4" name="TextBox 13"/>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5" name="TextBox 14"/>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6" name="TextBox 15"/>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29</a:t>
            </a:r>
          </a:p>
        </p:txBody>
      </p:sp>
    </p:spTree>
    <p:extLst>
      <p:ext uri="{BB962C8B-B14F-4D97-AF65-F5344CB8AC3E}">
        <p14:creationId xmlns:p14="http://schemas.microsoft.com/office/powerpoint/2010/main" val="3364405679"/>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66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pic>
        <p:nvPicPr>
          <p:cNvPr id="5" name="Picture 4" descr="W08-L04-1.png"/>
          <p:cNvPicPr>
            <a:picLocks noChangeAspect="1"/>
          </p:cNvPicPr>
          <p:nvPr/>
        </p:nvPicPr>
        <p:blipFill>
          <a:blip r:embed="rId3"/>
          <a:stretch>
            <a:fillRect/>
          </a:stretch>
        </p:blipFill>
        <p:spPr>
          <a:xfrm>
            <a:off x="685800" y="1950106"/>
            <a:ext cx="10698480" cy="355214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Use for a fraction priority: regrouping and an offcut diagram.</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ACCESS Textbook  |  page 66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pic>
        <p:nvPicPr>
          <p:cNvPr id="5" name="Picture 4" descr="W08-L04-2.png"/>
          <p:cNvPicPr>
            <a:picLocks noChangeAspect="1"/>
          </p:cNvPicPr>
          <p:nvPr/>
        </p:nvPicPr>
        <p:blipFill>
          <a:blip r:embed="rId3"/>
          <a:stretch>
            <a:fillRect/>
          </a:stretch>
        </p:blipFill>
        <p:spPr>
          <a:xfrm>
            <a:off x="685800" y="3034183"/>
            <a:ext cx="10698480" cy="138399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t>Use for a fraction priority: verify subtraction by adding back.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TEACH  •  10:40 AM–10:55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t>A correction replaces the wrong result with the answer-key result and says “I understand.” What evidence is missing?</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a:t>Explain why the original method failed, retain corrected working, and complete a fresh question in the priority skill independently with a checking strategy. The new attempt provides evidence that the method has improved.</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1" name="TextBox 10"/>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2" name="TextBox 11"/>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3" name="TextBox 12"/>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4" name="TextBox 13"/>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TOGETHER  •  10:55 AM–11:10 AM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Learners pair-check one correction while the instructor supports the highest-need group. Require a diagram and units where relevant.</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Explain the method and check directions; work with a partner only where permitted.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100" b="0">
                <a:solidFill>
                  <a:srgbClr val="1A1A1A"/>
                </a:solidFill>
                <a:latin typeface="Arial"/>
              </a:defRPr>
            </a:pPr>
            <a:r>
              <a:rPr/>
              <a:t>Correct missed items, then solve fresh checks matching the same skills. Create a five-question Numeracy Hub set if appropriate; keep its code. Write a personal plan naming two skills, book pages and tool modules for continued study.</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Keep numbered written solutions and units. Use tools only under the conditions stated for this block.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Open the ACCESS tool for this activity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pic>
        <p:nvPicPr>
          <p:cNvPr id="5" name="Picture 4" descr="hub-exa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Your tool activity: try, compare and record</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t>After the written attempt, use Shape Canvas to rebuild one missed diagram and connect its labels to the corrected method and units.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000" b="0">
                <a:solidFill>
                  <a:srgbClr val="1A1A1A"/>
                </a:solidFill>
                <a:latin typeface="Arial"/>
              </a:defRPr>
            </a:pPr>
            <a:r>
              <a:rPr/>
              <a:t>If appropriate during the scheduled practice, create a Numeracy Hub Exam builder set with only taught weak topics: Easy, 5 questions, worked answers off. Retain its code and written attempts.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000" b="0">
                <a:solidFill>
                  <a:srgbClr val="1A1A1A"/>
                </a:solidFill>
                <a:latin typeface="Arial"/>
              </a:defRPr>
            </a:pPr>
            <a:r>
              <a:rPr/>
              <a:t>Reveal worked answers only after the attempt to support corrections. Keep the code, corrected work and the two-skill plan with exact book pages and tool modules.</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4" name="TextBox 13"/>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5" name="TextBox 14"/>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6" name="TextBox 15"/>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7" name="TextBox 16"/>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4A Q15b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pic>
        <p:nvPicPr>
          <p:cNvPr id="5" name="Picture 4" descr="4A-Q15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Choose only fresh questions matching your two priority skills.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PRACTISE  •  11:10 AM–11:45 AM  •  35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Practise from the Exercise Book  |  7A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pic>
        <p:nvPicPr>
          <p:cNvPr id="5" name="Picture 4" descr="7A-Q1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t>Choose only fresh questions matching your two priority skills.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Textbook</a:t>
            </a:r>
          </a:p>
        </p:txBody>
      </p:sp>
      <p:sp>
        <p:nvSpPr>
          <p:cNvPr id="10" name="TextBox 9"/>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Exercise Book</a:t>
            </a:r>
          </a:p>
        </p:txBody>
      </p:sp>
      <p:sp>
        <p:nvSpPr>
          <p:cNvPr id="11" name="TextBox 10"/>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Numeracy Hub</a:t>
            </a:r>
          </a:p>
        </p:txBody>
      </p:sp>
      <p:sp>
        <p:nvSpPr>
          <p:cNvPr id="12" name="TextBox 11"/>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8"/>
              </a:rPr>
              <a:t>Shape Canvas</a:t>
            </a:r>
          </a:p>
        </p:txBody>
      </p:sp>
      <p:sp>
        <p:nvSpPr>
          <p:cNvPr id="13" name="TextBox 12"/>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CHECK  •  11:45 AM–11:55 AM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Independently complete one fresh question in each priority skill and explain the checking strategy.</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Submit work and demonstrate the checking strategy; identify a remaining difficulty.</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t>W08-L04  •  WRAP UP  •  11:55 AM–12:00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t>Textbook relevant chapters from readiness errors; formula sheet p.219; glossary pp.222–225</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t>Identify what improved, what needs another attempt and which resource will support the next step.</a:t>
            </a:r>
          </a:p>
        </p:txBody>
      </p:sp>
      <p:sp>
        <p:nvSpPr>
          <p:cNvPr id="6" name="Rectangle 5"/>
          <p:cNvSpPr/>
          <p:nvPr/>
        </p:nvSpPr>
        <p:spPr>
          <a:xfrm>
            <a:off x="612648" y="4251960"/>
            <a:ext cx="10927080" cy="1280160"/>
          </a:xfrm>
          <a:prstGeom prst="rect">
            <a:avLst/>
          </a:prstGeom>
          <a:solidFill>
            <a:srgbClr val="F4F5F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a:t>Name the math and another essential skill used; record a concrete follow-up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t>Resources: Choose missed types from the readiness set. Fresh checks: 4A Q15(b) p.26; 7A Q12 p.45; 10A Q6 p.63; 12A Q12 p.76; 13A Q10 p.82.</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01968"/>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56832"/>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4"/>
              </a:rPr>
              <a:t>Textbook</a:t>
            </a:r>
          </a:p>
        </p:txBody>
      </p:sp>
      <p:sp>
        <p:nvSpPr>
          <p:cNvPr id="12" name="TextBox 11"/>
          <p:cNvSpPr txBox="1"/>
          <p:nvPr/>
        </p:nvSpPr>
        <p:spPr>
          <a:xfrm>
            <a:off x="1691640" y="6656832"/>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5"/>
              </a:rPr>
              <a:t>Exercise Book</a:t>
            </a:r>
          </a:p>
        </p:txBody>
      </p:sp>
      <p:sp>
        <p:nvSpPr>
          <p:cNvPr id="13" name="TextBox 12"/>
          <p:cNvSpPr txBox="1"/>
          <p:nvPr/>
        </p:nvSpPr>
        <p:spPr>
          <a:xfrm>
            <a:off x="3136392" y="6656832"/>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6"/>
              </a:rPr>
              <a:t>Numeracy Hub</a:t>
            </a:r>
          </a:p>
        </p:txBody>
      </p:sp>
      <p:sp>
        <p:nvSpPr>
          <p:cNvPr id="14" name="TextBox 13"/>
          <p:cNvSpPr txBox="1"/>
          <p:nvPr/>
        </p:nvSpPr>
        <p:spPr>
          <a:xfrm>
            <a:off x="4736592" y="6656832"/>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a:hlinkClick r:id="rId7"/>
              </a:rPr>
              <a:t>Shape Canvas</a:t>
            </a:r>
          </a:p>
        </p:txBody>
      </p:sp>
      <p:sp>
        <p:nvSpPr>
          <p:cNvPr id="15" name="TextBox 14"/>
          <p:cNvSpPr txBox="1"/>
          <p:nvPr/>
        </p:nvSpPr>
        <p:spPr>
          <a:xfrm>
            <a:off x="8412480" y="6656832"/>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a:t>Day 26  •  2026-12-16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19960</Words>
  <Application>Microsoft Office PowerPoint</Application>
  <PresentationFormat>Widescreen</PresentationFormat>
  <Paragraphs>2040</Paragraphs>
  <Slides>165</Slides>
  <Notes>165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165</vt:i4>
      </vt:variant>
    </vt:vector>
  </HeadingPairs>
  <TitlesOfParts>
    <vt:vector size="16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Carpentry Math | Full Day 26 | 2026-12-16</dc:title>
  <dc:creator>ACCESS Trades</dc:creator>
  <cp:lastModifiedBy>Gabriel Ostrowidzki</cp:lastModifiedBy>
  <cp:revision>3</cp:revision>
  <dcterms:created xsi:type="dcterms:W3CDTF">2026-10-19T18:44:52Z</dcterms:created>
  <dcterms:modified xsi:type="dcterms:W3CDTF">2026-10-19T19:22:04Z</dcterms:modified>
  <dc:subject>Readiness check: 12 core questions; Corrections and a personal practice plan</dc:subject>
</cp:coreProperties>
</file>