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2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462" r:id="rId199"/>
    <p:sldId id="431" r:id="rId163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3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8.xml"/><Relationship Id="rId180" Type="http://schemas.openxmlformats.org/officeDocument/2006/relationships/slide" Target="slides/slide9.xml"/><Relationship Id="rId181" Type="http://schemas.openxmlformats.org/officeDocument/2006/relationships/slide" Target="slides/slide10.xml"/><Relationship Id="rId182" Type="http://schemas.openxmlformats.org/officeDocument/2006/relationships/slide" Target="slides/slide11.xml"/><Relationship Id="rId183" Type="http://schemas.openxmlformats.org/officeDocument/2006/relationships/slide" Target="slides/slide12.xml"/><Relationship Id="rId184" Type="http://schemas.openxmlformats.org/officeDocument/2006/relationships/slide" Target="slides/slide13.xml"/><Relationship Id="rId185" Type="http://schemas.openxmlformats.org/officeDocument/2006/relationships/slide" Target="slides/slide14.xml"/><Relationship Id="rId186" Type="http://schemas.openxmlformats.org/officeDocument/2006/relationships/slide" Target="slides/slide15.xml"/><Relationship Id="rId187" Type="http://schemas.openxmlformats.org/officeDocument/2006/relationships/slide" Target="slides/slide16.xml"/><Relationship Id="rId188" Type="http://schemas.openxmlformats.org/officeDocument/2006/relationships/slide" Target="slides/slide17.xml"/><Relationship Id="rId189" Type="http://schemas.openxmlformats.org/officeDocument/2006/relationships/slide" Target="slides/slide18.xml"/><Relationship Id="rId190" Type="http://schemas.openxmlformats.org/officeDocument/2006/relationships/slide" Target="slides/slide19.xml"/><Relationship Id="rId191" Type="http://schemas.openxmlformats.org/officeDocument/2006/relationships/slide" Target="slides/slide20.xml"/><Relationship Id="rId192" Type="http://schemas.openxmlformats.org/officeDocument/2006/relationships/slide" Target="slides/slide21.xml"/><Relationship Id="rId193" Type="http://schemas.openxmlformats.org/officeDocument/2006/relationships/slide" Target="slides/slide22.xml"/><Relationship Id="rId194" Type="http://schemas.openxmlformats.org/officeDocument/2006/relationships/slide" Target="slides/slide23.xml"/><Relationship Id="rId195" Type="http://schemas.openxmlformats.org/officeDocument/2006/relationships/slide" Target="slides/slide24.xml"/><Relationship Id="rId196" Type="http://schemas.openxmlformats.org/officeDocument/2006/relationships/slide" Target="slides/slide25.xml"/><Relationship Id="rId197" Type="http://schemas.openxmlformats.org/officeDocument/2006/relationships/slide" Target="slides/slide26.xml"/><Relationship Id="rId198" Type="http://schemas.openxmlformats.org/officeDocument/2006/relationships/slide" Target="slides/slide27.xml"/><Relationship Id="rId199" Type="http://schemas.openxmlformats.org/officeDocument/2006/relationships/slide" Target="slides/slide28.xml"/><Relationship Id="rId200" Type="http://schemas.openxmlformats.org/officeDocument/2006/relationships/slide" Target="slides/slide30.xml"/><Relationship Id="rId201" Type="http://schemas.openxmlformats.org/officeDocument/2006/relationships/slide" Target="slides/slide31.xml"/><Relationship Id="rId202" Type="http://schemas.openxmlformats.org/officeDocument/2006/relationships/slide" Target="slides/slide32.xml"/><Relationship Id="rId203" Type="http://schemas.openxmlformats.org/officeDocument/2006/relationships/slide" Target="slides/slide33.xml"/><Relationship Id="rId204" Type="http://schemas.openxmlformats.org/officeDocument/2006/relationships/slide" Target="slides/slide34.xml"/><Relationship Id="rId205" Type="http://schemas.openxmlformats.org/officeDocument/2006/relationships/slide" Target="slides/slide35.xml"/><Relationship Id="rId206" Type="http://schemas.openxmlformats.org/officeDocument/2006/relationships/slide" Target="slides/slide36.xml"/><Relationship Id="rId207" Type="http://schemas.openxmlformats.org/officeDocument/2006/relationships/slide" Target="slides/slide37.xml"/><Relationship Id="rId208" Type="http://schemas.openxmlformats.org/officeDocument/2006/relationships/slide" Target="slides/slide38.xml"/><Relationship Id="rId209" Type="http://schemas.openxmlformats.org/officeDocument/2006/relationships/slide" Target="slides/slide39.xml"/><Relationship Id="rId210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AM–9:15 AM. All slides with this phase share these 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formula sheet p.219; conversion factors pp.220–221 permitted for this proposed formative 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AM–9:15 AM. All slides with this phase share these 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formula sheet p.219; conversion factors pp.220–221 permitted for this proposed formative 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AM–9:15 AM. All slides with this phase share these 5 minutes; do not restart the time allocation for each slide.</a:t>
            </a:r>
          </a:p>
          <a:p/>
          <a:p>
            <a:r>
              <a:t>Unscored response example using different numbers. This is not one of the twelve readiness items. Fits the scheduled 9:10–9:15 Teach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Directions, 9:15 AM–9:20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4A-Q14a</a:t>
            </a:r>
          </a:p>
          <a:p>
            <a:r>
              <a:t>Exact question: Add. (a)   5/16 +  3/4</a:t>
            </a:r>
          </a:p>
          <a:p>
            <a:r>
              <a:t>Instructor answer: (a)  1 1/16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5A-Q12first</a:t>
            </a:r>
          </a:p>
          <a:p>
            <a:r>
              <a:t>Exact question: Change  7/8 to a decimal.</a:t>
            </a:r>
          </a:p>
          <a:p>
            <a:r>
              <a:t>Instructor answer: 0.875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6B-Q2</a:t>
            </a:r>
          </a:p>
          <a:p>
            <a:r>
              <a:t>Exact question: A fabrication job needs 18 sheets of 4 ft × 8 ft plate. Add a 15% allowance and round up to whole sheets.</a:t>
            </a:r>
          </a:p>
          <a:p>
            <a:r>
              <a:t>Instructor answer: 21 sheets (20.7 rounded up)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6A-Q19</a:t>
            </a:r>
          </a:p>
          <a:p>
            <a:r>
              <a:t>Exact question: At a scale of 1 : 40, a line measures 85 mm. How long is the real length?</a:t>
            </a:r>
          </a:p>
          <a:p>
            <a:r>
              <a:t>Instructor answer: 3,400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7A-Q11</a:t>
            </a:r>
          </a:p>
          <a:p>
            <a:r>
              <a:t>Exact question: Convert 5/8 in to mm.</a:t>
            </a:r>
          </a:p>
          <a:p>
            <a:r>
              <a:t>Instructor answer: 15.875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8C-Q1</a:t>
            </a:r>
          </a:p>
          <a:p>
            <a:r>
              <a:t>Exact question: The rectangle has an area of 4,800 cm². Find the width.</a:t>
            </a:r>
          </a:p>
          <a:p>
            <a:r>
              <a:t>Instructor answer: 60 cm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9A-Q1</a:t>
            </a:r>
          </a:p>
          <a:p>
            <a:r>
              <a:t>Exact question: Find the perimeter of a rectangle 2,400 mm by 1,150 mm.</a:t>
            </a:r>
          </a:p>
          <a:p>
            <a:r>
              <a:t>Instructor answer: 7,100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10B-Q11</a:t>
            </a:r>
          </a:p>
          <a:p>
            <a:r>
              <a:t>Exact question: A 300 mm by 200 mm access hole is cut in a 1,200 mm by 800 mm cover plate. Find the area of plate left in mm² and in m².</a:t>
            </a:r>
          </a:p>
          <a:p>
            <a:r>
              <a:t>Instructor answer: 900,000 mm² = 0.9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11A-Q7</a:t>
            </a:r>
          </a:p>
          <a:p>
            <a:r>
              <a:t>Exact question: Box 700 mm by 400 mm by 250 mm. Find the volume in m³.</a:t>
            </a:r>
          </a:p>
          <a:p>
            <a:r>
              <a:t>Instructor answer: 0.07 m³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12A-Q10</a:t>
            </a:r>
          </a:p>
          <a:p>
            <a:r>
              <a:t>Exact question: Legs of 700 mm and 2,400 mm. Find the hypotenuse.</a:t>
            </a:r>
          </a:p>
          <a:p>
            <a:r>
              <a:t>Instructor answer: 2,500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13A-Q6</a:t>
            </a:r>
          </a:p>
          <a:p>
            <a:r>
              <a:t>Exact question: Adjacent 900 mm, angle 24°. Find the opposite side to two decimal places.</a:t>
            </a:r>
          </a:p>
          <a:p>
            <a:r>
              <a:t>Instructor answer: 400.71 mm</a:t>
            </a:r>
          </a:p>
          <a:p>
            <a:r>
              <a:t>Working: 900 × tan 24°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Independent check, 9:20 AM–10:00 AM. All slides with this phase share these 40 minutes; do not restart the time allocation for each slide.</a:t>
            </a:r>
          </a:p>
          <a:p/>
          <a:p>
            <a:r>
              <a:t>ACCESS EXERCISE BOOK: 13A-Q14</a:t>
            </a:r>
          </a:p>
          <a:p>
            <a:r>
              <a:t>Exact question: A slope rises 120 mm over a run of 6,000 mm. Find the percent grade and the angle to two decimal places.</a:t>
            </a:r>
          </a:p>
          <a:p>
            <a:r>
              <a:t>Instructor answer: Grade 2%, angle 1.15°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Collect &amp; reflect,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W08-L03 | 2026-12-16 | 9:00 AM–10:15 AM | 75 minutes</a:t>
            </a:r>
          </a:p>
          <a:p>
            <a:r>
              <a:t>Readiness check: 12 core questions</a:t>
            </a:r>
          </a:p>
          <a:p>
            <a:r>
              <a:t>Mode: Math Review</a:t>
            </a:r>
          </a:p>
          <a:p>
            <a:r>
              <a:t>Goal: Demonstrate independent calculation, units, working and checking across the core course skills.</a:t>
            </a:r>
          </a:p>
          <a:p>
            <a:r>
              <a:t>Read: Textbook formula sheet p.219; conversion factors pp.220–221 permitted for this proposed formative check</a:t>
            </a:r>
          </a:p>
          <a:p>
            <a:r>
              <a:t>Practise: Set in order: 4A Q14(a) p.26; 5A Q12 first value p.33; 6B Q2 p.41; 6A Q19 p.40; 7A Q11 p.45; 8C Q1 p.55; 9A Q1 p.57; 10B Q11 p.66; 11A Q7 p.69; 12A Q10 p.76; 13A Q6,14 p.82.</a:t>
            </a:r>
          </a:p>
          <a:p>
            <a:r>
              <a:t>Tool: Use the book questions on paper with the chosen calculator. Numeracy Hub worked answers and Shape Canvas answer displays stay closed during the independent check.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Confirm access needs, calculator model and permitted formula/conversion sheets. Explain this is not an official KPU entry exam or pass standard.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AM–9:15 AM | 3 Teach | 5 min</a:t>
            </a:r>
          </a:p>
          <a:p>
            <a:r>
              <a:t>Instructor: Show the required response format using a different worked example: diagram where useful, formula, units, calculation and final check.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9:15 AM–9:20 AM | 4 Directions | 5 min</a:t>
            </a:r>
          </a:p>
          <a:p>
            <a:r>
              <a:t>Instructor: Clarify directions and rounding without solving any scored item. Learners set up a numbered 1–12 response page.</a:t>
            </a:r>
          </a:p>
          <a:p>
            <a:r>
              <a:t>Learners: Set up a numbered response page. Clarify directions only; do not work with a partner on test items.</a:t>
            </a:r>
          </a:p>
          <a:p>
            <a:r>
              <a:t>Materials/check: Paper; permitted reference sheets</a:t>
            </a:r>
          </a:p>
          <a:p/>
          <a:p>
            <a:r>
              <a:t>9:20 AM–10:00 AM | 5 Independent check | 40 min</a:t>
            </a:r>
          </a:p>
          <a:p>
            <a:r>
              <a:t>Instructor: Complete the twelve listed questions independently in 40 minutes. Ask learners to attempt all core items; record help separately. If a skill was deferred, mark it not yet taught rather than assigning a false readiness judgement.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No worked answers or tool hints</a:t>
            </a:r>
          </a:p>
          <a:p/>
          <a:p>
            <a:r>
              <a:t>10:00 AM–10:10 AM | 6 Collect &amp; reflect | 10 min</a:t>
            </a:r>
          </a:p>
          <a:p>
            <a:r>
              <a:t>Instructor: Collect work and have learners self-identify two uncertain items. Use the key below to tag concept, operation, calculator and units errors.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In set order: 1 1/16; 0.875; 21 sheets; 3,400 mm; 15.875 mm; 60 cm; 7,100 mm; 900,000 mm² = 0.9 m²; 0.07 m³; 2,500 mm; 400.71 mm; 2% and 1.15°. Compare the listed Answer Key pages. Answer Key pp.13,16,19,21,24,26,28,30,32,34</a:t>
            </a:r>
          </a:p>
          <a:p/>
          <a:p>
            <a:r>
              <a:t>Use results for feedback and reteaching in the next scheduled block. No institutional pass mark is assumed.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Use results for feedback and reteaching in the next scheduled block. No institutional pass mark is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relevant chapters from readiness errors; formula sheet p.219; glossary pp.222–225</a:t>
            </a:r>
          </a:p>
          <a:p>
            <a:r>
              <a:t>ACCESS Trades Numeracy Textbook p.66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relevant chapters from readiness errors; formula sheet p.219; glossary pp.222–225</a:t>
            </a:r>
          </a:p>
          <a:p>
            <a:r>
              <a:t>ACCESS Trades Numeracy Textbook p.66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Use for a fraction priority: regrouping and an offcut diagram.</a:t>
            </a:r>
          </a:p>
          <a:p>
            <a:r>
              <a:t>Exact PDF/printed page: 66. ACCESS Textbook excerpt.</a:t>
            </a:r>
          </a:p>
          <a:p>
            <a:r>
              <a:t>Example 4.10 and Check by adding: a visual bar/offcut example for regrouping and verification. Use only if the actual readiness errors call for fraction correction; otherwise choose a visual in the relevant chapter for the two selected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Use for a fraction priority: verify subtraction by adding back.</a:t>
            </a:r>
          </a:p>
          <a:p>
            <a:r>
              <a:t>Exact PDF/printed page: 66. ACCESS Textbook excerpt.</a:t>
            </a:r>
          </a:p>
          <a:p>
            <a:r>
              <a:t>Example 4.10 and Check by adding: a visual bar/offcut example for regrouping and verification. Use only if the actual readiness errors call for fraction correction; otherwise choose a visual in the relevant chapter for the two selected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Numeracy Hub: Exam builder: select only taught weak topics; Easy; 5 questions; worked answers off. Retain code and use worked answers after the attempt. Shape Canvas: rebuild one missed diagram.</a:t>
            </a:r>
          </a:p>
          <a:p>
            <a:r>
              <a:t>After the written attempt, use Shape Canvas to rebuild one missed diagram and connect its labels to the corrected method and units.</a:t>
            </a:r>
          </a:p>
          <a:p>
            <a:r>
              <a:t>If appropriate during the scheduled practice, create a Numeracy Hub Exam builder set with only taught weak topics: Easy, 5 questions, worked answers off. Retain its code and written attempts.</a:t>
            </a:r>
          </a:p>
          <a:p>
            <a:r>
              <a:t>Reveal worked answers only after the attempt to support corrections. Keep the code, corrected work and the two-skill plan with exact book pages and tool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4A-Q15b</a:t>
            </a:r>
          </a:p>
          <a:p>
            <a:r>
              <a:t>Exact question: Subtract. (b)  9 1/8 − 4 3/4</a:t>
            </a:r>
          </a:p>
          <a:p>
            <a:r>
              <a:t>Instructor answer: (b)  4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7A-Q12</a:t>
            </a:r>
          </a:p>
          <a:p>
            <a:r>
              <a:t>Exact question: Convert 2 1/4 in to mm.</a:t>
            </a:r>
          </a:p>
          <a:p>
            <a:r>
              <a:t>Instructor answer: 57.15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W08-L04 | 2026-12-16 | 10:30 AM–12:00 PM | 90 minutes</a:t>
            </a:r>
          </a:p>
          <a:p>
            <a:r>
              <a:t>Corrections and a personal practice plan</a:t>
            </a:r>
          </a:p>
          <a:p>
            <a:r>
              <a:t>Mode: Math Review</a:t>
            </a:r>
          </a:p>
          <a:p>
            <a:r>
              <a:t>Goal: Correct a demonstrated error, solve a fresh problem of the same type and plan continued practice.</a:t>
            </a:r>
          </a:p>
          <a:p>
            <a:r>
              <a:t>Read: Textbook relevant chapters from readiness errors; formula sheet p.219; glossary pp.222–225</a:t>
            </a:r>
          </a:p>
          <a:p>
            <a:r>
              <a:t>Practise: Choose missed types from the readiness set. Fresh checks: 4A Q15(b) p.26; 7A Q12 p.45; 10A Q6 p.63; 12A Q12 p.76; 13A Q10 p.82.</a:t>
            </a:r>
          </a:p>
          <a:p>
            <a:r>
              <a:t>Tool: Numeracy Hub: Exam builder: select only taught weak topics; Easy; 5 questions; worked answers off. Retain code and use worked answers after the attempt. Shape Canvas: rebuild one missed diagram.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Return the readiness work privately; ask each learner to choose two errors to understand rather than only counting a score.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Reteach the two most common methods using different numbers. Model how to write a correction explaining why the first method failed.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Learners pair-check one correction while the instructor supports the highest-need group. Require a diagram and units where relevant.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Independently complete one fresh question in each priority skill and explain the checking strategy.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Fresh checks in order: 4 3/8; 57.15 mm; 2.56 m²; 1,500 mm; 23.63°. Answer Key pp.13,21,28,32,34. Generated questions use their own saved-code worked answers. Answer Key pp.13,21,28,32,34</a:t>
            </a:r>
          </a:p>
          <a:p/>
          <a:p>
            <a:r>
              <a:t>Learner leaves with corrected work and a specific practice plan. Keep subsequent graduation and school-prep schedule activities unchanged.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Learner leaves with corrected work and a specific practice plan. Keep subsequent graduation and school-prep schedule activities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4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6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5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66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66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5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26  |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December 16,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Readiness check: 12 core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Review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Corrections and a personal practice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Math Review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8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26  •  2026-12-16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26  /  WEEK 8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Readiness check: 12 core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AM–9:15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9:15 AM–9:20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Directions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Collect &amp; reflect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Review  •  Math Week 8, Lesson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Corrections and a personal practice plan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Review  •  Math Week 8, Lesson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check: 12 core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Demonstrate independent calculation, units, working and checking across the core course skills.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Identify one target skill and the checking habit to use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Set in order: 4A Q14(a) p.26; 5A Q12 first value p.33; 6B Q2 p.41; 6A Q19 p.40; 7A Q11 p.45; 8C Q1 p.55; 9A Q1 p.57; 10B Q11 p.66; 11A Q7 p.69; 12A Q10 p.76; 13A Q6,14 p.82.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Confirm access needs, calculator model and permitted formula/conversion sheets. Explain this is not an official KPU entry exam or pass standard.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Review previous feedback and attempt the retrieval prompt without displayed solutions.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Set in order: 4A Q14(a) p.26; 5A Q12 first value p.33; 6B Q2 p.41; 6A Q19 p.40; 7A Q11 p.45; 8C Q1 p.55; 9A Q1 p.57; 10B Q11 p.66; 11A Q7 p.69; 12A Q10 p.76;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TEACH  •  9:10 AM–9:15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Set up the independent response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Prepare a numbered 1–12 response page in the exact order of the listed book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each response, retain a diagram where useful, the formula, units, calculation and final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scheduled five-minute response example to see this format; it is a different example, not a scored item.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During Directions, clarify wording and rounding only. Do not solve readiness items together.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TEACH  •  9:10 AM–9:15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Keep the readiness attempt independent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chosen calculator, Textbook formula sheet p.219 and conversion factors pp.220–221 under the stated conditions.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Numeracy Hub worked answers and Shape Canvas answer displays closed; do not use tool hints or partner solutions.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Attempt all taught core items in the scheduled independent period. Any assistance is recorded separately; deferred skills are marked not yet taught.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Submit your working and identify two uncertain items during Collect &amp; reflect. This is formative feedback, not an official KPU entry exam or institutional pass standard.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TEACH  •  9:10 AM–9:15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Unscored example: show a complete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194560"/>
            <a:ext cx="3840480" cy="2560320"/>
          </a:xfrm>
          <a:prstGeom prst="rect">
            <a:avLst/>
          </a:prstGeom>
          <a:solidFill>
            <a:srgbClr val="FFEBB2"/>
          </a:solidFill>
          <a:ln>
            <a:solidFill>
              <a:srgbClr val="C600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48920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3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32004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P = 2 × (3 + 2)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P = 10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rPr/>
              <a:t>Check: 3 + 2 + 3 + 2 = 10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rPr/>
              <a:t>Record a labelled sketch, formula, substitution, answer, units and check.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DIRECTIONS  •  9:15 AM–9:20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Directions for the readiness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Clarify directions and rounding without solving any scored item. Learners set up a numbered 1–12 response page.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Set up a numbered response page. Clarify directions only; do not work with a partner on test items.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Set in order: 4A Q14(a) p.26; 5A Q12 first value p.33; 6B Q2 p.41; 6A Q19 p.40; 7A Q11 p.45; 8C Q1 p.55; 9A Q1 p.57; 10B Q11 p.66; 11A Q7 p.69; 12A Q10 p.76;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readiness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the twelve listed questions independently in 40 minutes. Try to attempt all core items; record help separately. If a skill was deferred, mark it not yet taught rather than assigning a false readiness judgement.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Keep numbered written solutions and units. Use tools only under the conditions stated for this block.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Set in order: 4A Q14(a) p.26; 5A Q12 first value p.33; 6B Q2 p.41; 6A Q19 p.40; 7A Q11 p.45; 8C Q1 p.55; 9A Q1 p.57; 10B Q11 p.66; 11A Q7 p.69; 12A Q10 p.76;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1 of 12  |  4A Q14a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4A-Q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2 of 12  |  5A Q12 — first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5A-Q12fir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3 of 12  |  6B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6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4 of 12  |  6A Q19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6A-Q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5 of 12  |  7A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7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6 of 12  |  8C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8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7 of 12  |  9A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9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8 of 12  |  10B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10B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9 of 12  |  11A Q7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11A-Q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10 of 12  |  12A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12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11 of 12  |  13A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13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INDEPENDENT CHECK  •  9:20 AM–10:00 AM  •  40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Readiness question 12 of 12  |  13A Q14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pic>
        <p:nvPicPr>
          <p:cNvPr id="5" name="Picture 4" descr="13A-Q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Independent readiness check. Record all working on your numbered response page.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COLLECT &amp; REFLECT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Collect and reflect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Submit your work and identify two items you were uncertain about. Describe whether the difficulty involved the concept, operation, calculator entry or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Submit work and demonstrate the checking strategy; identify a remaining difficulty.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Set in order: 4A Q14(a) p.26; 5A Q12 first value p.33; 6B Q2 p.41; 6A Q19 p.40; 7A Q11 p.45; 8C Q1 p.55; 9A Q1 p.57; 10B Q11 p.66; 11A Q7 p.69; 12A Q10 p.76;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W08-L03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formula sheet p.219; conversion factors pp.220–221 permitted for this proposed formative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Identify what improved, what needs another attempt and which resource will support the next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another essential skill used; record a concrete follow-up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Set in order: 4A Q14(a) p.26; 5A Q12 first value p.33; 6B Q2 p.41; 6A Q19 p.40; 7A Q11 p.45; 8C Q1 p.55; 9A Q1 p.57; 10B Q11 p.66; 11A Q7 p.69; 12A Q10 p.76;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26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Corrections and a personal practice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26  •  2026-12-16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Corrections and a personal practice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Correct a demonstrated error, solve a fresh problem of the same type and plan continued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Identify one target skill and the checking habit to use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Choose missed types from the readiness set. Fresh checks: 4A Q15(b) p.26; 7A Q12 p.45; 10A Q6 p.63; 12A Q12 p.76; 13A Q10 p.82.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Return the readiness work privately; ask each learner to choose two errors to understand rather than only counting a score.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Review previous feedback and attempt the retrieval prompt without displayed solutions.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Choose missed types from the readiness set. Fresh checks: 4A Q15(b) p.26; 7A Q12 p.45; 10A Q6 p.63; 12A Q12 p.76; 13A Q10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Explain the step that failed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your private readiness feedback to choose two errors to understand, rather than only counting a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correction record in order: original method → why it failed → corrected working → independent retry.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relevant Textbook chapter, formula sheet p.219 and glossary pp.222–225 to make the explanation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Include a diagram and units where relevant. Pair-check one correction, then use the scheduled fresh checks to show the method independently.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Match the fresh attempt to the repaired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Choose from the listed fresh checks according to the skills shown by your readiness errors; they are not a new requirement to complete every topic.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fresh problem of the same type tests the method without relying on a remembered answer.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If the five-question Hub set is used, select only taught weak topics and keep worked answers off until after the attempt.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Your practice plan names two skills, exact book pages, tool modules and a concrete next practice step.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W08-L04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the first method failed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6687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 demonstration A • Regroup before subtraction.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1/4 − 2 3/8 = 4 10/8 − 2 3/8 = 2 7/8.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2 7/8 + 2 3/8 = 5 1/4. Explain why the whole was regrouped.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309562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 demonstration B • Convert the entire mixed number.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3/4 in = 1.75 in; 1.75 × 25.4 = 44.45 mm.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44.45 ÷ 25.4 = 1.75 in—not 1.34 in.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57200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• Choose the two most common actual errors; use different numbers.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Pair-check one correction while the instructor supports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highest-need group. Require a diagram and units where relevant.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5810250"/>
            <a:ext cx="109725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fresh classroom demonstrations, not the independent retry questions.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 Textbook chapters selected from readiness errors • Explain the change, do not copy an answer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29</a:t>
            </a:r>
          </a:p>
        </p:txBody>
      </p:sp>
    </p:spTree>
    <p:extLst>
      <p:ext uri="{BB962C8B-B14F-4D97-AF65-F5344CB8AC3E}">
        <p14:creationId xmlns:p14="http://schemas.microsoft.com/office/powerpoint/2010/main" val="3364405679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pic>
        <p:nvPicPr>
          <p:cNvPr id="5" name="Picture 4" descr="W08-L0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50106"/>
            <a:ext cx="10698480" cy="35521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Use for a fraction priority: regrouping and an offcut diagram.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pic>
        <p:nvPicPr>
          <p:cNvPr id="5" name="Picture 4" descr="W08-L0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34183"/>
            <a:ext cx="10698480" cy="1383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Use for a fraction priority: verify subtraction by adding back.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correction replaces the wrong result with the answer-key result and says “I understand.” What evidence is missing?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Explain why the original method failed, retain corrected working, and complete a fresh question in the priority skill independently with a checking strategy. The new attempt provides evidence that the method has improved.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Learners pair-check one correction while the instructor supports the highest-need group. Require a diagram and units where relevant.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Explain the method and check directions; work with a partner only where permitted.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Choose missed types from the readiness set. Fresh checks: 4A Q15(b) p.26; 7A Q12 p.45; 10A Q6 p.63; 12A Q12 p.76; 13A Q10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0">
                <a:solidFill>
                  <a:srgbClr val="1A1A1A"/>
                </a:solidFill>
                <a:latin typeface="Arial"/>
              </a:defRPr>
            </a:pPr>
            <a:r>
              <a:rPr/>
              <a:t>Correct missed items, then solve fresh checks matching the same skills. Create a five-question Numeracy Hub set if appropriate; keep its code. Write a personal plan naming two skills, book pages and tool modules for continued study.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Keep numbered written solutions and units. Use tools only under the conditions stated for this block.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Choose missed types from the readiness set. Fresh checks: 4A Q15(b) p.26; 7A Q12 p.45; 10A Q6 p.63; 12A Q12 p.76; 13A Q10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pic>
        <p:nvPicPr>
          <p:cNvPr id="5" name="Picture 4" descr="hub-ex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After the written attempt, use Shape Canvas to rebuild one missed diagram and connect its labels to the corrected method and units.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1A1A1A"/>
                </a:solidFill>
                <a:latin typeface="Arial"/>
              </a:defRPr>
            </a:pPr>
            <a:r>
              <a:rPr/>
              <a:t>If appropriate during the scheduled practice, create a Numeracy Hub Exam builder set with only taught weak topics: Easy, 5 questions, worked answers off. Retain its code and written attempts.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1A1A1A"/>
                </a:solidFill>
                <a:latin typeface="Arial"/>
              </a:defRPr>
            </a:pPr>
            <a:r>
              <a:rPr/>
              <a:t>Reveal worked answers only after the attempt to support corrections. Keep the code, corrected work and the two-skill plan with exact book pages and tool modules.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Q15b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pic>
        <p:nvPicPr>
          <p:cNvPr id="5" name="Picture 4" descr="4A-Q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Choose only fresh questions matching your two priority skills.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7A Q12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pic>
        <p:nvPicPr>
          <p:cNvPr id="5" name="Picture 4" descr="7A-Q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Choose only fresh questions matching your two priority skills.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Independently complete one fresh question in each priority skill and explain the checking strategy.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Submit work and demonstrate the checking strategy; identify a remaining difficulty.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Choose missed types from the readiness set. Fresh checks: 4A Q15(b) p.26; 7A Q12 p.45; 10A Q6 p.63; 12A Q12 p.76; 13A Q10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W08-L04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relevant chapters from readiness errors; formula sheet p.219; glossary pp.222–225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Identify what improved, what needs another attempt and which resource will support the next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another essential skill used; record a concrete follow-up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Choose missed types from the readiness set. Fresh checks: 4A Q15(b) p.26; 7A Q12 p.45; 10A Q6 p.63; 12A Q12 p.76; 13A Q10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26  •  2026-12-16  • 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40</Slides>
  <Notes>40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26 | 2026-12-16</dc:title>
  <dc:creator>ACCESS Trades</dc:creator>
  <dc:subject>Readiness check: 12 core questions; Corrections and a personal practice plan</dc:subject>
</cp:coreProperties>
</file>