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3.xml" ContentType="application/vnd.openxmlformats-officedocument.presentationml.notesSlide+xml"/>
  <Override PartName="/ppt/notesSlides/notesSlide12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91" r:id="rId124"/>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01" r:id="rId127"/>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4" Type="http://schemas.openxmlformats.org/officeDocument/2006/relationships/slide" Target="slides/slide8.xml"/><Relationship Id="rId127" Type="http://schemas.openxmlformats.org/officeDocument/2006/relationships/slide" Target="slides/slide30.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Worked teaching example retained from original slide 123.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Worked teaching example retained from original slide 126.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Schedule'!D60 | 'Math Week 6'!A94</a:t>
            </a:r>
          </a:p>
          <a:p>
            <a:r>
              <a:t>'Carpentry Schedule'!D62 | 'Math Week 6'!A111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12A-Q3</a:t>
            </a:r>
          </a:p>
          <a:p>
            <a:r>
              <a:t>Exact question: Name each angle: 12°, 90°, 179°, 95°.</a:t>
            </a:r>
          </a:p>
          <a:p>
            <a:r>
              <a:t>Instructor answer: acute, right, obtuse, obtuse</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12.1–12.3 pp.188–190</a:t>
            </a:r>
          </a:p>
          <a:p>
            <a:r>
              <a:t>'Math Week 6'!B98</a:t>
            </a:r>
          </a:p>
          <a:p>
            <a:r>
              <a:t>'Math Week 6'!A102:F102</a:t>
            </a:r>
          </a:p>
          <a:p>
            <a:r>
              <a:t>ACCESS CARPENTRY SLIDES.pptx slides 122, 123, 124</a:t>
            </a:r>
          </a:p>
          <a:p>
            <a:r>
              <a:t>ACCESS Trades Numeracy Textbook p.190 — Figure 12.3 and Example 12.3 — Triangle angle total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12.1–12.3 pp.188–190</a:t>
            </a:r>
          </a:p>
          <a:p>
            <a:r>
              <a:t>'Math Week 6'!B98</a:t>
            </a:r>
          </a:p>
          <a:p>
            <a:r>
              <a:t>'Math Week 6'!A102:F102</a:t>
            </a:r>
          </a:p>
          <a:p>
            <a:r>
              <a:t>ACCESS CARPENTRY SLIDES.pptx slides 122, 123, 124</a:t>
            </a:r>
          </a:p>
          <a:p>
            <a:r>
              <a:t>ACCESS Trades Numeracy Textbook p.190 — Figure 12.3 and Example 12.3 — Triangle angle total</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p.190 • Figure 12.3 — Triangle corners form a straight angle</a:t>
            </a:r>
          </a:p>
          <a:p>
            <a:r>
              <a:t>Exact PDF/printed page: 190. Excerpt reproduced from the supplied ACCESS Textbook.</a:t>
            </a:r>
          </a:p>
          <a:p>
            <a:r>
              <a:t>Rearrange the three illustrated corners mentally into a straight line before finding a missing angle.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p.190 • Example 12.3 — Find the missing gusset angle</a:t>
            </a:r>
          </a:p>
          <a:p>
            <a:r>
              <a:t>Exact PDF/printed page: 190. Excerpt reproduced from the supplied ACCESS Textbook.</a:t>
            </a:r>
          </a:p>
          <a:p>
            <a:r>
              <a:t>Rearrange the three illustrated corners mentally into a straight line before finding a missing angle.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12A-Q4</a:t>
            </a:r>
          </a:p>
          <a:p>
            <a:r>
              <a:t>Exact question: Two angles sit on a straight line. One is 64°. Find the other.</a:t>
            </a:r>
          </a:p>
          <a:p>
            <a:r>
              <a:t>Instructor answer: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12A-Q4</a:t>
            </a:r>
          </a:p>
          <a:p>
            <a:r>
              <a:t>Exact question: Two angles sit on a straight line. One is 64°. Find the other.</a:t>
            </a:r>
          </a:p>
          <a:p>
            <a:r>
              <a:t>Instructor answer: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triangle; change an angle and predict the other angles. Numeracy Hub: Angles and Trig: inspect diagrams only; advanced protractor topics are not required.</a:t>
            </a:r>
          </a:p>
          <a:p>
            <a:r>
              <a:t>Use a Shape Canvas triangle and identify its three interior angles.</a:t>
            </a:r>
          </a:p>
          <a:p>
            <a:r>
              <a:t>Predict how changing one angle affects the remaining angle total, then compare the labels.</a:t>
            </a:r>
          </a:p>
          <a:p>
            <a:r>
              <a:t>Inspect the corresponding diagrams in Numeracy Hub Angles and Trig; omit advanced protractor topics.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12A-Q1</a:t>
            </a:r>
          </a:p>
          <a:p>
            <a:r>
              <a:t>Exact question: How many degrees are in one third of a turn?</a:t>
            </a:r>
          </a:p>
          <a:p>
            <a:r>
              <a:t>Instructor answer: 120°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12C-Q3</a:t>
            </a:r>
          </a:p>
          <a:p>
            <a:r>
              <a:t>Exact question: Find the third angle.</a:t>
            </a:r>
          </a:p>
          <a:p>
            <a:r>
              <a:t>Instructor answer: 62°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12A-Q6</a:t>
            </a:r>
          </a:p>
          <a:p>
            <a:r>
              <a:t>Exact question: A triangle has angles of 52° and 71°. Find the third angle.</a:t>
            </a:r>
          </a:p>
          <a:p>
            <a:r>
              <a:t>Instructor answer: 57°</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12A-Q7</a:t>
            </a:r>
          </a:p>
          <a:p>
            <a:r>
              <a:t>Exact question: One acute angle of a right triangle is 38°. Find the other.</a:t>
            </a:r>
          </a:p>
          <a:p>
            <a:r>
              <a:t>Instructor answer: 52°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12B-Q2</a:t>
            </a:r>
          </a:p>
          <a:p>
            <a:r>
              <a:t>Exact question: A flat bar is bent so that one side of the bend makes 142° with the straight part. What angle is on the other side of the bend? Is it acute or obtuse?</a:t>
            </a:r>
          </a:p>
          <a:p>
            <a:r>
              <a:t>Instructor answer: 38°, acute</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W06-L05 | 2026-12-02 | 12:45 PM–2:00 PM | 75 minutes</a:t>
            </a:r>
          </a:p>
          <a:p>
            <a:r>
              <a:t>Angles, triangles and drawing interpretation</a:t>
            </a:r>
          </a:p>
          <a:p>
            <a:r>
              <a:t>Mode: Math</a:t>
            </a:r>
          </a:p>
          <a:p>
            <a:r>
              <a:t>Goal: Classify angles and use straight-line and triangle angle totals to find a missing angle.</a:t>
            </a:r>
          </a:p>
          <a:p>
            <a:r>
              <a:t>Read: Textbook sections 12.1–12.3 pp.188–190</a:t>
            </a:r>
          </a:p>
          <a:p>
            <a:r>
              <a:t>Practise: Exercise Book 12A Q1–9 (pp.75–76); 12B Q2 (p.77); 12C Q3–4 (p.79)</a:t>
            </a:r>
          </a:p>
          <a:p>
            <a:r>
              <a:t>Tool: Shape Canvas: triangle; change an angle and predict the other angles. Numeracy Hub: Angles and Trig: inspect diagrams only; advanced protractor topics are not required.</a:t>
            </a:r>
          </a:p>
          <a:p/>
          <a:p>
            <a:r>
              <a:t>EXACT SCHEDULED STEPS</a:t>
            </a:r>
          </a:p>
          <a:p>
            <a:r>
              <a:t>12:45 PM–12:50 PM | 1 Start | 5 min</a:t>
            </a:r>
          </a:p>
          <a:p>
            <a:r>
              <a:t>Instructor: Connect angles, triangles and drawing interpretation to a dimensioned carpentry drawing. State the objective.</a:t>
            </a:r>
          </a:p>
          <a:p>
            <a:r>
              <a:t>Learners: Describe a prior use of the skill; identify the given and unknown quantities.</a:t>
            </a:r>
          </a:p>
          <a:p>
            <a:r>
              <a:t>Materials/check: Notebook; calculator</a:t>
            </a:r>
          </a:p>
          <a:p>
            <a:r>
              <a:t>Source: 'Math Week 6'!A100:F100</a:t>
            </a:r>
          </a:p>
          <a:p/>
          <a:p>
            <a:r>
              <a:t>12:50 PM–12:55 PM | 2 Recall | 5 min</a:t>
            </a:r>
          </a:p>
          <a:p>
            <a:r>
              <a:t>Instructor: Ask learners to identify 90°, a straight angle and a full turn; use Exercise Book 12A Q3.</a:t>
            </a:r>
          </a:p>
          <a:p>
            <a:r>
              <a:t>Learners: Attempt the retrieval task independently; explain the method before checking.</a:t>
            </a:r>
          </a:p>
          <a:p>
            <a:r>
              <a:t>Materials/check: Identify support needs</a:t>
            </a:r>
          </a:p>
          <a:p>
            <a:r>
              <a:t>Source: 'Math Week 6'!A101:F101</a:t>
            </a:r>
          </a:p>
          <a:p/>
          <a:p>
            <a:r>
              <a:t>12:55 PM–1:10 PM | 3 Teach | 15 min</a:t>
            </a:r>
          </a:p>
          <a:p>
            <a:r>
              <a:t>Instructor: Model complementary and supplementary angles and a triangle’s 180° total. Distinguish the shown angle from its neighbour.</a:t>
            </a:r>
          </a:p>
          <a:p>
            <a:r>
              <a:t>Learners: Annotate the example and predict the next step; ask about unclear units or symbols.</a:t>
            </a:r>
          </a:p>
          <a:p>
            <a:r>
              <a:t>Materials/check: Textbook; worked example</a:t>
            </a:r>
          </a:p>
          <a:p>
            <a:r>
              <a:t>Source: 'Math Week 6'!A102:F102</a:t>
            </a:r>
          </a:p>
          <a:p/>
          <a:p>
            <a:r>
              <a:t>1:10 PM–1:25 PM | 4 Together | 15 min</a:t>
            </a:r>
          </a:p>
          <a:p>
            <a:r>
              <a:t>Instructor: Solve Exercise Book 12A Q4–8 in pairs. Mark known angles and the relevant total on each sketch.</a:t>
            </a:r>
          </a:p>
          <a:p>
            <a:r>
              <a:t>Learners: Work in pairs, alternating solver and checker. Write a diagram, formula, units and estimate.</a:t>
            </a:r>
          </a:p>
          <a:p>
            <a:r>
              <a:t>Materials/check: Exercise Book; tool above</a:t>
            </a:r>
          </a:p>
          <a:p>
            <a:r>
              <a:t>Source: 'Math Week 6'!A103:F103</a:t>
            </a:r>
          </a:p>
          <a:p/>
          <a:p>
            <a:r>
              <a:t>1:25 PM–1:45 PM | 5 Practise | 20 min</a:t>
            </a:r>
          </a:p>
          <a:p>
            <a:r>
              <a:t>Instructor: Complete Exercise Book 12A Q1–2,9 and 12B Q2; then 12C Q3–4. Use Shape Canvas to vary one angle and explain the consequence.</a:t>
            </a:r>
          </a:p>
          <a:p>
            <a:r>
              <a:t>Learners: Solve on paper first; check with tools; correct one error and explain the change.</a:t>
            </a:r>
          </a:p>
          <a:p>
            <a:r>
              <a:t>Materials/check: Paper first; tool second</a:t>
            </a:r>
          </a:p>
          <a:p>
            <a:r>
              <a:t>Source: 'Math Week 6'!A104:F104</a:t>
            </a:r>
          </a:p>
          <a:p/>
          <a:p>
            <a:r>
              <a:t>1:45 PM–1:55 PM | 6 Check | 10 min</a:t>
            </a:r>
          </a:p>
          <a:p>
            <a:r>
              <a:t>Instructor: Exercise Book 12A Q6–7 and Exercise Book 12B Q2.</a:t>
            </a:r>
          </a:p>
          <a:p>
            <a:r>
              <a:t>Learners: Solve without displayed answers; include working, units and final rounding.</a:t>
            </a:r>
          </a:p>
          <a:p>
            <a:r>
              <a:t>Materials/check: Teacher answers below</a:t>
            </a:r>
          </a:p>
          <a:p>
            <a:r>
              <a:t>Source: 'Math Week 6'!A105:F105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6'!A106:F106</a:t>
            </a:r>
          </a:p>
          <a:p/>
          <a:p>
            <a:r>
              <a:t>INSTRUCTOR ONLY: REVEAL ASSESSMENT ANSWERS AFTER THE ATTEMPT</a:t>
            </a:r>
          </a:p>
          <a:p>
            <a:r>
              <a:t>12A Q6 = 57°; Q7 = 52°. 12B Q2 = 38°, acute. Answer Key p.32. Answer Key pp.31–32</a:t>
            </a:r>
          </a:p>
          <a:p/>
          <a:p>
            <a:r>
              <a:t>Identify the hypotenuse and right angle before calculating unknown sides.</a:t>
            </a:r>
          </a:p>
          <a:p/>
          <a:p>
            <a:r>
              <a:t>Sources: 'Math Week 6'!A14:E14; 'Carpentry Schedule'!D60; 'Math Week 6'!A94</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Identify the hypotenuse and right angle before calculating unknown sides.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12.4 pp.191–193; calculator roots pp.31–33</a:t>
            </a:r>
          </a:p>
          <a:p>
            <a:r>
              <a:t>'Math Week 6'!B115</a:t>
            </a:r>
          </a:p>
          <a:p>
            <a:r>
              <a:t>'Math Week 6'!A119:F119</a:t>
            </a:r>
          </a:p>
          <a:p>
            <a:r>
              <a:t>ACCESS CARPENTRY SLIDES.pptx slides 125, 126, 127</a:t>
            </a:r>
          </a:p>
          <a:p>
            <a:r>
              <a:t>ACCESS Trades Numeracy Textbook p.192 — Figure 12.5 and Example 12.4 — Squares on triangle sides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12.4 pp.191–193; calculator roots pp.31–33</a:t>
            </a:r>
          </a:p>
          <a:p>
            <a:r>
              <a:t>'Math Week 6'!B115</a:t>
            </a:r>
          </a:p>
          <a:p>
            <a:r>
              <a:t>'Math Week 6'!A119:F119</a:t>
            </a:r>
          </a:p>
          <a:p>
            <a:r>
              <a:t>ACCESS CARPENTRY SLIDES.pptx slides 125, 126, 127</a:t>
            </a:r>
          </a:p>
          <a:p>
            <a:r>
              <a:t>ACCESS Trades Numeracy Textbook p.192 — Figure 12.5 and Example 12.4 — Squares on triangle sides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p.192 • Figure 12.5 — Squares on a 3–4–5 triangle</a:t>
            </a:r>
          </a:p>
          <a:p>
            <a:r>
              <a:t>Exact PDF/printed page: 192. Excerpt reproduced from the supplied ACCESS Textbook.</a:t>
            </a:r>
          </a:p>
          <a:p>
            <a:r>
              <a:t>Connect the square areas in the diagram to the squared-side equation and final square root.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p.192 • Example 12.4 — Find a gusset hypotenuse</a:t>
            </a:r>
          </a:p>
          <a:p>
            <a:r>
              <a:t>Exact PDF/printed page: 192. Excerpt reproduced from the supplied ACCESS Textbook.</a:t>
            </a:r>
          </a:p>
          <a:p>
            <a:r>
              <a:t>Connect the square areas in the diagram to the squared-side equation and final square root.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12A-Q10</a:t>
            </a:r>
          </a:p>
          <a:p>
            <a:r>
              <a:t>Exact question: Legs of 700 mm and 2,400 mm. Find the hypotenuse.</a:t>
            </a:r>
          </a:p>
          <a:p>
            <a:r>
              <a:t>Instructor answer: 2,500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12A-Q10</a:t>
            </a:r>
          </a:p>
          <a:p>
            <a:r>
              <a:t>Exact question: Legs of 700 mm and 2,400 mm. Find the hypotenuse.</a:t>
            </a:r>
          </a:p>
          <a:p>
            <a:r>
              <a:t>Instructor answer: 2,500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right triangle; hide hypotenuse or a leg. Numeracy Hub Calculator: square each known side and bracket the sum before taking its root.</a:t>
            </a:r>
          </a:p>
          <a:p>
            <a:r>
              <a:t>Create a right triangle in Shape Canvas and hide the hypotenuse or one leg.</a:t>
            </a:r>
          </a:p>
          <a:p>
            <a:r>
              <a:t>Draw the same triangle and write the correct squared-side equation before calculating.</a:t>
            </a:r>
          </a:p>
          <a:p>
            <a:r>
              <a:t>Use Numeracy Hub Calculator for the bracketed sum or difference; reveal the Canvas answer last.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12A-Q15</a:t>
            </a:r>
          </a:p>
          <a:p>
            <a:r>
              <a:t>Exact question: Do 8, 15 and 17 make a right triangle? Show the check.</a:t>
            </a:r>
          </a:p>
          <a:p>
            <a:r>
              <a:t>Instructor answer: Yes. 64 + 225 = 289 = 17²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12C-Q1</a:t>
            </a:r>
          </a:p>
          <a:p>
            <a:r>
              <a:t>Exact question: Find the hypotenuse.</a:t>
            </a:r>
          </a:p>
          <a:p>
            <a:r>
              <a:t>Instructor answer: 390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12A-Q10</a:t>
            </a:r>
          </a:p>
          <a:p>
            <a:r>
              <a:t>Exact question: Legs of 700 mm and 2,400 mm. Find the hypotenuse.</a:t>
            </a:r>
          </a:p>
          <a:p>
            <a:r>
              <a:t>Instructor answer: 2,500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12A-Q12</a:t>
            </a:r>
          </a:p>
          <a:p>
            <a:r>
              <a:t>Exact question: Hypotenuse 1,700 mm, one leg 800 mm. Find the other leg.</a:t>
            </a:r>
          </a:p>
          <a:p>
            <a:r>
              <a:t>Instructor answer: 1,500 mm</a:t>
            </a:r>
          </a:p>
          <a:p>
            <a:r>
              <a:t>Working: √(1,700² − 800²) = √2,250,000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W06-L06 | 2026-12-02 | 2:15 PM–3:30 PM | 75 minutes</a:t>
            </a:r>
          </a:p>
          <a:p>
            <a:r>
              <a:t>Pythagorean theorem and brace lengths</a:t>
            </a:r>
          </a:p>
          <a:p>
            <a:r>
              <a:t>Mode: Math</a:t>
            </a:r>
          </a:p>
          <a:p>
            <a:r>
              <a:t>Goal: Find a missing side of a right triangle and verify the result with the squared-side relationship.</a:t>
            </a:r>
          </a:p>
          <a:p>
            <a:r>
              <a:t>Read: Textbook sections 12.4 pp.191–193; calculator roots pp.31–33</a:t>
            </a:r>
          </a:p>
          <a:p>
            <a:r>
              <a:t>Practise: Exercise Book 12A Q10–16 (p.76); 12B Q3 (p.77); 12C Q1–2 (p.79)</a:t>
            </a:r>
          </a:p>
          <a:p>
            <a:r>
              <a:t>Tool: Shape Canvas: right triangle; hide hypotenuse or a leg. Numeracy Hub Calculator: square each known side and bracket the sum before taking its root.</a:t>
            </a:r>
          </a:p>
          <a:p/>
          <a:p>
            <a:r>
              <a:t>EXACT SCHEDULED STEPS</a:t>
            </a:r>
          </a:p>
          <a:p>
            <a:r>
              <a:t>2:15 PM–2:20 PM | 1 Start | 5 min</a:t>
            </a:r>
          </a:p>
          <a:p>
            <a:r>
              <a:t>Instructor: Connect pythagorean theorem and brace lengths to a dimensioned carpentry drawing. State the objective.</a:t>
            </a:r>
          </a:p>
          <a:p>
            <a:r>
              <a:t>Learners: Describe a prior use of the skill; identify the given and unknown quantities.</a:t>
            </a:r>
          </a:p>
          <a:p>
            <a:r>
              <a:t>Materials/check: Notebook; calculator</a:t>
            </a:r>
          </a:p>
          <a:p>
            <a:r>
              <a:t>Source: 'Math Week 6'!A117:F117</a:t>
            </a:r>
          </a:p>
          <a:p/>
          <a:p>
            <a:r>
              <a:t>2:20 PM–2:25 PM | 2 Recall | 5 min</a:t>
            </a:r>
          </a:p>
          <a:p>
            <a:r>
              <a:t>Instructor: Label the hypotenuse opposite the right angle. Retrieve a square and a square root.</a:t>
            </a:r>
          </a:p>
          <a:p>
            <a:r>
              <a:t>Learners: Attempt the retrieval task independently; explain the method before checking.</a:t>
            </a:r>
          </a:p>
          <a:p>
            <a:r>
              <a:t>Materials/check: Identify support needs</a:t>
            </a:r>
          </a:p>
          <a:p>
            <a:r>
              <a:t>Source: 'Math Week 6'!A118:F118</a:t>
            </a:r>
          </a:p>
          <a:p/>
          <a:p>
            <a:r>
              <a:t>2:25 PM–2:40 PM | 3 Teach | 15 min</a:t>
            </a:r>
          </a:p>
          <a:p>
            <a:r>
              <a:t>Instructor: Model c = √(a²+b²), then a missing leg using subtraction. Explain why the hypotenuse must be longest.</a:t>
            </a:r>
          </a:p>
          <a:p>
            <a:r>
              <a:t>Learners: Annotate the example and predict the next step; ask about unclear units or symbols.</a:t>
            </a:r>
          </a:p>
          <a:p>
            <a:r>
              <a:t>Materials/check: Textbook; worked example</a:t>
            </a:r>
          </a:p>
          <a:p>
            <a:r>
              <a:t>Source: 'Math Week 6'!A119:F119</a:t>
            </a:r>
          </a:p>
          <a:p/>
          <a:p>
            <a:r>
              <a:t>2:40 PM–2:55 PM | 4 Together | 15 min</a:t>
            </a:r>
          </a:p>
          <a:p>
            <a:r>
              <a:t>Instructor: Solve Exercise Book 12A Q10–13; learners draw and label each triangle before entering keys.</a:t>
            </a:r>
          </a:p>
          <a:p>
            <a:r>
              <a:t>Learners: Work in pairs, alternating solver and checker. Write a diagram, formula, units and estimate.</a:t>
            </a:r>
          </a:p>
          <a:p>
            <a:r>
              <a:t>Materials/check: Exercise Book; tool above</a:t>
            </a:r>
          </a:p>
          <a:p>
            <a:r>
              <a:t>Source: 'Math Week 6'!A120:F120</a:t>
            </a:r>
          </a:p>
          <a:p/>
          <a:p>
            <a:r>
              <a:t>2:55 PM–3:15 PM | 5 Practise | 20 min</a:t>
            </a:r>
          </a:p>
          <a:p>
            <a:r>
              <a:t>Instructor: Complete Exercise Book 12A Q15–16, 12B Q3 and 12C Q1–2. Check Shape Canvas answers only after writing the equation.</a:t>
            </a:r>
          </a:p>
          <a:p>
            <a:r>
              <a:t>Learners: Solve on paper first; check with tools; correct one error and explain the change.</a:t>
            </a:r>
          </a:p>
          <a:p>
            <a:r>
              <a:t>Materials/check: Paper first; tool second</a:t>
            </a:r>
          </a:p>
          <a:p>
            <a:r>
              <a:t>Source: 'Math Week 6'!A121:F121</a:t>
            </a:r>
          </a:p>
          <a:p/>
          <a:p>
            <a:r>
              <a:t>3:15 PM–3:25 PM | 6 Check | 10 min</a:t>
            </a:r>
          </a:p>
          <a:p>
            <a:r>
              <a:t>Instructor: Exercise Book 12A Q10 and Q12 with the right-angle diagram and units.</a:t>
            </a:r>
          </a:p>
          <a:p>
            <a:r>
              <a:t>Learners: Solve without displayed answers; include working, units and final rounding.</a:t>
            </a:r>
          </a:p>
          <a:p>
            <a:r>
              <a:t>Materials/check: Teacher answers below</a:t>
            </a:r>
          </a:p>
          <a:p>
            <a:r>
              <a:t>Source: 'Math Week 6'!A122:F122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6'!A123:F123</a:t>
            </a:r>
          </a:p>
          <a:p/>
          <a:p>
            <a:r>
              <a:t>INSTRUCTOR ONLY: REVEAL ASSESSMENT ANSWERS AFTER THE ATTEMPT</a:t>
            </a:r>
          </a:p>
          <a:p>
            <a:r>
              <a:t>12A Q10 = 2,500 mm; Q12 = 1,500 mm. Answer Key p.32. Answer Key pp.31–32</a:t>
            </a:r>
          </a:p>
          <a:p/>
          <a:p>
            <a:r>
              <a:t>Use the same relationship for full-size 3–4–5 layout and rectangle diagonals.</a:t>
            </a:r>
          </a:p>
          <a:p/>
          <a:p>
            <a:r>
              <a:t>Sources: 'Math Week 6'!A15:E15; 'Carpentry Schedule'!D62; 'Math Week 6'!A111</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Use the same relationship for full-size 3–4–5 layout and rectangle diagonals.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Resources/ACCESS-Tools/books/ACCESS-Trades-Numeracy-Textbook.pdf#page=190"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Resources/ACCESS-Tools/books/ACCESS-Trades-Numeracy-Textbook.pdf#page=190"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Resources/ACCESS-Tools/books/ACCESS-Trades-Numeracy-Textbook.pdf#page=188" TargetMode="External"/><Relationship Id="rId6" Type="http://schemas.openxmlformats.org/officeDocument/2006/relationships/hyperlink" Target="../Resources/ACCESS-Tools/books/ACCESS-Trades-Numeracy-Exercise-Book.pdf#page=7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Resources/ACCESS-Tools/books/ACCESS-Trades-Numeracy-Textbook.pdf#page=188" TargetMode="External"/><Relationship Id="rId5" Type="http://schemas.openxmlformats.org/officeDocument/2006/relationships/hyperlink" Target="../Resources/ACCESS-Tools/books/ACCESS-Trades-Numeracy-Exercise-Book.pdf#page=7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Resources/ACCESS-Tools/books/ACCESS-Trades-Numeracy-Textbook.pdf#page=192" TargetMode="External"/><Relationship Id="rId6" Type="http://schemas.openxmlformats.org/officeDocument/2006/relationships/hyperlink" Target="../Resources/ACCESS-Tools/books/ACCESS-Trades-Numeracy-Exercise-Book.pdf#page=7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Resources/ACCESS-Tools/books/ACCESS-Trades-Numeracy-Textbook.pdf#page=192" TargetMode="External"/><Relationship Id="rId6" Type="http://schemas.openxmlformats.org/officeDocument/2006/relationships/hyperlink" Target="../Resources/ACCESS-Tools/books/ACCESS-Trades-Numeracy-Exercise-Book.pdf#page=7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Resources/ACCESS-Tools/books/ACCESS-Trades-Numeracy-Textbook.pdf#page=191" TargetMode="External"/><Relationship Id="rId6" Type="http://schemas.openxmlformats.org/officeDocument/2006/relationships/hyperlink" Target="../Resources/ACCESS-Tools/books/ACCESS-Trades-Numeracy-Exercise-Book.pdf#page=7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8.png"/><Relationship Id="rId4" Type="http://schemas.openxmlformats.org/officeDocument/2006/relationships/hyperlink" Target="../Resources/ACCESS-Tools/books/ACCESS-Trades-Numeracy-Textbook.pdf#page=191"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20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2,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Angles, triangles and drawing interpretation</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Pythagorean theorem and brace lengths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20  •  2026-12-02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20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Angles, triangles and drawing interpretation</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5</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Pythagorean theorem and brace lengths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6</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Angles, triangles and drawing interpretation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Classify angles and use straight-line and triangle angle totals to find a missing angle.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12.1–12.3 pp.188–190</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12A Q1–9 (pp.75–76); 12B Q2 (p.77); 12C Q3–4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Try to identify 90°, a straight angle and a full turn; use Exercise Book 12A Q3.</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12A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the correct angle total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right angle is 90°; a straight angle is 180°; a full turn is 360°.</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Complementary angles add to 90°.</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Supplementary angles add to 180°.</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Mark the relevant total on the drawing before subtracting a known angle.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Find a missing angle in a triangle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three interior angles of a triangle add to 180°.</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Missing angle = 180° − the other two interior angles.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adjacent outside angle is a different angle from the one inside.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that your three interior angles total 180°.</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W06-L05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Match the missing angle to its total</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Complementary angles • Total 90°.</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If one is 33°, the other is 90° − 33° = 57°.</a:t>
            </a:r>
            <a:endParaRPr lang="en-US" sz="1800" dirty="0"/>
          </a:p>
        </p:txBody>
      </p:sp>
      <p:sp>
        <p:nvSpPr>
          <p:cNvPr id="6" name="Text 4"/>
          <p:cNvSpPr/>
          <p:nvPr/>
        </p:nvSpPr>
        <p:spPr>
          <a:xfrm>
            <a:off x="609585" y="27146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Supplementary angles • Total 180°.</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If one is 128°, the other is 180° − 128° = 52°.</a:t>
            </a:r>
            <a:endParaRPr lang="en-US" sz="1800" dirty="0"/>
          </a:p>
        </p:txBody>
      </p:sp>
      <p:sp>
        <p:nvSpPr>
          <p:cNvPr id="7" name="Text 5"/>
          <p:cNvSpPr/>
          <p:nvPr/>
        </p:nvSpPr>
        <p:spPr>
          <a:xfrm>
            <a:off x="609585" y="371475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Triangle example • Known angles 90° and 52°.</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Missing angle = 180° − 90° − 52° = 38°; it is acute.</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12A Q4–8. Mark known angles and the relevant total.</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Shape Canvas: vary one triangle angle and predict the consequence.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Numeracy Hub: inspect diagrams; advanced protractor topics are not required.</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Classroom examples demonstrate the three relationships • Textbook pp.188–190 • Sketch and label before calculating</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08</a:t>
            </a:r>
          </a:p>
        </p:txBody>
      </p:sp>
    </p:spTree>
    <p:extLst>
      <p:ext uri="{BB962C8B-B14F-4D97-AF65-F5344CB8AC3E}">
        <p14:creationId xmlns:p14="http://schemas.microsoft.com/office/powerpoint/2010/main" val="33807982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W06-L05.png"/>
          <p:cNvPicPr>
            <a:picLocks noChangeAspect="1"/>
          </p:cNvPicPr>
          <p:nvPr/>
        </p:nvPicPr>
        <p:blipFill>
          <a:blip r:embed="rId3"/>
          <a:stretch>
            <a:fillRect/>
          </a:stretch>
        </p:blipFill>
        <p:spPr>
          <a:xfrm>
            <a:off x="1446121" y="1691640"/>
            <a:ext cx="9177836"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p.190 • Figure 12.3 — Triangle corners form a straight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W06-L05-2.png"/>
          <p:cNvPicPr>
            <a:picLocks noChangeAspect="1"/>
          </p:cNvPicPr>
          <p:nvPr/>
        </p:nvPicPr>
        <p:blipFill>
          <a:blip r:embed="rId3"/>
          <a:stretch>
            <a:fillRect/>
          </a:stretch>
        </p:blipFill>
        <p:spPr>
          <a:xfrm>
            <a:off x="685800" y="1881614"/>
            <a:ext cx="10698480" cy="368913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p.190 • Example 12.3 — Find the missing gusset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diagram shows an angle beside the triangle. Is it automatically an interior angle?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Identify the triangle’s interior first; use the straight-line relationship if the label is outside.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12A Q4–8 in pairs. Mark known angles and the relevant total on each sketch.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12A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12A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12A Q1–2,9 and 12B Q2; then 12C Q3–4. Use Shape Canvas to vary one angle and explain the consequence.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Shape Canvas triangle and identify its three interior angles.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Predict how changing one angle affects the remaining angle total, then compare the labels.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Inspect the corresponding diagrams in Numeracy Hub Angles and Trig; omit advanced protractor topics.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12A Q6–7 and Exercise Book 12B Q2.</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12A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pic>
        <p:nvPicPr>
          <p:cNvPr id="5" name="Picture 4" descr="12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W06-L05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20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Pythagorean theorem and brace lengths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20  •  2026-12-02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Pythagorean theorem and brace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Find a missing side of a right triangle and verify the result with the squared-side relationship.</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12.4 pp.191–193; calculator roots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12A Q10–16 (p.76); 12B Q3 (p.77); 12C Q1–2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Label the hypotenuse opposite the right angle. Retrieve a square and a square root.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Identify the hypotenuse first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Pythagoras applies to a right triangle.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hypotenuse is opposite the 90° angle and is the longest side.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a² + b² = c² with c as the hypotenuse.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matching units before squaring side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addition or subtraction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the hypotenuse, c = √(a² + b²).</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missing leg, subtract the known leg’s square from c² before taking the root.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Bracket the complete sum or difference under the square root.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squared relationship and whether the hypotenuse is longest.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W06-L06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Square, combine, then take the root</a:t>
            </a:r>
            <a:endParaRPr lang="en-US" sz="3000" dirty="0"/>
          </a:p>
        </p:txBody>
      </p:sp>
      <p:sp>
        <p:nvSpPr>
          <p:cNvPr id="5" name="Text 3"/>
          <p:cNvSpPr/>
          <p:nvPr/>
        </p:nvSpPr>
        <p:spPr>
          <a:xfrm>
            <a:off x="1809705" y="4381500"/>
            <a:ext cx="2666933"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2,000 mm</a:t>
            </a:r>
            <a:endParaRPr lang="en-US" sz="1800" dirty="0"/>
          </a:p>
        </p:txBody>
      </p:sp>
      <p:sp>
        <p:nvSpPr>
          <p:cNvPr id="6" name="Text 4"/>
          <p:cNvSpPr/>
          <p:nvPr/>
        </p:nvSpPr>
        <p:spPr>
          <a:xfrm>
            <a:off x="4762381" y="2762250"/>
            <a:ext cx="1523962"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1,500 mm</a:t>
            </a:r>
            <a:endParaRPr lang="en-US" sz="1800" dirty="0"/>
          </a:p>
        </p:txBody>
      </p:sp>
      <p:sp>
        <p:nvSpPr>
          <p:cNvPr id="7" name="Text 5"/>
          <p:cNvSpPr/>
          <p:nvPr/>
        </p:nvSpPr>
        <p:spPr>
          <a:xfrm>
            <a:off x="2381250" y="3000375"/>
            <a:ext cx="1714457"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 = ?</a:t>
            </a:r>
            <a:endParaRPr lang="en-US" sz="1800" dirty="0"/>
          </a:p>
        </p:txBody>
      </p:sp>
      <p:sp>
        <p:nvSpPr>
          <p:cNvPr id="8" name="Text 6"/>
          <p:cNvSpPr/>
          <p:nvPr/>
        </p:nvSpPr>
        <p:spPr>
          <a:xfrm>
            <a:off x="6857829" y="1952625"/>
            <a:ext cx="4667133"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c = √(1,500² + 2,000²)</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 √6,250,000</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 2,500 mm</a:t>
            </a:r>
            <a:endParaRPr lang="en-US" sz="2100" dirty="0"/>
          </a:p>
        </p:txBody>
      </p:sp>
      <p:sp>
        <p:nvSpPr>
          <p:cNvPr id="9" name="Text 7"/>
          <p:cNvSpPr/>
          <p:nvPr/>
        </p:nvSpPr>
        <p:spPr>
          <a:xfrm>
            <a:off x="6857829" y="3381375"/>
            <a:ext cx="4667133"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Check: 2,500² = 6,250,000.</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The answer exceeds both legs.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For a missing leg, subtract squares.</a:t>
            </a:r>
            <a:endParaRPr lang="en-US" sz="1800" dirty="0"/>
          </a:p>
        </p:txBody>
      </p:sp>
      <p:sp>
        <p:nvSpPr>
          <p:cNvPr id="10" name="Text 8"/>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12A Q10–13. Draw and label every triangle first.</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Explain the bracketed quantity before entering the square-root key.</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Classroom right-triangle example • Diagram is schematic • Use the selected calculator’s root-entry sequence</a:t>
            </a:r>
            <a:endParaRPr lang="en-US" sz="1050" dirty="0"/>
          </a:p>
        </p:txBody>
      </p:sp>
      <p:cxnSp>
        <p:nvCxnSpPr>
          <p:cNvPr id="12" name="Triangle line 12"/>
          <p:cNvCxnSpPr/>
          <p:nvPr/>
        </p:nvCxnSpPr>
        <p:spPr>
          <a:xfrm>
            <a:off x="1143000" y="4238625"/>
            <a:ext cx="3429000" cy="0"/>
          </a:xfrm>
          <a:prstGeom prst="line">
            <a:avLst/>
          </a:prstGeom>
          <a:ln w="38100">
            <a:solidFill>
              <a:srgbClr val="C60016"/>
            </a:solidFill>
            <a:prstDash val="solid"/>
            <a:headEnd type="none"/>
            <a:tailEnd type="none"/>
          </a:ln>
        </p:spPr>
      </p:cxnSp>
      <p:cxnSp>
        <p:nvCxnSpPr>
          <p:cNvPr id="13" name="Triangle line 13"/>
          <p:cNvCxnSpPr/>
          <p:nvPr/>
        </p:nvCxnSpPr>
        <p:spPr>
          <a:xfrm>
            <a:off x="4572000" y="2190750"/>
            <a:ext cx="0" cy="2047875"/>
          </a:xfrm>
          <a:prstGeom prst="line">
            <a:avLst/>
          </a:prstGeom>
          <a:ln w="38100">
            <a:solidFill>
              <a:srgbClr val="C60016"/>
            </a:solidFill>
            <a:prstDash val="solid"/>
            <a:headEnd type="none"/>
            <a:tailEnd type="none"/>
          </a:ln>
        </p:spPr>
      </p:cxnSp>
      <p:cxnSp>
        <p:nvCxnSpPr>
          <p:cNvPr id="14" name="Triangle line 14"/>
          <p:cNvCxnSpPr/>
          <p:nvPr/>
        </p:nvCxnSpPr>
        <p:spPr>
          <a:xfrm flipV="1">
            <a:off x="1143000" y="2190750"/>
            <a:ext cx="3429000" cy="2047875"/>
          </a:xfrm>
          <a:prstGeom prst="line">
            <a:avLst/>
          </a:prstGeom>
          <a:ln w="38100">
            <a:solidFill>
              <a:srgbClr val="C60016"/>
            </a:solidFill>
            <a:prstDash val="solid"/>
            <a:headEnd type="none"/>
            <a:tailEnd type="none"/>
          </a:ln>
        </p:spPr>
      </p:cxnSp>
      <p:cxnSp>
        <p:nvCxnSpPr>
          <p:cNvPr id="15" name="Triangle line 15"/>
          <p:cNvCxnSpPr/>
          <p:nvPr/>
        </p:nvCxnSpPr>
        <p:spPr>
          <a:xfrm>
            <a:off x="4333875" y="4000500"/>
            <a:ext cx="0" cy="238125"/>
          </a:xfrm>
          <a:prstGeom prst="line">
            <a:avLst/>
          </a:prstGeom>
          <a:ln w="25400">
            <a:solidFill>
              <a:srgbClr val="444444"/>
            </a:solidFill>
            <a:prstDash val="solid"/>
            <a:headEnd type="none"/>
            <a:tailEnd type="none"/>
          </a:ln>
        </p:spPr>
      </p:cxnSp>
      <p:cxnSp>
        <p:nvCxnSpPr>
          <p:cNvPr id="16" name="Triangle line 16"/>
          <p:cNvCxnSpPr/>
          <p:nvPr/>
        </p:nvCxnSpPr>
        <p:spPr>
          <a:xfrm>
            <a:off x="4333875" y="4000500"/>
            <a:ext cx="238125" cy="0"/>
          </a:xfrm>
          <a:prstGeom prst="line">
            <a:avLst/>
          </a:prstGeom>
          <a:ln w="25400">
            <a:solidFill>
              <a:srgbClr val="444444"/>
            </a:solidFill>
            <a:prstDash val="solid"/>
            <a:headEnd type="none"/>
            <a:tailEnd type="none"/>
          </a:ln>
        </p:spPr>
      </p:cxnSp>
      <p:pic>
        <p:nvPicPr>
          <p:cNvPr id="17" name="Picture 1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8" name="Rectangle 1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9" name="TextBox 1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20" name="TextBox 1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21" name="TextBox 2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22" name="TextBox 2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23" name="TextBox 2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30</a:t>
            </a:r>
          </a:p>
        </p:txBody>
      </p:sp>
    </p:spTree>
    <p:extLst>
      <p:ext uri="{BB962C8B-B14F-4D97-AF65-F5344CB8AC3E}">
        <p14:creationId xmlns:p14="http://schemas.microsoft.com/office/powerpoint/2010/main" val="800035697"/>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p.192 • Figure 12.5 — Squares on a 3–4–5 triangle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W06-L06-2.png"/>
          <p:cNvPicPr>
            <a:picLocks noChangeAspect="1"/>
          </p:cNvPicPr>
          <p:nvPr/>
        </p:nvPicPr>
        <p:blipFill>
          <a:blip r:embed="rId3"/>
          <a:stretch>
            <a:fillRect/>
          </a:stretch>
        </p:blipFill>
        <p:spPr>
          <a:xfrm>
            <a:off x="685800" y="2109472"/>
            <a:ext cx="10698480" cy="323341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p.192 • Example 12.4 — Find a gusset hypotenuse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missing leg is calculated by adding the two known squares. What should change?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Use the hypotenuse squared minus the known leg squared, then take the square root.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12A Q10–13; learners draw and label each triangle before entering keys.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2,500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12A Q15–16, 12B Q3 and 12C Q1–2. Check Shape Canvas answers only after writing the equation.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shape-right-tri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Create a right triangle in Shape Canvas and hide the hypotenuse or one leg.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Draw the same triangle and write the correct squared-side equation before calculating.</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Numeracy Hub Calculator for the bracketed sum or difference; reveal the Canvas answer last.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12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12A Q10 and Q12 with the right-angle diagram and units.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pic>
        <p:nvPicPr>
          <p:cNvPr id="5" name="Picture 4" descr="12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W06-L06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20  •  2026-12-02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20 | 2026-12-02</dc:title>
  <dc:creator>ACCESS Trades</dc:creator>
  <cp:lastModifiedBy>Gabriel Ostrowidzki</cp:lastModifiedBy>
  <cp:revision>3</cp:revision>
  <dcterms:created xsi:type="dcterms:W3CDTF">2026-10-19T18:44:52Z</dcterms:created>
  <dcterms:modified xsi:type="dcterms:W3CDTF">2026-10-19T19:22:04Z</dcterms:modified>
  <dc:subject>Angles, triangles and drawing interpretation; Pythagorean theorem and brace lengths</dc:subject>
</cp:coreProperties>
</file>