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23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441" r:id="rId178"/>
    <p:sldId id="391" r:id="rId124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461" r:id="rId198"/>
    <p:sldId id="462" r:id="rId199"/>
    <p:sldId id="401" r:id="rId127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  <p:sldId id="475" r:id="rId212"/>
    <p:sldId id="476" r:id="rId213"/>
    <p:sldId id="477" r:id="rId2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4" Type="http://schemas.openxmlformats.org/officeDocument/2006/relationships/slide" Target="slides/slide8.xml"/><Relationship Id="rId127" Type="http://schemas.openxmlformats.org/officeDocument/2006/relationships/slide" Target="slides/slide30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7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7.xml"/><Relationship Id="rId198" Type="http://schemas.openxmlformats.org/officeDocument/2006/relationships/slide" Target="slides/slide28.xml"/><Relationship Id="rId199" Type="http://schemas.openxmlformats.org/officeDocument/2006/relationships/slide" Target="slides/slide29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Relationship Id="rId212" Type="http://schemas.openxmlformats.org/officeDocument/2006/relationships/slide" Target="slides/slide43.xml"/><Relationship Id="rId213" Type="http://schemas.openxmlformats.org/officeDocument/2006/relationships/slide" Target="slides/slide44.xml"/><Relationship Id="rId214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12:45 PM–12:50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  <a:p/>
          <a:p>
            <a:r>
              <a:t>ACCESS EXERCISE BOOK: 12A-Q3</a:t>
            </a:r>
          </a:p>
          <a:p>
            <a:r>
              <a:t>Exact question: Name each angle: 12°, 90°, 179°, 95°.</a:t>
            </a:r>
          </a:p>
          <a:p>
            <a:r>
              <a:t>Instructor answer: acute, right, obtuse, obtuse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12.1–12.3 pp.188–190</a:t>
            </a:r>
          </a:p>
          <a:p>
            <a:r>
              <a:t>ACCESS Trades Numeracy Textbook p.190 — Figure 12.3 and Example 12.3 — Triangle angle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12.1–12.3 pp.188–190</a:t>
            </a:r>
          </a:p>
          <a:p>
            <a:r>
              <a:t>ACCESS Trades Numeracy Textbook p.190 — Figure 12.3 and Example 12.3 — Triangle angle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p.190 • Figure 12.3 — Triangle corners form a straight angle</a:t>
            </a:r>
          </a:p>
          <a:p>
            <a:r>
              <a:t>Exact PDF/printed page: 190. ACCESS Textbook excerpt.</a:t>
            </a:r>
          </a:p>
          <a:p>
            <a:r>
              <a:t>Rearrange the three illustrated corners mentally into a straight line before finding a missing angle.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p.190 • Example 12.3 — Find the missing gusset angle</a:t>
            </a:r>
          </a:p>
          <a:p>
            <a:r>
              <a:t>Exact PDF/printed page: 190. ACCESS Textbook excerpt.</a:t>
            </a:r>
          </a:p>
          <a:p>
            <a:r>
              <a:t>Rearrange the three illustrated corners mentally into a straight line before finding a missing angle.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12A-Q4</a:t>
            </a:r>
          </a:p>
          <a:p>
            <a:r>
              <a:t>Exact question: Two angles sit on a straight line. One is 64°. Find the other.</a:t>
            </a:r>
          </a:p>
          <a:p>
            <a:r>
              <a:t>Instructor answer: 116°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12A-Q4</a:t>
            </a:r>
          </a:p>
          <a:p>
            <a:r>
              <a:t>Exact question: Two angles sit on a straight line. One is 64°. Find the other.</a:t>
            </a:r>
          </a:p>
          <a:p>
            <a:r>
              <a:t>Instructor answer: 116°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Exact scheduled tool activity: Shape Canvas: triangle; change an angle and predict the other angles. Numeracy Hub: Angles and Trig: inspect diagrams only; advanced protractor topics are not required.</a:t>
            </a:r>
          </a:p>
          <a:p>
            <a:r>
              <a:t>Use a Shape Canvas triangle and identify its three interior angles.</a:t>
            </a:r>
          </a:p>
          <a:p>
            <a:r>
              <a:t>Predict how changing one angle affects the remaining angle total, then compare the labels.</a:t>
            </a:r>
          </a:p>
          <a:p>
            <a:r>
              <a:t>Inspect the corresponding diagrams in Numeracy Hub Angles and Trig; omit advanced protractor topics.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12A-Q1</a:t>
            </a:r>
          </a:p>
          <a:p>
            <a:r>
              <a:t>Exact question: How many degrees are in one third of a turn?</a:t>
            </a:r>
          </a:p>
          <a:p>
            <a:r>
              <a:t>Instructor answer: 120°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12C-Q3</a:t>
            </a:r>
          </a:p>
          <a:p>
            <a:r>
              <a:t>Exact question: Find the third angle.</a:t>
            </a:r>
          </a:p>
          <a:p>
            <a:r>
              <a:t>Instructor answer: 62°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12A-Q6</a:t>
            </a:r>
          </a:p>
          <a:p>
            <a:r>
              <a:t>Exact question: A triangle has angles of 52° and 71°. Find the third angle.</a:t>
            </a:r>
          </a:p>
          <a:p>
            <a:r>
              <a:t>Instructor answer: 57°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12A-Q7</a:t>
            </a:r>
          </a:p>
          <a:p>
            <a:r>
              <a:t>Exact question: One acute angle of a right triangle is 38°. Find the other.</a:t>
            </a:r>
          </a:p>
          <a:p>
            <a:r>
              <a:t>Instructor answer: 52°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12B-Q2</a:t>
            </a:r>
          </a:p>
          <a:p>
            <a:r>
              <a:t>Exact question: A flat bar is bent so that one side of the bend makes 142° with the straight part. What angle is on the other side of the bend? Is it acute or obtuse?</a:t>
            </a:r>
          </a:p>
          <a:p>
            <a:r>
              <a:t>Instructor answer: 38°, acute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W06-L05 | 2026-12-02 | 12:45 PM–2:00 PM | 75 minutes</a:t>
            </a:r>
          </a:p>
          <a:p>
            <a:r>
              <a:t>Angles, triangles and drawing interpretation</a:t>
            </a:r>
          </a:p>
          <a:p>
            <a:r>
              <a:t>Mode: Math</a:t>
            </a:r>
          </a:p>
          <a:p>
            <a:r>
              <a:t>Goal: Classify angles and use straight-line and triangle angle totals to find a missing angle.</a:t>
            </a:r>
          </a:p>
          <a:p>
            <a:r>
              <a:t>Read: Textbook sections 12.1–12.3 pp.188–190</a:t>
            </a:r>
          </a:p>
          <a:p>
            <a:r>
              <a:t>Practise: Exercise Book 12A Q1–9 (pp.75–76); 12B Q2 (p.77); 12C Q3–4 (p.79)</a:t>
            </a:r>
          </a:p>
          <a:p>
            <a:r>
              <a:t>Tool: Shape Canvas: triangle; change an angle and predict the other angles. Numeracy Hub: Angles and Trig: inspect diagrams only; advanced protractor topics are not required.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angles, triangles and drawing interpretation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identify 90°, a straight angle and a full turn; use Exercise Book 12A Q3.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complementary and supplementary angles and a triangle’s 180° total. Distinguish the shown angle from its neighbour.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12A Q4–8 in pairs. Mark known angles and the relevant total on each sketch.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12A Q1–2,9 and 12B Q2; then 12C Q3–4. Use Shape Canvas to vary one angle and explain the consequence.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12A Q6–7 and Exercise Book 12B Q2.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Q6 = 57°; Q7 = 52°. 12B Q2 = 38°, acute. Answer Key p.32. Answer Key pp.31–32</a:t>
            </a:r>
          </a:p>
          <a:p/>
          <a:p>
            <a:r>
              <a:t>Identify the hypotenuse and right angle before calculating unknown sides.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1:55 PM–2:00 PM. All slides with this phase share these 5 minutes; do not restart the time allocation for each slide.</a:t>
            </a:r>
          </a:p>
          <a:p/>
          <a:p>
            <a:r>
              <a:t>Next scheduled learning: Identify the hypotenuse and right angle before calculating unknown sides.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2:15 PM.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2:15 PM–2:20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2:20 PM–2:25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12.4 pp.191–193; calculator roots pp.31–33</a:t>
            </a:r>
          </a:p>
          <a:p>
            <a:r>
              <a:t>ACCESS Trades Numeracy Textbook p.192 — Figure 12.5 and Example 12.4 — Squares on triangle sides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12.4 pp.191–193; calculator roots pp.31–33</a:t>
            </a:r>
          </a:p>
          <a:p>
            <a:r>
              <a:t>ACCESS Trades Numeracy Textbook p.192 — Figure 12.5 and Example 12.4 — Squares on triangle sides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p.192 • Figure 12.5 — Squares on a 3–4–5 triangle</a:t>
            </a:r>
          </a:p>
          <a:p>
            <a:r>
              <a:t>Exact PDF/printed page: 192. ACCESS Textbook excerpt.</a:t>
            </a:r>
          </a:p>
          <a:p>
            <a:r>
              <a:t>Connect the square areas in the diagram to the squared-side equation and final square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p.192 • Example 12.4 — Find a gusset hypotenuse</a:t>
            </a:r>
          </a:p>
          <a:p>
            <a:r>
              <a:t>Exact PDF/printed page: 192. ACCESS Textbook excerpt.</a:t>
            </a:r>
          </a:p>
          <a:p>
            <a:r>
              <a:t>Connect the square areas in the diagram to the squared-side equation and final square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12A-Q10</a:t>
            </a:r>
          </a:p>
          <a:p>
            <a:r>
              <a:t>Exact question: Legs of 700 mm and 2,400 mm. Find the hypotenuse.</a:t>
            </a:r>
          </a:p>
          <a:p>
            <a:r>
              <a:t>Instructor answer: 2,500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12A-Q10</a:t>
            </a:r>
          </a:p>
          <a:p>
            <a:r>
              <a:t>Exact question: Legs of 700 mm and 2,400 mm. Find the hypotenuse.</a:t>
            </a:r>
          </a:p>
          <a:p>
            <a:r>
              <a:t>Instructor answer: 2,500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Exact scheduled tool activity: Shape Canvas: right triangle; hide hypotenuse or a leg. Numeracy Hub Calculator: square each known side and bracket the sum before taking its root.</a:t>
            </a:r>
          </a:p>
          <a:p>
            <a:r>
              <a:t>Create a right triangle in Shape Canvas and hide the hypotenuse or one leg.</a:t>
            </a:r>
          </a:p>
          <a:p>
            <a:r>
              <a:t>Draw the same triangle and write the correct squared-side equation before calculating.</a:t>
            </a:r>
          </a:p>
          <a:p>
            <a:r>
              <a:t>Use Numeracy Hub Calculator for the bracketed sum or difference; reveal the Canvas answer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12A-Q15</a:t>
            </a:r>
          </a:p>
          <a:p>
            <a:r>
              <a:t>Exact question: Do 8, 15 and 17 make a right triangle? Show the check.</a:t>
            </a:r>
          </a:p>
          <a:p>
            <a:r>
              <a:t>Instructor answer: Yes. 64 + 225 = 289 = 17²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12C-Q1</a:t>
            </a:r>
          </a:p>
          <a:p>
            <a:r>
              <a:t>Exact question: Find the hypotenuse.</a:t>
            </a:r>
          </a:p>
          <a:p>
            <a:r>
              <a:t>Instructor answer: 390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12A-Q10</a:t>
            </a:r>
          </a:p>
          <a:p>
            <a:r>
              <a:t>Exact question: Legs of 700 mm and 2,400 mm. Find the hypotenuse.</a:t>
            </a:r>
          </a:p>
          <a:p>
            <a:r>
              <a:t>Instructor answer: 2,500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12A-Q12</a:t>
            </a:r>
          </a:p>
          <a:p>
            <a:r>
              <a:t>Exact question: Hypotenuse 1,700 mm, one leg 800 mm. Find the other leg.</a:t>
            </a:r>
          </a:p>
          <a:p>
            <a:r>
              <a:t>Instructor answer: 1,500 mm</a:t>
            </a:r>
          </a:p>
          <a:p>
            <a:r>
              <a:t>Working: √(1,700² − 800²) = √2,250,000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W06-L06 | 2026-12-02 | 2:15 PM–3:30 PM | 75 minutes</a:t>
            </a:r>
          </a:p>
          <a:p>
            <a:r>
              <a:t>Pythagorean theorem and brace lengths</a:t>
            </a:r>
          </a:p>
          <a:p>
            <a:r>
              <a:t>Mode: Math</a:t>
            </a:r>
          </a:p>
          <a:p>
            <a:r>
              <a:t>Goal: Find a missing side of a right triangle and verify the result with the squared-side relationship.</a:t>
            </a:r>
          </a:p>
          <a:p>
            <a:r>
              <a:t>Read: Textbook sections 12.4 pp.191–193; calculator roots pp.31–33</a:t>
            </a:r>
          </a:p>
          <a:p>
            <a:r>
              <a:t>Practise: Exercise Book 12A Q10–16 (p.76); 12B Q3 (p.77); 12C Q1–2 (p.79)</a:t>
            </a:r>
          </a:p>
          <a:p>
            <a:r>
              <a:t>Tool: Shape Canvas: right triangle; hide hypotenuse or a leg. Numeracy Hub Calculator: square each known side and bracket the sum before taking its root.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pythagorean theorem and brace lengths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Label the hypotenuse opposite the right angle. Retrieve a square and a square root.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 = √(a²+b²), then a missing leg using subtraction. Explain why the hypotenuse must be longest.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12A Q10–13; learners draw and label each triangle before entering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12A Q15–16, 12B Q3 and 12C Q1–2. Check Shape Canvas answers only after writing the equation.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12A Q10 and Q12 with the right-angle diagram and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12A Q10 = 2,500 mm; Q12 = 1,500 mm. Answer Key p.32. Answer Key pp.31–32</a:t>
            </a:r>
          </a:p>
          <a:p/>
          <a:p>
            <a:r>
              <a:t>Use the same relationship for full-size 3–4–5 layout and rectangle diagonals.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3:25 PM–3:30 PM. All slides with this phase share these 5 minutes; do not restart the time allocation for each slide.</a:t>
            </a:r>
          </a:p>
          <a:p/>
          <a:p>
            <a:r>
              <a:t>Next scheduled learning: Use the same relationship for full-size 3–4–5 layout and rectangle diagonals.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88" TargetMode="External"/><Relationship Id="rId5" Type="http://schemas.openxmlformats.org/officeDocument/2006/relationships/hyperlink" Target="../../../books/ACCESS-Trades-Numeracy-Exercise-Book.pdf#page=7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88" TargetMode="External"/><Relationship Id="rId5" Type="http://schemas.openxmlformats.org/officeDocument/2006/relationships/hyperlink" Target="../../../books/ACCESS-Trades-Numeracy-Exercise-Book.pdf#page=7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88" TargetMode="External"/><Relationship Id="rId5" Type="http://schemas.openxmlformats.org/officeDocument/2006/relationships/hyperlink" Target="../../../books/ACCESS-Trades-Numeracy-Exercise-Book.pdf#page=7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88" TargetMode="External"/><Relationship Id="rId6" Type="http://schemas.openxmlformats.org/officeDocument/2006/relationships/hyperlink" Target="../../../books/ACCESS-Trades-Numeracy-Exercise-Book.pdf#page=7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88" TargetMode="External"/><Relationship Id="rId5" Type="http://schemas.openxmlformats.org/officeDocument/2006/relationships/hyperlink" Target="../../../books/ACCESS-Trades-Numeracy-Exercise-Book.pdf#page=7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88" TargetMode="External"/><Relationship Id="rId5" Type="http://schemas.openxmlformats.org/officeDocument/2006/relationships/hyperlink" Target="../../../books/ACCESS-Trades-Numeracy-Exercise-Book.pdf#page=7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88" TargetMode="External"/><Relationship Id="rId5" Type="http://schemas.openxmlformats.org/officeDocument/2006/relationships/hyperlink" Target="../../../books/ACCESS-Trades-Numeracy-Exercise-Book.pdf#page=7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90" TargetMode="External"/><Relationship Id="rId6" Type="http://schemas.openxmlformats.org/officeDocument/2006/relationships/hyperlink" Target="../../../books/ACCESS-Trades-Numeracy-Exercise-Book.pdf#page=7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3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90" TargetMode="External"/><Relationship Id="rId6" Type="http://schemas.openxmlformats.org/officeDocument/2006/relationships/hyperlink" Target="../../../books/ACCESS-Trades-Numeracy-Exercise-Book.pdf#page=7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88" TargetMode="External"/><Relationship Id="rId5" Type="http://schemas.openxmlformats.org/officeDocument/2006/relationships/hyperlink" Target="../../../books/ACCESS-Trades-Numeracy-Exercise-Book.pdf#page=7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88" TargetMode="External"/><Relationship Id="rId5" Type="http://schemas.openxmlformats.org/officeDocument/2006/relationships/hyperlink" Target="../../../books/ACCESS-Trades-Numeracy-Exercise-Book.pdf#page=7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4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88" TargetMode="External"/><Relationship Id="rId6" Type="http://schemas.openxmlformats.org/officeDocument/2006/relationships/hyperlink" Target="../../../books/ACCESS-Trades-Numeracy-Exercise-Book.pdf#page=7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4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88" TargetMode="External"/><Relationship Id="rId6" Type="http://schemas.openxmlformats.org/officeDocument/2006/relationships/hyperlink" Target="../../../books/ACCESS-Trades-Numeracy-Exercise-Book.pdf#page=7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88" TargetMode="External"/><Relationship Id="rId5" Type="http://schemas.openxmlformats.org/officeDocument/2006/relationships/hyperlink" Target="../../../books/ACCESS-Trades-Numeracy-Exercise-Book.pdf#page=7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5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88" TargetMode="External"/><Relationship Id="rId6" Type="http://schemas.openxmlformats.org/officeDocument/2006/relationships/hyperlink" Target="../../../books/ACCESS-Trades-Numeracy-Exercise-Book.pdf#page=7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88" TargetMode="External"/><Relationship Id="rId5" Type="http://schemas.openxmlformats.org/officeDocument/2006/relationships/hyperlink" Target="../../../books/ACCESS-Trades-Numeracy-Exercise-Book.pdf#page=7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88" TargetMode="External"/><Relationship Id="rId6" Type="http://schemas.openxmlformats.org/officeDocument/2006/relationships/hyperlink" Target="../../../books/ACCESS-Trades-Numeracy-Exercise-Book.pdf#page=7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88" TargetMode="External"/><Relationship Id="rId6" Type="http://schemas.openxmlformats.org/officeDocument/2006/relationships/hyperlink" Target="../../../books/ACCESS-Trades-Numeracy-Exercise-Book.pdf#page=7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88" TargetMode="External"/><Relationship Id="rId5" Type="http://schemas.openxmlformats.org/officeDocument/2006/relationships/hyperlink" Target="../../../books/ACCESS-Trades-Numeracy-Exercise-Book.pdf#page=7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88" TargetMode="External"/><Relationship Id="rId6" Type="http://schemas.openxmlformats.org/officeDocument/2006/relationships/hyperlink" Target="../../../books/ACCESS-Trades-Numeracy-Exercise-Book.pdf#page=7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9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88" TargetMode="External"/><Relationship Id="rId6" Type="http://schemas.openxmlformats.org/officeDocument/2006/relationships/hyperlink" Target="../../../books/ACCESS-Trades-Numeracy-Exercise-Book.pdf#page=7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0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88" TargetMode="External"/><Relationship Id="rId6" Type="http://schemas.openxmlformats.org/officeDocument/2006/relationships/hyperlink" Target="../../../books/ACCESS-Trades-Numeracy-Exercise-Book.pdf#page=7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88" TargetMode="External"/><Relationship Id="rId5" Type="http://schemas.openxmlformats.org/officeDocument/2006/relationships/hyperlink" Target="../../../books/ACCESS-Trades-Numeracy-Exercise-Book.pdf#page=7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91" TargetMode="External"/><Relationship Id="rId5" Type="http://schemas.openxmlformats.org/officeDocument/2006/relationships/hyperlink" Target="../../../books/ACCESS-Trades-Numeracy-Exercise-Book.pdf#page=7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91" TargetMode="External"/><Relationship Id="rId5" Type="http://schemas.openxmlformats.org/officeDocument/2006/relationships/hyperlink" Target="../../../books/ACCESS-Trades-Numeracy-Exercise-Book.pdf#page=7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91" TargetMode="External"/><Relationship Id="rId5" Type="http://schemas.openxmlformats.org/officeDocument/2006/relationships/hyperlink" Target="../../../books/ACCESS-Trades-Numeracy-Exercise-Book.pdf#page=7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91" TargetMode="External"/><Relationship Id="rId5" Type="http://schemas.openxmlformats.org/officeDocument/2006/relationships/hyperlink" Target="../../../books/ACCESS-Trades-Numeracy-Exercise-Book.pdf#page=7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91" TargetMode="External"/><Relationship Id="rId5" Type="http://schemas.openxmlformats.org/officeDocument/2006/relationships/hyperlink" Target="../../../books/ACCESS-Trades-Numeracy-Exercise-Book.pdf#page=7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1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92" TargetMode="External"/><Relationship Id="rId6" Type="http://schemas.openxmlformats.org/officeDocument/2006/relationships/hyperlink" Target="../../../books/ACCESS-Trades-Numeracy-Exercise-Book.pdf#page=7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2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92" TargetMode="External"/><Relationship Id="rId6" Type="http://schemas.openxmlformats.org/officeDocument/2006/relationships/hyperlink" Target="../../../books/ACCESS-Trades-Numeracy-Exercise-Book.pdf#page=7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91" TargetMode="External"/><Relationship Id="rId5" Type="http://schemas.openxmlformats.org/officeDocument/2006/relationships/hyperlink" Target="../../../books/ACCESS-Trades-Numeracy-Exercise-Book.pdf#page=7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91" TargetMode="External"/><Relationship Id="rId5" Type="http://schemas.openxmlformats.org/officeDocument/2006/relationships/hyperlink" Target="../../../books/ACCESS-Trades-Numeracy-Exercise-Book.pdf#page=7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3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91" TargetMode="External"/><Relationship Id="rId6" Type="http://schemas.openxmlformats.org/officeDocument/2006/relationships/hyperlink" Target="../../../books/ACCESS-Trades-Numeracy-Exercise-Book.pdf#page=7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3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91" TargetMode="External"/><Relationship Id="rId6" Type="http://schemas.openxmlformats.org/officeDocument/2006/relationships/hyperlink" Target="../../../books/ACCESS-Trades-Numeracy-Exercise-Book.pdf#page=7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91" TargetMode="External"/><Relationship Id="rId5" Type="http://schemas.openxmlformats.org/officeDocument/2006/relationships/hyperlink" Target="../../../books/ACCESS-Trades-Numeracy-Exercise-Book.pdf#page=7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4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91" TargetMode="External"/><Relationship Id="rId6" Type="http://schemas.openxmlformats.org/officeDocument/2006/relationships/hyperlink" Target="../../../books/ACCESS-Trades-Numeracy-Exercise-Book.pdf#page=7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91" TargetMode="External"/><Relationship Id="rId5" Type="http://schemas.openxmlformats.org/officeDocument/2006/relationships/hyperlink" Target="../../../books/ACCESS-Trades-Numeracy-Exercise-Book.pdf#page=7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5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91" TargetMode="External"/><Relationship Id="rId6" Type="http://schemas.openxmlformats.org/officeDocument/2006/relationships/hyperlink" Target="../../../books/ACCESS-Trades-Numeracy-Exercise-Book.pdf#page=7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91" TargetMode="External"/><Relationship Id="rId6" Type="http://schemas.openxmlformats.org/officeDocument/2006/relationships/hyperlink" Target="../../../books/ACCESS-Trades-Numeracy-Exercise-Book.pdf#page=7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91" TargetMode="External"/><Relationship Id="rId5" Type="http://schemas.openxmlformats.org/officeDocument/2006/relationships/hyperlink" Target="../../../books/ACCESS-Trades-Numeracy-Exercise-Book.pdf#page=7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13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91" TargetMode="External"/><Relationship Id="rId6" Type="http://schemas.openxmlformats.org/officeDocument/2006/relationships/hyperlink" Target="../../../books/ACCESS-Trades-Numeracy-Exercise-Book.pdf#page=7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91" TargetMode="External"/><Relationship Id="rId6" Type="http://schemas.openxmlformats.org/officeDocument/2006/relationships/hyperlink" Target="../../../books/ACCESS-Trades-Numeracy-Exercise-Book.pdf#page=7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91" TargetMode="External"/><Relationship Id="rId5" Type="http://schemas.openxmlformats.org/officeDocument/2006/relationships/hyperlink" Target="../../../books/ACCESS-Trades-Numeracy-Exercise-Book.pdf#page=7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20  | 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December 2,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Angles, triangles and drawing interpretation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12:45 PM–2:00 PM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Pythagorean theorem and brace lengths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2:15 PM–3:30 PM  •  Math  •  75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6  •  2 scheduled blocks  •  150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20  •  2026-12-02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20  /  WEEK 6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12:45 PM–2:00 PM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Angles, triangles and drawing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12:45 PM–12:50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12:50 PM–12:55 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12:55 PM–1:10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1:10 PM–1:25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1:25 PM–1:45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1:45 PM–1:55 PM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1:55 PM–2:00 PM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6, Lesson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2:15 PM–3:30 PM  •  75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Pythagorean theorem and brace lengths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2:15 PM–2:20 PM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2:20 PM–2:25 PM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2:25 PM–2:40 PM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2:40 PM–2:55 PM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2:55 PM–3:15 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3:15 PM–3:25 PM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3:25 PM–3:30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6, Lesson 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2:00 PM–2:15 PM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START  •  12:45 PM–12:50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Angles, triangles and drawing 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Classify angles and use straight-line and triangle angle totals to find a missing angle.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Describe a prior use of the skill; identify the given and unknown quantities.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12A Q1–9 (pp.75–76); 12B Q2 (p.77); 12C Q3–4 (p.79)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Try to identify 90°, a straight angle and a full turn; use Exercise Book 12A Q3.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retrieval task independently; explain the method before checking.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12A Q1–9 (pp.75–76); 12B Q2 (p.77); 12C Q3–4 (p.79)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from the Exercise Book  |  12A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pic>
        <p:nvPicPr>
          <p:cNvPr id="5" name="Picture 4" descr="12A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Use the correct angle total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right angle is 90°; a straight angle is 180°; a full turn is 360°.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Complementary angles add to 90°.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Supplementary angles add to 180°.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Mark the relevant total on the drawing before subtracting a known angle.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Find a missing angle in a triangle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The three interior angles of a triangle add to 180°.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Missing angle = 180° − the other two interior angles.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An adjacent outside angle is a different angle from the one inside.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that your three interior angles total 180°.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W06-L05  •  TEACH  •  12:55 PM–1:10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 missing angle to its total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 angles • Total 90°.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one is 33°, the other is 90° − 33° = 57°.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585" y="271462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Supplementary angles • Total 180°.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one is 128°, the other is 180° − 128° = 52°.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371475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Triangle example • Known angles 90° and 52°.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angle = 180° − 90° − 52° = 38°; it is acute.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4953000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Work 12A Q4–8. Mark known angles and the relevant total.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Canvas: vary one triangle angle and predict the consequence.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Numeracy Hub: inspect diagrams; advanced protractor topics are not required.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examples demonstrate the three relationships • Textbook pp.188–190 • Sketch and label before calculating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08</a:t>
            </a:r>
          </a:p>
        </p:txBody>
      </p:sp>
    </p:spTree>
    <p:extLst>
      <p:ext uri="{BB962C8B-B14F-4D97-AF65-F5344CB8AC3E}">
        <p14:creationId xmlns:p14="http://schemas.microsoft.com/office/powerpoint/2010/main" val="3380798217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pic>
        <p:nvPicPr>
          <p:cNvPr id="5" name="Picture 4" descr="W06-L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121" y="1691640"/>
            <a:ext cx="9177836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p.190 • Figure 12.3 — Triangle corners form a straight angle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pic>
        <p:nvPicPr>
          <p:cNvPr id="5" name="Picture 4" descr="W06-L05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81614"/>
            <a:ext cx="10698480" cy="36891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p.190 • Example 12.3 — Find the missing gusset angle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diagram shows an angle beside the triangle. Is it automatically an interior angle?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Identify the triangle’s interior first; use the straight-line relationship if the label is outside.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Exercise Book 12A Q4–8 in pairs. Mark known angles and the relevant total on each sketch.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pairs, alternating solver and checker. Write a diagram, formula, units and estimate.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12A Q1–9 (pp.75–76); 12B Q2 (p.77); 12C Q3–4 (p.79)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12A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pic>
        <p:nvPicPr>
          <p:cNvPr id="5" name="Picture 4" descr="12A-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12A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pic>
        <p:nvPicPr>
          <p:cNvPr id="5" name="Picture 4" descr="12A-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116°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12A Q1–2,9 and 12B Q2; then 12C Q3–4. Use Shape Canvas to vary one angle and explain the consequence.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check with tools; correct one error and explain the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12A Q1–9 (pp.75–76); 12B Q2 (p.77); 12C Q3–4 (p.79)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pic>
        <p:nvPicPr>
          <p:cNvPr id="5" name="Picture 4" descr="hub-ang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a Shape Canvas triangle and identify its three interior angles.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Predict how changing one angle affects the remaining angle total, then compare the labels.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Inspect the corresponding diagrams in Numeracy Hub Angles and Trig; omit advanced protractor topics.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12A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pic>
        <p:nvPicPr>
          <p:cNvPr id="5" name="Picture 4" descr="12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12C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pic>
        <p:nvPicPr>
          <p:cNvPr id="5" name="Picture 4" descr="12C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278" y="1773936"/>
            <a:ext cx="8865523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12A Q6–7 and Exercise Book 12B Q2.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final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12A Q1–9 (pp.75–76); 12B Q2 (p.77); 12C Q3–4 (p.79)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12A Q6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pic>
        <p:nvPicPr>
          <p:cNvPr id="5" name="Picture 4" descr="12A-Q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12A Q7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pic>
        <p:nvPicPr>
          <p:cNvPr id="5" name="Picture 4" descr="12A-Q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12B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pic>
        <p:nvPicPr>
          <p:cNvPr id="5" name="Picture 4" descr="12B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58618"/>
            <a:ext cx="10698480" cy="18425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W06-L05  •  WRAP UP  •  1:55 PM–2:00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12.1–12.3 pp.188–190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changed in your understanding? Where will you use it? What should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record a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12A Q1–9 (pp.75–76); 12B Q2 (p.77); 12C Q3–4 (p.79)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20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2:00 PM–2:15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Pythagorean theorem and brace lengths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20  •  2026-12-02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START  •  2:15 PM–2:20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Pythagorean theorem and brace lengths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Find a missing side of a right triangle and verify the result with the squared-side relationship.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Describe a prior use of the skill; identify the given and unknown quantities.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12A Q10–16 (p.76); 12B Q3 (p.77); 12C Q1–2 (p.79)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RECALL  •  2:20 PM–2:25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Label the hypotenuse opposite the right angle. Retrieve a square and a square root.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retrieval task independently; explain the method before checking.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12A Q10–16 (p.76); 12B Q3 (p.77); 12C Q1–2 (p.79)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Identify the hypotenuse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Pythagoras applies to a right triangle.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The hypotenuse is opposite the 90° angle and is the longest side.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Write a² + b² = c² with c as the hypotenuse.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matching units before squaring side lengths.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Choose addition or subtraction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the hypotenuse, c = √(a² + b²).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a missing leg, subtract the known leg’s square from c² before taking the root.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Bracket the complete sum or difference under the square root.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the squared relationship and whether the hypotenuse is longest.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W06-L06  •  TEACH  •  2:25 PM–2:40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Square, combine, then take the root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809705" y="4381500"/>
            <a:ext cx="266693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762381" y="2762250"/>
            <a:ext cx="152396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 mm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381250" y="3000375"/>
            <a:ext cx="171445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= 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7829" y="1952625"/>
            <a:ext cx="4667133" cy="1119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= √(1,500² + 2,000²)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√6,250,000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2,500 mm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857829" y="3381375"/>
            <a:ext cx="4667133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2,500² = 6,250,000.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exceeds both legs.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missing leg, subtract squares.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09585" y="533400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Work 12A Q10–13. Draw and label every triangle first.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the bracketed quantity before entering the square-root key.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right-triangle example • Diagram is schematic • Use the selected calculator’s root-entry sequence</a:t>
            </a:r>
            <a:endParaRPr lang="en-US" sz="1050" dirty="0"/>
          </a:p>
        </p:txBody>
      </p:sp>
      <p:cxnSp>
        <p:nvCxnSpPr>
          <p:cNvPr id="12" name="Triangle line 12"/>
          <p:cNvCxnSpPr/>
          <p:nvPr/>
        </p:nvCxnSpPr>
        <p:spPr>
          <a:xfrm>
            <a:off x="1143000" y="4238625"/>
            <a:ext cx="3429000" cy="0"/>
          </a:xfrm>
          <a:prstGeom prst="line">
            <a:avLst/>
          </a:prstGeom>
          <a:ln w="38100">
            <a:solidFill>
              <a:srgbClr val="C60016"/>
            </a:solidFill>
            <a:prstDash val="solid"/>
            <a:headEnd type="none"/>
            <a:tailEnd type="none"/>
          </a:ln>
        </p:spPr>
      </p:cxnSp>
      <p:cxnSp>
        <p:nvCxnSpPr>
          <p:cNvPr id="13" name="Triangle line 13"/>
          <p:cNvCxnSpPr/>
          <p:nvPr/>
        </p:nvCxnSpPr>
        <p:spPr>
          <a:xfrm>
            <a:off x="4572000" y="2190750"/>
            <a:ext cx="0" cy="2047875"/>
          </a:xfrm>
          <a:prstGeom prst="line">
            <a:avLst/>
          </a:prstGeom>
          <a:ln w="38100">
            <a:solidFill>
              <a:srgbClr val="C60016"/>
            </a:solidFill>
            <a:prstDash val="solid"/>
            <a:headEnd type="none"/>
            <a:tailEnd type="none"/>
          </a:ln>
        </p:spPr>
      </p:cxnSp>
      <p:cxnSp>
        <p:nvCxnSpPr>
          <p:cNvPr id="14" name="Triangle line 14"/>
          <p:cNvCxnSpPr/>
          <p:nvPr/>
        </p:nvCxnSpPr>
        <p:spPr>
          <a:xfrm flipV="1">
            <a:off x="1143000" y="2190750"/>
            <a:ext cx="3429000" cy="2047875"/>
          </a:xfrm>
          <a:prstGeom prst="line">
            <a:avLst/>
          </a:prstGeom>
          <a:ln w="38100">
            <a:solidFill>
              <a:srgbClr val="C60016"/>
            </a:solidFill>
            <a:prstDash val="solid"/>
            <a:headEnd type="none"/>
            <a:tailEnd type="none"/>
          </a:ln>
        </p:spPr>
      </p:cxnSp>
      <p:cxnSp>
        <p:nvCxnSpPr>
          <p:cNvPr id="15" name="Triangle line 15"/>
          <p:cNvCxnSpPr/>
          <p:nvPr/>
        </p:nvCxnSpPr>
        <p:spPr>
          <a:xfrm>
            <a:off x="4333875" y="4000500"/>
            <a:ext cx="0" cy="238125"/>
          </a:xfrm>
          <a:prstGeom prst="line">
            <a:avLst/>
          </a:prstGeom>
          <a:ln w="25400">
            <a:solidFill>
              <a:srgbClr val="444444"/>
            </a:solidFill>
            <a:prstDash val="solid"/>
            <a:headEnd type="none"/>
            <a:tailEnd type="none"/>
          </a:ln>
        </p:spPr>
      </p:cxnSp>
      <p:cxnSp>
        <p:nvCxnSpPr>
          <p:cNvPr id="16" name="Triangle line 16"/>
          <p:cNvCxnSpPr/>
          <p:nvPr/>
        </p:nvCxnSpPr>
        <p:spPr>
          <a:xfrm>
            <a:off x="4333875" y="4000500"/>
            <a:ext cx="238125" cy="0"/>
          </a:xfrm>
          <a:prstGeom prst="line">
            <a:avLst/>
          </a:prstGeom>
          <a:ln w="25400">
            <a:solidFill>
              <a:srgbClr val="444444"/>
            </a:solidFill>
            <a:prstDash val="solid"/>
            <a:headEnd type="none"/>
            <a:tailEnd type="none"/>
          </a:ln>
        </p:spPr>
      </p:cxnSp>
      <p:pic>
        <p:nvPicPr>
          <p:cNvPr id="17" name="Picture 1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30</a:t>
            </a:r>
          </a:p>
        </p:txBody>
      </p:sp>
    </p:spTree>
    <p:extLst>
      <p:ext uri="{BB962C8B-B14F-4D97-AF65-F5344CB8AC3E}">
        <p14:creationId xmlns:p14="http://schemas.microsoft.com/office/powerpoint/2010/main" val="800035697"/>
      </p:ext>
    </p:extLst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192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pic>
        <p:nvPicPr>
          <p:cNvPr id="5" name="Picture 4" descr="W06-L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09767"/>
            <a:ext cx="10698480" cy="40328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p.192 • Figure 12.5 — Squares on a 3–4–5 triangle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192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pic>
        <p:nvPicPr>
          <p:cNvPr id="5" name="Picture 4" descr="W06-L0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09472"/>
            <a:ext cx="10698480" cy="32334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p.192 • Example 12.4 — Find a gusset hypotenuse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missing leg is calculated by adding the two known squares. What should change?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Use the hypotenuse squared minus the known leg squared, then take the square root.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Exercise Book 12A Q10–13; learners draw and label each triangle before entering keys.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pairs, alternating solver and checker. Write a diagram, formula, units and estimate.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12A Q10–16 (p.76); 12B Q3 (p.77); 12C Q1–2 (p.79)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12A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pic>
        <p:nvPicPr>
          <p:cNvPr id="5" name="Picture 4" descr="12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12A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pic>
        <p:nvPicPr>
          <p:cNvPr id="5" name="Picture 4" descr="12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2,500 mm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12A Q15–16, 12B Q3 and 12C Q1–2. Check Shape Canvas answers only after writing the equation.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check with tools; correct one error and explain the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12A Q10–16 (p.76); 12B Q3 (p.77); 12C Q1–2 (p.79)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pic>
        <p:nvPicPr>
          <p:cNvPr id="5" name="Picture 4" descr="shape-righ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Create a right triangle in Shape Canvas and hide the hypotenuse or one leg.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Draw the same triangle and write the correct squared-side equation before calculating.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Numeracy Hub Calculator for the bracketed sum or difference; reveal the Canvas answer last.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12A Q15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pic>
        <p:nvPicPr>
          <p:cNvPr id="5" name="Picture 4" descr="12A-Q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12C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pic>
        <p:nvPicPr>
          <p:cNvPr id="5" name="Picture 4" descr="12C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278" y="1773936"/>
            <a:ext cx="8865523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12A Q10 and Q12 with the right-angle diagram and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final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12A Q10–16 (p.76); 12B Q3 (p.77); 12C Q1–2 (p.79)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12A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pic>
        <p:nvPicPr>
          <p:cNvPr id="5" name="Picture 4" descr="12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12A Q12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pic>
        <p:nvPicPr>
          <p:cNvPr id="5" name="Picture 4" descr="12A-Q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W06-L06  •  WRAP UP  •  3:25 PM–3:30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12.4 pp.191–193; calculator roots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changed in your understanding? Where will you use it? What should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record a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12A Q10–16 (p.76); 12B Q3 (p.77); 12C Q1–2 (p.79)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20  •  2026-12-02  •  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45</Slides>
  <Notes>45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20 | 2026-12-02</dc:title>
  <dc:creator>ACCESS Trades</dc:creator>
  <dc:subject>Angles, triangles and drawing interpretation; Pythagorean theorem and brace lengths</dc:subject>
</cp:coreProperties>
</file>