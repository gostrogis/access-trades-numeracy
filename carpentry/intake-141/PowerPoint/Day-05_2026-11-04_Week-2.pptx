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97" r:id="rId30"/>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00" r:id="rId33"/>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8.xml"/><Relationship Id="rId3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Worked teaching example retained from original slide 29.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Worked teaching example retained from original slide 32.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Schedule'!D13 | 'Math Week 2'!A95</a:t>
            </a:r>
          </a:p>
          <a:p>
            <a:r>
              <a:t>'Carpentry Schedule'!D15 | 'Math Week 2'!A112</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Recall, 9:05 AM–9:10 AM. All slides with this phase share these 5 minutes; do not restart the time allocation for each slide.</a:t>
            </a:r>
          </a:p>
          <a:p/>
          <a:p>
            <a:r>
              <a:t>ACCESS EXERCISE BOOK: 4A-Q1</a:t>
            </a:r>
          </a:p>
          <a:p>
            <a:r>
              <a:t>Exact question: What fraction of the bar is shaded? Is it a proper fraction?</a:t>
            </a:r>
          </a:p>
          <a:p>
            <a:r>
              <a:t>Instructor answer: 5/12. Yes, the numerator is smaller than the denominator.</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2'!A95</a:t>
            </a:r>
          </a:p>
          <a:p>
            <a:r>
              <a:t>'Math Week 2'!B97</a:t>
            </a:r>
          </a:p>
          <a:p>
            <a:r>
              <a:t>'Math Week 2'!B99</a:t>
            </a:r>
          </a:p>
          <a:p>
            <a:r>
              <a:t>Textbook sections 4.1–4.4 pp.56–61; sections 4.5 pp.62–63</a:t>
            </a:r>
          </a:p>
          <a:p>
            <a:r>
              <a:t>ACCESS CARPENTRY SLIDES.pptx slides 28–30</a:t>
            </a:r>
          </a:p>
          <a:p>
            <a:r>
              <a:t>ACCESS Trades Numeracy Textbook, PDF/printed p.57</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2'!A95</a:t>
            </a:r>
          </a:p>
          <a:p>
            <a:r>
              <a:t>'Math Week 2'!B97</a:t>
            </a:r>
          </a:p>
          <a:p>
            <a:r>
              <a:t>'Math Week 2'!B99</a:t>
            </a:r>
          </a:p>
          <a:p>
            <a:r>
              <a:t>Textbook sections 4.1–4.4 pp.56–61; sections 4.5 pp.62–63</a:t>
            </a:r>
          </a:p>
          <a:p>
            <a:r>
              <a:t>ACCESS CARPENTRY SLIDES.pptx slides 28–30</a:t>
            </a:r>
          </a:p>
          <a:p>
            <a:r>
              <a:t>ACCESS Trades Numeracy Textbook, PDF/printed p.57</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p.57 · Figure 4.2: one inch divided into sixteenths.</a:t>
            </a:r>
          </a:p>
          <a:p>
            <a:r>
              <a:t>Exact PDF/printed page: 57. Excerpt reproduced from the supplied ACCESS Textbook.</a:t>
            </a:r>
          </a:p>
          <a:p>
            <a:r>
              <a:t>Figure 4.2 labels one inch divided into sixteenths and gives equivalent tape fractions.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p.56 · Figure 4.1: larger denominators mean smaller equal parts.</a:t>
            </a:r>
          </a:p>
          <a:p>
            <a:r>
              <a:t>Exact PDF/printed page: 56. Excerpt reproduced from the supplied ACCESS Textbook.</a:t>
            </a:r>
          </a:p>
          <a:p>
            <a:r>
              <a:t>Figure 4.2 labels one inch divided into sixteenths and gives equivalent tape fractions.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4A-Q3</a:t>
            </a:r>
          </a:p>
          <a:p>
            <a:r>
              <a:t>Exact question: Read marks A, B, C and D to the nearest  1/16 in.</a:t>
            </a:r>
          </a:p>
          <a:p>
            <a:r>
              <a:t>Instructor answer: A:  9/16 in, B: 1 5/8 in, C: 2 1/4 in, D: 2 13/16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4A-Q3</a:t>
            </a:r>
          </a:p>
          <a:p>
            <a:r>
              <a:t>Exact question: Read marks A, B, C and D to the nearest  1/16 in.</a:t>
            </a:r>
          </a:p>
          <a:p>
            <a:r>
              <a:t>Instructor answer: A:  9/16 in, B: 1 5/8 in, C: 2 1/4 in, D: 2 13/16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Numeracy Hub: Measuring Tools: rule/tape explanations; Fabrication tape-reading practice. Shape Canvas: choose in units and show rectangle dimensions.</a:t>
            </a:r>
          </a:p>
          <a:p>
            <a:r>
              <a:t>Supported: Compare a real inch rule with Numeracy Hub Measuring Tools; identify zero and graduation.</a:t>
            </a:r>
          </a:p>
          <a:p>
            <a:r>
              <a:t>Supported: Read 4A Q3 and explain Q6–7; in Shape Canvas use inch dimension labels.</a:t>
            </a:r>
          </a:p>
          <a:p>
            <a:r>
              <a:t>Independent practice: Complete the assigned marks and fractions, then compare with tape-reading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4A-Q2</a:t>
            </a:r>
          </a:p>
          <a:p>
            <a:r>
              <a:t>Exact question: What fraction of the circles is shaded? Write it as an improper fraction and as a mixed number.</a:t>
            </a:r>
          </a:p>
          <a:p>
            <a:r>
              <a:t>Instructor answer: 19/8 = 2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4A-Q4</a:t>
            </a:r>
          </a:p>
          <a:p>
            <a:r>
              <a:t>Exact question: This half inch of a rule is marked in 32nds. Read marks E and F.</a:t>
            </a:r>
          </a:p>
          <a:p>
            <a:r>
              <a:t>Instructor answer: E:  7/32 in, F:  15/32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4A-Q6</a:t>
            </a:r>
          </a:p>
          <a:p>
            <a:r>
              <a:t>Exact question: Write  14/32 and  36/64 in lowest terms.</a:t>
            </a:r>
          </a:p>
          <a:p>
            <a:r>
              <a:t>Instructor answer: 7/16 and  9/16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4A-Q8</a:t>
            </a:r>
          </a:p>
          <a:p>
            <a:r>
              <a:t>Exact question: Which is longer,  9/16 in or  5/8 in? By how much?</a:t>
            </a:r>
          </a:p>
          <a:p>
            <a:r>
              <a:t>Instructor answer: 5/8 in, by  1/16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W02-L05 | 2026-11-04 | 9:00 AM–10:15 AM | 75 minutes</a:t>
            </a:r>
          </a:p>
          <a:p>
            <a:r>
              <a:t>Fractions and inch-tape markings</a:t>
            </a:r>
          </a:p>
          <a:p>
            <a:r>
              <a:t>Mode: Math</a:t>
            </a:r>
          </a:p>
          <a:p>
            <a:r>
              <a:t>Goal: Read inch graduations, reduce fractions and compare fractional lengths using a common denominator.</a:t>
            </a:r>
          </a:p>
          <a:p>
            <a:r>
              <a:t>Read: Textbook sections 4.1–4.4 pp.56–61; sections 4.5 pp.62–63</a:t>
            </a:r>
          </a:p>
          <a:p>
            <a:r>
              <a:t>Practise: Exercise Book 4A Q1–4 (p.25), Q6–11 (p.26)</a:t>
            </a:r>
          </a:p>
          <a:p>
            <a:r>
              <a:t>Tool: Numeracy Hub: Measuring Tools: rule/tape explanations; Fabrication tape-reading practice. Shape Canvas: choose in units and show rectangle dimensions.</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2'!A101:F101</a:t>
            </a:r>
          </a:p>
          <a:p/>
          <a:p>
            <a:r>
              <a:t>9:05 AM–9:10 AM | 2 Recall | 5 min</a:t>
            </a:r>
          </a:p>
          <a:p>
            <a:r>
              <a:t>Instructor: Ask learners to locate 1/2, 1/4 and 1/8 on an inch rule; use Exercise Book 4A Q1 to check fraction vocabulary.</a:t>
            </a:r>
          </a:p>
          <a:p>
            <a:r>
              <a:t>Learners: Try first without displayed answers.</a:t>
            </a:r>
          </a:p>
          <a:p>
            <a:r>
              <a:t>Materials/check: Identify support needs</a:t>
            </a:r>
          </a:p>
          <a:p>
            <a:r>
              <a:t>Source: 'Math Week 2'!A102:F102</a:t>
            </a:r>
          </a:p>
          <a:p/>
          <a:p>
            <a:r>
              <a:t>9:10 AM–9:25 AM | 3 Teach | 15 min</a:t>
            </a:r>
          </a:p>
          <a:p>
            <a:r>
              <a:t>Instructor: Model reading from zero, counting graduations, reducing fractions and converting mixed/improper forms. Keep calculator use after the visual explanation.</a:t>
            </a:r>
          </a:p>
          <a:p>
            <a:r>
              <a:t>Learners: Follow the example; explain the next step.</a:t>
            </a:r>
          </a:p>
          <a:p>
            <a:r>
              <a:t>Materials/check: Textbook; worked example</a:t>
            </a:r>
          </a:p>
          <a:p>
            <a:r>
              <a:t>Source: 'Math Week 2'!A103:F103</a:t>
            </a:r>
          </a:p>
          <a:p/>
          <a:p>
            <a:r>
              <a:t>9:25 AM–9:40 AM | 4 Together | 15 min</a:t>
            </a:r>
          </a:p>
          <a:p>
            <a:r>
              <a:t>Instructor: Complete Exercise Book 4A Q3 and Q6–7 with a projected tape/rule. Pair learners to explain equivalent marks.</a:t>
            </a:r>
          </a:p>
          <a:p>
            <a:r>
              <a:t>Learners: Work in pairs; alternate solver and checker.</a:t>
            </a:r>
          </a:p>
          <a:p>
            <a:r>
              <a:t>Materials/check: Exercise Book; tool above</a:t>
            </a:r>
          </a:p>
          <a:p>
            <a:r>
              <a:t>Source: 'Math Week 2'!A104:F104</a:t>
            </a:r>
          </a:p>
          <a:p/>
          <a:p>
            <a:r>
              <a:t>9:40 AM–10:00 AM | 5 Practise | 20 min</a:t>
            </a:r>
          </a:p>
          <a:p>
            <a:r>
              <a:t>Instructor: Complete Exercise Book 4A Q2,4,8–11. Read real rule/tape marks and compare them with the Numeracy Hub. Use extra time for guided rereading; finer 32nds/64ths are extension.</a:t>
            </a:r>
          </a:p>
          <a:p>
            <a:r>
              <a:t>Learners: Show working and units; estimate, then check.</a:t>
            </a:r>
          </a:p>
          <a:p>
            <a:r>
              <a:t>Materials/check: Paper first; tool second</a:t>
            </a:r>
          </a:p>
          <a:p>
            <a:r>
              <a:t>Source: 'Math Week 2'!A105:F105</a:t>
            </a:r>
          </a:p>
          <a:p/>
          <a:p>
            <a:r>
              <a:t>10:00 AM–10:10 AM | 6 Check | 10 min</a:t>
            </a:r>
          </a:p>
          <a:p>
            <a:r>
              <a:t>Instructor: Exercise Book 4A Q6 and Q8; explain which fraction is longer and how much longer.</a:t>
            </a:r>
          </a:p>
          <a:p>
            <a:r>
              <a:t>Learners: Answer independently and show the method.</a:t>
            </a:r>
          </a:p>
          <a:p>
            <a:r>
              <a:t>Materials/check: Teacher answers below</a:t>
            </a:r>
          </a:p>
          <a:p>
            <a:r>
              <a:t>Source: 'Math Week 2'!A106:F106</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2'!A107:F107</a:t>
            </a:r>
          </a:p>
          <a:p/>
          <a:p>
            <a:r>
              <a:t>INSTRUCTOR ONLY: REVEAL ASSESSMENT ANSWERS AFTER THE ATTEMPT</a:t>
            </a:r>
          </a:p>
          <a:p>
            <a:r>
              <a:t>4A Q6 = 7/16 and 9/16. Q8: 5/8 in is longer than 9/16 in by 1/16 in. Answer Key p.13. Answer Key pp.11–13</a:t>
            </a:r>
          </a:p>
          <a:p/>
          <a:p>
            <a:r>
              <a:t>Next: practise reading and comparing marks on an inch rule.</a:t>
            </a:r>
          </a:p>
          <a:p/>
          <a:p>
            <a:r>
              <a:t>Sources: 'Math Week 2'!A14:E14; 'Carpentry Schedule'!D13; 'Math Week 2'!A95</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Next: practise reading and comparing marks on an inch rule.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2'!A112</a:t>
            </a:r>
          </a:p>
          <a:p>
            <a:r>
              <a:t>'Math Week 2'!B114</a:t>
            </a:r>
          </a:p>
          <a:p>
            <a:r>
              <a:t>'Math Week 2'!B116</a:t>
            </a:r>
          </a:p>
          <a:p>
            <a:r>
              <a:t>Textbook Chapter 4 pp.56–59</a:t>
            </a:r>
          </a:p>
          <a:p>
            <a:r>
              <a:t>ACCESS CARPENTRY SLIDES.pptx slides 31–33</a:t>
            </a:r>
          </a:p>
          <a:p>
            <a:r>
              <a:t>ACCESS Trades Numeracy Textbook, PDF/printed p.58</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2'!A112</a:t>
            </a:r>
          </a:p>
          <a:p>
            <a:r>
              <a:t>'Math Week 2'!B114</a:t>
            </a:r>
          </a:p>
          <a:p>
            <a:r>
              <a:t>'Math Week 2'!B116</a:t>
            </a:r>
          </a:p>
          <a:p>
            <a:r>
              <a:t>Textbook Chapter 4 pp.56–59</a:t>
            </a:r>
          </a:p>
          <a:p>
            <a:r>
              <a:t>ACCESS CARPENTRY SLIDES.pptx slides 31–33</a:t>
            </a:r>
          </a:p>
          <a:p>
            <a:r>
              <a:t>ACCESS Trades Numeracy Textbook, PDF/printed p.58</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p.57 · Figure 4.3: read whole inches, then fractional spaces.</a:t>
            </a:r>
          </a:p>
          <a:p>
            <a:r>
              <a:t>Exact PDF/printed page: 57. Excerpt reproduced from the supplied ACCESS Textbook.</a:t>
            </a:r>
          </a:p>
          <a:p>
            <a:r>
              <a:t>Example 4.2 models reading whole inches then fractional spaces; the callout explains counting error.</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p.58 · Example 4.2: name and simplify the complete reading.</a:t>
            </a:r>
          </a:p>
          <a:p>
            <a:r>
              <a:t>Exact PDF/printed page: 58. Excerpt reproduced from the supplied ACCESS Textbook.</a:t>
            </a:r>
          </a:p>
          <a:p>
            <a:r>
              <a:t>Example 4.2 models reading whole inches then fractional spaces; the callout explains counting error.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4A-Q3</a:t>
            </a:r>
          </a:p>
          <a:p>
            <a:r>
              <a:t>Exact question: Read marks A, B, C and D to the nearest  1/16 in.</a:t>
            </a:r>
          </a:p>
          <a:p>
            <a:r>
              <a:t>Instructor answer: A:  9/16 in, B: 1 5/8 in, C: 2 1/4 in, D: 2 13/16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4A-Q3</a:t>
            </a:r>
          </a:p>
          <a:p>
            <a:r>
              <a:t>Exact question: Read marks A, B, C and D to the nearest  1/16 in.</a:t>
            </a:r>
          </a:p>
          <a:p>
            <a:r>
              <a:t>Instructor answer: A:  9/16 in, B: 1 5/8 in, C: 2 1/4 in, D: 2 13/16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Numeracy Hub: Measuring Tools and Fabrication tape-reading practice. Use an actual inch rule or tape alongside the display.</a:t>
            </a:r>
          </a:p>
          <a:p>
            <a:r>
              <a:t>Supported: Use an actual inch rule alongside Numeracy Hub Measuring Tools; locate matching graduations.</a:t>
            </a:r>
          </a:p>
          <a:p>
            <a:r>
              <a:t>Supported: Read marks A–D in 4A Q3 aloud with a partner before independent practice.</a:t>
            </a:r>
          </a:p>
          <a:p>
            <a:r>
              <a:t>Independent practice: Create four marks for a partner, verify with the rule and record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4A-Q1</a:t>
            </a:r>
          </a:p>
          <a:p>
            <a:r>
              <a:t>Exact question: What fraction of the bar is shaded? Is it a proper fraction?</a:t>
            </a:r>
          </a:p>
          <a:p>
            <a:r>
              <a:t>Instructor answer: 5/12. Yes, the numerator is smaller than the denominator.</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4A-Q2</a:t>
            </a:r>
          </a:p>
          <a:p>
            <a:r>
              <a:t>Exact question: What fraction of the circles is shaded? Write it as an improper fraction and as a mixed number.</a:t>
            </a:r>
          </a:p>
          <a:p>
            <a:r>
              <a:t>Instructor answer: 19/8 = 2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4A-Q3</a:t>
            </a:r>
          </a:p>
          <a:p>
            <a:r>
              <a:t>Exact question: Read marks A, B, C and D to the nearest  1/16 in.</a:t>
            </a:r>
          </a:p>
          <a:p>
            <a:r>
              <a:t>Instructor answer: A:  9/16 in, B: 1 5/8 in, C: 2 1/4 in, D: 2 13/16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W02-L06 | 2026-11-04 | 10:30 AM–12:00 PM | 90 minutes</a:t>
            </a:r>
          </a:p>
          <a:p>
            <a:r>
              <a:t>Tape and rule reading practice</a:t>
            </a:r>
          </a:p>
          <a:p>
            <a:r>
              <a:t>Mode: Math</a:t>
            </a:r>
          </a:p>
          <a:p>
            <a:r>
              <a:t>Goal: Read inch markings consistently and record each reading in lowest terms.</a:t>
            </a:r>
          </a:p>
          <a:p>
            <a:r>
              <a:t>Read: Textbook Chapter 4 pp.56–59</a:t>
            </a:r>
          </a:p>
          <a:p>
            <a:r>
              <a:t>Practise: Exercise Book 4A Q1–4 (p.25); Q6–9 (p.26)</a:t>
            </a:r>
          </a:p>
          <a:p>
            <a:r>
              <a:t>Tool: Numeracy Hub: Measuring Tools and Fabrication tape-reading practice. Use an actual inch rule or tape alongside the display.</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2'!A118:F118</a:t>
            </a:r>
          </a:p>
          <a:p/>
          <a:p>
            <a:r>
              <a:t>10:35 AM–10:40 AM | 2 Recall | 5 min</a:t>
            </a:r>
          </a:p>
          <a:p>
            <a:r>
              <a:t>Instructor: Locate zero, one inch, one half and one quarter; ask what the smallest shown graduation represents.</a:t>
            </a:r>
          </a:p>
          <a:p>
            <a:r>
              <a:t>Learners: Try first without displayed answers.</a:t>
            </a:r>
          </a:p>
          <a:p>
            <a:r>
              <a:t>Materials/check: Identify support needs</a:t>
            </a:r>
          </a:p>
          <a:p>
            <a:r>
              <a:t>Source: 'Math Week 2'!A119:F119</a:t>
            </a:r>
          </a:p>
          <a:p/>
          <a:p>
            <a:r>
              <a:t>10:40 AM–10:55 AM | 3 Teach | 15 min</a:t>
            </a:r>
          </a:p>
          <a:p>
            <a:r>
              <a:t>Instructor: Model counting spaces rather than lines, then reducing the reading. Explain why the graduation determines the precision.</a:t>
            </a:r>
          </a:p>
          <a:p>
            <a:r>
              <a:t>Learners: Follow the example; explain the next step.</a:t>
            </a:r>
          </a:p>
          <a:p>
            <a:r>
              <a:t>Materials/check: Textbook; worked example</a:t>
            </a:r>
          </a:p>
          <a:p>
            <a:r>
              <a:t>Source: 'Math Week 2'!A120:F120</a:t>
            </a:r>
          </a:p>
          <a:p/>
          <a:p>
            <a:r>
              <a:t>10:55 AM–11:10 AM | 4 Together | 15 min</a:t>
            </a:r>
          </a:p>
          <a:p>
            <a:r>
              <a:t>Instructor: Read 4A question 3 together. Partners point to each mark and say the whole number and fraction aloud.</a:t>
            </a:r>
          </a:p>
          <a:p>
            <a:r>
              <a:t>Learners: Work in pairs; alternate solver and checker.</a:t>
            </a:r>
          </a:p>
          <a:p>
            <a:r>
              <a:t>Materials/check: Exercise Book; tool above</a:t>
            </a:r>
          </a:p>
          <a:p>
            <a:r>
              <a:t>Source: 'Math Week 2'!A121:F121</a:t>
            </a:r>
          </a:p>
          <a:p/>
          <a:p>
            <a:r>
              <a:t>11:10 AM–11:45 AM | 5 Practise | 35 min</a:t>
            </a:r>
          </a:p>
          <a:p>
            <a:r>
              <a:t>Instructor: Complete 4A questions 1–4 and 6–9. Partners create four marks for one another to read; verify with the rule and record corrections.</a:t>
            </a:r>
          </a:p>
          <a:p>
            <a:r>
              <a:t>Learners: Show working and units; estimate, then check.</a:t>
            </a:r>
          </a:p>
          <a:p>
            <a:r>
              <a:t>Materials/check: Paper first; tool second</a:t>
            </a:r>
          </a:p>
          <a:p>
            <a:r>
              <a:t>Source: 'Math Week 2'!A122:F122</a:t>
            </a:r>
          </a:p>
          <a:p/>
          <a:p>
            <a:r>
              <a:t>11:45 AM–11:55 AM | 6 Check | 10 min</a:t>
            </a:r>
          </a:p>
          <a:p>
            <a:r>
              <a:t>Instructor: Read marks A–D in 4A question 3 without prompts.</a:t>
            </a:r>
          </a:p>
          <a:p>
            <a:r>
              <a:t>Learners: Answer independently and show the method.</a:t>
            </a:r>
          </a:p>
          <a:p>
            <a:r>
              <a:t>Materials/check: Teacher answers below</a:t>
            </a:r>
          </a:p>
          <a:p>
            <a:r>
              <a:t>Source: 'Math Week 2'!A123:F123</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2'!A124:F124</a:t>
            </a:r>
          </a:p>
          <a:p/>
          <a:p>
            <a:r>
              <a:t>INSTRUCTOR ONLY: REVEAL ASSESSMENT ANSWERS AFTER THE ATTEMPT</a:t>
            </a:r>
          </a:p>
          <a:p>
            <a:r>
              <a:t>A = 9/16 in; B = 1 5/8 in; C = 2 1/4 in; D = 2 13/16 in. Answer Key page 13.</a:t>
            </a:r>
          </a:p>
          <a:p/>
          <a:p>
            <a:r>
              <a:t>Next: compare and order fractional sizes.</a:t>
            </a:r>
          </a:p>
          <a:p/>
          <a:p>
            <a:r>
              <a:t>Sources: 'Math Week 2'!A15:E15; 'Carpentry Schedule'!D15; 'Math Week 2'!A112</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Next: compare and order fractional sizes.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Resources/ACCESS-Tools/books/ACCESS-Trades-Numeracy-Textbook.pdf#page=5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Resources/ACCESS-Tools/books/ACCESS-Trades-Numeracy-Textbook.pdf#page=5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Resources/ACCESS-Tools/books/ACCESS-Trades-Numeracy-Textbook.pdf#page=58"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05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Fractions and inch-tape markings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Tape and rule reading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05  •  2026-11-04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05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Fractions and inch-tape markings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Tape and rule reading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Fractions and inch-tape markings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Read inch graduations, reduce fractions and compare fractional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4.1–4.4 pp.56–61; sections 4.5 pp.62–63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Q1–4 (p.25), Q6–11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locate 1/2, 1/4 and 1/8 on an inch rule; use Exercise Book 4A Q1 to check fraction vocabulary.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4A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 an inch as equal spaces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Start at zero and find the smallest marked graduation.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denominator tells how many equal spaces make one inch.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Count spaces to the mark; the zero line is not the first space.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Read whole inches first, then the fractional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Rename the fraction without moving the mark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numerator counts selected spaces; the denominator names their size.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top and bottom by the same factor to reduce a fraction.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Equivalent fractions label the same position on the rule.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common denominator before comparing two fractional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W02-L05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Count spaces, then simplify</a:t>
            </a:r>
            <a:endParaRPr lang="en-US" sz="3000" dirty="0"/>
          </a:p>
        </p:txBody>
      </p:sp>
      <p:sp>
        <p:nvSpPr>
          <p:cNvPr id="5" name="Text 3"/>
          <p:cNvSpPr/>
          <p:nvPr/>
        </p:nvSpPr>
        <p:spPr>
          <a:xfrm>
            <a:off x="609585" y="161925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Schematic inch rule—not a physical measuring scale.</a:t>
            </a:r>
            <a:endParaRPr lang="en-US" sz="1800" dirty="0"/>
          </a:p>
        </p:txBody>
      </p:sp>
      <p:sp>
        <p:nvSpPr>
          <p:cNvPr id="6" name="Shape 4"/>
          <p:cNvSpPr/>
          <p:nvPr/>
        </p:nvSpPr>
        <p:spPr>
          <a:xfrm>
            <a:off x="1523962" y="2590800"/>
            <a:ext cx="9143771" cy="19050"/>
          </a:xfrm>
          <a:prstGeom prst="rect">
            <a:avLst/>
          </a:prstGeom>
          <a:solidFill>
            <a:srgbClr val="1A1A1A"/>
          </a:solidFill>
          <a:ln w="12700">
            <a:solidFill>
              <a:srgbClr val="FFFFFF">
                <a:alpha val="0"/>
              </a:srgbClr>
            </a:solidFill>
            <a:prstDash val="solid"/>
          </a:ln>
        </p:spPr>
        <p:txBody>
          <a:bodyPr/>
          <a:lstStyle/>
          <a:p>
            <a:endParaRPr lang="en-CA"/>
          </a:p>
        </p:txBody>
      </p:sp>
      <p:sp>
        <p:nvSpPr>
          <p:cNvPr id="7" name="Shape 5"/>
          <p:cNvSpPr/>
          <p:nvPr/>
        </p:nvSpPr>
        <p:spPr>
          <a:xfrm>
            <a:off x="1523962"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8" name="Shape 6"/>
          <p:cNvSpPr/>
          <p:nvPr/>
        </p:nvSpPr>
        <p:spPr>
          <a:xfrm>
            <a:off x="2095448"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9" name="Shape 7"/>
          <p:cNvSpPr/>
          <p:nvPr/>
        </p:nvSpPr>
        <p:spPr>
          <a:xfrm>
            <a:off x="2666933"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0" name="Shape 8"/>
          <p:cNvSpPr/>
          <p:nvPr/>
        </p:nvSpPr>
        <p:spPr>
          <a:xfrm>
            <a:off x="3238419"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1" name="Shape 9"/>
          <p:cNvSpPr/>
          <p:nvPr/>
        </p:nvSpPr>
        <p:spPr>
          <a:xfrm>
            <a:off x="3809905"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12" name="Shape 10"/>
          <p:cNvSpPr/>
          <p:nvPr/>
        </p:nvSpPr>
        <p:spPr>
          <a:xfrm>
            <a:off x="4381390"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3" name="Shape 11"/>
          <p:cNvSpPr/>
          <p:nvPr/>
        </p:nvSpPr>
        <p:spPr>
          <a:xfrm>
            <a:off x="4952876"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4" name="Shape 12"/>
          <p:cNvSpPr/>
          <p:nvPr/>
        </p:nvSpPr>
        <p:spPr>
          <a:xfrm>
            <a:off x="5524362"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5" name="Shape 13"/>
          <p:cNvSpPr/>
          <p:nvPr/>
        </p:nvSpPr>
        <p:spPr>
          <a:xfrm>
            <a:off x="6095848"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16" name="Shape 14"/>
          <p:cNvSpPr/>
          <p:nvPr/>
        </p:nvSpPr>
        <p:spPr>
          <a:xfrm>
            <a:off x="6667333"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7" name="Shape 15"/>
          <p:cNvSpPr/>
          <p:nvPr/>
        </p:nvSpPr>
        <p:spPr>
          <a:xfrm>
            <a:off x="7238819"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8" name="Shape 16"/>
          <p:cNvSpPr/>
          <p:nvPr/>
        </p:nvSpPr>
        <p:spPr>
          <a:xfrm>
            <a:off x="7810305"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19" name="Shape 17"/>
          <p:cNvSpPr/>
          <p:nvPr/>
        </p:nvSpPr>
        <p:spPr>
          <a:xfrm>
            <a:off x="8381790"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20" name="Shape 18"/>
          <p:cNvSpPr/>
          <p:nvPr/>
        </p:nvSpPr>
        <p:spPr>
          <a:xfrm>
            <a:off x="8953276"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1" name="Shape 19"/>
          <p:cNvSpPr/>
          <p:nvPr/>
        </p:nvSpPr>
        <p:spPr>
          <a:xfrm>
            <a:off x="9524762"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2" name="Shape 20"/>
          <p:cNvSpPr/>
          <p:nvPr/>
        </p:nvSpPr>
        <p:spPr>
          <a:xfrm>
            <a:off x="10096248" y="2286000"/>
            <a:ext cx="19050" cy="304800"/>
          </a:xfrm>
          <a:prstGeom prst="rect">
            <a:avLst/>
          </a:prstGeom>
          <a:solidFill>
            <a:srgbClr val="1A1A1A"/>
          </a:solidFill>
          <a:ln w="12700">
            <a:solidFill>
              <a:srgbClr val="FFFFFF">
                <a:alpha val="0"/>
              </a:srgbClr>
            </a:solidFill>
            <a:prstDash val="solid"/>
          </a:ln>
        </p:spPr>
        <p:txBody>
          <a:bodyPr/>
          <a:lstStyle/>
          <a:p>
            <a:endParaRPr lang="en-CA"/>
          </a:p>
        </p:txBody>
      </p:sp>
      <p:sp>
        <p:nvSpPr>
          <p:cNvPr id="23" name="Shape 21"/>
          <p:cNvSpPr/>
          <p:nvPr/>
        </p:nvSpPr>
        <p:spPr>
          <a:xfrm>
            <a:off x="10667733" y="2286000"/>
            <a:ext cx="19050" cy="457200"/>
          </a:xfrm>
          <a:prstGeom prst="rect">
            <a:avLst/>
          </a:prstGeom>
          <a:solidFill>
            <a:srgbClr val="1A1A1A"/>
          </a:solidFill>
          <a:ln w="12700">
            <a:solidFill>
              <a:srgbClr val="FFFFFF">
                <a:alpha val="0"/>
              </a:srgbClr>
            </a:solidFill>
            <a:prstDash val="solid"/>
          </a:ln>
        </p:spPr>
        <p:txBody>
          <a:bodyPr/>
          <a:lstStyle/>
          <a:p>
            <a:endParaRPr lang="en-CA"/>
          </a:p>
        </p:txBody>
      </p:sp>
      <p:sp>
        <p:nvSpPr>
          <p:cNvPr id="24" name="Text 22"/>
          <p:cNvSpPr/>
          <p:nvPr/>
        </p:nvSpPr>
        <p:spPr>
          <a:xfrm>
            <a:off x="1428714" y="2857500"/>
            <a:ext cx="95247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0</a:t>
            </a:r>
            <a:endParaRPr lang="en-US" sz="1800" dirty="0"/>
          </a:p>
        </p:txBody>
      </p:sp>
      <p:sp>
        <p:nvSpPr>
          <p:cNvPr id="25" name="Text 23"/>
          <p:cNvSpPr/>
          <p:nvPr/>
        </p:nvSpPr>
        <p:spPr>
          <a:xfrm>
            <a:off x="3476538" y="2857500"/>
            <a:ext cx="1333467"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4/16</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 1/4</a:t>
            </a:r>
            <a:endParaRPr lang="en-US" sz="1800" dirty="0"/>
          </a:p>
        </p:txBody>
      </p:sp>
      <p:sp>
        <p:nvSpPr>
          <p:cNvPr id="26" name="Text 24"/>
          <p:cNvSpPr/>
          <p:nvPr/>
        </p:nvSpPr>
        <p:spPr>
          <a:xfrm>
            <a:off x="5762481" y="2857500"/>
            <a:ext cx="1333467"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8/16</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 1/2</a:t>
            </a:r>
            <a:endParaRPr lang="en-US" sz="1800" dirty="0"/>
          </a:p>
        </p:txBody>
      </p:sp>
      <p:sp>
        <p:nvSpPr>
          <p:cNvPr id="27" name="Text 25"/>
          <p:cNvSpPr/>
          <p:nvPr/>
        </p:nvSpPr>
        <p:spPr>
          <a:xfrm>
            <a:off x="8000800" y="2857500"/>
            <a:ext cx="1333467"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12/16</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 3/4</a:t>
            </a:r>
            <a:endParaRPr lang="en-US" sz="1800" dirty="0"/>
          </a:p>
        </p:txBody>
      </p:sp>
      <p:sp>
        <p:nvSpPr>
          <p:cNvPr id="28" name="Text 26"/>
          <p:cNvSpPr/>
          <p:nvPr/>
        </p:nvSpPr>
        <p:spPr>
          <a:xfrm>
            <a:off x="10381990" y="2857500"/>
            <a:ext cx="1238219"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1 in</a:t>
            </a:r>
            <a:endParaRPr lang="en-US" sz="1800" dirty="0"/>
          </a:p>
        </p:txBody>
      </p:sp>
      <p:sp>
        <p:nvSpPr>
          <p:cNvPr id="29" name="Text 27"/>
          <p:cNvSpPr/>
          <p:nvPr/>
        </p:nvSpPr>
        <p:spPr>
          <a:xfrm>
            <a:off x="609585" y="4048125"/>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Six spaces = 6/16 in = 3/8 in</a:t>
            </a:r>
            <a:endParaRPr lang="en-US" sz="2400" dirty="0"/>
          </a:p>
        </p:txBody>
      </p:sp>
      <p:sp>
        <p:nvSpPr>
          <p:cNvPr id="30" name="Text 28"/>
          <p:cNvSpPr/>
          <p:nvPr/>
        </p:nvSpPr>
        <p:spPr>
          <a:xfrm>
            <a:off x="609585" y="4905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4A Q3 and Q6–7. Point to each mark and explain equivalent names. Use Numeracy Hub Measuring Tools and an actual rule.</a:t>
            </a:r>
            <a:endParaRPr lang="en-US" sz="1800" dirty="0"/>
          </a:p>
        </p:txBody>
      </p:sp>
      <p:sp>
        <p:nvSpPr>
          <p:cNvPr id="31" name="Text 2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L5 • Read labels, not screen size • Shape Canvas in inch units</a:t>
            </a:r>
            <a:endParaRPr lang="en-US" sz="1050" dirty="0"/>
          </a:p>
        </p:txBody>
      </p:sp>
      <p:pic>
        <p:nvPicPr>
          <p:cNvPr id="32" name="Picture 3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3" name="Rectangle 3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34" name="TextBox 3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35" name="TextBox 3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36" name="TextBox 3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37" name="TextBox 3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38" name="TextBox 3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08</a:t>
            </a:r>
          </a:p>
        </p:txBody>
      </p:sp>
    </p:spTree>
    <p:extLst>
      <p:ext uri="{BB962C8B-B14F-4D97-AF65-F5344CB8AC3E}">
        <p14:creationId xmlns:p14="http://schemas.microsoft.com/office/powerpoint/2010/main" val="292857831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W02-L05.png"/>
          <p:cNvPicPr>
            <a:picLocks noChangeAspect="1"/>
          </p:cNvPicPr>
          <p:nvPr/>
        </p:nvPicPr>
        <p:blipFill>
          <a:blip r:embed="rId3"/>
          <a:stretch>
            <a:fillRect/>
          </a:stretch>
        </p:blipFill>
        <p:spPr>
          <a:xfrm>
            <a:off x="685800" y="2532807"/>
            <a:ext cx="10698480" cy="238674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p.57 · Figure 4.2: one inch divided into sixteenths.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56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W02-L05-2.png"/>
          <p:cNvPicPr>
            <a:picLocks noChangeAspect="1"/>
          </p:cNvPicPr>
          <p:nvPr/>
        </p:nvPicPr>
        <p:blipFill>
          <a:blip r:embed="rId3"/>
          <a:stretch>
            <a:fillRect/>
          </a:stretch>
        </p:blipFill>
        <p:spPr>
          <a:xfrm>
            <a:off x="685800" y="2442793"/>
            <a:ext cx="10698480" cy="256677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p.56 · Figure 4.1: larger denominators mean smaller equal parts.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mark six sixteenth-inch spaces from zero is recorded as 6/6 in. Which part was misread?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denominator describes the rule’s 16 spaces per inch. The reading is 6/16 in = 3/8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4A Q3 and Q6–7 with a projected tape/rule. Work with a partner to explain equivalent marks.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4A Q2,4,8–11. Read real rule/tape marks and compare them with the Numeracy Hub. Complete assigned Q4 (32nds). Use extra time for guided rereading; additional fine-graduation work is extension.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Compare a real inch rule with Numeracy Hub Measuring Tools; identify zero and graduation.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Read 4A Q3 and explain Q6–7; in Shape Canvas use inch dimension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Complete the assigned marks and fractions, then compare with tape-reading practice.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4.png"/>
          <p:cNvPicPr>
            <a:picLocks noChangeAspect="1"/>
          </p:cNvPicPr>
          <p:nvPr/>
        </p:nvPicPr>
        <p:blipFill>
          <a:blip r:embed="rId3"/>
          <a:stretch>
            <a:fillRect/>
          </a:stretch>
        </p:blipFill>
        <p:spPr>
          <a:xfrm>
            <a:off x="685800" y="2311908"/>
            <a:ext cx="10698480" cy="253593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4A Q6 and Q8; explain which fraction is longer and how much longer.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W02-L05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Tape and rule reading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05  •  2026-11-04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Tape and rule reading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Read inch markings consistently and record each reading in lowest terms.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pp.56–59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Q1–4 (p.25); Q6–9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Locate zero, one inch, one half and one quarter; ask what the smallest shown graduation represents.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Say the complete reading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Locate the whole-inch mark immediately before the point.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Count fractional spaces from that whole-inch mark.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Combine the whole inches and fraction, then reduce the fraction.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Say the whole reading aloud so a partner can check what was recorded.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Let the tool set the precision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rule’s smallest graduation sets the precision you can read.</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Do not invent finer precision than the marked divisions support.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inch unit with every written reading.</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When readings disagree, return to zero and count spaces again.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W02-L06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Say the whole reading aloud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Classroom example: a mark is ten sixteenth-inch spaces past 2 in.</a:t>
            </a:r>
            <a:endParaRPr lang="en-US" sz="1800" dirty="0"/>
          </a:p>
        </p:txBody>
      </p:sp>
      <p:sp>
        <p:nvSpPr>
          <p:cNvPr id="6" name="Text 4"/>
          <p:cNvSpPr/>
          <p:nvPr/>
        </p:nvSpPr>
        <p:spPr>
          <a:xfrm>
            <a:off x="609585" y="2571750"/>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2 + 10/16 = 2 + 5/8 = 2 5/8 in</a:t>
            </a:r>
            <a:endParaRPr lang="en-US" sz="2400" dirty="0"/>
          </a:p>
        </p:txBody>
      </p:sp>
      <p:sp>
        <p:nvSpPr>
          <p:cNvPr id="7" name="Text 5"/>
          <p:cNvSpPr/>
          <p:nvPr/>
        </p:nvSpPr>
        <p:spPr>
          <a:xfrm>
            <a:off x="609585" y="34766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the point lies between 2 1/2 in and 2 3/4 in.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“5/8” alone loses the two whole inches.</a:t>
            </a:r>
            <a:endParaRPr lang="en-US" sz="1800" dirty="0"/>
          </a:p>
        </p:txBody>
      </p:sp>
      <p:sp>
        <p:nvSpPr>
          <p:cNvPr id="8" name="Text 6"/>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Read Exercise Book 4A Q3.</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One partner points; the other says the whole number and fraction.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Confirm with an actual rule and Numeracy Hub Measuring Tools.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L6 • Lowest terms change the name, not the position of the mark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29</a:t>
            </a:r>
          </a:p>
        </p:txBody>
      </p:sp>
    </p:spTree>
    <p:extLst>
      <p:ext uri="{BB962C8B-B14F-4D97-AF65-F5344CB8AC3E}">
        <p14:creationId xmlns:p14="http://schemas.microsoft.com/office/powerpoint/2010/main" val="266834896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57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W02-L06.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p.57 · Figure 4.3: read whole inches, then fractional spaces.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58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W02-L06-2.png"/>
          <p:cNvPicPr>
            <a:picLocks noChangeAspect="1"/>
          </p:cNvPicPr>
          <p:nvPr/>
        </p:nvPicPr>
        <p:blipFill>
          <a:blip r:embed="rId3"/>
          <a:stretch>
            <a:fillRect/>
          </a:stretch>
        </p:blipFill>
        <p:spPr>
          <a:xfrm>
            <a:off x="1075216" y="1691640"/>
            <a:ext cx="991964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p.58 · Example 4.2: name and simplify the complete reading.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point ten sixteenth-inch spaces beyond 2 in is written as 5/8 in. What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whole inches were dropped. The complete reading is 2 10/16 in = 2 5/8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Read 4A question 3 together. Partners point to each mark and say the whole number and fraction aloud.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questions 1–4 and 6–9. Partners create four marks for one another to read; verify with the rule and record corrections.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Use an actual inch rule alongside Numeracy Hub Measuring Tools; locate matching graduations.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Read marks A–D in 4A Q3 aloud with a partner before independent practice.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Create four marks for a partner, verify with the rule and record corrections.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4A-Q2.png"/>
          <p:cNvPicPr>
            <a:picLocks noChangeAspect="1"/>
          </p:cNvPicPr>
          <p:nvPr/>
        </p:nvPicPr>
        <p:blipFill>
          <a:blip r:embed="rId3"/>
          <a:stretch>
            <a:fillRect/>
          </a:stretch>
        </p:blipFill>
        <p:spPr>
          <a:xfrm>
            <a:off x="1751551" y="1773936"/>
            <a:ext cx="8566977"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Read marks A–D in 4A question 3 without prompts.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W02-L06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05  •  2026-11-04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05 | 2026-11-04</dc:title>
  <dc:creator>ACCESS Trades</dc:creator>
  <cp:lastModifiedBy>Gabriel Ostrowidzki</cp:lastModifiedBy>
  <cp:revision>3</cp:revision>
  <dcterms:created xsi:type="dcterms:W3CDTF">2026-10-19T18:44:52Z</dcterms:created>
  <dcterms:modified xsi:type="dcterms:W3CDTF">2026-10-19T19:22:04Z</dcterms:modified>
  <dc:subject>Fractions and inch-tape markings; Tape and rule reading practice</dc:subject>
</cp:coreProperties>
</file>