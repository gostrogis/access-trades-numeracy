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3.xml" ContentType="application/vnd.openxmlformats-officedocument.presentationml.notesSlide+xml"/>
  <Override PartName="/ppt/notesSlides/notesSlide2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278" r:id="rId2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294" r:id="rId2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4" Type="http://schemas.openxmlformats.org/officeDocument/2006/relationships/slide" Target="slides/slide7.xml"/><Relationship Id="rId27"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Worked teaching example retained from original slide 23.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Worked teaching example retained from original slide 26.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Schedule'!C17 | 'Math Week 2'!A60</a:t>
            </a:r>
          </a:p>
          <a:p>
            <a:r>
              <a:t>'Carpentry Schedule'!C19 | 'Math Week 2'!A77</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'Math Week 2'!A60</a:t>
            </a:r>
          </a:p>
          <a:p>
            <a:r>
              <a:t>'Math Week 2'!B62</a:t>
            </a:r>
          </a:p>
          <a:p>
            <a:r>
              <a:t>'Math Week 2'!B64</a:t>
            </a:r>
          </a:p>
          <a:p>
            <a:r>
              <a:t>Textbook Chapter 3 pp.45–51; Chapter 2 pp.31–33</a:t>
            </a:r>
          </a:p>
          <a:p>
            <a:r>
              <a:t>ACCESS CARPENTRY SLIDES.pptx slides 22–24</a:t>
            </a:r>
          </a:p>
          <a:p>
            <a:r>
              <a:t>ACCESS Trades Numeracy Textbook, PDF/printed p.47</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'Math Week 2'!A60</a:t>
            </a:r>
          </a:p>
          <a:p>
            <a:r>
              <a:t>'Math Week 2'!B62</a:t>
            </a:r>
          </a:p>
          <a:p>
            <a:r>
              <a:t>'Math Week 2'!B64</a:t>
            </a:r>
          </a:p>
          <a:p>
            <a:r>
              <a:t>Textbook Chapter 3 pp.45–51; Chapter 2 pp.31–33</a:t>
            </a:r>
          </a:p>
          <a:p>
            <a:r>
              <a:t>ACCESS CARPENTRY SLIDES.pptx slides 22–24</a:t>
            </a:r>
          </a:p>
          <a:p>
            <a:r>
              <a:t>ACCESS Trades Numeracy Textbook, PDF/printed p.47</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Textbook p.47 · Example 3.5: identify what the square belongs to.</a:t>
            </a:r>
          </a:p>
          <a:p>
            <a:r>
              <a:t>Exact PDF/printed page: 47. Excerpt reproduced from the supplied ACCESS Textbook.</a:t>
            </a:r>
          </a:p>
          <a:p>
            <a:r>
              <a:t>Example 3.5 compares the different bases in an exponent expression and a squared bracket.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Textbook p.48 · Example 3.6: one root over a sum versus two separate roots.</a:t>
            </a:r>
          </a:p>
          <a:p>
            <a:r>
              <a:t>Exact PDF/printed page: 48. Excerpt reproduced from the supplied ACCESS Textbook.</a:t>
            </a:r>
          </a:p>
          <a:p>
            <a:r>
              <a:t>Example 3.5 compares the different bases in an exponent expression and a squared bracket.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3A-Q4</a:t>
            </a:r>
          </a:p>
          <a:p>
            <a:r>
              <a:t>Exact question: (15 − 7) × 4</a:t>
            </a:r>
          </a:p>
          <a:p>
            <a:r>
              <a:t>Instructor answer: 32</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3A-Q4</a:t>
            </a:r>
          </a:p>
          <a:p>
            <a:r>
              <a:t>Exact question: (15 − 7) × 4</a:t>
            </a:r>
          </a:p>
          <a:p>
            <a:r>
              <a:t>Instructor answer: 32</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Numeracy Hub: Order of Operations, then Common mistakes; choose only taught examples.</a:t>
            </a:r>
          </a:p>
          <a:p>
            <a:r>
              <a:t>Supported: Open Numeracy Hub → Order of Operations → Common mistakes; use taught examples only.</a:t>
            </a:r>
          </a:p>
          <a:p>
            <a:r>
              <a:t>Independent practice: Write a deliberate bracket error beside a corrected version; explain the scope.</a:t>
            </a:r>
          </a:p>
          <a:p>
            <a:r>
              <a:t>Independent checking: Number the operations and compare the correct working with the tool.</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3A-Q8</a:t>
            </a:r>
          </a:p>
          <a:p>
            <a:r>
              <a:t>Exact question: 6² − 4 × 5</a:t>
            </a:r>
          </a:p>
          <a:p>
            <a:r>
              <a:t>Instructor answer: 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3A-Q9</a:t>
            </a:r>
          </a:p>
          <a:p>
            <a:r>
              <a:t>Exact question: (6 − 4)² × 5</a:t>
            </a:r>
          </a:p>
          <a:p>
            <a:r>
              <a:t>Instructor answer: 20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3A-Q8</a:t>
            </a:r>
          </a:p>
          <a:p>
            <a:r>
              <a:t>Exact question: 6² − 4 × 5</a:t>
            </a:r>
          </a:p>
          <a:p>
            <a:r>
              <a:t>Instructor answer: 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3A-Q9</a:t>
            </a:r>
          </a:p>
          <a:p>
            <a:r>
              <a:t>Exact question: (6 − 4)² × 5</a:t>
            </a:r>
          </a:p>
          <a:p>
            <a:r>
              <a:t>Instructor answer: 20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W02-L03 | 2026-11-03 | 12:45 PM–2:00 PM | 75 minutes</a:t>
            </a:r>
          </a:p>
          <a:p>
            <a:r>
              <a:t>Brackets, squares and square roots</a:t>
            </a:r>
          </a:p>
          <a:p>
            <a:r>
              <a:t>Mode: Math</a:t>
            </a:r>
          </a:p>
          <a:p>
            <a:r>
              <a:t>Goal: Explain what an exponent or root acts on and avoid applying it to the wrong part of an expression.</a:t>
            </a:r>
          </a:p>
          <a:p>
            <a:r>
              <a:t>Read: Textbook Chapter 3 pp.45–51; Chapter 2 pp.31–33</a:t>
            </a:r>
          </a:p>
          <a:p>
            <a:r>
              <a:t>Practise: Exercise Book 3A Q4–10 (p.19); 2A Q2–3 (p.13)</a:t>
            </a:r>
          </a:p>
          <a:p>
            <a:r>
              <a:t>Tool: Numeracy Hub: Order of Operations, then Common mistakes; choose only taught examples.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2'!A66:F66</a:t>
            </a:r>
          </a:p>
          <a:p/>
          <a:p>
            <a:r>
              <a:t>12:50 PM–12:55 PM | 2 Recall | 5 min</a:t>
            </a:r>
          </a:p>
          <a:p>
            <a:r>
              <a:t>Instructor: Ask whether (6 − 4)² means the same as 6² − 4². Explain before calculating.</a:t>
            </a:r>
          </a:p>
          <a:p>
            <a:r>
              <a:t>Learners: Try first without displayed answers.</a:t>
            </a:r>
          </a:p>
          <a:p>
            <a:r>
              <a:t>Materials/check: Identify support needs</a:t>
            </a:r>
          </a:p>
          <a:p>
            <a:r>
              <a:t>Source: 'Math Week 2'!A67:F67</a:t>
            </a:r>
          </a:p>
          <a:p/>
          <a:p>
            <a:r>
              <a:t>12:55 PM–1:10 PM | 3 Teach | 15 min</a:t>
            </a:r>
          </a:p>
          <a:p>
            <a:r>
              <a:t>Instructor: Use 3A questions 8–10 to show exponent scope and bracket order. Model square-root entry on the learner’s calculator.</a:t>
            </a:r>
          </a:p>
          <a:p>
            <a:r>
              <a:t>Learners: Follow the example; explain the next step.</a:t>
            </a:r>
          </a:p>
          <a:p>
            <a:r>
              <a:t>Materials/check: Textbook; worked example</a:t>
            </a:r>
          </a:p>
          <a:p>
            <a:r>
              <a:t>Source: 'Math Week 2'!A68:F68</a:t>
            </a:r>
          </a:p>
          <a:p/>
          <a:p>
            <a:r>
              <a:t>1:10 PM–1:25 PM | 4 Together | 15 min</a:t>
            </a:r>
          </a:p>
          <a:p>
            <a:r>
              <a:t>Instructor: Work 3A questions 4–7. Identify the next operation aloud and compare paper and calculator results.</a:t>
            </a:r>
          </a:p>
          <a:p>
            <a:r>
              <a:t>Learners: Work in pairs; alternate solver and checker.</a:t>
            </a:r>
          </a:p>
          <a:p>
            <a:r>
              <a:t>Materials/check: Exercise Book; tool above</a:t>
            </a:r>
          </a:p>
          <a:p>
            <a:r>
              <a:t>Source: 'Math Week 2'!A69:F69</a:t>
            </a:r>
          </a:p>
          <a:p/>
          <a:p>
            <a:r>
              <a:t>1:25 PM–1:45 PM | 5 Practise | 20 min</a:t>
            </a:r>
          </a:p>
          <a:p>
            <a:r>
              <a:t>Instructor: Solve 3A questions 8–10 and 2A questions 2–3. Make a deliberate bracket error, explain it, then correct it.</a:t>
            </a:r>
          </a:p>
          <a:p>
            <a:r>
              <a:t>Learners: Show working and units; estimate, then check.</a:t>
            </a:r>
          </a:p>
          <a:p>
            <a:r>
              <a:t>Materials/check: Paper first; tool second</a:t>
            </a:r>
          </a:p>
          <a:p>
            <a:r>
              <a:t>Source: 'Math Week 2'!A70:F70</a:t>
            </a:r>
          </a:p>
          <a:p/>
          <a:p>
            <a:r>
              <a:t>1:45 PM–1:55 PM | 6 Check | 10 min</a:t>
            </a:r>
          </a:p>
          <a:p>
            <a:r>
              <a:t>Instructor: Complete 3A questions 8–9 with each operation numbered.</a:t>
            </a:r>
          </a:p>
          <a:p>
            <a:r>
              <a:t>Learners: Answer independently and show the method.</a:t>
            </a:r>
          </a:p>
          <a:p>
            <a:r>
              <a:t>Materials/check: Teacher answers below</a:t>
            </a:r>
          </a:p>
          <a:p>
            <a:r>
              <a:t>Source: 'Math Week 2'!A71:F71</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2'!A72:F72</a:t>
            </a:r>
          </a:p>
          <a:p/>
          <a:p>
            <a:r>
              <a:t>INSTRUCTOR ONLY: REVEAL ASSESSMENT ANSWERS AFTER THE ATTEMPT</a:t>
            </a:r>
          </a:p>
          <a:p>
            <a:r>
              <a:t>3A question 8 = 16; question 9 = 20. Answer Key page 10. Answer Key pp.8,10</a:t>
            </a:r>
          </a:p>
          <a:p/>
          <a:p>
            <a:r>
              <a:t>Next: practise spotting and correcting calculation errors.</a:t>
            </a:r>
          </a:p>
          <a:p/>
          <a:p>
            <a:r>
              <a:t>Sources: 'Math Week 2'!A12:E12; 'Carpentry Schedule'!C17; 'Math Week 2'!A60</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Next: practise spotting and correcting calculation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'Math Week 2'!A77</a:t>
            </a:r>
          </a:p>
          <a:p>
            <a:r>
              <a:t>'Math Week 2'!B79</a:t>
            </a:r>
          </a:p>
          <a:p>
            <a:r>
              <a:t>'Math Week 2'!B81</a:t>
            </a:r>
          </a:p>
          <a:p>
            <a:r>
              <a:t>Textbook Chapter 2 p.39; Chapter 3 pp.44–51</a:t>
            </a:r>
          </a:p>
          <a:p>
            <a:r>
              <a:t>ACCESS CARPENTRY SLIDES.pptx slides 25–27</a:t>
            </a:r>
          </a:p>
          <a:p>
            <a:r>
              <a:t>ACCESS Trades Numeracy Textbook, PDF/printed p.39</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'Math Week 2'!A77</a:t>
            </a:r>
          </a:p>
          <a:p>
            <a:r>
              <a:t>'Math Week 2'!B79</a:t>
            </a:r>
          </a:p>
          <a:p>
            <a:r>
              <a:t>'Math Week 2'!B81</a:t>
            </a:r>
          </a:p>
          <a:p>
            <a:r>
              <a:t>Textbook Chapter 2 p.39; Chapter 3 pp.44–51</a:t>
            </a:r>
          </a:p>
          <a:p>
            <a:r>
              <a:t>ACCESS CARPENTRY SLIDES.pptx slides 25–27</a:t>
            </a:r>
          </a:p>
          <a:p>
            <a:r>
              <a:t>ACCESS Trades Numeracy Textbook, PDF/printed p.39</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Textbook p.39 · Checking a result: estimate, reverse and inspect the entry.</a:t>
            </a:r>
          </a:p>
          <a:p>
            <a:r>
              <a:t>Exact PDF/printed page: 39. Excerpt reproduced from the supplied ACCESS Textbook.</a:t>
            </a:r>
          </a:p>
          <a:p>
            <a:r>
              <a:t>Section 2.11 provides estimation, inverse checking and display-reading methods with examples.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Textbook p.39 · Record the unit with the checked answer.</a:t>
            </a:r>
          </a:p>
          <a:p>
            <a:r>
              <a:t>Exact PDF/printed page: 39. Excerpt reproduced from the supplied ACCESS Textbook.</a:t>
            </a:r>
          </a:p>
          <a:p>
            <a:r>
              <a:t>Section 2.11 provides estimation, inverse checking and display-reading methods with examples.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3B-Q2</a:t>
            </a:r>
          </a:p>
          <a:p>
            <a:r>
              <a:t>Exact question: A rectangular guard frame is 1,350 mm by 875 mm. The distance around it is 2 × (1,350 + 875). Find it.</a:t>
            </a:r>
          </a:p>
          <a:p>
            <a:r>
              <a:t>Instructor answer: 4,450 mm</a:t>
            </a:r>
          </a:p>
          <a:p>
            <a:r>
              <a:t>Working: Brackets first: 2,225. Then 2 × 2,225.</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3B-Q2</a:t>
            </a:r>
          </a:p>
          <a:p>
            <a:r>
              <a:t>Exact question: A rectangular guard frame is 1,350 mm by 875 mm. The distance around it is 2 × (1,350 + 875). Find it.</a:t>
            </a:r>
          </a:p>
          <a:p>
            <a:r>
              <a:t>Instructor answer: 4,450 mm</a:t>
            </a:r>
          </a:p>
          <a:p>
            <a:r>
              <a:t>Working: Brackets first: 2,225. Then 2 × 2,225.</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Numeracy Hub: Order of Operations: two Easy questions from taught topics; retain the question and written working.</a:t>
            </a:r>
          </a:p>
          <a:p>
            <a:r>
              <a:t>Supported: For 3B Q2, compare adding four sides with the grouped perimeter formula.</a:t>
            </a:r>
          </a:p>
          <a:p>
            <a:r>
              <a:t>Independent practice: Solve two Easy Numeracy Hub BEDMAS questions from taught topics on paper.</a:t>
            </a:r>
          </a:p>
          <a:p>
            <a:r>
              <a:t>Independent checking: Keep each question and add an estimate or second-method check before review.</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3B-Q3</a:t>
            </a:r>
          </a:p>
          <a:p>
            <a:r>
              <a:t>Exact question: Four 27 in pieces and two 15 in pieces are cut from a 144 in bar. Ignore the saw cuts. The offcut is 144 − (4 × 27 + 2 × 15). Find it.</a:t>
            </a:r>
          </a:p>
          <a:p>
            <a:r>
              <a:t>Instructor answer: 6 in</a:t>
            </a:r>
          </a:p>
          <a:p>
            <a:r>
              <a:t>Working: 4 × 27 = 108, 2 × 15 = 30, 108 + 30 = 138, 144 − 138 = 6.</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3C-Q2</a:t>
            </a:r>
          </a:p>
          <a:p>
            <a:r>
              <a:t>Exact question: The distance around this frame is 3,000 mm. Find the hidden length with L = 3,000 ÷ 2 − 600.</a:t>
            </a:r>
          </a:p>
          <a:p>
            <a:r>
              <a:t>Instructor answer: L = 1,500 − 600 = 900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3C-Q2</a:t>
            </a:r>
          </a:p>
          <a:p>
            <a:r>
              <a:t>Exact question: The distance around this frame is 3,000 mm. Find the hidden length with L = 3,000 ÷ 2 − 600.</a:t>
            </a:r>
          </a:p>
          <a:p>
            <a:r>
              <a:t>Instructor answer: L = 1,500 − 600 = 900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W02-L04 | 2026-11-03 | 2:15 PM–3:30 PM | 75 minutes</a:t>
            </a:r>
          </a:p>
          <a:p>
            <a:r>
              <a:t>Calculation checking workshop</a:t>
            </a:r>
          </a:p>
          <a:p>
            <a:r>
              <a:t>Mode: Math</a:t>
            </a:r>
          </a:p>
          <a:p>
            <a:r>
              <a:t>Goal: Use estimation, inverse operations and a second method to check calculations.</a:t>
            </a:r>
          </a:p>
          <a:p>
            <a:r>
              <a:t>Read: Textbook Chapter 2 p.39; Chapter 3 pp.44–51</a:t>
            </a:r>
          </a:p>
          <a:p>
            <a:r>
              <a:t>Practise: Exercise Book 1A Q20 (p.7); 3B Q2–3 (p.21); 3C Q2–3 (p.23)</a:t>
            </a:r>
          </a:p>
          <a:p>
            <a:r>
              <a:t>Tool: Numeracy Hub: Order of Operations: two Easy questions from taught topics; retain the question and written working.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2'!A83:F83</a:t>
            </a:r>
          </a:p>
          <a:p/>
          <a:p>
            <a:r>
              <a:t>2:20 PM–2:25 PM | 2 Recall | 5 min</a:t>
            </a:r>
          </a:p>
          <a:p>
            <a:r>
              <a:t>Instructor: Ask each learner to name one common keying error and one way to detect it.</a:t>
            </a:r>
          </a:p>
          <a:p>
            <a:r>
              <a:t>Learners: Try first without displayed answers.</a:t>
            </a:r>
          </a:p>
          <a:p>
            <a:r>
              <a:t>Materials/check: Identify support needs</a:t>
            </a:r>
          </a:p>
          <a:p>
            <a:r>
              <a:t>Source: 'Math Week 2'!A84:F84</a:t>
            </a:r>
          </a:p>
          <a:p/>
          <a:p>
            <a:r>
              <a:t>2:25 PM–2:40 PM | 3 Teach | 15 min</a:t>
            </a:r>
          </a:p>
          <a:p>
            <a:r>
              <a:t>Instructor: Compare a plausible-looking wrong answer with a checked answer. Model inverse operations and substituting a missing length back into its total.</a:t>
            </a:r>
          </a:p>
          <a:p>
            <a:r>
              <a:t>Learners: Follow the example; explain the next step.</a:t>
            </a:r>
          </a:p>
          <a:p>
            <a:r>
              <a:t>Materials/check: Textbook; worked example</a:t>
            </a:r>
          </a:p>
          <a:p>
            <a:r>
              <a:t>Source: 'Math Week 2'!A85:F85</a:t>
            </a:r>
          </a:p>
          <a:p/>
          <a:p>
            <a:r>
              <a:t>2:40 PM–2:55 PM | 4 Together | 15 min</a:t>
            </a:r>
          </a:p>
          <a:p>
            <a:r>
              <a:t>Instructor: Recheck 3B question 2 in two ways: add the four sides and use the grouped formula.</a:t>
            </a:r>
          </a:p>
          <a:p>
            <a:r>
              <a:t>Learners: Work in pairs; alternate solver and checker.</a:t>
            </a:r>
          </a:p>
          <a:p>
            <a:r>
              <a:t>Materials/check: Exercise Book; tool above</a:t>
            </a:r>
          </a:p>
          <a:p>
            <a:r>
              <a:t>Source: 'Math Week 2'!A86:F86</a:t>
            </a:r>
          </a:p>
          <a:p/>
          <a:p>
            <a:r>
              <a:t>2:55 PM–3:15 PM | 5 Practise | 20 min</a:t>
            </a:r>
          </a:p>
          <a:p>
            <a:r>
              <a:t>Instructor: Complete 3B question 3 and 3C questions 2–3. Add an estimate and a check line to every solution. Finish with two new Numeracy Hub questions.</a:t>
            </a:r>
          </a:p>
          <a:p>
            <a:r>
              <a:t>Learners: Show working and units; estimate, then check.</a:t>
            </a:r>
          </a:p>
          <a:p>
            <a:r>
              <a:t>Materials/check: Paper first; tool second</a:t>
            </a:r>
          </a:p>
          <a:p>
            <a:r>
              <a:t>Source: 'Math Week 2'!A87:F87</a:t>
            </a:r>
          </a:p>
          <a:p/>
          <a:p>
            <a:r>
              <a:t>3:15 PM–3:25 PM | 6 Check | 10 min</a:t>
            </a:r>
          </a:p>
          <a:p>
            <a:r>
              <a:t>Instructor: Explain why 3C question 2 is 900 mm and show that it gives the stated 3,000 mm perimeter.</a:t>
            </a:r>
          </a:p>
          <a:p>
            <a:r>
              <a:t>Learners: Answer independently and show the method.</a:t>
            </a:r>
          </a:p>
          <a:p>
            <a:r>
              <a:t>Materials/check: Teacher answers below</a:t>
            </a:r>
          </a:p>
          <a:p>
            <a:r>
              <a:t>Source: 'Math Week 2'!A88:F88</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2'!A89:F89</a:t>
            </a:r>
          </a:p>
          <a:p/>
          <a:p>
            <a:r>
              <a:t>INSTRUCTOR ONLY: REVEAL ASSESSMENT ANSWERS AFTER THE ATTEMPT</a:t>
            </a:r>
          </a:p>
          <a:p>
            <a:r>
              <a:t>3B question 2 = 4,450 mm; 3C question 2 = 900 mm; question 3 = 1,188 mm. Answer Key page 10. Answer Key pp.6,10</a:t>
            </a:r>
          </a:p>
          <a:p/>
          <a:p>
            <a:r>
              <a:t>Next: connect fractions to real inch-tape marks.</a:t>
            </a:r>
          </a:p>
          <a:p/>
          <a:p>
            <a:r>
              <a:t>Sources: 'Math Week 2'!A13:E13; 'Carpentry Schedule'!C19; 'Math Week 2'!A77</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Next: connect fractions to real inch-tape 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2.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Resources/ACCESS-Tools/books/ACCESS-Trades-Numeracy-Textbook.pdf#page=47"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hyperlink" Target="../Resources/ACCESS-Tools/books/ACCESS-Trades-Numeracy-Textbook.pdf#page=48"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Resources/ACCESS-Tools/books/ACCESS-Trades-Numeracy-Textbook.pdf#page=45"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Resources/ACCESS-Tools/books/ACCESS-Trades-Numeracy-Textbook.pdf#page=45"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Resources/ACCESS-Tools/books/ACCESS-Trades-Numeracy-Textbook.pdf#page=45"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Resources/ACCESS-Tools/books/ACCESS-Trades-Numeracy-Textbook.pdf#page=45"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Resources/ACCESS-Tools/books/ACCESS-Trades-Numeracy-Textbook.pdf#page=45"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Resources/ACCESS-Tools/books/ACCESS-Trades-Numeracy-Textbook.pdf#page=45"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Resources/ACCESS-Tools/books/ACCESS-Trades-Numeracy-Textbook.pdf#page=45"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2.png"/><Relationship Id="rId4" Type="http://schemas.openxmlformats.org/officeDocument/2006/relationships/hyperlink" Target="../Resources/ACCESS-Tools/books/ACCESS-Trades-Numeracy-Textbook.pdf#page=45"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hyperlink" Target="../Resources/ACCESS-Tools/books/ACCESS-Trades-Numeracy-Textbook.pdf#page=39"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2.png"/><Relationship Id="rId4" Type="http://schemas.openxmlformats.org/officeDocument/2006/relationships/hyperlink" Target="../Resources/ACCESS-Tools/books/ACCESS-Trades-Numeracy-Textbook.pdf#page=39"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2.png"/><Relationship Id="rId4" Type="http://schemas.openxmlformats.org/officeDocument/2006/relationships/hyperlink" Target="../Resources/ACCESS-Tools/books/ACCESS-Trades-Numeracy-Textbook.pdf#page=39"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2.png"/><Relationship Id="rId4" Type="http://schemas.openxmlformats.org/officeDocument/2006/relationships/hyperlink" Target="../Resources/ACCESS-Tools/books/ACCESS-Trades-Numeracy-Textbook.pdf#page=39"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2.png"/><Relationship Id="rId4" Type="http://schemas.openxmlformats.org/officeDocument/2006/relationships/hyperlink" Target="../Resources/ACCESS-Tools/books/ACCESS-Trades-Numeracy-Textbook.pdf#page=39"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hyperlink" Target="../Resources/ACCESS-Tools/books/ACCESS-Trades-Numeracy-Textbook.pdf#page=39" TargetMode="External"/><Relationship Id="rId6" Type="http://schemas.openxmlformats.org/officeDocument/2006/relationships/hyperlink" Target="../Resources/ACCESS-Tools/books/ACCESS-Trades-Numeracy-Exercise-Book.pdf#page=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hyperlink" Target="../Resources/ACCESS-Tools/books/ACCESS-Trades-Numeracy-Textbook.pdf#page=39" TargetMode="External"/><Relationship Id="rId6" Type="http://schemas.openxmlformats.org/officeDocument/2006/relationships/hyperlink" Target="../Resources/ACCESS-Tools/books/ACCESS-Trades-Numeracy-Exercise-Book.pdf#page=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2.png"/><Relationship Id="rId4" Type="http://schemas.openxmlformats.org/officeDocument/2006/relationships/hyperlink" Target="../Resources/ACCESS-Tools/books/ACCESS-Trades-Numeracy-Textbook.pdf#page=39"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hyperlink" Target="../Resources/ACCESS-Tools/books/ACCESS-Trades-Numeracy-Textbook.pdf#page=39"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Resources/ACCESS-Tools/books/ACCESS-Trades-Numeracy-Textbook.pdf#page=39" TargetMode="External"/><Relationship Id="rId6" Type="http://schemas.openxmlformats.org/officeDocument/2006/relationships/hyperlink" Target="../Resources/ACCESS-Tools/books/ACCESS-Trades-Numeracy-Exercise-Book.pdf#page=2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Resources/ACCESS-Tools/books/ACCESS-Trades-Numeracy-Textbook.pdf#page=39" TargetMode="External"/><Relationship Id="rId6" Type="http://schemas.openxmlformats.org/officeDocument/2006/relationships/hyperlink" Target="../Resources/ACCESS-Tools/books/ACCESS-Trades-Numeracy-Exercise-Book.pdf#page=2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hyperlink" Target="../Resources/ACCESS-Tools/books/ACCESS-Trades-Numeracy-Textbook.pdf#page=39"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Resources/ACCESS-Tools/books/ACCESS-Trades-Numeracy-Textbook.pdf#page=39" TargetMode="External"/><Relationship Id="rId6" Type="http://schemas.openxmlformats.org/officeDocument/2006/relationships/hyperlink" Target="../Resources/ACCESS-Tools/books/ACCESS-Trades-Numeracy-Exercise-Book.pdf#page=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hyperlink" Target="../Resources/ACCESS-Tools/books/ACCESS-Trades-Numeracy-Textbook.pdf#page=39"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hyperlink" Target="../Resources/ACCESS-Tools/books/ACCESS-Trades-Numeracy-Textbook.pdf#page=39" TargetMode="External"/><Relationship Id="rId6" Type="http://schemas.openxmlformats.org/officeDocument/2006/relationships/hyperlink" Target="../Resources/ACCESS-Tools/books/ACCESS-Trades-Numeracy-Exercise-Book.pdf#page=2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Resources/ACCESS-Tools/books/ACCESS-Trades-Numeracy-Textbook.pdf#page=39" TargetMode="External"/><Relationship Id="rId6" Type="http://schemas.openxmlformats.org/officeDocument/2006/relationships/hyperlink" Target="../Resources/ACCESS-Tools/books/ACCESS-Trades-Numeracy-Exercise-Book.pdf#page=2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hyperlink" Target="../Resources/ACCESS-Tools/books/ACCESS-Trades-Numeracy-Textbook.pdf#page=39"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Resources/ACCESS-Tools/books/ACCESS-Trades-Numeracy-Textbook.pdf#page=39" TargetMode="External"/><Relationship Id="rId6" Type="http://schemas.openxmlformats.org/officeDocument/2006/relationships/hyperlink" Target="../Resources/ACCESS-Tools/books/ACCESS-Trades-Numeracy-Exercise-Book.pdf#page=2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hyperlink" Target="../Resources/ACCESS-Tools/books/ACCESS-Trades-Numeracy-Textbook.pdf#page=39"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04  |  Tuesday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3,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Brackets, squares and square roots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Calculation checking workshop</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2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04  •  2026-11-03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04  /  WEEK 2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Brackets, squares and square roots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2,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Calculation checking workshop</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2,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Brackets, squares and square roots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Explain what an exponent or root acts on and avoid applying it to the wrong part of an expression.</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3 pp.45–51; Chapter 2 pp.31–33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3A Q4–10 (p.19); 2A Q2–3 (p.13)</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Discuss whether (6 − 4)² means the same as 6² − 4². Explain before calculating.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Identify the base of an exponent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 4², only the 4 is squared.</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 (6 − 4)², the complete bracket result is squared.</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Calculate inside brackets before applying the exponent.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changed bracket can change the value even when the same numbers appear.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Identify the whole quantity under the root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root sign acts on the quantity written under it.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√(9 + 16), add inside the grouping before finding the square root.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square root of a sum is not generally the sum of the separate roots.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the grouping before using your calculator’s model-specific root sequence.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W02-L03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Mark the base before squaring</a:t>
            </a:r>
            <a:endParaRPr lang="en-US" sz="3000" dirty="0"/>
          </a:p>
        </p:txBody>
      </p:sp>
      <p:sp>
        <p:nvSpPr>
          <p:cNvPr id="5" name="Text 3"/>
          <p:cNvSpPr/>
          <p:nvPr/>
        </p:nvSpPr>
        <p:spPr>
          <a:xfrm>
            <a:off x="609585" y="1714500"/>
            <a:ext cx="10972526" cy="1280071"/>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(6 − 4)² = 2² = 4</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6² − 4² = 36 − 16 = 20</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3 × 4² = 3 × 16 = 48</a:t>
            </a:r>
            <a:endParaRPr lang="en-US" sz="2400" dirty="0"/>
          </a:p>
        </p:txBody>
      </p:sp>
      <p:sp>
        <p:nvSpPr>
          <p:cNvPr id="6" name="Text 4"/>
          <p:cNvSpPr/>
          <p:nvPr/>
        </p:nvSpPr>
        <p:spPr>
          <a:xfrm>
            <a:off x="609585" y="338137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Square root check: √(9 + 16) = √25 = 5.</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It is not √9 + √16, which equals 7.</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 Exercise Book 3A Q4–7.</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Say the next operation aloud; compare paper and calculator results.</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Use Numeracy Hub Common mistakes only for taught examples.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W2 L3 • Match the written grouping to the selected calculator’s key sequence</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07</a:t>
            </a:r>
          </a:p>
        </p:txBody>
      </p:sp>
    </p:spTree>
    <p:extLst>
      <p:ext uri="{BB962C8B-B14F-4D97-AF65-F5344CB8AC3E}">
        <p14:creationId xmlns:p14="http://schemas.microsoft.com/office/powerpoint/2010/main" val="11415311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47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pic>
        <p:nvPicPr>
          <p:cNvPr id="5" name="Picture 4" descr="W02-L03.png"/>
          <p:cNvPicPr>
            <a:picLocks noChangeAspect="1"/>
          </p:cNvPicPr>
          <p:nvPr/>
        </p:nvPicPr>
        <p:blipFill>
          <a:blip r:embed="rId3"/>
          <a:stretch>
            <a:fillRect/>
          </a:stretch>
        </p:blipFill>
        <p:spPr>
          <a:xfrm>
            <a:off x="685800" y="2219975"/>
            <a:ext cx="10698480" cy="301240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p.47 · Example 3.5: identify what the square belongs to.</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48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pic>
        <p:nvPicPr>
          <p:cNvPr id="5" name="Picture 4" descr="W02-L03-2.png"/>
          <p:cNvPicPr>
            <a:picLocks noChangeAspect="1"/>
          </p:cNvPicPr>
          <p:nvPr/>
        </p:nvPicPr>
        <p:blipFill>
          <a:blip r:embed="rId3"/>
          <a:stretch>
            <a:fillRect/>
          </a:stretch>
        </p:blipFill>
        <p:spPr>
          <a:xfrm>
            <a:off x="685800" y="2268292"/>
            <a:ext cx="10698480" cy="291577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p.48 · Example 3.6: one root over a sum versus two separate roots.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learner says (6 − 4)² and 6² − 4² must have the same value. What changes?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The first squares the difference and gives 4. The second subtracts two squares and gives 20.</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3A questions 4–7. Identify the next operation aloud and compare paper and calculator results.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3A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pic>
        <p:nvPicPr>
          <p:cNvPr id="5" name="Picture 4" descr="3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3A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pic>
        <p:nvPicPr>
          <p:cNvPr id="5" name="Picture 4" descr="3A-Q4.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32</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3A questions 8–10 and 2A questions 2–3. Make a deliberate bracket error, explain it, then correct it.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Open Numeracy Hub → Order of Operations → Common mistakes; use taught examples only.</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Write a deliberate bracket error beside a corrected version; explain the scope.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checking: Number the operations and compare the correct working with the tool.</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3A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3A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3A questions 8–9 with each operation numbered.</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3A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3A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W02-L03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04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Calculation checking workshop</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04  •  2026-11-03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Calculation checking workshop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Use estimation, inverse operations and a second method to check calculations.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2 p.39; Chapter 3 pp.44–51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1A Q20 (p.7); 3B Q2–3 (p.21); 3C Q2–3 (p.23)</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Take a moment to name one common keying error and one way to detect it.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Choose a check for the error you suspect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An estimate checks whether the answer is a sensible size.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An inverse operation checks the numerical relationship.</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second method checks whether the original setup counted the right quantities.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Repeating the same key sequence can repeat the same error.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Put a missing dimension back into the total</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the original perimeter relationship before solving for a missing side.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Substitute the found dimension into that original relationship.</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that all four sides recreate the stated perimeter.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an estimate and a separate check line beside the solution.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W02-L04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Use a genuinely different method</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Exercise Book 3B Q2: rectangle sides 1,350 mm and 875 mm.</a:t>
            </a:r>
            <a:endParaRPr lang="en-US" sz="1800" dirty="0"/>
          </a:p>
        </p:txBody>
      </p:sp>
      <p:sp>
        <p:nvSpPr>
          <p:cNvPr id="6" name="Text 4"/>
          <p:cNvSpPr/>
          <p:nvPr/>
        </p:nvSpPr>
        <p:spPr>
          <a:xfrm>
            <a:off x="609585" y="2428875"/>
            <a:ext cx="10972526"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1,350 + 875 + 1,350 + 875 = 4,450 mm</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2 × (1,350 + 875) = 4,450 mm</a:t>
            </a:r>
            <a:endParaRPr lang="en-US" sz="2400" dirty="0"/>
          </a:p>
        </p:txBody>
      </p:sp>
      <p:sp>
        <p:nvSpPr>
          <p:cNvPr id="7" name="Text 5"/>
          <p:cNvSpPr/>
          <p:nvPr/>
        </p:nvSpPr>
        <p:spPr>
          <a:xfrm>
            <a:off x="609585" y="3667125"/>
            <a:ext cx="10972526"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Both count the same four sides. An estimate of 2 × (1,400 + 900) = 4,600 mm supports the scale.</a:t>
            </a:r>
            <a:endParaRPr lang="en-US" sz="1800" dirty="0"/>
          </a:p>
        </p:txBody>
      </p:sp>
      <p:sp>
        <p:nvSpPr>
          <p:cNvPr id="8" name="Text 6"/>
          <p:cNvSpPr/>
          <p:nvPr/>
        </p:nvSpPr>
        <p:spPr>
          <a:xfrm>
            <a:off x="609585" y="471487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 Recheck 3B Q2 both ways.</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Then substitute a missing dimension back into the original perimeter. Ask whether the total is restored.</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W2 L4 • Repeating an incorrect key sequence is not an independent check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28</a:t>
            </a:r>
          </a:p>
        </p:txBody>
      </p:sp>
    </p:spTree>
    <p:extLst>
      <p:ext uri="{BB962C8B-B14F-4D97-AF65-F5344CB8AC3E}">
        <p14:creationId xmlns:p14="http://schemas.microsoft.com/office/powerpoint/2010/main" val="2607801993"/>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39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pic>
        <p:nvPicPr>
          <p:cNvPr id="5" name="Picture 4" descr="W02-L04.png"/>
          <p:cNvPicPr>
            <a:picLocks noChangeAspect="1"/>
          </p:cNvPicPr>
          <p:nvPr/>
        </p:nvPicPr>
        <p:blipFill>
          <a:blip r:embed="rId3"/>
          <a:stretch>
            <a:fillRect/>
          </a:stretch>
        </p:blipFill>
        <p:spPr>
          <a:xfrm>
            <a:off x="825384" y="1691640"/>
            <a:ext cx="1041931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p.39 · Checking a result: estimate, reverse and inspect the entry.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39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pic>
        <p:nvPicPr>
          <p:cNvPr id="5" name="Picture 4" descr="W02-L04-2.png"/>
          <p:cNvPicPr>
            <a:picLocks noChangeAspect="1"/>
          </p:cNvPicPr>
          <p:nvPr/>
        </p:nvPicPr>
        <p:blipFill>
          <a:blip r:embed="rId3"/>
          <a:stretch>
            <a:fillRect/>
          </a:stretch>
        </p:blipFill>
        <p:spPr>
          <a:xfrm>
            <a:off x="685800" y="3103921"/>
            <a:ext cx="10698480" cy="124451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p.39 · Record the unit with the checked answer.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Two attempts with identical calculator keys give the same number. Is that a different checking method?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Check with an inverse operation or a different setup, such as adding sides instead of grouping pairs.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Recheck 3B question 2 in two ways: add the four sides and use the grouped formula.</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3B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pic>
        <p:nvPicPr>
          <p:cNvPr id="5" name="Picture 4" descr="3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3B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pic>
        <p:nvPicPr>
          <p:cNvPr id="5" name="Picture 4" descr="3B-Q2.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4,450 mm</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t>Brackets first: 2,225. Then 2 × 2,225.</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3B question 3 and 3C questions 2–3. Add an estimate and a check line to every solution. Finish with two new Numeracy Hub questions.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For 3B Q2, compare adding four sides with the grouped perimeter formula.</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Solve two Easy Numeracy Hub BEDMAS questions from taught topics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checking: Keep each question and add an estimate or second-method check before 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3B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pic>
        <p:nvPicPr>
          <p:cNvPr id="5" name="Picture 4" descr="3B-Q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3C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Explain why 3C question 2 is 900 mm and show that it gives the stated 3,000 mm perimeter.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3C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W02-L04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04  •  2026-11-03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04 | 2026-11-03</dc:title>
  <dc:creator>ACCESS Trades</dc:creator>
  <cp:lastModifiedBy>Gabriel Ostrowidzki</cp:lastModifiedBy>
  <cp:revision>3</cp:revision>
  <dcterms:created xsi:type="dcterms:W3CDTF">2026-10-19T18:44:52Z</dcterms:created>
  <dcterms:modified xsi:type="dcterms:W3CDTF">2026-10-19T19:22:04Z</dcterms:modified>
  <dc:subject>Brackets, squares and square roots; Calculation checking workshop</dc:subject>
</cp:coreProperties>
</file>