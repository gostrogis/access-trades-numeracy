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278" r:id="rId24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294" r:id="rId27"/>
    <p:sldId id="461" r:id="rId1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4" Type="http://schemas.openxmlformats.org/officeDocument/2006/relationships/slide" Target="slides/slide7.xml"/><Relationship Id="rId27" Type="http://schemas.openxmlformats.org/officeDocument/2006/relationships/slide" Target="slides/slide28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9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3 pp.45–51; Chapter 2 pp.31–33</a:t>
            </a:r>
          </a:p>
          <a:p>
            <a:r>
              <a:t>ACCESS Trades Numeracy Textbook, PDF/printed p.47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3 pp.45–51; Chapter 2 pp.31–33</a:t>
            </a:r>
          </a:p>
          <a:p>
            <a:r>
              <a:t>ACCESS Trades Numeracy Textbook, PDF/printed p.47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Textbook p.47 · Example 3.5: identify what the square belongs to.</a:t>
            </a:r>
          </a:p>
          <a:p>
            <a:r>
              <a:t>Exact PDF/printed page: 47. ACCESS Textbook excerpt.</a:t>
            </a:r>
          </a:p>
          <a:p>
            <a:r>
              <a:t>Example 3.5 compares the different bases in an exponent expression and a squared bracket.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Textbook p.48 · Example 3.6: one root over a sum versus two separate roots.</a:t>
            </a:r>
          </a:p>
          <a:p>
            <a:r>
              <a:t>Exact PDF/printed page: 48. ACCESS Textbook excerpt.</a:t>
            </a:r>
          </a:p>
          <a:p>
            <a:r>
              <a:t>Example 3.5 compares the different bases in an exponent expression and a squared bracket.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3A-Q4</a:t>
            </a:r>
          </a:p>
          <a:p>
            <a:r>
              <a:t>Exact question: (15 − 7) × 4</a:t>
            </a:r>
          </a:p>
          <a:p>
            <a:r>
              <a:t>Instructor answer: 32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3A-Q4</a:t>
            </a:r>
          </a:p>
          <a:p>
            <a:r>
              <a:t>Exact question: (15 − 7) × 4</a:t>
            </a:r>
          </a:p>
          <a:p>
            <a:r>
              <a:t>Instructor answer: 32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Numeracy Hub: Order of Operations, then Common mistakes; choose only taught examples.</a:t>
            </a:r>
          </a:p>
          <a:p>
            <a:r>
              <a:t>Supported: Open Numeracy Hub → Order of Operations → Common mistakes; use taught examples only.</a:t>
            </a:r>
          </a:p>
          <a:p>
            <a:r>
              <a:t>Independent practice: Write a deliberate bracket error beside a corrected version; explain the scope.</a:t>
            </a:r>
          </a:p>
          <a:p>
            <a:r>
              <a:t>Independent checking: Number the operations and compare the correct working with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3A-Q8</a:t>
            </a:r>
          </a:p>
          <a:p>
            <a:r>
              <a:t>Exact question: 6² − 4 × 5</a:t>
            </a:r>
          </a:p>
          <a:p>
            <a:r>
              <a:t>Instructor answer: 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3A-Q9</a:t>
            </a:r>
          </a:p>
          <a:p>
            <a:r>
              <a:t>Exact question: (6 − 4)² × 5</a:t>
            </a:r>
          </a:p>
          <a:p>
            <a:r>
              <a:t>Instructor answer: 20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3A-Q8</a:t>
            </a:r>
          </a:p>
          <a:p>
            <a:r>
              <a:t>Exact question: 6² − 4 × 5</a:t>
            </a:r>
          </a:p>
          <a:p>
            <a:r>
              <a:t>Instructor answer: 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3A-Q9</a:t>
            </a:r>
          </a:p>
          <a:p>
            <a:r>
              <a:t>Exact question: (6 − 4)² × 5</a:t>
            </a:r>
          </a:p>
          <a:p>
            <a:r>
              <a:t>Instructor answer: 20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W02-L03 | 2026-11-03 | 12:45 PM–2:00 PM | 75 minutes</a:t>
            </a:r>
          </a:p>
          <a:p>
            <a:r>
              <a:t>Brackets, squares and square roots</a:t>
            </a:r>
          </a:p>
          <a:p>
            <a:r>
              <a:t>Mode: Math</a:t>
            </a:r>
          </a:p>
          <a:p>
            <a:r>
              <a:t>Goal: Explain what an exponent or root acts on and avoid applying it to the wrong part of an expression.</a:t>
            </a:r>
          </a:p>
          <a:p>
            <a:r>
              <a:t>Read: Textbook Chapter 3 pp.45–51; Chapter 2 pp.31–33</a:t>
            </a:r>
          </a:p>
          <a:p>
            <a:r>
              <a:t>Practise: Exercise Book 3A Q4–10 (p.19); 2A Q2–3 (p.13)</a:t>
            </a:r>
          </a:p>
          <a:p>
            <a:r>
              <a:t>Tool: Numeracy Hub: Order of Operations, then Common mistakes; choose only taught examples.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Ask whether (6 − 4)² means the same as 6² − 4². Explain before calculating.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Use 3A questions 8–10 to show exponent scope and bracket order. Model square-root entry on the learner’s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Work 3A questions 4–7. Identify the next operation aloud and compare paper and calculator results.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Solve 3A questions 8–10 and 2A questions 2–3. Make a deliberate bracket error, explain it, then correct it.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Complete 3A questions 8–9 with each operation numbered.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question 8 = 16; question 9 = 20. Answer Key page 10. Answer Key pp.8,10</a:t>
            </a:r>
          </a:p>
          <a:p/>
          <a:p>
            <a:r>
              <a:t>Next: practise spotting and correcting calculation errors.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Next: practise spotting and correcting calculation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2 p.39; Chapter 3 pp.44–51</a:t>
            </a:r>
          </a:p>
          <a:p>
            <a:r>
              <a:t>ACCESS Trades Numeracy Textbook, PDF/printed p.39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2 p.39; Chapter 3 pp.44–51</a:t>
            </a:r>
          </a:p>
          <a:p>
            <a:r>
              <a:t>ACCESS Trades Numeracy Textbook, PDF/printed p.39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Textbook p.39 · Checking a result: estimate, reverse and inspect the entry.</a:t>
            </a:r>
          </a:p>
          <a:p>
            <a:r>
              <a:t>Exact PDF/printed page: 39. ACCESS Textbook excerpt.</a:t>
            </a:r>
          </a:p>
          <a:p>
            <a:r>
              <a:t>Section 2.11 provides estimation, inverse checking and display-reading methods with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Textbook p.39 · Record the unit with the checked answer.</a:t>
            </a:r>
          </a:p>
          <a:p>
            <a:r>
              <a:t>Exact PDF/printed page: 39. ACCESS Textbook excerpt.</a:t>
            </a:r>
          </a:p>
          <a:p>
            <a:r>
              <a:t>Section 2.11 provides estimation, inverse checking and display-reading methods with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3B-Q2</a:t>
            </a:r>
          </a:p>
          <a:p>
            <a:r>
              <a:t>Exact question: A rectangular guard frame is 1,350 mm by 875 mm. The distance around it is 2 × (1,350 + 875). Find it.</a:t>
            </a:r>
          </a:p>
          <a:p>
            <a:r>
              <a:t>Instructor answer: 4,450 mm</a:t>
            </a:r>
          </a:p>
          <a:p>
            <a:r>
              <a:t>Working: Brackets first: 2,225. Then 2 × 2,225.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3B-Q2</a:t>
            </a:r>
          </a:p>
          <a:p>
            <a:r>
              <a:t>Exact question: A rectangular guard frame is 1,350 mm by 875 mm. The distance around it is 2 × (1,350 + 875). Find it.</a:t>
            </a:r>
          </a:p>
          <a:p>
            <a:r>
              <a:t>Instructor answer: 4,450 mm</a:t>
            </a:r>
          </a:p>
          <a:p>
            <a:r>
              <a:t>Working: Brackets first: 2,225. Then 2 × 2,225.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Numeracy Hub: Order of Operations: two Easy questions from taught topics; retain the question and written working.</a:t>
            </a:r>
          </a:p>
          <a:p>
            <a:r>
              <a:t>Supported: For 3B Q2, compare adding four sides with the grouped perimeter formula.</a:t>
            </a:r>
          </a:p>
          <a:p>
            <a:r>
              <a:t>Independent practice: Solve two Easy Numeracy Hub BEDMAS questions from taught topics on paper.</a:t>
            </a:r>
          </a:p>
          <a:p>
            <a:r>
              <a:t>Independent checking: Keep each question and add an estimate or second-method check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3B-Q3</a:t>
            </a:r>
          </a:p>
          <a:p>
            <a:r>
              <a:t>Exact question: Four 27 in pieces and two 15 in pieces are cut from a 144 in bar. Ignore the saw cuts. The offcut is 144 − (4 × 27 + 2 × 15). Find it.</a:t>
            </a:r>
          </a:p>
          <a:p>
            <a:r>
              <a:t>Instructor answer: 6 in</a:t>
            </a:r>
          </a:p>
          <a:p>
            <a:r>
              <a:t>Working: 4 × 27 = 108, 2 × 15 = 30, 108 + 30 = 138, 144 − 138 = 6.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3C-Q2</a:t>
            </a:r>
          </a:p>
          <a:p>
            <a:r>
              <a:t>Exact question: The distance around this frame is 3,000 mm. Find the hidden length with L = 3,000 ÷ 2 − 600.</a:t>
            </a:r>
          </a:p>
          <a:p>
            <a:r>
              <a:t>Instructor answer: L = 1,500 − 600 = 900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3C-Q2</a:t>
            </a:r>
          </a:p>
          <a:p>
            <a:r>
              <a:t>Exact question: The distance around this frame is 3,000 mm. Find the hidden length with L = 3,000 ÷ 2 − 600.</a:t>
            </a:r>
          </a:p>
          <a:p>
            <a:r>
              <a:t>Instructor answer: L = 1,500 − 600 = 900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W02-L04 | 2026-11-03 | 2:15 PM–3:30 PM | 75 minutes</a:t>
            </a:r>
          </a:p>
          <a:p>
            <a:r>
              <a:t>Calculation checking workshop</a:t>
            </a:r>
          </a:p>
          <a:p>
            <a:r>
              <a:t>Mode: Math</a:t>
            </a:r>
          </a:p>
          <a:p>
            <a:r>
              <a:t>Goal: Use estimation, inverse operations and a second method to check calculations.</a:t>
            </a:r>
          </a:p>
          <a:p>
            <a:r>
              <a:t>Read: Textbook Chapter 2 p.39; Chapter 3 pp.44–51</a:t>
            </a:r>
          </a:p>
          <a:p>
            <a:r>
              <a:t>Practise: Exercise Book 1A Q20 (p.7); 3B Q2–3 (p.21); 3C Q2–3 (p.23)</a:t>
            </a:r>
          </a:p>
          <a:p>
            <a:r>
              <a:t>Tool: Numeracy Hub: Order of Operations: two Easy questions from taught topics; retain the question and written working.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Ask each learner to name one common keying error and one way to detect it.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Compare a plausible-looking wrong answer with a checked answer. Model inverse operations and substituting a missing length back into its total.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Recheck 3B question 2 in two ways: add the four sides and use the grouped formula.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Add an estimate and a check line to every solution. Finish with two new Numeracy Hub questions.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Explain why 3C question 2 is 900 mm and show that it gives the stated 3,000 mm perimeter.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3B question 2 = 4,450 mm; 3C question 2 = 900 mm; question 3 = 1,188 mm. Answer Key page 10. Answer Key pp.6,10</a:t>
            </a:r>
          </a:p>
          <a:p/>
          <a:p>
            <a:r>
              <a:t>Next: connect fractions to real inch-tape marks.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Next: connect fractions to real inch-tape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7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8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5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5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5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5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5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5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45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45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39" TargetMode="External"/><Relationship Id="rId6" Type="http://schemas.openxmlformats.org/officeDocument/2006/relationships/hyperlink" Target="../../../books/ACCESS-Trades-Numeracy-Exercise-Book.pdf#page=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39" TargetMode="External"/><Relationship Id="rId6" Type="http://schemas.openxmlformats.org/officeDocument/2006/relationships/hyperlink" Target="../../../books/ACCESS-Trades-Numeracy-Exercise-Book.pdf#page=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39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39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39" TargetMode="External"/><Relationship Id="rId6" Type="http://schemas.openxmlformats.org/officeDocument/2006/relationships/hyperlink" Target="../../../books/ACCESS-Trades-Numeracy-Exercise-Book.pdf#page=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39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39" TargetMode="External"/><Relationship Id="rId6" Type="http://schemas.openxmlformats.org/officeDocument/2006/relationships/hyperlink" Target="../../../books/ACCESS-Trades-Numeracy-Exercise-Book.pdf#page=2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hyperlink" Target="../../../books/ACCESS-Trades-Numeracy-Textbook.pdf#page=39" TargetMode="External"/><Relationship Id="rId6" Type="http://schemas.openxmlformats.org/officeDocument/2006/relationships/hyperlink" Target="../../../books/ACCESS-Trades-Numeracy-Exercise-Book.pdf#page=2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2.png"/><Relationship Id="rId4" Type="http://schemas.openxmlformats.org/officeDocument/2006/relationships/hyperlink" Target="../../../books/ACCESS-Trades-Numeracy-Textbook.pdf#page=39" TargetMode="External"/><Relationship Id="rId5" Type="http://schemas.openxmlformats.org/officeDocument/2006/relationships/hyperlink" Target="../../../books/ACCESS-Trades-Numeracy-Exercise-Book.pdf#page=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04  |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Brackets, squares and square roots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Calculation checking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2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04  •  2026-11-03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04  /  WEEK 2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Brackets, squares and square roots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Calculation checking workshop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Brackets, squares and square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Explain what an exponent or root acts on and avoid applying it to the wrong part of an expression.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3A Q4–10 (p.19); 2A Q2–3 (p.13)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Discuss whether (6 − 4)² means the same as 6² − 4². Explain before calculating.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Q4–10 (p.19); 2A Q2–3 (p.13)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Identify the base of an exponent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 4², only the 4 is squared.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 (6 − 4)², the complete bracket result is squared.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Calculate inside brackets before applying the exponent.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changed bracket can change the value even when the same numbers appear.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Identify the whole quantity under the root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The root sign acts on the quantity written under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√(9 + 16), add inside the grouping before finding the square root.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square root of a sum is not generally the sum of the separate roots.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the grouping before using your calculator’s model-specific root sequence.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W02-L03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base before squaring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(6 − 4)² = 2² = 4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6² − 4² = 36 − 16 = 20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4² = 3 × 16 = 48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3813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 root check: √(9 + 16) = √25 = 5.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√9 + √16, which equals 7.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572000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Exercise Book 3A Q4–7.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the next operation aloud; compare paper and calculator results.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Numeracy Hub Common mistakes only for taught examples.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L3 • Match the written grouping to the selected calculator’s key sequence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07</a:t>
            </a:r>
          </a:p>
        </p:txBody>
      </p:sp>
    </p:spTree>
    <p:extLst>
      <p:ext uri="{BB962C8B-B14F-4D97-AF65-F5344CB8AC3E}">
        <p14:creationId xmlns:p14="http://schemas.microsoft.com/office/powerpoint/2010/main" val="11415311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W02-L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19975"/>
            <a:ext cx="10698480" cy="3012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p.47 · Example 3.5: identify what the square belongs to.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W02-L03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68292"/>
            <a:ext cx="10698480" cy="29157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p.48 · Example 3.6: one root over a sum versus two separate roots.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learner says (6 − 4)² and 6² − 4² must have the same value. What changes?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The first squares the difference and gives 4. The second subtracts two squares and gives 20.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3A questions 4–7. Identify the next operation aloud and compare paper and calculator results.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Q4–10 (p.19); 2A Q2–3 (p.13)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3A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3A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3A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3A-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32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3A questions 8–10 and 2A questions 2–3. Make a deliberate bracket error, explain it, then correct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Q4–10 (p.19); 2A Q2–3 (p.13)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hub-o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Open Numeracy Hub → Order of Operations → Common mistakes; use taught examples only.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Write a deliberate bracket error beside a corrected version; explain the scope.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Number the operations and compare the correct working with the tool.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3A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3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3A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3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3A questions 8–9 with each operation numbered.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Q4–10 (p.19); 2A Q2–3 (p.13)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3A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3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3A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pic>
        <p:nvPicPr>
          <p:cNvPr id="5" name="Picture 4" descr="3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W02-L03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pp.45–51;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Q4–10 (p.19); 2A Q2–3 (p.13)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04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Calculation checking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04  •  2026-11-03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Calculation checking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Use estimation, inverse operations and a second method to check calculations.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1A Q20 (p.7); 3B Q2–3 (p.21); 3C Q2–3 (p.23)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Take a moment to name one common keying error and one way to detect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Q20 (p.7); 3B Q2–3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Choose a check for the error you suspect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An estimate checks whether the answer is a sensible size.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An inverse operation checks the numerical relationship.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second method checks whether the original setup counted the right quantities.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Repeating the same key sequence can repeat the same error.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Put a missing dimension back into the total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Write the original perimeter relationship before solving for a missing 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Substitute the found dimension into that original relationship.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 that all four sides recreate the stated perimeter.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an estimate and a separate check line beside the solution.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W02-L04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 genuinely different method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3B Q2: rectangle sides 1,350 mm and 875 mm.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428875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 + 875 + 1,350 + 875 = 4,450 mm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(1,350 + 875) = 4,450 mm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3667125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count the same four sides. An estimate of 2 × (1,400 + 900) = 4,600 mm supports the scale.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7148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Recheck 3B Q2 both ways.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substitute a missing dimension back into the original perimeter. Ask whether the total is restored.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L4 • Repeating an incorrect key sequence is not an independent check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28</a:t>
            </a:r>
          </a:p>
        </p:txBody>
      </p:sp>
    </p:spTree>
    <p:extLst>
      <p:ext uri="{BB962C8B-B14F-4D97-AF65-F5344CB8AC3E}">
        <p14:creationId xmlns:p14="http://schemas.microsoft.com/office/powerpoint/2010/main" val="2607801993"/>
      </p:ext>
    </p:extLst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pic>
        <p:nvPicPr>
          <p:cNvPr id="5" name="Picture 4" descr="W02-L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84" y="1691640"/>
            <a:ext cx="1041931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p.39 · Checking a result: estimate, reverse and inspect the entry.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pic>
        <p:nvPicPr>
          <p:cNvPr id="5" name="Picture 4" descr="W02-L04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03921"/>
            <a:ext cx="10698480" cy="12445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p.39 · Record the unit with the checked answer.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Two attempts with identical calculator keys give the same number. Is that a different checking method?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Check with an inverse operation or a different setup, such as adding sides instead of grouping pairs.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Recheck 3B question 2 in two ways: add the four sides and use the grouped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Q20 (p.7); 3B Q2–3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3B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pic>
        <p:nvPicPr>
          <p:cNvPr id="5" name="Picture 4" descr="3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3B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pic>
        <p:nvPicPr>
          <p:cNvPr id="5" name="Picture 4" descr="3B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53945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4,450 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6636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0">
                <a:solidFill>
                  <a:srgbClr val="4A4E54"/>
                </a:solidFill>
                <a:latin typeface="Arial"/>
              </a:defRPr>
            </a:pPr>
            <a:r>
              <a:rPr/>
              <a:t>Brackets first: 2,225. Then 2 × 2,225.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3B question 3 and 3C questions 2–3. Add an estimate and a check line to every solution. Finish with two new Numeracy Hub 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Q20 (p.7); 3B Q2–3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pic>
        <p:nvPicPr>
          <p:cNvPr id="5" name="Picture 4" descr="hub-o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For 3B Q2, compare adding four sides with the grouped perimeter formula.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Solve two Easy Numeracy Hub BEDMAS questions from taught topics on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Keep each question and add an estimate or second-method check before review.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3B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pic>
        <p:nvPicPr>
          <p:cNvPr id="5" name="Picture 4" descr="3B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3C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pic>
        <p:nvPicPr>
          <p:cNvPr id="5" name="Picture 4" descr="3C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287" y="1773936"/>
            <a:ext cx="7993504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Explain why 3C question 2 is 900 mm and show that it gives the stated 3,000 mm perimeter.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Q20 (p.7); 3B Q2–3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3C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pic>
        <p:nvPicPr>
          <p:cNvPr id="5" name="Picture 4" descr="3C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287" y="1773936"/>
            <a:ext cx="7993504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W02-L04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2 p.39;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1A Q20 (p.7); 3B Q2–3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04  •  2026-11-03  • 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42</Slides>
  <Notes>42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04 | 2026-11-03</dc:title>
  <dc:creator>ACCESS Trades</dc:creator>
  <dc:subject>Brackets, squares and square roots; Calculation checking workshop</dc:subject>
</cp:coreProperties>
</file>