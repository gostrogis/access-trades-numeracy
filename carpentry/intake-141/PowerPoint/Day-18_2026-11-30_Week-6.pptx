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11.xml" ContentType="application/vnd.openxmlformats-officedocument.presentationml.notesSlide+xml"/>
  <Override PartName="/ppt/notesSlides/notesSlide114.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7"/>
  </p:notesMasterIdLst>
  <p:sldIdLst>
    <p:sldId id="435" r:id="rId172"/>
    <p:sldId id="436" r:id="rId173"/>
    <p:sldId id="437" r:id="rId174"/>
    <p:sldId id="438" r:id="rId175"/>
    <p:sldId id="439" r:id="rId176"/>
    <p:sldId id="440" r:id="rId177"/>
    <p:sldId id="379" r:id="rId112"/>
    <p:sldId id="441" r:id="rId178"/>
    <p:sldId id="442" r:id="rId179"/>
    <p:sldId id="443" r:id="rId180"/>
    <p:sldId id="444" r:id="rId181"/>
    <p:sldId id="445" r:id="rId182"/>
    <p:sldId id="446" r:id="rId183"/>
    <p:sldId id="447" r:id="rId184"/>
    <p:sldId id="448" r:id="rId185"/>
    <p:sldId id="449" r:id="rId186"/>
    <p:sldId id="450" r:id="rId187"/>
    <p:sldId id="451" r:id="rId188"/>
    <p:sldId id="452" r:id="rId189"/>
    <p:sldId id="453" r:id="rId190"/>
    <p:sldId id="454" r:id="rId191"/>
    <p:sldId id="455" r:id="rId192"/>
    <p:sldId id="456" r:id="rId193"/>
    <p:sldId id="457" r:id="rId194"/>
    <p:sldId id="458" r:id="rId195"/>
    <p:sldId id="459" r:id="rId196"/>
    <p:sldId id="382" r:id="rId115"/>
    <p:sldId id="460" r:id="rId197"/>
    <p:sldId id="461" r:id="rId198"/>
    <p:sldId id="462" r:id="rId199"/>
    <p:sldId id="463" r:id="rId200"/>
    <p:sldId id="464" r:id="rId201"/>
    <p:sldId id="465" r:id="rId202"/>
    <p:sldId id="466" r:id="rId203"/>
    <p:sldId id="467" r:id="rId204"/>
    <p:sldId id="468" r:id="rId205"/>
    <p:sldId id="469" r:id="rId206"/>
    <p:sldId id="470" r:id="rId207"/>
    <p:sldId id="471" r:id="rId208"/>
    <p:sldId id="472" r:id="rId209"/>
    <p:sldId id="473" r:id="rId210"/>
    <p:sldId id="474" r:id="rId2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21" autoAdjust="0"/>
    <p:restoredTop sz="90520" autoAdjust="0"/>
  </p:normalViewPr>
  <p:slideViewPr>
    <p:cSldViewPr snapToGrid="0">
      <p:cViewPr varScale="1">
        <p:scale>
          <a:sx n="65" d="100"/>
          <a:sy n="65" d="100"/>
        </p:scale>
        <p:origin x="234"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12" Type="http://schemas.openxmlformats.org/officeDocument/2006/relationships/slide" Target="slides/slide7.xml"/><Relationship Id="rId115" Type="http://schemas.openxmlformats.org/officeDocument/2006/relationships/slide" Target="slides/slide27.xml"/><Relationship Id="rId167" Type="http://schemas.openxmlformats.org/officeDocument/2006/relationships/notesMaster" Target="notesMasters/notesMaster1.xml"/><Relationship Id="rId168" Type="http://schemas.openxmlformats.org/officeDocument/2006/relationships/presProps" Target="presProps.xml"/><Relationship Id="rId169" Type="http://schemas.openxmlformats.org/officeDocument/2006/relationships/viewProps" Target="viewProps.xml"/><Relationship Id="rId170" Type="http://schemas.openxmlformats.org/officeDocument/2006/relationships/theme" Target="theme/theme1.xml"/><Relationship Id="rId171" Type="http://schemas.openxmlformats.org/officeDocument/2006/relationships/tableStyles" Target="tableStyles.xml"/><Relationship Id="rId172" Type="http://schemas.openxmlformats.org/officeDocument/2006/relationships/slide" Target="slides/slide1.xml"/><Relationship Id="rId173" Type="http://schemas.openxmlformats.org/officeDocument/2006/relationships/slide" Target="slides/slide2.xml"/><Relationship Id="rId174" Type="http://schemas.openxmlformats.org/officeDocument/2006/relationships/slide" Target="slides/slide3.xml"/><Relationship Id="rId175" Type="http://schemas.openxmlformats.org/officeDocument/2006/relationships/slide" Target="slides/slide4.xml"/><Relationship Id="rId176" Type="http://schemas.openxmlformats.org/officeDocument/2006/relationships/slide" Target="slides/slide5.xml"/><Relationship Id="rId177" Type="http://schemas.openxmlformats.org/officeDocument/2006/relationships/slide" Target="slides/slide6.xml"/><Relationship Id="rId178" Type="http://schemas.openxmlformats.org/officeDocument/2006/relationships/slide" Target="slides/slide8.xml"/><Relationship Id="rId179" Type="http://schemas.openxmlformats.org/officeDocument/2006/relationships/slide" Target="slides/slide9.xml"/><Relationship Id="rId180" Type="http://schemas.openxmlformats.org/officeDocument/2006/relationships/slide" Target="slides/slide10.xml"/><Relationship Id="rId181" Type="http://schemas.openxmlformats.org/officeDocument/2006/relationships/slide" Target="slides/slide11.xml"/><Relationship Id="rId182" Type="http://schemas.openxmlformats.org/officeDocument/2006/relationships/slide" Target="slides/slide12.xml"/><Relationship Id="rId183" Type="http://schemas.openxmlformats.org/officeDocument/2006/relationships/slide" Target="slides/slide13.xml"/><Relationship Id="rId184" Type="http://schemas.openxmlformats.org/officeDocument/2006/relationships/slide" Target="slides/slide14.xml"/><Relationship Id="rId185" Type="http://schemas.openxmlformats.org/officeDocument/2006/relationships/slide" Target="slides/slide15.xml"/><Relationship Id="rId186" Type="http://schemas.openxmlformats.org/officeDocument/2006/relationships/slide" Target="slides/slide16.xml"/><Relationship Id="rId187" Type="http://schemas.openxmlformats.org/officeDocument/2006/relationships/slide" Target="slides/slide17.xml"/><Relationship Id="rId188" Type="http://schemas.openxmlformats.org/officeDocument/2006/relationships/slide" Target="slides/slide18.xml"/><Relationship Id="rId189" Type="http://schemas.openxmlformats.org/officeDocument/2006/relationships/slide" Target="slides/slide19.xml"/><Relationship Id="rId190" Type="http://schemas.openxmlformats.org/officeDocument/2006/relationships/slide" Target="slides/slide20.xml"/><Relationship Id="rId191" Type="http://schemas.openxmlformats.org/officeDocument/2006/relationships/slide" Target="slides/slide21.xml"/><Relationship Id="rId192" Type="http://schemas.openxmlformats.org/officeDocument/2006/relationships/slide" Target="slides/slide22.xml"/><Relationship Id="rId193" Type="http://schemas.openxmlformats.org/officeDocument/2006/relationships/slide" Target="slides/slide23.xml"/><Relationship Id="rId194" Type="http://schemas.openxmlformats.org/officeDocument/2006/relationships/slide" Target="slides/slide24.xml"/><Relationship Id="rId195" Type="http://schemas.openxmlformats.org/officeDocument/2006/relationships/slide" Target="slides/slide25.xml"/><Relationship Id="rId196" Type="http://schemas.openxmlformats.org/officeDocument/2006/relationships/slide" Target="slides/slide26.xml"/><Relationship Id="rId197" Type="http://schemas.openxmlformats.org/officeDocument/2006/relationships/slide" Target="slides/slide28.xml"/><Relationship Id="rId198" Type="http://schemas.openxmlformats.org/officeDocument/2006/relationships/slide" Target="slides/slide29.xml"/><Relationship Id="rId199" Type="http://schemas.openxmlformats.org/officeDocument/2006/relationships/slide" Target="slides/slide30.xml"/><Relationship Id="rId200" Type="http://schemas.openxmlformats.org/officeDocument/2006/relationships/slide" Target="slides/slide31.xml"/><Relationship Id="rId201" Type="http://schemas.openxmlformats.org/officeDocument/2006/relationships/slide" Target="slides/slide32.xml"/><Relationship Id="rId202" Type="http://schemas.openxmlformats.org/officeDocument/2006/relationships/slide" Target="slides/slide33.xml"/><Relationship Id="rId203" Type="http://schemas.openxmlformats.org/officeDocument/2006/relationships/slide" Target="slides/slide34.xml"/><Relationship Id="rId204" Type="http://schemas.openxmlformats.org/officeDocument/2006/relationships/slide" Target="slides/slide35.xml"/><Relationship Id="rId205" Type="http://schemas.openxmlformats.org/officeDocument/2006/relationships/slide" Target="slides/slide36.xml"/><Relationship Id="rId206" Type="http://schemas.openxmlformats.org/officeDocument/2006/relationships/slide" Target="slides/slide37.xml"/><Relationship Id="rId207" Type="http://schemas.openxmlformats.org/officeDocument/2006/relationships/slide" Target="slides/slide38.xml"/><Relationship Id="rId208" Type="http://schemas.openxmlformats.org/officeDocument/2006/relationships/slide" Target="slides/slide39.xml"/><Relationship Id="rId209" Type="http://schemas.openxmlformats.org/officeDocument/2006/relationships/slide" Target="slides/slide40.xml"/><Relationship Id="rId210" Type="http://schemas.openxmlformats.org/officeDocument/2006/relationships/slide" Target="slides/slide41.xml"/><Relationship Id="rId211" Type="http://schemas.openxmlformats.org/officeDocument/2006/relationships/slide" Target="slides/slide4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2A43CA-EE69-4B9A-80F8-91B7489D0DD8}" type="datetimeFigureOut">
              <a:rPr lang="en-CA" smtClean="0"/>
              <a:t>2026-10-19</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99165C-7370-4B52-8859-B50CCB89355C}" type="slidenum">
              <a:rPr lang="en-CA" smtClean="0"/>
              <a:t>‹#›</a:t>
            </a:fld>
            <a:endParaRPr lang="en-CA"/>
          </a:p>
        </p:txBody>
      </p:sp>
    </p:spTree>
    <p:extLst>
      <p:ext uri="{BB962C8B-B14F-4D97-AF65-F5344CB8AC3E}">
        <p14:creationId xmlns:p14="http://schemas.microsoft.com/office/powerpoint/2010/main" val="2368613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TEACH  •  12:55 PM–1:10 PM  •  15 MIN TOTAL — shared across this phase’s slides.</a:t>
            </a:r>
          </a:p>
          <a:p/>
          <a:p>
            <a:r>
              <a:t>The floor is 7.2 metres by 3.6 metres, so its area is 25.92 square metres. One sheet is 1.2 metres by 2.4 metres, giving 2.88 square metres. Divide the floor area by the sheet area: 25.92 divided by 2.88 equals 9 sheets. Check by multiplication: 9 times 2.88 returns 25.92. What makes this a no-waste result? We are treating all the sheet area as usable coverage, as the exercise specifies. The division alone does not prove a practical cutting layout, so we keep the dimensions and assumption visible.</a:t>
            </a:r>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TEACH  •  2:25 PM–2:40 PM  •  15 MIN TOTAL — shared across this phase’s slides.</a:t>
            </a:r>
          </a:p>
          <a:p/>
          <a:p>
            <a:r>
              <a:t>The outside measures 1,200 by 800 millimetres, so the outer area is 960,000 square millimetres. The opening is 300 by 200, giving 60,000 square millimetres. Subtract the opening: 960,000 minus 60,000 is 900,000 square millimetres. Divide by one million to express this as 0.9 square metre. How can we check the subtraction geometrically? Add the remaining material and the opening back together: 900,000 plus 60,000 returns the complete outer area. The result should also be smaller than the outer area and larger than zero.</a:t>
            </a:r>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 within the first Start allocation.</a:t>
            </a:r>
          </a:p>
          <a:p/>
          <a:p>
            <a:r>
              <a:t>Today we move from the distance around a shape to the surface it covers. We start with rectangle and triangle areas from 12:45 to 2:00, then use composite shapes and openings from 2:15 to 3:30. These calculations help us estimate sheet quantities and coating coverage. Keep two questions in view: which surface is actually being covered, and which square unit matches the dimensions? A sketch and the units will guide the calculation before the calculator does.</a:t>
            </a:r>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 within the first Start allocation.</a:t>
            </a:r>
          </a:p>
          <a:p/>
          <a:p>
            <a:r>
              <a:t>Our first block runs from 12:45 to 2:00, followed by the scheduled break until 2:15. The first independent check, 1:45 to 1:55, asks you to show floor area, sheet area and sheet quantity. In the second block we will add areas of separate pieces and subtract openings. That check runs from 3:15 to 3:25. Each practice period is 20 minutes. Use that time to explain the geometry as well as getting the number, because the surface being counted is what determines the formula.</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START  •  12:45 PM–12:50 PM  •  5 MIN TOTAL — shared across this phase’s slides.</a:t>
            </a:r>
          </a:p>
          <a:p/>
          <a:p>
            <a:r>
              <a:t>When we buy material to cover a floor, the outside boundary alone is not enough. We need the area inside it. Today our focus is rectangles and triangles, with the correct square units. What two dimensions make a rectangle’s area? Length and width. For a triangle, we need a base and its perpendicular height. Have the exercise book open to chapter 10. On every drawing, identify the surface to be covered and mark the dimensions that actually describe that surface.</a:t>
            </a:r>
          </a:p>
        </p:txBody>
      </p:sp>
      <p:sp>
        <p:nvSpPr>
          <p:cNvPr id="4" name="Slide Number Placeholder 3"/>
          <p:cNvSpPr>
            <a:spLocks noGrp="1"/>
          </p:cNvSpPr>
          <p:nvPr>
            <p:ph type="sldNum" idx="5" sz="quarter"/>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RECALL  •  12:50 PM–12:55 PM  •  5 MIN TOTAL — shared across this phase’s slides.</a:t>
            </a:r>
          </a:p>
          <a:p/>
          <a:p>
            <a:r>
              <a:t>Think about a square one metre on each side. Each side is 1,000 millimetres, so the area in millimetres is 1,000 times 1,000: one million square millimetres. Why is it not 1,000 square millimetres? Both directions changed units. Now contrast the perimeter: it adds four one-metre lengths and gives 4 metres. The same shape has a perimeter in metres and an area in square metres. Tell your partner what each number measures so the unit is part of the meaning, not a label added at the end.</a:t>
            </a:r>
          </a:p>
        </p:txBody>
      </p:sp>
      <p:sp>
        <p:nvSpPr>
          <p:cNvPr id="4" name="Slide Number Placeholder 3"/>
          <p:cNvSpPr>
            <a:spLocks noGrp="1"/>
          </p:cNvSpPr>
          <p:nvPr>
            <p:ph type="sldNum" idx="5" sz="quarter"/>
          </p:nvPr>
        </p:nvSpPr>
        <p:spPr/>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12:55 PM–1:10 PM  •  15 MIN TOTAL — shared across this phase’s slides.</a:t>
            </a:r>
          </a:p>
          <a:p/>
          <a:p>
            <a:r>
              <a:t>Picture covering a rectangle with equal unit squares arranged in rows. The length tells us how many squares fit along each row; the width tells us how many rows there are. That is why rectangle area is length times width. A triangle with the same base and perpendicular height covers half as much as the matching rectangle, so its formula includes one half. Which line must meet the base at 90 degrees? The height. A sloping side is generally not that height. Multiplying two lengths gives a square unit, and halving the result keeps that square unit.</a:t>
            </a:r>
          </a:p>
        </p:txBody>
      </p:sp>
      <p:sp>
        <p:nvSpPr>
          <p:cNvPr id="4" name="Slide Number Placeholder 3"/>
          <p:cNvSpPr>
            <a:spLocks noGrp="1"/>
          </p:cNvSpPr>
          <p:nvPr>
            <p:ph type="sldNum" idx="5" sz="quarter"/>
          </p:nvPr>
        </p:nvSpPr>
        <p:spPr/>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12:55 PM–1:10 PM  •  15 MIN TOTAL — shared across this phase’s slides.</a:t>
            </a:r>
          </a:p>
          <a:p/>
          <a:p>
            <a:r>
              <a:t>When a length unit changes, its conversion factor acts once. For area, that factor acts in two directions. One metre squared is 1,000 millimetres times 1,000 millimetres, or one million square millimetres. Once the surface area and sheet area use the same square unit, divide to find the number of sheets. Why must those units match? Otherwise we would be comparing different-sized area units. The exercise’s no-waste assumption matters: an area quotient describes coverage, while a real cutting layout may have additional constraints. Keep that assumption attached to the answer.</a:t>
            </a:r>
          </a:p>
        </p:txBody>
      </p:sp>
      <p:sp>
        <p:nvSpPr>
          <p:cNvPr id="4" name="Slide Number Placeholder 3"/>
          <p:cNvSpPr>
            <a:spLocks noGrp="1"/>
          </p:cNvSpPr>
          <p:nvPr>
            <p:ph type="sldNum" idx="5" sz="quarter"/>
          </p:nvPr>
        </p:nvSpPr>
        <p:spPr/>
      </p:sp>
    </p:spTree>
  </p:cSld>
  <p:clrMapOvr>
    <a:masterClrMapping/>
  </p:clrMapOvr>
</p:notes>
</file>

<file path=ppt/notesSlides/notesSlide1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12:55 PM–1:10 PM  •  15 MIN TOTAL — shared across this phase’s slides.</a:t>
            </a:r>
          </a:p>
          <a:p/>
          <a:p>
            <a:r>
              <a:t>Figure 10.3 on page 156 shows a rectangle cut along its diagonal. The two resulting triangles together cover the original rectangle, so each covers half its area. Now follow the other triangles: the height can lie inside or outside the triangle, but it always meets the base at a right angle. Why can differently leaning triangles have the same area? They share the same base and perpendicular height. Do not substitute the sloping side just because it is a visible edge. The perpendicular distance is what controls how much area lies above the base.</a:t>
            </a:r>
          </a:p>
        </p:txBody>
      </p:sp>
      <p:sp>
        <p:nvSpPr>
          <p:cNvPr id="4" name="Slide Number Placeholder 3"/>
          <p:cNvSpPr>
            <a:spLocks noGrp="1"/>
          </p:cNvSpPr>
          <p:nvPr>
            <p:ph type="sldNum" idx="5" sz="quarter"/>
          </p:nvPr>
        </p:nvSpPr>
        <p:spPr/>
      </p:sp>
    </p:spTree>
  </p:cSld>
  <p:clrMapOvr>
    <a:masterClrMapping/>
  </p:clrMapOvr>
</p:note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12:55 PM–1:10 PM  •  15 MIN TOTAL — shared across this phase’s slides.</a:t>
            </a:r>
          </a:p>
          <a:p/>
          <a:p>
            <a:r>
              <a:t>Example 10.1 on page 155 uses a base plate 600 millimetres by 450 millimetres. Multiply to get 270,000 square millimetres. Converting to square metres means dividing by one million, giving 0.27 square metres. Check another way: convert the sides first to 0.6 metre and 0.45 metre, then multiply them. The answer is again 0.27 square metres. Which method is more comfortable for you? Both are valid, and comparing them is a strong check. Dividing the area by only 1,000 would produce 270 square metres, far too large for this plate.</a:t>
            </a:r>
          </a:p>
        </p:txBody>
      </p:sp>
      <p:sp>
        <p:nvSpPr>
          <p:cNvPr id="4" name="Slide Number Placeholder 3"/>
          <p:cNvSpPr>
            <a:spLocks noGrp="1"/>
          </p:cNvSpPr>
          <p:nvPr>
            <p:ph type="sldNum" idx="5" sz="quarter"/>
          </p:nvPr>
        </p:nvSpPr>
        <p:spPr/>
      </p:sp>
    </p:spTree>
  </p:cSld>
  <p:clrMapOvr>
    <a:masterClrMapping/>
  </p:clrMapOvr>
</p:notes>
</file>

<file path=ppt/notesSlides/notesSlide1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12:55 PM–1:10 PM  •  15 MIN TOTAL — shared across this phase’s slides.</a:t>
            </a:r>
          </a:p>
          <a:p/>
          <a:p>
            <a:r>
              <a:t>The proposed shortcut is to multiply square metres by 1,000 to get square millimetres. Test it with a one-metre square. Each side contains 1,000 millimetres, so the square contains 1,000 rows of 1,000 little square millimetres. That is one million, not one thousand. The correction is to square the length conversion factor. Ask your partner to explain where the second factor of 1,000 comes from. We want an explanation about the two dimensions, not only a rule about moving a decimal point.</a:t>
            </a:r>
          </a:p>
        </p:txBody>
      </p:sp>
      <p:sp>
        <p:nvSpPr>
          <p:cNvPr id="4" name="Slide Number Placeholder 3"/>
          <p:cNvSpPr>
            <a:spLocks noGrp="1"/>
          </p:cNvSpPr>
          <p:nvPr>
            <p:ph type="sldNum" idx="5" sz="quarter"/>
          </p:nvPr>
        </p:nvSpPr>
        <p:spPr/>
      </p:sp>
    </p:spTree>
  </p:cSld>
  <p:clrMapOvr>
    <a:masterClrMapping/>
  </p:clrMapOvr>
</p:notes>
</file>

<file path=ppt/notesSlides/notesSlide1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TOGETHER  •  1:10 PM–1:25 PM  •  15 MIN TOTAL — shared across this phase’s slides.</a:t>
            </a:r>
          </a:p>
          <a:p/>
          <a:p>
            <a:r>
              <a:t>Work through 10A questions 2 to 4 and 7 to 8. For conversions, write the square-unit factor before using it. For triangle drawings, mark the base and perpendicular height, including the right-angle relationship. One partner explains the choice of dimensions, and the other checks that those dimensions belong in the formula. What would reveal that a sloping side was used by mistake? The chosen height would not meet the base at 90 degrees. Keep each result labelled with the square unit requested by the question.</a:t>
            </a:r>
          </a:p>
        </p:txBody>
      </p:sp>
      <p:sp>
        <p:nvSpPr>
          <p:cNvPr id="4" name="Slide Number Placeholder 3"/>
          <p:cNvSpPr>
            <a:spLocks noGrp="1"/>
          </p:cNvSpPr>
          <p:nvPr>
            <p:ph type="sldNum" idx="5" sz="quarter"/>
          </p:nvPr>
        </p:nvSpPr>
        <p:spPr/>
      </p:sp>
    </p:spTree>
  </p:cSld>
  <p:clrMapOvr>
    <a:masterClrMapping/>
  </p:clrMapOvr>
</p:notes>
</file>

<file path=ppt/notesSlides/notesSlide1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TOGETHER  •  1:10 PM–1:25 PM  •  15 MIN TOTAL — shared across this phase’s slides.</a:t>
            </a:r>
          </a:p>
          <a:p/>
          <a:p>
            <a:r>
              <a:t>Convert 1,500,000 square millimetres to square metres in 10A question 2. Start by writing how many square millimetres make one square metre. Decide whether the number should become larger or smaller when the unit becomes larger.</a:t>
            </a:r>
          </a:p>
          <a:p/>
          <a:p>
            <a:r>
              <a:t>Instructor only, after the attempt: 1,500,000 ÷ 1,000,000 = 1.5 m². The number decreases because each square metre represents a million square millimetres. Multiplying 1.5 by one million checks the conversion.</a:t>
            </a:r>
          </a:p>
        </p:txBody>
      </p:sp>
      <p:sp>
        <p:nvSpPr>
          <p:cNvPr id="4" name="Slide Number Placeholder 3"/>
          <p:cNvSpPr>
            <a:spLocks noGrp="1"/>
          </p:cNvSpPr>
          <p:nvPr>
            <p:ph type="sldNum" idx="5" sz="quarter"/>
          </p:nvPr>
        </p:nvSpPr>
        <p:spPr/>
      </p:sp>
    </p:spTree>
  </p:cSld>
  <p:clrMapOvr>
    <a:masterClrMapping/>
  </p:clrMapOvr>
</p:notes>
</file>

<file path=ppt/notesSlides/notesSlide1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TOGETHER  •  1:10 PM–1:25 PM  •  15 MIN TOTAL — shared across this phase’s slides.</a:t>
            </a:r>
          </a:p>
          <a:p/>
          <a:p>
            <a:r>
              <a:t>The result is 1.5 square metres. We divided by one million, because there are one million square millimetres in every square metre. Why is an answer of 1,500 square metres unreasonable here? It uses the length conversion factor only once. The original quantity is only one and a half million square millimetres, so it should be one and a half one-million-sized units. This way of reading the conversion helps you check the magnitude instead of trusting a decimal movement by itself.</a:t>
            </a:r>
          </a:p>
        </p:txBody>
      </p:sp>
      <p:sp>
        <p:nvSpPr>
          <p:cNvPr id="4" name="Slide Number Placeholder 3"/>
          <p:cNvSpPr>
            <a:spLocks noGrp="1"/>
          </p:cNvSpPr>
          <p:nvPr>
            <p:ph type="sldNum" idx="5" sz="quarter"/>
          </p:nvPr>
        </p:nvSpPr>
        <p:spPr/>
      </p:sp>
    </p:spTree>
  </p:cSld>
  <p:clrMapOvr>
    <a:masterClrMapping/>
  </p:clrMapOvr>
</p:notes>
</file>

<file path=ppt/notesSlides/notesSlide1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1:25 PM–1:45 PM  •  20 MIN TOTAL — shared across this phase’s slides.</a:t>
            </a:r>
          </a:p>
          <a:p/>
          <a:p>
            <a:r>
              <a:t>Complete 10A questions 5 and 6, followed by 10B questions 1 and 4. Write the area formula and units before calculating. In Shape Canvas, compare a rectangle and right triangle with matching base and height. Explain why one covers half as much. For the sheet-count problem, keep the no-waste condition beside your calculation. What does the area division tell us? The number of sheet areas needed to match the floor area under that condition. It does not by itself supply a cutting plan.</a:t>
            </a:r>
          </a:p>
        </p:txBody>
      </p:sp>
      <p:sp>
        <p:nvSpPr>
          <p:cNvPr id="4" name="Slide Number Placeholder 3"/>
          <p:cNvSpPr>
            <a:spLocks noGrp="1"/>
          </p:cNvSpPr>
          <p:nvPr>
            <p:ph type="sldNum" idx="5" sz="quarter"/>
          </p:nvPr>
        </p:nvSpPr>
        <p:spPr/>
      </p:sp>
    </p:spTree>
  </p:cSld>
  <p:clrMapOvr>
    <a:masterClrMapping/>
  </p:clrMapOvr>
</p:notes>
</file>

<file path=ppt/notesSlides/notesSlide1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1:25 PM–1:45 PM  •  20 MIN TOTAL — shared across this phase’s slides.</a:t>
            </a:r>
          </a:p>
          <a:p/>
          <a:p>
            <a:r>
              <a:t>Open Numeracy Hub and choose Volume and Layout, then Area and perimeter. Read whether the question asks for the boundary or for coverage before selecting your method. Our work now concerns area, so identify two relevant dimensions and expect a square unit. For a triangle, find the perpendicular height rather than automatically using every labelled side. Try the calculation on paper first. What should you compare when checking the result? The formula, the dimensions and the unit, as well as the numerical answer.</a:t>
            </a:r>
          </a:p>
        </p:txBody>
      </p:sp>
      <p:sp>
        <p:nvSpPr>
          <p:cNvPr id="4" name="Slide Number Placeholder 3"/>
          <p:cNvSpPr>
            <a:spLocks noGrp="1"/>
          </p:cNvSpPr>
          <p:nvPr>
            <p:ph type="sldNum" idx="5" sz="quarter"/>
          </p:nvPr>
        </p:nvSpPr>
        <p:spPr/>
      </p:sp>
    </p:spTree>
  </p:cSld>
  <p:clrMapOvr>
    <a:masterClrMapping/>
  </p:clrMapOvr>
</p:notes>
</file>

<file path=ppt/notesSlides/notesSlide1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1:25 PM–1:45 PM  •  20 MIN TOTAL — shared across this phase’s slides.</a:t>
            </a:r>
          </a:p>
          <a:p/>
          <a:p>
            <a:r>
              <a:t>Create a rectangle and a right triangle in Shape Canvas with equal base and height. Calculate both areas on paper before checking the display. What relationship do you predict? The triangle has half the area of the rectangle. Explain it by imagining two matching right triangles making the rectangle. If your answers do not have that relationship, check whether the dimensions really match and whether you included one half. Use the Area and perimeter section of Numeracy Hub to compare the method after your paper attempt.</a:t>
            </a:r>
          </a:p>
        </p:txBody>
      </p:sp>
      <p:sp>
        <p:nvSpPr>
          <p:cNvPr id="4" name="Slide Number Placeholder 3"/>
          <p:cNvSpPr>
            <a:spLocks noGrp="1"/>
          </p:cNvSpPr>
          <p:nvPr>
            <p:ph type="sldNum" idx="5" sz="quarter"/>
          </p:nvPr>
        </p:nvSpPr>
        <p:spPr/>
      </p:sp>
    </p:spTree>
  </p:cSld>
  <p:clrMapOvr>
    <a:masterClrMapping/>
  </p:clrMapOvr>
</p:notes>
</file>

<file path=ppt/notesSlides/notesSlide1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1:25 PM–1:45 PM  •  20 MIN TOTAL — shared across this phase’s slides.</a:t>
            </a:r>
          </a:p>
          <a:p/>
          <a:p>
            <a:r>
              <a:t>For 10A question 5, find the area of the rectangle measuring 840 millimetres by 350 millimetres. Identify what each factor measures and write the resulting unit. Estimate the size before calculating.</a:t>
            </a:r>
          </a:p>
          <a:p/>
          <a:p>
            <a:r>
              <a:t>Instructor only, after the attempt: A = 840 × 350 = 294,000 mm². One check is 84 × 35 = 2,940, then restore the two factors of ten. The answer is square millimetres because both dimensions are lengths in millimetres.</a:t>
            </a:r>
          </a:p>
        </p:txBody>
      </p:sp>
      <p:sp>
        <p:nvSpPr>
          <p:cNvPr id="4" name="Slide Number Placeholder 3"/>
          <p:cNvSpPr>
            <a:spLocks noGrp="1"/>
          </p:cNvSpPr>
          <p:nvPr>
            <p:ph type="sldNum" idx="5" sz="quarter"/>
          </p:nvPr>
        </p:nvSpPr>
        <p:spPr/>
      </p:sp>
    </p:spTree>
  </p:cSld>
  <p:clrMapOvr>
    <a:masterClrMapping/>
  </p:clrMapOvr>
</p:notes>
</file>

<file path=ppt/notesSlides/notesSlide1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1:25 PM–1:45 PM  •  20 MIN TOTAL — shared across this phase’s slides.</a:t>
            </a:r>
          </a:p>
          <a:p/>
          <a:p>
            <a:r>
              <a:t>Question 10A 6 gives a square with sides of 1.6 metres. Find its area and explain why the side appears twice in the multiplication. Do not replace multiplication by adding the four edges.</a:t>
            </a:r>
          </a:p>
          <a:p/>
          <a:p>
            <a:r>
              <a:t>Instructor only, after the attempt: A = 1.6 × 1.6 = 2.56 m². A square is a rectangle with equal length and width. Adding 1.6 four times would give the perimeter, 6.4 m, which answers a different question.</a:t>
            </a:r>
          </a:p>
        </p:txBody>
      </p:sp>
      <p:sp>
        <p:nvSpPr>
          <p:cNvPr id="4" name="Slide Number Placeholder 3"/>
          <p:cNvSpPr>
            <a:spLocks noGrp="1"/>
          </p:cNvSpPr>
          <p:nvPr>
            <p:ph type="sldNum" idx="5" sz="quarter"/>
          </p:nvPr>
        </p:nvSpPr>
        <p:spPr/>
      </p:sp>
    </p:spTree>
  </p:cSld>
  <p:clrMapOvr>
    <a:masterClrMapping/>
  </p:clrMapOvr>
</p:notes>
</file>

<file path=ppt/notesSlides/notesSlide1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CHECK  •  1:45 PM–1:55 PM  •  10 MIN TOTAL — shared across this phase’s slides.</a:t>
            </a:r>
          </a:p>
          <a:p/>
          <a:p>
            <a:r>
              <a:t>Complete 10B question 1 independently. Show three separate quantities: the floor area, the area of one sheet, and the number of sheets. Keep the no-waste condition in your explanation and use matching square units before dividing. Leave the worked answers closed during the attempt. What check can you perform after finding the count? Multiply the sheet count by the area of one sheet and compare it with the floor area. Your working should make each stage understandable without guessing what a number represents.</a:t>
            </a:r>
          </a:p>
        </p:txBody>
      </p:sp>
      <p:sp>
        <p:nvSpPr>
          <p:cNvPr id="4" name="Slide Number Placeholder 3"/>
          <p:cNvSpPr>
            <a:spLocks noGrp="1"/>
          </p:cNvSpPr>
          <p:nvPr>
            <p:ph type="sldNum" idx="5" sz="quarter"/>
          </p:nvPr>
        </p:nvSpPr>
        <p:spPr/>
      </p:sp>
    </p:spTree>
  </p:cSld>
  <p:clrMapOvr>
    <a:masterClrMapping/>
  </p:clrMapOvr>
</p:notes>
</file>

<file path=ppt/notesSlides/notesSlide1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CHECK  •  1:45 PM–1:55 PM  •  10 MIN TOTAL — shared across this phase’s slides.</a:t>
            </a:r>
          </a:p>
          <a:p/>
          <a:p>
            <a:r>
              <a:t>The mezzanine floor is 7.2 metres by 3.6 metres. Its checker plate sheets are 1.2 metres by 2.4 metres and are laid edge to edge with no waste. Find the floor area and sheet quantity independently, showing both areas before division.</a:t>
            </a:r>
          </a:p>
          <a:p/>
          <a:p>
            <a:r>
              <a:t>Instructor only, after the attempt: floor = 7.2 × 3.6 = 25.92 m²; sheet = 1.2 × 2.4 = 2.88 m²; 25.92 ÷ 2.88 = 9 sheets. Check: 9 × 2.88 = 25.92 m².</a:t>
            </a:r>
          </a:p>
        </p:txBody>
      </p:sp>
      <p:sp>
        <p:nvSpPr>
          <p:cNvPr id="4" name="Slide Number Placeholder 3"/>
          <p:cNvSpPr>
            <a:spLocks noGrp="1"/>
          </p:cNvSpPr>
          <p:nvPr>
            <p:ph type="sldNum" idx="5" sz="quarter"/>
          </p:nvPr>
        </p:nvSpPr>
        <p:spPr/>
      </p:sp>
    </p:spTree>
  </p:cSld>
  <p:clrMapOvr>
    <a:masterClrMapping/>
  </p:clrMapOvr>
</p:notes>
</file>

<file path=ppt/notesSlides/notesSlide1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WRAP UP  •  1:55 PM–2:00 PM  •  5 MIN TOTAL — shared across this phase’s slides.</a:t>
            </a:r>
          </a:p>
          <a:p/>
          <a:p>
            <a:r>
              <a:t>Look back at one area and one unit conversion from this block. Explain why the answer uses square units and why a metre-to-millimetre area conversion needs two factors of 1,000. What drawing feature tells us which height belongs in a triangle formula? The right angle to the base. Record one useful check from today. After the break, we will use these familiar areas as building blocks: sometimes we add separate pieces, and sometimes we subtract an opening from a larger surface.</a:t>
            </a:r>
          </a:p>
        </p:txBody>
      </p:sp>
      <p:sp>
        <p:nvSpPr>
          <p:cNvPr id="4" name="Slide Number Placeholder 3"/>
          <p:cNvSpPr>
            <a:spLocks noGrp="1"/>
          </p:cNvSpPr>
          <p:nvPr>
            <p:ph type="sldNum" idx="5" sz="quarter"/>
          </p:nvPr>
        </p:nvSpPr>
        <p:spPr/>
      </p:sp>
    </p:spTree>
  </p:cSld>
  <p:clrMapOvr>
    <a:masterClrMapping/>
  </p:clrMapOvr>
</p:notes>
</file>

<file path=ppt/notesSlides/notesSlide1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Scheduled break — no teaching time.</a:t>
            </a:r>
          </a:p>
          <a:p/>
          <a:p>
            <a:r>
              <a:t>Our scheduled break is 2:00 to 2:15. Keep the rectangle and triangle work available for the next block, because composite areas use the same formulas on separate pieces. When we return, the key question will be which pieces remain and which openings have been removed. We will restart at 2:15.</a:t>
            </a:r>
          </a:p>
        </p:txBody>
      </p:sp>
      <p:sp>
        <p:nvSpPr>
          <p:cNvPr id="4" name="Slide Number Placeholder 3"/>
          <p:cNvSpPr>
            <a:spLocks noGrp="1"/>
          </p:cNvSpPr>
          <p:nvPr>
            <p:ph type="sldNum" idx="5" sz="quarter"/>
          </p:nvPr>
        </p:nvSpPr>
        <p:spPr/>
      </p:sp>
    </p:spTree>
  </p:cSld>
  <p:clrMapOvr>
    <a:masterClrMapping/>
  </p:clrMapOvr>
</p:notes>
</file>

<file path=ppt/notesSlides/notesSlide1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START  •  2:15 PM–2:20 PM  •  5 MIN TOTAL — shared across this phase’s slides.</a:t>
            </a:r>
          </a:p>
          <a:p/>
          <a:p>
            <a:r>
              <a:t>A real panel may have a cut-out, or its outline may combine several simple shapes. We do not need a completely new formula for every outline. We can break the surface into known parts and add their areas, or calculate the outer area and subtract what is missing. What must the final answer describe? The material actually left or the surface actually being covered. Today we will mark those pieces on the drawing before calculating, then connect the result to coating quantities.</a:t>
            </a:r>
          </a:p>
        </p:txBody>
      </p:sp>
      <p:sp>
        <p:nvSpPr>
          <p:cNvPr id="4" name="Slide Number Placeholder 3"/>
          <p:cNvSpPr>
            <a:spLocks noGrp="1"/>
          </p:cNvSpPr>
          <p:nvPr>
            <p:ph type="sldNum" idx="5" sz="quarter"/>
          </p:nvPr>
        </p:nvSpPr>
        <p:spPr/>
      </p:sp>
    </p:spTree>
  </p:cSld>
  <p:clrMapOvr>
    <a:masterClrMapping/>
  </p:clrMapOvr>
</p:notes>
</file>

<file path=ppt/notesSlides/notesSlide1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RECALL  •  2:20 PM–2:25 PM  •  5 MIN TOTAL — shared across this phase’s slides.</a:t>
            </a:r>
          </a:p>
          <a:p/>
          <a:p>
            <a:r>
              <a:t>Picture a panel with a hole cut through it. Point to the outer panel area and then the opening. If we need the material area that remains, should the opening be added or subtracted? Subtracted, because that part is no longer material. Now imagine joining another solid piece to the panel: that area would be added, provided it does not overlap an area already counted. Say the calculation in words first: outer area minus opening area. That sentence will help you choose the signs before entering numbers.</a:t>
            </a:r>
          </a:p>
        </p:txBody>
      </p:sp>
      <p:sp>
        <p:nvSpPr>
          <p:cNvPr id="4" name="Slide Number Placeholder 3"/>
          <p:cNvSpPr>
            <a:spLocks noGrp="1"/>
          </p:cNvSpPr>
          <p:nvPr>
            <p:ph type="sldNum" idx="5" sz="quarter"/>
          </p:nvPr>
        </p:nvSpPr>
        <p:spPr/>
      </p:sp>
    </p:spTree>
  </p:cSld>
  <p:clrMapOvr>
    <a:masterClrMapping/>
  </p:clrMapOvr>
</p:notes>
</file>

<file path=ppt/notesSlides/notesSlide1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2:25 PM–2:40 PM  •  15 MIN TOTAL — shared across this phase’s slides.</a:t>
            </a:r>
          </a:p>
          <a:p/>
          <a:p>
            <a:r>
              <a:t>A composite area can be split into familiar shapes, but each part must be counted only once. Draw dividing lines so the pieces do not overlap. Label the lengths and perpendicular heights needed for each formula, calculate the separate areas, then add them. For a trapezoid, the two parallel sides set an average width: add those sides, divide by two, then multiply by perpendicular height. Why use the average of the parallel sides? The shape changes steadily from one width to the other. The average gives the equivalent width for the same coverage.</a:t>
            </a:r>
          </a:p>
        </p:txBody>
      </p:sp>
      <p:sp>
        <p:nvSpPr>
          <p:cNvPr id="4" name="Slide Number Placeholder 3"/>
          <p:cNvSpPr>
            <a:spLocks noGrp="1"/>
          </p:cNvSpPr>
          <p:nvPr>
            <p:ph type="sldNum" idx="5" sz="quarter"/>
          </p:nvPr>
        </p:nvSpPr>
        <p:spPr/>
      </p:sp>
    </p:spTree>
  </p:cSld>
  <p:clrMapOvr>
    <a:masterClrMapping/>
  </p:clrMapOvr>
</p:notes>
</file>

<file path=ppt/notesSlides/notesSlide1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2:25 PM–2:40 PM  •  15 MIN TOTAL — shared across this phase’s slides.</a:t>
            </a:r>
          </a:p>
          <a:p/>
          <a:p>
            <a:r>
              <a:t>Net area means the area remaining after openings are removed. Write outer area minus opening area, using the same square unit for both. For a circular opening, the formula is πr². If the drawing labels a diameter, halve it first to find r. Why is that step especially important here? Radius is squared, so using the diameter would make the circle area four times too large. After finding net area, a coverage rate can turn that area into litres. Whole tins are rounded up when a partial tin is still needed to cover the stated surface.</a:t>
            </a:r>
          </a:p>
        </p:txBody>
      </p:sp>
      <p:sp>
        <p:nvSpPr>
          <p:cNvPr id="4" name="Slide Number Placeholder 3"/>
          <p:cNvSpPr>
            <a:spLocks noGrp="1"/>
          </p:cNvSpPr>
          <p:nvPr>
            <p:ph type="sldNum" idx="5" sz="quarter"/>
          </p:nvPr>
        </p:nvSpPr>
        <p:spPr/>
      </p:sp>
    </p:spTree>
  </p:cSld>
  <p:clrMapOvr>
    <a:masterClrMapping/>
  </p:clrMapOvr>
</p:notes>
</file>

<file path=ppt/notesSlides/notesSlide1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2:25 PM–2:40 PM  •  15 MIN TOTAL — shared across this phase’s slides.</a:t>
            </a:r>
          </a:p>
          <a:p/>
          <a:p>
            <a:r>
              <a:t>The L-shaped plate in Example 10.7 is split into an upright and a foot. The upright is 250 by 600 millimetres, giving 150,000 square millimetres. The foot must exclude the width already counted in the upright: its length is 800 minus 250, or 550 millimetres. Its area is 550 times 200, or 110,000 square millimetres. Adding gives 260,000 square millimetres. Why not use the full 800 for the foot as well? That would count the overlapping corner twice. The split lines make the no-overlap rule visible.</a:t>
            </a:r>
          </a:p>
        </p:txBody>
      </p:sp>
      <p:sp>
        <p:nvSpPr>
          <p:cNvPr id="4" name="Slide Number Placeholder 3"/>
          <p:cNvSpPr>
            <a:spLocks noGrp="1"/>
          </p:cNvSpPr>
          <p:nvPr>
            <p:ph type="sldNum" idx="5" sz="quarter"/>
          </p:nvPr>
        </p:nvSpPr>
        <p:spPr/>
      </p:sp>
    </p:spTree>
  </p:cSld>
  <p:clrMapOvr>
    <a:masterClrMapping/>
  </p:clrMapOvr>
</p:notes>
</file>

<file path=ppt/notesSlides/notesSlide1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2:25 PM–2:40 PM  •  15 MIN TOTAL — shared across this phase’s slides.</a:t>
            </a:r>
          </a:p>
          <a:p/>
          <a:p>
            <a:r>
              <a:t>Example 10.8 combines a rectangle, a semicircle and a hole. The rectangle is 120 by 150 millimetres, or 18,000 square millimetres. The top semicircle has diameter 120, so its radius is 60; its area is π times 60 squared divided by two. The hole has diameter 30, so its radius is 15; its area is π times 15 squared. Add the rectangle and semicircle, then subtract the hole, retaining precision until the end: 22,948.01 square millimetres. Which part gets subtracted? Only the opening, because no material remains there.</a:t>
            </a:r>
          </a:p>
        </p:txBody>
      </p:sp>
      <p:sp>
        <p:nvSpPr>
          <p:cNvPr id="4" name="Slide Number Placeholder 3"/>
          <p:cNvSpPr>
            <a:spLocks noGrp="1"/>
          </p:cNvSpPr>
          <p:nvPr>
            <p:ph type="sldNum" idx="5" sz="quarter"/>
          </p:nvPr>
        </p:nvSpPr>
        <p:spPr/>
      </p:sp>
    </p:spTree>
  </p:cSld>
  <p:clrMapOvr>
    <a:masterClrMapping/>
  </p:clrMapOvr>
</p:notes>
</file>

<file path=ppt/notesSlides/notesSlide1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2:25 PM–2:40 PM  •  15 MIN TOTAL — shared across this phase’s slides.</a:t>
            </a:r>
          </a:p>
          <a:p/>
          <a:p>
            <a:r>
              <a:t>The circular opening is labelled with a diameter, but the area formula asks for a radius. What must happen before squaring? Divide the diameter by two. If we accidentally use the diameter as r, we double the input to the square, and the calculated opening area becomes four times too large. That would remove far too much from the outer area. Explain the correction using the centre of a circle: a radius reaches halfway across, while a diameter reaches all the way across. Then write r equals D divided by two before using πr².</a:t>
            </a:r>
          </a:p>
        </p:txBody>
      </p:sp>
      <p:sp>
        <p:nvSpPr>
          <p:cNvPr id="4" name="Slide Number Placeholder 3"/>
          <p:cNvSpPr>
            <a:spLocks noGrp="1"/>
          </p:cNvSpPr>
          <p:nvPr>
            <p:ph type="sldNum" idx="5" sz="quarter"/>
          </p:nvPr>
        </p:nvSpPr>
        <p:spPr/>
      </p:sp>
    </p:spTree>
  </p:cSld>
  <p:clrMapOvr>
    <a:masterClrMapping/>
  </p:clrMapOvr>
</p:notes>
</file>

<file path=ppt/notesSlides/notesSlide1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TOGETHER  •  2:40 PM–2:55 PM  •  15 MIN TOTAL — shared across this phase’s slides.</a:t>
            </a:r>
          </a:p>
          <a:p/>
          <a:p>
            <a:r>
              <a:t>Work through 10A questions 10 to 12 and 10C question 4 with a partner. On each drawing, label the separate pieces and decide whether each area is added or subtracted. For the trapezoid, identify the parallel sides and the perpendicular height. For a composite shape, make sure the pieces do not overlap. What should your partner be able to trace? Every term in your area calculation back to a specific region of the drawing. That connection matters more than simply agreeing on a calculator result.</a:t>
            </a:r>
          </a:p>
        </p:txBody>
      </p:sp>
      <p:sp>
        <p:nvSpPr>
          <p:cNvPr id="4" name="Slide Number Placeholder 3"/>
          <p:cNvSpPr>
            <a:spLocks noGrp="1"/>
          </p:cNvSpPr>
          <p:nvPr>
            <p:ph type="sldNum" idx="5" sz="quarter"/>
          </p:nvPr>
        </p:nvSpPr>
        <p:spPr/>
      </p:sp>
    </p:spTree>
  </p:cSld>
  <p:clrMapOvr>
    <a:masterClrMapping/>
  </p:clrMapOvr>
</p:notes>
</file>

<file path=ppt/notesSlides/notesSlide1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TOGETHER  •  2:40 PM–2:55 PM  •  15 MIN TOTAL — shared across this phase’s slides.</a:t>
            </a:r>
          </a:p>
          <a:p/>
          <a:p>
            <a:r>
              <a:t>The trapezoid in 10A question 10 has parallel sides 250 and 410 millimetres, with a height of 180 millimetres. Find the average of the parallel sides, then use the height. Predict whether the answer should lie between the areas of 250-by-180 and 410-by-180 rectangles.</a:t>
            </a:r>
          </a:p>
          <a:p/>
          <a:p>
            <a:r>
              <a:t>Instructor only, after the attempt: A = (250 + 410) ÷ 2 × 180 = 330 × 180 = 59,400 mm². It lies between 45,000 and 73,800 mm².</a:t>
            </a:r>
          </a:p>
        </p:txBody>
      </p:sp>
      <p:sp>
        <p:nvSpPr>
          <p:cNvPr id="4" name="Slide Number Placeholder 3"/>
          <p:cNvSpPr>
            <a:spLocks noGrp="1"/>
          </p:cNvSpPr>
          <p:nvPr>
            <p:ph type="sldNum" idx="5" sz="quarter"/>
          </p:nvPr>
        </p:nvSpPr>
        <p:spPr/>
      </p:sp>
    </p:spTree>
  </p:cSld>
  <p:clrMapOvr>
    <a:masterClrMapping/>
  </p:clrMapOvr>
</p:notes>
</file>

<file path=ppt/notesSlides/notesSlide1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TOGETHER  •  2:40 PM–2:55 PM  •  15 MIN TOTAL — shared across this phase’s slides.</a:t>
            </a:r>
          </a:p>
          <a:p/>
          <a:p>
            <a:r>
              <a:t>The trapezoid’s area is 59,400 square millimetres. Adding its parallel sides gives 660 millimetres; halving gives the average width, 330 millimetres. Multiplying by the perpendicular height of 180 gives the area. Why is that result reasonable? It lies between the areas of rectangles using the smaller and larger parallel sides. If someone forgot to divide by two, the result would be twice the correct area. Read your formula aloud so both the averaging step and the perpendicular height are clear.</a:t>
            </a:r>
          </a:p>
        </p:txBody>
      </p:sp>
      <p:sp>
        <p:nvSpPr>
          <p:cNvPr id="4" name="Slide Number Placeholder 3"/>
          <p:cNvSpPr>
            <a:spLocks noGrp="1"/>
          </p:cNvSpPr>
          <p:nvPr>
            <p:ph type="sldNum" idx="5" sz="quarter"/>
          </p:nvPr>
        </p:nvSpPr>
        <p:spPr/>
      </p:sp>
    </p:spTree>
  </p:cSld>
  <p:clrMapOvr>
    <a:masterClrMapping/>
  </p:clrMapOvr>
</p:notes>
</file>

<file path=ppt/notesSlides/notesSlide1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2:55 PM–3:15 PM  •  20 MIN TOTAL — shared across this phase’s slides.</a:t>
            </a:r>
          </a:p>
          <a:p/>
          <a:p>
            <a:r>
              <a:t>Complete 10B questions 2, 11 and 12. In the coating problem, count the number of plates and the number of faces before applying coverage. In the opening problem, subtract the removed area from the outside. Build a labelled Shape Canvas sketch to support your calculations. Only after those core calculations are secure should you explore the optional solid-and-net preview. What will you check first if a result is too large? Whether an opening was added, an overlapping part counted twice, or an extra face included.</a:t>
            </a:r>
          </a:p>
        </p:txBody>
      </p:sp>
      <p:sp>
        <p:nvSpPr>
          <p:cNvPr id="4" name="Slide Number Placeholder 3"/>
          <p:cNvSpPr>
            <a:spLocks noGrp="1"/>
          </p:cNvSpPr>
          <p:nvPr>
            <p:ph type="sldNum" idx="5" sz="quarter"/>
          </p:nvPr>
        </p:nvSpPr>
        <p:spPr/>
      </p:sp>
    </p:spTree>
  </p:cSld>
  <p:clrMapOvr>
    <a:masterClrMapping/>
  </p:clrMapOvr>
</p:notes>
</file>

<file path=ppt/notesSlides/notesSlide1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2:55 PM–3:15 PM  •  20 MIN TOTAL — shared across this phase’s slides.</a:t>
            </a:r>
          </a:p>
          <a:p/>
          <a:p>
            <a:r>
              <a:t>Open Shape Canvas and represent the outer rectangle and its opening as two labelled shapes. Keep the dimensions and the role of each shape clear. The opening is not another piece to add: it records material removed. Calculate their areas separately on paper, then subtract. What must be true of the opening’s area? It must be smaller than the outer panel for the drawing we are using. The screen helps us inspect the geometry, but the labels, formulas and signs should explain the numerical result.</a:t>
            </a:r>
          </a:p>
        </p:txBody>
      </p:sp>
      <p:sp>
        <p:nvSpPr>
          <p:cNvPr id="4" name="Slide Number Placeholder 3"/>
          <p:cNvSpPr>
            <a:spLocks noGrp="1"/>
          </p:cNvSpPr>
          <p:nvPr>
            <p:ph type="sldNum" idx="5" sz="quarter"/>
          </p:nvPr>
        </p:nvSpPr>
        <p:spPr/>
      </p:sp>
    </p:spTree>
  </p:cSld>
  <p:clrMapOvr>
    <a:masterClrMapping/>
  </p:clrMapOvr>
</p:notes>
</file>

<file path=ppt/notesSlides/notesSlide1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2:55 PM–3:15 PM  •  20 MIN TOTAL — shared across this phase’s slides.</a:t>
            </a:r>
          </a:p>
          <a:p/>
          <a:p>
            <a:r>
              <a:t>Use two labelled shapes to show the outer surface and the opening. Write each area with the same square unit, then write the net calculation as a subtraction. Compare the labels only after you have a paper result. What happens if you add the two areas? You count the opening as extra material instead of removing it. If the core area and coverage work is complete, the optional solid-and-net preview can help you see how flat faces correspond to a solid, but keep that extension separate from the required opening calculation.</a:t>
            </a:r>
          </a:p>
        </p:txBody>
      </p:sp>
      <p:sp>
        <p:nvSpPr>
          <p:cNvPr id="4" name="Slide Number Placeholder 3"/>
          <p:cNvSpPr>
            <a:spLocks noGrp="1"/>
          </p:cNvSpPr>
          <p:nvPr>
            <p:ph type="sldNum" idx="5" sz="quarter"/>
          </p:nvPr>
        </p:nvSpPr>
        <p:spPr/>
      </p:sp>
    </p:spTree>
  </p:cSld>
  <p:clrMapOvr>
    <a:masterClrMapping/>
  </p:clrMapOvr>
</p:notes>
</file>

<file path=ppt/notesSlides/notesSlide2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2:55 PM–3:15 PM  •  20 MIN TOTAL — shared across this phase’s slides.</a:t>
            </a:r>
          </a:p>
          <a:p/>
          <a:p>
            <a:r>
              <a:t>Four plates measure 2.5 by 1.6 metres, and both sides are primed. One litre covers 7 square metres, and tins hold one litre. Count all the faces before converting area to litres. Find litres to two decimals, then decide the whole tins to buy.</a:t>
            </a:r>
          </a:p>
          <a:p/>
          <a:p>
            <a:r>
              <a:t>Instructor only, after the attempt: one face = 4 m²; four plates, both sides = 4 × 4 × 2 = 32 m². 32 ÷ 7 = 4.5714… L = 4.57 L, so buy 5 tins.</a:t>
            </a:r>
          </a:p>
        </p:txBody>
      </p:sp>
      <p:sp>
        <p:nvSpPr>
          <p:cNvPr id="4" name="Slide Number Placeholder 3"/>
          <p:cNvSpPr>
            <a:spLocks noGrp="1"/>
          </p:cNvSpPr>
          <p:nvPr>
            <p:ph type="sldNum" idx="5" sz="quarter"/>
          </p:nvPr>
        </p:nvSpPr>
        <p:spPr/>
      </p:sp>
    </p:spTree>
  </p:cSld>
  <p:clrMapOvr>
    <a:masterClrMapping/>
  </p:clrMapOvr>
</p:notes>
</file>

<file path=ppt/notesSlides/notesSlide2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2:55 PM–3:15 PM  •  20 MIN TOTAL — shared across this phase’s slides.</a:t>
            </a:r>
          </a:p>
          <a:p/>
          <a:p>
            <a:r>
              <a:t>Question 10B 11 removes a 300-by-200-millimetre opening from a 1,200-by-800-millimetre plate. Sketch the outer panel and opening, then find the material left in both square millimetres and square metres.</a:t>
            </a:r>
          </a:p>
          <a:p/>
          <a:p>
            <a:r>
              <a:t>Instructor only, after the attempt: outer = 960,000 mm²; opening = 60,000 mm²; remaining = 900,000 mm² = 0.9 m². Check by adding the remaining area and opening area to recover 960,000 mm². The result must be smaller than the original plate.</a:t>
            </a:r>
          </a:p>
        </p:txBody>
      </p:sp>
      <p:sp>
        <p:nvSpPr>
          <p:cNvPr id="4" name="Slide Number Placeholder 3"/>
          <p:cNvSpPr>
            <a:spLocks noGrp="1"/>
          </p:cNvSpPr>
          <p:nvPr>
            <p:ph type="sldNum" idx="5" sz="quarter"/>
          </p:nvPr>
        </p:nvSpPr>
        <p:spPr/>
      </p:sp>
    </p:spTree>
  </p:cSld>
  <p:clrMapOvr>
    <a:masterClrMapping/>
  </p:clrMapOvr>
</p:notes>
</file>

<file path=ppt/notesSlides/notesSlide2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CHECK  •  3:15 PM–3:25 PM  •  10 MIN TOTAL — shared across this phase’s slides.</a:t>
            </a:r>
          </a:p>
          <a:p/>
          <a:p>
            <a:r>
              <a:t>Complete 10B questions 11 and 2 independently. For question 11, show the outer area, opening area and net area, including the unit conversion. For question 2, show how many faces are coated before calculating litres and whole tins. Keep worked solutions closed during both attempts. What makes these two tasks different? One removes a region; the other counts multiple surfaces. Your diagram or labelled working should make that distinction clear before you enter the final arithmetic.</a:t>
            </a:r>
          </a:p>
        </p:txBody>
      </p:sp>
      <p:sp>
        <p:nvSpPr>
          <p:cNvPr id="4" name="Slide Number Placeholder 3"/>
          <p:cNvSpPr>
            <a:spLocks noGrp="1"/>
          </p:cNvSpPr>
          <p:nvPr>
            <p:ph type="sldNum" idx="5" sz="quarter"/>
          </p:nvPr>
        </p:nvSpPr>
        <p:spPr/>
      </p:sp>
    </p:spTree>
  </p:cSld>
  <p:clrMapOvr>
    <a:masterClrMapping/>
  </p:clrMapOvr>
</p:notes>
</file>

<file path=ppt/notesSlides/notesSlide2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CHECK  •  3:15 PM–3:25 PM  •  10 MIN TOTAL — shared across this phase’s slides.</a:t>
            </a:r>
          </a:p>
          <a:p/>
          <a:p>
            <a:r>
              <a:t>Find the area left after the 300-by-200-millimetre opening is cut from the 1,200-by-800-millimetre cover plate. Report square millimetres and square metres independently, with a check of the subtraction.</a:t>
            </a:r>
          </a:p>
          <a:p/>
          <a:p>
            <a:r>
              <a:t>Instructor only, after the independent attempt: 1,200 × 800 − 300 × 200 = 960,000 − 60,000 = 900,000 mm². Divide by 1,000,000 to obtain 0.9 m². Adding the 60,000 mm² opening returns the original 960,000 mm².</a:t>
            </a:r>
          </a:p>
        </p:txBody>
      </p:sp>
      <p:sp>
        <p:nvSpPr>
          <p:cNvPr id="4" name="Slide Number Placeholder 3"/>
          <p:cNvSpPr>
            <a:spLocks noGrp="1"/>
          </p:cNvSpPr>
          <p:nvPr>
            <p:ph type="sldNum" idx="5" sz="quarter"/>
          </p:nvPr>
        </p:nvSpPr>
        <p:spPr/>
      </p:sp>
    </p:spTree>
  </p:cSld>
  <p:clrMapOvr>
    <a:masterClrMapping/>
  </p:clrMapOvr>
</p:notes>
</file>

<file path=ppt/notesSlides/notesSlide2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CHECK  •  3:15 PM–3:25 PM  •  10 MIN TOTAL — shared across this phase’s slides.</a:t>
            </a:r>
          </a:p>
          <a:p/>
          <a:p>
            <a:r>
              <a:t>Find the primer needed for four plates, each 2.5 by 1.6 metres, coated on both sides. Coverage is 7 square metres per litre, with one-litre tins. Work independently and distinguish the calculated litres from the tins purchased.</a:t>
            </a:r>
          </a:p>
          <a:p/>
          <a:p>
            <a:r>
              <a:t>Instructor only, after the independent attempt: 2.5 × 1.6 = 4 m² per face; 4 × 4 × 2 = 32 m² total. 32 ÷ 7 = 4.57 L to two decimals. Buy 5 tins because 4 tins cannot supply the required volume.</a:t>
            </a:r>
          </a:p>
        </p:txBody>
      </p:sp>
      <p:sp>
        <p:nvSpPr>
          <p:cNvPr id="4" name="Slide Number Placeholder 3"/>
          <p:cNvSpPr>
            <a:spLocks noGrp="1"/>
          </p:cNvSpPr>
          <p:nvPr>
            <p:ph type="sldNum" idx="5" sz="quarter"/>
          </p:nvPr>
        </p:nvSpPr>
        <p:spPr/>
      </p:sp>
    </p:spTree>
  </p:cSld>
  <p:clrMapOvr>
    <a:masterClrMapping/>
  </p:clrMapOvr>
</p:notes>
</file>

<file path=ppt/notesSlides/notesSlide2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WRAP UP  •  3:25 PM–3:30 PM  •  5 MIN TOTAL — shared across this phase’s slides.</a:t>
            </a:r>
          </a:p>
          <a:p/>
          <a:p>
            <a:r>
              <a:t>Choose a calculation where you had to decide between adding and subtracting. Explain what each part represented physically: material joined, an opening removed, or a surface coated. What check caught or prevented an error? The net area should be smaller than the outer area, and purchased tins must supply enough coating. Record one specific check you will carry forward. Our next work introduces volume, so we will extend the same idea of identifying the measured object from a flat surface into three dimensions.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6.xml"/><Relationship Id="rId3" Type="http://schemas.openxmlformats.org/officeDocument/2006/relationships/image" Target="../media/image14.png"/><Relationship Id="rId4" Type="http://schemas.openxmlformats.org/officeDocument/2006/relationships/hyperlink" Target="../../../books/ACCESS-Trades-Numeracy-Textbook.pdf" TargetMode="External"/><Relationship Id="rId5" Type="http://schemas.openxmlformats.org/officeDocument/2006/relationships/hyperlink" Target="../../../books/ACCESS-Trades-Numeracy-Exercise-Book.pdf"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7.xml"/><Relationship Id="rId3" Type="http://schemas.openxmlformats.org/officeDocument/2006/relationships/image" Target="../media/image14.png"/><Relationship Id="rId4" Type="http://schemas.openxmlformats.org/officeDocument/2006/relationships/hyperlink" Target="../../../books/ACCESS-Trades-Numeracy-Textbook.pdf#page=154" TargetMode="External"/><Relationship Id="rId5" Type="http://schemas.openxmlformats.org/officeDocument/2006/relationships/hyperlink" Target="../../../books/ACCESS-Trades-Numeracy-Exercise-Book.pdf#page=63"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8.xml"/><Relationship Id="rId3" Type="http://schemas.openxmlformats.org/officeDocument/2006/relationships/image" Target="../media/image14.png"/><Relationship Id="rId4" Type="http://schemas.openxmlformats.org/officeDocument/2006/relationships/hyperlink" Target="../../../books/ACCESS-Trades-Numeracy-Textbook.pdf#page=154" TargetMode="External"/><Relationship Id="rId5" Type="http://schemas.openxmlformats.org/officeDocument/2006/relationships/hyperlink" Target="../../../books/ACCESS-Trades-Numeracy-Exercise-Book.pdf#page=63"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9.xml"/><Relationship Id="rId3" Type="http://schemas.openxmlformats.org/officeDocument/2006/relationships/image" Target="../media/image14.png"/><Relationship Id="rId4" Type="http://schemas.openxmlformats.org/officeDocument/2006/relationships/hyperlink" Target="../../../books/ACCESS-Trades-Numeracy-Textbook.pdf#page=154" TargetMode="External"/><Relationship Id="rId5" Type="http://schemas.openxmlformats.org/officeDocument/2006/relationships/hyperlink" Target="../../../books/ACCESS-Trades-Numeracy-Exercise-Book.pdf#page=63"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0.xml"/><Relationship Id="rId3" Type="http://schemas.openxmlformats.org/officeDocument/2006/relationships/image" Target="../media/image14.png"/><Relationship Id="rId4" Type="http://schemas.openxmlformats.org/officeDocument/2006/relationships/hyperlink" Target="../../../books/ACCESS-Trades-Numeracy-Textbook.pdf#page=154" TargetMode="External"/><Relationship Id="rId5" Type="http://schemas.openxmlformats.org/officeDocument/2006/relationships/hyperlink" Target="../../../books/ACCESS-Trades-Numeracy-Exercise-Book.pdf#page=63"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1.xml"/><Relationship Id="rId3" Type="http://schemas.openxmlformats.org/officeDocument/2006/relationships/image" Target="../media/image14.png"/><Relationship Id="rId4" Type="http://schemas.openxmlformats.org/officeDocument/2006/relationships/hyperlink" Target="../../../books/ACCESS-Trades-Numeracy-Textbook.pdf#page=154" TargetMode="External"/><Relationship Id="rId5" Type="http://schemas.openxmlformats.org/officeDocument/2006/relationships/hyperlink" Target="../../../books/ACCESS-Trades-Numeracy-Exercise-Book.pdf#page=63"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1.xml"/><Relationship Id="rId3" Type="http://schemas.openxmlformats.org/officeDocument/2006/relationships/image" Target="../media/image14.png"/><Relationship Id="rId4" Type="http://schemas.openxmlformats.org/officeDocument/2006/relationships/hyperlink" Target="../../../books/ACCESS-Trades-Numeracy-Textbook.pdf#page=154" TargetMode="External"/><Relationship Id="rId5" Type="http://schemas.openxmlformats.org/officeDocument/2006/relationships/hyperlink" Target="../../../books/ACCESS-Trades-Numeracy-Exercise-Book.pdf#page=63"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2.xml"/><Relationship Id="rId3" Type="http://schemas.openxmlformats.org/officeDocument/2006/relationships/image" Target="../media/image1.png"/><Relationship Id="rId4" Type="http://schemas.openxmlformats.org/officeDocument/2006/relationships/image" Target="../media/image14.png"/><Relationship Id="rId5" Type="http://schemas.openxmlformats.org/officeDocument/2006/relationships/hyperlink" Target="../../../books/ACCESS-Trades-Numeracy-Textbook.pdf#page=156" TargetMode="External"/><Relationship Id="rId6" Type="http://schemas.openxmlformats.org/officeDocument/2006/relationships/hyperlink" Target="../../../books/ACCESS-Trades-Numeracy-Exercise-Book.pdf#page=63"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3.xml"/><Relationship Id="rId3" Type="http://schemas.openxmlformats.org/officeDocument/2006/relationships/image" Target="../media/image2.png"/><Relationship Id="rId4" Type="http://schemas.openxmlformats.org/officeDocument/2006/relationships/image" Target="../media/image14.png"/><Relationship Id="rId5" Type="http://schemas.openxmlformats.org/officeDocument/2006/relationships/hyperlink" Target="../../../books/ACCESS-Trades-Numeracy-Textbook.pdf#page=155" TargetMode="External"/><Relationship Id="rId6" Type="http://schemas.openxmlformats.org/officeDocument/2006/relationships/hyperlink" Target="../../../books/ACCESS-Trades-Numeracy-Exercise-Book.pdf#page=63"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4.xml"/><Relationship Id="rId3" Type="http://schemas.openxmlformats.org/officeDocument/2006/relationships/image" Target="../media/image14.png"/><Relationship Id="rId4" Type="http://schemas.openxmlformats.org/officeDocument/2006/relationships/hyperlink" Target="../../../books/ACCESS-Trades-Numeracy-Textbook.pdf#page=154" TargetMode="External"/><Relationship Id="rId5" Type="http://schemas.openxmlformats.org/officeDocument/2006/relationships/hyperlink" Target="../../../books/ACCESS-Trades-Numeracy-Exercise-Book.pdf#page=63"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5.xml"/><Relationship Id="rId3" Type="http://schemas.openxmlformats.org/officeDocument/2006/relationships/image" Target="../media/image14.png"/><Relationship Id="rId4" Type="http://schemas.openxmlformats.org/officeDocument/2006/relationships/hyperlink" Target="../../../books/ACCESS-Trades-Numeracy-Textbook.pdf#page=154" TargetMode="External"/><Relationship Id="rId5" Type="http://schemas.openxmlformats.org/officeDocument/2006/relationships/hyperlink" Target="../../../books/ACCESS-Trades-Numeracy-Exercise-Book.pdf#page=63"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6.xml"/><Relationship Id="rId3" Type="http://schemas.openxmlformats.org/officeDocument/2006/relationships/image" Target="../media/image3.png"/><Relationship Id="rId4" Type="http://schemas.openxmlformats.org/officeDocument/2006/relationships/image" Target="../media/image14.png"/><Relationship Id="rId5" Type="http://schemas.openxmlformats.org/officeDocument/2006/relationships/hyperlink" Target="../../../books/ACCESS-Trades-Numeracy-Textbook.pdf#page=154" TargetMode="External"/><Relationship Id="rId6" Type="http://schemas.openxmlformats.org/officeDocument/2006/relationships/hyperlink" Target="../../../books/ACCESS-Trades-Numeracy-Exercise-Book.pdf#page=63"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7.xml"/><Relationship Id="rId3" Type="http://schemas.openxmlformats.org/officeDocument/2006/relationships/image" Target="../media/image3.png"/><Relationship Id="rId4" Type="http://schemas.openxmlformats.org/officeDocument/2006/relationships/image" Target="../media/image14.png"/><Relationship Id="rId5" Type="http://schemas.openxmlformats.org/officeDocument/2006/relationships/hyperlink" Target="../../../books/ACCESS-Trades-Numeracy-Textbook.pdf#page=154" TargetMode="External"/><Relationship Id="rId6" Type="http://schemas.openxmlformats.org/officeDocument/2006/relationships/hyperlink" Target="../../../books/ACCESS-Trades-Numeracy-Exercise-Book.pdf#page=63"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8.xml"/><Relationship Id="rId3" Type="http://schemas.openxmlformats.org/officeDocument/2006/relationships/image" Target="../media/image14.png"/><Relationship Id="rId4" Type="http://schemas.openxmlformats.org/officeDocument/2006/relationships/hyperlink" Target="../../../books/ACCESS-Trades-Numeracy-Textbook.pdf#page=154" TargetMode="External"/><Relationship Id="rId5" Type="http://schemas.openxmlformats.org/officeDocument/2006/relationships/hyperlink" Target="../../../books/ACCESS-Trades-Numeracy-Exercise-Book.pdf#page=63"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9.xml"/><Relationship Id="rId3" Type="http://schemas.openxmlformats.org/officeDocument/2006/relationships/image" Target="../media/image4.png"/><Relationship Id="rId4" Type="http://schemas.openxmlformats.org/officeDocument/2006/relationships/image" Target="../media/image14.png"/><Relationship Id="rId5" Type="http://schemas.openxmlformats.org/officeDocument/2006/relationships/hyperlink" Target="../../../books/ACCESS-Trades-Numeracy-Textbook.pdf#page=154" TargetMode="External"/><Relationship Id="rId6" Type="http://schemas.openxmlformats.org/officeDocument/2006/relationships/hyperlink" Target="../../../books/ACCESS-Trades-Numeracy-Exercise-Book.pdf#page=63"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0.xml"/><Relationship Id="rId3" Type="http://schemas.openxmlformats.org/officeDocument/2006/relationships/image" Target="../media/image14.png"/><Relationship Id="rId4" Type="http://schemas.openxmlformats.org/officeDocument/2006/relationships/hyperlink" Target="../../../books/ACCESS-Trades-Numeracy-Textbook.pdf#page=154" TargetMode="External"/><Relationship Id="rId5" Type="http://schemas.openxmlformats.org/officeDocument/2006/relationships/hyperlink" Target="../../../books/ACCESS-Trades-Numeracy-Exercise-Book.pdf#page=63"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1.xml"/><Relationship Id="rId3" Type="http://schemas.openxmlformats.org/officeDocument/2006/relationships/image" Target="../media/image5.png"/><Relationship Id="rId4" Type="http://schemas.openxmlformats.org/officeDocument/2006/relationships/image" Target="../media/image14.png"/><Relationship Id="rId5" Type="http://schemas.openxmlformats.org/officeDocument/2006/relationships/hyperlink" Target="../../../books/ACCESS-Trades-Numeracy-Textbook.pdf#page=154" TargetMode="External"/><Relationship Id="rId6" Type="http://schemas.openxmlformats.org/officeDocument/2006/relationships/hyperlink" Target="../../../books/ACCESS-Trades-Numeracy-Exercise-Book.pdf#page=63"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2.xml"/><Relationship Id="rId3" Type="http://schemas.openxmlformats.org/officeDocument/2006/relationships/image" Target="../media/image6.png"/><Relationship Id="rId4" Type="http://schemas.openxmlformats.org/officeDocument/2006/relationships/image" Target="../media/image14.png"/><Relationship Id="rId5" Type="http://schemas.openxmlformats.org/officeDocument/2006/relationships/hyperlink" Target="../../../books/ACCESS-Trades-Numeracy-Textbook.pdf#page=154" TargetMode="External"/><Relationship Id="rId6" Type="http://schemas.openxmlformats.org/officeDocument/2006/relationships/hyperlink" Target="../../../books/ACCESS-Trades-Numeracy-Exercise-Book.pdf#page=63"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3.xml"/><Relationship Id="rId3" Type="http://schemas.openxmlformats.org/officeDocument/2006/relationships/image" Target="../media/image14.png"/><Relationship Id="rId4" Type="http://schemas.openxmlformats.org/officeDocument/2006/relationships/hyperlink" Target="../../../books/ACCESS-Trades-Numeracy-Textbook.pdf#page=154" TargetMode="External"/><Relationship Id="rId5" Type="http://schemas.openxmlformats.org/officeDocument/2006/relationships/hyperlink" Target="../../../books/ACCESS-Trades-Numeracy-Exercise-Book.pdf#page=63"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4.xml"/><Relationship Id="rId3" Type="http://schemas.openxmlformats.org/officeDocument/2006/relationships/image" Target="../media/image7.png"/><Relationship Id="rId4" Type="http://schemas.openxmlformats.org/officeDocument/2006/relationships/image" Target="../media/image14.png"/><Relationship Id="rId5" Type="http://schemas.openxmlformats.org/officeDocument/2006/relationships/hyperlink" Target="../../../books/ACCESS-Trades-Numeracy-Textbook.pdf#page=154" TargetMode="External"/><Relationship Id="rId6" Type="http://schemas.openxmlformats.org/officeDocument/2006/relationships/hyperlink" Target="../../../books/ACCESS-Trades-Numeracy-Exercise-Book.pdf#page=6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5.xml"/><Relationship Id="rId3" Type="http://schemas.openxmlformats.org/officeDocument/2006/relationships/image" Target="../media/image14.png"/><Relationship Id="rId4" Type="http://schemas.openxmlformats.org/officeDocument/2006/relationships/hyperlink" Target="../../../books/ACCESS-Trades-Numeracy-Textbook.pdf#page=154" TargetMode="External"/><Relationship Id="rId5" Type="http://schemas.openxmlformats.org/officeDocument/2006/relationships/hyperlink" Target="../../../books/ACCESS-Trades-Numeracy-Exercise-Book.pdf#page=63"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6.xml"/><Relationship Id="rId3" Type="http://schemas.openxmlformats.org/officeDocument/2006/relationships/image" Target="../media/image14.png"/><Relationship Id="rId4" Type="http://schemas.openxmlformats.org/officeDocument/2006/relationships/hyperlink" Target="../../../books/ACCESS-Trades-Numeracy-Textbook.pdf" TargetMode="External"/><Relationship Id="rId5" Type="http://schemas.openxmlformats.org/officeDocument/2006/relationships/hyperlink" Target="../../../books/ACCESS-Trades-Numeracy-Exercise-Book.pdf"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7.xml"/><Relationship Id="rId3" Type="http://schemas.openxmlformats.org/officeDocument/2006/relationships/image" Target="../media/image14.png"/><Relationship Id="rId4" Type="http://schemas.openxmlformats.org/officeDocument/2006/relationships/hyperlink" Target="../../../books/ACCESS-Trades-Numeracy-Textbook.pdf#page=158" TargetMode="External"/><Relationship Id="rId5" Type="http://schemas.openxmlformats.org/officeDocument/2006/relationships/hyperlink" Target="../../../books/ACCESS-Trades-Numeracy-Exercise-Book.pdf#page=64"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8.xml"/><Relationship Id="rId3" Type="http://schemas.openxmlformats.org/officeDocument/2006/relationships/image" Target="../media/image14.png"/><Relationship Id="rId4" Type="http://schemas.openxmlformats.org/officeDocument/2006/relationships/hyperlink" Target="../../../books/ACCESS-Trades-Numeracy-Textbook.pdf#page=158" TargetMode="External"/><Relationship Id="rId5" Type="http://schemas.openxmlformats.org/officeDocument/2006/relationships/hyperlink" Target="../../../books/ACCESS-Trades-Numeracy-Exercise-Book.pdf#page=64"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9.xml"/><Relationship Id="rId3" Type="http://schemas.openxmlformats.org/officeDocument/2006/relationships/image" Target="../media/image14.png"/><Relationship Id="rId4" Type="http://schemas.openxmlformats.org/officeDocument/2006/relationships/hyperlink" Target="../../../books/ACCESS-Trades-Numeracy-Textbook.pdf#page=158" TargetMode="External"/><Relationship Id="rId5" Type="http://schemas.openxmlformats.org/officeDocument/2006/relationships/hyperlink" Target="../../../books/ACCESS-Trades-Numeracy-Exercise-Book.pdf#page=64"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0.xml"/><Relationship Id="rId3" Type="http://schemas.openxmlformats.org/officeDocument/2006/relationships/image" Target="../media/image14.png"/><Relationship Id="rId4" Type="http://schemas.openxmlformats.org/officeDocument/2006/relationships/hyperlink" Target="../../../books/ACCESS-Trades-Numeracy-Textbook.pdf#page=158" TargetMode="External"/><Relationship Id="rId5" Type="http://schemas.openxmlformats.org/officeDocument/2006/relationships/hyperlink" Target="../../../books/ACCESS-Trades-Numeracy-Exercise-Book.pdf#page=64"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 Id="rId3" Type="http://schemas.openxmlformats.org/officeDocument/2006/relationships/image" Target="../media/image14.png"/><Relationship Id="rId4" Type="http://schemas.openxmlformats.org/officeDocument/2006/relationships/hyperlink" Target="../../../books/ACCESS-Trades-Numeracy-Textbook.pdf#page=158" TargetMode="External"/><Relationship Id="rId5" Type="http://schemas.openxmlformats.org/officeDocument/2006/relationships/hyperlink" Target="../../../books/ACCESS-Trades-Numeracy-Exercise-Book.pdf#page=64"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1.xml"/><Relationship Id="rId3" Type="http://schemas.openxmlformats.org/officeDocument/2006/relationships/image" Target="../media/image8.png"/><Relationship Id="rId4" Type="http://schemas.openxmlformats.org/officeDocument/2006/relationships/image" Target="../media/image14.png"/><Relationship Id="rId5" Type="http://schemas.openxmlformats.org/officeDocument/2006/relationships/hyperlink" Target="../../../books/ACCESS-Trades-Numeracy-Textbook.pdf#page=162" TargetMode="External"/><Relationship Id="rId6" Type="http://schemas.openxmlformats.org/officeDocument/2006/relationships/hyperlink" Target="../../../books/ACCESS-Trades-Numeracy-Exercise-Book.pdf#page=64"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2.xml"/><Relationship Id="rId3" Type="http://schemas.openxmlformats.org/officeDocument/2006/relationships/image" Target="../media/image9.png"/><Relationship Id="rId4" Type="http://schemas.openxmlformats.org/officeDocument/2006/relationships/image" Target="../media/image14.png"/><Relationship Id="rId5" Type="http://schemas.openxmlformats.org/officeDocument/2006/relationships/hyperlink" Target="../../../books/ACCESS-Trades-Numeracy-Textbook.pdf#page=162" TargetMode="External"/><Relationship Id="rId6" Type="http://schemas.openxmlformats.org/officeDocument/2006/relationships/hyperlink" Target="../../../books/ACCESS-Trades-Numeracy-Exercise-Book.pdf#page=64"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3.xml"/><Relationship Id="rId3" Type="http://schemas.openxmlformats.org/officeDocument/2006/relationships/image" Target="../media/image14.png"/><Relationship Id="rId4" Type="http://schemas.openxmlformats.org/officeDocument/2006/relationships/hyperlink" Target="../../../books/ACCESS-Trades-Numeracy-Textbook.pdf#page=158" TargetMode="External"/><Relationship Id="rId5" Type="http://schemas.openxmlformats.org/officeDocument/2006/relationships/hyperlink" Target="../../../books/ACCESS-Trades-Numeracy-Exercise-Book.pdf#page=64"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4.xml"/><Relationship Id="rId3" Type="http://schemas.openxmlformats.org/officeDocument/2006/relationships/image" Target="../media/image14.png"/><Relationship Id="rId4" Type="http://schemas.openxmlformats.org/officeDocument/2006/relationships/hyperlink" Target="../../../books/ACCESS-Trades-Numeracy-Textbook.pdf#page=158" TargetMode="External"/><Relationship Id="rId5" Type="http://schemas.openxmlformats.org/officeDocument/2006/relationships/hyperlink" Target="../../../books/ACCESS-Trades-Numeracy-Exercise-Book.pdf#page=64"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5.xml"/><Relationship Id="rId3" Type="http://schemas.openxmlformats.org/officeDocument/2006/relationships/image" Target="../media/image10.png"/><Relationship Id="rId4" Type="http://schemas.openxmlformats.org/officeDocument/2006/relationships/image" Target="../media/image14.png"/><Relationship Id="rId5" Type="http://schemas.openxmlformats.org/officeDocument/2006/relationships/hyperlink" Target="../../../books/ACCESS-Trades-Numeracy-Textbook.pdf#page=158" TargetMode="External"/><Relationship Id="rId6" Type="http://schemas.openxmlformats.org/officeDocument/2006/relationships/hyperlink" Target="../../../books/ACCESS-Trades-Numeracy-Exercise-Book.pdf#page=63"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6.xml"/><Relationship Id="rId3" Type="http://schemas.openxmlformats.org/officeDocument/2006/relationships/image" Target="../media/image10.png"/><Relationship Id="rId4" Type="http://schemas.openxmlformats.org/officeDocument/2006/relationships/image" Target="../media/image14.png"/><Relationship Id="rId5" Type="http://schemas.openxmlformats.org/officeDocument/2006/relationships/hyperlink" Target="../../../books/ACCESS-Trades-Numeracy-Textbook.pdf#page=158" TargetMode="External"/><Relationship Id="rId6" Type="http://schemas.openxmlformats.org/officeDocument/2006/relationships/hyperlink" Target="../../../books/ACCESS-Trades-Numeracy-Exercise-Book.pdf#page=63"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7.xml"/><Relationship Id="rId3" Type="http://schemas.openxmlformats.org/officeDocument/2006/relationships/image" Target="../media/image14.png"/><Relationship Id="rId4" Type="http://schemas.openxmlformats.org/officeDocument/2006/relationships/hyperlink" Target="../../../books/ACCESS-Trades-Numeracy-Textbook.pdf#page=158" TargetMode="External"/><Relationship Id="rId5" Type="http://schemas.openxmlformats.org/officeDocument/2006/relationships/hyperlink" Target="../../../books/ACCESS-Trades-Numeracy-Exercise-Book.pdf#page=64"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8.xml"/><Relationship Id="rId3" Type="http://schemas.openxmlformats.org/officeDocument/2006/relationships/image" Target="../media/image11.png"/><Relationship Id="rId4" Type="http://schemas.openxmlformats.org/officeDocument/2006/relationships/image" Target="../media/image14.png"/><Relationship Id="rId5" Type="http://schemas.openxmlformats.org/officeDocument/2006/relationships/hyperlink" Target="../../../books/ACCESS-Trades-Numeracy-Textbook.pdf#page=158" TargetMode="External"/><Relationship Id="rId6" Type="http://schemas.openxmlformats.org/officeDocument/2006/relationships/hyperlink" Target="../../../books/ACCESS-Trades-Numeracy-Exercise-Book.pdf#page=64"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9.xml"/><Relationship Id="rId3" Type="http://schemas.openxmlformats.org/officeDocument/2006/relationships/image" Target="../media/image14.png"/><Relationship Id="rId4" Type="http://schemas.openxmlformats.org/officeDocument/2006/relationships/hyperlink" Target="../../../books/ACCESS-Trades-Numeracy-Textbook.pdf#page=158" TargetMode="External"/><Relationship Id="rId5" Type="http://schemas.openxmlformats.org/officeDocument/2006/relationships/hyperlink" Target="../../../books/ACCESS-Trades-Numeracy-Exercise-Book.pdf#page=64"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0.xml"/><Relationship Id="rId3" Type="http://schemas.openxmlformats.org/officeDocument/2006/relationships/image" Target="../media/image12.png"/><Relationship Id="rId4" Type="http://schemas.openxmlformats.org/officeDocument/2006/relationships/image" Target="../media/image14.png"/><Relationship Id="rId5" Type="http://schemas.openxmlformats.org/officeDocument/2006/relationships/hyperlink" Target="../../../books/ACCESS-Trades-Numeracy-Textbook.pdf#page=158" TargetMode="External"/><Relationship Id="rId6" Type="http://schemas.openxmlformats.org/officeDocument/2006/relationships/hyperlink" Target="../../../books/ACCESS-Trades-Numeracy-Exercise-Book.pdf#page=6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1.xml"/><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hyperlink" Target="../../../books/ACCESS-Trades-Numeracy-Textbook.pdf#page=158" TargetMode="External"/><Relationship Id="rId6" Type="http://schemas.openxmlformats.org/officeDocument/2006/relationships/hyperlink" Target="../../../books/ACCESS-Trades-Numeracy-Exercise-Book.pdf#page=6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2.xml"/><Relationship Id="rId3" Type="http://schemas.openxmlformats.org/officeDocument/2006/relationships/image" Target="../media/image14.png"/><Relationship Id="rId4" Type="http://schemas.openxmlformats.org/officeDocument/2006/relationships/hyperlink" Target="../../../books/ACCESS-Trades-Numeracy-Textbook.pdf#page=158" TargetMode="External"/><Relationship Id="rId5" Type="http://schemas.openxmlformats.org/officeDocument/2006/relationships/hyperlink" Target="../../../books/ACCESS-Trades-Numeracy-Exercise-Book.pdf#page=64"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3.xml"/><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hyperlink" Target="../../../books/ACCESS-Trades-Numeracy-Textbook.pdf#page=158" TargetMode="External"/><Relationship Id="rId6" Type="http://schemas.openxmlformats.org/officeDocument/2006/relationships/hyperlink" Target="../../../books/ACCESS-Trades-Numeracy-Exercise-Book.pdf#page=6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4.xml"/><Relationship Id="rId3" Type="http://schemas.openxmlformats.org/officeDocument/2006/relationships/image" Target="../media/image12.png"/><Relationship Id="rId4" Type="http://schemas.openxmlformats.org/officeDocument/2006/relationships/image" Target="../media/image14.png"/><Relationship Id="rId5" Type="http://schemas.openxmlformats.org/officeDocument/2006/relationships/hyperlink" Target="../../../books/ACCESS-Trades-Numeracy-Textbook.pdf#page=158" TargetMode="External"/><Relationship Id="rId6" Type="http://schemas.openxmlformats.org/officeDocument/2006/relationships/hyperlink" Target="../../../books/ACCESS-Trades-Numeracy-Exercise-Book.pdf#page=6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5.xml"/><Relationship Id="rId3" Type="http://schemas.openxmlformats.org/officeDocument/2006/relationships/image" Target="../media/image14.png"/><Relationship Id="rId4" Type="http://schemas.openxmlformats.org/officeDocument/2006/relationships/hyperlink" Target="../../../books/ACCESS-Trades-Numeracy-Textbook.pdf#page=158" TargetMode="External"/><Relationship Id="rId5" Type="http://schemas.openxmlformats.org/officeDocument/2006/relationships/hyperlink" Target="../../../books/ACCESS-Trades-Numeracy-Exercise-Book.pdf#page=64"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9" name="Rectangle 18"/>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308592" y="868680"/>
            <a:ext cx="2889504" cy="5413248"/>
          </a:xfrm>
          <a:prstGeom prst="rect">
            <a:avLst/>
          </a:prstGeom>
          <a:solidFill>
            <a:srgbClr val="5A1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308592" y="969264"/>
            <a:ext cx="100584" cy="425196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a:off x="9692640" y="1280160"/>
            <a:ext cx="2066544" cy="0"/>
          </a:xfrm>
          <a:prstGeom prst="line">
            <a:avLst/>
          </a:prstGeom>
          <a:ln w="7620">
            <a:solidFill>
              <a:srgbClr val="7E2630"/>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9692640" y="1783080"/>
            <a:ext cx="2066544" cy="0"/>
          </a:xfrm>
          <a:prstGeom prst="line">
            <a:avLst/>
          </a:prstGeom>
          <a:ln w="7620">
            <a:solidFill>
              <a:srgbClr val="7E2630"/>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9692640" y="2286000"/>
            <a:ext cx="2066544" cy="0"/>
          </a:xfrm>
          <a:prstGeom prst="line">
            <a:avLst/>
          </a:prstGeom>
          <a:ln w="7620">
            <a:solidFill>
              <a:srgbClr val="7E2630"/>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9692640" y="2788920"/>
            <a:ext cx="2066544" cy="0"/>
          </a:xfrm>
          <a:prstGeom prst="line">
            <a:avLst/>
          </a:prstGeom>
          <a:ln w="7620">
            <a:solidFill>
              <a:srgbClr val="7E263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9692640" y="3291840"/>
            <a:ext cx="2066544" cy="0"/>
          </a:xfrm>
          <a:prstGeom prst="line">
            <a:avLst/>
          </a:prstGeom>
          <a:ln w="7620">
            <a:solidFill>
              <a:srgbClr val="7E263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9692640" y="3794760"/>
            <a:ext cx="2066544" cy="0"/>
          </a:xfrm>
          <a:prstGeom prst="line">
            <a:avLst/>
          </a:prstGeom>
          <a:ln w="7620">
            <a:solidFill>
              <a:srgbClr val="7E2630"/>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9692640" y="4297680"/>
            <a:ext cx="2066544" cy="0"/>
          </a:xfrm>
          <a:prstGeom prst="line">
            <a:avLst/>
          </a:prstGeom>
          <a:ln w="7620">
            <a:solidFill>
              <a:srgbClr val="7E2630"/>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9692640" y="4800600"/>
            <a:ext cx="2066544" cy="0"/>
          </a:xfrm>
          <a:prstGeom prst="line">
            <a:avLst/>
          </a:prstGeom>
          <a:ln w="7620">
            <a:solidFill>
              <a:srgbClr val="7E2630"/>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9692640" y="5303520"/>
            <a:ext cx="2066544" cy="0"/>
          </a:xfrm>
          <a:prstGeom prst="line">
            <a:avLst/>
          </a:prstGeom>
          <a:ln w="7620">
            <a:solidFill>
              <a:srgbClr val="7E2630"/>
            </a:solidFill>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585216" y="2587752"/>
            <a:ext cx="10991088" cy="978408"/>
          </a:xfrm>
          <a:prstGeom prst="roundRect">
            <a:avLst>
              <a:gd name="adj" fmla="val 8000"/>
            </a:avLst>
          </a:prstGeom>
          <a:solidFill>
            <a:srgbClr val="302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85216" y="2587752"/>
            <a:ext cx="82296" cy="978408"/>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585216" y="3685032"/>
            <a:ext cx="10991088" cy="978408"/>
          </a:xfrm>
          <a:prstGeom prst="roundRect">
            <a:avLst>
              <a:gd name="adj" fmla="val 8000"/>
            </a:avLst>
          </a:prstGeom>
          <a:solidFill>
            <a:srgbClr val="302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85216" y="3685032"/>
            <a:ext cx="82296" cy="978408"/>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38912"/>
            <a:ext cx="9144000" cy="228600"/>
          </a:xfrm>
          <a:prstGeom prst="rect">
            <a:avLst/>
          </a:prstGeom>
          <a:noFill/>
        </p:spPr>
        <p:txBody>
          <a:bodyPr wrap="square" lIns="0" rIns="0" tIns="0" bIns="0">
            <a:spAutoFit/>
          </a:bodyPr>
          <a:lstStyle/>
          <a:p>
            <a:pPr>
              <a:spcBef>
                <a:spcPts val="0"/>
              </a:spcBef>
              <a:spcAft>
                <a:spcPts val="300"/>
              </a:spcAft>
              <a:defRPr sz="1200" b="1">
                <a:solidFill>
                  <a:srgbClr val="D2181F"/>
                </a:solidFill>
                <a:latin typeface="Arial"/>
              </a:defRPr>
            </a:pPr>
            <a:r>
              <a:rPr>
                <a:solidFill>
                  <a:srgbClr val="FFFFFF"/>
                </a:solidFill>
                <a:latin typeface="Arial"/>
              </a:rPr>
              <a:t>CARPENTRY FOUNDATION  /  INTAKE 141</a:t>
            </a:r>
          </a:p>
        </p:txBody>
      </p:sp>
      <p:sp>
        <p:nvSpPr>
          <p:cNvPr id="3" name="TextBox 2"/>
          <p:cNvSpPr txBox="1"/>
          <p:nvPr/>
        </p:nvSpPr>
        <p:spPr>
          <a:xfrm>
            <a:off x="612648" y="1143000"/>
            <a:ext cx="10789920" cy="822960"/>
          </a:xfrm>
          <a:prstGeom prst="rect">
            <a:avLst/>
          </a:prstGeom>
          <a:noFill/>
        </p:spPr>
        <p:txBody>
          <a:bodyPr wrap="square" lIns="0" rIns="0" tIns="0" bIns="0">
            <a:spAutoFit/>
          </a:bodyPr>
          <a:lstStyle/>
          <a:p>
            <a:pPr>
              <a:spcBef>
                <a:spcPts val="0"/>
              </a:spcBef>
              <a:spcAft>
                <a:spcPts val="300"/>
              </a:spcAft>
              <a:defRPr sz="3600" b="1">
                <a:solidFill>
                  <a:srgbClr val="1A1A1A"/>
                </a:solidFill>
                <a:latin typeface="Arial"/>
              </a:defRPr>
            </a:pPr>
            <a:r>
              <a:rPr b="1" sz="4300">
                <a:solidFill>
                  <a:srgbClr val="FFFFFF"/>
                </a:solidFill>
                <a:latin typeface="Arial"/>
              </a:rPr>
              <a:t>Day 18  |  Monday</a:t>
            </a:r>
          </a:p>
        </p:txBody>
      </p:sp>
      <p:sp>
        <p:nvSpPr>
          <p:cNvPr id="4" name="TextBox 3"/>
          <p:cNvSpPr txBox="1"/>
          <p:nvPr/>
        </p:nvSpPr>
        <p:spPr>
          <a:xfrm>
            <a:off x="612648" y="1883664"/>
            <a:ext cx="10789920" cy="457200"/>
          </a:xfrm>
          <a:prstGeom prst="rect">
            <a:avLst/>
          </a:prstGeom>
          <a:noFill/>
        </p:spPr>
        <p:txBody>
          <a:bodyPr wrap="square" lIns="0" rIns="0" tIns="0" bIns="0">
            <a:spAutoFit/>
          </a:bodyPr>
          <a:lstStyle/>
          <a:p>
            <a:pPr>
              <a:spcBef>
                <a:spcPts val="0"/>
              </a:spcBef>
              <a:spcAft>
                <a:spcPts val="300"/>
              </a:spcAft>
              <a:defRPr sz="2600" b="0">
                <a:solidFill>
                  <a:srgbClr val="4A4E54"/>
                </a:solidFill>
                <a:latin typeface="Arial"/>
              </a:defRPr>
            </a:pPr>
            <a:r>
              <a:rPr b="0" sz="2500">
                <a:solidFill>
                  <a:srgbClr val="F7F4F1"/>
                </a:solidFill>
                <a:latin typeface="Arial"/>
              </a:rPr>
              <a:t>November 30, 2026</a:t>
            </a:r>
          </a:p>
        </p:txBody>
      </p:sp>
      <p:sp>
        <p:nvSpPr>
          <p:cNvPr id="5" name="Rectangle 4"/>
          <p:cNvSpPr/>
          <p:nvPr/>
        </p:nvSpPr>
        <p:spPr>
          <a:xfrm>
            <a:off x="612648" y="2633472"/>
            <a:ext cx="109728" cy="2194560"/>
          </a:xfrm>
          <a:prstGeom prst="rect">
            <a:avLst/>
          </a:prstGeom>
          <a:solidFill>
            <a:srgbClr val="D2181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6" name="TextBox 5"/>
          <p:cNvSpPr txBox="1"/>
          <p:nvPr/>
        </p:nvSpPr>
        <p:spPr>
          <a:xfrm>
            <a:off x="932688" y="2743200"/>
            <a:ext cx="10287000" cy="384048"/>
          </a:xfrm>
          <a:prstGeom prst="rect">
            <a:avLst/>
          </a:prstGeom>
          <a:noFill/>
        </p:spPr>
        <p:txBody>
          <a:bodyPr wrap="square" lIns="0" rIns="0" tIns="0" bIns="0">
            <a:spAutoFit/>
          </a:bodyPr>
          <a:lstStyle/>
          <a:p>
            <a:pPr>
              <a:spcBef>
                <a:spcPts val="0"/>
              </a:spcBef>
              <a:spcAft>
                <a:spcPts val="300"/>
              </a:spcAft>
              <a:defRPr sz="2400" b="1">
                <a:solidFill>
                  <a:srgbClr val="1A1A1A"/>
                </a:solidFill>
                <a:latin typeface="Arial"/>
              </a:defRPr>
            </a:pPr>
            <a:r>
              <a:rPr b="1">
                <a:solidFill>
                  <a:srgbClr val="FFFFFF"/>
                </a:solidFill>
                <a:latin typeface="Arial"/>
              </a:rPr>
              <a:t>Area and material coverage</a:t>
            </a:r>
          </a:p>
        </p:txBody>
      </p:sp>
      <p:sp>
        <p:nvSpPr>
          <p:cNvPr id="7" name="TextBox 6"/>
          <p:cNvSpPr txBox="1"/>
          <p:nvPr/>
        </p:nvSpPr>
        <p:spPr>
          <a:xfrm>
            <a:off x="932688" y="3200400"/>
            <a:ext cx="10058400" cy="292608"/>
          </a:xfrm>
          <a:prstGeom prst="rect">
            <a:avLst/>
          </a:prstGeom>
          <a:noFill/>
        </p:spPr>
        <p:txBody>
          <a:bodyPr wrap="square" lIns="0" rIns="0" tIns="0" bIns="0">
            <a:spAutoFit/>
          </a:bodyPr>
          <a:lstStyle/>
          <a:p>
            <a:pPr>
              <a:spcBef>
                <a:spcPts val="0"/>
              </a:spcBef>
              <a:spcAft>
                <a:spcPts val="300"/>
              </a:spcAft>
              <a:defRPr sz="1600" b="0">
                <a:solidFill>
                  <a:srgbClr val="4A4E54"/>
                </a:solidFill>
                <a:latin typeface="Arial"/>
              </a:defRPr>
            </a:pPr>
            <a:r>
              <a:rPr b="0">
                <a:solidFill>
                  <a:srgbClr val="D9CEC5"/>
                </a:solidFill>
                <a:latin typeface="Arial"/>
              </a:rPr>
              <a:t>12:45 PM–2:00 PM  •  Math  •  75 min</a:t>
            </a:r>
          </a:p>
        </p:txBody>
      </p:sp>
      <p:sp>
        <p:nvSpPr>
          <p:cNvPr id="8" name="TextBox 7"/>
          <p:cNvSpPr txBox="1"/>
          <p:nvPr/>
        </p:nvSpPr>
        <p:spPr>
          <a:xfrm>
            <a:off x="932688" y="3840480"/>
            <a:ext cx="10287000" cy="384048"/>
          </a:xfrm>
          <a:prstGeom prst="rect">
            <a:avLst/>
          </a:prstGeom>
          <a:noFill/>
        </p:spPr>
        <p:txBody>
          <a:bodyPr wrap="square" lIns="0" rIns="0" tIns="0" bIns="0">
            <a:spAutoFit/>
          </a:bodyPr>
          <a:lstStyle/>
          <a:p>
            <a:pPr>
              <a:spcBef>
                <a:spcPts val="0"/>
              </a:spcBef>
              <a:spcAft>
                <a:spcPts val="300"/>
              </a:spcAft>
              <a:defRPr sz="2400" b="1">
                <a:solidFill>
                  <a:srgbClr val="1A1A1A"/>
                </a:solidFill>
                <a:latin typeface="Arial"/>
              </a:defRPr>
            </a:pPr>
            <a:r>
              <a:rPr b="1">
                <a:solidFill>
                  <a:srgbClr val="FFFFFF"/>
                </a:solidFill>
                <a:latin typeface="Arial"/>
              </a:rPr>
              <a:t>Composite areas, openings and surface coverage</a:t>
            </a:r>
          </a:p>
        </p:txBody>
      </p:sp>
      <p:sp>
        <p:nvSpPr>
          <p:cNvPr id="9" name="TextBox 8"/>
          <p:cNvSpPr txBox="1"/>
          <p:nvPr/>
        </p:nvSpPr>
        <p:spPr>
          <a:xfrm>
            <a:off x="932688" y="4297680"/>
            <a:ext cx="10058400" cy="292608"/>
          </a:xfrm>
          <a:prstGeom prst="rect">
            <a:avLst/>
          </a:prstGeom>
          <a:noFill/>
        </p:spPr>
        <p:txBody>
          <a:bodyPr wrap="square" lIns="0" rIns="0" tIns="0" bIns="0">
            <a:spAutoFit/>
          </a:bodyPr>
          <a:lstStyle/>
          <a:p>
            <a:pPr>
              <a:spcBef>
                <a:spcPts val="0"/>
              </a:spcBef>
              <a:spcAft>
                <a:spcPts val="300"/>
              </a:spcAft>
              <a:defRPr sz="1600" b="0">
                <a:solidFill>
                  <a:srgbClr val="4A4E54"/>
                </a:solidFill>
                <a:latin typeface="Arial"/>
              </a:defRPr>
            </a:pPr>
            <a:r>
              <a:rPr b="0">
                <a:solidFill>
                  <a:srgbClr val="D9CEC5"/>
                </a:solidFill>
                <a:latin typeface="Arial"/>
              </a:rPr>
              <a:t>2:15 PM–3:30 PM  •  Math  •  75 min</a:t>
            </a:r>
          </a:p>
        </p:txBody>
      </p:sp>
      <p:sp>
        <p:nvSpPr>
          <p:cNvPr id="10" name="TextBox 9"/>
          <p:cNvSpPr txBox="1"/>
          <p:nvPr/>
        </p:nvSpPr>
        <p:spPr>
          <a:xfrm>
            <a:off x="612648" y="5440680"/>
            <a:ext cx="10881360" cy="411480"/>
          </a:xfrm>
          <a:prstGeom prst="rect">
            <a:avLst/>
          </a:prstGeom>
          <a:noFill/>
        </p:spPr>
        <p:txBody>
          <a:bodyPr wrap="square" lIns="0" rIns="0" tIns="0" bIns="0">
            <a:spAutoFit/>
          </a:bodyPr>
          <a:lstStyle/>
          <a:p>
            <a:pPr>
              <a:spcBef>
                <a:spcPts val="0"/>
              </a:spcBef>
              <a:spcAft>
                <a:spcPts val="300"/>
              </a:spcAft>
              <a:defRPr sz="1800" b="1">
                <a:solidFill>
                  <a:srgbClr val="D2181F"/>
                </a:solidFill>
                <a:latin typeface="Arial"/>
              </a:defRPr>
            </a:pPr>
            <a:r>
              <a:rPr>
                <a:solidFill>
                  <a:srgbClr val="F7F4F1"/>
                </a:solidFill>
                <a:latin typeface="Arial"/>
              </a:rPr>
              <a:t>Week 6  •  2 scheduled blocks  •  150 teaching minutes</a:t>
            </a:r>
          </a:p>
        </p:txBody>
      </p:sp>
      <p:sp>
        <p:nvSpPr>
          <p:cNvPr id="11" name="TextBox 10"/>
          <p:cNvSpPr txBox="1"/>
          <p:nvPr/>
        </p:nvSpPr>
        <p:spPr>
          <a:xfrm>
            <a:off x="612648" y="5943600"/>
            <a:ext cx="10881360" cy="27432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Estimate. Show the method. Label units. Check the result.</a:t>
            </a:r>
          </a:p>
        </p:txBody>
      </p:sp>
      <p:pic>
        <p:nvPicPr>
          <p:cNvPr id="12" name="Picture 11"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Rectangle 12"/>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4" name="TextBox 13"/>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5" name="TextBox 14"/>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6" name="TextBox 15"/>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7" name="TextBox 16"/>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8" name="TextBox 17"/>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18  •  2026-11-30  •  01</a:t>
            </a:r>
          </a:p>
        </p:txBody>
      </p:sp>
      <p:sp>
        <p:nvSpPr>
          <p:cNvPr id="36" name="TextBox 35"/>
          <p:cNvSpPr txBox="1"/>
          <p:nvPr/>
        </p:nvSpPr>
        <p:spPr>
          <a:xfrm>
            <a:off x="9491472" y="1033271"/>
            <a:ext cx="2423160" cy="1481328"/>
          </a:xfrm>
          <a:prstGeom prst="rect">
            <a:avLst/>
          </a:prstGeom>
          <a:noFill/>
        </p:spPr>
        <p:txBody>
          <a:bodyPr wrap="none">
            <a:spAutoFit/>
          </a:bodyPr>
          <a:lstStyle/>
          <a:p>
            <a:r>
              <a:rPr b="1" sz="10000">
                <a:solidFill>
                  <a:srgbClr val="FFFFFF"/>
                </a:solidFill>
                <a:latin typeface="Arial"/>
              </a:rPr>
              <a:t>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60" name="Rectangle 59"/>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ounded Rectangle 63"/>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ounded Rectangle 64"/>
          <p:cNvSpPr/>
          <p:nvPr/>
        </p:nvSpPr>
        <p:spPr>
          <a:xfrm>
            <a:off x="466344" y="1773936"/>
            <a:ext cx="5486400" cy="4169663"/>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466344" y="1773936"/>
            <a:ext cx="59436" cy="4169663"/>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594360" y="2788920"/>
            <a:ext cx="5230368" cy="338328"/>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594360" y="3502152"/>
            <a:ext cx="5230368" cy="338328"/>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594360" y="4215383"/>
            <a:ext cx="5230368" cy="338328"/>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594360" y="4928616"/>
            <a:ext cx="5230368" cy="338328"/>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ounded Rectangle 70"/>
          <p:cNvSpPr/>
          <p:nvPr/>
        </p:nvSpPr>
        <p:spPr>
          <a:xfrm>
            <a:off x="6089904" y="1773936"/>
            <a:ext cx="5486400" cy="4169663"/>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6089904" y="1773936"/>
            <a:ext cx="59436" cy="4169663"/>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6217920" y="2788920"/>
            <a:ext cx="5230368" cy="338328"/>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6217920" y="3502152"/>
            <a:ext cx="5230368" cy="338328"/>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6217920" y="4215383"/>
            <a:ext cx="5230368" cy="338328"/>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6217920" y="4928616"/>
            <a:ext cx="5230368" cy="338328"/>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ounded Rectangle 76"/>
          <p:cNvSpPr/>
          <p:nvPr/>
        </p:nvSpPr>
        <p:spPr>
          <a:xfrm>
            <a:off x="521208" y="5993892"/>
            <a:ext cx="11109959" cy="438912"/>
          </a:xfrm>
          <a:prstGeom prst="roundRect">
            <a:avLst>
              <a:gd name="adj" fmla="val 8000"/>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57200"/>
            <a:ext cx="9418320" cy="228600"/>
          </a:xfrm>
          <a:prstGeom prst="rect">
            <a:avLst/>
          </a:prstGeom>
          <a:noFill/>
        </p:spPr>
        <p:txBody>
          <a:bodyPr wrap="square" lIns="0" rIns="0" tIns="0" bIns="0">
            <a:spAutoFit/>
          </a:bodyPr>
          <a:lstStyle/>
          <a:p>
            <a:pPr>
              <a:spcBef>
                <a:spcPts val="0"/>
              </a:spcBef>
              <a:spcAft>
                <a:spcPts val="300"/>
              </a:spcAft>
              <a:defRPr sz="1200" b="1">
                <a:solidFill>
                  <a:srgbClr val="D2181F"/>
                </a:solidFill>
                <a:latin typeface="Arial"/>
              </a:defRPr>
            </a:pPr>
            <a:r>
              <a:rPr>
                <a:solidFill>
                  <a:srgbClr val="FFFFFF"/>
                </a:solidFill>
                <a:latin typeface="Arial"/>
              </a:rPr>
              <a:t>DAY 18  /  WEEK 6  /  CLASS TIMETABLE</a:t>
            </a:r>
          </a:p>
        </p:txBody>
      </p:sp>
      <p:sp>
        <p:nvSpPr>
          <p:cNvPr id="3" name="TextBox 2"/>
          <p:cNvSpPr txBox="1"/>
          <p:nvPr/>
        </p:nvSpPr>
        <p:spPr>
          <a:xfrm>
            <a:off x="612648" y="877824"/>
            <a:ext cx="10972800" cy="502920"/>
          </a:xfrm>
          <a:prstGeom prst="rect">
            <a:avLst/>
          </a:prstGeom>
          <a:noFill/>
        </p:spPr>
        <p:txBody>
          <a:bodyPr wrap="square" lIns="0" rIns="0" tIns="0" bIns="0">
            <a:spAutoFit/>
          </a:bodyPr>
          <a:lstStyle/>
          <a:p>
            <a:pPr>
              <a:spcBef>
                <a:spcPts val="0"/>
              </a:spcBef>
              <a:spcAft>
                <a:spcPts val="300"/>
              </a:spcAft>
              <a:defRPr sz="3000" b="1">
                <a:solidFill>
                  <a:srgbClr val="1A1A1A"/>
                </a:solidFill>
                <a:latin typeface="Arial"/>
              </a:defRPr>
            </a:pPr>
            <a:r>
              <a:rPr b="1">
                <a:solidFill>
                  <a:srgbClr val="FFFFFF"/>
                </a:solidFill>
                <a:latin typeface="Arial"/>
              </a:rPr>
              <a:t>Today’s exact schedule</a:t>
            </a:r>
          </a:p>
        </p:txBody>
      </p:sp>
      <p:sp>
        <p:nvSpPr>
          <p:cNvPr id="4" name="TextBox 3"/>
          <p:cNvSpPr txBox="1"/>
          <p:nvPr/>
        </p:nvSpPr>
        <p:spPr>
          <a:xfrm>
            <a:off x="612648" y="1627632"/>
            <a:ext cx="5349240" cy="320040"/>
          </a:xfrm>
          <a:prstGeom prst="rect">
            <a:avLst/>
          </a:prstGeom>
          <a:noFill/>
        </p:spPr>
        <p:txBody>
          <a:bodyPr wrap="square" lIns="0" rIns="0" tIns="0" bIns="0">
            <a:spAutoFit/>
          </a:bodyPr>
          <a:lstStyle/>
          <a:p>
            <a:pPr>
              <a:spcBef>
                <a:spcPts val="0"/>
              </a:spcBef>
              <a:spcAft>
                <a:spcPts val="300"/>
              </a:spcAft>
              <a:defRPr sz="2100" b="1">
                <a:solidFill>
                  <a:srgbClr val="D2181F"/>
                </a:solidFill>
                <a:latin typeface="Arial"/>
              </a:defRPr>
            </a:pPr>
            <a:r>
              <a:rPr b="1">
                <a:solidFill>
                  <a:srgbClr val="5A1018"/>
                </a:solidFill>
                <a:latin typeface="Arial"/>
              </a:rPr>
              <a:t>12:45 PM–2:00 PM  •  75 min</a:t>
            </a:r>
          </a:p>
        </p:txBody>
      </p:sp>
      <p:sp>
        <p:nvSpPr>
          <p:cNvPr id="5" name="TextBox 4"/>
          <p:cNvSpPr txBox="1"/>
          <p:nvPr/>
        </p:nvSpPr>
        <p:spPr>
          <a:xfrm>
            <a:off x="612648" y="2048256"/>
            <a:ext cx="5349240" cy="640080"/>
          </a:xfrm>
          <a:prstGeom prst="rect">
            <a:avLst/>
          </a:prstGeom>
          <a:noFill/>
        </p:spPr>
        <p:txBody>
          <a:bodyPr wrap="square" lIns="0" rIns="0" tIns="0" bIns="0">
            <a:spAutoFit/>
          </a:bodyPr>
          <a:lstStyle/>
          <a:p>
            <a:pPr>
              <a:spcBef>
                <a:spcPts val="0"/>
              </a:spcBef>
              <a:spcAft>
                <a:spcPts val="300"/>
              </a:spcAft>
              <a:defRPr sz="1900" b="1">
                <a:solidFill>
                  <a:srgbClr val="1A1A1A"/>
                </a:solidFill>
                <a:latin typeface="Arial"/>
              </a:defRPr>
            </a:pPr>
            <a:r>
              <a:rPr b="1">
                <a:solidFill>
                  <a:srgbClr val="5A1018"/>
                </a:solidFill>
                <a:latin typeface="Arial"/>
              </a:rPr>
              <a:t>Area and material coverage</a:t>
            </a:r>
          </a:p>
        </p:txBody>
      </p:sp>
      <p:sp>
        <p:nvSpPr>
          <p:cNvPr id="6" name="TextBox 5"/>
          <p:cNvSpPr txBox="1"/>
          <p:nvPr/>
        </p:nvSpPr>
        <p:spPr>
          <a:xfrm>
            <a:off x="612648" y="2852928"/>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12:45 PM–12:50 PM</a:t>
            </a:r>
          </a:p>
        </p:txBody>
      </p:sp>
      <p:sp>
        <p:nvSpPr>
          <p:cNvPr id="7" name="TextBox 6"/>
          <p:cNvSpPr txBox="1"/>
          <p:nvPr/>
        </p:nvSpPr>
        <p:spPr>
          <a:xfrm>
            <a:off x="2898648" y="2852928"/>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Start</a:t>
            </a:r>
          </a:p>
        </p:txBody>
      </p:sp>
      <p:sp>
        <p:nvSpPr>
          <p:cNvPr id="8" name="TextBox 7"/>
          <p:cNvSpPr txBox="1"/>
          <p:nvPr/>
        </p:nvSpPr>
        <p:spPr>
          <a:xfrm>
            <a:off x="5367528" y="2852928"/>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5</a:t>
            </a:r>
          </a:p>
        </p:txBody>
      </p:sp>
      <p:sp>
        <p:nvSpPr>
          <p:cNvPr id="9" name="TextBox 8"/>
          <p:cNvSpPr txBox="1"/>
          <p:nvPr/>
        </p:nvSpPr>
        <p:spPr>
          <a:xfrm>
            <a:off x="612648" y="3209544"/>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12:50 PM–12:55 PM</a:t>
            </a:r>
          </a:p>
        </p:txBody>
      </p:sp>
      <p:sp>
        <p:nvSpPr>
          <p:cNvPr id="10" name="TextBox 9"/>
          <p:cNvSpPr txBox="1"/>
          <p:nvPr/>
        </p:nvSpPr>
        <p:spPr>
          <a:xfrm>
            <a:off x="2898648" y="3209544"/>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Recall</a:t>
            </a:r>
          </a:p>
        </p:txBody>
      </p:sp>
      <p:sp>
        <p:nvSpPr>
          <p:cNvPr id="11" name="TextBox 10"/>
          <p:cNvSpPr txBox="1"/>
          <p:nvPr/>
        </p:nvSpPr>
        <p:spPr>
          <a:xfrm>
            <a:off x="5367528" y="3209544"/>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5</a:t>
            </a:r>
          </a:p>
        </p:txBody>
      </p:sp>
      <p:sp>
        <p:nvSpPr>
          <p:cNvPr id="12" name="TextBox 11"/>
          <p:cNvSpPr txBox="1"/>
          <p:nvPr/>
        </p:nvSpPr>
        <p:spPr>
          <a:xfrm>
            <a:off x="612648" y="3566160"/>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12:55 PM–1:10 PM</a:t>
            </a:r>
          </a:p>
        </p:txBody>
      </p:sp>
      <p:sp>
        <p:nvSpPr>
          <p:cNvPr id="13" name="TextBox 12"/>
          <p:cNvSpPr txBox="1"/>
          <p:nvPr/>
        </p:nvSpPr>
        <p:spPr>
          <a:xfrm>
            <a:off x="2898648" y="3566160"/>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Teach</a:t>
            </a:r>
          </a:p>
        </p:txBody>
      </p:sp>
      <p:sp>
        <p:nvSpPr>
          <p:cNvPr id="14" name="TextBox 13"/>
          <p:cNvSpPr txBox="1"/>
          <p:nvPr/>
        </p:nvSpPr>
        <p:spPr>
          <a:xfrm>
            <a:off x="5367528" y="3566160"/>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15</a:t>
            </a:r>
          </a:p>
        </p:txBody>
      </p:sp>
      <p:sp>
        <p:nvSpPr>
          <p:cNvPr id="15" name="TextBox 14"/>
          <p:cNvSpPr txBox="1"/>
          <p:nvPr/>
        </p:nvSpPr>
        <p:spPr>
          <a:xfrm>
            <a:off x="612648" y="3922776"/>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1:10 PM–1:25 PM</a:t>
            </a:r>
          </a:p>
        </p:txBody>
      </p:sp>
      <p:sp>
        <p:nvSpPr>
          <p:cNvPr id="16" name="TextBox 15"/>
          <p:cNvSpPr txBox="1"/>
          <p:nvPr/>
        </p:nvSpPr>
        <p:spPr>
          <a:xfrm>
            <a:off x="2898648" y="3922776"/>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Together</a:t>
            </a:r>
          </a:p>
        </p:txBody>
      </p:sp>
      <p:sp>
        <p:nvSpPr>
          <p:cNvPr id="17" name="TextBox 16"/>
          <p:cNvSpPr txBox="1"/>
          <p:nvPr/>
        </p:nvSpPr>
        <p:spPr>
          <a:xfrm>
            <a:off x="5367528" y="3922776"/>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15</a:t>
            </a:r>
          </a:p>
        </p:txBody>
      </p:sp>
      <p:sp>
        <p:nvSpPr>
          <p:cNvPr id="18" name="TextBox 17"/>
          <p:cNvSpPr txBox="1"/>
          <p:nvPr/>
        </p:nvSpPr>
        <p:spPr>
          <a:xfrm>
            <a:off x="612648" y="4279392"/>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1:25 PM–1:45 PM</a:t>
            </a:r>
          </a:p>
        </p:txBody>
      </p:sp>
      <p:sp>
        <p:nvSpPr>
          <p:cNvPr id="19" name="TextBox 18"/>
          <p:cNvSpPr txBox="1"/>
          <p:nvPr/>
        </p:nvSpPr>
        <p:spPr>
          <a:xfrm>
            <a:off x="2898648" y="4279392"/>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Practise</a:t>
            </a:r>
          </a:p>
        </p:txBody>
      </p:sp>
      <p:sp>
        <p:nvSpPr>
          <p:cNvPr id="20" name="TextBox 19"/>
          <p:cNvSpPr txBox="1"/>
          <p:nvPr/>
        </p:nvSpPr>
        <p:spPr>
          <a:xfrm>
            <a:off x="5367528" y="4279392"/>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20</a:t>
            </a:r>
          </a:p>
        </p:txBody>
      </p:sp>
      <p:sp>
        <p:nvSpPr>
          <p:cNvPr id="21" name="TextBox 20"/>
          <p:cNvSpPr txBox="1"/>
          <p:nvPr/>
        </p:nvSpPr>
        <p:spPr>
          <a:xfrm>
            <a:off x="612648" y="4636007"/>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1:45 PM–1:55 PM</a:t>
            </a:r>
          </a:p>
        </p:txBody>
      </p:sp>
      <p:sp>
        <p:nvSpPr>
          <p:cNvPr id="22" name="TextBox 21"/>
          <p:cNvSpPr txBox="1"/>
          <p:nvPr/>
        </p:nvSpPr>
        <p:spPr>
          <a:xfrm>
            <a:off x="2898648" y="4636007"/>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Check</a:t>
            </a:r>
          </a:p>
        </p:txBody>
      </p:sp>
      <p:sp>
        <p:nvSpPr>
          <p:cNvPr id="23" name="TextBox 22"/>
          <p:cNvSpPr txBox="1"/>
          <p:nvPr/>
        </p:nvSpPr>
        <p:spPr>
          <a:xfrm>
            <a:off x="5367528" y="4636007"/>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10</a:t>
            </a:r>
          </a:p>
        </p:txBody>
      </p:sp>
      <p:sp>
        <p:nvSpPr>
          <p:cNvPr id="24" name="TextBox 23"/>
          <p:cNvSpPr txBox="1"/>
          <p:nvPr/>
        </p:nvSpPr>
        <p:spPr>
          <a:xfrm>
            <a:off x="612648" y="4992623"/>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1:55 PM–2:00 PM</a:t>
            </a:r>
          </a:p>
        </p:txBody>
      </p:sp>
      <p:sp>
        <p:nvSpPr>
          <p:cNvPr id="25" name="TextBox 24"/>
          <p:cNvSpPr txBox="1"/>
          <p:nvPr/>
        </p:nvSpPr>
        <p:spPr>
          <a:xfrm>
            <a:off x="2898648" y="4992623"/>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Wrap up</a:t>
            </a:r>
          </a:p>
        </p:txBody>
      </p:sp>
      <p:sp>
        <p:nvSpPr>
          <p:cNvPr id="26" name="TextBox 25"/>
          <p:cNvSpPr txBox="1"/>
          <p:nvPr/>
        </p:nvSpPr>
        <p:spPr>
          <a:xfrm>
            <a:off x="5367528" y="4992623"/>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5</a:t>
            </a:r>
          </a:p>
        </p:txBody>
      </p:sp>
      <p:sp>
        <p:nvSpPr>
          <p:cNvPr id="27" name="TextBox 26"/>
          <p:cNvSpPr txBox="1"/>
          <p:nvPr/>
        </p:nvSpPr>
        <p:spPr>
          <a:xfrm>
            <a:off x="612648" y="5522976"/>
            <a:ext cx="5349240" cy="457200"/>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Math  •  Math Week 6, Lesson 1</a:t>
            </a:r>
          </a:p>
        </p:txBody>
      </p:sp>
      <p:sp>
        <p:nvSpPr>
          <p:cNvPr id="28" name="TextBox 27"/>
          <p:cNvSpPr txBox="1"/>
          <p:nvPr/>
        </p:nvSpPr>
        <p:spPr>
          <a:xfrm>
            <a:off x="6236208" y="1627632"/>
            <a:ext cx="5349240" cy="320040"/>
          </a:xfrm>
          <a:prstGeom prst="rect">
            <a:avLst/>
          </a:prstGeom>
          <a:noFill/>
        </p:spPr>
        <p:txBody>
          <a:bodyPr wrap="square" lIns="0" rIns="0" tIns="0" bIns="0">
            <a:spAutoFit/>
          </a:bodyPr>
          <a:lstStyle/>
          <a:p>
            <a:pPr>
              <a:spcBef>
                <a:spcPts val="0"/>
              </a:spcBef>
              <a:spcAft>
                <a:spcPts val="300"/>
              </a:spcAft>
              <a:defRPr sz="2100" b="1">
                <a:solidFill>
                  <a:srgbClr val="D2181F"/>
                </a:solidFill>
                <a:latin typeface="Arial"/>
              </a:defRPr>
            </a:pPr>
            <a:r>
              <a:rPr b="1">
                <a:solidFill>
                  <a:srgbClr val="5A1018"/>
                </a:solidFill>
                <a:latin typeface="Arial"/>
              </a:rPr>
              <a:t>2:15 PM–3:30 PM  •  75 min</a:t>
            </a:r>
          </a:p>
        </p:txBody>
      </p:sp>
      <p:sp>
        <p:nvSpPr>
          <p:cNvPr id="29" name="TextBox 28"/>
          <p:cNvSpPr txBox="1"/>
          <p:nvPr/>
        </p:nvSpPr>
        <p:spPr>
          <a:xfrm>
            <a:off x="6236208" y="2048256"/>
            <a:ext cx="5349240" cy="640080"/>
          </a:xfrm>
          <a:prstGeom prst="rect">
            <a:avLst/>
          </a:prstGeom>
          <a:noFill/>
        </p:spPr>
        <p:txBody>
          <a:bodyPr wrap="square" lIns="0" rIns="0" tIns="0" bIns="0">
            <a:spAutoFit/>
          </a:bodyPr>
          <a:lstStyle/>
          <a:p>
            <a:pPr>
              <a:spcBef>
                <a:spcPts val="0"/>
              </a:spcBef>
              <a:spcAft>
                <a:spcPts val="300"/>
              </a:spcAft>
              <a:defRPr sz="1900" b="1">
                <a:solidFill>
                  <a:srgbClr val="1A1A1A"/>
                </a:solidFill>
                <a:latin typeface="Arial"/>
              </a:defRPr>
            </a:pPr>
            <a:r>
              <a:rPr b="1">
                <a:solidFill>
                  <a:srgbClr val="5A1018"/>
                </a:solidFill>
                <a:latin typeface="Arial"/>
              </a:rPr>
              <a:t>Composite areas, openings and surface coverage</a:t>
            </a:r>
          </a:p>
        </p:txBody>
      </p:sp>
      <p:sp>
        <p:nvSpPr>
          <p:cNvPr id="30" name="TextBox 29"/>
          <p:cNvSpPr txBox="1"/>
          <p:nvPr/>
        </p:nvSpPr>
        <p:spPr>
          <a:xfrm>
            <a:off x="6236208" y="2852928"/>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2:15 PM–2:20 PM</a:t>
            </a:r>
          </a:p>
        </p:txBody>
      </p:sp>
      <p:sp>
        <p:nvSpPr>
          <p:cNvPr id="31" name="TextBox 30"/>
          <p:cNvSpPr txBox="1"/>
          <p:nvPr/>
        </p:nvSpPr>
        <p:spPr>
          <a:xfrm>
            <a:off x="8522208" y="2852928"/>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Start</a:t>
            </a:r>
          </a:p>
        </p:txBody>
      </p:sp>
      <p:sp>
        <p:nvSpPr>
          <p:cNvPr id="32" name="TextBox 31"/>
          <p:cNvSpPr txBox="1"/>
          <p:nvPr/>
        </p:nvSpPr>
        <p:spPr>
          <a:xfrm>
            <a:off x="10991088" y="2852928"/>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5</a:t>
            </a:r>
          </a:p>
        </p:txBody>
      </p:sp>
      <p:sp>
        <p:nvSpPr>
          <p:cNvPr id="33" name="TextBox 32"/>
          <p:cNvSpPr txBox="1"/>
          <p:nvPr/>
        </p:nvSpPr>
        <p:spPr>
          <a:xfrm>
            <a:off x="6236208" y="3209544"/>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2:20 PM–2:25 PM</a:t>
            </a:r>
          </a:p>
        </p:txBody>
      </p:sp>
      <p:sp>
        <p:nvSpPr>
          <p:cNvPr id="34" name="TextBox 33"/>
          <p:cNvSpPr txBox="1"/>
          <p:nvPr/>
        </p:nvSpPr>
        <p:spPr>
          <a:xfrm>
            <a:off x="8522208" y="3209544"/>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Recall</a:t>
            </a:r>
          </a:p>
        </p:txBody>
      </p:sp>
      <p:sp>
        <p:nvSpPr>
          <p:cNvPr id="35" name="TextBox 34"/>
          <p:cNvSpPr txBox="1"/>
          <p:nvPr/>
        </p:nvSpPr>
        <p:spPr>
          <a:xfrm>
            <a:off x="10991088" y="3209544"/>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5</a:t>
            </a:r>
          </a:p>
        </p:txBody>
      </p:sp>
      <p:sp>
        <p:nvSpPr>
          <p:cNvPr id="36" name="TextBox 35"/>
          <p:cNvSpPr txBox="1"/>
          <p:nvPr/>
        </p:nvSpPr>
        <p:spPr>
          <a:xfrm>
            <a:off x="6236208" y="3566160"/>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2:25 PM–2:40 PM</a:t>
            </a:r>
          </a:p>
        </p:txBody>
      </p:sp>
      <p:sp>
        <p:nvSpPr>
          <p:cNvPr id="37" name="TextBox 36"/>
          <p:cNvSpPr txBox="1"/>
          <p:nvPr/>
        </p:nvSpPr>
        <p:spPr>
          <a:xfrm>
            <a:off x="8522208" y="3566160"/>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Teach</a:t>
            </a:r>
          </a:p>
        </p:txBody>
      </p:sp>
      <p:sp>
        <p:nvSpPr>
          <p:cNvPr id="38" name="TextBox 37"/>
          <p:cNvSpPr txBox="1"/>
          <p:nvPr/>
        </p:nvSpPr>
        <p:spPr>
          <a:xfrm>
            <a:off x="10991088" y="3566160"/>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15</a:t>
            </a:r>
          </a:p>
        </p:txBody>
      </p:sp>
      <p:sp>
        <p:nvSpPr>
          <p:cNvPr id="39" name="TextBox 38"/>
          <p:cNvSpPr txBox="1"/>
          <p:nvPr/>
        </p:nvSpPr>
        <p:spPr>
          <a:xfrm>
            <a:off x="6236208" y="3922776"/>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2:40 PM–2:55 PM</a:t>
            </a:r>
          </a:p>
        </p:txBody>
      </p:sp>
      <p:sp>
        <p:nvSpPr>
          <p:cNvPr id="40" name="TextBox 39"/>
          <p:cNvSpPr txBox="1"/>
          <p:nvPr/>
        </p:nvSpPr>
        <p:spPr>
          <a:xfrm>
            <a:off x="8522208" y="3922776"/>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Together</a:t>
            </a:r>
          </a:p>
        </p:txBody>
      </p:sp>
      <p:sp>
        <p:nvSpPr>
          <p:cNvPr id="41" name="TextBox 40"/>
          <p:cNvSpPr txBox="1"/>
          <p:nvPr/>
        </p:nvSpPr>
        <p:spPr>
          <a:xfrm>
            <a:off x="10991088" y="3922776"/>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15</a:t>
            </a:r>
          </a:p>
        </p:txBody>
      </p:sp>
      <p:sp>
        <p:nvSpPr>
          <p:cNvPr id="42" name="TextBox 41"/>
          <p:cNvSpPr txBox="1"/>
          <p:nvPr/>
        </p:nvSpPr>
        <p:spPr>
          <a:xfrm>
            <a:off x="6236208" y="4279392"/>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2:55 PM–3:15 PM</a:t>
            </a:r>
          </a:p>
        </p:txBody>
      </p:sp>
      <p:sp>
        <p:nvSpPr>
          <p:cNvPr id="43" name="TextBox 42"/>
          <p:cNvSpPr txBox="1"/>
          <p:nvPr/>
        </p:nvSpPr>
        <p:spPr>
          <a:xfrm>
            <a:off x="8522208" y="4279392"/>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Practise</a:t>
            </a:r>
          </a:p>
        </p:txBody>
      </p:sp>
      <p:sp>
        <p:nvSpPr>
          <p:cNvPr id="44" name="TextBox 43"/>
          <p:cNvSpPr txBox="1"/>
          <p:nvPr/>
        </p:nvSpPr>
        <p:spPr>
          <a:xfrm>
            <a:off x="10991088" y="4279392"/>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20</a:t>
            </a:r>
          </a:p>
        </p:txBody>
      </p:sp>
      <p:sp>
        <p:nvSpPr>
          <p:cNvPr id="45" name="TextBox 44"/>
          <p:cNvSpPr txBox="1"/>
          <p:nvPr/>
        </p:nvSpPr>
        <p:spPr>
          <a:xfrm>
            <a:off x="6236208" y="4636007"/>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3:15 PM–3:25 PM</a:t>
            </a:r>
          </a:p>
        </p:txBody>
      </p:sp>
      <p:sp>
        <p:nvSpPr>
          <p:cNvPr id="46" name="TextBox 45"/>
          <p:cNvSpPr txBox="1"/>
          <p:nvPr/>
        </p:nvSpPr>
        <p:spPr>
          <a:xfrm>
            <a:off x="8522208" y="4636007"/>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Check</a:t>
            </a:r>
          </a:p>
        </p:txBody>
      </p:sp>
      <p:sp>
        <p:nvSpPr>
          <p:cNvPr id="47" name="TextBox 46"/>
          <p:cNvSpPr txBox="1"/>
          <p:nvPr/>
        </p:nvSpPr>
        <p:spPr>
          <a:xfrm>
            <a:off x="10991088" y="4636007"/>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10</a:t>
            </a:r>
          </a:p>
        </p:txBody>
      </p:sp>
      <p:sp>
        <p:nvSpPr>
          <p:cNvPr id="48" name="TextBox 47"/>
          <p:cNvSpPr txBox="1"/>
          <p:nvPr/>
        </p:nvSpPr>
        <p:spPr>
          <a:xfrm>
            <a:off x="6236208" y="4992623"/>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3:25 PM–3:30 PM</a:t>
            </a:r>
          </a:p>
        </p:txBody>
      </p:sp>
      <p:sp>
        <p:nvSpPr>
          <p:cNvPr id="49" name="TextBox 48"/>
          <p:cNvSpPr txBox="1"/>
          <p:nvPr/>
        </p:nvSpPr>
        <p:spPr>
          <a:xfrm>
            <a:off x="8522208" y="4992623"/>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Wrap up</a:t>
            </a:r>
          </a:p>
        </p:txBody>
      </p:sp>
      <p:sp>
        <p:nvSpPr>
          <p:cNvPr id="50" name="TextBox 49"/>
          <p:cNvSpPr txBox="1"/>
          <p:nvPr/>
        </p:nvSpPr>
        <p:spPr>
          <a:xfrm>
            <a:off x="10991088" y="4992623"/>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5</a:t>
            </a:r>
          </a:p>
        </p:txBody>
      </p:sp>
      <p:sp>
        <p:nvSpPr>
          <p:cNvPr id="51" name="TextBox 50"/>
          <p:cNvSpPr txBox="1"/>
          <p:nvPr/>
        </p:nvSpPr>
        <p:spPr>
          <a:xfrm>
            <a:off x="6236208" y="5522976"/>
            <a:ext cx="5349240" cy="457200"/>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Math  •  Math Week 6, Lesson 2</a:t>
            </a:r>
          </a:p>
        </p:txBody>
      </p:sp>
      <p:sp>
        <p:nvSpPr>
          <p:cNvPr id="52" name="TextBox 51"/>
          <p:cNvSpPr txBox="1"/>
          <p:nvPr/>
        </p:nvSpPr>
        <p:spPr>
          <a:xfrm>
            <a:off x="612648" y="6053328"/>
            <a:ext cx="10927080" cy="320040"/>
          </a:xfrm>
          <a:prstGeom prst="rect">
            <a:avLst/>
          </a:prstGeom>
          <a:noFill/>
        </p:spPr>
        <p:txBody>
          <a:bodyPr wrap="square" lIns="0" rIns="0" tIns="0" bIns="0">
            <a:spAutoFit/>
          </a:bodyPr>
          <a:lstStyle/>
          <a:p>
            <a:pPr>
              <a:spcBef>
                <a:spcPts val="0"/>
              </a:spcBef>
              <a:spcAft>
                <a:spcPts val="300"/>
              </a:spcAft>
              <a:defRPr sz="1500" b="0">
                <a:solidFill>
                  <a:srgbClr val="1A1A1A"/>
                </a:solidFill>
                <a:latin typeface="Arial"/>
              </a:defRPr>
            </a:pPr>
            <a:r>
              <a:rPr b="1">
                <a:solidFill>
                  <a:srgbClr val="201C19"/>
                </a:solidFill>
                <a:latin typeface="Arial"/>
              </a:rPr>
              <a:t>Break: 2:00 PM–2:15 PM  •  15 minutes  •  excluded from teaching time</a:t>
            </a:r>
          </a:p>
        </p:txBody>
      </p:sp>
      <p:pic>
        <p:nvPicPr>
          <p:cNvPr id="53" name="Picture 5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54" name="Rectangle 53"/>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55" name="TextBox 54"/>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56" name="TextBox 55"/>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57" name="TextBox 56"/>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58" name="TextBox 57"/>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59" name="TextBox 58"/>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18  •  2026-11-30  •  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5A1018"/>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21207" y="1801368"/>
            <a:ext cx="50292" cy="1207008"/>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W06-L01  •  START  •  12:45 PM–12:50 PM  •  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Area and material coverage</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10.1–10.3 pp.154–157; sections 7.4 pp.113–115</a:t>
            </a:r>
          </a:p>
        </p:txBody>
      </p:sp>
      <p:sp>
        <p:nvSpPr>
          <p:cNvPr id="5" name="TextBox 4"/>
          <p:cNvSpPr txBox="1"/>
          <p:nvPr/>
        </p:nvSpPr>
        <p:spPr>
          <a:xfrm>
            <a:off x="612648" y="1856231"/>
            <a:ext cx="10927080" cy="1005840"/>
          </a:xfrm>
          <a:prstGeom prst="rect">
            <a:avLst/>
          </a:prstGeom>
          <a:noFill/>
        </p:spPr>
        <p:txBody>
          <a:bodyPr wrap="square" lIns="0" rIns="0" tIns="0" bIns="0">
            <a:spAutoFit/>
          </a:bodyPr>
          <a:lstStyle/>
          <a:p>
            <a:pPr>
              <a:spcBef>
                <a:spcPts val="0"/>
              </a:spcBef>
              <a:spcAft>
                <a:spcPts val="300"/>
              </a:spcAft>
              <a:defRPr sz="2400" b="1">
                <a:solidFill>
                  <a:srgbClr val="1A1A1A"/>
                </a:solidFill>
                <a:latin typeface="Arial"/>
              </a:defRPr>
            </a:pPr>
            <a:r>
              <a:rPr b="1">
                <a:solidFill>
                  <a:srgbClr val="FFFFFF"/>
                </a:solidFill>
                <a:latin typeface="Arial"/>
              </a:rPr>
              <a:t>Today’s goal: Calculate rectangle and triangle areas and distinguish linear units from square units.</a:t>
            </a:r>
          </a:p>
        </p:txBody>
      </p:sp>
      <p:sp>
        <p:nvSpPr>
          <p:cNvPr id="6" name="TextBox 5"/>
          <p:cNvSpPr txBox="1"/>
          <p:nvPr/>
        </p:nvSpPr>
        <p:spPr>
          <a:xfrm>
            <a:off x="612648" y="3154680"/>
            <a:ext cx="10927080" cy="59436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solidFill>
                  <a:srgbClr val="FFFFFF"/>
                </a:solidFill>
                <a:latin typeface="Arial"/>
              </a:rPr>
              <a:t>Describe a prior use of the skill; identify the given and unknown quantities.</a:t>
            </a:r>
          </a:p>
        </p:txBody>
      </p:sp>
      <p:sp>
        <p:nvSpPr>
          <p:cNvPr id="7" name="Rectangle 6"/>
          <p:cNvSpPr/>
          <p:nvPr/>
        </p:nvSpPr>
        <p:spPr>
          <a:xfrm>
            <a:off x="612648" y="4114800"/>
            <a:ext cx="10927080" cy="1371600"/>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8" name="TextBox 7"/>
          <p:cNvSpPr txBox="1"/>
          <p:nvPr/>
        </p:nvSpPr>
        <p:spPr>
          <a:xfrm>
            <a:off x="841248" y="4297680"/>
            <a:ext cx="10424160" cy="457200"/>
          </a:xfrm>
          <a:prstGeom prst="rect">
            <a:avLst/>
          </a:prstGeom>
          <a:noFill/>
        </p:spPr>
        <p:txBody>
          <a:bodyPr wrap="square" lIns="0" rIns="0" tIns="0" bIns="0">
            <a:spAutoFit/>
          </a:bodyPr>
          <a:lstStyle/>
          <a:p>
            <a:pPr>
              <a:spcBef>
                <a:spcPts val="0"/>
              </a:spcBef>
              <a:spcAft>
                <a:spcPts val="300"/>
              </a:spcAft>
              <a:defRPr sz="1700" b="0">
                <a:solidFill>
                  <a:srgbClr val="1A1A1A"/>
                </a:solidFill>
                <a:latin typeface="Arial"/>
              </a:defRPr>
            </a:pPr>
            <a:r>
              <a:rPr>
                <a:solidFill>
                  <a:srgbClr val="201C19"/>
                </a:solidFill>
                <a:latin typeface="Arial"/>
              </a:rPr>
              <a:t>Textbook sections 10.1–10.3 pp.154–157; sections 7.4 pp.113–115</a:t>
            </a:r>
          </a:p>
        </p:txBody>
      </p:sp>
      <p:sp>
        <p:nvSpPr>
          <p:cNvPr id="9" name="TextBox 8"/>
          <p:cNvSpPr txBox="1"/>
          <p:nvPr/>
        </p:nvSpPr>
        <p:spPr>
          <a:xfrm>
            <a:off x="841248" y="4901184"/>
            <a:ext cx="10424160" cy="457200"/>
          </a:xfrm>
          <a:prstGeom prst="rect">
            <a:avLst/>
          </a:prstGeom>
          <a:noFill/>
        </p:spPr>
        <p:txBody>
          <a:bodyPr wrap="square" lIns="0" rIns="0" tIns="0" bIns="0">
            <a:spAutoFit/>
          </a:bodyPr>
          <a:lstStyle/>
          <a:p>
            <a:pPr>
              <a:spcBef>
                <a:spcPts val="0"/>
              </a:spcBef>
              <a:spcAft>
                <a:spcPts val="300"/>
              </a:spcAft>
              <a:defRPr sz="1600" b="0">
                <a:solidFill>
                  <a:srgbClr val="4A4E54"/>
                </a:solidFill>
                <a:latin typeface="Arial"/>
              </a:defRPr>
            </a:pPr>
            <a:r>
              <a:rPr>
                <a:solidFill>
                  <a:srgbClr val="201C19"/>
                </a:solidFill>
                <a:latin typeface="Arial"/>
              </a:rPr>
              <a:t>Exercise Book 10A Q1–8 (p.63); 10B Q1,4 (p.65)</a:t>
            </a:r>
          </a:p>
        </p:txBody>
      </p:sp>
      <p:sp>
        <p:nvSpPr>
          <p:cNvPr id="10" name="TextBox 9"/>
          <p:cNvSpPr txBox="1"/>
          <p:nvPr/>
        </p:nvSpPr>
        <p:spPr>
          <a:xfrm>
            <a:off x="612648" y="5806440"/>
            <a:ext cx="10927080" cy="411480"/>
          </a:xfrm>
          <a:prstGeom prst="rect">
            <a:avLst/>
          </a:prstGeom>
          <a:noFill/>
        </p:spPr>
        <p:txBody>
          <a:bodyPr wrap="square" lIns="0" rIns="0" tIns="0" bIns="0">
            <a:spAutoFit/>
          </a:bodyPr>
          <a:lstStyle/>
          <a:p>
            <a:pPr>
              <a:spcBef>
                <a:spcPts val="0"/>
              </a:spcBef>
              <a:spcAft>
                <a:spcPts val="300"/>
              </a:spcAft>
              <a:defRPr sz="1700" b="0">
                <a:solidFill>
                  <a:srgbClr val="D2181F"/>
                </a:solidFill>
                <a:latin typeface="Arial"/>
              </a:defRPr>
            </a:pPr>
            <a:r>
              <a:rPr>
                <a:solidFill>
                  <a:srgbClr val="F7F4F1"/>
                </a:solidFill>
                <a:latin typeface="Arial"/>
              </a:rPr>
              <a:t>Keep your notebook, textbook, exercise book and chosen calculator ready.</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2" name="Rectangle 11"/>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3" name="TextBox 12"/>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4" name="TextBox 13"/>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5" name="TextBox 14"/>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6" name="TextBox 15"/>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7" name="TextBox 16"/>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18  •  2026-11-30  •  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5A1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93776" y="1773936"/>
            <a:ext cx="64008" cy="224028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W06-L01  •  RECALL  •  12:50 PM–12:55 PM  •  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Recall and reconnect</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sections 10.1–10.3 pp.154–157; sections 7.4 pp.113–115</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Explain why 1 m² is not 1,000 mm²; retrieve a rectangle perimeter and name its different unit.</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Attempt the retrieval task independently; explain the method before checking.</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62564B"/>
                </a:solidFill>
                <a:latin typeface="Arial"/>
              </a:rPr>
              <a:t>Resources: Exercise Book 10A Q1–8 (p.63); 10B Q1,4 (p.65)</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Rectangle 9"/>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18  •  2026-11-30  •  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2648" y="1865376"/>
            <a:ext cx="50292" cy="190195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217920" y="1865376"/>
            <a:ext cx="50292" cy="190195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12648" y="3895344"/>
            <a:ext cx="50292" cy="190195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217920" y="3895344"/>
            <a:ext cx="50292" cy="190195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W06-L01  •  TEACH  •  12:55 PM–1:10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Measure coverage in squares</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sections 10.1–10.3 pp.154–157; sections 7.4 pp.113–115</a:t>
            </a:r>
          </a:p>
        </p:txBody>
      </p:sp>
      <p:sp>
        <p:nvSpPr>
          <p:cNvPr id="5" name="Rectangle 4"/>
          <p:cNvSpPr/>
          <p:nvPr/>
        </p:nvSpPr>
        <p:spPr>
          <a:xfrm>
            <a:off x="795528" y="2029968"/>
            <a:ext cx="393192" cy="39319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FFFFFF"/>
                </a:solidFill>
                <a:latin typeface="Arial"/>
              </a:rPr>
              <a:t>1</a:t>
            </a:r>
          </a:p>
        </p:txBody>
      </p:sp>
      <p:sp>
        <p:nvSpPr>
          <p:cNvPr id="6" name="TextBox 5"/>
          <p:cNvSpPr txBox="1"/>
          <p:nvPr/>
        </p:nvSpPr>
        <p:spPr>
          <a:xfrm>
            <a:off x="1362456" y="2048256"/>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Rectangle area = length × width.</a:t>
            </a:r>
          </a:p>
        </p:txBody>
      </p:sp>
      <p:sp>
        <p:nvSpPr>
          <p:cNvPr id="7" name="Rectangle 6"/>
          <p:cNvSpPr/>
          <p:nvPr/>
        </p:nvSpPr>
        <p:spPr>
          <a:xfrm>
            <a:off x="6400800" y="2029968"/>
            <a:ext cx="393192" cy="3931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201C19"/>
                </a:solidFill>
                <a:latin typeface="Arial"/>
              </a:rPr>
              <a:t>2</a:t>
            </a:r>
          </a:p>
        </p:txBody>
      </p:sp>
      <p:sp>
        <p:nvSpPr>
          <p:cNvPr id="8" name="TextBox 7"/>
          <p:cNvSpPr txBox="1"/>
          <p:nvPr/>
        </p:nvSpPr>
        <p:spPr>
          <a:xfrm>
            <a:off x="6967728" y="2048256"/>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Triangle area = ½ × base × perpendicular height.</a:t>
            </a:r>
          </a:p>
        </p:txBody>
      </p:sp>
      <p:sp>
        <p:nvSpPr>
          <p:cNvPr id="9" name="Rectangle 8"/>
          <p:cNvSpPr/>
          <p:nvPr/>
        </p:nvSpPr>
        <p:spPr>
          <a:xfrm>
            <a:off x="795528" y="4059935"/>
            <a:ext cx="393192" cy="3931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201C19"/>
                </a:solidFill>
                <a:latin typeface="Arial"/>
              </a:rPr>
              <a:t>3</a:t>
            </a:r>
          </a:p>
        </p:txBody>
      </p:sp>
      <p:sp>
        <p:nvSpPr>
          <p:cNvPr id="10" name="TextBox 9"/>
          <p:cNvSpPr txBox="1"/>
          <p:nvPr/>
        </p:nvSpPr>
        <p:spPr>
          <a:xfrm>
            <a:off x="1362456" y="4078224"/>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The height meets the base at 90°; it is not usually the sloping side.</a:t>
            </a:r>
          </a:p>
        </p:txBody>
      </p:sp>
      <p:sp>
        <p:nvSpPr>
          <p:cNvPr id="11" name="Rectangle 10"/>
          <p:cNvSpPr/>
          <p:nvPr/>
        </p:nvSpPr>
        <p:spPr>
          <a:xfrm>
            <a:off x="6400800" y="4059935"/>
            <a:ext cx="393192" cy="39319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FFFFFF"/>
                </a:solidFill>
                <a:latin typeface="Arial"/>
              </a:rPr>
              <a:t>4</a:t>
            </a:r>
          </a:p>
        </p:txBody>
      </p:sp>
      <p:sp>
        <p:nvSpPr>
          <p:cNvPr id="12" name="TextBox 11"/>
          <p:cNvSpPr txBox="1"/>
          <p:nvPr/>
        </p:nvSpPr>
        <p:spPr>
          <a:xfrm>
            <a:off x="6967728" y="4078224"/>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Area answers use square units such as mm² or m².</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4" name="Rectangle 13"/>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5" name="TextBox 14"/>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6" name="TextBox 15"/>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7" name="TextBox 16"/>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8" name="TextBox 17"/>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9" name="TextBox 18"/>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18  •  2026-11-30  •  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2648" y="1865376"/>
            <a:ext cx="50292" cy="190195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217920" y="1865376"/>
            <a:ext cx="50292" cy="190195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12648" y="3895344"/>
            <a:ext cx="50292" cy="190195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217920" y="3895344"/>
            <a:ext cx="50292" cy="190195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W06-L01  •  TEACH  •  12:55 PM–1:10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Convert areas and count sheets</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sections 10.1–10.3 pp.154–157; sections 7.4 pp.113–115</a:t>
            </a:r>
          </a:p>
        </p:txBody>
      </p:sp>
      <p:sp>
        <p:nvSpPr>
          <p:cNvPr id="5" name="Rectangle 4"/>
          <p:cNvSpPr/>
          <p:nvPr/>
        </p:nvSpPr>
        <p:spPr>
          <a:xfrm>
            <a:off x="795528" y="2029968"/>
            <a:ext cx="393192" cy="39319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FFFFFF"/>
                </a:solidFill>
                <a:latin typeface="Arial"/>
              </a:rPr>
              <a:t>1</a:t>
            </a:r>
          </a:p>
        </p:txBody>
      </p:sp>
      <p:sp>
        <p:nvSpPr>
          <p:cNvPr id="6" name="TextBox 5"/>
          <p:cNvSpPr txBox="1"/>
          <p:nvPr/>
        </p:nvSpPr>
        <p:spPr>
          <a:xfrm>
            <a:off x="1362456" y="2048256"/>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A square conversion applies the length factor twice.</a:t>
            </a:r>
          </a:p>
        </p:txBody>
      </p:sp>
      <p:sp>
        <p:nvSpPr>
          <p:cNvPr id="7" name="Rectangle 6"/>
          <p:cNvSpPr/>
          <p:nvPr/>
        </p:nvSpPr>
        <p:spPr>
          <a:xfrm>
            <a:off x="6400800" y="2029968"/>
            <a:ext cx="393192" cy="3931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201C19"/>
                </a:solidFill>
                <a:latin typeface="Arial"/>
              </a:rPr>
              <a:t>2</a:t>
            </a:r>
          </a:p>
        </p:txBody>
      </p:sp>
      <p:sp>
        <p:nvSpPr>
          <p:cNvPr id="8" name="TextBox 7"/>
          <p:cNvSpPr txBox="1"/>
          <p:nvPr/>
        </p:nvSpPr>
        <p:spPr>
          <a:xfrm>
            <a:off x="6967728" y="2048256"/>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Because 1 m = 1,000 mm, 1 m² = 1,000,000 mm².</a:t>
            </a:r>
          </a:p>
        </p:txBody>
      </p:sp>
      <p:sp>
        <p:nvSpPr>
          <p:cNvPr id="9" name="Rectangle 8"/>
          <p:cNvSpPr/>
          <p:nvPr/>
        </p:nvSpPr>
        <p:spPr>
          <a:xfrm>
            <a:off x="795528" y="4059935"/>
            <a:ext cx="393192" cy="3931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201C19"/>
                </a:solidFill>
                <a:latin typeface="Arial"/>
              </a:rPr>
              <a:t>3</a:t>
            </a:r>
          </a:p>
        </p:txBody>
      </p:sp>
      <p:sp>
        <p:nvSpPr>
          <p:cNvPr id="10" name="TextBox 9"/>
          <p:cNvSpPr txBox="1"/>
          <p:nvPr/>
        </p:nvSpPr>
        <p:spPr>
          <a:xfrm>
            <a:off x="1362456" y="4078224"/>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Sheet count = surface area ÷ one-sheet area in matching units.</a:t>
            </a:r>
          </a:p>
        </p:txBody>
      </p:sp>
      <p:sp>
        <p:nvSpPr>
          <p:cNvPr id="11" name="Rectangle 10"/>
          <p:cNvSpPr/>
          <p:nvPr/>
        </p:nvSpPr>
        <p:spPr>
          <a:xfrm>
            <a:off x="6400800" y="4059935"/>
            <a:ext cx="393192" cy="39319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FFFFFF"/>
                </a:solidFill>
                <a:latin typeface="Arial"/>
              </a:rPr>
              <a:t>4</a:t>
            </a:r>
          </a:p>
        </p:txBody>
      </p:sp>
      <p:sp>
        <p:nvSpPr>
          <p:cNvPr id="12" name="TextBox 11"/>
          <p:cNvSpPr txBox="1"/>
          <p:nvPr/>
        </p:nvSpPr>
        <p:spPr>
          <a:xfrm>
            <a:off x="6967728" y="4078224"/>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Keep the exercise’s no-waste assumption explicit; round purchases as required.</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4" name="Rectangle 13"/>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5" name="TextBox 14"/>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6" name="TextBox 15"/>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7" name="TextBox 16"/>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8" name="TextBox 17"/>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9" name="TextBox 18"/>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18  •  2026-11-30  •  06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
    <p:bg>
      <p:bgPr>
        <a:solidFill>
          <a:srgbClr val="F7F4F1"/>
        </a:solidFill>
        <a:effectLst/>
      </p:bgPr>
    </p:bg>
    <p:spTree>
      <p:nvGrpSpPr>
        <p:cNvPr id="1" name=""/>
        <p:cNvGrpSpPr/>
        <p:nvPr/>
      </p:nvGrpSpPr>
      <p:grpSpPr>
        <a:xfrm>
          <a:off x="0" y="0"/>
          <a:ext cx="0" cy="0"/>
          <a:chOff x="0" y="0"/>
          <a:chExt cx="0" cy="0"/>
        </a:xfrm>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1"/>
          <p:cNvSpPr/>
          <p:nvPr/>
        </p:nvSpPr>
        <p:spPr>
          <a:xfrm>
            <a:off x="609585" y="381000"/>
            <a:ext cx="9418320" cy="213271"/>
          </a:xfrm>
          <a:prstGeom prst="rect">
            <a:avLst/>
          </a:prstGeom>
          <a:noFill/>
          <a:ln/>
        </p:spPr>
        <p:txBody>
          <a:bodyPr wrap="square" lIns="0" tIns="0" rIns="0" bIns="0" rtlCol="0" anchor="t"/>
          <a:lstStyle/>
          <a:p>
            <a:pPr marL="0" indent="0" algn="l">
              <a:buNone/>
              <a:defRPr sz="1150">
                <a:solidFill>
                  <a:srgbClr val="D2181F"/>
                </a:solidFill>
                <a:latin typeface="Arial"/>
              </a:defRPr>
            </a:pPr>
            <a:r>
              <a:rPr>
                <a:solidFill>
                  <a:srgbClr val="FFFFFF"/>
                </a:solidFill>
                <a:latin typeface="Arial"/>
              </a:rPr>
              <a:t>W06-L01  •  TEACH  •  12:55 PM–1:10 PM  •  15 MIN TOTAL</a:t>
            </a:r>
            <a:endParaRPr lang="en-US" sz="1200" dirty="0"/>
          </a:p>
        </p:txBody>
      </p:sp>
      <p:sp>
        <p:nvSpPr>
          <p:cNvPr id="4" name="Text 2"/>
          <p:cNvSpPr/>
          <p:nvPr/>
        </p:nvSpPr>
        <p:spPr>
          <a:xfrm>
            <a:off x="609585" y="781050"/>
            <a:ext cx="10972526" cy="428625"/>
          </a:xfrm>
          <a:prstGeom prst="rect">
            <a:avLst/>
          </a:prstGeom>
          <a:noFill/>
          <a:ln/>
        </p:spPr>
        <p:txBody>
          <a:bodyPr wrap="square" lIns="0" tIns="0" rIns="0" bIns="0" rtlCol="0" anchor="t"/>
          <a:lstStyle/>
          <a:p>
            <a:pPr marL="0" indent="0" algn="l">
              <a:buNone/>
            </a:pPr>
            <a:r>
              <a:rPr lang="en-US" sz="3000" b="1" dirty="0">
                <a:solidFill>
                  <a:srgbClr val="FFFFFF"/>
                </a:solidFill>
                <a:latin typeface="Arial" pitchFamily="34" charset="0"/>
                <a:ea typeface="Arial" pitchFamily="34" charset="-122"/>
                <a:cs typeface="Arial" pitchFamily="34" charset="-120"/>
              </a:rPr>
              <a:t>Turn floor area into a sheet quantity</a:t>
            </a:r>
            <a:endParaRPr lang="en-US" sz="3000" dirty="0"/>
          </a:p>
        </p:txBody>
      </p:sp>
      <p:sp>
        <p:nvSpPr>
          <p:cNvPr id="5" name="Text 3"/>
          <p:cNvSpPr/>
          <p:nvPr/>
        </p:nvSpPr>
        <p:spPr>
          <a:xfrm>
            <a:off x="609585" y="1714500"/>
            <a:ext cx="10972526" cy="1119783"/>
          </a:xfrm>
          <a:prstGeom prst="rect">
            <a:avLst/>
          </a:prstGeom>
          <a:noFill/>
          <a:ln/>
        </p:spPr>
        <p:txBody>
          <a:bodyPr wrap="square" lIns="0" tIns="0" rIns="0" bIns="0" rtlCol="0" anchor="t"/>
          <a:lstStyle/>
          <a:p>
            <a:pPr marL="0" indent="0" algn="l">
              <a:buNone/>
            </a:pPr>
            <a:r>
              <a:rPr lang="en-US" sz="2100" dirty="0">
                <a:solidFill>
                  <a:srgbClr val="201C19"/>
                </a:solidFill>
                <a:latin typeface="Arial" pitchFamily="34" charset="0"/>
                <a:ea typeface="Arial" pitchFamily="34" charset="-122"/>
                <a:cs typeface="Arial" pitchFamily="34" charset="-120"/>
              </a:rPr>
              <a:t>Floor: 7.2 m × 3.6 m = 25.92 m²</a:t>
            </a:r>
            <a:endParaRPr lang="en-US" sz="2100" dirty="0"/>
          </a:p>
          <a:p>
            <a:pPr marL="0" indent="0" algn="l">
              <a:buNone/>
            </a:pPr>
            <a:r>
              <a:rPr lang="en-US" sz="2100" dirty="0">
                <a:solidFill>
                  <a:srgbClr val="201C19"/>
                </a:solidFill>
                <a:latin typeface="Arial" pitchFamily="34" charset="0"/>
                <a:ea typeface="Arial" pitchFamily="34" charset="-122"/>
                <a:cs typeface="Arial" pitchFamily="34" charset="-120"/>
              </a:rPr>
              <a:t>One sheet: 1.2 m × 2.4 m = 2.88 m²</a:t>
            </a:r>
            <a:endParaRPr lang="en-US" sz="2100" dirty="0"/>
          </a:p>
          <a:p>
            <a:pPr marL="0" indent="0" algn="l">
              <a:buNone/>
            </a:pPr>
            <a:r>
              <a:rPr lang="en-US" sz="2100" dirty="0">
                <a:solidFill>
                  <a:srgbClr val="201C19"/>
                </a:solidFill>
                <a:latin typeface="Arial" pitchFamily="34" charset="0"/>
                <a:ea typeface="Arial" pitchFamily="34" charset="-122"/>
                <a:cs typeface="Arial" pitchFamily="34" charset="-120"/>
              </a:rPr>
              <a:t>No-waste quantity: 25.92 ÷ 2.88 = 9 sheets</a:t>
            </a:r>
            <a:endParaRPr lang="en-US" sz="2100" dirty="0"/>
          </a:p>
        </p:txBody>
      </p:sp>
      <p:sp>
        <p:nvSpPr>
          <p:cNvPr id="6" name="Text 4"/>
          <p:cNvSpPr/>
          <p:nvPr/>
        </p:nvSpPr>
        <p:spPr>
          <a:xfrm>
            <a:off x="609585" y="3238500"/>
            <a:ext cx="10972526" cy="959941"/>
          </a:xfrm>
          <a:prstGeom prst="rect">
            <a:avLst/>
          </a:prstGeom>
          <a:noFill/>
          <a:ln/>
        </p:spPr>
        <p:txBody>
          <a:bodyPr wrap="square" lIns="0" tIns="0" rIns="0" bIns="0" rtlCol="0" anchor="t"/>
          <a:lstStyle/>
          <a:p>
            <a:pPr marL="0" indent="0" algn="l">
              <a:buNone/>
            </a:pPr>
            <a:r>
              <a:rPr lang="en-US" sz="1800" dirty="0">
                <a:solidFill>
                  <a:srgbClr val="201C19"/>
                </a:solidFill>
                <a:latin typeface="Arial" pitchFamily="34" charset="0"/>
                <a:ea typeface="Arial" pitchFamily="34" charset="-122"/>
                <a:cs typeface="Arial" pitchFamily="34" charset="-120"/>
              </a:rPr>
              <a:t>What the result means • This is a no-waste classroom calculation.</a:t>
            </a:r>
            <a:endParaRPr lang="en-US" sz="1800" dirty="0"/>
          </a:p>
          <a:p>
            <a:pPr marL="0" indent="0" algn="l">
              <a:buNone/>
            </a:pPr>
            <a:r>
              <a:rPr lang="en-US" sz="1800" dirty="0">
                <a:solidFill>
                  <a:srgbClr val="201C19"/>
                </a:solidFill>
                <a:latin typeface="Arial" pitchFamily="34" charset="0"/>
                <a:ea typeface="Arial" pitchFamily="34" charset="-122"/>
                <a:cs typeface="Arial" pitchFamily="34" charset="-120"/>
              </a:rPr>
              <a:t>An area quotient is not automatically a workable cutting plan.</a:t>
            </a:r>
            <a:endParaRPr lang="en-US" sz="1800" dirty="0"/>
          </a:p>
          <a:p>
            <a:pPr marL="0" indent="0" algn="l">
              <a:buNone/>
            </a:pPr>
            <a:r>
              <a:rPr lang="en-US" sz="1800" dirty="0">
                <a:solidFill>
                  <a:srgbClr val="201C19"/>
                </a:solidFill>
                <a:latin typeface="Arial" pitchFamily="34" charset="0"/>
                <a:ea typeface="Arial" pitchFamily="34" charset="-122"/>
                <a:cs typeface="Arial" pitchFamily="34" charset="-120"/>
              </a:rPr>
              <a:t>Keep the sheet dimensions and layout assumptions visible.</a:t>
            </a:r>
            <a:endParaRPr lang="en-US" sz="1800" dirty="0"/>
          </a:p>
        </p:txBody>
      </p:sp>
      <p:sp>
        <p:nvSpPr>
          <p:cNvPr id="7" name="Text 5"/>
          <p:cNvSpPr/>
          <p:nvPr/>
        </p:nvSpPr>
        <p:spPr>
          <a:xfrm>
            <a:off x="609585" y="4714875"/>
            <a:ext cx="10972526" cy="959941"/>
          </a:xfrm>
          <a:prstGeom prst="rect">
            <a:avLst/>
          </a:prstGeom>
          <a:noFill/>
          <a:ln/>
        </p:spPr>
        <p:txBody>
          <a:bodyPr wrap="square" lIns="0" tIns="0" rIns="0" bIns="0" rtlCol="0" anchor="t"/>
          <a:lstStyle/>
          <a:p>
            <a:pPr marL="0" indent="0" algn="l">
              <a:buNone/>
            </a:pPr>
            <a:r>
              <a:rPr lang="en-US" sz="1800" dirty="0">
                <a:solidFill>
                  <a:srgbClr val="201C19"/>
                </a:solidFill>
                <a:latin typeface="Arial" pitchFamily="34" charset="0"/>
                <a:ea typeface="Arial" pitchFamily="34" charset="-122"/>
                <a:cs typeface="Arial" pitchFamily="34" charset="-120"/>
              </a:rPr>
              <a:t>Together • Work 10A Q2–4,7–8. Label perpendicular heights.</a:t>
            </a:r>
            <a:endParaRPr lang="en-US" sz="1800" dirty="0"/>
          </a:p>
          <a:p>
            <a:pPr marL="0" indent="0" algn="l">
              <a:buNone/>
            </a:pPr>
            <a:r>
              <a:rPr lang="en-US" sz="1800" dirty="0">
                <a:solidFill>
                  <a:srgbClr val="201C19"/>
                </a:solidFill>
                <a:latin typeface="Arial" pitchFamily="34" charset="0"/>
                <a:ea typeface="Arial" pitchFamily="34" charset="-122"/>
                <a:cs typeface="Arial" pitchFamily="34" charset="-120"/>
              </a:rPr>
              <a:t>Shape Canvas: compare a rectangle and a right triangle with the same</a:t>
            </a:r>
            <a:endParaRPr lang="en-US" sz="1800" dirty="0"/>
          </a:p>
          <a:p>
            <a:pPr marL="0" indent="0" algn="l">
              <a:buNone/>
            </a:pPr>
            <a:r>
              <a:rPr lang="en-US" sz="1800" dirty="0">
                <a:solidFill>
                  <a:srgbClr val="201C19"/>
                </a:solidFill>
                <a:latin typeface="Arial" pitchFamily="34" charset="0"/>
                <a:ea typeface="Arial" pitchFamily="34" charset="-122"/>
                <a:cs typeface="Arial" pitchFamily="34" charset="-120"/>
              </a:rPr>
              <a:t>base and height. Predict why the triangle has half the area.</a:t>
            </a:r>
            <a:endParaRPr lang="en-US" sz="1800" dirty="0"/>
          </a:p>
        </p:txBody>
      </p:sp>
      <p:sp>
        <p:nvSpPr>
          <p:cNvPr id="8" name="Text 6"/>
          <p:cNvSpPr/>
          <p:nvPr/>
        </p:nvSpPr>
        <p:spPr>
          <a:xfrm>
            <a:off x="609585" y="6345936"/>
            <a:ext cx="10881360" cy="186630"/>
          </a:xfrm>
          <a:prstGeom prst="rect">
            <a:avLst/>
          </a:prstGeom>
          <a:noFill/>
          <a:ln/>
        </p:spPr>
        <p:txBody>
          <a:bodyPr wrap="square" lIns="0" tIns="0" rIns="0" bIns="0" rtlCol="0" anchor="t"/>
          <a:lstStyle/>
          <a:p>
            <a:pPr marL="0" indent="0" algn="l">
              <a:buNone/>
            </a:pPr>
            <a:r>
              <a:rPr lang="en-US" sz="1050" dirty="0">
                <a:solidFill>
                  <a:srgbClr val="62564B"/>
                </a:solidFill>
                <a:latin typeface="Arial" pitchFamily="34" charset="0"/>
                <a:ea typeface="Arial" pitchFamily="34" charset="-122"/>
                <a:cs typeface="Arial" pitchFamily="34" charset="-120"/>
              </a:rPr>
              <a:t>Exercise Book 10B Q1 p.65 • Numeracy Hub → Volume and Layout → Area and perimeter</a:t>
            </a:r>
            <a:endParaRPr lang="en-US" sz="1050" dirty="0"/>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Rectangle 9"/>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18  •  2026-11-30  •  07</a:t>
            </a:r>
          </a:p>
        </p:txBody>
      </p:sp>
    </p:spTree>
    <p:extLst>
      <p:ext uri="{BB962C8B-B14F-4D97-AF65-F5344CB8AC3E}">
        <p14:creationId xmlns:p14="http://schemas.microsoft.com/office/powerpoint/2010/main" val="2839120278"/>
      </p:ext>
    </p:extLst>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 y="1700784"/>
            <a:ext cx="50292" cy="414223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W06-L01  •  TEACH  •  12:55 PM–1:10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Textbook  |  page 156</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10.1–10.3 pp.154–157; sections 7.4 pp.113–115</a:t>
            </a:r>
          </a:p>
        </p:txBody>
      </p:sp>
      <p:pic>
        <p:nvPicPr>
          <p:cNvPr id="5" name="Picture 4" descr="W06-L01.png"/>
          <p:cNvPicPr>
            <a:picLocks noChangeAspect="1"/>
          </p:cNvPicPr>
          <p:nvPr/>
        </p:nvPicPr>
        <p:blipFill>
          <a:blip r:embed="rId3"/>
          <a:stretch>
            <a:fillRect/>
          </a:stretch>
        </p:blipFill>
        <p:spPr>
          <a:xfrm>
            <a:off x="685800" y="2357526"/>
            <a:ext cx="10698480" cy="2737306"/>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spAutoFit/>
          </a:bodyPr>
          <a:lstStyle/>
          <a:p>
            <a:pPr>
              <a:spcBef>
                <a:spcPts val="0"/>
              </a:spcBef>
              <a:spcAft>
                <a:spcPts val="300"/>
              </a:spcAft>
              <a:defRPr sz="1400" b="0">
                <a:solidFill>
                  <a:srgbClr val="4A4E54"/>
                </a:solidFill>
                <a:latin typeface="Arial"/>
              </a:defRPr>
            </a:pPr>
            <a:r>
              <a:rPr>
                <a:solidFill>
                  <a:srgbClr val="F7F4F1"/>
                </a:solidFill>
                <a:latin typeface="Arial"/>
              </a:rPr>
              <a:t>Textbook p.156 • Figure 10.3 — Equal base and perpendicular height</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18  •  2026-11-30  •  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 y="1700784"/>
            <a:ext cx="50292" cy="414223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W06-L01  •  TEACH  •  12:55 PM–1:10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Textbook  |  page 155</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10.1–10.3 pp.154–157; sections 7.4 pp.113–115</a:t>
            </a:r>
          </a:p>
        </p:txBody>
      </p:sp>
      <p:pic>
        <p:nvPicPr>
          <p:cNvPr id="5" name="Picture 4" descr="W06-L01-2.png"/>
          <p:cNvPicPr>
            <a:picLocks noChangeAspect="1"/>
          </p:cNvPicPr>
          <p:nvPr/>
        </p:nvPicPr>
        <p:blipFill>
          <a:blip r:embed="rId3"/>
          <a:stretch>
            <a:fillRect/>
          </a:stretch>
        </p:blipFill>
        <p:spPr>
          <a:xfrm>
            <a:off x="685800" y="1935866"/>
            <a:ext cx="10698480" cy="3580627"/>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spAutoFit/>
          </a:bodyPr>
          <a:lstStyle/>
          <a:p>
            <a:pPr>
              <a:spcBef>
                <a:spcPts val="0"/>
              </a:spcBef>
              <a:spcAft>
                <a:spcPts val="300"/>
              </a:spcAft>
              <a:defRPr sz="1400" b="0">
                <a:solidFill>
                  <a:srgbClr val="4A4E54"/>
                </a:solidFill>
                <a:latin typeface="Arial"/>
              </a:defRPr>
            </a:pPr>
            <a:r>
              <a:rPr>
                <a:solidFill>
                  <a:srgbClr val="F7F4F1"/>
                </a:solidFill>
                <a:latin typeface="Arial"/>
              </a:rPr>
              <a:t>Textbook p.155 • Example 10.1 — Rectangle area and squared unit conversion</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18  •  2026-11-30  •  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5A1018"/>
        </a:solidFill>
        <a:effectLst/>
      </p:bgPr>
    </p:bg>
    <p:spTree>
      <p:nvGrpSpPr>
        <p:cNvPr id="1" name=""/>
        <p:cNvGrpSpPr/>
        <p:nvPr/>
      </p:nvGrpSpPr>
      <p:grpSpPr/>
      <p:sp>
        <p:nvSpPr>
          <p:cNvPr id="15" name="Rectangle 14"/>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93776" y="4453128"/>
            <a:ext cx="11192256" cy="1481328"/>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93776" y="4453128"/>
            <a:ext cx="64008" cy="1481328"/>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W06-L01  •  TEACH  •  12:55 PM–1:10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Spot the mistake. Explain the correction.</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10.1–10.3 pp.154–157; sections 7.4 pp.113–115</a:t>
            </a:r>
          </a:p>
        </p:txBody>
      </p:sp>
      <p:sp>
        <p:nvSpPr>
          <p:cNvPr id="5" name="TextBox 4"/>
          <p:cNvSpPr txBox="1"/>
          <p:nvPr/>
        </p:nvSpPr>
        <p:spPr>
          <a:xfrm>
            <a:off x="612648" y="1847088"/>
            <a:ext cx="10927080" cy="1554480"/>
          </a:xfrm>
          <a:prstGeom prst="rect">
            <a:avLst/>
          </a:prstGeom>
          <a:noFill/>
        </p:spPr>
        <p:txBody>
          <a:bodyPr wrap="square" lIns="0" rIns="0" tIns="0" bIns="0">
            <a:spAutoFit/>
          </a:bodyPr>
          <a:lstStyle/>
          <a:p>
            <a:pPr>
              <a:spcBef>
                <a:spcPts val="0"/>
              </a:spcBef>
              <a:spcAft>
                <a:spcPts val="300"/>
              </a:spcAft>
              <a:defRPr sz="2600" b="1">
                <a:solidFill>
                  <a:srgbClr val="1A1A1A"/>
                </a:solidFill>
                <a:latin typeface="Arial"/>
              </a:defRPr>
            </a:pPr>
            <a:r>
              <a:rPr>
                <a:solidFill>
                  <a:srgbClr val="FFFFFF"/>
                </a:solidFill>
                <a:latin typeface="Arial"/>
              </a:rPr>
              <a:t>Can an area in m² be converted to mm² by multiplying by 1,000?</a:t>
            </a:r>
          </a:p>
        </p:txBody>
      </p:sp>
      <p:sp>
        <p:nvSpPr>
          <p:cNvPr id="6" name="TextBox 5"/>
          <p:cNvSpPr txBox="1"/>
          <p:nvPr/>
        </p:nvSpPr>
        <p:spPr>
          <a:xfrm>
            <a:off x="612648" y="3703320"/>
            <a:ext cx="10927080" cy="411480"/>
          </a:xfrm>
          <a:prstGeom prst="rect">
            <a:avLst/>
          </a:prstGeom>
          <a:noFill/>
        </p:spPr>
        <p:txBody>
          <a:bodyPr wrap="square" lIns="0" rIns="0" tIns="0" bIns="0">
            <a:spAutoFit/>
          </a:bodyPr>
          <a:lstStyle/>
          <a:p>
            <a:pPr>
              <a:spcBef>
                <a:spcPts val="0"/>
              </a:spcBef>
              <a:spcAft>
                <a:spcPts val="300"/>
              </a:spcAft>
              <a:defRPr sz="2000" b="0">
                <a:solidFill>
                  <a:srgbClr val="D2181F"/>
                </a:solidFill>
                <a:latin typeface="Arial"/>
              </a:defRPr>
            </a:pPr>
            <a:r>
              <a:rPr>
                <a:solidFill>
                  <a:srgbClr val="FFFFFF"/>
                </a:solidFill>
                <a:latin typeface="Arial"/>
              </a:rPr>
              <a:t>Discuss the method before checking the answer.</a:t>
            </a:r>
          </a:p>
        </p:txBody>
      </p:sp>
      <p:sp>
        <p:nvSpPr>
          <p:cNvPr id="7" name="TextBox 6"/>
          <p:cNvSpPr txBox="1"/>
          <p:nvPr/>
        </p:nvSpPr>
        <p:spPr>
          <a:xfrm>
            <a:off x="612648" y="4617720"/>
            <a:ext cx="10927080" cy="1188720"/>
          </a:xfrm>
          <a:prstGeom prst="rect">
            <a:avLst/>
          </a:prstGeom>
          <a:noFill/>
        </p:spPr>
        <p:txBody>
          <a:bodyPr wrap="square" lIns="0" rIns="0" tIns="0" bIns="0">
            <a:spAutoFit/>
          </a:bodyPr>
          <a:lstStyle/>
          <a:p>
            <a:pPr>
              <a:spcBef>
                <a:spcPts val="0"/>
              </a:spcBef>
              <a:spcAft>
                <a:spcPts val="300"/>
              </a:spcAft>
              <a:defRPr sz="2200" b="0">
                <a:solidFill>
                  <a:srgbClr val="4A4E54"/>
                </a:solidFill>
                <a:latin typeface="Arial"/>
              </a:defRPr>
            </a:pPr>
            <a:r>
              <a:rPr b="1">
                <a:solidFill>
                  <a:srgbClr val="201C19"/>
                </a:solidFill>
                <a:latin typeface="Arial"/>
              </a:rPr>
              <a:t>No. Both dimensions change by 1,000, so the area factor is 1,000 squared.</a:t>
            </a:r>
          </a:p>
        </p:txBody>
      </p:sp>
      <p:pic>
        <p:nvPicPr>
          <p:cNvPr id="8" name="Picture 7" descr="access-logo.png"/>
          <p:cNvPicPr>
            <a:picLocks noChangeAspect="1"/>
          </p:cNvPicPr>
          <p:nvPr/>
        </p:nvPicPr>
        <p:blipFill>
          <a:blip r:embed="rId3"/>
          <a:stretch>
            <a:fillRect/>
          </a:stretch>
        </p:blipFill>
        <p:spPr>
          <a:xfrm>
            <a:off x="10177272" y="146304"/>
            <a:ext cx="1371600" cy="689145"/>
          </a:xfrm>
          <a:prstGeom prst="rect">
            <a:avLst/>
          </a:prstGeom>
        </p:spPr>
      </p:pic>
      <p:sp>
        <p:nvSpPr>
          <p:cNvPr id="9" name="Rectangle 8"/>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0" name="TextBox 9"/>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1" name="TextBox 10"/>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2" name="TextBox 11"/>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3" name="TextBox 12"/>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4" name="TextBox 13"/>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18  •  2026-11-30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5A1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93776" y="1773936"/>
            <a:ext cx="64008" cy="224028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W06-L01  •  TOGETHER  •  1:10 PM–1:25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Work together</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sections 10.1–10.3 pp.154–157; sections 7.4 pp.113–115</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Work Exercise Book 10A Q2–4,7–8; learners label perpendicular height, not the sloping side.</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Work in pairs, alternating solver and checker. Write a diagram, formula, units and estimate.</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62564B"/>
                </a:solidFill>
                <a:latin typeface="Arial"/>
              </a:rPr>
              <a:t>Resources: Exercise Book 10A Q1–8 (p.63); 10B Q1,4 (p.65)</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Rectangle 9"/>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18  •  2026-11-30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 y="1773936"/>
            <a:ext cx="50292" cy="377647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W06-L01  •  TOGETHER  •  1:10 PM–1:25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Guided practice  |  10A Q2</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10.1–10.3 pp.154–157; sections 7.4 pp.113–115</a:t>
            </a:r>
          </a:p>
        </p:txBody>
      </p:sp>
      <p:pic>
        <p:nvPicPr>
          <p:cNvPr id="5" name="Picture 4" descr="10A-Q2.png"/>
          <p:cNvPicPr>
            <a:picLocks noChangeAspect="1"/>
          </p:cNvPicPr>
          <p:nvPr/>
        </p:nvPicPr>
        <p:blipFill>
          <a:blip r:embed="rId3"/>
          <a:stretch>
            <a:fillRect/>
          </a:stretch>
        </p:blipFill>
        <p:spPr>
          <a:xfrm>
            <a:off x="685800" y="3134106"/>
            <a:ext cx="10698480" cy="89154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Work with a partner. Take turns explaining the next step.</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18  •  2026-11-30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5" name="Rectangle 14"/>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12064" y="1764792"/>
            <a:ext cx="11173968" cy="16459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2064" y="1764792"/>
            <a:ext cx="50292"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512064" y="3511296"/>
            <a:ext cx="11173968" cy="2331720"/>
          </a:xfrm>
          <a:prstGeom prst="roundRect">
            <a:avLst>
              <a:gd name="adj" fmla="val 8000"/>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W06-L01  •  TOGETHER  •  1:10 PM–1:25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Compare your method  |  10A Q2</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10.1–10.3 pp.154–157; sections 7.4 pp.113–115</a:t>
            </a:r>
          </a:p>
        </p:txBody>
      </p:sp>
      <p:pic>
        <p:nvPicPr>
          <p:cNvPr id="5" name="Picture 4" descr="10A-Q2.png"/>
          <p:cNvPicPr>
            <a:picLocks noChangeAspect="1"/>
          </p:cNvPicPr>
          <p:nvPr/>
        </p:nvPicPr>
        <p:blipFill>
          <a:blip r:embed="rId3"/>
          <a:stretch>
            <a:fillRect/>
          </a:stretch>
        </p:blipFill>
        <p:spPr>
          <a:xfrm>
            <a:off x="685800" y="2091690"/>
            <a:ext cx="10698480" cy="891540"/>
          </a:xfrm>
          <a:prstGeom prst="rect">
            <a:avLst/>
          </a:prstGeom>
        </p:spPr>
      </p:pic>
      <p:sp>
        <p:nvSpPr>
          <p:cNvPr id="6" name="TextBox 5"/>
          <p:cNvSpPr txBox="1"/>
          <p:nvPr/>
        </p:nvSpPr>
        <p:spPr>
          <a:xfrm>
            <a:off x="685800" y="3611880"/>
            <a:ext cx="2743200" cy="320040"/>
          </a:xfrm>
          <a:prstGeom prst="rect">
            <a:avLst/>
          </a:prstGeom>
          <a:noFill/>
        </p:spPr>
        <p:txBody>
          <a:bodyPr wrap="square" lIns="0" rIns="0" tIns="0" bIns="0">
            <a:spAutoFit/>
          </a:bodyPr>
          <a:lstStyle/>
          <a:p>
            <a:pPr>
              <a:spcBef>
                <a:spcPts val="0"/>
              </a:spcBef>
              <a:spcAft>
                <a:spcPts val="300"/>
              </a:spcAft>
              <a:defRPr sz="1400" b="1">
                <a:solidFill>
                  <a:srgbClr val="D2181F"/>
                </a:solidFill>
                <a:latin typeface="Arial"/>
              </a:defRPr>
            </a:pPr>
            <a:r>
              <a:rPr b="1" sz="1300">
                <a:solidFill>
                  <a:srgbClr val="201C19"/>
                </a:solidFill>
                <a:latin typeface="Arial"/>
              </a:rPr>
              <a:t>CHECK TOGETHER</a:t>
            </a:r>
          </a:p>
        </p:txBody>
      </p:sp>
      <p:sp>
        <p:nvSpPr>
          <p:cNvPr id="7" name="TextBox 6"/>
          <p:cNvSpPr txBox="1"/>
          <p:nvPr/>
        </p:nvSpPr>
        <p:spPr>
          <a:xfrm>
            <a:off x="685800" y="4114800"/>
            <a:ext cx="10698480" cy="868680"/>
          </a:xfrm>
          <a:prstGeom prst="rect">
            <a:avLst/>
          </a:prstGeom>
          <a:noFill/>
        </p:spPr>
        <p:txBody>
          <a:bodyPr wrap="square" lIns="0" rIns="0" tIns="0" bIns="0">
            <a:spAutoFit/>
          </a:bodyPr>
          <a:lstStyle/>
          <a:p>
            <a:pPr>
              <a:spcBef>
                <a:spcPts val="0"/>
              </a:spcBef>
              <a:spcAft>
                <a:spcPts val="300"/>
              </a:spcAft>
              <a:defRPr sz="2700" b="1">
                <a:solidFill>
                  <a:srgbClr val="1A1A1A"/>
                </a:solidFill>
                <a:latin typeface="Arial"/>
              </a:defRPr>
            </a:pPr>
            <a:r>
              <a:rPr b="1" sz="3400">
                <a:solidFill>
                  <a:srgbClr val="201C19"/>
                </a:solidFill>
                <a:latin typeface="Arial"/>
              </a:rPr>
              <a:t>1.5 m²</a:t>
            </a:r>
          </a:p>
        </p:txBody>
      </p:sp>
      <p:pic>
        <p:nvPicPr>
          <p:cNvPr id="8" name="Picture 7"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Rectangle 8"/>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0" name="TextBox 9"/>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1" name="TextBox 10"/>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2" name="TextBox 11"/>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3" name="TextBox 12"/>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4" name="TextBox 13"/>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18  •  2026-11-30  •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5A1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93776" y="1773936"/>
            <a:ext cx="64008" cy="224028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W06-L01  •  PRACTISE  •  1:25 PM–1:45 PM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Your scheduled practice</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sections 10.1–10.3 pp.154–157; sections 7.4 pp.113–115</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Complete Exercise Book 10A Q5–6 and 10B Q1,4. On Shape Canvas, compare the two shapes’ areas. Keep the sheet count’s no-waste assumption explicit.</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Solve on paper first; check with tools; correct one error and explain the change.</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62564B"/>
                </a:solidFill>
                <a:latin typeface="Arial"/>
              </a:rPr>
              <a:t>Resources: Exercise Book 10A Q1–8 (p.63); 10B Q1,4 (p.65)</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Rectangle 9"/>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18  •  2026-11-30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664208"/>
            <a:ext cx="11173968" cy="427939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 y="1664208"/>
            <a:ext cx="50292" cy="427939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W06-L01  •  PRACTISE  •  1:25 PM–1:45 PM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Open Numeracy Hub</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10.1–10.3 pp.154–157; sections 7.4 pp.113–115</a:t>
            </a:r>
          </a:p>
        </p:txBody>
      </p:sp>
      <p:pic>
        <p:nvPicPr>
          <p:cNvPr id="5" name="Picture 4" descr="hub-vlm.png"/>
          <p:cNvPicPr>
            <a:picLocks noChangeAspect="1"/>
          </p:cNvPicPr>
          <p:nvPr/>
        </p:nvPicPr>
        <p:blipFill>
          <a:blip r:embed="rId3"/>
          <a:stretch>
            <a:fillRect/>
          </a:stretch>
        </p:blipFill>
        <p:spPr>
          <a:xfrm>
            <a:off x="3014776" y="1664208"/>
            <a:ext cx="6122822" cy="4251960"/>
          </a:xfrm>
          <a:prstGeom prst="rect">
            <a:avLst/>
          </a:prstGeom>
        </p:spPr>
      </p:pic>
      <p:sp>
        <p:nvSpPr>
          <p:cNvPr id="6" name="TextBox 5"/>
          <p:cNvSpPr txBox="1"/>
          <p:nvPr/>
        </p:nvSpPr>
        <p:spPr>
          <a:xfrm>
            <a:off x="612648" y="5998464"/>
            <a:ext cx="10927080" cy="256032"/>
          </a:xfrm>
          <a:prstGeom prst="rect">
            <a:avLst/>
          </a:prstGeom>
          <a:noFill/>
        </p:spPr>
        <p:txBody>
          <a:bodyPr wrap="square" lIns="0" rIns="0" tIns="0" bIns="0">
            <a:spAutoFit/>
          </a:bodyPr>
          <a:lstStyle/>
          <a:p>
            <a:pPr>
              <a:spcBef>
                <a:spcPts val="0"/>
              </a:spcBef>
              <a:spcAft>
                <a:spcPts val="300"/>
              </a:spcAft>
              <a:defRPr sz="1350" b="0">
                <a:solidFill>
                  <a:srgbClr val="4A4E54"/>
                </a:solidFill>
                <a:latin typeface="Arial"/>
              </a:defRPr>
            </a:pPr>
            <a:r>
              <a:rPr>
                <a:solidFill>
                  <a:srgbClr val="F7F4F1"/>
                </a:solidFill>
                <a:latin typeface="Arial"/>
              </a:rPr>
              <a:t>Navigation example. Use the values and units in the assigned task.</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18  •  2026-11-30  •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02920" y="1737360"/>
            <a:ext cx="11183112" cy="1197864"/>
          </a:xfrm>
          <a:prstGeom prst="roundRect">
            <a:avLst>
              <a:gd name="adj" fmla="val 8000"/>
            </a:avLst>
          </a:prstGeom>
          <a:solidFill>
            <a:srgbClr val="302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02920" y="3035808"/>
            <a:ext cx="11183112" cy="1197864"/>
          </a:xfrm>
          <a:prstGeom prst="roundRect">
            <a:avLst>
              <a:gd name="adj" fmla="val 8000"/>
            </a:avLst>
          </a:prstGeom>
          <a:solidFill>
            <a:srgbClr val="302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502920" y="4334256"/>
            <a:ext cx="11183112" cy="1197864"/>
          </a:xfrm>
          <a:prstGeom prst="roundRect">
            <a:avLst>
              <a:gd name="adj" fmla="val 8000"/>
            </a:avLst>
          </a:prstGeom>
          <a:solidFill>
            <a:srgbClr val="302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W06-L01  •  PRACTISE  •  1:25 PM–1:45 PM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Practise in Numeracy Hub and Shape Canvas</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10.1–10.3 pp.154–157; sections 7.4 pp.113–115</a:t>
            </a:r>
          </a:p>
        </p:txBody>
      </p:sp>
      <p:sp>
        <p:nvSpPr>
          <p:cNvPr id="5" name="Rectangle 4"/>
          <p:cNvSpPr/>
          <p:nvPr/>
        </p:nvSpPr>
        <p:spPr>
          <a:xfrm>
            <a:off x="658368" y="1828800"/>
            <a:ext cx="365760" cy="3657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1">
                <a:solidFill>
                  <a:srgbClr val="1A1A1A"/>
                </a:solidFill>
                <a:latin typeface="Arial"/>
              </a:defRPr>
            </a:pPr>
            <a:r>
              <a:rPr b="1" sz="2000">
                <a:solidFill>
                  <a:srgbClr val="201C19"/>
                </a:solidFill>
                <a:latin typeface="Arial"/>
              </a:rPr>
              <a:t>1</a:t>
            </a:r>
          </a:p>
        </p:txBody>
      </p:sp>
      <p:sp>
        <p:nvSpPr>
          <p:cNvPr id="6" name="TextBox 5"/>
          <p:cNvSpPr txBox="1"/>
          <p:nvPr/>
        </p:nvSpPr>
        <p:spPr>
          <a:xfrm>
            <a:off x="1234440" y="1828800"/>
            <a:ext cx="10149840" cy="109728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solidFill>
                  <a:srgbClr val="FFFFFF"/>
                </a:solidFill>
                <a:latin typeface="Arial"/>
              </a:rPr>
              <a:t>Create a rectangle and right triangle with equal base and height in Shape Canvas.</a:t>
            </a:r>
          </a:p>
        </p:txBody>
      </p:sp>
      <p:sp>
        <p:nvSpPr>
          <p:cNvPr id="7" name="Rectangle 6"/>
          <p:cNvSpPr/>
          <p:nvPr/>
        </p:nvSpPr>
        <p:spPr>
          <a:xfrm>
            <a:off x="658368" y="3127248"/>
            <a:ext cx="365760" cy="3657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1">
                <a:solidFill>
                  <a:srgbClr val="1A1A1A"/>
                </a:solidFill>
                <a:latin typeface="Arial"/>
              </a:defRPr>
            </a:pPr>
            <a:r>
              <a:rPr b="1" sz="2000">
                <a:solidFill>
                  <a:srgbClr val="201C19"/>
                </a:solidFill>
                <a:latin typeface="Arial"/>
              </a:rPr>
              <a:t>2</a:t>
            </a:r>
          </a:p>
        </p:txBody>
      </p:sp>
      <p:sp>
        <p:nvSpPr>
          <p:cNvPr id="8" name="TextBox 7"/>
          <p:cNvSpPr txBox="1"/>
          <p:nvPr/>
        </p:nvSpPr>
        <p:spPr>
          <a:xfrm>
            <a:off x="1234440" y="3127248"/>
            <a:ext cx="10149840" cy="109728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solidFill>
                  <a:srgbClr val="FFFFFF"/>
                </a:solidFill>
                <a:latin typeface="Arial"/>
              </a:rPr>
              <a:t>Calculate both areas on paper; explain why the triangle covers half as much.</a:t>
            </a:r>
          </a:p>
        </p:txBody>
      </p:sp>
      <p:sp>
        <p:nvSpPr>
          <p:cNvPr id="9" name="Rectangle 8"/>
          <p:cNvSpPr/>
          <p:nvPr/>
        </p:nvSpPr>
        <p:spPr>
          <a:xfrm>
            <a:off x="658368" y="4425696"/>
            <a:ext cx="365760" cy="3657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1">
                <a:solidFill>
                  <a:srgbClr val="1A1A1A"/>
                </a:solidFill>
                <a:latin typeface="Arial"/>
              </a:defRPr>
            </a:pPr>
            <a:r>
              <a:rPr b="1" sz="2000">
                <a:solidFill>
                  <a:srgbClr val="201C19"/>
                </a:solidFill>
                <a:latin typeface="Arial"/>
              </a:rPr>
              <a:t>3</a:t>
            </a:r>
          </a:p>
        </p:txBody>
      </p:sp>
      <p:sp>
        <p:nvSpPr>
          <p:cNvPr id="10" name="TextBox 9"/>
          <p:cNvSpPr txBox="1"/>
          <p:nvPr/>
        </p:nvSpPr>
        <p:spPr>
          <a:xfrm>
            <a:off x="1234440" y="4425696"/>
            <a:ext cx="10149840" cy="109728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solidFill>
                  <a:srgbClr val="FFFFFF"/>
                </a:solidFill>
                <a:latin typeface="Arial"/>
              </a:rPr>
              <a:t>Check the area method in Numeracy Hub Volume and Layout → Area and perimeter.</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2" name="Rectangle 11"/>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3" name="TextBox 12"/>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4" name="TextBox 13"/>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5" name="TextBox 14"/>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6" name="TextBox 15"/>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7" name="TextBox 16"/>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18  •  2026-11-30  •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 y="1773936"/>
            <a:ext cx="50292" cy="377647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W06-L01  •  PRACTISE  •  1:25 PM–1:45 PM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Practise from the Exercise Book  |  10A Q5</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10.1–10.3 pp.154–157; sections 7.4 pp.113–115</a:t>
            </a:r>
          </a:p>
        </p:txBody>
      </p:sp>
      <p:pic>
        <p:nvPicPr>
          <p:cNvPr id="5" name="Picture 4" descr="10A-Q5.png"/>
          <p:cNvPicPr>
            <a:picLocks noChangeAspect="1"/>
          </p:cNvPicPr>
          <p:nvPr/>
        </p:nvPicPr>
        <p:blipFill>
          <a:blip r:embed="rId3"/>
          <a:stretch>
            <a:fillRect/>
          </a:stretch>
        </p:blipFill>
        <p:spPr>
          <a:xfrm>
            <a:off x="685800" y="3134106"/>
            <a:ext cx="10698480" cy="89154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18  •  2026-11-30  •  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 y="1773936"/>
            <a:ext cx="50292" cy="377647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W06-L01  •  PRACTISE  •  1:25 PM–1:45 PM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Practise from the Exercise Book  |  10A Q6</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10.1–10.3 pp.154–157; sections 7.4 pp.113–115</a:t>
            </a:r>
          </a:p>
        </p:txBody>
      </p:sp>
      <p:pic>
        <p:nvPicPr>
          <p:cNvPr id="5" name="Picture 4" descr="10A-Q6.png"/>
          <p:cNvPicPr>
            <a:picLocks noChangeAspect="1"/>
          </p:cNvPicPr>
          <p:nvPr/>
        </p:nvPicPr>
        <p:blipFill>
          <a:blip r:embed="rId3"/>
          <a:stretch>
            <a:fillRect/>
          </a:stretch>
        </p:blipFill>
        <p:spPr>
          <a:xfrm>
            <a:off x="685800" y="3134106"/>
            <a:ext cx="10698480" cy="89154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18  •  2026-11-30  •  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5A1018"/>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93776" y="1773936"/>
            <a:ext cx="64008" cy="224028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W06-L01  •  CHECK  •  1:45 PM–1:55 PM  •  10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Check independently</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10.1–10.3 pp.154–157; sections 7.4 pp.113–115</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Exercise Book 10B Q1; show floor area, one-sheet area and sheet quantity.</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Solve without displayed answers; include working, units and final rounding.</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F7F4F1"/>
                </a:solidFill>
                <a:latin typeface="Arial"/>
              </a:rPr>
              <a:t>Resources: Exercise Book 10A Q1–8 (p.63); 10B Q1,4 (p.65)</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Rectangle 9"/>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18  •  2026-11-30  •  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 y="1773936"/>
            <a:ext cx="50292" cy="377647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W06-L01  •  CHECK  •  1:45 PM–1:55 PM  •  10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Independent check  |  10B Q1</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10.1–10.3 pp.154–157; sections 7.4 pp.113–115</a:t>
            </a:r>
          </a:p>
        </p:txBody>
      </p:sp>
      <p:pic>
        <p:nvPicPr>
          <p:cNvPr id="5" name="Picture 4" descr="10B-Q1.png"/>
          <p:cNvPicPr>
            <a:picLocks noChangeAspect="1"/>
          </p:cNvPicPr>
          <p:nvPr/>
        </p:nvPicPr>
        <p:blipFill>
          <a:blip r:embed="rId3"/>
          <a:stretch>
            <a:fillRect/>
          </a:stretch>
        </p:blipFill>
        <p:spPr>
          <a:xfrm>
            <a:off x="685800" y="2658618"/>
            <a:ext cx="10698480" cy="1842516"/>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18  •  2026-11-30  •  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93776" y="1773936"/>
            <a:ext cx="64008" cy="224028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W06-L01  •  WRAP UP  •  1:55 PM–2:00 PM  •  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Wrap up and choose the next step</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10.1–10.3 pp.154–157; sections 7.4 pp.113–115</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Ask: What changed in your understanding? Where will you use it? What should you check next time?</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Name the math and one other essential skill used; record a next practice step.</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F7F4F1"/>
                </a:solidFill>
                <a:latin typeface="Arial"/>
              </a:rPr>
              <a:t>Resources: Exercise Book 10A Q1–8 (p.63); 10B Q1,4 (p.65)</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Rectangle 9"/>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18  •  2026-11-30  •  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93776" y="1773936"/>
            <a:ext cx="11192256" cy="2240280"/>
          </a:xfrm>
          <a:prstGeom prst="roundRect">
            <a:avLst>
              <a:gd name="adj" fmla="val 8000"/>
            </a:avLst>
          </a:prstGeom>
          <a:solidFill>
            <a:srgbClr val="5A1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93776" y="1773936"/>
            <a:ext cx="64008" cy="224028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57200"/>
            <a:ext cx="9418320" cy="274320"/>
          </a:xfrm>
          <a:prstGeom prst="rect">
            <a:avLst/>
          </a:prstGeom>
          <a:noFill/>
        </p:spPr>
        <p:txBody>
          <a:bodyPr wrap="square" lIns="0" rIns="0" tIns="0" bIns="0">
            <a:spAutoFit/>
          </a:bodyPr>
          <a:lstStyle/>
          <a:p>
            <a:pPr>
              <a:spcBef>
                <a:spcPts val="0"/>
              </a:spcBef>
              <a:spcAft>
                <a:spcPts val="300"/>
              </a:spcAft>
              <a:defRPr sz="1200" b="1">
                <a:solidFill>
                  <a:srgbClr val="D2181F"/>
                </a:solidFill>
                <a:latin typeface="Arial"/>
              </a:defRPr>
            </a:pPr>
            <a:r>
              <a:rPr>
                <a:solidFill>
                  <a:srgbClr val="FFFFFF"/>
                </a:solidFill>
                <a:latin typeface="Arial"/>
              </a:rPr>
              <a:t>DAY 18  •  SCHEDULED BREAK</a:t>
            </a:r>
          </a:p>
        </p:txBody>
      </p:sp>
      <p:sp>
        <p:nvSpPr>
          <p:cNvPr id="3" name="TextBox 2"/>
          <p:cNvSpPr txBox="1"/>
          <p:nvPr/>
        </p:nvSpPr>
        <p:spPr>
          <a:xfrm>
            <a:off x="612648" y="1371600"/>
            <a:ext cx="10972800" cy="914400"/>
          </a:xfrm>
          <a:prstGeom prst="rect">
            <a:avLst/>
          </a:prstGeom>
          <a:noFill/>
        </p:spPr>
        <p:txBody>
          <a:bodyPr wrap="square" lIns="0" rIns="0" tIns="0" bIns="0">
            <a:spAutoFit/>
          </a:bodyPr>
          <a:lstStyle/>
          <a:p>
            <a:pPr>
              <a:spcBef>
                <a:spcPts val="0"/>
              </a:spcBef>
              <a:spcAft>
                <a:spcPts val="300"/>
              </a:spcAft>
              <a:defRPr sz="4400" b="1">
                <a:solidFill>
                  <a:srgbClr val="1A1A1A"/>
                </a:solidFill>
                <a:latin typeface="Arial"/>
              </a:defRPr>
            </a:pPr>
            <a:r>
              <a:rPr>
                <a:solidFill>
                  <a:srgbClr val="201C19"/>
                </a:solidFill>
                <a:latin typeface="Arial"/>
              </a:rPr>
              <a:t>Break</a:t>
            </a:r>
          </a:p>
        </p:txBody>
      </p:sp>
      <p:sp>
        <p:nvSpPr>
          <p:cNvPr id="4" name="TextBox 3"/>
          <p:cNvSpPr txBox="1"/>
          <p:nvPr/>
        </p:nvSpPr>
        <p:spPr>
          <a:xfrm>
            <a:off x="612648" y="2743200"/>
            <a:ext cx="10972800" cy="548640"/>
          </a:xfrm>
          <a:prstGeom prst="rect">
            <a:avLst/>
          </a:prstGeom>
          <a:noFill/>
        </p:spPr>
        <p:txBody>
          <a:bodyPr wrap="square" lIns="0" rIns="0" tIns="0" bIns="0">
            <a:spAutoFit/>
          </a:bodyPr>
          <a:lstStyle/>
          <a:p>
            <a:pPr>
              <a:spcBef>
                <a:spcPts val="0"/>
              </a:spcBef>
              <a:spcAft>
                <a:spcPts val="300"/>
              </a:spcAft>
              <a:defRPr sz="3200" b="0">
                <a:solidFill>
                  <a:srgbClr val="D2181F"/>
                </a:solidFill>
                <a:latin typeface="Arial"/>
              </a:defRPr>
            </a:pPr>
            <a:r>
              <a:rPr>
                <a:solidFill>
                  <a:srgbClr val="FFFFFF"/>
                </a:solidFill>
                <a:latin typeface="Arial"/>
              </a:rPr>
              <a:t>2:00 PM–2:15 PM</a:t>
            </a:r>
          </a:p>
        </p:txBody>
      </p:sp>
      <p:sp>
        <p:nvSpPr>
          <p:cNvPr id="5" name="TextBox 4"/>
          <p:cNvSpPr txBox="1"/>
          <p:nvPr/>
        </p:nvSpPr>
        <p:spPr>
          <a:xfrm>
            <a:off x="612648" y="3794760"/>
            <a:ext cx="10972800" cy="548640"/>
          </a:xfrm>
          <a:prstGeom prst="rect">
            <a:avLst/>
          </a:prstGeom>
          <a:noFill/>
        </p:spPr>
        <p:txBody>
          <a:bodyPr wrap="square" lIns="0" rIns="0" tIns="0" bIns="0">
            <a:spAutoFit/>
          </a:bodyPr>
          <a:lstStyle/>
          <a:p>
            <a:pPr>
              <a:spcBef>
                <a:spcPts val="0"/>
              </a:spcBef>
              <a:spcAft>
                <a:spcPts val="300"/>
              </a:spcAft>
              <a:defRPr sz="2300" b="0">
                <a:solidFill>
                  <a:srgbClr val="1A1A1A"/>
                </a:solidFill>
                <a:latin typeface="Arial"/>
              </a:defRPr>
            </a:pPr>
            <a:r>
              <a:rPr>
                <a:solidFill>
                  <a:srgbClr val="FFFFFF"/>
                </a:solidFill>
                <a:latin typeface="Arial"/>
              </a:rPr>
              <a:t>Return ready for: Composite areas, openings and surface coverage</a:t>
            </a:r>
          </a:p>
        </p:txBody>
      </p:sp>
      <p:sp>
        <p:nvSpPr>
          <p:cNvPr id="6" name="TextBox 5"/>
          <p:cNvSpPr txBox="1"/>
          <p:nvPr/>
        </p:nvSpPr>
        <p:spPr>
          <a:xfrm>
            <a:off x="612648" y="5212080"/>
            <a:ext cx="10972800" cy="457200"/>
          </a:xfrm>
          <a:prstGeom prst="rect">
            <a:avLst/>
          </a:prstGeom>
          <a:noFill/>
        </p:spPr>
        <p:txBody>
          <a:bodyPr wrap="square" lIns="0" rIns="0" tIns="0" bIns="0">
            <a:spAutoFit/>
          </a:bodyPr>
          <a:lstStyle/>
          <a:p>
            <a:pPr>
              <a:spcBef>
                <a:spcPts val="0"/>
              </a:spcBef>
              <a:spcAft>
                <a:spcPts val="300"/>
              </a:spcAft>
              <a:defRPr sz="1800" b="0">
                <a:solidFill>
                  <a:srgbClr val="4A4E54"/>
                </a:solidFill>
                <a:latin typeface="Arial"/>
              </a:defRPr>
            </a:pPr>
            <a:r>
              <a:rPr b="1">
                <a:solidFill>
                  <a:srgbClr val="201C19"/>
                </a:solidFill>
                <a:latin typeface="Arial"/>
              </a:rPr>
              <a:t>This break is excluded from teaching minutes.</a:t>
            </a:r>
          </a:p>
        </p:txBody>
      </p:sp>
      <p:pic>
        <p:nvPicPr>
          <p:cNvPr id="7" name="Picture 6" descr="access-logo.png"/>
          <p:cNvPicPr>
            <a:picLocks noChangeAspect="1"/>
          </p:cNvPicPr>
          <p:nvPr/>
        </p:nvPicPr>
        <p:blipFill>
          <a:blip r:embed="rId3"/>
          <a:stretch>
            <a:fillRect/>
          </a:stretch>
        </p:blipFill>
        <p:spPr>
          <a:xfrm>
            <a:off x="10177272" y="146304"/>
            <a:ext cx="1371600" cy="689145"/>
          </a:xfrm>
          <a:prstGeom prst="rect">
            <a:avLst/>
          </a:prstGeom>
        </p:spPr>
      </p:pic>
      <p:sp>
        <p:nvSpPr>
          <p:cNvPr id="8" name="Rectangle 7"/>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18  •  2026-11-30  •  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5A1018"/>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21207" y="1801368"/>
            <a:ext cx="50292" cy="1207008"/>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W06-L02  •  START  •  2:15 PM–2:20 PM  •  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Composite areas, openings and surface coverage</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10.4–10.7 pp.158–164</a:t>
            </a:r>
          </a:p>
        </p:txBody>
      </p:sp>
      <p:sp>
        <p:nvSpPr>
          <p:cNvPr id="5" name="TextBox 4"/>
          <p:cNvSpPr txBox="1"/>
          <p:nvPr/>
        </p:nvSpPr>
        <p:spPr>
          <a:xfrm>
            <a:off x="612648" y="1856231"/>
            <a:ext cx="10927080" cy="1005840"/>
          </a:xfrm>
          <a:prstGeom prst="rect">
            <a:avLst/>
          </a:prstGeom>
          <a:noFill/>
        </p:spPr>
        <p:txBody>
          <a:bodyPr wrap="square" lIns="0" rIns="0" tIns="0" bIns="0">
            <a:spAutoFit/>
          </a:bodyPr>
          <a:lstStyle/>
          <a:p>
            <a:pPr>
              <a:spcBef>
                <a:spcPts val="0"/>
              </a:spcBef>
              <a:spcAft>
                <a:spcPts val="300"/>
              </a:spcAft>
              <a:defRPr sz="2400" b="1">
                <a:solidFill>
                  <a:srgbClr val="1A1A1A"/>
                </a:solidFill>
                <a:latin typeface="Arial"/>
              </a:defRPr>
            </a:pPr>
            <a:r>
              <a:rPr b="1">
                <a:solidFill>
                  <a:srgbClr val="FFFFFF"/>
                </a:solidFill>
                <a:latin typeface="Arial"/>
              </a:rPr>
              <a:t>Today’s goal: Break a composite shape into known parts and subtract openings before estimating coverage.</a:t>
            </a:r>
          </a:p>
        </p:txBody>
      </p:sp>
      <p:sp>
        <p:nvSpPr>
          <p:cNvPr id="6" name="TextBox 5"/>
          <p:cNvSpPr txBox="1"/>
          <p:nvPr/>
        </p:nvSpPr>
        <p:spPr>
          <a:xfrm>
            <a:off x="612648" y="3154680"/>
            <a:ext cx="10927080" cy="59436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solidFill>
                  <a:srgbClr val="FFFFFF"/>
                </a:solidFill>
                <a:latin typeface="Arial"/>
              </a:rPr>
              <a:t>Describe a prior use of the skill; identify the given and unknown quantities.</a:t>
            </a:r>
          </a:p>
        </p:txBody>
      </p:sp>
      <p:sp>
        <p:nvSpPr>
          <p:cNvPr id="7" name="Rectangle 6"/>
          <p:cNvSpPr/>
          <p:nvPr/>
        </p:nvSpPr>
        <p:spPr>
          <a:xfrm>
            <a:off x="612648" y="4114800"/>
            <a:ext cx="10927080" cy="1371600"/>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8" name="TextBox 7"/>
          <p:cNvSpPr txBox="1"/>
          <p:nvPr/>
        </p:nvSpPr>
        <p:spPr>
          <a:xfrm>
            <a:off x="841248" y="4297680"/>
            <a:ext cx="10424160" cy="457200"/>
          </a:xfrm>
          <a:prstGeom prst="rect">
            <a:avLst/>
          </a:prstGeom>
          <a:noFill/>
        </p:spPr>
        <p:txBody>
          <a:bodyPr wrap="square" lIns="0" rIns="0" tIns="0" bIns="0">
            <a:spAutoFit/>
          </a:bodyPr>
          <a:lstStyle/>
          <a:p>
            <a:pPr>
              <a:spcBef>
                <a:spcPts val="0"/>
              </a:spcBef>
              <a:spcAft>
                <a:spcPts val="300"/>
              </a:spcAft>
              <a:defRPr sz="1700" b="0">
                <a:solidFill>
                  <a:srgbClr val="1A1A1A"/>
                </a:solidFill>
                <a:latin typeface="Arial"/>
              </a:defRPr>
            </a:pPr>
            <a:r>
              <a:rPr>
                <a:solidFill>
                  <a:srgbClr val="201C19"/>
                </a:solidFill>
                <a:latin typeface="Arial"/>
              </a:rPr>
              <a:t>Textbook sections 10.4–10.7 pp.158–164</a:t>
            </a:r>
          </a:p>
        </p:txBody>
      </p:sp>
      <p:sp>
        <p:nvSpPr>
          <p:cNvPr id="9" name="TextBox 8"/>
          <p:cNvSpPr txBox="1"/>
          <p:nvPr/>
        </p:nvSpPr>
        <p:spPr>
          <a:xfrm>
            <a:off x="841248" y="4901184"/>
            <a:ext cx="10424160" cy="457200"/>
          </a:xfrm>
          <a:prstGeom prst="rect">
            <a:avLst/>
          </a:prstGeom>
          <a:noFill/>
        </p:spPr>
        <p:txBody>
          <a:bodyPr wrap="square" lIns="0" rIns="0" tIns="0" bIns="0">
            <a:spAutoFit/>
          </a:bodyPr>
          <a:lstStyle/>
          <a:p>
            <a:pPr>
              <a:spcBef>
                <a:spcPts val="0"/>
              </a:spcBef>
              <a:spcAft>
                <a:spcPts val="300"/>
              </a:spcAft>
              <a:defRPr sz="1600" b="0">
                <a:solidFill>
                  <a:srgbClr val="4A4E54"/>
                </a:solidFill>
                <a:latin typeface="Arial"/>
              </a:defRPr>
            </a:pPr>
            <a:r>
              <a:rPr>
                <a:solidFill>
                  <a:srgbClr val="201C19"/>
                </a:solidFill>
                <a:latin typeface="Arial"/>
              </a:rPr>
              <a:t>Exercise Book 10A Q10–12 (p.64); 10B Q2 (p.65), Q11–12 (p.66); 10C Q4 (p.67)</a:t>
            </a:r>
          </a:p>
        </p:txBody>
      </p:sp>
      <p:sp>
        <p:nvSpPr>
          <p:cNvPr id="10" name="TextBox 9"/>
          <p:cNvSpPr txBox="1"/>
          <p:nvPr/>
        </p:nvSpPr>
        <p:spPr>
          <a:xfrm>
            <a:off x="612648" y="5806440"/>
            <a:ext cx="10927080" cy="411480"/>
          </a:xfrm>
          <a:prstGeom prst="rect">
            <a:avLst/>
          </a:prstGeom>
          <a:noFill/>
        </p:spPr>
        <p:txBody>
          <a:bodyPr wrap="square" lIns="0" rIns="0" tIns="0" bIns="0">
            <a:spAutoFit/>
          </a:bodyPr>
          <a:lstStyle/>
          <a:p>
            <a:pPr>
              <a:spcBef>
                <a:spcPts val="0"/>
              </a:spcBef>
              <a:spcAft>
                <a:spcPts val="300"/>
              </a:spcAft>
              <a:defRPr sz="1700" b="0">
                <a:solidFill>
                  <a:srgbClr val="D2181F"/>
                </a:solidFill>
                <a:latin typeface="Arial"/>
              </a:defRPr>
            </a:pPr>
            <a:r>
              <a:rPr>
                <a:solidFill>
                  <a:srgbClr val="F7F4F1"/>
                </a:solidFill>
                <a:latin typeface="Arial"/>
              </a:rPr>
              <a:t>Keep your notebook, textbook, exercise book and chosen calculator ready.</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2" name="Rectangle 11"/>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3" name="TextBox 12"/>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4" name="TextBox 13"/>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5" name="TextBox 14"/>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6" name="TextBox 15"/>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7" name="TextBox 16"/>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18  •  2026-11-30  •  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5A1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93776" y="1773936"/>
            <a:ext cx="64008" cy="224028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W06-L02  •  RECALL  •  2:20 PM–2:25 PM  •  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Recall and reconnect</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sections 10.4–10.7 pp.158–164</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Show a panel with a hole; ask which area is added and which is subtracted.</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Attempt the retrieval task independently; explain the method before checking.</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62564B"/>
                </a:solidFill>
                <a:latin typeface="Arial"/>
              </a:rPr>
              <a:t>Resources: Exercise Book 10A Q10–12 (p.64); 10B Q2 (p.65), Q11–12 (p.66); 10C Q4 (p.67)</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Rectangle 9"/>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18  •  2026-11-30  •  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2648" y="1865376"/>
            <a:ext cx="50292" cy="190195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217920" y="1865376"/>
            <a:ext cx="50292" cy="190195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12648" y="3895344"/>
            <a:ext cx="50292" cy="190195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217920" y="3895344"/>
            <a:ext cx="50292" cy="190195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W06-L02  •  TEACH  •  2:25 PM–2:40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Build a composite area from known pieces</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sections 10.4–10.7 pp.158–164</a:t>
            </a:r>
          </a:p>
        </p:txBody>
      </p:sp>
      <p:sp>
        <p:nvSpPr>
          <p:cNvPr id="5" name="Rectangle 4"/>
          <p:cNvSpPr/>
          <p:nvPr/>
        </p:nvSpPr>
        <p:spPr>
          <a:xfrm>
            <a:off x="795528" y="2029968"/>
            <a:ext cx="393192" cy="39319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FFFFFF"/>
                </a:solidFill>
                <a:latin typeface="Arial"/>
              </a:rPr>
              <a:t>1</a:t>
            </a:r>
          </a:p>
        </p:txBody>
      </p:sp>
      <p:sp>
        <p:nvSpPr>
          <p:cNvPr id="6" name="TextBox 5"/>
          <p:cNvSpPr txBox="1"/>
          <p:nvPr/>
        </p:nvSpPr>
        <p:spPr>
          <a:xfrm>
            <a:off x="1362456" y="2048256"/>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Split the outline into non-overlapping shapes with known area formulas.</a:t>
            </a:r>
          </a:p>
        </p:txBody>
      </p:sp>
      <p:sp>
        <p:nvSpPr>
          <p:cNvPr id="7" name="Rectangle 6"/>
          <p:cNvSpPr/>
          <p:nvPr/>
        </p:nvSpPr>
        <p:spPr>
          <a:xfrm>
            <a:off x="6400800" y="2029968"/>
            <a:ext cx="393192" cy="3931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201C19"/>
                </a:solidFill>
                <a:latin typeface="Arial"/>
              </a:rPr>
              <a:t>2</a:t>
            </a:r>
          </a:p>
        </p:txBody>
      </p:sp>
      <p:sp>
        <p:nvSpPr>
          <p:cNvPr id="8" name="TextBox 7"/>
          <p:cNvSpPr txBox="1"/>
          <p:nvPr/>
        </p:nvSpPr>
        <p:spPr>
          <a:xfrm>
            <a:off x="6967728" y="2048256"/>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Label the required lengths and perpendicular heights.</a:t>
            </a:r>
          </a:p>
        </p:txBody>
      </p:sp>
      <p:sp>
        <p:nvSpPr>
          <p:cNvPr id="9" name="Rectangle 8"/>
          <p:cNvSpPr/>
          <p:nvPr/>
        </p:nvSpPr>
        <p:spPr>
          <a:xfrm>
            <a:off x="795528" y="4059935"/>
            <a:ext cx="393192" cy="3931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201C19"/>
                </a:solidFill>
                <a:latin typeface="Arial"/>
              </a:rPr>
              <a:t>3</a:t>
            </a:r>
          </a:p>
        </p:txBody>
      </p:sp>
      <p:sp>
        <p:nvSpPr>
          <p:cNvPr id="10" name="TextBox 9"/>
          <p:cNvSpPr txBox="1"/>
          <p:nvPr/>
        </p:nvSpPr>
        <p:spPr>
          <a:xfrm>
            <a:off x="1362456" y="4078224"/>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Add the separate areas once each.</a:t>
            </a:r>
          </a:p>
        </p:txBody>
      </p:sp>
      <p:sp>
        <p:nvSpPr>
          <p:cNvPr id="11" name="Rectangle 10"/>
          <p:cNvSpPr/>
          <p:nvPr/>
        </p:nvSpPr>
        <p:spPr>
          <a:xfrm>
            <a:off x="6400800" y="4059935"/>
            <a:ext cx="393192" cy="39319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FFFFFF"/>
                </a:solidFill>
                <a:latin typeface="Arial"/>
              </a:rPr>
              <a:t>4</a:t>
            </a:r>
          </a:p>
        </p:txBody>
      </p:sp>
      <p:sp>
        <p:nvSpPr>
          <p:cNvPr id="12" name="TextBox 11"/>
          <p:cNvSpPr txBox="1"/>
          <p:nvPr/>
        </p:nvSpPr>
        <p:spPr>
          <a:xfrm>
            <a:off x="6967728" y="4078224"/>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For a trapezoid, multiply the average parallel-side length by its height.</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4" name="Rectangle 13"/>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5" name="TextBox 14"/>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6" name="TextBox 15"/>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7" name="TextBox 16"/>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8" name="TextBox 17"/>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9" name="TextBox 18"/>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18  •  2026-11-30  •  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2648" y="1865376"/>
            <a:ext cx="50292" cy="190195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217920" y="1865376"/>
            <a:ext cx="50292" cy="190195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12648" y="3895344"/>
            <a:ext cx="50292" cy="190195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217920" y="3895344"/>
            <a:ext cx="50292" cy="190195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W06-L02  •  TEACH  •  2:25 PM–2:40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Subtract openings before estimating coverage</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sections 10.4–10.7 pp.158–164</a:t>
            </a:r>
          </a:p>
        </p:txBody>
      </p:sp>
      <p:sp>
        <p:nvSpPr>
          <p:cNvPr id="5" name="Rectangle 4"/>
          <p:cNvSpPr/>
          <p:nvPr/>
        </p:nvSpPr>
        <p:spPr>
          <a:xfrm>
            <a:off x="795528" y="2029968"/>
            <a:ext cx="393192" cy="39319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FFFFFF"/>
                </a:solidFill>
                <a:latin typeface="Arial"/>
              </a:rPr>
              <a:t>1</a:t>
            </a:r>
          </a:p>
        </p:txBody>
      </p:sp>
      <p:sp>
        <p:nvSpPr>
          <p:cNvPr id="6" name="TextBox 5"/>
          <p:cNvSpPr txBox="1"/>
          <p:nvPr/>
        </p:nvSpPr>
        <p:spPr>
          <a:xfrm>
            <a:off x="1362456" y="2048256"/>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Net area = outer area − opening area.</a:t>
            </a:r>
          </a:p>
        </p:txBody>
      </p:sp>
      <p:sp>
        <p:nvSpPr>
          <p:cNvPr id="7" name="Rectangle 6"/>
          <p:cNvSpPr/>
          <p:nvPr/>
        </p:nvSpPr>
        <p:spPr>
          <a:xfrm>
            <a:off x="6400800" y="2029968"/>
            <a:ext cx="393192" cy="3931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201C19"/>
                </a:solidFill>
                <a:latin typeface="Arial"/>
              </a:rPr>
              <a:t>2</a:t>
            </a:r>
          </a:p>
        </p:txBody>
      </p:sp>
      <p:sp>
        <p:nvSpPr>
          <p:cNvPr id="8" name="TextBox 7"/>
          <p:cNvSpPr txBox="1"/>
          <p:nvPr/>
        </p:nvSpPr>
        <p:spPr>
          <a:xfrm>
            <a:off x="6967728" y="2048256"/>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For a circular opening, use A = πr² with half the diameter as r.</a:t>
            </a:r>
          </a:p>
        </p:txBody>
      </p:sp>
      <p:sp>
        <p:nvSpPr>
          <p:cNvPr id="9" name="Rectangle 8"/>
          <p:cNvSpPr/>
          <p:nvPr/>
        </p:nvSpPr>
        <p:spPr>
          <a:xfrm>
            <a:off x="795528" y="4059935"/>
            <a:ext cx="393192" cy="3931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201C19"/>
                </a:solidFill>
                <a:latin typeface="Arial"/>
              </a:rPr>
              <a:t>3</a:t>
            </a:r>
          </a:p>
        </p:txBody>
      </p:sp>
      <p:sp>
        <p:nvSpPr>
          <p:cNvPr id="10" name="TextBox 9"/>
          <p:cNvSpPr txBox="1"/>
          <p:nvPr/>
        </p:nvSpPr>
        <p:spPr>
          <a:xfrm>
            <a:off x="1362456" y="4078224"/>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Keep all areas in the same square unit.</a:t>
            </a:r>
          </a:p>
        </p:txBody>
      </p:sp>
      <p:sp>
        <p:nvSpPr>
          <p:cNvPr id="11" name="Rectangle 10"/>
          <p:cNvSpPr/>
          <p:nvPr/>
        </p:nvSpPr>
        <p:spPr>
          <a:xfrm>
            <a:off x="6400800" y="4059935"/>
            <a:ext cx="393192" cy="39319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FFFFFF"/>
                </a:solidFill>
                <a:latin typeface="Arial"/>
              </a:rPr>
              <a:t>4</a:t>
            </a:r>
          </a:p>
        </p:txBody>
      </p:sp>
      <p:sp>
        <p:nvSpPr>
          <p:cNvPr id="12" name="TextBox 11"/>
          <p:cNvSpPr txBox="1"/>
          <p:nvPr/>
        </p:nvSpPr>
        <p:spPr>
          <a:xfrm>
            <a:off x="6967728" y="4078224"/>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Use net area and the stated coverage to calculate whole tins to buy.</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4" name="Rectangle 13"/>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5" name="TextBox 14"/>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6" name="TextBox 15"/>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7" name="TextBox 16"/>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8" name="TextBox 17"/>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9" name="TextBox 18"/>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18  •  2026-11-30  •  26</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1">
    <p:bg>
      <p:bgPr>
        <a:solidFill>
          <a:srgbClr val="F7F4F1"/>
        </a:solidFill>
        <a:effectLst/>
      </p:bgPr>
    </p:bg>
    <p:spTree>
      <p:nvGrpSpPr>
        <p:cNvPr id="1" name=""/>
        <p:cNvGrpSpPr/>
        <p:nvPr/>
      </p:nvGrpSpPr>
      <p:grpSpPr>
        <a:xfrm>
          <a:off x="0" y="0"/>
          <a:ext cx="0" cy="0"/>
          <a:chOff x="0" y="0"/>
          <a:chExt cx="0" cy="0"/>
        </a:xfrm>
      </p:grpSpPr>
      <p:sp>
        <p:nvSpPr>
          <p:cNvPr id="20" name="Rectangle 19"/>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1"/>
          <p:cNvSpPr/>
          <p:nvPr/>
        </p:nvSpPr>
        <p:spPr>
          <a:xfrm>
            <a:off x="609585" y="381000"/>
            <a:ext cx="9418320" cy="213271"/>
          </a:xfrm>
          <a:prstGeom prst="rect">
            <a:avLst/>
          </a:prstGeom>
          <a:noFill/>
          <a:ln/>
        </p:spPr>
        <p:txBody>
          <a:bodyPr wrap="square" lIns="0" tIns="0" rIns="0" bIns="0" rtlCol="0" anchor="t"/>
          <a:lstStyle/>
          <a:p>
            <a:pPr marL="0" indent="0" algn="l">
              <a:buNone/>
              <a:defRPr sz="1150">
                <a:solidFill>
                  <a:srgbClr val="D2181F"/>
                </a:solidFill>
                <a:latin typeface="Arial"/>
              </a:defRPr>
            </a:pPr>
            <a:r>
              <a:rPr>
                <a:solidFill>
                  <a:srgbClr val="FFFFFF"/>
                </a:solidFill>
                <a:latin typeface="Arial"/>
              </a:rPr>
              <a:t>W06-L02  •  TEACH  •  2:25 PM–2:40 PM  •  15 MIN TOTAL</a:t>
            </a:r>
            <a:endParaRPr lang="en-US" sz="1200" dirty="0"/>
          </a:p>
        </p:txBody>
      </p:sp>
      <p:sp>
        <p:nvSpPr>
          <p:cNvPr id="4" name="Text 2"/>
          <p:cNvSpPr/>
          <p:nvPr/>
        </p:nvSpPr>
        <p:spPr>
          <a:xfrm>
            <a:off x="609585" y="781050"/>
            <a:ext cx="10972526" cy="428625"/>
          </a:xfrm>
          <a:prstGeom prst="rect">
            <a:avLst/>
          </a:prstGeom>
          <a:noFill/>
          <a:ln/>
        </p:spPr>
        <p:txBody>
          <a:bodyPr wrap="square" lIns="0" tIns="0" rIns="0" bIns="0" rtlCol="0" anchor="t"/>
          <a:lstStyle/>
          <a:p>
            <a:pPr marL="0" indent="0" algn="l">
              <a:buNone/>
            </a:pPr>
            <a:r>
              <a:rPr lang="en-US" sz="3000" b="1" dirty="0">
                <a:solidFill>
                  <a:srgbClr val="FFFFFF"/>
                </a:solidFill>
                <a:latin typeface="Arial" pitchFamily="34" charset="0"/>
                <a:ea typeface="Arial" pitchFamily="34" charset="-122"/>
                <a:cs typeface="Arial" pitchFamily="34" charset="-120"/>
              </a:rPr>
              <a:t>Subtract the opening, not the outside</a:t>
            </a:r>
            <a:endParaRPr lang="en-US" sz="3000" dirty="0"/>
          </a:p>
        </p:txBody>
      </p:sp>
      <p:sp>
        <p:nvSpPr>
          <p:cNvPr id="5" name="Shape 3"/>
          <p:cNvSpPr/>
          <p:nvPr/>
        </p:nvSpPr>
        <p:spPr>
          <a:xfrm>
            <a:off x="904852" y="2333625"/>
            <a:ext cx="3333667" cy="2190750"/>
          </a:xfrm>
          <a:prstGeom prst="rect">
            <a:avLst/>
          </a:prstGeom>
          <a:solidFill>
            <a:srgbClr val="E3E5E7"/>
          </a:solidFill>
          <a:ln w="28575">
            <a:solidFill>
              <a:srgbClr val="444444"/>
            </a:solidFill>
            <a:prstDash val="solid"/>
          </a:ln>
        </p:spPr>
        <p:txBody>
          <a:bodyPr/>
          <a:lstStyle/>
          <a:p>
            <a:endParaRPr lang="en-CA"/>
          </a:p>
        </p:txBody>
      </p:sp>
      <p:sp>
        <p:nvSpPr>
          <p:cNvPr id="6" name="Shape 4"/>
          <p:cNvSpPr/>
          <p:nvPr/>
        </p:nvSpPr>
        <p:spPr>
          <a:xfrm>
            <a:off x="2047824" y="2952750"/>
            <a:ext cx="1047724" cy="857250"/>
          </a:xfrm>
          <a:prstGeom prst="rect">
            <a:avLst/>
          </a:prstGeom>
          <a:solidFill>
            <a:srgbClr val="FFFFFF"/>
          </a:solidFill>
          <a:ln w="28575">
            <a:solidFill>
              <a:srgbClr val="C60016"/>
            </a:solidFill>
            <a:prstDash val="solid"/>
          </a:ln>
        </p:spPr>
        <p:txBody>
          <a:bodyPr/>
          <a:lstStyle/>
          <a:p>
            <a:endParaRPr lang="en-CA"/>
          </a:p>
        </p:txBody>
      </p:sp>
      <p:sp>
        <p:nvSpPr>
          <p:cNvPr id="7" name="Text 5"/>
          <p:cNvSpPr/>
          <p:nvPr/>
        </p:nvSpPr>
        <p:spPr>
          <a:xfrm>
            <a:off x="904852" y="1809750"/>
            <a:ext cx="4762381" cy="319980"/>
          </a:xfrm>
          <a:prstGeom prst="rect">
            <a:avLst/>
          </a:prstGeom>
          <a:noFill/>
          <a:ln/>
        </p:spPr>
        <p:txBody>
          <a:bodyPr wrap="square" lIns="0" tIns="0" rIns="0" bIns="0" rtlCol="0" anchor="t"/>
          <a:lstStyle/>
          <a:p>
            <a:pPr marL="0" indent="0" algn="l">
              <a:buNone/>
            </a:pPr>
            <a:r>
              <a:rPr lang="en-US" sz="1800" dirty="0">
                <a:solidFill>
                  <a:srgbClr val="201C19"/>
                </a:solidFill>
                <a:latin typeface="Arial" pitchFamily="34" charset="0"/>
                <a:ea typeface="Arial" pitchFamily="34" charset="-122"/>
                <a:cs typeface="Arial" pitchFamily="34" charset="-120"/>
              </a:rPr>
              <a:t>Outer: 1,200 × 800 mm</a:t>
            </a:r>
            <a:endParaRPr lang="en-US" sz="1800" dirty="0"/>
          </a:p>
        </p:txBody>
      </p:sp>
      <p:sp>
        <p:nvSpPr>
          <p:cNvPr id="8" name="Text 6"/>
          <p:cNvSpPr/>
          <p:nvPr/>
        </p:nvSpPr>
        <p:spPr>
          <a:xfrm>
            <a:off x="904852" y="4667250"/>
            <a:ext cx="4762381" cy="319980"/>
          </a:xfrm>
          <a:prstGeom prst="rect">
            <a:avLst/>
          </a:prstGeom>
          <a:noFill/>
          <a:ln/>
        </p:spPr>
        <p:txBody>
          <a:bodyPr wrap="square" lIns="0" tIns="0" rIns="0" bIns="0" rtlCol="0" anchor="t"/>
          <a:lstStyle/>
          <a:p>
            <a:pPr marL="0" indent="0" algn="l">
              <a:buNone/>
            </a:pPr>
            <a:r>
              <a:rPr lang="en-US" sz="1800" dirty="0" b="1">
                <a:solidFill>
                  <a:srgbClr val="5A1018"/>
                </a:solidFill>
                <a:latin typeface="Arial" pitchFamily="34" charset="0"/>
                <a:ea typeface="Arial" pitchFamily="34" charset="-122"/>
                <a:cs typeface="Arial" pitchFamily="34" charset="-120"/>
              </a:rPr>
              <a:t>Opening: 300 × 200 mm</a:t>
            </a:r>
            <a:endParaRPr lang="en-US" sz="1800" dirty="0"/>
          </a:p>
        </p:txBody>
      </p:sp>
      <p:sp>
        <p:nvSpPr>
          <p:cNvPr id="9" name="Text 7"/>
          <p:cNvSpPr/>
          <p:nvPr/>
        </p:nvSpPr>
        <p:spPr>
          <a:xfrm>
            <a:off x="5810105" y="1905000"/>
            <a:ext cx="5714857" cy="1119783"/>
          </a:xfrm>
          <a:prstGeom prst="rect">
            <a:avLst/>
          </a:prstGeom>
          <a:noFill/>
          <a:ln/>
        </p:spPr>
        <p:txBody>
          <a:bodyPr wrap="square" lIns="0" tIns="0" rIns="0" bIns="0" rtlCol="0" anchor="t"/>
          <a:lstStyle/>
          <a:p>
            <a:pPr marL="0" indent="0" algn="l">
              <a:buNone/>
            </a:pPr>
            <a:r>
              <a:rPr lang="en-US" sz="2100" dirty="0">
                <a:solidFill>
                  <a:srgbClr val="201C19"/>
                </a:solidFill>
                <a:latin typeface="Arial" pitchFamily="34" charset="0"/>
                <a:ea typeface="Arial" pitchFamily="34" charset="-122"/>
                <a:cs typeface="Arial" pitchFamily="34" charset="-120"/>
              </a:rPr>
              <a:t>Outer area = 960,000 mm²</a:t>
            </a:r>
            <a:endParaRPr lang="en-US" sz="2100" dirty="0"/>
          </a:p>
          <a:p>
            <a:pPr marL="0" indent="0" algn="l">
              <a:buNone/>
            </a:pPr>
            <a:r>
              <a:rPr lang="en-US" sz="2100" dirty="0">
                <a:solidFill>
                  <a:srgbClr val="201C19"/>
                </a:solidFill>
                <a:latin typeface="Arial" pitchFamily="34" charset="0"/>
                <a:ea typeface="Arial" pitchFamily="34" charset="-122"/>
                <a:cs typeface="Arial" pitchFamily="34" charset="-120"/>
              </a:rPr>
              <a:t>Opening area = 60,000 mm²</a:t>
            </a:r>
            <a:endParaRPr lang="en-US" sz="2100" dirty="0"/>
          </a:p>
          <a:p>
            <a:pPr marL="0" indent="0" algn="l">
              <a:buNone/>
            </a:pPr>
            <a:r>
              <a:rPr lang="en-US" sz="2100" dirty="0">
                <a:solidFill>
                  <a:srgbClr val="201C19"/>
                </a:solidFill>
                <a:latin typeface="Arial" pitchFamily="34" charset="0"/>
                <a:ea typeface="Arial" pitchFamily="34" charset="-122"/>
                <a:cs typeface="Arial" pitchFamily="34" charset="-120"/>
              </a:rPr>
              <a:t>Net = 900,000 mm² = 0.9 m²</a:t>
            </a:r>
            <a:endParaRPr lang="en-US" sz="2100" dirty="0"/>
          </a:p>
        </p:txBody>
      </p:sp>
      <p:sp>
        <p:nvSpPr>
          <p:cNvPr id="10" name="Text 8"/>
          <p:cNvSpPr/>
          <p:nvPr/>
        </p:nvSpPr>
        <p:spPr>
          <a:xfrm>
            <a:off x="5810105" y="3286125"/>
            <a:ext cx="5524362" cy="959941"/>
          </a:xfrm>
          <a:prstGeom prst="rect">
            <a:avLst/>
          </a:prstGeom>
          <a:noFill/>
          <a:ln/>
        </p:spPr>
        <p:txBody>
          <a:bodyPr wrap="square" lIns="0" tIns="0" rIns="0" bIns="0" rtlCol="0" anchor="t"/>
          <a:lstStyle/>
          <a:p>
            <a:pPr marL="0" indent="0" algn="l">
              <a:buNone/>
            </a:pPr>
            <a:r>
              <a:rPr lang="en-US" sz="1800" dirty="0">
                <a:solidFill>
                  <a:srgbClr val="201C19"/>
                </a:solidFill>
                <a:latin typeface="Arial" pitchFamily="34" charset="0"/>
                <a:ea typeface="Arial" pitchFamily="34" charset="-122"/>
                <a:cs typeface="Arial" pitchFamily="34" charset="-120"/>
              </a:rPr>
              <a:t>Check: 900,000 + 60,000</a:t>
            </a:r>
            <a:endParaRPr lang="en-US" sz="1800" dirty="0"/>
          </a:p>
          <a:p>
            <a:pPr marL="0" indent="0" algn="l">
              <a:buNone/>
            </a:pPr>
            <a:r>
              <a:rPr lang="en-US" sz="1800" dirty="0">
                <a:solidFill>
                  <a:srgbClr val="201C19"/>
                </a:solidFill>
                <a:latin typeface="Arial" pitchFamily="34" charset="0"/>
                <a:ea typeface="Arial" pitchFamily="34" charset="-122"/>
                <a:cs typeface="Arial" pitchFamily="34" charset="-120"/>
              </a:rPr>
              <a:t>= 960,000 mm².</a:t>
            </a:r>
            <a:endParaRPr lang="en-US" sz="1800" dirty="0"/>
          </a:p>
          <a:p>
            <a:pPr marL="0" indent="0" algn="l">
              <a:buNone/>
            </a:pPr>
            <a:r>
              <a:rPr lang="en-US" sz="1800" dirty="0">
                <a:solidFill>
                  <a:srgbClr val="201C19"/>
                </a:solidFill>
                <a:latin typeface="Arial" pitchFamily="34" charset="0"/>
                <a:ea typeface="Arial" pitchFamily="34" charset="-122"/>
                <a:cs typeface="Arial" pitchFamily="34" charset="-120"/>
              </a:rPr>
              <a:t>Keep all dimensions in one unit.</a:t>
            </a:r>
            <a:endParaRPr lang="en-US" sz="1800" dirty="0"/>
          </a:p>
        </p:txBody>
      </p:sp>
      <p:sp>
        <p:nvSpPr>
          <p:cNvPr id="11" name="Text 9"/>
          <p:cNvSpPr/>
          <p:nvPr/>
        </p:nvSpPr>
        <p:spPr>
          <a:xfrm>
            <a:off x="609585" y="5334000"/>
            <a:ext cx="10972526" cy="639961"/>
          </a:xfrm>
          <a:prstGeom prst="rect">
            <a:avLst/>
          </a:prstGeom>
          <a:noFill/>
          <a:ln/>
        </p:spPr>
        <p:txBody>
          <a:bodyPr wrap="square" lIns="0" tIns="0" rIns="0" bIns="0" rtlCol="0" anchor="t"/>
          <a:lstStyle/>
          <a:p>
            <a:pPr marL="0" indent="0" algn="l">
              <a:buNone/>
            </a:pPr>
            <a:r>
              <a:rPr lang="en-US" sz="1800" dirty="0">
                <a:solidFill>
                  <a:srgbClr val="201C19"/>
                </a:solidFill>
                <a:latin typeface="Arial" pitchFamily="34" charset="0"/>
                <a:ea typeface="Arial" pitchFamily="34" charset="-122"/>
                <a:cs typeface="Arial" pitchFamily="34" charset="-120"/>
              </a:rPr>
              <a:t>Together • 10A Q10–12 and 10C Q4. Annotate non-overlapping parts.</a:t>
            </a:r>
            <a:endParaRPr lang="en-US" sz="1800" dirty="0"/>
          </a:p>
          <a:p>
            <a:pPr marL="0" indent="0" algn="l">
              <a:buNone/>
            </a:pPr>
            <a:r>
              <a:rPr lang="en-US" sz="1800" dirty="0">
                <a:solidFill>
                  <a:srgbClr val="201C19"/>
                </a:solidFill>
                <a:latin typeface="Arial" pitchFamily="34" charset="0"/>
                <a:ea typeface="Arial" pitchFamily="34" charset="-122"/>
                <a:cs typeface="Arial" pitchFamily="34" charset="-120"/>
              </a:rPr>
              <a:t>Use a Shape Canvas sketch only after choosing the add/subtract steps.</a:t>
            </a:r>
            <a:endParaRPr lang="en-US" sz="1800" dirty="0"/>
          </a:p>
        </p:txBody>
      </p:sp>
      <p:sp>
        <p:nvSpPr>
          <p:cNvPr id="12" name="Text 10"/>
          <p:cNvSpPr/>
          <p:nvPr/>
        </p:nvSpPr>
        <p:spPr>
          <a:xfrm>
            <a:off x="609585" y="6345936"/>
            <a:ext cx="10881360" cy="186630"/>
          </a:xfrm>
          <a:prstGeom prst="rect">
            <a:avLst/>
          </a:prstGeom>
          <a:noFill/>
          <a:ln/>
        </p:spPr>
        <p:txBody>
          <a:bodyPr wrap="square" lIns="0" tIns="0" rIns="0" bIns="0" rtlCol="0" anchor="t"/>
          <a:lstStyle/>
          <a:p>
            <a:pPr marL="0" indent="0" algn="l">
              <a:buNone/>
            </a:pPr>
            <a:r>
              <a:rPr lang="en-US" sz="1050" dirty="0">
                <a:solidFill>
                  <a:srgbClr val="62564B"/>
                </a:solidFill>
                <a:latin typeface="Arial" pitchFamily="34" charset="0"/>
                <a:ea typeface="Arial" pitchFamily="34" charset="-122"/>
                <a:cs typeface="Arial" pitchFamily="34" charset="-120"/>
              </a:rPr>
              <a:t>Exercise Book 10B Q11 p.66 • Schematic, not to scale • Surface-net preview is optional after core work</a:t>
            </a:r>
            <a:endParaRPr lang="en-US" sz="1050" dirty="0"/>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4" name="Rectangle 13"/>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5" name="TextBox 14"/>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6" name="TextBox 15"/>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7" name="TextBox 16"/>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8" name="TextBox 17"/>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9" name="TextBox 18"/>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18  •  2026-11-30  •  27</a:t>
            </a:r>
          </a:p>
        </p:txBody>
      </p:sp>
    </p:spTree>
    <p:extLst>
      <p:ext uri="{BB962C8B-B14F-4D97-AF65-F5344CB8AC3E}">
        <p14:creationId xmlns:p14="http://schemas.microsoft.com/office/powerpoint/2010/main" val="2508019296"/>
      </p:ext>
    </p:extLst>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 y="1700784"/>
            <a:ext cx="50292" cy="414223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W06-L02  •  TEACH  •  2:25 PM–2:40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Textbook  |  page 162</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10.4–10.7 pp.158–164</a:t>
            </a:r>
          </a:p>
        </p:txBody>
      </p:sp>
      <p:pic>
        <p:nvPicPr>
          <p:cNvPr id="5" name="Picture 4" descr="W06-L02.png"/>
          <p:cNvPicPr>
            <a:picLocks noChangeAspect="1"/>
          </p:cNvPicPr>
          <p:nvPr/>
        </p:nvPicPr>
        <p:blipFill>
          <a:blip r:embed="rId3"/>
          <a:stretch>
            <a:fillRect/>
          </a:stretch>
        </p:blipFill>
        <p:spPr>
          <a:xfrm>
            <a:off x="685800" y="2250527"/>
            <a:ext cx="10698480" cy="2951304"/>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spAutoFit/>
          </a:bodyPr>
          <a:lstStyle/>
          <a:p>
            <a:pPr>
              <a:spcBef>
                <a:spcPts val="0"/>
              </a:spcBef>
              <a:spcAft>
                <a:spcPts val="300"/>
              </a:spcAft>
              <a:defRPr sz="1400" b="0">
                <a:solidFill>
                  <a:srgbClr val="4A4E54"/>
                </a:solidFill>
                <a:latin typeface="Arial"/>
              </a:defRPr>
            </a:pPr>
            <a:r>
              <a:rPr>
                <a:solidFill>
                  <a:srgbClr val="F7F4F1"/>
                </a:solidFill>
                <a:latin typeface="Arial"/>
              </a:rPr>
              <a:t>Textbook p.162 • Example 10.7 — Split an L-shaped plate into non-overlapping rectangles</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18  •  2026-11-30  •  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 y="1700784"/>
            <a:ext cx="50292" cy="414223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W06-L02  •  TEACH  •  2:25 PM–2:40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Textbook  |  page 162</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10.4–10.7 pp.158–164</a:t>
            </a:r>
          </a:p>
        </p:txBody>
      </p:sp>
      <p:pic>
        <p:nvPicPr>
          <p:cNvPr id="5" name="Picture 4" descr="W06-L02-2.png"/>
          <p:cNvPicPr>
            <a:picLocks noChangeAspect="1"/>
          </p:cNvPicPr>
          <p:nvPr/>
        </p:nvPicPr>
        <p:blipFill>
          <a:blip r:embed="rId3"/>
          <a:stretch>
            <a:fillRect/>
          </a:stretch>
        </p:blipFill>
        <p:spPr>
          <a:xfrm>
            <a:off x="943526" y="1691640"/>
            <a:ext cx="10183027" cy="4069080"/>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spAutoFit/>
          </a:bodyPr>
          <a:lstStyle/>
          <a:p>
            <a:pPr>
              <a:spcBef>
                <a:spcPts val="0"/>
              </a:spcBef>
              <a:spcAft>
                <a:spcPts val="300"/>
              </a:spcAft>
              <a:defRPr sz="1400" b="0">
                <a:solidFill>
                  <a:srgbClr val="4A4E54"/>
                </a:solidFill>
                <a:latin typeface="Arial"/>
              </a:defRPr>
            </a:pPr>
            <a:r>
              <a:rPr>
                <a:solidFill>
                  <a:srgbClr val="F7F4F1"/>
                </a:solidFill>
                <a:latin typeface="Arial"/>
              </a:rPr>
              <a:t>Textbook p.162 • Example 10.8 — Add the shapes and subtract the opening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18  •  2026-11-30  •  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5A1018"/>
        </a:solidFill>
        <a:effectLst/>
      </p:bgPr>
    </p:bg>
    <p:spTree>
      <p:nvGrpSpPr>
        <p:cNvPr id="1" name=""/>
        <p:cNvGrpSpPr/>
        <p:nvPr/>
      </p:nvGrpSpPr>
      <p:grpSpPr/>
      <p:sp>
        <p:nvSpPr>
          <p:cNvPr id="15" name="Rectangle 14"/>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93776" y="4453128"/>
            <a:ext cx="11192256" cy="1481328"/>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93776" y="4453128"/>
            <a:ext cx="64008" cy="1481328"/>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W06-L02  •  TEACH  •  2:25 PM–2:40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Spot the mistake. Explain the correction.</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10.4–10.7 pp.158–164</a:t>
            </a:r>
          </a:p>
        </p:txBody>
      </p:sp>
      <p:sp>
        <p:nvSpPr>
          <p:cNvPr id="5" name="TextBox 4"/>
          <p:cNvSpPr txBox="1"/>
          <p:nvPr/>
        </p:nvSpPr>
        <p:spPr>
          <a:xfrm>
            <a:off x="612648" y="1847088"/>
            <a:ext cx="10927080" cy="1554480"/>
          </a:xfrm>
          <a:prstGeom prst="rect">
            <a:avLst/>
          </a:prstGeom>
          <a:noFill/>
        </p:spPr>
        <p:txBody>
          <a:bodyPr wrap="square" lIns="0" rIns="0" tIns="0" bIns="0">
            <a:spAutoFit/>
          </a:bodyPr>
          <a:lstStyle/>
          <a:p>
            <a:pPr>
              <a:spcBef>
                <a:spcPts val="0"/>
              </a:spcBef>
              <a:spcAft>
                <a:spcPts val="300"/>
              </a:spcAft>
              <a:defRPr sz="2600" b="1">
                <a:solidFill>
                  <a:srgbClr val="1A1A1A"/>
                </a:solidFill>
                <a:latin typeface="Arial"/>
              </a:defRPr>
            </a:pPr>
            <a:r>
              <a:rPr>
                <a:solidFill>
                  <a:srgbClr val="FFFFFF"/>
                </a:solidFill>
                <a:latin typeface="Arial"/>
              </a:rPr>
              <a:t>A panel has a circular opening labelled by diameter. Can that diameter go directly into πr²?</a:t>
            </a:r>
          </a:p>
        </p:txBody>
      </p:sp>
      <p:sp>
        <p:nvSpPr>
          <p:cNvPr id="6" name="TextBox 5"/>
          <p:cNvSpPr txBox="1"/>
          <p:nvPr/>
        </p:nvSpPr>
        <p:spPr>
          <a:xfrm>
            <a:off x="612648" y="3703320"/>
            <a:ext cx="10927080" cy="411480"/>
          </a:xfrm>
          <a:prstGeom prst="rect">
            <a:avLst/>
          </a:prstGeom>
          <a:noFill/>
        </p:spPr>
        <p:txBody>
          <a:bodyPr wrap="square" lIns="0" rIns="0" tIns="0" bIns="0">
            <a:spAutoFit/>
          </a:bodyPr>
          <a:lstStyle/>
          <a:p>
            <a:pPr>
              <a:spcBef>
                <a:spcPts val="0"/>
              </a:spcBef>
              <a:spcAft>
                <a:spcPts val="300"/>
              </a:spcAft>
              <a:defRPr sz="2000" b="0">
                <a:solidFill>
                  <a:srgbClr val="D2181F"/>
                </a:solidFill>
                <a:latin typeface="Arial"/>
              </a:defRPr>
            </a:pPr>
            <a:r>
              <a:rPr>
                <a:solidFill>
                  <a:srgbClr val="FFFFFF"/>
                </a:solidFill>
                <a:latin typeface="Arial"/>
              </a:rPr>
              <a:t>Discuss the method before checking the answer.</a:t>
            </a:r>
          </a:p>
        </p:txBody>
      </p:sp>
      <p:sp>
        <p:nvSpPr>
          <p:cNvPr id="7" name="TextBox 6"/>
          <p:cNvSpPr txBox="1"/>
          <p:nvPr/>
        </p:nvSpPr>
        <p:spPr>
          <a:xfrm>
            <a:off x="612648" y="4617720"/>
            <a:ext cx="10927080" cy="1188720"/>
          </a:xfrm>
          <a:prstGeom prst="rect">
            <a:avLst/>
          </a:prstGeom>
          <a:noFill/>
        </p:spPr>
        <p:txBody>
          <a:bodyPr wrap="square" lIns="0" rIns="0" tIns="0" bIns="0">
            <a:spAutoFit/>
          </a:bodyPr>
          <a:lstStyle/>
          <a:p>
            <a:pPr>
              <a:spcBef>
                <a:spcPts val="0"/>
              </a:spcBef>
              <a:spcAft>
                <a:spcPts val="300"/>
              </a:spcAft>
              <a:defRPr sz="2200" b="0">
                <a:solidFill>
                  <a:srgbClr val="4A4E54"/>
                </a:solidFill>
                <a:latin typeface="Arial"/>
              </a:defRPr>
            </a:pPr>
            <a:r>
              <a:rPr b="1">
                <a:solidFill>
                  <a:srgbClr val="201C19"/>
                </a:solidFill>
                <a:latin typeface="Arial"/>
              </a:rPr>
              <a:t>No. Divide the diameter by two to obtain the radius, then square the radius.</a:t>
            </a:r>
          </a:p>
        </p:txBody>
      </p:sp>
      <p:pic>
        <p:nvPicPr>
          <p:cNvPr id="8" name="Picture 7" descr="access-logo.png"/>
          <p:cNvPicPr>
            <a:picLocks noChangeAspect="1"/>
          </p:cNvPicPr>
          <p:nvPr/>
        </p:nvPicPr>
        <p:blipFill>
          <a:blip r:embed="rId3"/>
          <a:stretch>
            <a:fillRect/>
          </a:stretch>
        </p:blipFill>
        <p:spPr>
          <a:xfrm>
            <a:off x="10177272" y="146304"/>
            <a:ext cx="1371600" cy="689145"/>
          </a:xfrm>
          <a:prstGeom prst="rect">
            <a:avLst/>
          </a:prstGeom>
        </p:spPr>
      </p:pic>
      <p:sp>
        <p:nvSpPr>
          <p:cNvPr id="9" name="Rectangle 8"/>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0" name="TextBox 9"/>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1" name="TextBox 10"/>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2" name="TextBox 11"/>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3" name="TextBox 12"/>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4" name="TextBox 13"/>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18  •  2026-11-30  •  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5A1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93776" y="1773936"/>
            <a:ext cx="64008" cy="224028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W06-L02  •  TOGETHER  •  2:40 PM–2:55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Work together</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sections 10.4–10.7 pp.158–164</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Work Exercise Book 10A Q10–12 and Exercise Book 10C Q4. Partners annotate non-overlapping pieces.</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Work in pairs, alternating solver and checker. Write a diagram, formula, units and estimate.</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62564B"/>
                </a:solidFill>
                <a:latin typeface="Arial"/>
              </a:rPr>
              <a:t>Resources: Exercise Book 10A Q10–12 (p.64); 10B Q2 (p.65), Q11–12 (p.66); 10C Q4 (p.67)</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Rectangle 9"/>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18  •  2026-11-30  •  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 y="1773936"/>
            <a:ext cx="50292" cy="377647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W06-L02  •  TOGETHER  •  2:40 PM–2:55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Guided practice  |  10A Q10</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10.4–10.7 pp.158–164</a:t>
            </a:r>
          </a:p>
        </p:txBody>
      </p:sp>
      <p:pic>
        <p:nvPicPr>
          <p:cNvPr id="5" name="Picture 4" descr="10A-Q10.png"/>
          <p:cNvPicPr>
            <a:picLocks noChangeAspect="1"/>
          </p:cNvPicPr>
          <p:nvPr/>
        </p:nvPicPr>
        <p:blipFill>
          <a:blip r:embed="rId3"/>
          <a:stretch>
            <a:fillRect/>
          </a:stretch>
        </p:blipFill>
        <p:spPr>
          <a:xfrm>
            <a:off x="685800" y="2896362"/>
            <a:ext cx="10698480" cy="1367028"/>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Work with a partner. Take turns explaining the next step.</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18  •  2026-11-30  •  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5" name="Rectangle 14"/>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12064" y="1764792"/>
            <a:ext cx="11173968" cy="16459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2064" y="1764792"/>
            <a:ext cx="50292"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512064" y="3511296"/>
            <a:ext cx="11173968" cy="2331720"/>
          </a:xfrm>
          <a:prstGeom prst="roundRect">
            <a:avLst>
              <a:gd name="adj" fmla="val 8000"/>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W06-L02  •  TOGETHER  •  2:40 PM–2:55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Compare your method  |  10A Q10</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10.4–10.7 pp.158–164</a:t>
            </a:r>
          </a:p>
        </p:txBody>
      </p:sp>
      <p:pic>
        <p:nvPicPr>
          <p:cNvPr id="5" name="Picture 4" descr="10A-Q10.png"/>
          <p:cNvPicPr>
            <a:picLocks noChangeAspect="1"/>
          </p:cNvPicPr>
          <p:nvPr/>
        </p:nvPicPr>
        <p:blipFill>
          <a:blip r:embed="rId3"/>
          <a:stretch>
            <a:fillRect/>
          </a:stretch>
        </p:blipFill>
        <p:spPr>
          <a:xfrm>
            <a:off x="685800" y="1853945"/>
            <a:ext cx="10698480" cy="1367028"/>
          </a:xfrm>
          <a:prstGeom prst="rect">
            <a:avLst/>
          </a:prstGeom>
        </p:spPr>
      </p:pic>
      <p:sp>
        <p:nvSpPr>
          <p:cNvPr id="6" name="TextBox 5"/>
          <p:cNvSpPr txBox="1"/>
          <p:nvPr/>
        </p:nvSpPr>
        <p:spPr>
          <a:xfrm>
            <a:off x="685800" y="3611880"/>
            <a:ext cx="2743200" cy="320040"/>
          </a:xfrm>
          <a:prstGeom prst="rect">
            <a:avLst/>
          </a:prstGeom>
          <a:noFill/>
        </p:spPr>
        <p:txBody>
          <a:bodyPr wrap="square" lIns="0" rIns="0" tIns="0" bIns="0">
            <a:spAutoFit/>
          </a:bodyPr>
          <a:lstStyle/>
          <a:p>
            <a:pPr>
              <a:spcBef>
                <a:spcPts val="0"/>
              </a:spcBef>
              <a:spcAft>
                <a:spcPts val="300"/>
              </a:spcAft>
              <a:defRPr sz="1400" b="1">
                <a:solidFill>
                  <a:srgbClr val="D2181F"/>
                </a:solidFill>
                <a:latin typeface="Arial"/>
              </a:defRPr>
            </a:pPr>
            <a:r>
              <a:rPr b="1" sz="1300">
                <a:solidFill>
                  <a:srgbClr val="201C19"/>
                </a:solidFill>
                <a:latin typeface="Arial"/>
              </a:rPr>
              <a:t>CHECK TOGETHER</a:t>
            </a:r>
          </a:p>
        </p:txBody>
      </p:sp>
      <p:sp>
        <p:nvSpPr>
          <p:cNvPr id="7" name="TextBox 6"/>
          <p:cNvSpPr txBox="1"/>
          <p:nvPr/>
        </p:nvSpPr>
        <p:spPr>
          <a:xfrm>
            <a:off x="685800" y="4114800"/>
            <a:ext cx="10698480" cy="868680"/>
          </a:xfrm>
          <a:prstGeom prst="rect">
            <a:avLst/>
          </a:prstGeom>
          <a:noFill/>
        </p:spPr>
        <p:txBody>
          <a:bodyPr wrap="square" lIns="0" rIns="0" tIns="0" bIns="0">
            <a:spAutoFit/>
          </a:bodyPr>
          <a:lstStyle/>
          <a:p>
            <a:pPr>
              <a:spcBef>
                <a:spcPts val="0"/>
              </a:spcBef>
              <a:spcAft>
                <a:spcPts val="300"/>
              </a:spcAft>
              <a:defRPr sz="2700" b="1">
                <a:solidFill>
                  <a:srgbClr val="1A1A1A"/>
                </a:solidFill>
                <a:latin typeface="Arial"/>
              </a:defRPr>
            </a:pPr>
            <a:r>
              <a:rPr b="1" sz="3400">
                <a:solidFill>
                  <a:srgbClr val="201C19"/>
                </a:solidFill>
                <a:latin typeface="Arial"/>
              </a:rPr>
              <a:t>59,400 mm²</a:t>
            </a:r>
          </a:p>
        </p:txBody>
      </p:sp>
      <p:pic>
        <p:nvPicPr>
          <p:cNvPr id="8" name="Picture 7"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Rectangle 8"/>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0" name="TextBox 9"/>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1" name="TextBox 10"/>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2" name="TextBox 11"/>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3" name="TextBox 12"/>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4" name="TextBox 13"/>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18  •  2026-11-30  •  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5A1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93776" y="1773936"/>
            <a:ext cx="64008" cy="224028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W06-L02  •  PRACTISE  •  2:55 PM–3:15 PM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Your scheduled practice</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sections 10.4–10.7 pp.158–164</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Complete Exercise Book 10B Q2,11–12. Build a Shape Canvas sketch and label areas; use the net preview only if core subtraction and coverage are secure.</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Solve on paper first; check with tools; correct one error and explain the change.</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62564B"/>
                </a:solidFill>
                <a:latin typeface="Arial"/>
              </a:rPr>
              <a:t>Resources: Exercise Book 10A Q10–12 (p.64); 10B Q2 (p.65), Q11–12 (p.66); 10C Q4 (p.67)</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Rectangle 9"/>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18  •  2026-11-30  •  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664208"/>
            <a:ext cx="11173968" cy="427939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 y="1664208"/>
            <a:ext cx="50292" cy="427939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W06-L02  •  PRACTISE  •  2:55 PM–3:15 PM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Open Shape Canvas</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10.4–10.7 pp.158–164</a:t>
            </a:r>
          </a:p>
        </p:txBody>
      </p:sp>
      <p:pic>
        <p:nvPicPr>
          <p:cNvPr id="5" name="Picture 4" descr="shape-rectangle.png"/>
          <p:cNvPicPr>
            <a:picLocks noChangeAspect="1"/>
          </p:cNvPicPr>
          <p:nvPr/>
        </p:nvPicPr>
        <p:blipFill>
          <a:blip r:embed="rId3"/>
          <a:stretch>
            <a:fillRect/>
          </a:stretch>
        </p:blipFill>
        <p:spPr>
          <a:xfrm>
            <a:off x="3014776" y="1664208"/>
            <a:ext cx="6122822" cy="4251960"/>
          </a:xfrm>
          <a:prstGeom prst="rect">
            <a:avLst/>
          </a:prstGeom>
        </p:spPr>
      </p:pic>
      <p:sp>
        <p:nvSpPr>
          <p:cNvPr id="6" name="TextBox 5"/>
          <p:cNvSpPr txBox="1"/>
          <p:nvPr/>
        </p:nvSpPr>
        <p:spPr>
          <a:xfrm>
            <a:off x="612648" y="5998464"/>
            <a:ext cx="10927080" cy="256032"/>
          </a:xfrm>
          <a:prstGeom prst="rect">
            <a:avLst/>
          </a:prstGeom>
          <a:noFill/>
        </p:spPr>
        <p:txBody>
          <a:bodyPr wrap="square" lIns="0" rIns="0" tIns="0" bIns="0">
            <a:spAutoFit/>
          </a:bodyPr>
          <a:lstStyle/>
          <a:p>
            <a:pPr>
              <a:spcBef>
                <a:spcPts val="0"/>
              </a:spcBef>
              <a:spcAft>
                <a:spcPts val="300"/>
              </a:spcAft>
              <a:defRPr sz="1350" b="0">
                <a:solidFill>
                  <a:srgbClr val="4A4E54"/>
                </a:solidFill>
                <a:latin typeface="Arial"/>
              </a:defRPr>
            </a:pPr>
            <a:r>
              <a:rPr>
                <a:solidFill>
                  <a:srgbClr val="F7F4F1"/>
                </a:solidFill>
                <a:latin typeface="Arial"/>
              </a:rPr>
              <a:t>Navigation example. Use the values and units in the assigned task.</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18  •  2026-11-30  •  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02920" y="1737360"/>
            <a:ext cx="11183112" cy="1197864"/>
          </a:xfrm>
          <a:prstGeom prst="roundRect">
            <a:avLst>
              <a:gd name="adj" fmla="val 8000"/>
            </a:avLst>
          </a:prstGeom>
          <a:solidFill>
            <a:srgbClr val="302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02920" y="3035808"/>
            <a:ext cx="11183112" cy="1197864"/>
          </a:xfrm>
          <a:prstGeom prst="roundRect">
            <a:avLst>
              <a:gd name="adj" fmla="val 8000"/>
            </a:avLst>
          </a:prstGeom>
          <a:solidFill>
            <a:srgbClr val="302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502920" y="4334256"/>
            <a:ext cx="11183112" cy="1197864"/>
          </a:xfrm>
          <a:prstGeom prst="roundRect">
            <a:avLst>
              <a:gd name="adj" fmla="val 8000"/>
            </a:avLst>
          </a:prstGeom>
          <a:solidFill>
            <a:srgbClr val="302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W06-L02  •  PRACTISE  •  2:55 PM–3:15 PM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Practise in Numeracy Hub and Shape Canvas</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10.4–10.7 pp.158–164</a:t>
            </a:r>
          </a:p>
        </p:txBody>
      </p:sp>
      <p:sp>
        <p:nvSpPr>
          <p:cNvPr id="5" name="Rectangle 4"/>
          <p:cNvSpPr/>
          <p:nvPr/>
        </p:nvSpPr>
        <p:spPr>
          <a:xfrm>
            <a:off x="658368" y="1828800"/>
            <a:ext cx="365760" cy="3657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1">
                <a:solidFill>
                  <a:srgbClr val="1A1A1A"/>
                </a:solidFill>
                <a:latin typeface="Arial"/>
              </a:defRPr>
            </a:pPr>
            <a:r>
              <a:rPr b="1" sz="2000">
                <a:solidFill>
                  <a:srgbClr val="201C19"/>
                </a:solidFill>
                <a:latin typeface="Arial"/>
              </a:rPr>
              <a:t>1</a:t>
            </a:r>
          </a:p>
        </p:txBody>
      </p:sp>
      <p:sp>
        <p:nvSpPr>
          <p:cNvPr id="6" name="TextBox 5"/>
          <p:cNvSpPr txBox="1"/>
          <p:nvPr/>
        </p:nvSpPr>
        <p:spPr>
          <a:xfrm>
            <a:off x="1234440" y="1828800"/>
            <a:ext cx="10149840" cy="109728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solidFill>
                  <a:srgbClr val="FFFFFF"/>
                </a:solidFill>
                <a:latin typeface="Arial"/>
              </a:rPr>
              <a:t>Use two labelled shapes in Shape Canvas to represent the outer rectangle and opening.</a:t>
            </a:r>
          </a:p>
        </p:txBody>
      </p:sp>
      <p:sp>
        <p:nvSpPr>
          <p:cNvPr id="7" name="Rectangle 6"/>
          <p:cNvSpPr/>
          <p:nvPr/>
        </p:nvSpPr>
        <p:spPr>
          <a:xfrm>
            <a:off x="658368" y="3127248"/>
            <a:ext cx="365760" cy="3657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1">
                <a:solidFill>
                  <a:srgbClr val="1A1A1A"/>
                </a:solidFill>
                <a:latin typeface="Arial"/>
              </a:defRPr>
            </a:pPr>
            <a:r>
              <a:rPr b="1" sz="2000">
                <a:solidFill>
                  <a:srgbClr val="201C19"/>
                </a:solidFill>
                <a:latin typeface="Arial"/>
              </a:rPr>
              <a:t>2</a:t>
            </a:r>
          </a:p>
        </p:txBody>
      </p:sp>
      <p:sp>
        <p:nvSpPr>
          <p:cNvPr id="8" name="TextBox 7"/>
          <p:cNvSpPr txBox="1"/>
          <p:nvPr/>
        </p:nvSpPr>
        <p:spPr>
          <a:xfrm>
            <a:off x="1234440" y="3127248"/>
            <a:ext cx="10149840" cy="109728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solidFill>
                  <a:srgbClr val="FFFFFF"/>
                </a:solidFill>
                <a:latin typeface="Arial"/>
              </a:rPr>
              <a:t>Compute the separate areas and net area on paper before comparing the labels.</a:t>
            </a:r>
          </a:p>
        </p:txBody>
      </p:sp>
      <p:sp>
        <p:nvSpPr>
          <p:cNvPr id="9" name="Rectangle 8"/>
          <p:cNvSpPr/>
          <p:nvPr/>
        </p:nvSpPr>
        <p:spPr>
          <a:xfrm>
            <a:off x="658368" y="4425696"/>
            <a:ext cx="365760" cy="3657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1">
                <a:solidFill>
                  <a:srgbClr val="1A1A1A"/>
                </a:solidFill>
                <a:latin typeface="Arial"/>
              </a:defRPr>
            </a:pPr>
            <a:r>
              <a:rPr b="1" sz="2000">
                <a:solidFill>
                  <a:srgbClr val="201C19"/>
                </a:solidFill>
                <a:latin typeface="Arial"/>
              </a:rPr>
              <a:t>3</a:t>
            </a:r>
          </a:p>
        </p:txBody>
      </p:sp>
      <p:sp>
        <p:nvSpPr>
          <p:cNvPr id="10" name="TextBox 9"/>
          <p:cNvSpPr txBox="1"/>
          <p:nvPr/>
        </p:nvSpPr>
        <p:spPr>
          <a:xfrm>
            <a:off x="1234440" y="4425696"/>
            <a:ext cx="10149840" cy="109728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solidFill>
                  <a:srgbClr val="FFFFFF"/>
                </a:solidFill>
                <a:latin typeface="Arial"/>
              </a:rPr>
              <a:t>Only after core coverage work is secure, inspect the optional Shape Studio solid/net preview.</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2" name="Rectangle 11"/>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3" name="TextBox 12"/>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4" name="TextBox 13"/>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5" name="TextBox 14"/>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6" name="TextBox 15"/>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7" name="TextBox 16"/>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18  •  2026-11-30  •  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 y="1773936"/>
            <a:ext cx="50292" cy="377647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W06-L02  •  PRACTISE  •  2:55 PM–3:15 PM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Practise from the Exercise Book  |  10B Q2</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10.4–10.7 pp.158–164</a:t>
            </a:r>
          </a:p>
        </p:txBody>
      </p:sp>
      <p:pic>
        <p:nvPicPr>
          <p:cNvPr id="5" name="Picture 4" descr="10B-Q2.png"/>
          <p:cNvPicPr>
            <a:picLocks noChangeAspect="1"/>
          </p:cNvPicPr>
          <p:nvPr/>
        </p:nvPicPr>
        <p:blipFill>
          <a:blip r:embed="rId3"/>
          <a:stretch>
            <a:fillRect/>
          </a:stretch>
        </p:blipFill>
        <p:spPr>
          <a:xfrm>
            <a:off x="685800" y="2658618"/>
            <a:ext cx="10698480" cy="1842516"/>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18  •  2026-11-30  •  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 y="1773936"/>
            <a:ext cx="50292" cy="377647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W06-L02  •  PRACTISE  •  2:55 PM–3:15 PM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Practise from the Exercise Book  |  10B Q11</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10.4–10.7 pp.158–164</a:t>
            </a:r>
          </a:p>
        </p:txBody>
      </p:sp>
      <p:pic>
        <p:nvPicPr>
          <p:cNvPr id="5" name="Picture 4" descr="10B-Q11.png"/>
          <p:cNvPicPr>
            <a:picLocks noChangeAspect="1"/>
          </p:cNvPicPr>
          <p:nvPr/>
        </p:nvPicPr>
        <p:blipFill>
          <a:blip r:embed="rId3"/>
          <a:stretch>
            <a:fillRect/>
          </a:stretch>
        </p:blipFill>
        <p:spPr>
          <a:xfrm>
            <a:off x="685800" y="2896362"/>
            <a:ext cx="10698480" cy="1367028"/>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18  •  2026-11-30  •  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5A1018"/>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93776" y="1773936"/>
            <a:ext cx="64008" cy="224028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W06-L02  •  CHECK  •  3:15 PM–3:25 PM  •  10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Check independently</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10.4–10.7 pp.158–164</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Exercise Book 10B Q11 and Q2; report net area and whole tins to buy.</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Solve without displayed answers; include working, units and final rounding.</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F7F4F1"/>
                </a:solidFill>
                <a:latin typeface="Arial"/>
              </a:rPr>
              <a:t>Resources: Exercise Book 10A Q10–12 (p.64); 10B Q2 (p.65), Q11–12 (p.66); 10C Q4 (p.67)</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Rectangle 9"/>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18  •  2026-11-30  •  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 y="1773936"/>
            <a:ext cx="50292" cy="377647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W06-L02  •  CHECK  •  3:15 PM–3:25 PM  •  10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Independent check  |  10B Q11</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10.4–10.7 pp.158–164</a:t>
            </a:r>
          </a:p>
        </p:txBody>
      </p:sp>
      <p:pic>
        <p:nvPicPr>
          <p:cNvPr id="5" name="Picture 4" descr="10B-Q11.png"/>
          <p:cNvPicPr>
            <a:picLocks noChangeAspect="1"/>
          </p:cNvPicPr>
          <p:nvPr/>
        </p:nvPicPr>
        <p:blipFill>
          <a:blip r:embed="rId3"/>
          <a:stretch>
            <a:fillRect/>
          </a:stretch>
        </p:blipFill>
        <p:spPr>
          <a:xfrm>
            <a:off x="685800" y="2896362"/>
            <a:ext cx="10698480" cy="1367028"/>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18  •  2026-11-30  •  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 y="1773936"/>
            <a:ext cx="50292" cy="377647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W06-L02  •  CHECK  •  3:15 PM–3:25 PM  •  10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Independent check  |  10B Q2</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10.4–10.7 pp.158–164</a:t>
            </a:r>
          </a:p>
        </p:txBody>
      </p:sp>
      <p:pic>
        <p:nvPicPr>
          <p:cNvPr id="5" name="Picture 4" descr="10B-Q2.png"/>
          <p:cNvPicPr>
            <a:picLocks noChangeAspect="1"/>
          </p:cNvPicPr>
          <p:nvPr/>
        </p:nvPicPr>
        <p:blipFill>
          <a:blip r:embed="rId3"/>
          <a:stretch>
            <a:fillRect/>
          </a:stretch>
        </p:blipFill>
        <p:spPr>
          <a:xfrm>
            <a:off x="685800" y="2658618"/>
            <a:ext cx="10698480" cy="1842516"/>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18  •  2026-11-30  •  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93776" y="1773936"/>
            <a:ext cx="64008" cy="224028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W06-L02  •  WRAP UP  •  3:25 PM–3:30 PM  •  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Wrap up and choose the next step</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10.4–10.7 pp.158–164</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Ask: What changed in your understanding? Where will you use it? What should you check next time?</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Name the math and one other essential skill used; record a next practice step.</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F7F4F1"/>
                </a:solidFill>
                <a:latin typeface="Arial"/>
              </a:rPr>
              <a:t>Resources: Exercise Book 10A Q10–12 (p.64); 10B Q2 (p.65), Q11–12 (p.66); 10C Q4 (p.67)</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Rectangle 9"/>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18  •  2026-11-30  •  42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F7F4F1"/>
      </a:hlink>
      <a:folHlink>
        <a:srgbClr val="F7F4F1"/>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F7F4F1"/>
      </a:hlink>
      <a:folHlink>
        <a:srgbClr val="F7F4F1"/>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 Id="rId2" Type="http://schemas.microsoft.com/office/2011/relationships/webextension" Target="webextension2.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334" row="1">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60FB143F-4C5F-4CFA-83D4-CE599B274CB0}">
  <we:reference id="wa200010725" version="1.0.0.1" store="en-US" storeType="OMEX"/>
  <we:alternateReferences>
    <we:reference id="WA200010725" version="1.0.0.1" store="" storeType="OMEX"/>
  </we:alternateReferences>
  <we:properties>
    <we:property name="claude.fileId" value="&quot;e15ce61c-59d5-4165-9b38-ae3aa70e2273&quot;"/>
  </we:properties>
  <we:bindings/>
  <we:snapshot xmlns:r="http://schemas.openxmlformats.org/officeDocument/2006/relationships"/>
</we:webextension>
</file>

<file path=ppt/webextensions/webextension2.xml><?xml version="1.0" encoding="utf-8"?>
<we:webextension xmlns:we="http://schemas.microsoft.com/office/webextensions/webextension/2010/11" id="{696CE026-134B-41F5-918B-2FB126868299}">
  <we:reference id="wa200010215" version="2.0.0.1" store="en-US" storeType="OMEX"/>
  <we:alternateReferences>
    <we:reference id="WA200010215" version="2.0.0.1" store="" storeType="OMEX"/>
  </we:alternateReferences>
  <we:properties>
    <we:property name="bps.codex_control.document_id" value="&quot;fd5b780e-6113-4733-b1f1-d8726169f489&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42</Slides>
  <Notes>42</Notes>
  <HiddenSlides>0</HiddenSlides>
  <ScaleCrop>false</ScaleCrop>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Carpentry Math | Full Day 18 | 2026-11-30</dc:title>
  <dc:creator>ACCESS Trades</dc:creator>
  <dc:subject>Area and material coverage; Composite areas, openings and surface coverage</dc:subject>
</cp:coreProperties>
</file>