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11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7"/>
  </p:notesMasterIdLst>
  <p:sldIdLst>
    <p:sldId id="435" r:id="rId172"/>
    <p:sldId id="436" r:id="rId173"/>
    <p:sldId id="437" r:id="rId174"/>
    <p:sldId id="438" r:id="rId175"/>
    <p:sldId id="439" r:id="rId176"/>
    <p:sldId id="440" r:id="rId177"/>
    <p:sldId id="379" r:id="rId112"/>
    <p:sldId id="441" r:id="rId178"/>
    <p:sldId id="442" r:id="rId179"/>
    <p:sldId id="443" r:id="rId180"/>
    <p:sldId id="444" r:id="rId181"/>
    <p:sldId id="445" r:id="rId182"/>
    <p:sldId id="446" r:id="rId183"/>
    <p:sldId id="447" r:id="rId184"/>
    <p:sldId id="448" r:id="rId185"/>
    <p:sldId id="449" r:id="rId186"/>
    <p:sldId id="450" r:id="rId187"/>
    <p:sldId id="451" r:id="rId188"/>
    <p:sldId id="452" r:id="rId189"/>
    <p:sldId id="453" r:id="rId190"/>
    <p:sldId id="454" r:id="rId191"/>
    <p:sldId id="455" r:id="rId192"/>
    <p:sldId id="456" r:id="rId193"/>
    <p:sldId id="457" r:id="rId194"/>
    <p:sldId id="458" r:id="rId195"/>
    <p:sldId id="459" r:id="rId196"/>
    <p:sldId id="382" r:id="rId115"/>
    <p:sldId id="460" r:id="rId197"/>
    <p:sldId id="461" r:id="rId198"/>
    <p:sldId id="462" r:id="rId199"/>
    <p:sldId id="463" r:id="rId200"/>
    <p:sldId id="464" r:id="rId201"/>
    <p:sldId id="465" r:id="rId202"/>
    <p:sldId id="466" r:id="rId203"/>
    <p:sldId id="467" r:id="rId204"/>
    <p:sldId id="468" r:id="rId205"/>
    <p:sldId id="469" r:id="rId206"/>
    <p:sldId id="470" r:id="rId207"/>
    <p:sldId id="471" r:id="rId208"/>
    <p:sldId id="472" r:id="rId209"/>
    <p:sldId id="473" r:id="rId210"/>
    <p:sldId id="474" r:id="rId2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0520" autoAdjust="0"/>
  </p:normalViewPr>
  <p:slideViewPr>
    <p:cSldViewPr snapToGrid="0">
      <p:cViewPr varScale="1">
        <p:scale>
          <a:sx n="65" d="100"/>
          <a:sy n="65" d="100"/>
        </p:scale>
        <p:origin x="2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12" Type="http://schemas.openxmlformats.org/officeDocument/2006/relationships/slide" Target="slides/slide7.xml"/><Relationship Id="rId115" Type="http://schemas.openxmlformats.org/officeDocument/2006/relationships/slide" Target="slides/slide27.xml"/><Relationship Id="rId167" Type="http://schemas.openxmlformats.org/officeDocument/2006/relationships/notesMaster" Target="notesMasters/notesMaster1.xml"/><Relationship Id="rId168" Type="http://schemas.openxmlformats.org/officeDocument/2006/relationships/presProps" Target="presProps.xml"/><Relationship Id="rId169" Type="http://schemas.openxmlformats.org/officeDocument/2006/relationships/viewProps" Target="viewProps.xml"/><Relationship Id="rId170" Type="http://schemas.openxmlformats.org/officeDocument/2006/relationships/theme" Target="theme/theme1.xml"/><Relationship Id="rId171" Type="http://schemas.openxmlformats.org/officeDocument/2006/relationships/tableStyles" Target="tableStyles.xml"/><Relationship Id="rId172" Type="http://schemas.openxmlformats.org/officeDocument/2006/relationships/slide" Target="slides/slide1.xml"/><Relationship Id="rId173" Type="http://schemas.openxmlformats.org/officeDocument/2006/relationships/slide" Target="slides/slide2.xml"/><Relationship Id="rId174" Type="http://schemas.openxmlformats.org/officeDocument/2006/relationships/slide" Target="slides/slide3.xml"/><Relationship Id="rId175" Type="http://schemas.openxmlformats.org/officeDocument/2006/relationships/slide" Target="slides/slide4.xml"/><Relationship Id="rId176" Type="http://schemas.openxmlformats.org/officeDocument/2006/relationships/slide" Target="slides/slide5.xml"/><Relationship Id="rId177" Type="http://schemas.openxmlformats.org/officeDocument/2006/relationships/slide" Target="slides/slide6.xml"/><Relationship Id="rId178" Type="http://schemas.openxmlformats.org/officeDocument/2006/relationships/slide" Target="slides/slide8.xml"/><Relationship Id="rId179" Type="http://schemas.openxmlformats.org/officeDocument/2006/relationships/slide" Target="slides/slide9.xml"/><Relationship Id="rId180" Type="http://schemas.openxmlformats.org/officeDocument/2006/relationships/slide" Target="slides/slide10.xml"/><Relationship Id="rId181" Type="http://schemas.openxmlformats.org/officeDocument/2006/relationships/slide" Target="slides/slide11.xml"/><Relationship Id="rId182" Type="http://schemas.openxmlformats.org/officeDocument/2006/relationships/slide" Target="slides/slide12.xml"/><Relationship Id="rId183" Type="http://schemas.openxmlformats.org/officeDocument/2006/relationships/slide" Target="slides/slide13.xml"/><Relationship Id="rId184" Type="http://schemas.openxmlformats.org/officeDocument/2006/relationships/slide" Target="slides/slide14.xml"/><Relationship Id="rId185" Type="http://schemas.openxmlformats.org/officeDocument/2006/relationships/slide" Target="slides/slide15.xml"/><Relationship Id="rId186" Type="http://schemas.openxmlformats.org/officeDocument/2006/relationships/slide" Target="slides/slide16.xml"/><Relationship Id="rId187" Type="http://schemas.openxmlformats.org/officeDocument/2006/relationships/slide" Target="slides/slide17.xml"/><Relationship Id="rId188" Type="http://schemas.openxmlformats.org/officeDocument/2006/relationships/slide" Target="slides/slide18.xml"/><Relationship Id="rId189" Type="http://schemas.openxmlformats.org/officeDocument/2006/relationships/slide" Target="slides/slide19.xml"/><Relationship Id="rId190" Type="http://schemas.openxmlformats.org/officeDocument/2006/relationships/slide" Target="slides/slide20.xml"/><Relationship Id="rId191" Type="http://schemas.openxmlformats.org/officeDocument/2006/relationships/slide" Target="slides/slide21.xml"/><Relationship Id="rId192" Type="http://schemas.openxmlformats.org/officeDocument/2006/relationships/slide" Target="slides/slide22.xml"/><Relationship Id="rId193" Type="http://schemas.openxmlformats.org/officeDocument/2006/relationships/slide" Target="slides/slide23.xml"/><Relationship Id="rId194" Type="http://schemas.openxmlformats.org/officeDocument/2006/relationships/slide" Target="slides/slide24.xml"/><Relationship Id="rId195" Type="http://schemas.openxmlformats.org/officeDocument/2006/relationships/slide" Target="slides/slide25.xml"/><Relationship Id="rId196" Type="http://schemas.openxmlformats.org/officeDocument/2006/relationships/slide" Target="slides/slide26.xml"/><Relationship Id="rId197" Type="http://schemas.openxmlformats.org/officeDocument/2006/relationships/slide" Target="slides/slide28.xml"/><Relationship Id="rId198" Type="http://schemas.openxmlformats.org/officeDocument/2006/relationships/slide" Target="slides/slide29.xml"/><Relationship Id="rId199" Type="http://schemas.openxmlformats.org/officeDocument/2006/relationships/slide" Target="slides/slide30.xml"/><Relationship Id="rId200" Type="http://schemas.openxmlformats.org/officeDocument/2006/relationships/slide" Target="slides/slide31.xml"/><Relationship Id="rId201" Type="http://schemas.openxmlformats.org/officeDocument/2006/relationships/slide" Target="slides/slide32.xml"/><Relationship Id="rId202" Type="http://schemas.openxmlformats.org/officeDocument/2006/relationships/slide" Target="slides/slide33.xml"/><Relationship Id="rId203" Type="http://schemas.openxmlformats.org/officeDocument/2006/relationships/slide" Target="slides/slide34.xml"/><Relationship Id="rId204" Type="http://schemas.openxmlformats.org/officeDocument/2006/relationships/slide" Target="slides/slide35.xml"/><Relationship Id="rId205" Type="http://schemas.openxmlformats.org/officeDocument/2006/relationships/slide" Target="slides/slide36.xml"/><Relationship Id="rId206" Type="http://schemas.openxmlformats.org/officeDocument/2006/relationships/slide" Target="slides/slide37.xml"/><Relationship Id="rId207" Type="http://schemas.openxmlformats.org/officeDocument/2006/relationships/slide" Target="slides/slide38.xml"/><Relationship Id="rId208" Type="http://schemas.openxmlformats.org/officeDocument/2006/relationships/slide" Target="slides/slide39.xml"/><Relationship Id="rId209" Type="http://schemas.openxmlformats.org/officeDocument/2006/relationships/slide" Target="slides/slide40.xml"/><Relationship Id="rId210" Type="http://schemas.openxmlformats.org/officeDocument/2006/relationships/slide" Target="slides/slide41.xml"/><Relationship Id="rId211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2A43CA-EE69-4B9A-80F8-91B7489D0DD8}" type="datetimeFigureOut">
              <a:rPr lang="en-CA" smtClean="0"/>
              <a:t>2026-10-19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99165C-7370-4B52-8859-B50CCB89355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613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W06-L01 | 2026-11-30 | 12:45 PM–2:00 PM | 75 minutes</a:t>
            </a:r>
          </a:p>
          <a:p>
            <a:r>
              <a:t>Area and material coverage</a:t>
            </a:r>
          </a:p>
          <a:p>
            <a:r>
              <a:t>Mode: Math</a:t>
            </a:r>
          </a:p>
          <a:p>
            <a:r>
              <a:t>Goal: Calculate rectangle and triangle areas and distinguish linear units from square units.</a:t>
            </a:r>
          </a:p>
          <a:p>
            <a:r>
              <a:t>Read: Textbook sections 10.1–10.3 pp.154–157; sections 7.4 pp.113–115</a:t>
            </a:r>
          </a:p>
          <a:p>
            <a:r>
              <a:t>Practise: Exercise Book 10A Q1–8 (p.63); 10B Q1,4 (p.65)</a:t>
            </a:r>
          </a:p>
          <a:p>
            <a:r>
              <a:t>Tool: Shape Canvas: rectangle and right triangle with the same base and height.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area and material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why 1 m² is not 1,000 mm²; retrieve a rectangle perimeter and name its different unit.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area as a count of squares, then the triangle as half a rectangle. Show squared conversion factors.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10A Q2–4,7–8; learners label perpendicular height, not the sloping side.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10A Q5–6 and 10B Q1,4. On Shape Canvas, compare the two shapes’ areas. Keep the sheet count’s no-waste assumption explicit.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10B Q1; show floor area, one-sheet area and sheet quantity.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 = 25.92 m² and 9 sheets, assuming no waste as stated. Answer Key p.28. Answer Key pp.27–28</a:t>
            </a:r>
          </a:p>
          <a:p/>
          <a:p>
            <a:r>
              <a:t>Extend to composite surfaces and openings without double-counting.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W06-L02 | 2026-11-30 | 2:15 PM–3:30 PM | 75 minutes</a:t>
            </a:r>
          </a:p>
          <a:p>
            <a:r>
              <a:t>Composite areas, openings and surface coverage</a:t>
            </a:r>
          </a:p>
          <a:p>
            <a:r>
              <a:t>Mode: Math</a:t>
            </a:r>
          </a:p>
          <a:p>
            <a:r>
              <a:t>Goal: Break a composite shape into known parts and subtract openings before estimating coverage.</a:t>
            </a:r>
          </a:p>
          <a:p>
            <a:r>
              <a:t>Read: Textbook sections 10.4–10.7 pp.158–164</a:t>
            </a:r>
          </a:p>
          <a:p>
            <a:r>
              <a:t>Practise: Exercise Book 10A Q10–12 (p.64); 10B Q2 (p.65), Q11–12 (p.66); 10C Q4 (p.67)</a:t>
            </a:r>
          </a:p>
          <a:p>
            <a:r>
              <a:t>Tool: Shape Canvas: build a rectangle with an opening using two labelled shapes; compare parts. Numeracy Hub Shape Studio: use a solid/net as an optional surface-area preview.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composite areas, openings and surface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Show a panel with a hole; ask which area is added and which is subtracted.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10B Q11 with outer and opening areas. Demonstrate a trapezoid and circle formula, keeping radius/diameter distinct.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10A Q10–12 and Exercise Book 10C Q4. Partners annotate non-overlapping pieces.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10B Q2,11–12. Build a Shape Canvas sketch and label areas; use the net preview only if core subtraction and coverage are secure.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10B Q11 and Q2; report net area and whole tins to buy.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900,000 mm² = 0.9 m²; Q2 = 4.57 L, buy 5 tins. Answer Key p.28. Answer Key pp.27–28</a:t>
            </a:r>
          </a:p>
          <a:p/>
          <a:p>
            <a:r>
              <a:t>Compare square units with cubic units before the volume lesson.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today’s math topics and review the timetable.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W06-L01 | 2026-11-30 | 12:45 PM–2:00 PM | 75 minutes</a:t>
            </a:r>
          </a:p>
          <a:p>
            <a:r>
              <a:t>Area and material coverage</a:t>
            </a:r>
          </a:p>
          <a:p>
            <a:r>
              <a:t>Mode: Math</a:t>
            </a:r>
          </a:p>
          <a:p>
            <a:r>
              <a:t>Goal: Calculate rectangle and triangle areas and distinguish linear units from square units.</a:t>
            </a:r>
          </a:p>
          <a:p>
            <a:r>
              <a:t>Read: Textbook sections 10.1–10.3 pp.154–157; sections 7.4 pp.113–115</a:t>
            </a:r>
          </a:p>
          <a:p>
            <a:r>
              <a:t>Practise: Exercise Book 10A Q1–8 (p.63); 10B Q1,4 (p.65)</a:t>
            </a:r>
          </a:p>
          <a:p>
            <a:r>
              <a:t>Tool: Shape Canvas: rectangle and right triangle with the same base and height.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area and material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why 1 m² is not 1,000 mm²; retrieve a rectangle perimeter and name its different unit.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area as a count of squares, then the triangle as half a rectangle. Show squared conversion factors.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10A Q2–4,7–8; learners label perpendicular height, not the sloping side.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10A Q5–6 and 10B Q1,4. On Shape Canvas, compare the two shapes’ areas. Keep the sheet count’s no-waste assumption explicit.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10B Q1; show floor area, one-sheet area and sheet quantity.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 = 25.92 m² and 9 sheets, assuming no waste as stated. Answer Key p.28. Answer Key pp.27–28</a:t>
            </a:r>
          </a:p>
          <a:p/>
          <a:p>
            <a:r>
              <a:t>Extend to composite surfaces and openings without double-counting.</a:t>
            </a:r>
          </a:p>
          <a:p/>
          <a:p>
            <a:r>
              <a:t>Keep activities within the allocated phase time.</a:t>
            </a:r>
          </a:p>
          <a:p/>
          <a:p>
            <a:r>
              <a:t>W06-L02 | 2026-11-30 | 2:15 PM–3:30 PM | 75 minutes</a:t>
            </a:r>
          </a:p>
          <a:p>
            <a:r>
              <a:t>Composite areas, openings and surface coverage</a:t>
            </a:r>
          </a:p>
          <a:p>
            <a:r>
              <a:t>Mode: Math</a:t>
            </a:r>
          </a:p>
          <a:p>
            <a:r>
              <a:t>Goal: Break a composite shape into known parts and subtract openings before estimating coverage.</a:t>
            </a:r>
          </a:p>
          <a:p>
            <a:r>
              <a:t>Read: Textbook sections 10.4–10.7 pp.158–164</a:t>
            </a:r>
          </a:p>
          <a:p>
            <a:r>
              <a:t>Practise: Exercise Book 10A Q10–12 (p.64); 10B Q2 (p.65), Q11–12 (p.66); 10C Q4 (p.67)</a:t>
            </a:r>
          </a:p>
          <a:p>
            <a:r>
              <a:t>Tool: Shape Canvas: build a rectangle with an opening using two labelled shapes; compare parts. Numeracy Hub Shape Studio: use a solid/net as an optional surface-area preview.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composite areas, openings and surface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Show a panel with a hole; ask which area is added and which is subtracted.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10B Q11 with outer and opening areas. Demonstrate a trapezoid and circle formula, keeping radius/diameter distinct.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10A Q10–12 and Exercise Book 10C Q4. Partners annotate non-overlapping pieces.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10B Q2,11–12. Build a Shape Canvas sketch and label areas; use the net preview only if core subtraction and coverage are secure.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10B Q11 and Q2; report net area and whole tins to buy.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900,000 mm² = 0.9 m²; Q2 = 4.57 L, buy 5 tins. Answer Key p.28. Answer Key pp.27–28</a:t>
            </a:r>
          </a:p>
          <a:p/>
          <a:p>
            <a:r>
              <a:t>Compare square units with cubic units before the volume lesson.</a:t>
            </a:r>
          </a:p>
          <a:p/>
          <a:p>
            <a:r>
              <a:t>Keep activities within the allocated phase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W06-L01 | 2026-11-30 | 12:45 PM–2:00 PM | 75 minutes</a:t>
            </a:r>
          </a:p>
          <a:p>
            <a:r>
              <a:t>Area and material coverage</a:t>
            </a:r>
          </a:p>
          <a:p>
            <a:r>
              <a:t>Mode: Math</a:t>
            </a:r>
          </a:p>
          <a:p>
            <a:r>
              <a:t>Goal: Calculate rectangle and triangle areas and distinguish linear units from square units.</a:t>
            </a:r>
          </a:p>
          <a:p>
            <a:r>
              <a:t>Read: Textbook sections 10.1–10.3 pp.154–157; sections 7.4 pp.113–115</a:t>
            </a:r>
          </a:p>
          <a:p>
            <a:r>
              <a:t>Practise: Exercise Book 10A Q1–8 (p.63); 10B Q1,4 (p.65)</a:t>
            </a:r>
          </a:p>
          <a:p>
            <a:r>
              <a:t>Tool: Shape Canvas: rectangle and right triangle with the same base and height.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area and material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why 1 m² is not 1,000 mm²; retrieve a rectangle perimeter and name its different unit.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area as a count of squares, then the triangle as half a rectangle. Show squared conversion factors.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10A Q2–4,7–8; learners label perpendicular height, not the sloping side.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10A Q5–6 and 10B Q1,4. On Shape Canvas, compare the two shapes’ areas. Keep the sheet count’s no-waste assumption explicit.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10B Q1; show floor area, one-sheet area and sheet quantity.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 = 25.92 m² and 9 sheets, assuming no waste as stated. Answer Key p.28. Answer Key pp.27–28</a:t>
            </a:r>
          </a:p>
          <a:p/>
          <a:p>
            <a:r>
              <a:t>Extend to composite surfaces and openings without double-counting.</a:t>
            </a:r>
          </a:p>
          <a:p/>
          <a:p>
            <a:r>
              <a:t>Keep activities within the allocated phase time.</a:t>
            </a:r>
          </a:p>
          <a:p>
            <a:r>
              <a:t>PHASE TIMING: Start, 12:45 PM–12:50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W06-L01 | 2026-11-30 | 12:45 PM–2:00 PM | 75 minutes</a:t>
            </a:r>
          </a:p>
          <a:p>
            <a:r>
              <a:t>Area and material coverage</a:t>
            </a:r>
          </a:p>
          <a:p>
            <a:r>
              <a:t>Mode: Math</a:t>
            </a:r>
          </a:p>
          <a:p>
            <a:r>
              <a:t>Goal: Calculate rectangle and triangle areas and distinguish linear units from square units.</a:t>
            </a:r>
          </a:p>
          <a:p>
            <a:r>
              <a:t>Read: Textbook sections 10.1–10.3 pp.154–157; sections 7.4 pp.113–115</a:t>
            </a:r>
          </a:p>
          <a:p>
            <a:r>
              <a:t>Practise: Exercise Book 10A Q1–8 (p.63); 10B Q1,4 (p.65)</a:t>
            </a:r>
          </a:p>
          <a:p>
            <a:r>
              <a:t>Tool: Shape Canvas: rectangle and right triangle with the same base and height.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area and material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why 1 m² is not 1,000 mm²; retrieve a rectangle perimeter and name its different unit.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area as a count of squares, then the triangle as half a rectangle. Show squared conversion factors.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10A Q2–4,7–8; learners label perpendicular height, not the sloping side.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10A Q5–6 and 10B Q1,4. On Shape Canvas, compare the two shapes’ areas. Keep the sheet count’s no-waste assumption explicit.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10B Q1; show floor area, one-sheet area and sheet quantity.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 = 25.92 m² and 9 sheets, assuming no waste as stated. Answer Key p.28. Answer Key pp.27–28</a:t>
            </a:r>
          </a:p>
          <a:p/>
          <a:p>
            <a:r>
              <a:t>Extend to composite surfaces and openings without double-counting.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12:50 PM–12:55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W06-L01 | 2026-11-30 | 12:45 PM–2:00 PM | 75 minutes</a:t>
            </a:r>
          </a:p>
          <a:p>
            <a:r>
              <a:t>Area and material coverage</a:t>
            </a:r>
          </a:p>
          <a:p>
            <a:r>
              <a:t>Mode: Math</a:t>
            </a:r>
          </a:p>
          <a:p>
            <a:r>
              <a:t>Goal: Calculate rectangle and triangle areas and distinguish linear units from square units.</a:t>
            </a:r>
          </a:p>
          <a:p>
            <a:r>
              <a:t>Read: Textbook sections 10.1–10.3 pp.154–157; sections 7.4 pp.113–115</a:t>
            </a:r>
          </a:p>
          <a:p>
            <a:r>
              <a:t>Practise: Exercise Book 10A Q1–8 (p.63); 10B Q1,4 (p.65)</a:t>
            </a:r>
          </a:p>
          <a:p>
            <a:r>
              <a:t>Tool: Shape Canvas: rectangle and right triangle with the same base and height.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area and material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why 1 m² is not 1,000 mm²; retrieve a rectangle perimeter and name its different unit.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area as a count of squares, then the triangle as half a rectangle. Show squared conversion factors.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10A Q2–4,7–8; learners label perpendicular height, not the sloping side.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10A Q5–6 and 10B Q1,4. On Shape Canvas, compare the two shapes’ areas. Keep the sheet count’s no-waste assumption explicit.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10B Q1; show floor area, one-sheet area and sheet quantity.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 = 25.92 m² and 9 sheets, assuming no waste as stated. Answer Key p.28. Answer Key pp.27–28</a:t>
            </a:r>
          </a:p>
          <a:p/>
          <a:p>
            <a:r>
              <a:t>Extend to composite surfaces and openings without double-counting.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10.1–10.3 pp.154–157; sections 7.4 pp.113–115</a:t>
            </a:r>
          </a:p>
          <a:p>
            <a:r>
              <a:t>ACCESS Trades Numeracy Textbook p.156 — Figure 10.3 — A rectangle cut into two triangles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W06-L01 | 2026-11-30 | 12:45 PM–2:00 PM | 75 minutes</a:t>
            </a:r>
          </a:p>
          <a:p>
            <a:r>
              <a:t>Area and material coverage</a:t>
            </a:r>
          </a:p>
          <a:p>
            <a:r>
              <a:t>Mode: Math</a:t>
            </a:r>
          </a:p>
          <a:p>
            <a:r>
              <a:t>Goal: Calculate rectangle and triangle areas and distinguish linear units from square units.</a:t>
            </a:r>
          </a:p>
          <a:p>
            <a:r>
              <a:t>Read: Textbook sections 10.1–10.3 pp.154–157; sections 7.4 pp.113–115</a:t>
            </a:r>
          </a:p>
          <a:p>
            <a:r>
              <a:t>Practise: Exercise Book 10A Q1–8 (p.63); 10B Q1,4 (p.65)</a:t>
            </a:r>
          </a:p>
          <a:p>
            <a:r>
              <a:t>Tool: Shape Canvas: rectangle and right triangle with the same base and height.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area and material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why 1 m² is not 1,000 mm²; retrieve a rectangle perimeter and name its different unit.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area as a count of squares, then the triangle as half a rectangle. Show squared conversion factors.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10A Q2–4,7–8; learners label perpendicular height, not the sloping side.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10A Q5–6 and 10B Q1,4. On Shape Canvas, compare the two shapes’ areas. Keep the sheet count’s no-waste assumption explicit.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10B Q1; show floor area, one-sheet area and sheet quantity.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 = 25.92 m² and 9 sheets, assuming no waste as stated. Answer Key p.28. Answer Key pp.27–28</a:t>
            </a:r>
          </a:p>
          <a:p/>
          <a:p>
            <a:r>
              <a:t>Extend to composite surfaces and openings without double-counting.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10.1–10.3 pp.154–157; sections 7.4 pp.113–115</a:t>
            </a:r>
          </a:p>
          <a:p>
            <a:r>
              <a:t>ACCESS Trades Numeracy Textbook p.156 — Figure 10.3 — A rectangle cut into two triangles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W06-L01 | 2026-11-30 | 12:45 PM–2:00 PM | 75 minutes</a:t>
            </a:r>
          </a:p>
          <a:p>
            <a:r>
              <a:t>Area and material coverage</a:t>
            </a:r>
          </a:p>
          <a:p>
            <a:r>
              <a:t>Mode: Math</a:t>
            </a:r>
          </a:p>
          <a:p>
            <a:r>
              <a:t>Goal: Calculate rectangle and triangle areas and distinguish linear units from square units.</a:t>
            </a:r>
          </a:p>
          <a:p>
            <a:r>
              <a:t>Read: Textbook sections 10.1–10.3 pp.154–157; sections 7.4 pp.113–115</a:t>
            </a:r>
          </a:p>
          <a:p>
            <a:r>
              <a:t>Practise: Exercise Book 10A Q1–8 (p.63); 10B Q1,4 (p.65)</a:t>
            </a:r>
          </a:p>
          <a:p>
            <a:r>
              <a:t>Tool: Shape Canvas: rectangle and right triangle with the same base and height.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area and material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why 1 m² is not 1,000 mm²; retrieve a rectangle perimeter and name its different unit.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area as a count of squares, then the triangle as half a rectangle. Show squared conversion factors.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10A Q2–4,7–8; learners label perpendicular height, not the sloping side.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10A Q5–6 and 10B Q1,4. On Shape Canvas, compare the two shapes’ areas. Keep the sheet count’s no-waste assumption explicit.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10B Q1; show floor area, one-sheet area and sheet quantity.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 = 25.92 m² and 9 sheets, assuming no waste as stated. Answer Key p.28. Answer Key pp.27–28</a:t>
            </a:r>
          </a:p>
          <a:p/>
          <a:p>
            <a:r>
              <a:t>Extend to composite surfaces and openings without double-counting.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Textbook visual: ACCESS Textbook p.156 • Figure 10.3 — Equal base and perpendicular height</a:t>
            </a:r>
          </a:p>
          <a:p>
            <a:r>
              <a:t>Exact PDF/printed page: 156. ACCESS Textbook excerpt.</a:t>
            </a:r>
          </a:p>
          <a:p>
            <a:r>
              <a:t>Explain why equal base and perpendicular height produce half the rectangle’s area.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W06-L01 | 2026-11-30 | 12:45 PM–2:00 PM | 75 minutes</a:t>
            </a:r>
          </a:p>
          <a:p>
            <a:r>
              <a:t>Area and material coverage</a:t>
            </a:r>
          </a:p>
          <a:p>
            <a:r>
              <a:t>Mode: Math</a:t>
            </a:r>
          </a:p>
          <a:p>
            <a:r>
              <a:t>Goal: Calculate rectangle and triangle areas and distinguish linear units from square units.</a:t>
            </a:r>
          </a:p>
          <a:p>
            <a:r>
              <a:t>Read: Textbook sections 10.1–10.3 pp.154–157; sections 7.4 pp.113–115</a:t>
            </a:r>
          </a:p>
          <a:p>
            <a:r>
              <a:t>Practise: Exercise Book 10A Q1–8 (p.63); 10B Q1,4 (p.65)</a:t>
            </a:r>
          </a:p>
          <a:p>
            <a:r>
              <a:t>Tool: Shape Canvas: rectangle and right triangle with the same base and height.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area and material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why 1 m² is not 1,000 mm²; retrieve a rectangle perimeter and name its different unit.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area as a count of squares, then the triangle as half a rectangle. Show squared conversion factors.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10A Q2–4,7–8; learners label perpendicular height, not the sloping side.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10A Q5–6 and 10B Q1,4. On Shape Canvas, compare the two shapes’ areas. Keep the sheet count’s no-waste assumption explicit.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10B Q1; show floor area, one-sheet area and sheet quantity.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 = 25.92 m² and 9 sheets, assuming no waste as stated. Answer Key p.28. Answer Key pp.27–28</a:t>
            </a:r>
          </a:p>
          <a:p/>
          <a:p>
            <a:r>
              <a:t>Extend to composite surfaces and openings without double-counting.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Textbook visual: ACCESS Textbook p.155 • Example 10.1 — Rectangle area and squared unit conversion</a:t>
            </a:r>
          </a:p>
          <a:p>
            <a:r>
              <a:t>Exact PDF/printed page: 155. ACCESS Textbook excerpt.</a:t>
            </a:r>
          </a:p>
          <a:p>
            <a:r>
              <a:t>Explain why equal base and perpendicular height produce half the rectangle’s area.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W06-L01 | 2026-11-30 | 12:45 PM–2:00 PM | 75 minutes</a:t>
            </a:r>
          </a:p>
          <a:p>
            <a:r>
              <a:t>Area and material coverage</a:t>
            </a:r>
          </a:p>
          <a:p>
            <a:r>
              <a:t>Mode: Math</a:t>
            </a:r>
          </a:p>
          <a:p>
            <a:r>
              <a:t>Goal: Calculate rectangle and triangle areas and distinguish linear units from square units.</a:t>
            </a:r>
          </a:p>
          <a:p>
            <a:r>
              <a:t>Read: Textbook sections 10.1–10.3 pp.154–157; sections 7.4 pp.113–115</a:t>
            </a:r>
          </a:p>
          <a:p>
            <a:r>
              <a:t>Practise: Exercise Book 10A Q1–8 (p.63); 10B Q1,4 (p.65)</a:t>
            </a:r>
          </a:p>
          <a:p>
            <a:r>
              <a:t>Tool: Shape Canvas: rectangle and right triangle with the same base and height.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area and material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why 1 m² is not 1,000 mm²; retrieve a rectangle perimeter and name its different unit.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area as a count of squares, then the triangle as half a rectangle. Show squared conversion factors.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10A Q2–4,7–8; learners label perpendicular height, not the sloping side.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10A Q5–6 and 10B Q1,4. On Shape Canvas, compare the two shapes’ areas. Keep the sheet count’s no-waste assumption explicit.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10B Q1; show floor area, one-sheet area and sheet quantity.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 = 25.92 m² and 9 sheets, assuming no waste as stated. Answer Key p.28. Answer Key pp.27–28</a:t>
            </a:r>
          </a:p>
          <a:p/>
          <a:p>
            <a:r>
              <a:t>Extend to composite surfaces and openings without double-counting.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W06-L01 | 2026-11-30 | 12:45 PM–2:00 PM | 75 minutes</a:t>
            </a:r>
          </a:p>
          <a:p>
            <a:r>
              <a:t>Area and material coverage</a:t>
            </a:r>
          </a:p>
          <a:p>
            <a:r>
              <a:t>Mode: Math</a:t>
            </a:r>
          </a:p>
          <a:p>
            <a:r>
              <a:t>Goal: Calculate rectangle and triangle areas and distinguish linear units from square units.</a:t>
            </a:r>
          </a:p>
          <a:p>
            <a:r>
              <a:t>Read: Textbook sections 10.1–10.3 pp.154–157; sections 7.4 pp.113–115</a:t>
            </a:r>
          </a:p>
          <a:p>
            <a:r>
              <a:t>Practise: Exercise Book 10A Q1–8 (p.63); 10B Q1,4 (p.65)</a:t>
            </a:r>
          </a:p>
          <a:p>
            <a:r>
              <a:t>Tool: Shape Canvas: rectangle and right triangle with the same base and height.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area and material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why 1 m² is not 1,000 mm²; retrieve a rectangle perimeter and name its different unit.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area as a count of squares, then the triangle as half a rectangle. Show squared conversion factors.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10A Q2–4,7–8; learners label perpendicular height, not the sloping side.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10A Q5–6 and 10B Q1,4. On Shape Canvas, compare the two shapes’ areas. Keep the sheet count’s no-waste assumption explicit.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10B Q1; show floor area, one-sheet area and sheet quantity.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 = 25.92 m² and 9 sheets, assuming no waste as stated. Answer Key p.28. Answer Key pp.27–28</a:t>
            </a:r>
          </a:p>
          <a:p/>
          <a:p>
            <a:r>
              <a:t>Extend to composite surfaces and openings without double-counting.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W06-L01 | 2026-11-30 | 12:45 PM–2:00 PM | 75 minutes</a:t>
            </a:r>
          </a:p>
          <a:p>
            <a:r>
              <a:t>Area and material coverage</a:t>
            </a:r>
          </a:p>
          <a:p>
            <a:r>
              <a:t>Mode: Math</a:t>
            </a:r>
          </a:p>
          <a:p>
            <a:r>
              <a:t>Goal: Calculate rectangle and triangle areas and distinguish linear units from square units.</a:t>
            </a:r>
          </a:p>
          <a:p>
            <a:r>
              <a:t>Read: Textbook sections 10.1–10.3 pp.154–157; sections 7.4 pp.113–115</a:t>
            </a:r>
          </a:p>
          <a:p>
            <a:r>
              <a:t>Practise: Exercise Book 10A Q1–8 (p.63); 10B Q1,4 (p.65)</a:t>
            </a:r>
          </a:p>
          <a:p>
            <a:r>
              <a:t>Tool: Shape Canvas: rectangle and right triangle with the same base and height.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area and material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why 1 m² is not 1,000 mm²; retrieve a rectangle perimeter and name its different unit.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area as a count of squares, then the triangle as half a rectangle. Show squared conversion factors.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10A Q2–4,7–8; learners label perpendicular height, not the sloping side.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10A Q5–6 and 10B Q1,4. On Shape Canvas, compare the two shapes’ areas. Keep the sheet count’s no-waste assumption explicit.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10B Q1; show floor area, one-sheet area and sheet quantity.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 = 25.92 m² and 9 sheets, assuming no waste as stated. Answer Key p.28. Answer Key pp.27–28</a:t>
            </a:r>
          </a:p>
          <a:p/>
          <a:p>
            <a:r>
              <a:t>Extend to composite surfaces and openings without double-counting.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  <a:p/>
          <a:p>
            <a:r>
              <a:t>ACCESS EXERCISE BOOK: 10A-Q2</a:t>
            </a:r>
          </a:p>
          <a:p>
            <a:r>
              <a:t>Exact question: Write 1,500,000 mm² in m².</a:t>
            </a:r>
          </a:p>
          <a:p>
            <a:r>
              <a:t>Instructor answer: 1.5 m²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W06-L01 | 2026-11-30 | 12:45 PM–2:00 PM | 75 minutes</a:t>
            </a:r>
          </a:p>
          <a:p>
            <a:r>
              <a:t>Area and material coverage</a:t>
            </a:r>
          </a:p>
          <a:p>
            <a:r>
              <a:t>Mode: Math</a:t>
            </a:r>
          </a:p>
          <a:p>
            <a:r>
              <a:t>Goal: Calculate rectangle and triangle areas and distinguish linear units from square units.</a:t>
            </a:r>
          </a:p>
          <a:p>
            <a:r>
              <a:t>Read: Textbook sections 10.1–10.3 pp.154–157; sections 7.4 pp.113–115</a:t>
            </a:r>
          </a:p>
          <a:p>
            <a:r>
              <a:t>Practise: Exercise Book 10A Q1–8 (p.63); 10B Q1,4 (p.65)</a:t>
            </a:r>
          </a:p>
          <a:p>
            <a:r>
              <a:t>Tool: Shape Canvas: rectangle and right triangle with the same base and height.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area and material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why 1 m² is not 1,000 mm²; retrieve a rectangle perimeter and name its different unit.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area as a count of squares, then the triangle as half a rectangle. Show squared conversion factors.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10A Q2–4,7–8; learners label perpendicular height, not the sloping side.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10A Q5–6 and 10B Q1,4. On Shape Canvas, compare the two shapes’ areas. Keep the sheet count’s no-waste assumption explicit.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10B Q1; show floor area, one-sheet area and sheet quantity.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 = 25.92 m² and 9 sheets, assuming no waste as stated. Answer Key p.28. Answer Key pp.27–28</a:t>
            </a:r>
          </a:p>
          <a:p/>
          <a:p>
            <a:r>
              <a:t>Extend to composite surfaces and openings without double-counting.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  <a:p/>
          <a:p>
            <a:r>
              <a:t>ACCESS EXERCISE BOOK: 10A-Q2</a:t>
            </a:r>
          </a:p>
          <a:p>
            <a:r>
              <a:t>Exact question: Write 1,500,000 mm² in m².</a:t>
            </a:r>
          </a:p>
          <a:p>
            <a:r>
              <a:t>Instructor answer: 1.5 m²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W06-L01 | 2026-11-30 | 12:45 PM–2:00 PM | 75 minutes</a:t>
            </a:r>
          </a:p>
          <a:p>
            <a:r>
              <a:t>Area and material coverage</a:t>
            </a:r>
          </a:p>
          <a:p>
            <a:r>
              <a:t>Mode: Math</a:t>
            </a:r>
          </a:p>
          <a:p>
            <a:r>
              <a:t>Goal: Calculate rectangle and triangle areas and distinguish linear units from square units.</a:t>
            </a:r>
          </a:p>
          <a:p>
            <a:r>
              <a:t>Read: Textbook sections 10.1–10.3 pp.154–157; sections 7.4 pp.113–115</a:t>
            </a:r>
          </a:p>
          <a:p>
            <a:r>
              <a:t>Practise: Exercise Book 10A Q1–8 (p.63); 10B Q1,4 (p.65)</a:t>
            </a:r>
          </a:p>
          <a:p>
            <a:r>
              <a:t>Tool: Shape Canvas: rectangle and right triangle with the same base and height.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area and material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why 1 m² is not 1,000 mm²; retrieve a rectangle perimeter and name its different unit.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area as a count of squares, then the triangle as half a rectangle. Show squared conversion factors.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10A Q2–4,7–8; learners label perpendicular height, not the sloping side.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10A Q5–6 and 10B Q1,4. On Shape Canvas, compare the two shapes’ areas. Keep the sheet count’s no-waste assumption explicit.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10B Q1; show floor area, one-sheet area and sheet quantity.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 = 25.92 m² and 9 sheets, assuming no waste as stated. Answer Key p.28. Answer Key pp.27–28</a:t>
            </a:r>
          </a:p>
          <a:p/>
          <a:p>
            <a:r>
              <a:t>Extend to composite surfaces and openings without double-counting.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W06-L01 | 2026-11-30 | 12:45 PM–2:00 PM | 75 minutes</a:t>
            </a:r>
          </a:p>
          <a:p>
            <a:r>
              <a:t>Area and material coverage</a:t>
            </a:r>
          </a:p>
          <a:p>
            <a:r>
              <a:t>Mode: Math</a:t>
            </a:r>
          </a:p>
          <a:p>
            <a:r>
              <a:t>Goal: Calculate rectangle and triangle areas and distinguish linear units from square units.</a:t>
            </a:r>
          </a:p>
          <a:p>
            <a:r>
              <a:t>Read: Textbook sections 10.1–10.3 pp.154–157; sections 7.4 pp.113–115</a:t>
            </a:r>
          </a:p>
          <a:p>
            <a:r>
              <a:t>Practise: Exercise Book 10A Q1–8 (p.63); 10B Q1,4 (p.65)</a:t>
            </a:r>
          </a:p>
          <a:p>
            <a:r>
              <a:t>Tool: Shape Canvas: rectangle and right triangle with the same base and height.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area and material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why 1 m² is not 1,000 mm²; retrieve a rectangle perimeter and name its different unit.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area as a count of squares, then the triangle as half a rectangle. Show squared conversion factors.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10A Q2–4,7–8; learners label perpendicular height, not the sloping side.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10A Q5–6 and 10B Q1,4. On Shape Canvas, compare the two shapes’ areas. Keep the sheet count’s no-waste assumption explicit.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10B Q1; show floor area, one-sheet area and sheet quantity.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 = 25.92 m² and 9 sheets, assuming no waste as stated. Answer Key p.28. Answer Key pp.27–28</a:t>
            </a:r>
          </a:p>
          <a:p/>
          <a:p>
            <a:r>
              <a:t>Extend to composite surfaces and openings without double-counting.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W06-L01 | 2026-11-30 | 12:45 PM–2:00 PM | 75 minutes</a:t>
            </a:r>
          </a:p>
          <a:p>
            <a:r>
              <a:t>Area and material coverage</a:t>
            </a:r>
          </a:p>
          <a:p>
            <a:r>
              <a:t>Mode: Math</a:t>
            </a:r>
          </a:p>
          <a:p>
            <a:r>
              <a:t>Goal: Calculate rectangle and triangle areas and distinguish linear units from square units.</a:t>
            </a:r>
          </a:p>
          <a:p>
            <a:r>
              <a:t>Read: Textbook sections 10.1–10.3 pp.154–157; sections 7.4 pp.113–115</a:t>
            </a:r>
          </a:p>
          <a:p>
            <a:r>
              <a:t>Practise: Exercise Book 10A Q1–8 (p.63); 10B Q1,4 (p.65)</a:t>
            </a:r>
          </a:p>
          <a:p>
            <a:r>
              <a:t>Tool: Shape Canvas: rectangle and right triangle with the same base and height.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area and material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why 1 m² is not 1,000 mm²; retrieve a rectangle perimeter and name its different unit.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area as a count of squares, then the triangle as half a rectangle. Show squared conversion factors.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10A Q2–4,7–8; learners label perpendicular height, not the sloping side.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10A Q5–6 and 10B Q1,4. On Shape Canvas, compare the two shapes’ areas. Keep the sheet count’s no-waste assumption explicit.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10B Q1; show floor area, one-sheet area and sheet quantity.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 = 25.92 m² and 9 sheets, assuming no waste as stated. Answer Key p.28. Answer Key pp.27–28</a:t>
            </a:r>
          </a:p>
          <a:p/>
          <a:p>
            <a:r>
              <a:t>Extend to composite surfaces and openings without double-counting.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Exact scheduled tool activity: Shape Canvas: rectangle and right triangle with the same base and height. Numeracy Hub: Volume and Layout, then Module 2 Area and perimeter.</a:t>
            </a:r>
          </a:p>
          <a:p>
            <a:r>
              <a:t>Create a rectangle and right triangle with equal base and height in Shape Canvas.</a:t>
            </a:r>
          </a:p>
          <a:p>
            <a:r>
              <a:t>Calculate both areas on paper; explain why the triangle covers half as much.</a:t>
            </a:r>
          </a:p>
          <a:p>
            <a:r>
              <a:t>Check the area method in Numeracy Hub Volume and Layout → Area and perimeter.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W06-L01 | 2026-11-30 | 12:45 PM–2:00 PM | 75 minutes</a:t>
            </a:r>
          </a:p>
          <a:p>
            <a:r>
              <a:t>Area and material coverage</a:t>
            </a:r>
          </a:p>
          <a:p>
            <a:r>
              <a:t>Mode: Math</a:t>
            </a:r>
          </a:p>
          <a:p>
            <a:r>
              <a:t>Goal: Calculate rectangle and triangle areas and distinguish linear units from square units.</a:t>
            </a:r>
          </a:p>
          <a:p>
            <a:r>
              <a:t>Read: Textbook sections 10.1–10.3 pp.154–157; sections 7.4 pp.113–115</a:t>
            </a:r>
          </a:p>
          <a:p>
            <a:r>
              <a:t>Practise: Exercise Book 10A Q1–8 (p.63); 10B Q1,4 (p.65)</a:t>
            </a:r>
          </a:p>
          <a:p>
            <a:r>
              <a:t>Tool: Shape Canvas: rectangle and right triangle with the same base and height.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area and material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why 1 m² is not 1,000 mm²; retrieve a rectangle perimeter and name its different unit.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area as a count of squares, then the triangle as half a rectangle. Show squared conversion factors.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10A Q2–4,7–8; learners label perpendicular height, not the sloping side.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10A Q5–6 and 10B Q1,4. On Shape Canvas, compare the two shapes’ areas. Keep the sheet count’s no-waste assumption explicit.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10B Q1; show floor area, one-sheet area and sheet quantity.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 = 25.92 m² and 9 sheets, assuming no waste as stated. Answer Key p.28. Answer Key pp.27–28</a:t>
            </a:r>
          </a:p>
          <a:p/>
          <a:p>
            <a:r>
              <a:t>Extend to composite surfaces and openings without double-counting.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ACCESS EXERCISE BOOK: 10A-Q5</a:t>
            </a:r>
          </a:p>
          <a:p>
            <a:r>
              <a:t>Exact question: Find the area of a rectangle 840 mm by 350 mm.</a:t>
            </a:r>
          </a:p>
          <a:p>
            <a:r>
              <a:t>Instructor answer: 294,000 mm²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W06-L01 | 2026-11-30 | 12:45 PM–2:00 PM | 75 minutes</a:t>
            </a:r>
          </a:p>
          <a:p>
            <a:r>
              <a:t>Area and material coverage</a:t>
            </a:r>
          </a:p>
          <a:p>
            <a:r>
              <a:t>Mode: Math</a:t>
            </a:r>
          </a:p>
          <a:p>
            <a:r>
              <a:t>Goal: Calculate rectangle and triangle areas and distinguish linear units from square units.</a:t>
            </a:r>
          </a:p>
          <a:p>
            <a:r>
              <a:t>Read: Textbook sections 10.1–10.3 pp.154–157; sections 7.4 pp.113–115</a:t>
            </a:r>
          </a:p>
          <a:p>
            <a:r>
              <a:t>Practise: Exercise Book 10A Q1–8 (p.63); 10B Q1,4 (p.65)</a:t>
            </a:r>
          </a:p>
          <a:p>
            <a:r>
              <a:t>Tool: Shape Canvas: rectangle and right triangle with the same base and height.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area and material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why 1 m² is not 1,000 mm²; retrieve a rectangle perimeter and name its different unit.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area as a count of squares, then the triangle as half a rectangle. Show squared conversion factors.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10A Q2–4,7–8; learners label perpendicular height, not the sloping side.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10A Q5–6 and 10B Q1,4. On Shape Canvas, compare the two shapes’ areas. Keep the sheet count’s no-waste assumption explicit.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10B Q1; show floor area, one-sheet area and sheet quantity.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 = 25.92 m² and 9 sheets, assuming no waste as stated. Answer Key p.28. Answer Key pp.27–28</a:t>
            </a:r>
          </a:p>
          <a:p/>
          <a:p>
            <a:r>
              <a:t>Extend to composite surfaces and openings without double-counting.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ACCESS EXERCISE BOOK: 10A-Q6</a:t>
            </a:r>
          </a:p>
          <a:p>
            <a:r>
              <a:t>Exact question: Find the area of a square with 1.6 m sides.</a:t>
            </a:r>
          </a:p>
          <a:p>
            <a:r>
              <a:t>Instructor answer: 2.56 m²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W06-L01 | 2026-11-30 | 12:45 PM–2:00 PM | 75 minutes</a:t>
            </a:r>
          </a:p>
          <a:p>
            <a:r>
              <a:t>Area and material coverage</a:t>
            </a:r>
          </a:p>
          <a:p>
            <a:r>
              <a:t>Mode: Math</a:t>
            </a:r>
          </a:p>
          <a:p>
            <a:r>
              <a:t>Goal: Calculate rectangle and triangle areas and distinguish linear units from square units.</a:t>
            </a:r>
          </a:p>
          <a:p>
            <a:r>
              <a:t>Read: Textbook sections 10.1–10.3 pp.154–157; sections 7.4 pp.113–115</a:t>
            </a:r>
          </a:p>
          <a:p>
            <a:r>
              <a:t>Practise: Exercise Book 10A Q1–8 (p.63); 10B Q1,4 (p.65)</a:t>
            </a:r>
          </a:p>
          <a:p>
            <a:r>
              <a:t>Tool: Shape Canvas: rectangle and right triangle with the same base and height.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area and material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why 1 m² is not 1,000 mm²; retrieve a rectangle perimeter and name its different unit.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area as a count of squares, then the triangle as half a rectangle. Show squared conversion factors.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10A Q2–4,7–8; learners label perpendicular height, not the sloping side.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10A Q5–6 and 10B Q1,4. On Shape Canvas, compare the two shapes’ areas. Keep the sheet count’s no-waste assumption explicit.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10B Q1; show floor area, one-sheet area and sheet quantity.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 = 25.92 m² and 9 sheets, assuming no waste as stated. Answer Key p.28. Answer Key pp.27–28</a:t>
            </a:r>
          </a:p>
          <a:p/>
          <a:p>
            <a:r>
              <a:t>Extend to composite surfaces and openings without double-counting.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W06-L01 | 2026-11-30 | 12:45 PM–2:00 PM | 75 minutes</a:t>
            </a:r>
          </a:p>
          <a:p>
            <a:r>
              <a:t>Area and material coverage</a:t>
            </a:r>
          </a:p>
          <a:p>
            <a:r>
              <a:t>Mode: Math</a:t>
            </a:r>
          </a:p>
          <a:p>
            <a:r>
              <a:t>Goal: Calculate rectangle and triangle areas and distinguish linear units from square units.</a:t>
            </a:r>
          </a:p>
          <a:p>
            <a:r>
              <a:t>Read: Textbook sections 10.1–10.3 pp.154–157; sections 7.4 pp.113–115</a:t>
            </a:r>
          </a:p>
          <a:p>
            <a:r>
              <a:t>Practise: Exercise Book 10A Q1–8 (p.63); 10B Q1,4 (p.65)</a:t>
            </a:r>
          </a:p>
          <a:p>
            <a:r>
              <a:t>Tool: Shape Canvas: rectangle and right triangle with the same base and height.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area and material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why 1 m² is not 1,000 mm²; retrieve a rectangle perimeter and name its different unit.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area as a count of squares, then the triangle as half a rectangle. Show squared conversion factors.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10A Q2–4,7–8; learners label perpendicular height, not the sloping side.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10A Q5–6 and 10B Q1,4. On Shape Canvas, compare the two shapes’ areas. Keep the sheet count’s no-waste assumption explicit.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10B Q1; show floor area, one-sheet area and sheet quantity.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 = 25.92 m² and 9 sheets, assuming no waste as stated. Answer Key p.28. Answer Key pp.27–28</a:t>
            </a:r>
          </a:p>
          <a:p/>
          <a:p>
            <a:r>
              <a:t>Extend to composite surfaces and openings without double-counting.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  <a:p/>
          <a:p>
            <a:r>
              <a:t>ACCESS EXERCISE BOOK: 10B-Q1</a:t>
            </a:r>
          </a:p>
          <a:p>
            <a:r>
              <a:t>Exact question: A mezzanine floor is 7.2 m by 3.6 m. It is covered with checker plate sheets that are 1.2 m by 2.4 m, laid edge to edge with no waste. Find the floor area and the number of sheets.</a:t>
            </a:r>
          </a:p>
          <a:p>
            <a:r>
              <a:t>Instructor answer: 25.92 m², 9 sheets</a:t>
            </a:r>
          </a:p>
          <a:p>
            <a:r>
              <a:t>Working: 7.2 × 3.6 = 25.92 m², one sheet = 2.88 m², 25.92 ÷ 2.88 = 9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W06-L01 | 2026-11-30 | 12:45 PM–2:00 PM | 75 minutes</a:t>
            </a:r>
          </a:p>
          <a:p>
            <a:r>
              <a:t>Area and material coverage</a:t>
            </a:r>
          </a:p>
          <a:p>
            <a:r>
              <a:t>Mode: Math</a:t>
            </a:r>
          </a:p>
          <a:p>
            <a:r>
              <a:t>Goal: Calculate rectangle and triangle areas and distinguish linear units from square units.</a:t>
            </a:r>
          </a:p>
          <a:p>
            <a:r>
              <a:t>Read: Textbook sections 10.1–10.3 pp.154–157; sections 7.4 pp.113–115</a:t>
            </a:r>
          </a:p>
          <a:p>
            <a:r>
              <a:t>Practise: Exercise Book 10A Q1–8 (p.63); 10B Q1,4 (p.65)</a:t>
            </a:r>
          </a:p>
          <a:p>
            <a:r>
              <a:t>Tool: Shape Canvas: rectangle and right triangle with the same base and height.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area and material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why 1 m² is not 1,000 mm²; retrieve a rectangle perimeter and name its different unit.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area as a count of squares, then the triangle as half a rectangle. Show squared conversion factors.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10A Q2–4,7–8; learners label perpendicular height, not the sloping side.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10A Q5–6 and 10B Q1,4. On Shape Canvas, compare the two shapes’ areas. Keep the sheet count’s no-waste assumption explicit.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10B Q1; show floor area, one-sheet area and sheet quantity.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 = 25.92 m² and 9 sheets, assuming no waste as stated. Answer Key p.28. Answer Key pp.27–28</a:t>
            </a:r>
          </a:p>
          <a:p/>
          <a:p>
            <a:r>
              <a:t>Extend to composite surfaces and openings without double-counting.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1:55 PM–2:00 PM. All slides with this phase share these 5 minutes; do not restart the time allocation for each slide.</a:t>
            </a:r>
          </a:p>
          <a:p/>
          <a:p>
            <a:r>
              <a:t>Next scheduled learning: Extend to composite surfaces and openings without double-counting.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Scheduled break, 15 minutes. Resume at 2:15 PM. Do not move the following math block into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W06-L02 | 2026-11-30 | 2:15 PM–3:30 PM | 75 minutes</a:t>
            </a:r>
          </a:p>
          <a:p>
            <a:r>
              <a:t>Composite areas, openings and surface coverage</a:t>
            </a:r>
          </a:p>
          <a:p>
            <a:r>
              <a:t>Mode: Math</a:t>
            </a:r>
          </a:p>
          <a:p>
            <a:r>
              <a:t>Goal: Break a composite shape into known parts and subtract openings before estimating coverage.</a:t>
            </a:r>
          </a:p>
          <a:p>
            <a:r>
              <a:t>Read: Textbook sections 10.4–10.7 pp.158–164</a:t>
            </a:r>
          </a:p>
          <a:p>
            <a:r>
              <a:t>Practise: Exercise Book 10A Q10–12 (p.64); 10B Q2 (p.65), Q11–12 (p.66); 10C Q4 (p.67)</a:t>
            </a:r>
          </a:p>
          <a:p>
            <a:r>
              <a:t>Tool: Shape Canvas: build a rectangle with an opening using two labelled shapes; compare parts. Numeracy Hub Shape Studio: use a solid/net as an optional surface-area preview.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composite areas, openings and surface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Show a panel with a hole; ask which area is added and which is subtracted.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10B Q11 with outer and opening areas. Demonstrate a trapezoid and circle formula, keeping radius/diameter distinct.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10A Q10–12 and Exercise Book 10C Q4. Partners annotate non-overlapping pieces.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10B Q2,11–12. Build a Shape Canvas sketch and label areas; use the net preview only if core subtraction and coverage are secure.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10B Q11 and Q2; report net area and whole tins to buy.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900,000 mm² = 0.9 m²; Q2 = 4.57 L, buy 5 tins. Answer Key p.28. Answer Key pp.27–28</a:t>
            </a:r>
          </a:p>
          <a:p/>
          <a:p>
            <a:r>
              <a:t>Compare square units with cubic units before the volume lesson.</a:t>
            </a:r>
          </a:p>
          <a:p/>
          <a:p>
            <a:r>
              <a:t>Keep activities within the allocated phase time.</a:t>
            </a:r>
          </a:p>
          <a:p>
            <a:r>
              <a:t>PHASE TIMING: Start, 2:15 PM–2:20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W06-L02 | 2026-11-30 | 2:15 PM–3:30 PM | 75 minutes</a:t>
            </a:r>
          </a:p>
          <a:p>
            <a:r>
              <a:t>Composite areas, openings and surface coverage</a:t>
            </a:r>
          </a:p>
          <a:p>
            <a:r>
              <a:t>Mode: Math</a:t>
            </a:r>
          </a:p>
          <a:p>
            <a:r>
              <a:t>Goal: Break a composite shape into known parts and subtract openings before estimating coverage.</a:t>
            </a:r>
          </a:p>
          <a:p>
            <a:r>
              <a:t>Read: Textbook sections 10.4–10.7 pp.158–164</a:t>
            </a:r>
          </a:p>
          <a:p>
            <a:r>
              <a:t>Practise: Exercise Book 10A Q10–12 (p.64); 10B Q2 (p.65), Q11–12 (p.66); 10C Q4 (p.67)</a:t>
            </a:r>
          </a:p>
          <a:p>
            <a:r>
              <a:t>Tool: Shape Canvas: build a rectangle with an opening using two labelled shapes; compare parts. Numeracy Hub Shape Studio: use a solid/net as an optional surface-area preview.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composite areas, openings and surface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Show a panel with a hole; ask which area is added and which is subtracted.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10B Q11 with outer and opening areas. Demonstrate a trapezoid and circle formula, keeping radius/diameter distinct.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10A Q10–12 and Exercise Book 10C Q4. Partners annotate non-overlapping pieces.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10B Q2,11–12. Build a Shape Canvas sketch and label areas; use the net preview only if core subtraction and coverage are secure.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10B Q11 and Q2; report net area and whole tins to buy.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900,000 mm² = 0.9 m²; Q2 = 4.57 L, buy 5 tins. Answer Key p.28. Answer Key pp.27–28</a:t>
            </a:r>
          </a:p>
          <a:p/>
          <a:p>
            <a:r>
              <a:t>Compare square units with cubic units before the volume lesson.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2:20 PM–2:25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W06-L02 | 2026-11-30 | 2:15 PM–3:30 PM | 75 minutes</a:t>
            </a:r>
          </a:p>
          <a:p>
            <a:r>
              <a:t>Composite areas, openings and surface coverage</a:t>
            </a:r>
          </a:p>
          <a:p>
            <a:r>
              <a:t>Mode: Math</a:t>
            </a:r>
          </a:p>
          <a:p>
            <a:r>
              <a:t>Goal: Break a composite shape into known parts and subtract openings before estimating coverage.</a:t>
            </a:r>
          </a:p>
          <a:p>
            <a:r>
              <a:t>Read: Textbook sections 10.4–10.7 pp.158–164</a:t>
            </a:r>
          </a:p>
          <a:p>
            <a:r>
              <a:t>Practise: Exercise Book 10A Q10–12 (p.64); 10B Q2 (p.65), Q11–12 (p.66); 10C Q4 (p.67)</a:t>
            </a:r>
          </a:p>
          <a:p>
            <a:r>
              <a:t>Tool: Shape Canvas: build a rectangle with an opening using two labelled shapes; compare parts. Numeracy Hub Shape Studio: use a solid/net as an optional surface-area preview.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composite areas, openings and surface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Show a panel with a hole; ask which area is added and which is subtracted.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10B Q11 with outer and opening areas. Demonstrate a trapezoid and circle formula, keeping radius/diameter distinct.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10A Q10–12 and Exercise Book 10C Q4. Partners annotate non-overlapping pieces.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10B Q2,11–12. Build a Shape Canvas sketch and label areas; use the net preview only if core subtraction and coverage are secure.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10B Q11 and Q2; report net area and whole tins to buy.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900,000 mm² = 0.9 m²; Q2 = 4.57 L, buy 5 tins. Answer Key p.28. Answer Key pp.27–28</a:t>
            </a:r>
          </a:p>
          <a:p/>
          <a:p>
            <a:r>
              <a:t>Compare square units with cubic units before the volume lesson.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10.4–10.7 pp.158–164</a:t>
            </a:r>
          </a:p>
          <a:p>
            <a:r>
              <a:t>ACCESS Trades Numeracy Textbook p.162 — Examples 10.7–10.8 — Composite plates and a lifting lug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W06-L02 | 2026-11-30 | 2:15 PM–3:30 PM | 75 minutes</a:t>
            </a:r>
          </a:p>
          <a:p>
            <a:r>
              <a:t>Composite areas, openings and surface coverage</a:t>
            </a:r>
          </a:p>
          <a:p>
            <a:r>
              <a:t>Mode: Math</a:t>
            </a:r>
          </a:p>
          <a:p>
            <a:r>
              <a:t>Goal: Break a composite shape into known parts and subtract openings before estimating coverage.</a:t>
            </a:r>
          </a:p>
          <a:p>
            <a:r>
              <a:t>Read: Textbook sections 10.4–10.7 pp.158–164</a:t>
            </a:r>
          </a:p>
          <a:p>
            <a:r>
              <a:t>Practise: Exercise Book 10A Q10–12 (p.64); 10B Q2 (p.65), Q11–12 (p.66); 10C Q4 (p.67)</a:t>
            </a:r>
          </a:p>
          <a:p>
            <a:r>
              <a:t>Tool: Shape Canvas: build a rectangle with an opening using two labelled shapes; compare parts. Numeracy Hub Shape Studio: use a solid/net as an optional surface-area preview.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composite areas, openings and surface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Show a panel with a hole; ask which area is added and which is subtracted.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10B Q11 with outer and opening areas. Demonstrate a trapezoid and circle formula, keeping radius/diameter distinct.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10A Q10–12 and Exercise Book 10C Q4. Partners annotate non-overlapping pieces.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10B Q2,11–12. Build a Shape Canvas sketch and label areas; use the net preview only if core subtraction and coverage are secure.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10B Q11 and Q2; report net area and whole tins to buy.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900,000 mm² = 0.9 m²; Q2 = 4.57 L, buy 5 tins. Answer Key p.28. Answer Key pp.27–28</a:t>
            </a:r>
          </a:p>
          <a:p/>
          <a:p>
            <a:r>
              <a:t>Compare square units with cubic units before the volume lesson.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10.4–10.7 pp.158–164</a:t>
            </a:r>
          </a:p>
          <a:p>
            <a:r>
              <a:t>ACCESS Trades Numeracy Textbook p.162 — Examples 10.7–10.8 — Composite plates and a lifting lug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W06-L02 | 2026-11-30 | 2:15 PM–3:30 PM | 75 minutes</a:t>
            </a:r>
          </a:p>
          <a:p>
            <a:r>
              <a:t>Composite areas, openings and surface coverage</a:t>
            </a:r>
          </a:p>
          <a:p>
            <a:r>
              <a:t>Mode: Math</a:t>
            </a:r>
          </a:p>
          <a:p>
            <a:r>
              <a:t>Goal: Break a composite shape into known parts and subtract openings before estimating coverage.</a:t>
            </a:r>
          </a:p>
          <a:p>
            <a:r>
              <a:t>Read: Textbook sections 10.4–10.7 pp.158–164</a:t>
            </a:r>
          </a:p>
          <a:p>
            <a:r>
              <a:t>Practise: Exercise Book 10A Q10–12 (p.64); 10B Q2 (p.65), Q11–12 (p.66); 10C Q4 (p.67)</a:t>
            </a:r>
          </a:p>
          <a:p>
            <a:r>
              <a:t>Tool: Shape Canvas: build a rectangle with an opening using two labelled shapes; compare parts. Numeracy Hub Shape Studio: use a solid/net as an optional surface-area preview.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composite areas, openings and surface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Show a panel with a hole; ask which area is added and which is subtracted.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10B Q11 with outer and opening areas. Demonstrate a trapezoid and circle formula, keeping radius/diameter distinct.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10A Q10–12 and Exercise Book 10C Q4. Partners annotate non-overlapping pieces.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10B Q2,11–12. Build a Shape Canvas sketch and label areas; use the net preview only if core subtraction and coverage are secure.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10B Q11 and Q2; report net area and whole tins to buy.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900,000 mm² = 0.9 m²; Q2 = 4.57 L, buy 5 tins. Answer Key p.28. Answer Key pp.27–28</a:t>
            </a:r>
          </a:p>
          <a:p/>
          <a:p>
            <a:r>
              <a:t>Compare square units with cubic units before the volume lesson.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Textbook visual: ACCESS Textbook p.162 • Example 10.7 — Split an L-shaped plate into non-overlapping rectangles</a:t>
            </a:r>
          </a:p>
          <a:p>
            <a:r>
              <a:t>Exact PDF/printed page: 162. ACCESS Textbook excerpt.</a:t>
            </a:r>
          </a:p>
          <a:p>
            <a:r>
              <a:t>Point to non-overlapping areas to add and the opening to subtract.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W06-L02 | 2026-11-30 | 2:15 PM–3:30 PM | 75 minutes</a:t>
            </a:r>
          </a:p>
          <a:p>
            <a:r>
              <a:t>Composite areas, openings and surface coverage</a:t>
            </a:r>
          </a:p>
          <a:p>
            <a:r>
              <a:t>Mode: Math</a:t>
            </a:r>
          </a:p>
          <a:p>
            <a:r>
              <a:t>Goal: Break a composite shape into known parts and subtract openings before estimating coverage.</a:t>
            </a:r>
          </a:p>
          <a:p>
            <a:r>
              <a:t>Read: Textbook sections 10.4–10.7 pp.158–164</a:t>
            </a:r>
          </a:p>
          <a:p>
            <a:r>
              <a:t>Practise: Exercise Book 10A Q10–12 (p.64); 10B Q2 (p.65), Q11–12 (p.66); 10C Q4 (p.67)</a:t>
            </a:r>
          </a:p>
          <a:p>
            <a:r>
              <a:t>Tool: Shape Canvas: build a rectangle with an opening using two labelled shapes; compare parts. Numeracy Hub Shape Studio: use a solid/net as an optional surface-area preview.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composite areas, openings and surface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Show a panel with a hole; ask which area is added and which is subtracted.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10B Q11 with outer and opening areas. Demonstrate a trapezoid and circle formula, keeping radius/diameter distinct.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10A Q10–12 and Exercise Book 10C Q4. Partners annotate non-overlapping pieces.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10B Q2,11–12. Build a Shape Canvas sketch and label areas; use the net preview only if core subtraction and coverage are secure.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10B Q11 and Q2; report net area and whole tins to buy.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900,000 mm² = 0.9 m²; Q2 = 4.57 L, buy 5 tins. Answer Key p.28. Answer Key pp.27–28</a:t>
            </a:r>
          </a:p>
          <a:p/>
          <a:p>
            <a:r>
              <a:t>Compare square units with cubic units before the volume lesson.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Textbook visual: ACCESS Textbook p.162 • Example 10.8 — Add the shapes and subtract the opening</a:t>
            </a:r>
          </a:p>
          <a:p>
            <a:r>
              <a:t>Exact PDF/printed page: 162. ACCESS Textbook excerpt.</a:t>
            </a:r>
          </a:p>
          <a:p>
            <a:r>
              <a:t>Point to non-overlapping areas to add and the opening to subtract.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W06-L02 | 2026-11-30 | 2:15 PM–3:30 PM | 75 minutes</a:t>
            </a:r>
          </a:p>
          <a:p>
            <a:r>
              <a:t>Composite areas, openings and surface coverage</a:t>
            </a:r>
          </a:p>
          <a:p>
            <a:r>
              <a:t>Mode: Math</a:t>
            </a:r>
          </a:p>
          <a:p>
            <a:r>
              <a:t>Goal: Break a composite shape into known parts and subtract openings before estimating coverage.</a:t>
            </a:r>
          </a:p>
          <a:p>
            <a:r>
              <a:t>Read: Textbook sections 10.4–10.7 pp.158–164</a:t>
            </a:r>
          </a:p>
          <a:p>
            <a:r>
              <a:t>Practise: Exercise Book 10A Q10–12 (p.64); 10B Q2 (p.65), Q11–12 (p.66); 10C Q4 (p.67)</a:t>
            </a:r>
          </a:p>
          <a:p>
            <a:r>
              <a:t>Tool: Shape Canvas: build a rectangle with an opening using two labelled shapes; compare parts. Numeracy Hub Shape Studio: use a solid/net as an optional surface-area preview.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composite areas, openings and surface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Show a panel with a hole; ask which area is added and which is subtracted.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10B Q11 with outer and opening areas. Demonstrate a trapezoid and circle formula, keeping radius/diameter distinct.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10A Q10–12 and Exercise Book 10C Q4. Partners annotate non-overlapping pieces.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10B Q2,11–12. Build a Shape Canvas sketch and label areas; use the net preview only if core subtraction and coverage are secure.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10B Q11 and Q2; report net area and whole tins to buy.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900,000 mm² = 0.9 m²; Q2 = 4.57 L, buy 5 tins. Answer Key p.28. Answer Key pp.27–28</a:t>
            </a:r>
          </a:p>
          <a:p/>
          <a:p>
            <a:r>
              <a:t>Compare square units with cubic units before the volume lesson.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W06-L02 | 2026-11-30 | 2:15 PM–3:30 PM | 75 minutes</a:t>
            </a:r>
          </a:p>
          <a:p>
            <a:r>
              <a:t>Composite areas, openings and surface coverage</a:t>
            </a:r>
          </a:p>
          <a:p>
            <a:r>
              <a:t>Mode: Math</a:t>
            </a:r>
          </a:p>
          <a:p>
            <a:r>
              <a:t>Goal: Break a composite shape into known parts and subtract openings before estimating coverage.</a:t>
            </a:r>
          </a:p>
          <a:p>
            <a:r>
              <a:t>Read: Textbook sections 10.4–10.7 pp.158–164</a:t>
            </a:r>
          </a:p>
          <a:p>
            <a:r>
              <a:t>Practise: Exercise Book 10A Q10–12 (p.64); 10B Q2 (p.65), Q11–12 (p.66); 10C Q4 (p.67)</a:t>
            </a:r>
          </a:p>
          <a:p>
            <a:r>
              <a:t>Tool: Shape Canvas: build a rectangle with an opening using two labelled shapes; compare parts. Numeracy Hub Shape Studio: use a solid/net as an optional surface-area preview.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composite areas, openings and surface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Show a panel with a hole; ask which area is added and which is subtracted.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10B Q11 with outer and opening areas. Demonstrate a trapezoid and circle formula, keeping radius/diameter distinct.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10A Q10–12 and Exercise Book 10C Q4. Partners annotate non-overlapping pieces.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10B Q2,11–12. Build a Shape Canvas sketch and label areas; use the net preview only if core subtraction and coverage are secure.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10B Q11 and Q2; report net area and whole tins to buy.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900,000 mm² = 0.9 m²; Q2 = 4.57 L, buy 5 tins. Answer Key p.28. Answer Key pp.27–28</a:t>
            </a:r>
          </a:p>
          <a:p/>
          <a:p>
            <a:r>
              <a:t>Compare square units with cubic units before the volume lesson.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2:40 PM–2:55 PM.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W06-L02 | 2026-11-30 | 2:15 PM–3:30 PM | 75 minutes</a:t>
            </a:r>
          </a:p>
          <a:p>
            <a:r>
              <a:t>Composite areas, openings and surface coverage</a:t>
            </a:r>
          </a:p>
          <a:p>
            <a:r>
              <a:t>Mode: Math</a:t>
            </a:r>
          </a:p>
          <a:p>
            <a:r>
              <a:t>Goal: Break a composite shape into known parts and subtract openings before estimating coverage.</a:t>
            </a:r>
          </a:p>
          <a:p>
            <a:r>
              <a:t>Read: Textbook sections 10.4–10.7 pp.158–164</a:t>
            </a:r>
          </a:p>
          <a:p>
            <a:r>
              <a:t>Practise: Exercise Book 10A Q10–12 (p.64); 10B Q2 (p.65), Q11–12 (p.66); 10C Q4 (p.67)</a:t>
            </a:r>
          </a:p>
          <a:p>
            <a:r>
              <a:t>Tool: Shape Canvas: build a rectangle with an opening using two labelled shapes; compare parts. Numeracy Hub Shape Studio: use a solid/net as an optional surface-area preview.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composite areas, openings and surface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Show a panel with a hole; ask which area is added and which is subtracted.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10B Q11 with outer and opening areas. Demonstrate a trapezoid and circle formula, keeping radius/diameter distinct.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10A Q10–12 and Exercise Book 10C Q4. Partners annotate non-overlapping pieces.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10B Q2,11–12. Build a Shape Canvas sketch and label areas; use the net preview only if core subtraction and coverage are secure.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10B Q11 and Q2; report net area and whole tins to buy.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900,000 mm² = 0.9 m²; Q2 = 4.57 L, buy 5 tins. Answer Key p.28. Answer Key pp.27–28</a:t>
            </a:r>
          </a:p>
          <a:p/>
          <a:p>
            <a:r>
              <a:t>Compare square units with cubic units before the volume lesson.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2:40 PM–2:55 PM. All slides with this phase share these 15 minutes; do not restart the time allocation for each slide.</a:t>
            </a:r>
          </a:p>
          <a:p/>
          <a:p>
            <a:r>
              <a:t>ACCESS EXERCISE BOOK: 10A-Q10</a:t>
            </a:r>
          </a:p>
          <a:p>
            <a:r>
              <a:t>Exact question: Trapezoid: parallel sides 250 mm and 410 mm, height 180 mm. Find the area.</a:t>
            </a:r>
          </a:p>
          <a:p>
            <a:r>
              <a:t>Instructor answer: 59,400 mm²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W06-L02 | 2026-11-30 | 2:15 PM–3:30 PM | 75 minutes</a:t>
            </a:r>
          </a:p>
          <a:p>
            <a:r>
              <a:t>Composite areas, openings and surface coverage</a:t>
            </a:r>
          </a:p>
          <a:p>
            <a:r>
              <a:t>Mode: Math</a:t>
            </a:r>
          </a:p>
          <a:p>
            <a:r>
              <a:t>Goal: Break a composite shape into known parts and subtract openings before estimating coverage.</a:t>
            </a:r>
          </a:p>
          <a:p>
            <a:r>
              <a:t>Read: Textbook sections 10.4–10.7 pp.158–164</a:t>
            </a:r>
          </a:p>
          <a:p>
            <a:r>
              <a:t>Practise: Exercise Book 10A Q10–12 (p.64); 10B Q2 (p.65), Q11–12 (p.66); 10C Q4 (p.67)</a:t>
            </a:r>
          </a:p>
          <a:p>
            <a:r>
              <a:t>Tool: Shape Canvas: build a rectangle with an opening using two labelled shapes; compare parts. Numeracy Hub Shape Studio: use a solid/net as an optional surface-area preview.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composite areas, openings and surface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Show a panel with a hole; ask which area is added and which is subtracted.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10B Q11 with outer and opening areas. Demonstrate a trapezoid and circle formula, keeping radius/diameter distinct.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10A Q10–12 and Exercise Book 10C Q4. Partners annotate non-overlapping pieces.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10B Q2,11–12. Build a Shape Canvas sketch and label areas; use the net preview only if core subtraction and coverage are secure.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10B Q11 and Q2; report net area and whole tins to buy.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900,000 mm² = 0.9 m²; Q2 = 4.57 L, buy 5 tins. Answer Key p.28. Answer Key pp.27–28</a:t>
            </a:r>
          </a:p>
          <a:p/>
          <a:p>
            <a:r>
              <a:t>Compare square units with cubic units before the volume lesson.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2:40 PM–2:55 PM. All slides with this phase share these 15 minutes; do not restart the time allocation for each slide.</a:t>
            </a:r>
          </a:p>
          <a:p/>
          <a:p>
            <a:r>
              <a:t>ACCESS EXERCISE BOOK: 10A-Q10</a:t>
            </a:r>
          </a:p>
          <a:p>
            <a:r>
              <a:t>Exact question: Trapezoid: parallel sides 250 mm and 410 mm, height 180 mm. Find the area.</a:t>
            </a:r>
          </a:p>
          <a:p>
            <a:r>
              <a:t>Instructor answer: 59,400 mm²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W06-L02 | 2026-11-30 | 2:15 PM–3:30 PM | 75 minutes</a:t>
            </a:r>
          </a:p>
          <a:p>
            <a:r>
              <a:t>Composite areas, openings and surface coverage</a:t>
            </a:r>
          </a:p>
          <a:p>
            <a:r>
              <a:t>Mode: Math</a:t>
            </a:r>
          </a:p>
          <a:p>
            <a:r>
              <a:t>Goal: Break a composite shape into known parts and subtract openings before estimating coverage.</a:t>
            </a:r>
          </a:p>
          <a:p>
            <a:r>
              <a:t>Read: Textbook sections 10.4–10.7 pp.158–164</a:t>
            </a:r>
          </a:p>
          <a:p>
            <a:r>
              <a:t>Practise: Exercise Book 10A Q10–12 (p.64); 10B Q2 (p.65), Q11–12 (p.66); 10C Q4 (p.67)</a:t>
            </a:r>
          </a:p>
          <a:p>
            <a:r>
              <a:t>Tool: Shape Canvas: build a rectangle with an opening using two labelled shapes; compare parts. Numeracy Hub Shape Studio: use a solid/net as an optional surface-area preview.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composite areas, openings and surface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Show a panel with a hole; ask which area is added and which is subtracted.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10B Q11 with outer and opening areas. Demonstrate a trapezoid and circle formula, keeping radius/diameter distinct.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10A Q10–12 and Exercise Book 10C Q4. Partners annotate non-overlapping pieces.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10B Q2,11–12. Build a Shape Canvas sketch and label areas; use the net preview only if core subtraction and coverage are secure.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10B Q11 and Q2; report net area and whole tins to buy.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900,000 mm² = 0.9 m²; Q2 = 4.57 L, buy 5 tins. Answer Key p.28. Answer Key pp.27–28</a:t>
            </a:r>
          </a:p>
          <a:p/>
          <a:p>
            <a:r>
              <a:t>Compare square units with cubic units before the volume lesson.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W06-L02 | 2026-11-30 | 2:15 PM–3:30 PM | 75 minutes</a:t>
            </a:r>
          </a:p>
          <a:p>
            <a:r>
              <a:t>Composite areas, openings and surface coverage</a:t>
            </a:r>
          </a:p>
          <a:p>
            <a:r>
              <a:t>Mode: Math</a:t>
            </a:r>
          </a:p>
          <a:p>
            <a:r>
              <a:t>Goal: Break a composite shape into known parts and subtract openings before estimating coverage.</a:t>
            </a:r>
          </a:p>
          <a:p>
            <a:r>
              <a:t>Read: Textbook sections 10.4–10.7 pp.158–164</a:t>
            </a:r>
          </a:p>
          <a:p>
            <a:r>
              <a:t>Practise: Exercise Book 10A Q10–12 (p.64); 10B Q2 (p.65), Q11–12 (p.66); 10C Q4 (p.67)</a:t>
            </a:r>
          </a:p>
          <a:p>
            <a:r>
              <a:t>Tool: Shape Canvas: build a rectangle with an opening using two labelled shapes; compare parts. Numeracy Hub Shape Studio: use a solid/net as an optional surface-area preview.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composite areas, openings and surface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Show a panel with a hole; ask which area is added and which is subtracted.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10B Q11 with outer and opening areas. Demonstrate a trapezoid and circle formula, keeping radius/diameter distinct.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10A Q10–12 and Exercise Book 10C Q4. Partners annotate non-overlapping pieces.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10B Q2,11–12. Build a Shape Canvas sketch and label areas; use the net preview only if core subtraction and coverage are secure.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10B Q11 and Q2; report net area and whole tins to buy.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900,000 mm² = 0.9 m²; Q2 = 4.57 L, buy 5 tins. Answer Key p.28. Answer Key pp.27–28</a:t>
            </a:r>
          </a:p>
          <a:p/>
          <a:p>
            <a:r>
              <a:t>Compare square units with cubic units before the volume lesson.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W06-L02 | 2026-11-30 | 2:15 PM–3:30 PM | 75 minutes</a:t>
            </a:r>
          </a:p>
          <a:p>
            <a:r>
              <a:t>Composite areas, openings and surface coverage</a:t>
            </a:r>
          </a:p>
          <a:p>
            <a:r>
              <a:t>Mode: Math</a:t>
            </a:r>
          </a:p>
          <a:p>
            <a:r>
              <a:t>Goal: Break a composite shape into known parts and subtract openings before estimating coverage.</a:t>
            </a:r>
          </a:p>
          <a:p>
            <a:r>
              <a:t>Read: Textbook sections 10.4–10.7 pp.158–164</a:t>
            </a:r>
          </a:p>
          <a:p>
            <a:r>
              <a:t>Practise: Exercise Book 10A Q10–12 (p.64); 10B Q2 (p.65), Q11–12 (p.66); 10C Q4 (p.67)</a:t>
            </a:r>
          </a:p>
          <a:p>
            <a:r>
              <a:t>Tool: Shape Canvas: build a rectangle with an opening using two labelled shapes; compare parts. Numeracy Hub Shape Studio: use a solid/net as an optional surface-area preview.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composite areas, openings and surface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Show a panel with a hole; ask which area is added and which is subtracted.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10B Q11 with outer and opening areas. Demonstrate a trapezoid and circle formula, keeping radius/diameter distinct.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10A Q10–12 and Exercise Book 10C Q4. Partners annotate non-overlapping pieces.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10B Q2,11–12. Build a Shape Canvas sketch and label areas; use the net preview only if core subtraction and coverage are secure.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10B Q11 and Q2; report net area and whole tins to buy.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900,000 mm² = 0.9 m²; Q2 = 4.57 L, buy 5 tins. Answer Key p.28. Answer Key pp.27–28</a:t>
            </a:r>
          </a:p>
          <a:p/>
          <a:p>
            <a:r>
              <a:t>Compare square units with cubic units before the volume lesson.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Exact scheduled tool activity: Shape Canvas: build a rectangle with an opening using two labelled shapes; compare parts. Numeracy Hub Shape Studio: use a solid/net as an optional surface-area preview.</a:t>
            </a:r>
          </a:p>
          <a:p>
            <a:r>
              <a:t>Use two labelled shapes in Shape Canvas to represent the outer rectangle and opening.</a:t>
            </a:r>
          </a:p>
          <a:p>
            <a:r>
              <a:t>Compute the separate areas and net area on paper before comparing the labels.</a:t>
            </a:r>
          </a:p>
          <a:p>
            <a:r>
              <a:t>Only after core coverage work is secure, inspect the optional Shape Studio solid/net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W06-L02 | 2026-11-30 | 2:15 PM–3:30 PM | 75 minutes</a:t>
            </a:r>
          </a:p>
          <a:p>
            <a:r>
              <a:t>Composite areas, openings and surface coverage</a:t>
            </a:r>
          </a:p>
          <a:p>
            <a:r>
              <a:t>Mode: Math</a:t>
            </a:r>
          </a:p>
          <a:p>
            <a:r>
              <a:t>Goal: Break a composite shape into known parts and subtract openings before estimating coverage.</a:t>
            </a:r>
          </a:p>
          <a:p>
            <a:r>
              <a:t>Read: Textbook sections 10.4–10.7 pp.158–164</a:t>
            </a:r>
          </a:p>
          <a:p>
            <a:r>
              <a:t>Practise: Exercise Book 10A Q10–12 (p.64); 10B Q2 (p.65), Q11–12 (p.66); 10C Q4 (p.67)</a:t>
            </a:r>
          </a:p>
          <a:p>
            <a:r>
              <a:t>Tool: Shape Canvas: build a rectangle with an opening using two labelled shapes; compare parts. Numeracy Hub Shape Studio: use a solid/net as an optional surface-area preview.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composite areas, openings and surface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Show a panel with a hole; ask which area is added and which is subtracted.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10B Q11 with outer and opening areas. Demonstrate a trapezoid and circle formula, keeping radius/diameter distinct.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10A Q10–12 and Exercise Book 10C Q4. Partners annotate non-overlapping pieces.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10B Q2,11–12. Build a Shape Canvas sketch and label areas; use the net preview only if core subtraction and coverage are secure.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10B Q11 and Q2; report net area and whole tins to buy.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900,000 mm² = 0.9 m²; Q2 = 4.57 L, buy 5 tins. Answer Key p.28. Answer Key pp.27–28</a:t>
            </a:r>
          </a:p>
          <a:p/>
          <a:p>
            <a:r>
              <a:t>Compare square units with cubic units before the volume lesson.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ACCESS EXERCISE BOOK: 10B-Q2</a:t>
            </a:r>
          </a:p>
          <a:p>
            <a:r>
              <a:t>Exact question: Four plates, each 2.5 m by 1.6 m, are primed on both sides. The primer label says 1 L covers 7 m². Primer is sold in 1 L tins. How many tins do you buy? Give the litres to two decimal places.</a:t>
            </a:r>
          </a:p>
          <a:p>
            <a:r>
              <a:t>Instructor answer: 4.57 L, so 5 tins</a:t>
            </a:r>
          </a:p>
          <a:p>
            <a:r>
              <a:t>Working: Area 2 × 4 × 4 = 32 m², 32 ÷ 7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W06-L02 | 2026-11-30 | 2:15 PM–3:30 PM | 75 minutes</a:t>
            </a:r>
          </a:p>
          <a:p>
            <a:r>
              <a:t>Composite areas, openings and surface coverage</a:t>
            </a:r>
          </a:p>
          <a:p>
            <a:r>
              <a:t>Mode: Math</a:t>
            </a:r>
          </a:p>
          <a:p>
            <a:r>
              <a:t>Goal: Break a composite shape into known parts and subtract openings before estimating coverage.</a:t>
            </a:r>
          </a:p>
          <a:p>
            <a:r>
              <a:t>Read: Textbook sections 10.4–10.7 pp.158–164</a:t>
            </a:r>
          </a:p>
          <a:p>
            <a:r>
              <a:t>Practise: Exercise Book 10A Q10–12 (p.64); 10B Q2 (p.65), Q11–12 (p.66); 10C Q4 (p.67)</a:t>
            </a:r>
          </a:p>
          <a:p>
            <a:r>
              <a:t>Tool: Shape Canvas: build a rectangle with an opening using two labelled shapes; compare parts. Numeracy Hub Shape Studio: use a solid/net as an optional surface-area preview.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composite areas, openings and surface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Show a panel with a hole; ask which area is added and which is subtracted.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10B Q11 with outer and opening areas. Demonstrate a trapezoid and circle formula, keeping radius/diameter distinct.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10A Q10–12 and Exercise Book 10C Q4. Partners annotate non-overlapping pieces.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10B Q2,11–12. Build a Shape Canvas sketch and label areas; use the net preview only if core subtraction and coverage are secure.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10B Q11 and Q2; report net area and whole tins to buy.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900,000 mm² = 0.9 m²; Q2 = 4.57 L, buy 5 tins. Answer Key p.28. Answer Key pp.27–28</a:t>
            </a:r>
          </a:p>
          <a:p/>
          <a:p>
            <a:r>
              <a:t>Compare square units with cubic units before the volume lesson.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ACCESS EXERCISE BOOK: 10B-Q11</a:t>
            </a:r>
          </a:p>
          <a:p>
            <a:r>
              <a:t>Exact question: A 300 mm by 200 mm access hole is cut in a 1,200 mm by 800 mm cover plate. Find the area of plate left in mm² and in m².</a:t>
            </a:r>
          </a:p>
          <a:p>
            <a:r>
              <a:t>Instructor answer: 900,000 mm² = 0.9 m²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W06-L02 | 2026-11-30 | 2:15 PM–3:30 PM | 75 minutes</a:t>
            </a:r>
          </a:p>
          <a:p>
            <a:r>
              <a:t>Composite areas, openings and surface coverage</a:t>
            </a:r>
          </a:p>
          <a:p>
            <a:r>
              <a:t>Mode: Math</a:t>
            </a:r>
          </a:p>
          <a:p>
            <a:r>
              <a:t>Goal: Break a composite shape into known parts and subtract openings before estimating coverage.</a:t>
            </a:r>
          </a:p>
          <a:p>
            <a:r>
              <a:t>Read: Textbook sections 10.4–10.7 pp.158–164</a:t>
            </a:r>
          </a:p>
          <a:p>
            <a:r>
              <a:t>Practise: Exercise Book 10A Q10–12 (p.64); 10B Q2 (p.65), Q11–12 (p.66); 10C Q4 (p.67)</a:t>
            </a:r>
          </a:p>
          <a:p>
            <a:r>
              <a:t>Tool: Shape Canvas: build a rectangle with an opening using two labelled shapes; compare parts. Numeracy Hub Shape Studio: use a solid/net as an optional surface-area preview.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composite areas, openings and surface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Show a panel with a hole; ask which area is added and which is subtracted.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10B Q11 with outer and opening areas. Demonstrate a trapezoid and circle formula, keeping radius/diameter distinct.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10A Q10–12 and Exercise Book 10C Q4. Partners annotate non-overlapping pieces.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10B Q2,11–12. Build a Shape Canvas sketch and label areas; use the net preview only if core subtraction and coverage are secure.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10B Q11 and Q2; report net area and whole tins to buy.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900,000 mm² = 0.9 m²; Q2 = 4.57 L, buy 5 tins. Answer Key p.28. Answer Key pp.27–28</a:t>
            </a:r>
          </a:p>
          <a:p/>
          <a:p>
            <a:r>
              <a:t>Compare square units with cubic units before the volume lesson.</a:t>
            </a:r>
          </a:p>
          <a:p/>
          <a:p>
            <a:r>
              <a:t>Keep activities within the allocated phase time.</a:t>
            </a:r>
          </a:p>
          <a:p>
            <a:r>
              <a:t>PHASE TIMING: Check, 3:15 PM–3:25 PM.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W06-L02 | 2026-11-30 | 2:15 PM–3:30 PM | 75 minutes</a:t>
            </a:r>
          </a:p>
          <a:p>
            <a:r>
              <a:t>Composite areas, openings and surface coverage</a:t>
            </a:r>
          </a:p>
          <a:p>
            <a:r>
              <a:t>Mode: Math</a:t>
            </a:r>
          </a:p>
          <a:p>
            <a:r>
              <a:t>Goal: Break a composite shape into known parts and subtract openings before estimating coverage.</a:t>
            </a:r>
          </a:p>
          <a:p>
            <a:r>
              <a:t>Read: Textbook sections 10.4–10.7 pp.158–164</a:t>
            </a:r>
          </a:p>
          <a:p>
            <a:r>
              <a:t>Practise: Exercise Book 10A Q10–12 (p.64); 10B Q2 (p.65), Q11–12 (p.66); 10C Q4 (p.67)</a:t>
            </a:r>
          </a:p>
          <a:p>
            <a:r>
              <a:t>Tool: Shape Canvas: build a rectangle with an opening using two labelled shapes; compare parts. Numeracy Hub Shape Studio: use a solid/net as an optional surface-area preview.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composite areas, openings and surface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Show a panel with a hole; ask which area is added and which is subtracted.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10B Q11 with outer and opening areas. Demonstrate a trapezoid and circle formula, keeping radius/diameter distinct.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10A Q10–12 and Exercise Book 10C Q4. Partners annotate non-overlapping pieces.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10B Q2,11–12. Build a Shape Canvas sketch and label areas; use the net preview only if core subtraction and coverage are secure.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10B Q11 and Q2; report net area and whole tins to buy.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900,000 mm² = 0.9 m²; Q2 = 4.57 L, buy 5 tins. Answer Key p.28. Answer Key pp.27–28</a:t>
            </a:r>
          </a:p>
          <a:p/>
          <a:p>
            <a:r>
              <a:t>Compare square units with cubic units before the volume lesson.</a:t>
            </a:r>
          </a:p>
          <a:p/>
          <a:p>
            <a:r>
              <a:t>Keep activities within the allocated phase time.</a:t>
            </a:r>
          </a:p>
          <a:p>
            <a:r>
              <a:t>PHASE TIMING: Check, 3:15 PM–3:25 PM. All slides with this phase share these 10 minutes; do not restart the time allocation for each slide.</a:t>
            </a:r>
          </a:p>
          <a:p/>
          <a:p>
            <a:r>
              <a:t>ACCESS EXERCISE BOOK: 10B-Q11</a:t>
            </a:r>
          </a:p>
          <a:p>
            <a:r>
              <a:t>Exact question: A 300 mm by 200 mm access hole is cut in a 1,200 mm by 800 mm cover plate. Find the area of plate left in mm² and in m².</a:t>
            </a:r>
          </a:p>
          <a:p>
            <a:r>
              <a:t>Instructor answer: 900,000 mm² = 0.9 m²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W06-L02 | 2026-11-30 | 2:15 PM–3:30 PM | 75 minutes</a:t>
            </a:r>
          </a:p>
          <a:p>
            <a:r>
              <a:t>Composite areas, openings and surface coverage</a:t>
            </a:r>
          </a:p>
          <a:p>
            <a:r>
              <a:t>Mode: Math</a:t>
            </a:r>
          </a:p>
          <a:p>
            <a:r>
              <a:t>Goal: Break a composite shape into known parts and subtract openings before estimating coverage.</a:t>
            </a:r>
          </a:p>
          <a:p>
            <a:r>
              <a:t>Read: Textbook sections 10.4–10.7 pp.158–164</a:t>
            </a:r>
          </a:p>
          <a:p>
            <a:r>
              <a:t>Practise: Exercise Book 10A Q10–12 (p.64); 10B Q2 (p.65), Q11–12 (p.66); 10C Q4 (p.67)</a:t>
            </a:r>
          </a:p>
          <a:p>
            <a:r>
              <a:t>Tool: Shape Canvas: build a rectangle with an opening using two labelled shapes; compare parts. Numeracy Hub Shape Studio: use a solid/net as an optional surface-area preview.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composite areas, openings and surface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Show a panel with a hole; ask which area is added and which is subtracted.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10B Q11 with outer and opening areas. Demonstrate a trapezoid and circle formula, keeping radius/diameter distinct.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10A Q10–12 and Exercise Book 10C Q4. Partners annotate non-overlapping pieces.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10B Q2,11–12. Build a Shape Canvas sketch and label areas; use the net preview only if core subtraction and coverage are secure.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10B Q11 and Q2; report net area and whole tins to buy.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900,000 mm² = 0.9 m²; Q2 = 4.57 L, buy 5 tins. Answer Key p.28. Answer Key pp.27–28</a:t>
            </a:r>
          </a:p>
          <a:p/>
          <a:p>
            <a:r>
              <a:t>Compare square units with cubic units before the volume lesson.</a:t>
            </a:r>
          </a:p>
          <a:p/>
          <a:p>
            <a:r>
              <a:t>Keep activities within the allocated phase time.</a:t>
            </a:r>
          </a:p>
          <a:p>
            <a:r>
              <a:t>PHASE TIMING: Check, 3:15 PM–3:25 PM. All slides with this phase share these 10 minutes; do not restart the time allocation for each slide.</a:t>
            </a:r>
          </a:p>
          <a:p/>
          <a:p>
            <a:r>
              <a:t>ACCESS EXERCISE BOOK: 10B-Q2</a:t>
            </a:r>
          </a:p>
          <a:p>
            <a:r>
              <a:t>Exact question: Four plates, each 2.5 m by 1.6 m, are primed on both sides. The primer label says 1 L covers 7 m². Primer is sold in 1 L tins. How many tins do you buy? Give the litres to two decimal places.</a:t>
            </a:r>
          </a:p>
          <a:p>
            <a:r>
              <a:t>Instructor answer: 4.57 L, so 5 tins</a:t>
            </a:r>
          </a:p>
          <a:p>
            <a:r>
              <a:t>Working: Area 2 × 4 × 4 = 32 m², 32 ÷ 7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W06-L02 | 2026-11-30 | 2:15 PM–3:30 PM | 75 minutes</a:t>
            </a:r>
          </a:p>
          <a:p>
            <a:r>
              <a:t>Composite areas, openings and surface coverage</a:t>
            </a:r>
          </a:p>
          <a:p>
            <a:r>
              <a:t>Mode: Math</a:t>
            </a:r>
          </a:p>
          <a:p>
            <a:r>
              <a:t>Goal: Break a composite shape into known parts and subtract openings before estimating coverage.</a:t>
            </a:r>
          </a:p>
          <a:p>
            <a:r>
              <a:t>Read: Textbook sections 10.4–10.7 pp.158–164</a:t>
            </a:r>
          </a:p>
          <a:p>
            <a:r>
              <a:t>Practise: Exercise Book 10A Q10–12 (p.64); 10B Q2 (p.65), Q11–12 (p.66); 10C Q4 (p.67)</a:t>
            </a:r>
          </a:p>
          <a:p>
            <a:r>
              <a:t>Tool: Shape Canvas: build a rectangle with an opening using two labelled shapes; compare parts. Numeracy Hub Shape Studio: use a solid/net as an optional surface-area preview.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composite areas, openings and surface coverage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Show a panel with a hole; ask which area is added and which is subtracted.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10B Q11 with outer and opening areas. Demonstrate a trapezoid and circle formula, keeping radius/diameter distinct.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10A Q10–12 and Exercise Book 10C Q4. Partners annotate non-overlapping pieces.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10B Q2,11–12. Build a Shape Canvas sketch and label areas; use the net preview only if core subtraction and coverage are secure.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10B Q11 and Q2; report net area and whole tins to buy.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900,000 mm² = 0.9 m²; Q2 = 4.57 L, buy 5 tins. Answer Key p.28. Answer Key pp.27–28</a:t>
            </a:r>
          </a:p>
          <a:p/>
          <a:p>
            <a:r>
              <a:t>Compare square units with cubic units before the volume lesson.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3:25 PM–3:30 PM. All slides with this phase share these 5 minutes; do not restart the time allocation for each slide.</a:t>
            </a:r>
          </a:p>
          <a:p/>
          <a:p>
            <a:r>
              <a:t>Next scheduled learning: Compare square units with cubic units before the volume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54" TargetMode="External"/><Relationship Id="rId5" Type="http://schemas.openxmlformats.org/officeDocument/2006/relationships/hyperlink" Target="../../../books/ACCESS-Trades-Numeracy-Exercise-Book.pdf#page=63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54" TargetMode="External"/><Relationship Id="rId5" Type="http://schemas.openxmlformats.org/officeDocument/2006/relationships/hyperlink" Target="../../../books/ACCESS-Trades-Numeracy-Exercise-Book.pdf#page=63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54" TargetMode="External"/><Relationship Id="rId5" Type="http://schemas.openxmlformats.org/officeDocument/2006/relationships/hyperlink" Target="../../../books/ACCESS-Trades-Numeracy-Exercise-Book.pdf#page=63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54" TargetMode="External"/><Relationship Id="rId5" Type="http://schemas.openxmlformats.org/officeDocument/2006/relationships/hyperlink" Target="../../../books/ACCESS-Trades-Numeracy-Exercise-Book.pdf#page=63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54" TargetMode="External"/><Relationship Id="rId5" Type="http://schemas.openxmlformats.org/officeDocument/2006/relationships/hyperlink" Target="../../../books/ACCESS-Trades-Numeracy-Exercise-Book.pdf#page=63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54" TargetMode="External"/><Relationship Id="rId5" Type="http://schemas.openxmlformats.org/officeDocument/2006/relationships/hyperlink" Target="../../../books/ACCESS-Trades-Numeracy-Exercise-Book.pdf#page=63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3" Type="http://schemas.openxmlformats.org/officeDocument/2006/relationships/image" Target="../media/image1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56" TargetMode="External"/><Relationship Id="rId6" Type="http://schemas.openxmlformats.org/officeDocument/2006/relationships/hyperlink" Target="../../../books/ACCESS-Trades-Numeracy-Exercise-Book.pdf#page=63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55" TargetMode="External"/><Relationship Id="rId6" Type="http://schemas.openxmlformats.org/officeDocument/2006/relationships/hyperlink" Target="../../../books/ACCESS-Trades-Numeracy-Exercise-Book.pdf#page=63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54" TargetMode="External"/><Relationship Id="rId5" Type="http://schemas.openxmlformats.org/officeDocument/2006/relationships/hyperlink" Target="../../../books/ACCESS-Trades-Numeracy-Exercise-Book.pdf#page=63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54" TargetMode="External"/><Relationship Id="rId5" Type="http://schemas.openxmlformats.org/officeDocument/2006/relationships/hyperlink" Target="../../../books/ACCESS-Trades-Numeracy-Exercise-Book.pdf#page=63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3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54" TargetMode="External"/><Relationship Id="rId6" Type="http://schemas.openxmlformats.org/officeDocument/2006/relationships/hyperlink" Target="../../../books/ACCESS-Trades-Numeracy-Exercise-Book.pdf#page=63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3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54" TargetMode="External"/><Relationship Id="rId6" Type="http://schemas.openxmlformats.org/officeDocument/2006/relationships/hyperlink" Target="../../../books/ACCESS-Trades-Numeracy-Exercise-Book.pdf#page=63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54" TargetMode="External"/><Relationship Id="rId5" Type="http://schemas.openxmlformats.org/officeDocument/2006/relationships/hyperlink" Target="../../../books/ACCESS-Trades-Numeracy-Exercise-Book.pdf#page=63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4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54" TargetMode="External"/><Relationship Id="rId6" Type="http://schemas.openxmlformats.org/officeDocument/2006/relationships/hyperlink" Target="../../../books/ACCESS-Trades-Numeracy-Exercise-Book.pdf#page=63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54" TargetMode="External"/><Relationship Id="rId5" Type="http://schemas.openxmlformats.org/officeDocument/2006/relationships/hyperlink" Target="../../../books/ACCESS-Trades-Numeracy-Exercise-Book.pdf#page=63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5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54" TargetMode="External"/><Relationship Id="rId6" Type="http://schemas.openxmlformats.org/officeDocument/2006/relationships/hyperlink" Target="../../../books/ACCESS-Trades-Numeracy-Exercise-Book.pdf#page=63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6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54" TargetMode="External"/><Relationship Id="rId6" Type="http://schemas.openxmlformats.org/officeDocument/2006/relationships/hyperlink" Target="../../../books/ACCESS-Trades-Numeracy-Exercise-Book.pdf#page=63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54" TargetMode="External"/><Relationship Id="rId5" Type="http://schemas.openxmlformats.org/officeDocument/2006/relationships/hyperlink" Target="../../../books/ACCESS-Trades-Numeracy-Exercise-Book.pdf#page=63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7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54" TargetMode="External"/><Relationship Id="rId6" Type="http://schemas.openxmlformats.org/officeDocument/2006/relationships/hyperlink" Target="../../../books/ACCESS-Trades-Numeracy-Exercise-Book.pdf#page=6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54" TargetMode="External"/><Relationship Id="rId5" Type="http://schemas.openxmlformats.org/officeDocument/2006/relationships/hyperlink" Target="../../../books/ACCESS-Trades-Numeracy-Exercise-Book.pdf#page=63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58" TargetMode="External"/><Relationship Id="rId5" Type="http://schemas.openxmlformats.org/officeDocument/2006/relationships/hyperlink" Target="../../../books/ACCESS-Trades-Numeracy-Exercise-Book.pdf#page=64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58" TargetMode="External"/><Relationship Id="rId5" Type="http://schemas.openxmlformats.org/officeDocument/2006/relationships/hyperlink" Target="../../../books/ACCESS-Trades-Numeracy-Exercise-Book.pdf#page=64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58" TargetMode="External"/><Relationship Id="rId5" Type="http://schemas.openxmlformats.org/officeDocument/2006/relationships/hyperlink" Target="../../../books/ACCESS-Trades-Numeracy-Exercise-Book.pdf#page=64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58" TargetMode="External"/><Relationship Id="rId5" Type="http://schemas.openxmlformats.org/officeDocument/2006/relationships/hyperlink" Target="../../../books/ACCESS-Trades-Numeracy-Exercise-Book.pdf#page=64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58" TargetMode="External"/><Relationship Id="rId5" Type="http://schemas.openxmlformats.org/officeDocument/2006/relationships/hyperlink" Target="../../../books/ACCESS-Trades-Numeracy-Exercise-Book.pdf#page=64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62" TargetMode="External"/><Relationship Id="rId6" Type="http://schemas.openxmlformats.org/officeDocument/2006/relationships/hyperlink" Target="../../../books/ACCESS-Trades-Numeracy-Exercise-Book.pdf#page=64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62" TargetMode="External"/><Relationship Id="rId6" Type="http://schemas.openxmlformats.org/officeDocument/2006/relationships/hyperlink" Target="../../../books/ACCESS-Trades-Numeracy-Exercise-Book.pdf#page=64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58" TargetMode="External"/><Relationship Id="rId5" Type="http://schemas.openxmlformats.org/officeDocument/2006/relationships/hyperlink" Target="../../../books/ACCESS-Trades-Numeracy-Exercise-Book.pdf#page=64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58" TargetMode="External"/><Relationship Id="rId5" Type="http://schemas.openxmlformats.org/officeDocument/2006/relationships/hyperlink" Target="../../../books/ACCESS-Trades-Numeracy-Exercise-Book.pdf#page=64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58" TargetMode="External"/><Relationship Id="rId6" Type="http://schemas.openxmlformats.org/officeDocument/2006/relationships/hyperlink" Target="../../../books/ACCESS-Trades-Numeracy-Exercise-Book.pdf#page=63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58" TargetMode="External"/><Relationship Id="rId6" Type="http://schemas.openxmlformats.org/officeDocument/2006/relationships/hyperlink" Target="../../../books/ACCESS-Trades-Numeracy-Exercise-Book.pdf#page=63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58" TargetMode="External"/><Relationship Id="rId5" Type="http://schemas.openxmlformats.org/officeDocument/2006/relationships/hyperlink" Target="../../../books/ACCESS-Trades-Numeracy-Exercise-Book.pdf#page=64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58" TargetMode="External"/><Relationship Id="rId6" Type="http://schemas.openxmlformats.org/officeDocument/2006/relationships/hyperlink" Target="../../../books/ACCESS-Trades-Numeracy-Exercise-Book.pdf#page=64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58" TargetMode="External"/><Relationship Id="rId5" Type="http://schemas.openxmlformats.org/officeDocument/2006/relationships/hyperlink" Target="../../../books/ACCESS-Trades-Numeracy-Exercise-Book.pdf#page=64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58" TargetMode="External"/><Relationship Id="rId6" Type="http://schemas.openxmlformats.org/officeDocument/2006/relationships/hyperlink" Target="../../../books/ACCESS-Trades-Numeracy-Exercise-Book.pdf#page=6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58" TargetMode="External"/><Relationship Id="rId6" Type="http://schemas.openxmlformats.org/officeDocument/2006/relationships/hyperlink" Target="../../../books/ACCESS-Trades-Numeracy-Exercise-Book.pdf#page=6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58" TargetMode="External"/><Relationship Id="rId5" Type="http://schemas.openxmlformats.org/officeDocument/2006/relationships/hyperlink" Target="../../../books/ACCESS-Trades-Numeracy-Exercise-Book.pdf#page=64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58" TargetMode="External"/><Relationship Id="rId6" Type="http://schemas.openxmlformats.org/officeDocument/2006/relationships/hyperlink" Target="../../../books/ACCESS-Trades-Numeracy-Exercise-Book.pdf#page=6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58" TargetMode="External"/><Relationship Id="rId6" Type="http://schemas.openxmlformats.org/officeDocument/2006/relationships/hyperlink" Target="../../../books/ACCESS-Trades-Numeracy-Exercise-Book.pdf#page=6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58" TargetMode="External"/><Relationship Id="rId5" Type="http://schemas.openxmlformats.org/officeDocument/2006/relationships/hyperlink" Target="../../../books/ACCESS-Trades-Numeracy-Exercise-Book.pdf#page=64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3891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ACCESS  /  CARPENTRY FOUNDATION  /  INTAKE 141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14300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600" b="1">
                <a:solidFill>
                  <a:srgbClr val="1A1A1A"/>
                </a:solidFill>
                <a:latin typeface="Arial"/>
              </a:defRPr>
            </a:pPr>
            <a:r>
              <a:t>Day 18  |  Monday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88366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0">
                <a:solidFill>
                  <a:srgbClr val="4A4E54"/>
                </a:solidFill>
                <a:latin typeface="Arial"/>
              </a:defRPr>
            </a:pPr>
            <a:r>
              <a:t>November 30,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2633472"/>
            <a:ext cx="109728" cy="2194560"/>
          </a:xfrm>
          <a:prstGeom prst="rect">
            <a:avLst/>
          </a:prstGeom>
          <a:solidFill>
            <a:srgbClr val="D2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32688" y="274320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Area and material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320040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12:45 PM–2:00 PM  •  Math  •  75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84048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Composite areas, openings and surface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29768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2:15 PM–3:30 PM  •  Math  •  75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44068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D2181F"/>
                </a:solidFill>
                <a:latin typeface="Arial"/>
              </a:defRPr>
            </a:pPr>
            <a:r>
              <a:t>Week 6  •  2 scheduled blocks  •  150 teaching minutes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t>Estimate. Show the method. Label units. Check the result.</a:t>
            </a:r>
          </a:p>
        </p:txBody>
      </p:sp>
      <p:pic>
        <p:nvPicPr>
          <p:cNvPr id="12" name="Picture 11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18  •  2026-11-30  •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rPr/>
              <a:t>DAY 18  /  WEEK 6  /  CLASS TIMETABLE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778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000" b="1">
                <a:solidFill>
                  <a:srgbClr val="1A1A1A"/>
                </a:solidFill>
                <a:latin typeface="Arial"/>
              </a:defRPr>
            </a:pPr>
            <a:r>
              <a:rPr/>
              <a:t>Today’s exact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12:45 PM–2:00 PM  •  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Area and material coverage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12:45 PM–12:50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6752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12:50 PM–12:55 PM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864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752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12:55 PM–1:10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752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1:10 PM–1:25 PM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864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752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1:25 PM–1:45 PM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9864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752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1:45 PM–1:55 PM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9864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6752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1:55 PM–2:00 PM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9864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 •  Math Week 6, Lesson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620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2:15 PM–3:30 PM  •  75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Composite areas, openings and surface coverage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2:15 PM–2:20 PM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9108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2:20 PM–2:25 PM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220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9108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2:25 PM–2:40 PM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9108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2:40 PM–2:55 PM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2220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9108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2:55 PM–3:15 PM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220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9108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3:15 PM–3:25 PM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2220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9108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3620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3:25 PM–3:30 PM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2220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9108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3620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 •  Math Week 6, Lesson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" y="6053328"/>
            <a:ext cx="10927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0">
                <a:solidFill>
                  <a:srgbClr val="1A1A1A"/>
                </a:solidFill>
                <a:latin typeface="Arial"/>
              </a:defRPr>
            </a:pPr>
            <a:r>
              <a:rPr/>
              <a:t>Break: 2:00 PM–2:15 PM  •  15 minutes  •  excluded from teaching time</a:t>
            </a:r>
          </a:p>
        </p:txBody>
      </p:sp>
      <p:pic>
        <p:nvPicPr>
          <p:cNvPr id="53" name="Picture 5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W06-L01  •  START  •  12:45 PM–12:50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Area and material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10.1–10.3 pp.154–157; sections 7.4 pp.113–115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Calculate rectangle and triangle areas and distinguish linear units from square units.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Describe a prior use of the skill; identify the given and unknown quantities.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sections 10.1–10.3 pp.154–157; sections 7.4 pp.113–115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10A Q1–8 (p.63); 10B Q1,4 (p.65)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W06-L01  •  RECALL  •  12:50 PM–12:55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10.1–10.3 pp.154–157; sections 7.4 pp.113–115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Explain why 1 m² is not 1,000 mm²; retrieve a rectangle perimeter and name its different unit.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Attempt the retrieval task independently; explain the method before checking.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10A Q1–8 (p.63); 10B Q1,4 (p.65)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W06-L01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Measure coverage in squares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10.1–10.3 pp.154–157; sections 7.4 pp.113–115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Rectangle area = length × width.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Triangle area = ½ × base × perpendicular height.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The height meets the base at 90°; it is not usually the sloping side.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Area answers use square units such as mm² or m².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W06-L01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Convert areas and count sheets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10.1–10.3 pp.154–157; sections 7.4 pp.113–115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 square conversion applies the length factor twice.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Because 1 m = 1,000 mm, 1 m² = 1,000,000 mm².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Sheet count = surface area ÷ one-sheet area in matching units.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Keep the exercise’s no-waste assumption explicit; round purchases as required.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W06-L01  •  TEACH  •  12:55 PM–1:10 PM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floor area into a sheet quantity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585" y="1714500"/>
            <a:ext cx="10972526" cy="1119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1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Floor: 7.2 m × 3.6 m = 25.92 m²</a:t>
            </a:r>
            <a:endParaRPr lang="en-US" sz="2100" dirty="0"/>
          </a:p>
          <a:p>
            <a:pPr marL="0" indent="0" algn="l">
              <a:buNone/>
            </a:pPr>
            <a:r>
              <a:rPr lang="en-US" sz="21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sheet: 1.2 m × 2.4 m = 2.88 m²</a:t>
            </a:r>
            <a:endParaRPr lang="en-US" sz="2100" dirty="0"/>
          </a:p>
          <a:p>
            <a:pPr marL="0" indent="0" algn="l">
              <a:buNone/>
            </a:pPr>
            <a:r>
              <a:rPr lang="en-US" sz="21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No-waste quantity: 25.92 ÷ 2.88 = 9 sheets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09585" y="3238500"/>
            <a:ext cx="10972526" cy="95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result means • This is a no-waste classroom calculation.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area quotient is not automatically a workable cutting plan.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sheet dimensions and layout assumptions visible.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09585" y="4714875"/>
            <a:ext cx="10972526" cy="95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• Work 10A Q2–4,7–8. Label perpendicular heights.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 Canvas: compare a rectangle and a right triangle with the same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and height. Predict why the triangle has half the area.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 Book 10B Q1 p.65 • Numeracy Hub → Volume and Layout → Area and perimeter</a:t>
            </a:r>
            <a:endParaRPr lang="en-US" sz="1050" dirty="0"/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07</a:t>
            </a:r>
          </a:p>
        </p:txBody>
      </p:sp>
    </p:spTree>
    <p:extLst>
      <p:ext uri="{BB962C8B-B14F-4D97-AF65-F5344CB8AC3E}">
        <p14:creationId xmlns:p14="http://schemas.microsoft.com/office/powerpoint/2010/main" val="2839120278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W06-L01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156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10.1–10.3 pp.154–157; sections 7.4 pp.113–115</a:t>
            </a:r>
          </a:p>
        </p:txBody>
      </p:sp>
      <p:pic>
        <p:nvPicPr>
          <p:cNvPr id="5" name="Picture 4" descr="W06-L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57526"/>
            <a:ext cx="10698480" cy="27373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p.156 • Figure 10.3 — Equal base and perpendicular height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W06-L01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155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10.1–10.3 pp.154–157; sections 7.4 pp.113–115</a:t>
            </a:r>
          </a:p>
        </p:txBody>
      </p:sp>
      <p:pic>
        <p:nvPicPr>
          <p:cNvPr id="5" name="Picture 4" descr="W06-L01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35866"/>
            <a:ext cx="10698480" cy="35806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p.155 • Example 10.1 — Rectangle area and squared unit conversion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W06-L01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10.1–10.3 pp.154–157; sections 7.4 pp.113–115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Can an area in m² be converted to mm² by multiplying by 1,000?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No. Both dimensions change by 1,000, so the area factor is 1,000 squared.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W06-L01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10.1–10.3 pp.154–157; sections 7.4 pp.113–115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Work Exercise Book 10A Q2–4,7–8; learners label perpendicular height, not the sloping side.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pairs, alternating solver and checker. Write a diagram, formula, units and estimate.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10A Q1–8 (p.63); 10B Q1,4 (p.65)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W06-L01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10A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10.1–10.3 pp.154–157; sections 7.4 pp.113–115</a:t>
            </a:r>
          </a:p>
        </p:txBody>
      </p:sp>
      <p:pic>
        <p:nvPicPr>
          <p:cNvPr id="5" name="Picture 4" descr="10A-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W06-L01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10A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10.1–10.3 pp.154–157; sections 7.4 pp.113–115</a:t>
            </a:r>
          </a:p>
        </p:txBody>
      </p:sp>
      <p:pic>
        <p:nvPicPr>
          <p:cNvPr id="5" name="Picture 4" descr="10A-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91690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1.5 m²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W06-L01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10.1–10.3 pp.154–157; sections 7.4 pp.113–115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Exercise Book 10A Q5–6 and 10B Q1,4. On Shape Canvas, compare the two shapes’ areas. Keep the sheet count’s no-waste assumption explicit.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on paper first; check with tools; correct one error and explain the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10A Q1–8 (p.63); 10B Q1,4 (p.65)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W06-L01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10.1–10.3 pp.154–157; sections 7.4 pp.113–115</a:t>
            </a:r>
          </a:p>
        </p:txBody>
      </p:sp>
      <p:pic>
        <p:nvPicPr>
          <p:cNvPr id="5" name="Picture 4" descr="hub-vl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W06-L01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10.1–10.3 pp.154–157; sections 7.4 pp.113–115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Create a rectangle and right triangle with equal base and height in Shape Canvas.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Calculate both areas on paper; explain why the triangle covers half as much.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Check the area method in Numeracy Hub Volume and Layout → Area and perimeter.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W06-L01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10A Q5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10.1–10.3 pp.154–157; sections 7.4 pp.113–115</a:t>
            </a:r>
          </a:p>
        </p:txBody>
      </p:sp>
      <p:pic>
        <p:nvPicPr>
          <p:cNvPr id="5" name="Picture 4" descr="10A-Q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W06-L01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10A Q6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10.1–10.3 pp.154–157; sections 7.4 pp.113–115</a:t>
            </a:r>
          </a:p>
        </p:txBody>
      </p:sp>
      <p:pic>
        <p:nvPicPr>
          <p:cNvPr id="5" name="Picture 4" descr="10A-Q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W06-L01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10.1–10.3 pp.154–157; sections 7.4 pp.113–115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Exercise Book 10B Q1; show floor area, one-sheet area and sheet quantity.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without displayed answers; include working, units and final rounding.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10A Q1–8 (p.63); 10B Q1,4 (p.65)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W06-L01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10B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10.1–10.3 pp.154–157; sections 7.4 pp.113–115</a:t>
            </a:r>
          </a:p>
        </p:txBody>
      </p:sp>
      <p:pic>
        <p:nvPicPr>
          <p:cNvPr id="5" name="Picture 4" descr="10B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58618"/>
            <a:ext cx="10698480" cy="18425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W06-L01  •  WRAP UP  •  1:55 PM–2:00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10.1–10.3 pp.154–157; sections 7.4 pp.113–115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Ask: What changed in your understanding? Where will you use it? What should you check next time?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Name the math and one other essential skill used; record a next practice step.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10A Q1–8 (p.63); 10B Q1,4 (p.65)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DAY 18  •  SCHEDULED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3716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4400" b="1">
                <a:solidFill>
                  <a:srgbClr val="1A1A1A"/>
                </a:solidFill>
                <a:latin typeface="Arial"/>
              </a:defRPr>
            </a:pPr>
            <a: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2743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200" b="0">
                <a:solidFill>
                  <a:srgbClr val="D2181F"/>
                </a:solidFill>
                <a:latin typeface="Arial"/>
              </a:defRPr>
            </a:pPr>
            <a:r>
              <a:t>2:00 PM–2:15 PM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794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300" b="0">
                <a:solidFill>
                  <a:srgbClr val="1A1A1A"/>
                </a:solidFill>
                <a:latin typeface="Arial"/>
              </a:defRPr>
            </a:pPr>
            <a:r>
              <a:t>Return ready for: Composite areas, openings and surface coverage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5212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4A4E54"/>
                </a:solidFill>
                <a:latin typeface="Arial"/>
              </a:defRPr>
            </a:pPr>
            <a:r>
              <a:t>This break is excluded from teaching minutes.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18  •  2026-11-30  •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W06-L02  •  START  •  2:15 PM–2:20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Composite areas, openings and surface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10.4–10.7 pp.158–164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Break a composite shape into known parts and subtract openings before estimating coverage.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Describe a prior use of the skill; identify the given and unknown quantities.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sections 10.4–10.7 pp.158–164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10A Q10–12 (p.64); 10B Q2 (p.65), Q11–12 (p.66); 10C Q4 (p.67)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W06-L02  •  RECALL  •  2:20 PM–2:25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10.4–10.7 pp.158–164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Show a panel with a hole; ask which area is added and which is subtracted.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Attempt the retrieval task independently; explain the method before checking.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10A Q10–12 (p.64); 10B Q2 (p.65), Q11–12 (p.66); 10C Q4 (p.67)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W06-L02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Build a composite area from known pieces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10.4–10.7 pp.158–164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Split the outline into non-overlapping shapes with known area formulas.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Label the required lengths and perpendicular heights.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Add the separate areas once each.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For a trapezoid, multiply the average parallel-side length by its height.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W06-L02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Subtract openings before estimating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10.4–10.7 pp.158–164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Net area = outer area − opening area.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For a circular opening, use A = πr² with half the diameter as 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Keep all areas in the same square unit.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net area and the stated coverage to calculate whole tins to buy.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W06-L02  •  TEACH  •  2:25 PM–2:40 PM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Subtract the opening, not the outside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04852" y="2333625"/>
            <a:ext cx="3333667" cy="2190750"/>
          </a:xfrm>
          <a:prstGeom prst="rect">
            <a:avLst/>
          </a:prstGeom>
          <a:solidFill>
            <a:srgbClr val="E3E5E7"/>
          </a:solidFill>
          <a:ln w="28575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Shape 4"/>
          <p:cNvSpPr/>
          <p:nvPr/>
        </p:nvSpPr>
        <p:spPr>
          <a:xfrm>
            <a:off x="2047824" y="2952750"/>
            <a:ext cx="1047724" cy="857250"/>
          </a:xfrm>
          <a:prstGeom prst="rect">
            <a:avLst/>
          </a:prstGeom>
          <a:solidFill>
            <a:srgbClr val="FFFFFF"/>
          </a:solidFill>
          <a:ln w="28575">
            <a:solidFill>
              <a:srgbClr val="C60016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" name="Text 5"/>
          <p:cNvSpPr/>
          <p:nvPr/>
        </p:nvSpPr>
        <p:spPr>
          <a:xfrm>
            <a:off x="904852" y="1809750"/>
            <a:ext cx="476238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Outer: 1,200 × 800 mm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04852" y="4667250"/>
            <a:ext cx="476238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Opening: 300 × 200 mm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810105" y="1905000"/>
            <a:ext cx="5714857" cy="1119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1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Outer area = 960,000 mm²</a:t>
            </a:r>
            <a:endParaRPr lang="en-US" sz="2100" dirty="0"/>
          </a:p>
          <a:p>
            <a:pPr marL="0" indent="0" algn="l">
              <a:buNone/>
            </a:pPr>
            <a:r>
              <a:rPr lang="en-US" sz="21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area = 60,000 mm²</a:t>
            </a:r>
            <a:endParaRPr lang="en-US" sz="2100" dirty="0"/>
          </a:p>
          <a:p>
            <a:pPr marL="0" indent="0" algn="l">
              <a:buNone/>
            </a:pPr>
            <a:r>
              <a:rPr lang="en-US" sz="21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= 900,000 mm² = 0.9 m²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5810105" y="3286125"/>
            <a:ext cx="5524362" cy="95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900,000 + 60,000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960,000 mm².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all dimensions in one unit.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09585" y="5334000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• 10A Q10–12 and 10C Q4. Annotate non-overlapping parts.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 Shape Canvas sketch only after choosing the add/subtract steps.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 Book 10B Q11 p.66 • Schematic, not to scale • Surface-net preview is optional after core work</a:t>
            </a:r>
            <a:endParaRPr lang="en-US" sz="1050" dirty="0"/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27</a:t>
            </a:r>
          </a:p>
        </p:txBody>
      </p:sp>
    </p:spTree>
    <p:extLst>
      <p:ext uri="{BB962C8B-B14F-4D97-AF65-F5344CB8AC3E}">
        <p14:creationId xmlns:p14="http://schemas.microsoft.com/office/powerpoint/2010/main" val="2508019296"/>
      </p:ext>
    </p:extLst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W06-L02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162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10.4–10.7 pp.158–164</a:t>
            </a:r>
          </a:p>
        </p:txBody>
      </p:sp>
      <p:pic>
        <p:nvPicPr>
          <p:cNvPr id="5" name="Picture 4" descr="W06-L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50527"/>
            <a:ext cx="10698480" cy="2951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p.162 • Example 10.7 — Split an L-shaped plate into non-overlapping rectangles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W06-L02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162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10.4–10.7 pp.158–164</a:t>
            </a:r>
          </a:p>
        </p:txBody>
      </p:sp>
      <p:pic>
        <p:nvPicPr>
          <p:cNvPr id="5" name="Picture 4" descr="W06-L02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526" y="1691640"/>
            <a:ext cx="10183027" cy="4069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p.162 • Example 10.8 — Add the shapes and subtract the opening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W06-L02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10.4–10.7 pp.158–164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A panel has a circular opening labelled by diameter. Can that diameter go directly into πr²?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No. Divide the diameter by two to obtain the radius, then square the radius.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W06-L02  •  TOGETHER  •  2:40 PM–2:55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10.4–10.7 pp.158–164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Work Exercise Book 10A Q10–12 and Exercise Book 10C Q4. Partners annotate non-overlapping pieces.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pairs, alternating solver and checker. Write a diagram, formula, units and estimate.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10A Q10–12 (p.64); 10B Q2 (p.65), Q11–12 (p.66); 10C Q4 (p.67)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W06-L02  •  TOGETHER  •  2:40 PM–2:55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10A Q10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10.4–10.7 pp.158–164</a:t>
            </a:r>
          </a:p>
        </p:txBody>
      </p:sp>
      <p:pic>
        <p:nvPicPr>
          <p:cNvPr id="5" name="Picture 4" descr="10A-Q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W06-L02  •  TOGETHER  •  2:40 PM–2:55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10A Q10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10.4–10.7 pp.158–164</a:t>
            </a:r>
          </a:p>
        </p:txBody>
      </p:sp>
      <p:pic>
        <p:nvPicPr>
          <p:cNvPr id="5" name="Picture 4" descr="10A-Q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53945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59,400 mm²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W06-L02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10.4–10.7 pp.158–164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Exercise Book 10B Q2,11–12. Build a Shape Canvas sketch and label areas; use the net preview only if core subtraction and coverage are secure.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on paper first; check with tools; correct one error and explain the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10A Q10–12 (p.64); 10B Q2 (p.65), Q11–12 (p.66); 10C Q4 (p.67)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W06-L02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10.4–10.7 pp.158–164</a:t>
            </a:r>
          </a:p>
        </p:txBody>
      </p:sp>
      <p:pic>
        <p:nvPicPr>
          <p:cNvPr id="5" name="Picture 4" descr="shape-rect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W06-L02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10.4–10.7 pp.158–164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two labelled shapes in Shape Canvas to represent the outer rectangle and opening.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Compute the separate areas and net area on paper before comparing the labels.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Only after core coverage work is secure, inspect the optional Shape Studio solid/net preview.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W06-L02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10B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10.4–10.7 pp.158–164</a:t>
            </a:r>
          </a:p>
        </p:txBody>
      </p:sp>
      <p:pic>
        <p:nvPicPr>
          <p:cNvPr id="5" name="Picture 4" descr="10B-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58618"/>
            <a:ext cx="10698480" cy="18425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W06-L02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10B Q11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10.4–10.7 pp.158–164</a:t>
            </a:r>
          </a:p>
        </p:txBody>
      </p:sp>
      <p:pic>
        <p:nvPicPr>
          <p:cNvPr id="5" name="Picture 4" descr="10B-Q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W06-L02  •  CHECK  •  3:15 PM–3:25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10.4–10.7 pp.158–164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Exercise Book 10B Q11 and Q2; report net area and whole tins to buy.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without displayed answers; include working, units and final rounding.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10A Q10–12 (p.64); 10B Q2 (p.65), Q11–12 (p.66); 10C Q4 (p.67)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W06-L02  •  CHECK  •  3:15 PM–3:25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10B Q11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10.4–10.7 pp.158–164</a:t>
            </a:r>
          </a:p>
        </p:txBody>
      </p:sp>
      <p:pic>
        <p:nvPicPr>
          <p:cNvPr id="5" name="Picture 4" descr="10B-Q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W06-L02  •  CHECK  •  3:15 PM–3:25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10B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10.4–10.7 pp.158–164</a:t>
            </a:r>
          </a:p>
        </p:txBody>
      </p:sp>
      <p:pic>
        <p:nvPicPr>
          <p:cNvPr id="5" name="Picture 4" descr="10B-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58618"/>
            <a:ext cx="10698480" cy="18425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W06-L02  •  WRAP UP  •  3:25 PM–3:30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10.4–10.7 pp.158–164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Ask: What changed in your understanding? Where will you use it? What should you check next time?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Name the math and one other essential skill used; record a next practice step.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10A Q10–12 (p.64); 10B Q2 (p.65), Q11–12 (p.66); 10C Q4 (p.67)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18  •  2026-11-30  •  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34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60FB143F-4C5F-4CFA-83D4-CE599B274CB0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e15ce61c-59d5-4165-9b38-ae3aa70e2273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696CE026-134B-41F5-918B-2FB126868299}">
  <we:reference id="wa200010215" version="2.0.0.1" store="en-US" storeType="OMEX"/>
  <we:alternateReferences>
    <we:reference id="WA200010215" version="2.0.0.1" store="" storeType="OMEX"/>
  </we:alternateReferences>
  <we:properties>
    <we:property name="bps.codex_control.document_id" value="&quot;fd5b780e-6113-4733-b1f1-d8726169f48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42</Slides>
  <Notes>42</Notes>
  <HiddenSlides>0</HiddenSlides>
  <ScaleCrop>false</ScaleCrop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ACCESS Carpentry Math | Full Day 18 | 2026-11-30</dc:title>
  <dc:creator>ACCESS Trades</dc:creator>
  <dc:subject>Area and material coverage; Composite areas, openings and surface coverage</dc:subject>
</cp:coreProperties>
</file>