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1.xml" ContentType="application/vnd.openxmlformats-officedocument.presentationml.notesSlide+xml"/>
  <Override PartName="/ppt/notesSlides/notesSlide114.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79" r:id="rId112"/>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382" r:id="rId115"/>
    <p:sldId id="460" r:id="rId197"/>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2" Type="http://schemas.openxmlformats.org/officeDocument/2006/relationships/slide" Target="slides/slide7.xml"/><Relationship Id="rId115" Type="http://schemas.openxmlformats.org/officeDocument/2006/relationships/slide" Target="slides/slide27.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8.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W06-L01 | 2026-11-30 | 12:45 PM–2:00 PM | 75 minutes</a:t>
            </a:r>
          </a:p>
          <a:p>
            <a:r>
              <a:t>Area and material coverage</a:t>
            </a:r>
          </a:p>
          <a:p>
            <a:r>
              <a:t>Mode: Math</a:t>
            </a:r>
          </a:p>
          <a:p>
            <a:r>
              <a:t>Goal: Calculate rectangle and triangle areas and distinguish linear units from square units.</a:t>
            </a:r>
          </a:p>
          <a:p>
            <a:r>
              <a:t>Read: Textbook sections 10.1–10.3 pp.154–157; sections 7.4 pp.113–115</a:t>
            </a:r>
          </a:p>
          <a:p>
            <a:r>
              <a:t>Practise: Exercise Book 10A Q1–8 (p.63); 10B Q1,4 (p.65)</a:t>
            </a:r>
          </a:p>
          <a:p>
            <a:r>
              <a:t>Tool: Shape Canvas: rectangle and right triangle with the same base and height. Numeracy Hub: Volume and Layout, then Module 2 Area and perimeter.</a:t>
            </a:r>
          </a:p>
          <a:p/>
          <a:p>
            <a:r>
              <a:t>EXACT SCHEDULED STEPS</a:t>
            </a:r>
          </a:p>
          <a:p>
            <a:r>
              <a:t>12:45 PM–12:50 PM | 1 Start | 5 min</a:t>
            </a:r>
          </a:p>
          <a:p>
            <a:r>
              <a:t>Instructor: Connect area and material coverage to a dimensioned carpentry drawing. State the objective.</a:t>
            </a:r>
          </a:p>
          <a:p>
            <a:r>
              <a:t>Learners: Describe a prior use of the skill; identify the given and unknown quantities.</a:t>
            </a:r>
          </a:p>
          <a:p>
            <a:r>
              <a:t>Materials/check: Notebook; calculator</a:t>
            </a:r>
          </a:p>
          <a:p>
            <a:r>
              <a:t>Source: 'Math Week 6'!A30:F30</a:t>
            </a:r>
          </a:p>
          <a:p/>
          <a:p>
            <a:r>
              <a:t>12:50 PM–12:55 PM | 2 Recall | 5 min</a:t>
            </a:r>
          </a:p>
          <a:p>
            <a:r>
              <a:t>Instructor: Ask why 1 m² is not 1,000 mm²; retrieve a rectangle perimeter and name its different unit.</a:t>
            </a:r>
          </a:p>
          <a:p>
            <a:r>
              <a:t>Learners: Attempt the retrieval task independently; explain the method before checking.</a:t>
            </a:r>
          </a:p>
          <a:p>
            <a:r>
              <a:t>Materials/check: Identify support needs</a:t>
            </a:r>
          </a:p>
          <a:p>
            <a:r>
              <a:t>Source: 'Math Week 6'!A31:F31</a:t>
            </a:r>
          </a:p>
          <a:p/>
          <a:p>
            <a:r>
              <a:t>12:55 PM–1:10 PM | 3 Teach | 15 min</a:t>
            </a:r>
          </a:p>
          <a:p>
            <a:r>
              <a:t>Instructor: Model area as a count of squares, then the triangle as half a rectangle. Show squared conversion factors.</a:t>
            </a:r>
          </a:p>
          <a:p>
            <a:r>
              <a:t>Learners: Annotate the example and predict the next step; ask about unclear units or symbols.</a:t>
            </a:r>
          </a:p>
          <a:p>
            <a:r>
              <a:t>Materials/check: Textbook; worked example</a:t>
            </a:r>
          </a:p>
          <a:p>
            <a:r>
              <a:t>Source: 'Math Week 6'!A32:F32</a:t>
            </a:r>
          </a:p>
          <a:p/>
          <a:p>
            <a:r>
              <a:t>1:10 PM–1:25 PM | 4 Together | 15 min</a:t>
            </a:r>
          </a:p>
          <a:p>
            <a:r>
              <a:t>Instructor: Work Exercise Book 10A Q2–4,7–8; learners label perpendicular height, not the sloping side.</a:t>
            </a:r>
          </a:p>
          <a:p>
            <a:r>
              <a:t>Learners: Work in pairs, alternating solver and checker. Write a diagram, formula, units and estimate.</a:t>
            </a:r>
          </a:p>
          <a:p>
            <a:r>
              <a:t>Materials/check: Exercise Book; tool above</a:t>
            </a:r>
          </a:p>
          <a:p>
            <a:r>
              <a:t>Source: 'Math Week 6'!A33:F33</a:t>
            </a:r>
          </a:p>
          <a:p/>
          <a:p>
            <a:r>
              <a:t>1:25 PM–1:45 PM | 5 Practise | 20 min</a:t>
            </a:r>
          </a:p>
          <a:p>
            <a:r>
              <a:t>Instructor: Complete Exercise Book 10A Q5–6 and 10B Q1,4. On Shape Canvas, compare the two shapes’ areas. Keep the sheet count’s no-waste assumption explicit.</a:t>
            </a:r>
          </a:p>
          <a:p>
            <a:r>
              <a:t>Learners: Solve on paper first; check with tools; correct one error and explain the change.</a:t>
            </a:r>
          </a:p>
          <a:p>
            <a:r>
              <a:t>Materials/check: Paper first; tool second</a:t>
            </a:r>
          </a:p>
          <a:p>
            <a:r>
              <a:t>Source: 'Math Week 6'!A34:F34</a:t>
            </a:r>
          </a:p>
          <a:p/>
          <a:p>
            <a:r>
              <a:t>1:45 PM–1:55 PM | 6 Check | 10 min</a:t>
            </a:r>
          </a:p>
          <a:p>
            <a:r>
              <a:t>Instructor: Exercise Book 10B Q1; show floor area, one-sheet area and sheet quantity.</a:t>
            </a:r>
          </a:p>
          <a:p>
            <a:r>
              <a:t>Learners: Solve without displayed answers; include working, units and final rounding.</a:t>
            </a:r>
          </a:p>
          <a:p>
            <a:r>
              <a:t>Materials/check: Teacher answers below</a:t>
            </a:r>
          </a:p>
          <a:p>
            <a:r>
              <a:t>Source: 'Math Week 6'!A35:F35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6'!A36:F36</a:t>
            </a:r>
          </a:p>
          <a:p/>
          <a:p>
            <a:r>
              <a:t>INSTRUCTOR ONLY: REVEAL ASSESSMENT ANSWERS AFTER THE ATTEMPT</a:t>
            </a:r>
          </a:p>
          <a:p>
            <a:r>
              <a:t>10B Q1 = 25.92 m² and 9 sheets, assuming no waste as stated. Answer Key p.28. Answer Key pp.27–28</a:t>
            </a:r>
          </a:p>
          <a:p/>
          <a:p>
            <a:r>
              <a:t>Extend to composite surfaces and openings without double-counting.</a:t>
            </a:r>
          </a:p>
          <a:p/>
          <a:p>
            <a:r>
              <a:t>Sources: 'Math Week 6'!A10:E10; 'Carpentry Schedule'!B60; 'Math Week 6'!A24</a:t>
            </a:r>
          </a:p>
          <a:p>
            <a:r>
              <a:t>Navigation/resource slides support these scheduled steps and do not add instructional time.</a:t>
            </a:r>
          </a:p>
          <a:p>
            <a:r>
              <a:t>Worked teaching example retained from original slide 111.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W06-L02 | 2026-11-30 | 2:15 PM–3:30 PM | 75 minutes</a:t>
            </a:r>
          </a:p>
          <a:p>
            <a:r>
              <a:t>Composite areas, openings and surface coverage</a:t>
            </a:r>
          </a:p>
          <a:p>
            <a:r>
              <a:t>Mode: Math</a:t>
            </a:r>
          </a:p>
          <a:p>
            <a:r>
              <a:t>Goal: Break a composite shape into known parts and subtract openings before estimating coverage.</a:t>
            </a:r>
          </a:p>
          <a:p>
            <a:r>
              <a:t>Read: Textbook sections 10.4–10.7 pp.158–164</a:t>
            </a:r>
          </a:p>
          <a:p>
            <a:r>
              <a:t>Practise: Exercise Book 10A Q10–12 (p.64); 10B Q2 (p.65), Q11–12 (p.66); 10C Q4 (p.67)</a:t>
            </a:r>
          </a:p>
          <a:p>
            <a:r>
              <a:t>Tool: Shape Canvas: build a rectangle with an opening using two labelled shapes; compare parts. Numeracy Hub Shape Studio: use a solid/net as an optional surface-area preview.</a:t>
            </a:r>
          </a:p>
          <a:p/>
          <a:p>
            <a:r>
              <a:t>EXACT SCHEDULED STEPS</a:t>
            </a:r>
          </a:p>
          <a:p>
            <a:r>
              <a:t>2:15 PM–2:20 PM | 1 Start | 5 min</a:t>
            </a:r>
          </a:p>
          <a:p>
            <a:r>
              <a:t>Instructor: Connect composite areas, openings and surface coverage to a dimensioned carpentry drawing. State the objective.</a:t>
            </a:r>
          </a:p>
          <a:p>
            <a:r>
              <a:t>Learners: Describe a prior use of the skill; identify the given and unknown quantities.</a:t>
            </a:r>
          </a:p>
          <a:p>
            <a:r>
              <a:t>Materials/check: Notebook; calculator</a:t>
            </a:r>
          </a:p>
          <a:p>
            <a:r>
              <a:t>Source: 'Math Week 6'!A47:F47</a:t>
            </a:r>
          </a:p>
          <a:p/>
          <a:p>
            <a:r>
              <a:t>2:20 PM–2:25 PM | 2 Recall | 5 min</a:t>
            </a:r>
          </a:p>
          <a:p>
            <a:r>
              <a:t>Instructor: Show a panel with a hole; ask which area is added and which is subtracted.</a:t>
            </a:r>
          </a:p>
          <a:p>
            <a:r>
              <a:t>Learners: Attempt the retrieval task independently; explain the method before checking.</a:t>
            </a:r>
          </a:p>
          <a:p>
            <a:r>
              <a:t>Materials/check: Identify support needs</a:t>
            </a:r>
          </a:p>
          <a:p>
            <a:r>
              <a:t>Source: 'Math Week 6'!A48:F48</a:t>
            </a:r>
          </a:p>
          <a:p/>
          <a:p>
            <a:r>
              <a:t>2:25 PM–2:40 PM | 3 Teach | 15 min</a:t>
            </a:r>
          </a:p>
          <a:p>
            <a:r>
              <a:t>Instructor: Model Exercise Book 10B Q11 with outer and opening areas. Demonstrate a trapezoid and circle formula, keeping radius/diameter distinct.</a:t>
            </a:r>
          </a:p>
          <a:p>
            <a:r>
              <a:t>Learners: Annotate the example and predict the next step; ask about unclear units or symbols.</a:t>
            </a:r>
          </a:p>
          <a:p>
            <a:r>
              <a:t>Materials/check: Textbook; worked example</a:t>
            </a:r>
          </a:p>
          <a:p>
            <a:r>
              <a:t>Source: 'Math Week 6'!A49:F49</a:t>
            </a:r>
          </a:p>
          <a:p/>
          <a:p>
            <a:r>
              <a:t>2:40 PM–2:55 PM | 4 Together | 15 min</a:t>
            </a:r>
          </a:p>
          <a:p>
            <a:r>
              <a:t>Instructor: Work Exercise Book 10A Q10–12 and Exercise Book 10C Q4. Partners annotate non-overlapping pieces.</a:t>
            </a:r>
          </a:p>
          <a:p>
            <a:r>
              <a:t>Learners: Work in pairs, alternating solver and checker. Write a diagram, formula, units and estimate.</a:t>
            </a:r>
          </a:p>
          <a:p>
            <a:r>
              <a:t>Materials/check: Exercise Book; tool above</a:t>
            </a:r>
          </a:p>
          <a:p>
            <a:r>
              <a:t>Source: 'Math Week 6'!A50:F50</a:t>
            </a:r>
          </a:p>
          <a:p/>
          <a:p>
            <a:r>
              <a:t>2:55 PM–3:15 PM | 5 Practise | 20 min</a:t>
            </a:r>
          </a:p>
          <a:p>
            <a:r>
              <a:t>Instructor: Complete Exercise Book 10B Q2,11–12. Build a Shape Canvas sketch and label areas; use the net preview only if core subtraction and coverage are secure.</a:t>
            </a:r>
          </a:p>
          <a:p>
            <a:r>
              <a:t>Learners: Solve on paper first; check with tools; correct one error and explain the change.</a:t>
            </a:r>
          </a:p>
          <a:p>
            <a:r>
              <a:t>Materials/check: Paper first; tool second</a:t>
            </a:r>
          </a:p>
          <a:p>
            <a:r>
              <a:t>Source: 'Math Week 6'!A51:F51</a:t>
            </a:r>
          </a:p>
          <a:p/>
          <a:p>
            <a:r>
              <a:t>3:15 PM–3:25 PM | 6 Check | 10 min</a:t>
            </a:r>
          </a:p>
          <a:p>
            <a:r>
              <a:t>Instructor: Exercise Book 10B Q11 and Q2; report net area and whole tins to buy.</a:t>
            </a:r>
          </a:p>
          <a:p>
            <a:r>
              <a:t>Learners: Solve without displayed answers; include working, units and final rounding.</a:t>
            </a:r>
          </a:p>
          <a:p>
            <a:r>
              <a:t>Materials/check: Teacher answers below</a:t>
            </a:r>
          </a:p>
          <a:p>
            <a:r>
              <a:t>Source: 'Math Week 6'!A52:F52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6'!A53:F53</a:t>
            </a:r>
          </a:p>
          <a:p/>
          <a:p>
            <a:r>
              <a:t>INSTRUCTOR ONLY: REVEAL ASSESSMENT ANSWERS AFTER THE ATTEMPT</a:t>
            </a:r>
          </a:p>
          <a:p>
            <a:r>
              <a:t>10B Q11 = 900,000 mm² = 0.9 m²; Q2 = 4.57 L, buy 5 tins. Answer Key p.28. Answer Key pp.27–28</a:t>
            </a:r>
          </a:p>
          <a:p/>
          <a:p>
            <a:r>
              <a:t>Compare square units with cubic units before the volume lesson.</a:t>
            </a:r>
          </a:p>
          <a:p/>
          <a:p>
            <a:r>
              <a:t>Sources: 'Math Week 6'!A11:E11; 'Carpentry Schedule'!B62; 'Math Week 6'!A41</a:t>
            </a:r>
          </a:p>
          <a:p>
            <a:r>
              <a:t>Navigation/resource slides support these scheduled steps and do not add instructional time.</a:t>
            </a:r>
          </a:p>
          <a:p>
            <a:r>
              <a:t>Worked teaching example retained from original slide 114.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Daily deck uses only this date’s math blocks from the current visible Carpentry Schedule and Math Week sheets.</a:t>
            </a:r>
          </a:p>
          <a:p>
            <a:r>
              <a:t>'Carpentry Schedule'!B60 | 'Math Week 6'!A24</a:t>
            </a:r>
          </a:p>
          <a:p>
            <a:r>
              <a:t>'Carpentry Schedule'!B62 | 'Math Week 6'!A41</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W06-L01 | 2026-11-30 | 12:45 PM–2:00 PM | 75 minutes</a:t>
            </a:r>
          </a:p>
          <a:p>
            <a:r>
              <a:t>Area and material coverage</a:t>
            </a:r>
          </a:p>
          <a:p>
            <a:r>
              <a:t>Mode: Math</a:t>
            </a:r>
          </a:p>
          <a:p>
            <a:r>
              <a:t>Goal: Calculate rectangle and triangle areas and distinguish linear units from square units.</a:t>
            </a:r>
          </a:p>
          <a:p>
            <a:r>
              <a:t>Read: Textbook sections 10.1–10.3 pp.154–157; sections 7.4 pp.113–115</a:t>
            </a:r>
          </a:p>
          <a:p>
            <a:r>
              <a:t>Practise: Exercise Book 10A Q1–8 (p.63); 10B Q1,4 (p.65)</a:t>
            </a:r>
          </a:p>
          <a:p>
            <a:r>
              <a:t>Tool: Shape Canvas: rectangle and right triangle with the same base and height. Numeracy Hub: Volume and Layout, then Module 2 Area and perimeter.</a:t>
            </a:r>
          </a:p>
          <a:p/>
          <a:p>
            <a:r>
              <a:t>EXACT SCHEDULED STEPS</a:t>
            </a:r>
          </a:p>
          <a:p>
            <a:r>
              <a:t>12:45 PM–12:50 PM | 1 Start | 5 min</a:t>
            </a:r>
          </a:p>
          <a:p>
            <a:r>
              <a:t>Instructor: Connect area and material coverage to a dimensioned carpentry drawing. State the objective.</a:t>
            </a:r>
          </a:p>
          <a:p>
            <a:r>
              <a:t>Learners: Describe a prior use of the skill; identify the given and unknown quantities.</a:t>
            </a:r>
          </a:p>
          <a:p>
            <a:r>
              <a:t>Materials/check: Notebook; calculator</a:t>
            </a:r>
          </a:p>
          <a:p>
            <a:r>
              <a:t>Source: 'Math Week 6'!A30:F30</a:t>
            </a:r>
          </a:p>
          <a:p/>
          <a:p>
            <a:r>
              <a:t>12:50 PM–12:55 PM | 2 Recall | 5 min</a:t>
            </a:r>
          </a:p>
          <a:p>
            <a:r>
              <a:t>Instructor: Ask why 1 m² is not 1,000 mm²; retrieve a rectangle perimeter and name its different unit.</a:t>
            </a:r>
          </a:p>
          <a:p>
            <a:r>
              <a:t>Learners: Attempt the retrieval task independently; explain the method before checking.</a:t>
            </a:r>
          </a:p>
          <a:p>
            <a:r>
              <a:t>Materials/check: Identify support needs</a:t>
            </a:r>
          </a:p>
          <a:p>
            <a:r>
              <a:t>Source: 'Math Week 6'!A31:F31</a:t>
            </a:r>
          </a:p>
          <a:p/>
          <a:p>
            <a:r>
              <a:t>12:55 PM–1:10 PM | 3 Teach | 15 min</a:t>
            </a:r>
          </a:p>
          <a:p>
            <a:r>
              <a:t>Instructor: Model area as a count of squares, then the triangle as half a rectangle. Show squared conversion factors.</a:t>
            </a:r>
          </a:p>
          <a:p>
            <a:r>
              <a:t>Learners: Annotate the example and predict the next step; ask about unclear units or symbols.</a:t>
            </a:r>
          </a:p>
          <a:p>
            <a:r>
              <a:t>Materials/check: Textbook; worked example</a:t>
            </a:r>
          </a:p>
          <a:p>
            <a:r>
              <a:t>Source: 'Math Week 6'!A32:F32</a:t>
            </a:r>
          </a:p>
          <a:p/>
          <a:p>
            <a:r>
              <a:t>1:10 PM–1:25 PM | 4 Together | 15 min</a:t>
            </a:r>
          </a:p>
          <a:p>
            <a:r>
              <a:t>Instructor: Work Exercise Book 10A Q2–4,7–8; learners label perpendicular height, not the sloping side.</a:t>
            </a:r>
          </a:p>
          <a:p>
            <a:r>
              <a:t>Learners: Work in pairs, alternating solver and checker. Write a diagram, formula, units and estimate.</a:t>
            </a:r>
          </a:p>
          <a:p>
            <a:r>
              <a:t>Materials/check: Exercise Book; tool above</a:t>
            </a:r>
          </a:p>
          <a:p>
            <a:r>
              <a:t>Source: 'Math Week 6'!A33:F33</a:t>
            </a:r>
          </a:p>
          <a:p/>
          <a:p>
            <a:r>
              <a:t>1:25 PM–1:45 PM | 5 Practise | 20 min</a:t>
            </a:r>
          </a:p>
          <a:p>
            <a:r>
              <a:t>Instructor: Complete Exercise Book 10A Q5–6 and 10B Q1,4. On Shape Canvas, compare the two shapes’ areas. Keep the sheet count’s no-waste assumption explicit.</a:t>
            </a:r>
          </a:p>
          <a:p>
            <a:r>
              <a:t>Learners: Solve on paper first; check with tools; correct one error and explain the change.</a:t>
            </a:r>
          </a:p>
          <a:p>
            <a:r>
              <a:t>Materials/check: Paper first; tool second</a:t>
            </a:r>
          </a:p>
          <a:p>
            <a:r>
              <a:t>Source: 'Math Week 6'!A34:F34</a:t>
            </a:r>
          </a:p>
          <a:p/>
          <a:p>
            <a:r>
              <a:t>1:45 PM–1:55 PM | 6 Check | 10 min</a:t>
            </a:r>
          </a:p>
          <a:p>
            <a:r>
              <a:t>Instructor: Exercise Book 10B Q1; show floor area, one-sheet area and sheet quantity.</a:t>
            </a:r>
          </a:p>
          <a:p>
            <a:r>
              <a:t>Learners: Solve without displayed answers; include working, units and final rounding.</a:t>
            </a:r>
          </a:p>
          <a:p>
            <a:r>
              <a:t>Materials/check: Teacher answers below</a:t>
            </a:r>
          </a:p>
          <a:p>
            <a:r>
              <a:t>Source: 'Math Week 6'!A35:F35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6'!A36:F36</a:t>
            </a:r>
          </a:p>
          <a:p/>
          <a:p>
            <a:r>
              <a:t>INSTRUCTOR ONLY: REVEAL ASSESSMENT ANSWERS AFTER THE ATTEMPT</a:t>
            </a:r>
          </a:p>
          <a:p>
            <a:r>
              <a:t>10B Q1 = 25.92 m² and 9 sheets, assuming no waste as stated. Answer Key p.28. Answer Key pp.27–28</a:t>
            </a:r>
          </a:p>
          <a:p/>
          <a:p>
            <a:r>
              <a:t>Extend to composite surfaces and openings without double-counting.</a:t>
            </a:r>
          </a:p>
          <a:p/>
          <a:p>
            <a:r>
              <a:t>Sources: 'Math Week 6'!A10:E10; 'Carpentry Schedule'!B60; 'Math Week 6'!A24</a:t>
            </a:r>
          </a:p>
          <a:p>
            <a:r>
              <a:t>Navigation/resource slides support these scheduled steps and do not add instructional time.</a:t>
            </a:r>
          </a:p>
          <a:p/>
          <a:p>
            <a:r>
              <a:t>W06-L02 | 2026-11-30 | 2:15 PM–3:30 PM | 75 minutes</a:t>
            </a:r>
          </a:p>
          <a:p>
            <a:r>
              <a:t>Composite areas, openings and surface coverage</a:t>
            </a:r>
          </a:p>
          <a:p>
            <a:r>
              <a:t>Mode: Math</a:t>
            </a:r>
          </a:p>
          <a:p>
            <a:r>
              <a:t>Goal: Break a composite shape into known parts and subtract openings before estimating coverage.</a:t>
            </a:r>
          </a:p>
          <a:p>
            <a:r>
              <a:t>Read: Textbook sections 10.4–10.7 pp.158–164</a:t>
            </a:r>
          </a:p>
          <a:p>
            <a:r>
              <a:t>Practise: Exercise Book 10A Q10–12 (p.64); 10B Q2 (p.65), Q11–12 (p.66); 10C Q4 (p.67)</a:t>
            </a:r>
          </a:p>
          <a:p>
            <a:r>
              <a:t>Tool: Shape Canvas: build a rectangle with an opening using two labelled shapes; compare parts. Numeracy Hub Shape Studio: use a solid/net as an optional surface-area preview.</a:t>
            </a:r>
          </a:p>
          <a:p/>
          <a:p>
            <a:r>
              <a:t>EXACT SCHEDULED STEPS</a:t>
            </a:r>
          </a:p>
          <a:p>
            <a:r>
              <a:t>2:15 PM–2:20 PM | 1 Start | 5 min</a:t>
            </a:r>
          </a:p>
          <a:p>
            <a:r>
              <a:t>Instructor: Connect composite areas, openings and surface coverage to a dimensioned carpentry drawing. State the objective.</a:t>
            </a:r>
          </a:p>
          <a:p>
            <a:r>
              <a:t>Learners: Describe a prior use of the skill; identify the given and unknown quantities.</a:t>
            </a:r>
          </a:p>
          <a:p>
            <a:r>
              <a:t>Materials/check: Notebook; calculator</a:t>
            </a:r>
          </a:p>
          <a:p>
            <a:r>
              <a:t>Source: 'Math Week 6'!A47:F47</a:t>
            </a:r>
          </a:p>
          <a:p/>
          <a:p>
            <a:r>
              <a:t>2:20 PM–2:25 PM | 2 Recall | 5 min</a:t>
            </a:r>
          </a:p>
          <a:p>
            <a:r>
              <a:t>Instructor: Show a panel with a hole; ask which area is added and which is subtracted.</a:t>
            </a:r>
          </a:p>
          <a:p>
            <a:r>
              <a:t>Learners: Attempt the retrieval task independently; explain the method before checking.</a:t>
            </a:r>
          </a:p>
          <a:p>
            <a:r>
              <a:t>Materials/check: Identify support needs</a:t>
            </a:r>
          </a:p>
          <a:p>
            <a:r>
              <a:t>Source: 'Math Week 6'!A48:F48</a:t>
            </a:r>
          </a:p>
          <a:p/>
          <a:p>
            <a:r>
              <a:t>2:25 PM–2:40 PM | 3 Teach | 15 min</a:t>
            </a:r>
          </a:p>
          <a:p>
            <a:r>
              <a:t>Instructor: Model Exercise Book 10B Q11 with outer and opening areas. Demonstrate a trapezoid and circle formula, keeping radius/diameter distinct.</a:t>
            </a:r>
          </a:p>
          <a:p>
            <a:r>
              <a:t>Learners: Annotate the example and predict the next step; ask about unclear units or symbols.</a:t>
            </a:r>
          </a:p>
          <a:p>
            <a:r>
              <a:t>Materials/check: Textbook; worked example</a:t>
            </a:r>
          </a:p>
          <a:p>
            <a:r>
              <a:t>Source: 'Math Week 6'!A49:F49</a:t>
            </a:r>
          </a:p>
          <a:p/>
          <a:p>
            <a:r>
              <a:t>2:40 PM–2:55 PM | 4 Together | 15 min</a:t>
            </a:r>
          </a:p>
          <a:p>
            <a:r>
              <a:t>Instructor: Work Exercise Book 10A Q10–12 and Exercise Book 10C Q4. Partners annotate non-overlapping pieces.</a:t>
            </a:r>
          </a:p>
          <a:p>
            <a:r>
              <a:t>Learners: Work in pairs, alternating solver and checker. Write a diagram, formula, units and estimate.</a:t>
            </a:r>
          </a:p>
          <a:p>
            <a:r>
              <a:t>Materials/check: Exercise Book; tool above</a:t>
            </a:r>
          </a:p>
          <a:p>
            <a:r>
              <a:t>Source: 'Math Week 6'!A50:F50</a:t>
            </a:r>
          </a:p>
          <a:p/>
          <a:p>
            <a:r>
              <a:t>2:55 PM–3:15 PM | 5 Practise | 20 min</a:t>
            </a:r>
          </a:p>
          <a:p>
            <a:r>
              <a:t>Instructor: Complete Exercise Book 10B Q2,11–12. Build a Shape Canvas sketch and label areas; use the net preview only if core subtraction and coverage are secure.</a:t>
            </a:r>
          </a:p>
          <a:p>
            <a:r>
              <a:t>Learners: Solve on paper first; check with tools; correct one error and explain the change.</a:t>
            </a:r>
          </a:p>
          <a:p>
            <a:r>
              <a:t>Materials/check: Paper first; tool second</a:t>
            </a:r>
          </a:p>
          <a:p>
            <a:r>
              <a:t>Source: 'Math Week 6'!A51:F51</a:t>
            </a:r>
          </a:p>
          <a:p/>
          <a:p>
            <a:r>
              <a:t>3:15 PM–3:25 PM | 6 Check | 10 min</a:t>
            </a:r>
          </a:p>
          <a:p>
            <a:r>
              <a:t>Instructor: Exercise Book 10B Q11 and Q2; report net area and whole tins to buy.</a:t>
            </a:r>
          </a:p>
          <a:p>
            <a:r>
              <a:t>Learners: Solve without displayed answers; include working, units and final rounding.</a:t>
            </a:r>
          </a:p>
          <a:p>
            <a:r>
              <a:t>Materials/check: Teacher answers below</a:t>
            </a:r>
          </a:p>
          <a:p>
            <a:r>
              <a:t>Source: 'Math Week 6'!A52:F52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6'!A53:F53</a:t>
            </a:r>
          </a:p>
          <a:p/>
          <a:p>
            <a:r>
              <a:t>INSTRUCTOR ONLY: REVEAL ASSESSMENT ANSWERS AFTER THE ATTEMPT</a:t>
            </a:r>
          </a:p>
          <a:p>
            <a:r>
              <a:t>10B Q11 = 900,000 mm² = 0.9 m²; Q2 = 4.57 L, buy 5 tins. Answer Key p.28. Answer Key pp.27–28</a:t>
            </a:r>
          </a:p>
          <a:p/>
          <a:p>
            <a:r>
              <a:t>Compare square units with cubic units before the volume lesson.</a:t>
            </a:r>
          </a:p>
          <a:p/>
          <a:p>
            <a:r>
              <a:t>Sources: 'Math Week 6'!A11:E11; 'Carpentry Schedule'!B62; 'Math Week 6'!A41</a:t>
            </a:r>
          </a:p>
          <a:p>
            <a:r>
              <a:t>Navigation/resource slides support these scheduled steps and do not add instructional time.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W06-L01 | 2026-11-30 | 12:45 PM–2:00 PM | 75 minutes</a:t>
            </a:r>
          </a:p>
          <a:p>
            <a:r>
              <a:t>Area and material coverage</a:t>
            </a:r>
          </a:p>
          <a:p>
            <a:r>
              <a:t>Mode: Math</a:t>
            </a:r>
          </a:p>
          <a:p>
            <a:r>
              <a:t>Goal: Calculate rectangle and triangle areas and distinguish linear units from square units.</a:t>
            </a:r>
          </a:p>
          <a:p>
            <a:r>
              <a:t>Read: Textbook sections 10.1–10.3 pp.154–157; sections 7.4 pp.113–115</a:t>
            </a:r>
          </a:p>
          <a:p>
            <a:r>
              <a:t>Practise: Exercise Book 10A Q1–8 (p.63); 10B Q1,4 (p.65)</a:t>
            </a:r>
          </a:p>
          <a:p>
            <a:r>
              <a:t>Tool: Shape Canvas: rectangle and right triangle with the same base and height. Numeracy Hub: Volume and Layout, then Module 2 Area and perimeter.</a:t>
            </a:r>
          </a:p>
          <a:p/>
          <a:p>
            <a:r>
              <a:t>EXACT SCHEDULED STEPS</a:t>
            </a:r>
          </a:p>
          <a:p>
            <a:r>
              <a:t>12:45 PM–12:50 PM | 1 Start | 5 min</a:t>
            </a:r>
          </a:p>
          <a:p>
            <a:r>
              <a:t>Instructor: Connect area and material coverage to a dimensioned carpentry drawing. State the objective.</a:t>
            </a:r>
          </a:p>
          <a:p>
            <a:r>
              <a:t>Learners: Describe a prior use of the skill; identify the given and unknown quantities.</a:t>
            </a:r>
          </a:p>
          <a:p>
            <a:r>
              <a:t>Materials/check: Notebook; calculator</a:t>
            </a:r>
          </a:p>
          <a:p>
            <a:r>
              <a:t>Source: 'Math Week 6'!A30:F30</a:t>
            </a:r>
          </a:p>
          <a:p/>
          <a:p>
            <a:r>
              <a:t>12:50 PM–12:55 PM | 2 Recall | 5 min</a:t>
            </a:r>
          </a:p>
          <a:p>
            <a:r>
              <a:t>Instructor: Ask why 1 m² is not 1,000 mm²; retrieve a rectangle perimeter and name its different unit.</a:t>
            </a:r>
          </a:p>
          <a:p>
            <a:r>
              <a:t>Learners: Attempt the retrieval task independently; explain the method before checking.</a:t>
            </a:r>
          </a:p>
          <a:p>
            <a:r>
              <a:t>Materials/check: Identify support needs</a:t>
            </a:r>
          </a:p>
          <a:p>
            <a:r>
              <a:t>Source: 'Math Week 6'!A31:F31</a:t>
            </a:r>
          </a:p>
          <a:p/>
          <a:p>
            <a:r>
              <a:t>12:55 PM–1:10 PM | 3 Teach | 15 min</a:t>
            </a:r>
          </a:p>
          <a:p>
            <a:r>
              <a:t>Instructor: Model area as a count of squares, then the triangle as half a rectangle. Show squared conversion factors.</a:t>
            </a:r>
          </a:p>
          <a:p>
            <a:r>
              <a:t>Learners: Annotate the example and predict the next step; ask about unclear units or symbols.</a:t>
            </a:r>
          </a:p>
          <a:p>
            <a:r>
              <a:t>Materials/check: Textbook; worked example</a:t>
            </a:r>
          </a:p>
          <a:p>
            <a:r>
              <a:t>Source: 'Math Week 6'!A32:F32</a:t>
            </a:r>
          </a:p>
          <a:p/>
          <a:p>
            <a:r>
              <a:t>1:10 PM–1:25 PM | 4 Together | 15 min</a:t>
            </a:r>
          </a:p>
          <a:p>
            <a:r>
              <a:t>Instructor: Work Exercise Book 10A Q2–4,7–8; learners label perpendicular height, not the sloping side.</a:t>
            </a:r>
          </a:p>
          <a:p>
            <a:r>
              <a:t>Learners: Work in pairs, alternating solver and checker. Write a diagram, formula, units and estimate.</a:t>
            </a:r>
          </a:p>
          <a:p>
            <a:r>
              <a:t>Materials/check: Exercise Book; tool above</a:t>
            </a:r>
          </a:p>
          <a:p>
            <a:r>
              <a:t>Source: 'Math Week 6'!A33:F33</a:t>
            </a:r>
          </a:p>
          <a:p/>
          <a:p>
            <a:r>
              <a:t>1:25 PM–1:45 PM | 5 Practise | 20 min</a:t>
            </a:r>
          </a:p>
          <a:p>
            <a:r>
              <a:t>Instructor: Complete Exercise Book 10A Q5–6 and 10B Q1,4. On Shape Canvas, compare the two shapes’ areas. Keep the sheet count’s no-waste assumption explicit.</a:t>
            </a:r>
          </a:p>
          <a:p>
            <a:r>
              <a:t>Learners: Solve on paper first; check with tools; correct one error and explain the change.</a:t>
            </a:r>
          </a:p>
          <a:p>
            <a:r>
              <a:t>Materials/check: Paper first; tool second</a:t>
            </a:r>
          </a:p>
          <a:p>
            <a:r>
              <a:t>Source: 'Math Week 6'!A34:F34</a:t>
            </a:r>
          </a:p>
          <a:p/>
          <a:p>
            <a:r>
              <a:t>1:45 PM–1:55 PM | 6 Check | 10 min</a:t>
            </a:r>
          </a:p>
          <a:p>
            <a:r>
              <a:t>Instructor: Exercise Book 10B Q1; show floor area, one-sheet area and sheet quantity.</a:t>
            </a:r>
          </a:p>
          <a:p>
            <a:r>
              <a:t>Learners: Solve without displayed answers; include working, units and final rounding.</a:t>
            </a:r>
          </a:p>
          <a:p>
            <a:r>
              <a:t>Materials/check: Teacher answers below</a:t>
            </a:r>
          </a:p>
          <a:p>
            <a:r>
              <a:t>Source: 'Math Week 6'!A35:F35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6'!A36:F36</a:t>
            </a:r>
          </a:p>
          <a:p/>
          <a:p>
            <a:r>
              <a:t>INSTRUCTOR ONLY: REVEAL ASSESSMENT ANSWERS AFTER THE ATTEMPT</a:t>
            </a:r>
          </a:p>
          <a:p>
            <a:r>
              <a:t>10B Q1 = 25.92 m² and 9 sheets, assuming no waste as stated. Answer Key p.28. Answer Key pp.27–28</a:t>
            </a:r>
          </a:p>
          <a:p/>
          <a:p>
            <a:r>
              <a:t>Extend to composite surfaces and openings without double-counting.</a:t>
            </a:r>
          </a:p>
          <a:p/>
          <a:p>
            <a:r>
              <a:t>Sources: 'Math Week 6'!A10:E10; 'Carpentry Schedule'!B60; 'Math Week 6'!A24</a:t>
            </a:r>
          </a:p>
          <a:p>
            <a:r>
              <a:t>Navigation/resource slides support these scheduled steps and do not add instructional time.</a:t>
            </a:r>
          </a:p>
          <a:p>
            <a:r>
              <a:t>SLIDE PLACEMENT: Start, 12:45 PM–12:50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W06-L01 | 2026-11-30 | 12:45 PM–2:00 PM | 75 minutes</a:t>
            </a:r>
          </a:p>
          <a:p>
            <a:r>
              <a:t>Area and material coverage</a:t>
            </a:r>
          </a:p>
          <a:p>
            <a:r>
              <a:t>Mode: Math</a:t>
            </a:r>
          </a:p>
          <a:p>
            <a:r>
              <a:t>Goal: Calculate rectangle and triangle areas and distinguish linear units from square units.</a:t>
            </a:r>
          </a:p>
          <a:p>
            <a:r>
              <a:t>Read: Textbook sections 10.1–10.3 pp.154–157; sections 7.4 pp.113–115</a:t>
            </a:r>
          </a:p>
          <a:p>
            <a:r>
              <a:t>Practise: Exercise Book 10A Q1–8 (p.63); 10B Q1,4 (p.65)</a:t>
            </a:r>
          </a:p>
          <a:p>
            <a:r>
              <a:t>Tool: Shape Canvas: rectangle and right triangle with the same base and height. Numeracy Hub: Volume and Layout, then Module 2 Area and perimeter.</a:t>
            </a:r>
          </a:p>
          <a:p/>
          <a:p>
            <a:r>
              <a:t>EXACT SCHEDULED STEPS</a:t>
            </a:r>
          </a:p>
          <a:p>
            <a:r>
              <a:t>12:45 PM–12:50 PM | 1 Start | 5 min</a:t>
            </a:r>
          </a:p>
          <a:p>
            <a:r>
              <a:t>Instructor: Connect area and material coverage to a dimensioned carpentry drawing. State the objective.</a:t>
            </a:r>
          </a:p>
          <a:p>
            <a:r>
              <a:t>Learners: Describe a prior use of the skill; identify the given and unknown quantities.</a:t>
            </a:r>
          </a:p>
          <a:p>
            <a:r>
              <a:t>Materials/check: Notebook; calculator</a:t>
            </a:r>
          </a:p>
          <a:p>
            <a:r>
              <a:t>Source: 'Math Week 6'!A30:F30</a:t>
            </a:r>
          </a:p>
          <a:p/>
          <a:p>
            <a:r>
              <a:t>12:50 PM–12:55 PM | 2 Recall | 5 min</a:t>
            </a:r>
          </a:p>
          <a:p>
            <a:r>
              <a:t>Instructor: Ask why 1 m² is not 1,000 mm²; retrieve a rectangle perimeter and name its different unit.</a:t>
            </a:r>
          </a:p>
          <a:p>
            <a:r>
              <a:t>Learners: Attempt the retrieval task independently; explain the method before checking.</a:t>
            </a:r>
          </a:p>
          <a:p>
            <a:r>
              <a:t>Materials/check: Identify support needs</a:t>
            </a:r>
          </a:p>
          <a:p>
            <a:r>
              <a:t>Source: 'Math Week 6'!A31:F31</a:t>
            </a:r>
          </a:p>
          <a:p/>
          <a:p>
            <a:r>
              <a:t>12:55 PM–1:10 PM | 3 Teach | 15 min</a:t>
            </a:r>
          </a:p>
          <a:p>
            <a:r>
              <a:t>Instructor: Model area as a count of squares, then the triangle as half a rectangle. Show squared conversion factors.</a:t>
            </a:r>
          </a:p>
          <a:p>
            <a:r>
              <a:t>Learners: Annotate the example and predict the next step; ask about unclear units or symbols.</a:t>
            </a:r>
          </a:p>
          <a:p>
            <a:r>
              <a:t>Materials/check: Textbook; worked example</a:t>
            </a:r>
          </a:p>
          <a:p>
            <a:r>
              <a:t>Source: 'Math Week 6'!A32:F32</a:t>
            </a:r>
          </a:p>
          <a:p/>
          <a:p>
            <a:r>
              <a:t>1:10 PM–1:25 PM | 4 Together | 15 min</a:t>
            </a:r>
          </a:p>
          <a:p>
            <a:r>
              <a:t>Instructor: Work Exercise Book 10A Q2–4,7–8; learners label perpendicular height, not the sloping side.</a:t>
            </a:r>
          </a:p>
          <a:p>
            <a:r>
              <a:t>Learners: Work in pairs, alternating solver and checker. Write a diagram, formula, units and estimate.</a:t>
            </a:r>
          </a:p>
          <a:p>
            <a:r>
              <a:t>Materials/check: Exercise Book; tool above</a:t>
            </a:r>
          </a:p>
          <a:p>
            <a:r>
              <a:t>Source: 'Math Week 6'!A33:F33</a:t>
            </a:r>
          </a:p>
          <a:p/>
          <a:p>
            <a:r>
              <a:t>1:25 PM–1:45 PM | 5 Practise | 20 min</a:t>
            </a:r>
          </a:p>
          <a:p>
            <a:r>
              <a:t>Instructor: Complete Exercise Book 10A Q5–6 and 10B Q1,4. On Shape Canvas, compare the two shapes’ areas. Keep the sheet count’s no-waste assumption explicit.</a:t>
            </a:r>
          </a:p>
          <a:p>
            <a:r>
              <a:t>Learners: Solve on paper first; check with tools; correct one error and explain the change.</a:t>
            </a:r>
          </a:p>
          <a:p>
            <a:r>
              <a:t>Materials/check: Paper first; tool second</a:t>
            </a:r>
          </a:p>
          <a:p>
            <a:r>
              <a:t>Source: 'Math Week 6'!A34:F34</a:t>
            </a:r>
          </a:p>
          <a:p/>
          <a:p>
            <a:r>
              <a:t>1:45 PM–1:55 PM | 6 Check | 10 min</a:t>
            </a:r>
          </a:p>
          <a:p>
            <a:r>
              <a:t>Instructor: Exercise Book 10B Q1; show floor area, one-sheet area and sheet quantity.</a:t>
            </a:r>
          </a:p>
          <a:p>
            <a:r>
              <a:t>Learners: Solve without displayed answers; include working, units and final rounding.</a:t>
            </a:r>
          </a:p>
          <a:p>
            <a:r>
              <a:t>Materials/check: Teacher answers below</a:t>
            </a:r>
          </a:p>
          <a:p>
            <a:r>
              <a:t>Source: 'Math Week 6'!A35:F35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6'!A36:F36</a:t>
            </a:r>
          </a:p>
          <a:p/>
          <a:p>
            <a:r>
              <a:t>INSTRUCTOR ONLY: REVEAL ASSESSMENT ANSWERS AFTER THE ATTEMPT</a:t>
            </a:r>
          </a:p>
          <a:p>
            <a:r>
              <a:t>10B Q1 = 25.92 m² and 9 sheets, assuming no waste as stated. Answer Key p.28. Answer Key pp.27–28</a:t>
            </a:r>
          </a:p>
          <a:p/>
          <a:p>
            <a:r>
              <a:t>Extend to composite surfaces and openings without double-counting.</a:t>
            </a:r>
          </a:p>
          <a:p/>
          <a:p>
            <a:r>
              <a:t>Sources: 'Math Week 6'!A10:E10; 'Carpentry Schedule'!B60; 'Math Week 6'!A24</a:t>
            </a:r>
          </a:p>
          <a:p>
            <a:r>
              <a:t>Navigation/resource slides support these scheduled steps and do not add instructional time.</a:t>
            </a:r>
          </a:p>
          <a:p>
            <a:r>
              <a:t>SLIDE PLACEMENT: Recall, 12:50 PM–12:55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W06-L01 | 2026-11-30 | 12:45 PM–2:00 PM | 75 minutes</a:t>
            </a:r>
          </a:p>
          <a:p>
            <a:r>
              <a:t>Area and material coverage</a:t>
            </a:r>
          </a:p>
          <a:p>
            <a:r>
              <a:t>Mode: Math</a:t>
            </a:r>
          </a:p>
          <a:p>
            <a:r>
              <a:t>Goal: Calculate rectangle and triangle areas and distinguish linear units from square units.</a:t>
            </a:r>
          </a:p>
          <a:p>
            <a:r>
              <a:t>Read: Textbook sections 10.1–10.3 pp.154–157; sections 7.4 pp.113–115</a:t>
            </a:r>
          </a:p>
          <a:p>
            <a:r>
              <a:t>Practise: Exercise Book 10A Q1–8 (p.63); 10B Q1,4 (p.65)</a:t>
            </a:r>
          </a:p>
          <a:p>
            <a:r>
              <a:t>Tool: Shape Canvas: rectangle and right triangle with the same base and height. Numeracy Hub: Volume and Layout, then Module 2 Area and perimeter.</a:t>
            </a:r>
          </a:p>
          <a:p/>
          <a:p>
            <a:r>
              <a:t>EXACT SCHEDULED STEPS</a:t>
            </a:r>
          </a:p>
          <a:p>
            <a:r>
              <a:t>12:45 PM–12:50 PM | 1 Start | 5 min</a:t>
            </a:r>
          </a:p>
          <a:p>
            <a:r>
              <a:t>Instructor: Connect area and material coverage to a dimensioned carpentry drawing. State the objective.</a:t>
            </a:r>
          </a:p>
          <a:p>
            <a:r>
              <a:t>Learners: Describe a prior use of the skill; identify the given and unknown quantities.</a:t>
            </a:r>
          </a:p>
          <a:p>
            <a:r>
              <a:t>Materials/check: Notebook; calculator</a:t>
            </a:r>
          </a:p>
          <a:p>
            <a:r>
              <a:t>Source: 'Math Week 6'!A30:F30</a:t>
            </a:r>
          </a:p>
          <a:p/>
          <a:p>
            <a:r>
              <a:t>12:50 PM–12:55 PM | 2 Recall | 5 min</a:t>
            </a:r>
          </a:p>
          <a:p>
            <a:r>
              <a:t>Instructor: Ask why 1 m² is not 1,000 mm²; retrieve a rectangle perimeter and name its different unit.</a:t>
            </a:r>
          </a:p>
          <a:p>
            <a:r>
              <a:t>Learners: Attempt the retrieval task independently; explain the method before checking.</a:t>
            </a:r>
          </a:p>
          <a:p>
            <a:r>
              <a:t>Materials/check: Identify support needs</a:t>
            </a:r>
          </a:p>
          <a:p>
            <a:r>
              <a:t>Source: 'Math Week 6'!A31:F31</a:t>
            </a:r>
          </a:p>
          <a:p/>
          <a:p>
            <a:r>
              <a:t>12:55 PM–1:10 PM | 3 Teach | 15 min</a:t>
            </a:r>
          </a:p>
          <a:p>
            <a:r>
              <a:t>Instructor: Model area as a count of squares, then the triangle as half a rectangle. Show squared conversion factors.</a:t>
            </a:r>
          </a:p>
          <a:p>
            <a:r>
              <a:t>Learners: Annotate the example and predict the next step; ask about unclear units or symbols.</a:t>
            </a:r>
          </a:p>
          <a:p>
            <a:r>
              <a:t>Materials/check: Textbook; worked example</a:t>
            </a:r>
          </a:p>
          <a:p>
            <a:r>
              <a:t>Source: 'Math Week 6'!A32:F32</a:t>
            </a:r>
          </a:p>
          <a:p/>
          <a:p>
            <a:r>
              <a:t>1:10 PM–1:25 PM | 4 Together | 15 min</a:t>
            </a:r>
          </a:p>
          <a:p>
            <a:r>
              <a:t>Instructor: Work Exercise Book 10A Q2–4,7–8; learners label perpendicular height, not the sloping side.</a:t>
            </a:r>
          </a:p>
          <a:p>
            <a:r>
              <a:t>Learners: Work in pairs, alternating solver and checker. Write a diagram, formula, units and estimate.</a:t>
            </a:r>
          </a:p>
          <a:p>
            <a:r>
              <a:t>Materials/check: Exercise Book; tool above</a:t>
            </a:r>
          </a:p>
          <a:p>
            <a:r>
              <a:t>Source: 'Math Week 6'!A33:F33</a:t>
            </a:r>
          </a:p>
          <a:p/>
          <a:p>
            <a:r>
              <a:t>1:25 PM–1:45 PM | 5 Practise | 20 min</a:t>
            </a:r>
          </a:p>
          <a:p>
            <a:r>
              <a:t>Instructor: Complete Exercise Book 10A Q5–6 and 10B Q1,4. On Shape Canvas, compare the two shapes’ areas. Keep the sheet count’s no-waste assumption explicit.</a:t>
            </a:r>
          </a:p>
          <a:p>
            <a:r>
              <a:t>Learners: Solve on paper first; check with tools; correct one error and explain the change.</a:t>
            </a:r>
          </a:p>
          <a:p>
            <a:r>
              <a:t>Materials/check: Paper first; tool second</a:t>
            </a:r>
          </a:p>
          <a:p>
            <a:r>
              <a:t>Source: 'Math Week 6'!A34:F34</a:t>
            </a:r>
          </a:p>
          <a:p/>
          <a:p>
            <a:r>
              <a:t>1:45 PM–1:55 PM | 6 Check | 10 min</a:t>
            </a:r>
          </a:p>
          <a:p>
            <a:r>
              <a:t>Instructor: Exercise Book 10B Q1; show floor area, one-sheet area and sheet quantity.</a:t>
            </a:r>
          </a:p>
          <a:p>
            <a:r>
              <a:t>Learners: Solve without displayed answers; include working, units and final rounding.</a:t>
            </a:r>
          </a:p>
          <a:p>
            <a:r>
              <a:t>Materials/check: Teacher answers below</a:t>
            </a:r>
          </a:p>
          <a:p>
            <a:r>
              <a:t>Source: 'Math Week 6'!A35:F35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6'!A36:F36</a:t>
            </a:r>
          </a:p>
          <a:p/>
          <a:p>
            <a:r>
              <a:t>INSTRUCTOR ONLY: REVEAL ASSESSMENT ANSWERS AFTER THE ATTEMPT</a:t>
            </a:r>
          </a:p>
          <a:p>
            <a:r>
              <a:t>10B Q1 = 25.92 m² and 9 sheets, assuming no waste as stated. Answer Key p.28. Answer Key pp.27–28</a:t>
            </a:r>
          </a:p>
          <a:p/>
          <a:p>
            <a:r>
              <a:t>Extend to composite surfaces and openings without double-counting.</a:t>
            </a:r>
          </a:p>
          <a:p/>
          <a:p>
            <a:r>
              <a:t>Sources: 'Math Week 6'!A10:E10; 'Carpentry Schedule'!B60; 'Math Week 6'!A24</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Teaching content sources:</a:t>
            </a:r>
          </a:p>
          <a:p>
            <a:r>
              <a:t>Textbook sections 10.1–10.3 pp.154–157; sections 7.4 pp.113–115</a:t>
            </a:r>
          </a:p>
          <a:p>
            <a:r>
              <a:t>'Math Week 6'!B28</a:t>
            </a:r>
          </a:p>
          <a:p>
            <a:r>
              <a:t>'Math Week 6'!A32:F32</a:t>
            </a:r>
          </a:p>
          <a:p>
            <a:r>
              <a:t>ACCESS CARPENTRY SLIDES.pptx slides 110, 111, 112</a:t>
            </a:r>
          </a:p>
          <a:p>
            <a:r>
              <a:t>ACCESS Trades Numeracy Textbook p.156 — Figure 10.3 — A rectangle cut into two triangles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W06-L01 | 2026-11-30 | 12:45 PM–2:00 PM | 75 minutes</a:t>
            </a:r>
          </a:p>
          <a:p>
            <a:r>
              <a:t>Area and material coverage</a:t>
            </a:r>
          </a:p>
          <a:p>
            <a:r>
              <a:t>Mode: Math</a:t>
            </a:r>
          </a:p>
          <a:p>
            <a:r>
              <a:t>Goal: Calculate rectangle and triangle areas and distinguish linear units from square units.</a:t>
            </a:r>
          </a:p>
          <a:p>
            <a:r>
              <a:t>Read: Textbook sections 10.1–10.3 pp.154–157; sections 7.4 pp.113–115</a:t>
            </a:r>
          </a:p>
          <a:p>
            <a:r>
              <a:t>Practise: Exercise Book 10A Q1–8 (p.63); 10B Q1,4 (p.65)</a:t>
            </a:r>
          </a:p>
          <a:p>
            <a:r>
              <a:t>Tool: Shape Canvas: rectangle and right triangle with the same base and height. Numeracy Hub: Volume and Layout, then Module 2 Area and perimeter.</a:t>
            </a:r>
          </a:p>
          <a:p/>
          <a:p>
            <a:r>
              <a:t>EXACT SCHEDULED STEPS</a:t>
            </a:r>
          </a:p>
          <a:p>
            <a:r>
              <a:t>12:45 PM–12:50 PM | 1 Start | 5 min</a:t>
            </a:r>
          </a:p>
          <a:p>
            <a:r>
              <a:t>Instructor: Connect area and material coverage to a dimensioned carpentry drawing. State the objective.</a:t>
            </a:r>
          </a:p>
          <a:p>
            <a:r>
              <a:t>Learners: Describe a prior use of the skill; identify the given and unknown quantities.</a:t>
            </a:r>
          </a:p>
          <a:p>
            <a:r>
              <a:t>Materials/check: Notebook; calculator</a:t>
            </a:r>
          </a:p>
          <a:p>
            <a:r>
              <a:t>Source: 'Math Week 6'!A30:F30</a:t>
            </a:r>
          </a:p>
          <a:p/>
          <a:p>
            <a:r>
              <a:t>12:50 PM–12:55 PM | 2 Recall | 5 min</a:t>
            </a:r>
          </a:p>
          <a:p>
            <a:r>
              <a:t>Instructor: Ask why 1 m² is not 1,000 mm²; retrieve a rectangle perimeter and name its different unit.</a:t>
            </a:r>
          </a:p>
          <a:p>
            <a:r>
              <a:t>Learners: Attempt the retrieval task independently; explain the method before checking.</a:t>
            </a:r>
          </a:p>
          <a:p>
            <a:r>
              <a:t>Materials/check: Identify support needs</a:t>
            </a:r>
          </a:p>
          <a:p>
            <a:r>
              <a:t>Source: 'Math Week 6'!A31:F31</a:t>
            </a:r>
          </a:p>
          <a:p/>
          <a:p>
            <a:r>
              <a:t>12:55 PM–1:10 PM | 3 Teach | 15 min</a:t>
            </a:r>
          </a:p>
          <a:p>
            <a:r>
              <a:t>Instructor: Model area as a count of squares, then the triangle as half a rectangle. Show squared conversion factors.</a:t>
            </a:r>
          </a:p>
          <a:p>
            <a:r>
              <a:t>Learners: Annotate the example and predict the next step; ask about unclear units or symbols.</a:t>
            </a:r>
          </a:p>
          <a:p>
            <a:r>
              <a:t>Materials/check: Textbook; worked example</a:t>
            </a:r>
          </a:p>
          <a:p>
            <a:r>
              <a:t>Source: 'Math Week 6'!A32:F32</a:t>
            </a:r>
          </a:p>
          <a:p/>
          <a:p>
            <a:r>
              <a:t>1:10 PM–1:25 PM | 4 Together | 15 min</a:t>
            </a:r>
          </a:p>
          <a:p>
            <a:r>
              <a:t>Instructor: Work Exercise Book 10A Q2–4,7–8; learners label perpendicular height, not the sloping side.</a:t>
            </a:r>
          </a:p>
          <a:p>
            <a:r>
              <a:t>Learners: Work in pairs, alternating solver and checker. Write a diagram, formula, units and estimate.</a:t>
            </a:r>
          </a:p>
          <a:p>
            <a:r>
              <a:t>Materials/check: Exercise Book; tool above</a:t>
            </a:r>
          </a:p>
          <a:p>
            <a:r>
              <a:t>Source: 'Math Week 6'!A33:F33</a:t>
            </a:r>
          </a:p>
          <a:p/>
          <a:p>
            <a:r>
              <a:t>1:25 PM–1:45 PM | 5 Practise | 20 min</a:t>
            </a:r>
          </a:p>
          <a:p>
            <a:r>
              <a:t>Instructor: Complete Exercise Book 10A Q5–6 and 10B Q1,4. On Shape Canvas, compare the two shapes’ areas. Keep the sheet count’s no-waste assumption explicit.</a:t>
            </a:r>
          </a:p>
          <a:p>
            <a:r>
              <a:t>Learners: Solve on paper first; check with tools; correct one error and explain the change.</a:t>
            </a:r>
          </a:p>
          <a:p>
            <a:r>
              <a:t>Materials/check: Paper first; tool second</a:t>
            </a:r>
          </a:p>
          <a:p>
            <a:r>
              <a:t>Source: 'Math Week 6'!A34:F34</a:t>
            </a:r>
          </a:p>
          <a:p/>
          <a:p>
            <a:r>
              <a:t>1:45 PM–1:55 PM | 6 Check | 10 min</a:t>
            </a:r>
          </a:p>
          <a:p>
            <a:r>
              <a:t>Instructor: Exercise Book 10B Q1; show floor area, one-sheet area and sheet quantity.</a:t>
            </a:r>
          </a:p>
          <a:p>
            <a:r>
              <a:t>Learners: Solve without displayed answers; include working, units and final rounding.</a:t>
            </a:r>
          </a:p>
          <a:p>
            <a:r>
              <a:t>Materials/check: Teacher answers below</a:t>
            </a:r>
          </a:p>
          <a:p>
            <a:r>
              <a:t>Source: 'Math Week 6'!A35:F35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6'!A36:F36</a:t>
            </a:r>
          </a:p>
          <a:p/>
          <a:p>
            <a:r>
              <a:t>INSTRUCTOR ONLY: REVEAL ASSESSMENT ANSWERS AFTER THE ATTEMPT</a:t>
            </a:r>
          </a:p>
          <a:p>
            <a:r>
              <a:t>10B Q1 = 25.92 m² and 9 sheets, assuming no waste as stated. Answer Key p.28. Answer Key pp.27–28</a:t>
            </a:r>
          </a:p>
          <a:p/>
          <a:p>
            <a:r>
              <a:t>Extend to composite surfaces and openings without double-counting.</a:t>
            </a:r>
          </a:p>
          <a:p/>
          <a:p>
            <a:r>
              <a:t>Sources: 'Math Week 6'!A10:E10; 'Carpentry Schedule'!B60; 'Math Week 6'!A24</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Teaching content sources:</a:t>
            </a:r>
          </a:p>
          <a:p>
            <a:r>
              <a:t>Textbook sections 10.1–10.3 pp.154–157; sections 7.4 pp.113–115</a:t>
            </a:r>
          </a:p>
          <a:p>
            <a:r>
              <a:t>'Math Week 6'!B28</a:t>
            </a:r>
          </a:p>
          <a:p>
            <a:r>
              <a:t>'Math Week 6'!A32:F32</a:t>
            </a:r>
          </a:p>
          <a:p>
            <a:r>
              <a:t>ACCESS CARPENTRY SLIDES.pptx slides 110, 111, 112</a:t>
            </a:r>
          </a:p>
          <a:p>
            <a:r>
              <a:t>ACCESS Trades Numeracy Textbook p.156 — Figure 10.3 — A rectangle cut into two triangles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W06-L01 | 2026-11-30 | 12:45 PM–2:00 PM | 75 minutes</a:t>
            </a:r>
          </a:p>
          <a:p>
            <a:r>
              <a:t>Area and material coverage</a:t>
            </a:r>
          </a:p>
          <a:p>
            <a:r>
              <a:t>Mode: Math</a:t>
            </a:r>
          </a:p>
          <a:p>
            <a:r>
              <a:t>Goal: Calculate rectangle and triangle areas and distinguish linear units from square units.</a:t>
            </a:r>
          </a:p>
          <a:p>
            <a:r>
              <a:t>Read: Textbook sections 10.1–10.3 pp.154–157; sections 7.4 pp.113–115</a:t>
            </a:r>
          </a:p>
          <a:p>
            <a:r>
              <a:t>Practise: Exercise Book 10A Q1–8 (p.63); 10B Q1,4 (p.65)</a:t>
            </a:r>
          </a:p>
          <a:p>
            <a:r>
              <a:t>Tool: Shape Canvas: rectangle and right triangle with the same base and height. Numeracy Hub: Volume and Layout, then Module 2 Area and perimeter.</a:t>
            </a:r>
          </a:p>
          <a:p/>
          <a:p>
            <a:r>
              <a:t>EXACT SCHEDULED STEPS</a:t>
            </a:r>
          </a:p>
          <a:p>
            <a:r>
              <a:t>12:45 PM–12:50 PM | 1 Start | 5 min</a:t>
            </a:r>
          </a:p>
          <a:p>
            <a:r>
              <a:t>Instructor: Connect area and material coverage to a dimensioned carpentry drawing. State the objective.</a:t>
            </a:r>
          </a:p>
          <a:p>
            <a:r>
              <a:t>Learners: Describe a prior use of the skill; identify the given and unknown quantities.</a:t>
            </a:r>
          </a:p>
          <a:p>
            <a:r>
              <a:t>Materials/check: Notebook; calculator</a:t>
            </a:r>
          </a:p>
          <a:p>
            <a:r>
              <a:t>Source: 'Math Week 6'!A30:F30</a:t>
            </a:r>
          </a:p>
          <a:p/>
          <a:p>
            <a:r>
              <a:t>12:50 PM–12:55 PM | 2 Recall | 5 min</a:t>
            </a:r>
          </a:p>
          <a:p>
            <a:r>
              <a:t>Instructor: Ask why 1 m² is not 1,000 mm²; retrieve a rectangle perimeter and name its different unit.</a:t>
            </a:r>
          </a:p>
          <a:p>
            <a:r>
              <a:t>Learners: Attempt the retrieval task independently; explain the method before checking.</a:t>
            </a:r>
          </a:p>
          <a:p>
            <a:r>
              <a:t>Materials/check: Identify support needs</a:t>
            </a:r>
          </a:p>
          <a:p>
            <a:r>
              <a:t>Source: 'Math Week 6'!A31:F31</a:t>
            </a:r>
          </a:p>
          <a:p/>
          <a:p>
            <a:r>
              <a:t>12:55 PM–1:10 PM | 3 Teach | 15 min</a:t>
            </a:r>
          </a:p>
          <a:p>
            <a:r>
              <a:t>Instructor: Model area as a count of squares, then the triangle as half a rectangle. Show squared conversion factors.</a:t>
            </a:r>
          </a:p>
          <a:p>
            <a:r>
              <a:t>Learners: Annotate the example and predict the next step; ask about unclear units or symbols.</a:t>
            </a:r>
          </a:p>
          <a:p>
            <a:r>
              <a:t>Materials/check: Textbook; worked example</a:t>
            </a:r>
          </a:p>
          <a:p>
            <a:r>
              <a:t>Source: 'Math Week 6'!A32:F32</a:t>
            </a:r>
          </a:p>
          <a:p/>
          <a:p>
            <a:r>
              <a:t>1:10 PM–1:25 PM | 4 Together | 15 min</a:t>
            </a:r>
          </a:p>
          <a:p>
            <a:r>
              <a:t>Instructor: Work Exercise Book 10A Q2–4,7–8; learners label perpendicular height, not the sloping side.</a:t>
            </a:r>
          </a:p>
          <a:p>
            <a:r>
              <a:t>Learners: Work in pairs, alternating solver and checker. Write a diagram, formula, units and estimate.</a:t>
            </a:r>
          </a:p>
          <a:p>
            <a:r>
              <a:t>Materials/check: Exercise Book; tool above</a:t>
            </a:r>
          </a:p>
          <a:p>
            <a:r>
              <a:t>Source: 'Math Week 6'!A33:F33</a:t>
            </a:r>
          </a:p>
          <a:p/>
          <a:p>
            <a:r>
              <a:t>1:25 PM–1:45 PM | 5 Practise | 20 min</a:t>
            </a:r>
          </a:p>
          <a:p>
            <a:r>
              <a:t>Instructor: Complete Exercise Book 10A Q5–6 and 10B Q1,4. On Shape Canvas, compare the two shapes’ areas. Keep the sheet count’s no-waste assumption explicit.</a:t>
            </a:r>
          </a:p>
          <a:p>
            <a:r>
              <a:t>Learners: Solve on paper first; check with tools; correct one error and explain the change.</a:t>
            </a:r>
          </a:p>
          <a:p>
            <a:r>
              <a:t>Materials/check: Paper first; tool second</a:t>
            </a:r>
          </a:p>
          <a:p>
            <a:r>
              <a:t>Source: 'Math Week 6'!A34:F34</a:t>
            </a:r>
          </a:p>
          <a:p/>
          <a:p>
            <a:r>
              <a:t>1:45 PM–1:55 PM | 6 Check | 10 min</a:t>
            </a:r>
          </a:p>
          <a:p>
            <a:r>
              <a:t>Instructor: Exercise Book 10B Q1; show floor area, one-sheet area and sheet quantity.</a:t>
            </a:r>
          </a:p>
          <a:p>
            <a:r>
              <a:t>Learners: Solve without displayed answers; include working, units and final rounding.</a:t>
            </a:r>
          </a:p>
          <a:p>
            <a:r>
              <a:t>Materials/check: Teacher answers below</a:t>
            </a:r>
          </a:p>
          <a:p>
            <a:r>
              <a:t>Source: 'Math Week 6'!A35:F35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6'!A36:F36</a:t>
            </a:r>
          </a:p>
          <a:p/>
          <a:p>
            <a:r>
              <a:t>INSTRUCTOR ONLY: REVEAL ASSESSMENT ANSWERS AFTER THE ATTEMPT</a:t>
            </a:r>
          </a:p>
          <a:p>
            <a:r>
              <a:t>10B Q1 = 25.92 m² and 9 sheets, assuming no waste as stated. Answer Key p.28. Answer Key pp.27–28</a:t>
            </a:r>
          </a:p>
          <a:p/>
          <a:p>
            <a:r>
              <a:t>Extend to composite surfaces and openings without double-counting.</a:t>
            </a:r>
          </a:p>
          <a:p/>
          <a:p>
            <a:r>
              <a:t>Sources: 'Math Week 6'!A10:E10; 'Carpentry Schedule'!B60; 'Math Week 6'!A24</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Textbook visual: ACCESS Textbook p.156 • Figure 10.3 — Equal base and perpendicular height</a:t>
            </a:r>
          </a:p>
          <a:p>
            <a:r>
              <a:t>Exact PDF/printed page: 156. Excerpt reproduced from the supplied ACCESS Textbook.</a:t>
            </a:r>
          </a:p>
          <a:p>
            <a:r>
              <a:t>Explain why equal base and perpendicular height produce half the rectangle’s area.</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W06-L01 | 2026-11-30 | 12:45 PM–2:00 PM | 75 minutes</a:t>
            </a:r>
          </a:p>
          <a:p>
            <a:r>
              <a:t>Area and material coverage</a:t>
            </a:r>
          </a:p>
          <a:p>
            <a:r>
              <a:t>Mode: Math</a:t>
            </a:r>
          </a:p>
          <a:p>
            <a:r>
              <a:t>Goal: Calculate rectangle and triangle areas and distinguish linear units from square units.</a:t>
            </a:r>
          </a:p>
          <a:p>
            <a:r>
              <a:t>Read: Textbook sections 10.1–10.3 pp.154–157; sections 7.4 pp.113–115</a:t>
            </a:r>
          </a:p>
          <a:p>
            <a:r>
              <a:t>Practise: Exercise Book 10A Q1–8 (p.63); 10B Q1,4 (p.65)</a:t>
            </a:r>
          </a:p>
          <a:p>
            <a:r>
              <a:t>Tool: Shape Canvas: rectangle and right triangle with the same base and height. Numeracy Hub: Volume and Layout, then Module 2 Area and perimeter.</a:t>
            </a:r>
          </a:p>
          <a:p/>
          <a:p>
            <a:r>
              <a:t>EXACT SCHEDULED STEPS</a:t>
            </a:r>
          </a:p>
          <a:p>
            <a:r>
              <a:t>12:45 PM–12:50 PM | 1 Start | 5 min</a:t>
            </a:r>
          </a:p>
          <a:p>
            <a:r>
              <a:t>Instructor: Connect area and material coverage to a dimensioned carpentry drawing. State the objective.</a:t>
            </a:r>
          </a:p>
          <a:p>
            <a:r>
              <a:t>Learners: Describe a prior use of the skill; identify the given and unknown quantities.</a:t>
            </a:r>
          </a:p>
          <a:p>
            <a:r>
              <a:t>Materials/check: Notebook; calculator</a:t>
            </a:r>
          </a:p>
          <a:p>
            <a:r>
              <a:t>Source: 'Math Week 6'!A30:F30</a:t>
            </a:r>
          </a:p>
          <a:p/>
          <a:p>
            <a:r>
              <a:t>12:50 PM–12:55 PM | 2 Recall | 5 min</a:t>
            </a:r>
          </a:p>
          <a:p>
            <a:r>
              <a:t>Instructor: Ask why 1 m² is not 1,000 mm²; retrieve a rectangle perimeter and name its different unit.</a:t>
            </a:r>
          </a:p>
          <a:p>
            <a:r>
              <a:t>Learners: Attempt the retrieval task independently; explain the method before checking.</a:t>
            </a:r>
          </a:p>
          <a:p>
            <a:r>
              <a:t>Materials/check: Identify support needs</a:t>
            </a:r>
          </a:p>
          <a:p>
            <a:r>
              <a:t>Source: 'Math Week 6'!A31:F31</a:t>
            </a:r>
          </a:p>
          <a:p/>
          <a:p>
            <a:r>
              <a:t>12:55 PM–1:10 PM | 3 Teach | 15 min</a:t>
            </a:r>
          </a:p>
          <a:p>
            <a:r>
              <a:t>Instructor: Model area as a count of squares, then the triangle as half a rectangle. Show squared conversion factors.</a:t>
            </a:r>
          </a:p>
          <a:p>
            <a:r>
              <a:t>Learners: Annotate the example and predict the next step; ask about unclear units or symbols.</a:t>
            </a:r>
          </a:p>
          <a:p>
            <a:r>
              <a:t>Materials/check: Textbook; worked example</a:t>
            </a:r>
          </a:p>
          <a:p>
            <a:r>
              <a:t>Source: 'Math Week 6'!A32:F32</a:t>
            </a:r>
          </a:p>
          <a:p/>
          <a:p>
            <a:r>
              <a:t>1:10 PM–1:25 PM | 4 Together | 15 min</a:t>
            </a:r>
          </a:p>
          <a:p>
            <a:r>
              <a:t>Instructor: Work Exercise Book 10A Q2–4,7–8; learners label perpendicular height, not the sloping side.</a:t>
            </a:r>
          </a:p>
          <a:p>
            <a:r>
              <a:t>Learners: Work in pairs, alternating solver and checker. Write a diagram, formula, units and estimate.</a:t>
            </a:r>
          </a:p>
          <a:p>
            <a:r>
              <a:t>Materials/check: Exercise Book; tool above</a:t>
            </a:r>
          </a:p>
          <a:p>
            <a:r>
              <a:t>Source: 'Math Week 6'!A33:F33</a:t>
            </a:r>
          </a:p>
          <a:p/>
          <a:p>
            <a:r>
              <a:t>1:25 PM–1:45 PM | 5 Practise | 20 min</a:t>
            </a:r>
          </a:p>
          <a:p>
            <a:r>
              <a:t>Instructor: Complete Exercise Book 10A Q5–6 and 10B Q1,4. On Shape Canvas, compare the two shapes’ areas. Keep the sheet count’s no-waste assumption explicit.</a:t>
            </a:r>
          </a:p>
          <a:p>
            <a:r>
              <a:t>Learners: Solve on paper first; check with tools; correct one error and explain the change.</a:t>
            </a:r>
          </a:p>
          <a:p>
            <a:r>
              <a:t>Materials/check: Paper first; tool second</a:t>
            </a:r>
          </a:p>
          <a:p>
            <a:r>
              <a:t>Source: 'Math Week 6'!A34:F34</a:t>
            </a:r>
          </a:p>
          <a:p/>
          <a:p>
            <a:r>
              <a:t>1:45 PM–1:55 PM | 6 Check | 10 min</a:t>
            </a:r>
          </a:p>
          <a:p>
            <a:r>
              <a:t>Instructor: Exercise Book 10B Q1; show floor area, one-sheet area and sheet quantity.</a:t>
            </a:r>
          </a:p>
          <a:p>
            <a:r>
              <a:t>Learners: Solve without displayed answers; include working, units and final rounding.</a:t>
            </a:r>
          </a:p>
          <a:p>
            <a:r>
              <a:t>Materials/check: Teacher answers below</a:t>
            </a:r>
          </a:p>
          <a:p>
            <a:r>
              <a:t>Source: 'Math Week 6'!A35:F35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6'!A36:F36</a:t>
            </a:r>
          </a:p>
          <a:p/>
          <a:p>
            <a:r>
              <a:t>INSTRUCTOR ONLY: REVEAL ASSESSMENT ANSWERS AFTER THE ATTEMPT</a:t>
            </a:r>
          </a:p>
          <a:p>
            <a:r>
              <a:t>10B Q1 = 25.92 m² and 9 sheets, assuming no waste as stated. Answer Key p.28. Answer Key pp.27–28</a:t>
            </a:r>
          </a:p>
          <a:p/>
          <a:p>
            <a:r>
              <a:t>Extend to composite surfaces and openings without double-counting.</a:t>
            </a:r>
          </a:p>
          <a:p/>
          <a:p>
            <a:r>
              <a:t>Sources: 'Math Week 6'!A10:E10; 'Carpentry Schedule'!B60; 'Math Week 6'!A24</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Textbook visual: ACCESS Textbook p.155 • Example 10.1 — Rectangle area and squared unit conversion</a:t>
            </a:r>
          </a:p>
          <a:p>
            <a:r>
              <a:t>Exact PDF/printed page: 155. Excerpt reproduced from the supplied ACCESS Textbook.</a:t>
            </a:r>
          </a:p>
          <a:p>
            <a:r>
              <a:t>Explain why equal base and perpendicular height produce half the rectangle’s area.</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W06-L01 | 2026-11-30 | 12:45 PM–2:00 PM | 75 minutes</a:t>
            </a:r>
          </a:p>
          <a:p>
            <a:r>
              <a:t>Area and material coverage</a:t>
            </a:r>
          </a:p>
          <a:p>
            <a:r>
              <a:t>Mode: Math</a:t>
            </a:r>
          </a:p>
          <a:p>
            <a:r>
              <a:t>Goal: Calculate rectangle and triangle areas and distinguish linear units from square units.</a:t>
            </a:r>
          </a:p>
          <a:p>
            <a:r>
              <a:t>Read: Textbook sections 10.1–10.3 pp.154–157; sections 7.4 pp.113–115</a:t>
            </a:r>
          </a:p>
          <a:p>
            <a:r>
              <a:t>Practise: Exercise Book 10A Q1–8 (p.63); 10B Q1,4 (p.65)</a:t>
            </a:r>
          </a:p>
          <a:p>
            <a:r>
              <a:t>Tool: Shape Canvas: rectangle and right triangle with the same base and height. Numeracy Hub: Volume and Layout, then Module 2 Area and perimeter.</a:t>
            </a:r>
          </a:p>
          <a:p/>
          <a:p>
            <a:r>
              <a:t>EXACT SCHEDULED STEPS</a:t>
            </a:r>
          </a:p>
          <a:p>
            <a:r>
              <a:t>12:45 PM–12:50 PM | 1 Start | 5 min</a:t>
            </a:r>
          </a:p>
          <a:p>
            <a:r>
              <a:t>Instructor: Connect area and material coverage to a dimensioned carpentry drawing. State the objective.</a:t>
            </a:r>
          </a:p>
          <a:p>
            <a:r>
              <a:t>Learners: Describe a prior use of the skill; identify the given and unknown quantities.</a:t>
            </a:r>
          </a:p>
          <a:p>
            <a:r>
              <a:t>Materials/check: Notebook; calculator</a:t>
            </a:r>
          </a:p>
          <a:p>
            <a:r>
              <a:t>Source: 'Math Week 6'!A30:F30</a:t>
            </a:r>
          </a:p>
          <a:p/>
          <a:p>
            <a:r>
              <a:t>12:50 PM–12:55 PM | 2 Recall | 5 min</a:t>
            </a:r>
          </a:p>
          <a:p>
            <a:r>
              <a:t>Instructor: Ask why 1 m² is not 1,000 mm²; retrieve a rectangle perimeter and name its different unit.</a:t>
            </a:r>
          </a:p>
          <a:p>
            <a:r>
              <a:t>Learners: Attempt the retrieval task independently; explain the method before checking.</a:t>
            </a:r>
          </a:p>
          <a:p>
            <a:r>
              <a:t>Materials/check: Identify support needs</a:t>
            </a:r>
          </a:p>
          <a:p>
            <a:r>
              <a:t>Source: 'Math Week 6'!A31:F31</a:t>
            </a:r>
          </a:p>
          <a:p/>
          <a:p>
            <a:r>
              <a:t>12:55 PM–1:10 PM | 3 Teach | 15 min</a:t>
            </a:r>
          </a:p>
          <a:p>
            <a:r>
              <a:t>Instructor: Model area as a count of squares, then the triangle as half a rectangle. Show squared conversion factors.</a:t>
            </a:r>
          </a:p>
          <a:p>
            <a:r>
              <a:t>Learners: Annotate the example and predict the next step; ask about unclear units or symbols.</a:t>
            </a:r>
          </a:p>
          <a:p>
            <a:r>
              <a:t>Materials/check: Textbook; worked example</a:t>
            </a:r>
          </a:p>
          <a:p>
            <a:r>
              <a:t>Source: 'Math Week 6'!A32:F32</a:t>
            </a:r>
          </a:p>
          <a:p/>
          <a:p>
            <a:r>
              <a:t>1:10 PM–1:25 PM | 4 Together | 15 min</a:t>
            </a:r>
          </a:p>
          <a:p>
            <a:r>
              <a:t>Instructor: Work Exercise Book 10A Q2–4,7–8; learners label perpendicular height, not the sloping side.</a:t>
            </a:r>
          </a:p>
          <a:p>
            <a:r>
              <a:t>Learners: Work in pairs, alternating solver and checker. Write a diagram, formula, units and estimate.</a:t>
            </a:r>
          </a:p>
          <a:p>
            <a:r>
              <a:t>Materials/check: Exercise Book; tool above</a:t>
            </a:r>
          </a:p>
          <a:p>
            <a:r>
              <a:t>Source: 'Math Week 6'!A33:F33</a:t>
            </a:r>
          </a:p>
          <a:p/>
          <a:p>
            <a:r>
              <a:t>1:25 PM–1:45 PM | 5 Practise | 20 min</a:t>
            </a:r>
          </a:p>
          <a:p>
            <a:r>
              <a:t>Instructor: Complete Exercise Book 10A Q5–6 and 10B Q1,4. On Shape Canvas, compare the two shapes’ areas. Keep the sheet count’s no-waste assumption explicit.</a:t>
            </a:r>
          </a:p>
          <a:p>
            <a:r>
              <a:t>Learners: Solve on paper first; check with tools; correct one error and explain the change.</a:t>
            </a:r>
          </a:p>
          <a:p>
            <a:r>
              <a:t>Materials/check: Paper first; tool second</a:t>
            </a:r>
          </a:p>
          <a:p>
            <a:r>
              <a:t>Source: 'Math Week 6'!A34:F34</a:t>
            </a:r>
          </a:p>
          <a:p/>
          <a:p>
            <a:r>
              <a:t>1:45 PM–1:55 PM | 6 Check | 10 min</a:t>
            </a:r>
          </a:p>
          <a:p>
            <a:r>
              <a:t>Instructor: Exercise Book 10B Q1; show floor area, one-sheet area and sheet quantity.</a:t>
            </a:r>
          </a:p>
          <a:p>
            <a:r>
              <a:t>Learners: Solve without displayed answers; include working, units and final rounding.</a:t>
            </a:r>
          </a:p>
          <a:p>
            <a:r>
              <a:t>Materials/check: Teacher answers below</a:t>
            </a:r>
          </a:p>
          <a:p>
            <a:r>
              <a:t>Source: 'Math Week 6'!A35:F35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6'!A36:F36</a:t>
            </a:r>
          </a:p>
          <a:p/>
          <a:p>
            <a:r>
              <a:t>INSTRUCTOR ONLY: REVEAL ASSESSMENT ANSWERS AFTER THE ATTEMPT</a:t>
            </a:r>
          </a:p>
          <a:p>
            <a:r>
              <a:t>10B Q1 = 25.92 m² and 9 sheets, assuming no waste as stated. Answer Key p.28. Answer Key pp.27–28</a:t>
            </a:r>
          </a:p>
          <a:p/>
          <a:p>
            <a:r>
              <a:t>Extend to composite surfaces and openings without double-counting.</a:t>
            </a:r>
          </a:p>
          <a:p/>
          <a:p>
            <a:r>
              <a:t>Sources: 'Math Week 6'!A10:E10; 'Carpentry Schedule'!B60; 'Math Week 6'!A24</a:t>
            </a:r>
          </a:p>
          <a:p>
            <a:r>
              <a:t>Navigation/resource slides support these scheduled steps and do not add instructional time.</a:t>
            </a:r>
          </a:p>
          <a:p>
            <a:r>
              <a:t>SLIDE PLACEMENT: Teach, 12:55 PM–1:10 PM.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W06-L01 | 2026-11-30 | 12:45 PM–2:00 PM | 75 minutes</a:t>
            </a:r>
          </a:p>
          <a:p>
            <a:r>
              <a:t>Area and material coverage</a:t>
            </a:r>
          </a:p>
          <a:p>
            <a:r>
              <a:t>Mode: Math</a:t>
            </a:r>
          </a:p>
          <a:p>
            <a:r>
              <a:t>Goal: Calculate rectangle and triangle areas and distinguish linear units from square units.</a:t>
            </a:r>
          </a:p>
          <a:p>
            <a:r>
              <a:t>Read: Textbook sections 10.1–10.3 pp.154–157; sections 7.4 pp.113–115</a:t>
            </a:r>
          </a:p>
          <a:p>
            <a:r>
              <a:t>Practise: Exercise Book 10A Q1–8 (p.63); 10B Q1,4 (p.65)</a:t>
            </a:r>
          </a:p>
          <a:p>
            <a:r>
              <a:t>Tool: Shape Canvas: rectangle and right triangle with the same base and height. Numeracy Hub: Volume and Layout, then Module 2 Area and perimeter.</a:t>
            </a:r>
          </a:p>
          <a:p/>
          <a:p>
            <a:r>
              <a:t>EXACT SCHEDULED STEPS</a:t>
            </a:r>
          </a:p>
          <a:p>
            <a:r>
              <a:t>12:45 PM–12:50 PM | 1 Start | 5 min</a:t>
            </a:r>
          </a:p>
          <a:p>
            <a:r>
              <a:t>Instructor: Connect area and material coverage to a dimensioned carpentry drawing. State the objective.</a:t>
            </a:r>
          </a:p>
          <a:p>
            <a:r>
              <a:t>Learners: Describe a prior use of the skill; identify the given and unknown quantities.</a:t>
            </a:r>
          </a:p>
          <a:p>
            <a:r>
              <a:t>Materials/check: Notebook; calculator</a:t>
            </a:r>
          </a:p>
          <a:p>
            <a:r>
              <a:t>Source: 'Math Week 6'!A30:F30</a:t>
            </a:r>
          </a:p>
          <a:p/>
          <a:p>
            <a:r>
              <a:t>12:50 PM–12:55 PM | 2 Recall | 5 min</a:t>
            </a:r>
          </a:p>
          <a:p>
            <a:r>
              <a:t>Instructor: Ask why 1 m² is not 1,000 mm²; retrieve a rectangle perimeter and name its different unit.</a:t>
            </a:r>
          </a:p>
          <a:p>
            <a:r>
              <a:t>Learners: Attempt the retrieval task independently; explain the method before checking.</a:t>
            </a:r>
          </a:p>
          <a:p>
            <a:r>
              <a:t>Materials/check: Identify support needs</a:t>
            </a:r>
          </a:p>
          <a:p>
            <a:r>
              <a:t>Source: 'Math Week 6'!A31:F31</a:t>
            </a:r>
          </a:p>
          <a:p/>
          <a:p>
            <a:r>
              <a:t>12:55 PM–1:10 PM | 3 Teach | 15 min</a:t>
            </a:r>
          </a:p>
          <a:p>
            <a:r>
              <a:t>Instructor: Model area as a count of squares, then the triangle as half a rectangle. Show squared conversion factors.</a:t>
            </a:r>
          </a:p>
          <a:p>
            <a:r>
              <a:t>Learners: Annotate the example and predict the next step; ask about unclear units or symbols.</a:t>
            </a:r>
          </a:p>
          <a:p>
            <a:r>
              <a:t>Materials/check: Textbook; worked example</a:t>
            </a:r>
          </a:p>
          <a:p>
            <a:r>
              <a:t>Source: 'Math Week 6'!A32:F32</a:t>
            </a:r>
          </a:p>
          <a:p/>
          <a:p>
            <a:r>
              <a:t>1:10 PM–1:25 PM | 4 Together | 15 min</a:t>
            </a:r>
          </a:p>
          <a:p>
            <a:r>
              <a:t>Instructor: Work Exercise Book 10A Q2–4,7–8; learners label perpendicular height, not the sloping side.</a:t>
            </a:r>
          </a:p>
          <a:p>
            <a:r>
              <a:t>Learners: Work in pairs, alternating solver and checker. Write a diagram, formula, units and estimate.</a:t>
            </a:r>
          </a:p>
          <a:p>
            <a:r>
              <a:t>Materials/check: Exercise Book; tool above</a:t>
            </a:r>
          </a:p>
          <a:p>
            <a:r>
              <a:t>Source: 'Math Week 6'!A33:F33</a:t>
            </a:r>
          </a:p>
          <a:p/>
          <a:p>
            <a:r>
              <a:t>1:25 PM–1:45 PM | 5 Practise | 20 min</a:t>
            </a:r>
          </a:p>
          <a:p>
            <a:r>
              <a:t>Instructor: Complete Exercise Book 10A Q5–6 and 10B Q1,4. On Shape Canvas, compare the two shapes’ areas. Keep the sheet count’s no-waste assumption explicit.</a:t>
            </a:r>
          </a:p>
          <a:p>
            <a:r>
              <a:t>Learners: Solve on paper first; check with tools; correct one error and explain the change.</a:t>
            </a:r>
          </a:p>
          <a:p>
            <a:r>
              <a:t>Materials/check: Paper first; tool second</a:t>
            </a:r>
          </a:p>
          <a:p>
            <a:r>
              <a:t>Source: 'Math Week 6'!A34:F34</a:t>
            </a:r>
          </a:p>
          <a:p/>
          <a:p>
            <a:r>
              <a:t>1:45 PM–1:55 PM | 6 Check | 10 min</a:t>
            </a:r>
          </a:p>
          <a:p>
            <a:r>
              <a:t>Instructor: Exercise Book 10B Q1; show floor area, one-sheet area and sheet quantity.</a:t>
            </a:r>
          </a:p>
          <a:p>
            <a:r>
              <a:t>Learners: Solve without displayed answers; include working, units and final rounding.</a:t>
            </a:r>
          </a:p>
          <a:p>
            <a:r>
              <a:t>Materials/check: Teacher answers below</a:t>
            </a:r>
          </a:p>
          <a:p>
            <a:r>
              <a:t>Source: 'Math Week 6'!A35:F35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6'!A36:F36</a:t>
            </a:r>
          </a:p>
          <a:p/>
          <a:p>
            <a:r>
              <a:t>INSTRUCTOR ONLY: REVEAL ASSESSMENT ANSWERS AFTER THE ATTEMPT</a:t>
            </a:r>
          </a:p>
          <a:p>
            <a:r>
              <a:t>10B Q1 = 25.92 m² and 9 sheets, assuming no waste as stated. Answer Key p.28. Answer Key pp.27–28</a:t>
            </a:r>
          </a:p>
          <a:p/>
          <a:p>
            <a:r>
              <a:t>Extend to composite surfaces and openings without double-counting.</a:t>
            </a:r>
          </a:p>
          <a:p/>
          <a:p>
            <a:r>
              <a:t>Sources: 'Math Week 6'!A10:E10; 'Carpentry Schedule'!B60; 'Math Week 6'!A24</a:t>
            </a:r>
          </a:p>
          <a:p>
            <a:r>
              <a:t>Navigation/resource slides support these scheduled steps and do not add instructional time.</a:t>
            </a:r>
          </a:p>
          <a:p>
            <a:r>
              <a:t>SLIDE PLACEMENT: Together, 1:10 PM–1:25 PM.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W06-L01 | 2026-11-30 | 12:45 PM–2:00 PM | 75 minutes</a:t>
            </a:r>
          </a:p>
          <a:p>
            <a:r>
              <a:t>Area and material coverage</a:t>
            </a:r>
          </a:p>
          <a:p>
            <a:r>
              <a:t>Mode: Math</a:t>
            </a:r>
          </a:p>
          <a:p>
            <a:r>
              <a:t>Goal: Calculate rectangle and triangle areas and distinguish linear units from square units.</a:t>
            </a:r>
          </a:p>
          <a:p>
            <a:r>
              <a:t>Read: Textbook sections 10.1–10.3 pp.154–157; sections 7.4 pp.113–115</a:t>
            </a:r>
          </a:p>
          <a:p>
            <a:r>
              <a:t>Practise: Exercise Book 10A Q1–8 (p.63); 10B Q1,4 (p.65)</a:t>
            </a:r>
          </a:p>
          <a:p>
            <a:r>
              <a:t>Tool: Shape Canvas: rectangle and right triangle with the same base and height. Numeracy Hub: Volume and Layout, then Module 2 Area and perimeter.</a:t>
            </a:r>
          </a:p>
          <a:p/>
          <a:p>
            <a:r>
              <a:t>EXACT SCHEDULED STEPS</a:t>
            </a:r>
          </a:p>
          <a:p>
            <a:r>
              <a:t>12:45 PM–12:50 PM | 1 Start | 5 min</a:t>
            </a:r>
          </a:p>
          <a:p>
            <a:r>
              <a:t>Instructor: Connect area and material coverage to a dimensioned carpentry drawing. State the objective.</a:t>
            </a:r>
          </a:p>
          <a:p>
            <a:r>
              <a:t>Learners: Describe a prior use of the skill; identify the given and unknown quantities.</a:t>
            </a:r>
          </a:p>
          <a:p>
            <a:r>
              <a:t>Materials/check: Notebook; calculator</a:t>
            </a:r>
          </a:p>
          <a:p>
            <a:r>
              <a:t>Source: 'Math Week 6'!A30:F30</a:t>
            </a:r>
          </a:p>
          <a:p/>
          <a:p>
            <a:r>
              <a:t>12:50 PM–12:55 PM | 2 Recall | 5 min</a:t>
            </a:r>
          </a:p>
          <a:p>
            <a:r>
              <a:t>Instructor: Ask why 1 m² is not 1,000 mm²; retrieve a rectangle perimeter and name its different unit.</a:t>
            </a:r>
          </a:p>
          <a:p>
            <a:r>
              <a:t>Learners: Attempt the retrieval task independently; explain the method before checking.</a:t>
            </a:r>
          </a:p>
          <a:p>
            <a:r>
              <a:t>Materials/check: Identify support needs</a:t>
            </a:r>
          </a:p>
          <a:p>
            <a:r>
              <a:t>Source: 'Math Week 6'!A31:F31</a:t>
            </a:r>
          </a:p>
          <a:p/>
          <a:p>
            <a:r>
              <a:t>12:55 PM–1:10 PM | 3 Teach | 15 min</a:t>
            </a:r>
          </a:p>
          <a:p>
            <a:r>
              <a:t>Instructor: Model area as a count of squares, then the triangle as half a rectangle. Show squared conversion factors.</a:t>
            </a:r>
          </a:p>
          <a:p>
            <a:r>
              <a:t>Learners: Annotate the example and predict the next step; ask about unclear units or symbols.</a:t>
            </a:r>
          </a:p>
          <a:p>
            <a:r>
              <a:t>Materials/check: Textbook; worked example</a:t>
            </a:r>
          </a:p>
          <a:p>
            <a:r>
              <a:t>Source: 'Math Week 6'!A32:F32</a:t>
            </a:r>
          </a:p>
          <a:p/>
          <a:p>
            <a:r>
              <a:t>1:10 PM–1:25 PM | 4 Together | 15 min</a:t>
            </a:r>
          </a:p>
          <a:p>
            <a:r>
              <a:t>Instructor: Work Exercise Book 10A Q2–4,7–8; learners label perpendicular height, not the sloping side.</a:t>
            </a:r>
          </a:p>
          <a:p>
            <a:r>
              <a:t>Learners: Work in pairs, alternating solver and checker. Write a diagram, formula, units and estimate.</a:t>
            </a:r>
          </a:p>
          <a:p>
            <a:r>
              <a:t>Materials/check: Exercise Book; tool above</a:t>
            </a:r>
          </a:p>
          <a:p>
            <a:r>
              <a:t>Source: 'Math Week 6'!A33:F33</a:t>
            </a:r>
          </a:p>
          <a:p/>
          <a:p>
            <a:r>
              <a:t>1:25 PM–1:45 PM | 5 Practise | 20 min</a:t>
            </a:r>
          </a:p>
          <a:p>
            <a:r>
              <a:t>Instructor: Complete Exercise Book 10A Q5–6 and 10B Q1,4. On Shape Canvas, compare the two shapes’ areas. Keep the sheet count’s no-waste assumption explicit.</a:t>
            </a:r>
          </a:p>
          <a:p>
            <a:r>
              <a:t>Learners: Solve on paper first; check with tools; correct one error and explain the change.</a:t>
            </a:r>
          </a:p>
          <a:p>
            <a:r>
              <a:t>Materials/check: Paper first; tool second</a:t>
            </a:r>
          </a:p>
          <a:p>
            <a:r>
              <a:t>Source: 'Math Week 6'!A34:F34</a:t>
            </a:r>
          </a:p>
          <a:p/>
          <a:p>
            <a:r>
              <a:t>1:45 PM–1:55 PM | 6 Check | 10 min</a:t>
            </a:r>
          </a:p>
          <a:p>
            <a:r>
              <a:t>Instructor: Exercise Book 10B Q1; show floor area, one-sheet area and sheet quantity.</a:t>
            </a:r>
          </a:p>
          <a:p>
            <a:r>
              <a:t>Learners: Solve without displayed answers; include working, units and final rounding.</a:t>
            </a:r>
          </a:p>
          <a:p>
            <a:r>
              <a:t>Materials/check: Teacher answers below</a:t>
            </a:r>
          </a:p>
          <a:p>
            <a:r>
              <a:t>Source: 'Math Week 6'!A35:F35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6'!A36:F36</a:t>
            </a:r>
          </a:p>
          <a:p/>
          <a:p>
            <a:r>
              <a:t>INSTRUCTOR ONLY: REVEAL ASSESSMENT ANSWERS AFTER THE ATTEMPT</a:t>
            </a:r>
          </a:p>
          <a:p>
            <a:r>
              <a:t>10B Q1 = 25.92 m² and 9 sheets, assuming no waste as stated. Answer Key p.28. Answer Key pp.27–28</a:t>
            </a:r>
          </a:p>
          <a:p/>
          <a:p>
            <a:r>
              <a:t>Extend to composite surfaces and openings without double-counting.</a:t>
            </a:r>
          </a:p>
          <a:p/>
          <a:p>
            <a:r>
              <a:t>Sources: 'Math Week 6'!A10:E10; 'Carpentry Schedule'!B60; 'Math Week 6'!A24</a:t>
            </a:r>
          </a:p>
          <a:p>
            <a:r>
              <a:t>Navigation/resource slides support these scheduled steps and do not add instructional time.</a:t>
            </a:r>
          </a:p>
          <a:p>
            <a:r>
              <a:t>SLIDE PLACEMENT: Together, 1:10 PM–1:25 PM. All slides with this phase share these 15 minutes; do not restart the time allocation for each slide.</a:t>
            </a:r>
          </a:p>
          <a:p/>
          <a:p>
            <a:r>
              <a:t>ACCESS EXERCISE BOOK: 10A-Q2</a:t>
            </a:r>
          </a:p>
          <a:p>
            <a:r>
              <a:t>Exact question: Write 1,500,000 mm² in m².</a:t>
            </a:r>
          </a:p>
          <a:p>
            <a:r>
              <a:t>Instructor answer: 1.5 m²</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W06-L01 | 2026-11-30 | 12:45 PM–2:00 PM | 75 minutes</a:t>
            </a:r>
          </a:p>
          <a:p>
            <a:r>
              <a:t>Area and material coverage</a:t>
            </a:r>
          </a:p>
          <a:p>
            <a:r>
              <a:t>Mode: Math</a:t>
            </a:r>
          </a:p>
          <a:p>
            <a:r>
              <a:t>Goal: Calculate rectangle and triangle areas and distinguish linear units from square units.</a:t>
            </a:r>
          </a:p>
          <a:p>
            <a:r>
              <a:t>Read: Textbook sections 10.1–10.3 pp.154–157; sections 7.4 pp.113–115</a:t>
            </a:r>
          </a:p>
          <a:p>
            <a:r>
              <a:t>Practise: Exercise Book 10A Q1–8 (p.63); 10B Q1,4 (p.65)</a:t>
            </a:r>
          </a:p>
          <a:p>
            <a:r>
              <a:t>Tool: Shape Canvas: rectangle and right triangle with the same base and height. Numeracy Hub: Volume and Layout, then Module 2 Area and perimeter.</a:t>
            </a:r>
          </a:p>
          <a:p/>
          <a:p>
            <a:r>
              <a:t>EXACT SCHEDULED STEPS</a:t>
            </a:r>
          </a:p>
          <a:p>
            <a:r>
              <a:t>12:45 PM–12:50 PM | 1 Start | 5 min</a:t>
            </a:r>
          </a:p>
          <a:p>
            <a:r>
              <a:t>Instructor: Connect area and material coverage to a dimensioned carpentry drawing. State the objective.</a:t>
            </a:r>
          </a:p>
          <a:p>
            <a:r>
              <a:t>Learners: Describe a prior use of the skill; identify the given and unknown quantities.</a:t>
            </a:r>
          </a:p>
          <a:p>
            <a:r>
              <a:t>Materials/check: Notebook; calculator</a:t>
            </a:r>
          </a:p>
          <a:p>
            <a:r>
              <a:t>Source: 'Math Week 6'!A30:F30</a:t>
            </a:r>
          </a:p>
          <a:p/>
          <a:p>
            <a:r>
              <a:t>12:50 PM–12:55 PM | 2 Recall | 5 min</a:t>
            </a:r>
          </a:p>
          <a:p>
            <a:r>
              <a:t>Instructor: Ask why 1 m² is not 1,000 mm²; retrieve a rectangle perimeter and name its different unit.</a:t>
            </a:r>
          </a:p>
          <a:p>
            <a:r>
              <a:t>Learners: Attempt the retrieval task independently; explain the method before checking.</a:t>
            </a:r>
          </a:p>
          <a:p>
            <a:r>
              <a:t>Materials/check: Identify support needs</a:t>
            </a:r>
          </a:p>
          <a:p>
            <a:r>
              <a:t>Source: 'Math Week 6'!A31:F31</a:t>
            </a:r>
          </a:p>
          <a:p/>
          <a:p>
            <a:r>
              <a:t>12:55 PM–1:10 PM | 3 Teach | 15 min</a:t>
            </a:r>
          </a:p>
          <a:p>
            <a:r>
              <a:t>Instructor: Model area as a count of squares, then the triangle as half a rectangle. Show squared conversion factors.</a:t>
            </a:r>
          </a:p>
          <a:p>
            <a:r>
              <a:t>Learners: Annotate the example and predict the next step; ask about unclear units or symbols.</a:t>
            </a:r>
          </a:p>
          <a:p>
            <a:r>
              <a:t>Materials/check: Textbook; worked example</a:t>
            </a:r>
          </a:p>
          <a:p>
            <a:r>
              <a:t>Source: 'Math Week 6'!A32:F32</a:t>
            </a:r>
          </a:p>
          <a:p/>
          <a:p>
            <a:r>
              <a:t>1:10 PM–1:25 PM | 4 Together | 15 min</a:t>
            </a:r>
          </a:p>
          <a:p>
            <a:r>
              <a:t>Instructor: Work Exercise Book 10A Q2–4,7–8; learners label perpendicular height, not the sloping side.</a:t>
            </a:r>
          </a:p>
          <a:p>
            <a:r>
              <a:t>Learners: Work in pairs, alternating solver and checker. Write a diagram, formula, units and estimate.</a:t>
            </a:r>
          </a:p>
          <a:p>
            <a:r>
              <a:t>Materials/check: Exercise Book; tool above</a:t>
            </a:r>
          </a:p>
          <a:p>
            <a:r>
              <a:t>Source: 'Math Week 6'!A33:F33</a:t>
            </a:r>
          </a:p>
          <a:p/>
          <a:p>
            <a:r>
              <a:t>1:25 PM–1:45 PM | 5 Practise | 20 min</a:t>
            </a:r>
          </a:p>
          <a:p>
            <a:r>
              <a:t>Instructor: Complete Exercise Book 10A Q5–6 and 10B Q1,4. On Shape Canvas, compare the two shapes’ areas. Keep the sheet count’s no-waste assumption explicit.</a:t>
            </a:r>
          </a:p>
          <a:p>
            <a:r>
              <a:t>Learners: Solve on paper first; check with tools; correct one error and explain the change.</a:t>
            </a:r>
          </a:p>
          <a:p>
            <a:r>
              <a:t>Materials/check: Paper first; tool second</a:t>
            </a:r>
          </a:p>
          <a:p>
            <a:r>
              <a:t>Source: 'Math Week 6'!A34:F34</a:t>
            </a:r>
          </a:p>
          <a:p/>
          <a:p>
            <a:r>
              <a:t>1:45 PM–1:55 PM | 6 Check | 10 min</a:t>
            </a:r>
          </a:p>
          <a:p>
            <a:r>
              <a:t>Instructor: Exercise Book 10B Q1; show floor area, one-sheet area and sheet quantity.</a:t>
            </a:r>
          </a:p>
          <a:p>
            <a:r>
              <a:t>Learners: Solve without displayed answers; include working, units and final rounding.</a:t>
            </a:r>
          </a:p>
          <a:p>
            <a:r>
              <a:t>Materials/check: Teacher answers below</a:t>
            </a:r>
          </a:p>
          <a:p>
            <a:r>
              <a:t>Source: 'Math Week 6'!A35:F35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6'!A36:F36</a:t>
            </a:r>
          </a:p>
          <a:p/>
          <a:p>
            <a:r>
              <a:t>INSTRUCTOR ONLY: REVEAL ASSESSMENT ANSWERS AFTER THE ATTEMPT</a:t>
            </a:r>
          </a:p>
          <a:p>
            <a:r>
              <a:t>10B Q1 = 25.92 m² and 9 sheets, assuming no waste as stated. Answer Key p.28. Answer Key pp.27–28</a:t>
            </a:r>
          </a:p>
          <a:p/>
          <a:p>
            <a:r>
              <a:t>Extend to composite surfaces and openings without double-counting.</a:t>
            </a:r>
          </a:p>
          <a:p/>
          <a:p>
            <a:r>
              <a:t>Sources: 'Math Week 6'!A10:E10; 'Carpentry Schedule'!B60; 'Math Week 6'!A24</a:t>
            </a:r>
          </a:p>
          <a:p>
            <a:r>
              <a:t>Navigation/resource slides support these scheduled steps and do not add instructional time.</a:t>
            </a:r>
          </a:p>
          <a:p>
            <a:r>
              <a:t>SLIDE PLACEMENT: Together, 1:10 PM–1:25 PM. All slides with this phase share these 15 minutes; do not restart the time allocation for each slide.</a:t>
            </a:r>
          </a:p>
          <a:p/>
          <a:p>
            <a:r>
              <a:t>ACCESS EXERCISE BOOK: 10A-Q2</a:t>
            </a:r>
          </a:p>
          <a:p>
            <a:r>
              <a:t>Exact question: Write 1,500,000 mm² in m².</a:t>
            </a:r>
          </a:p>
          <a:p>
            <a:r>
              <a:t>Instructor answer: 1.5 m²</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W06-L01 | 2026-11-30 | 12:45 PM–2:00 PM | 75 minutes</a:t>
            </a:r>
          </a:p>
          <a:p>
            <a:r>
              <a:t>Area and material coverage</a:t>
            </a:r>
          </a:p>
          <a:p>
            <a:r>
              <a:t>Mode: Math</a:t>
            </a:r>
          </a:p>
          <a:p>
            <a:r>
              <a:t>Goal: Calculate rectangle and triangle areas and distinguish linear units from square units.</a:t>
            </a:r>
          </a:p>
          <a:p>
            <a:r>
              <a:t>Read: Textbook sections 10.1–10.3 pp.154–157; sections 7.4 pp.113–115</a:t>
            </a:r>
          </a:p>
          <a:p>
            <a:r>
              <a:t>Practise: Exercise Book 10A Q1–8 (p.63); 10B Q1,4 (p.65)</a:t>
            </a:r>
          </a:p>
          <a:p>
            <a:r>
              <a:t>Tool: Shape Canvas: rectangle and right triangle with the same base and height. Numeracy Hub: Volume and Layout, then Module 2 Area and perimeter.</a:t>
            </a:r>
          </a:p>
          <a:p/>
          <a:p>
            <a:r>
              <a:t>EXACT SCHEDULED STEPS</a:t>
            </a:r>
          </a:p>
          <a:p>
            <a:r>
              <a:t>12:45 PM–12:50 PM | 1 Start | 5 min</a:t>
            </a:r>
          </a:p>
          <a:p>
            <a:r>
              <a:t>Instructor: Connect area and material coverage to a dimensioned carpentry drawing. State the objective.</a:t>
            </a:r>
          </a:p>
          <a:p>
            <a:r>
              <a:t>Learners: Describe a prior use of the skill; identify the given and unknown quantities.</a:t>
            </a:r>
          </a:p>
          <a:p>
            <a:r>
              <a:t>Materials/check: Notebook; calculator</a:t>
            </a:r>
          </a:p>
          <a:p>
            <a:r>
              <a:t>Source: 'Math Week 6'!A30:F30</a:t>
            </a:r>
          </a:p>
          <a:p/>
          <a:p>
            <a:r>
              <a:t>12:50 PM–12:55 PM | 2 Recall | 5 min</a:t>
            </a:r>
          </a:p>
          <a:p>
            <a:r>
              <a:t>Instructor: Ask why 1 m² is not 1,000 mm²; retrieve a rectangle perimeter and name its different unit.</a:t>
            </a:r>
          </a:p>
          <a:p>
            <a:r>
              <a:t>Learners: Attempt the retrieval task independently; explain the method before checking.</a:t>
            </a:r>
          </a:p>
          <a:p>
            <a:r>
              <a:t>Materials/check: Identify support needs</a:t>
            </a:r>
          </a:p>
          <a:p>
            <a:r>
              <a:t>Source: 'Math Week 6'!A31:F31</a:t>
            </a:r>
          </a:p>
          <a:p/>
          <a:p>
            <a:r>
              <a:t>12:55 PM–1:10 PM | 3 Teach | 15 min</a:t>
            </a:r>
          </a:p>
          <a:p>
            <a:r>
              <a:t>Instructor: Model area as a count of squares, then the triangle as half a rectangle. Show squared conversion factors.</a:t>
            </a:r>
          </a:p>
          <a:p>
            <a:r>
              <a:t>Learners: Annotate the example and predict the next step; ask about unclear units or symbols.</a:t>
            </a:r>
          </a:p>
          <a:p>
            <a:r>
              <a:t>Materials/check: Textbook; worked example</a:t>
            </a:r>
          </a:p>
          <a:p>
            <a:r>
              <a:t>Source: 'Math Week 6'!A32:F32</a:t>
            </a:r>
          </a:p>
          <a:p/>
          <a:p>
            <a:r>
              <a:t>1:10 PM–1:25 PM | 4 Together | 15 min</a:t>
            </a:r>
          </a:p>
          <a:p>
            <a:r>
              <a:t>Instructor: Work Exercise Book 10A Q2–4,7–8; learners label perpendicular height, not the sloping side.</a:t>
            </a:r>
          </a:p>
          <a:p>
            <a:r>
              <a:t>Learners: Work in pairs, alternating solver and checker. Write a diagram, formula, units and estimate.</a:t>
            </a:r>
          </a:p>
          <a:p>
            <a:r>
              <a:t>Materials/check: Exercise Book; tool above</a:t>
            </a:r>
          </a:p>
          <a:p>
            <a:r>
              <a:t>Source: 'Math Week 6'!A33:F33</a:t>
            </a:r>
          </a:p>
          <a:p/>
          <a:p>
            <a:r>
              <a:t>1:25 PM–1:45 PM | 5 Practise | 20 min</a:t>
            </a:r>
          </a:p>
          <a:p>
            <a:r>
              <a:t>Instructor: Complete Exercise Book 10A Q5–6 and 10B Q1,4. On Shape Canvas, compare the two shapes’ areas. Keep the sheet count’s no-waste assumption explicit.</a:t>
            </a:r>
          </a:p>
          <a:p>
            <a:r>
              <a:t>Learners: Solve on paper first; check with tools; correct one error and explain the change.</a:t>
            </a:r>
          </a:p>
          <a:p>
            <a:r>
              <a:t>Materials/check: Paper first; tool second</a:t>
            </a:r>
          </a:p>
          <a:p>
            <a:r>
              <a:t>Source: 'Math Week 6'!A34:F34</a:t>
            </a:r>
          </a:p>
          <a:p/>
          <a:p>
            <a:r>
              <a:t>1:45 PM–1:55 PM | 6 Check | 10 min</a:t>
            </a:r>
          </a:p>
          <a:p>
            <a:r>
              <a:t>Instructor: Exercise Book 10B Q1; show floor area, one-sheet area and sheet quantity.</a:t>
            </a:r>
          </a:p>
          <a:p>
            <a:r>
              <a:t>Learners: Solve without displayed answers; include working, units and final rounding.</a:t>
            </a:r>
          </a:p>
          <a:p>
            <a:r>
              <a:t>Materials/check: Teacher answers below</a:t>
            </a:r>
          </a:p>
          <a:p>
            <a:r>
              <a:t>Source: 'Math Week 6'!A35:F35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6'!A36:F36</a:t>
            </a:r>
          </a:p>
          <a:p/>
          <a:p>
            <a:r>
              <a:t>INSTRUCTOR ONLY: REVEAL ASSESSMENT ANSWERS AFTER THE ATTEMPT</a:t>
            </a:r>
          </a:p>
          <a:p>
            <a:r>
              <a:t>10B Q1 = 25.92 m² and 9 sheets, assuming no waste as stated. Answer Key p.28. Answer Key pp.27–28</a:t>
            </a:r>
          </a:p>
          <a:p/>
          <a:p>
            <a:r>
              <a:t>Extend to composite surfaces and openings without double-counting.</a:t>
            </a:r>
          </a:p>
          <a:p/>
          <a:p>
            <a:r>
              <a:t>Sources: 'Math Week 6'!A10:E10; 'Carpentry Schedule'!B60; 'Math Week 6'!A24</a:t>
            </a:r>
          </a:p>
          <a:p>
            <a:r>
              <a:t>Navigation/resource slides support these scheduled steps and do not add instructional time.</a:t>
            </a:r>
          </a:p>
          <a:p>
            <a:r>
              <a:t>SLIDE PLACEMENT: Practise, 1:25 PM–1:45 PM.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W06-L01 | 2026-11-30 | 12:45 PM–2:00 PM | 75 minutes</a:t>
            </a:r>
          </a:p>
          <a:p>
            <a:r>
              <a:t>Area and material coverage</a:t>
            </a:r>
          </a:p>
          <a:p>
            <a:r>
              <a:t>Mode: Math</a:t>
            </a:r>
          </a:p>
          <a:p>
            <a:r>
              <a:t>Goal: Calculate rectangle and triangle areas and distinguish linear units from square units.</a:t>
            </a:r>
          </a:p>
          <a:p>
            <a:r>
              <a:t>Read: Textbook sections 10.1–10.3 pp.154–157; sections 7.4 pp.113–115</a:t>
            </a:r>
          </a:p>
          <a:p>
            <a:r>
              <a:t>Practise: Exercise Book 10A Q1–8 (p.63); 10B Q1,4 (p.65)</a:t>
            </a:r>
          </a:p>
          <a:p>
            <a:r>
              <a:t>Tool: Shape Canvas: rectangle and right triangle with the same base and height. Numeracy Hub: Volume and Layout, then Module 2 Area and perimeter.</a:t>
            </a:r>
          </a:p>
          <a:p/>
          <a:p>
            <a:r>
              <a:t>EXACT SCHEDULED STEPS</a:t>
            </a:r>
          </a:p>
          <a:p>
            <a:r>
              <a:t>12:45 PM–12:50 PM | 1 Start | 5 min</a:t>
            </a:r>
          </a:p>
          <a:p>
            <a:r>
              <a:t>Instructor: Connect area and material coverage to a dimensioned carpentry drawing. State the objective.</a:t>
            </a:r>
          </a:p>
          <a:p>
            <a:r>
              <a:t>Learners: Describe a prior use of the skill; identify the given and unknown quantities.</a:t>
            </a:r>
          </a:p>
          <a:p>
            <a:r>
              <a:t>Materials/check: Notebook; calculator</a:t>
            </a:r>
          </a:p>
          <a:p>
            <a:r>
              <a:t>Source: 'Math Week 6'!A30:F30</a:t>
            </a:r>
          </a:p>
          <a:p/>
          <a:p>
            <a:r>
              <a:t>12:50 PM–12:55 PM | 2 Recall | 5 min</a:t>
            </a:r>
          </a:p>
          <a:p>
            <a:r>
              <a:t>Instructor: Ask why 1 m² is not 1,000 mm²; retrieve a rectangle perimeter and name its different unit.</a:t>
            </a:r>
          </a:p>
          <a:p>
            <a:r>
              <a:t>Learners: Attempt the retrieval task independently; explain the method before checking.</a:t>
            </a:r>
          </a:p>
          <a:p>
            <a:r>
              <a:t>Materials/check: Identify support needs</a:t>
            </a:r>
          </a:p>
          <a:p>
            <a:r>
              <a:t>Source: 'Math Week 6'!A31:F31</a:t>
            </a:r>
          </a:p>
          <a:p/>
          <a:p>
            <a:r>
              <a:t>12:55 PM–1:10 PM | 3 Teach | 15 min</a:t>
            </a:r>
          </a:p>
          <a:p>
            <a:r>
              <a:t>Instructor: Model area as a count of squares, then the triangle as half a rectangle. Show squared conversion factors.</a:t>
            </a:r>
          </a:p>
          <a:p>
            <a:r>
              <a:t>Learners: Annotate the example and predict the next step; ask about unclear units or symbols.</a:t>
            </a:r>
          </a:p>
          <a:p>
            <a:r>
              <a:t>Materials/check: Textbook; worked example</a:t>
            </a:r>
          </a:p>
          <a:p>
            <a:r>
              <a:t>Source: 'Math Week 6'!A32:F32</a:t>
            </a:r>
          </a:p>
          <a:p/>
          <a:p>
            <a:r>
              <a:t>1:10 PM–1:25 PM | 4 Together | 15 min</a:t>
            </a:r>
          </a:p>
          <a:p>
            <a:r>
              <a:t>Instructor: Work Exercise Book 10A Q2–4,7–8; learners label perpendicular height, not the sloping side.</a:t>
            </a:r>
          </a:p>
          <a:p>
            <a:r>
              <a:t>Learners: Work in pairs, alternating solver and checker. Write a diagram, formula, units and estimate.</a:t>
            </a:r>
          </a:p>
          <a:p>
            <a:r>
              <a:t>Materials/check: Exercise Book; tool above</a:t>
            </a:r>
          </a:p>
          <a:p>
            <a:r>
              <a:t>Source: 'Math Week 6'!A33:F33</a:t>
            </a:r>
          </a:p>
          <a:p/>
          <a:p>
            <a:r>
              <a:t>1:25 PM–1:45 PM | 5 Practise | 20 min</a:t>
            </a:r>
          </a:p>
          <a:p>
            <a:r>
              <a:t>Instructor: Complete Exercise Book 10A Q5–6 and 10B Q1,4. On Shape Canvas, compare the two shapes’ areas. Keep the sheet count’s no-waste assumption explicit.</a:t>
            </a:r>
          </a:p>
          <a:p>
            <a:r>
              <a:t>Learners: Solve on paper first; check with tools; correct one error and explain the change.</a:t>
            </a:r>
          </a:p>
          <a:p>
            <a:r>
              <a:t>Materials/check: Paper first; tool second</a:t>
            </a:r>
          </a:p>
          <a:p>
            <a:r>
              <a:t>Source: 'Math Week 6'!A34:F34</a:t>
            </a:r>
          </a:p>
          <a:p/>
          <a:p>
            <a:r>
              <a:t>1:45 PM–1:55 PM | 6 Check | 10 min</a:t>
            </a:r>
          </a:p>
          <a:p>
            <a:r>
              <a:t>Instructor: Exercise Book 10B Q1; show floor area, one-sheet area and sheet quantity.</a:t>
            </a:r>
          </a:p>
          <a:p>
            <a:r>
              <a:t>Learners: Solve without displayed answers; include working, units and final rounding.</a:t>
            </a:r>
          </a:p>
          <a:p>
            <a:r>
              <a:t>Materials/check: Teacher answers below</a:t>
            </a:r>
          </a:p>
          <a:p>
            <a:r>
              <a:t>Source: 'Math Week 6'!A35:F35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6'!A36:F36</a:t>
            </a:r>
          </a:p>
          <a:p/>
          <a:p>
            <a:r>
              <a:t>INSTRUCTOR ONLY: REVEAL ASSESSMENT ANSWERS AFTER THE ATTEMPT</a:t>
            </a:r>
          </a:p>
          <a:p>
            <a:r>
              <a:t>10B Q1 = 25.92 m² and 9 sheets, assuming no waste as stated. Answer Key p.28. Answer Key pp.27–28</a:t>
            </a:r>
          </a:p>
          <a:p/>
          <a:p>
            <a:r>
              <a:t>Extend to composite surfaces and openings without double-counting.</a:t>
            </a:r>
          </a:p>
          <a:p/>
          <a:p>
            <a:r>
              <a:t>Sources: 'Math Week 6'!A10:E10; 'Carpentry Schedule'!B60; 'Math Week 6'!A24</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W06-L01 | 2026-11-30 | 12:45 PM–2:00 PM | 75 minutes</a:t>
            </a:r>
          </a:p>
          <a:p>
            <a:r>
              <a:t>Area and material coverage</a:t>
            </a:r>
          </a:p>
          <a:p>
            <a:r>
              <a:t>Mode: Math</a:t>
            </a:r>
          </a:p>
          <a:p>
            <a:r>
              <a:t>Goal: Calculate rectangle and triangle areas and distinguish linear units from square units.</a:t>
            </a:r>
          </a:p>
          <a:p>
            <a:r>
              <a:t>Read: Textbook sections 10.1–10.3 pp.154–157; sections 7.4 pp.113–115</a:t>
            </a:r>
          </a:p>
          <a:p>
            <a:r>
              <a:t>Practise: Exercise Book 10A Q1–8 (p.63); 10B Q1,4 (p.65)</a:t>
            </a:r>
          </a:p>
          <a:p>
            <a:r>
              <a:t>Tool: Shape Canvas: rectangle and right triangle with the same base and height. Numeracy Hub: Volume and Layout, then Module 2 Area and perimeter.</a:t>
            </a:r>
          </a:p>
          <a:p/>
          <a:p>
            <a:r>
              <a:t>EXACT SCHEDULED STEPS</a:t>
            </a:r>
          </a:p>
          <a:p>
            <a:r>
              <a:t>12:45 PM–12:50 PM | 1 Start | 5 min</a:t>
            </a:r>
          </a:p>
          <a:p>
            <a:r>
              <a:t>Instructor: Connect area and material coverage to a dimensioned carpentry drawing. State the objective.</a:t>
            </a:r>
          </a:p>
          <a:p>
            <a:r>
              <a:t>Learners: Describe a prior use of the skill; identify the given and unknown quantities.</a:t>
            </a:r>
          </a:p>
          <a:p>
            <a:r>
              <a:t>Materials/check: Notebook; calculator</a:t>
            </a:r>
          </a:p>
          <a:p>
            <a:r>
              <a:t>Source: 'Math Week 6'!A30:F30</a:t>
            </a:r>
          </a:p>
          <a:p/>
          <a:p>
            <a:r>
              <a:t>12:50 PM–12:55 PM | 2 Recall | 5 min</a:t>
            </a:r>
          </a:p>
          <a:p>
            <a:r>
              <a:t>Instructor: Ask why 1 m² is not 1,000 mm²; retrieve a rectangle perimeter and name its different unit.</a:t>
            </a:r>
          </a:p>
          <a:p>
            <a:r>
              <a:t>Learners: Attempt the retrieval task independently; explain the method before checking.</a:t>
            </a:r>
          </a:p>
          <a:p>
            <a:r>
              <a:t>Materials/check: Identify support needs</a:t>
            </a:r>
          </a:p>
          <a:p>
            <a:r>
              <a:t>Source: 'Math Week 6'!A31:F31</a:t>
            </a:r>
          </a:p>
          <a:p/>
          <a:p>
            <a:r>
              <a:t>12:55 PM–1:10 PM | 3 Teach | 15 min</a:t>
            </a:r>
          </a:p>
          <a:p>
            <a:r>
              <a:t>Instructor: Model area as a count of squares, then the triangle as half a rectangle. Show squared conversion factors.</a:t>
            </a:r>
          </a:p>
          <a:p>
            <a:r>
              <a:t>Learners: Annotate the example and predict the next step; ask about unclear units or symbols.</a:t>
            </a:r>
          </a:p>
          <a:p>
            <a:r>
              <a:t>Materials/check: Textbook; worked example</a:t>
            </a:r>
          </a:p>
          <a:p>
            <a:r>
              <a:t>Source: 'Math Week 6'!A32:F32</a:t>
            </a:r>
          </a:p>
          <a:p/>
          <a:p>
            <a:r>
              <a:t>1:10 PM–1:25 PM | 4 Together | 15 min</a:t>
            </a:r>
          </a:p>
          <a:p>
            <a:r>
              <a:t>Instructor: Work Exercise Book 10A Q2–4,7–8; learners label perpendicular height, not the sloping side.</a:t>
            </a:r>
          </a:p>
          <a:p>
            <a:r>
              <a:t>Learners: Work in pairs, alternating solver and checker. Write a diagram, formula, units and estimate.</a:t>
            </a:r>
          </a:p>
          <a:p>
            <a:r>
              <a:t>Materials/check: Exercise Book; tool above</a:t>
            </a:r>
          </a:p>
          <a:p>
            <a:r>
              <a:t>Source: 'Math Week 6'!A33:F33</a:t>
            </a:r>
          </a:p>
          <a:p/>
          <a:p>
            <a:r>
              <a:t>1:25 PM–1:45 PM | 5 Practise | 20 min</a:t>
            </a:r>
          </a:p>
          <a:p>
            <a:r>
              <a:t>Instructor: Complete Exercise Book 10A Q5–6 and 10B Q1,4. On Shape Canvas, compare the two shapes’ areas. Keep the sheet count’s no-waste assumption explicit.</a:t>
            </a:r>
          </a:p>
          <a:p>
            <a:r>
              <a:t>Learners: Solve on paper first; check with tools; correct one error and explain the change.</a:t>
            </a:r>
          </a:p>
          <a:p>
            <a:r>
              <a:t>Materials/check: Paper first; tool second</a:t>
            </a:r>
          </a:p>
          <a:p>
            <a:r>
              <a:t>Source: 'Math Week 6'!A34:F34</a:t>
            </a:r>
          </a:p>
          <a:p/>
          <a:p>
            <a:r>
              <a:t>1:45 PM–1:55 PM | 6 Check | 10 min</a:t>
            </a:r>
          </a:p>
          <a:p>
            <a:r>
              <a:t>Instructor: Exercise Book 10B Q1; show floor area, one-sheet area and sheet quantity.</a:t>
            </a:r>
          </a:p>
          <a:p>
            <a:r>
              <a:t>Learners: Solve without displayed answers; include working, units and final rounding.</a:t>
            </a:r>
          </a:p>
          <a:p>
            <a:r>
              <a:t>Materials/check: Teacher answers below</a:t>
            </a:r>
          </a:p>
          <a:p>
            <a:r>
              <a:t>Source: 'Math Week 6'!A35:F35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6'!A36:F36</a:t>
            </a:r>
          </a:p>
          <a:p/>
          <a:p>
            <a:r>
              <a:t>INSTRUCTOR ONLY: REVEAL ASSESSMENT ANSWERS AFTER THE ATTEMPT</a:t>
            </a:r>
          </a:p>
          <a:p>
            <a:r>
              <a:t>10B Q1 = 25.92 m² and 9 sheets, assuming no waste as stated. Answer Key p.28. Answer Key pp.27–28</a:t>
            </a:r>
          </a:p>
          <a:p/>
          <a:p>
            <a:r>
              <a:t>Extend to composite surfaces and openings without double-counting.</a:t>
            </a:r>
          </a:p>
          <a:p/>
          <a:p>
            <a:r>
              <a:t>Sources: 'Math Week 6'!A10:E10; 'Carpentry Schedule'!B60; 'Math Week 6'!A24</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Exact scheduled tool activity: Shape Canvas: rectangle and right triangle with the same base and height. Numeracy Hub: Volume and Layout, then Module 2 Area and perimeter.</a:t>
            </a:r>
          </a:p>
          <a:p>
            <a:r>
              <a:t>Create a rectangle and right triangle with equal base and height in Shape Canvas.</a:t>
            </a:r>
          </a:p>
          <a:p>
            <a:r>
              <a:t>Calculate both areas on paper; explain why the triangle covers half as much.</a:t>
            </a:r>
          </a:p>
          <a:p>
            <a:r>
              <a:t>Check the area method in Numeracy Hub Volume and Layout → Area and perimeter.</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W06-L01 | 2026-11-30 | 12:45 PM–2:00 PM | 75 minutes</a:t>
            </a:r>
          </a:p>
          <a:p>
            <a:r>
              <a:t>Area and material coverage</a:t>
            </a:r>
          </a:p>
          <a:p>
            <a:r>
              <a:t>Mode: Math</a:t>
            </a:r>
          </a:p>
          <a:p>
            <a:r>
              <a:t>Goal: Calculate rectangle and triangle areas and distinguish linear units from square units.</a:t>
            </a:r>
          </a:p>
          <a:p>
            <a:r>
              <a:t>Read: Textbook sections 10.1–10.3 pp.154–157; sections 7.4 pp.113–115</a:t>
            </a:r>
          </a:p>
          <a:p>
            <a:r>
              <a:t>Practise: Exercise Book 10A Q1–8 (p.63); 10B Q1,4 (p.65)</a:t>
            </a:r>
          </a:p>
          <a:p>
            <a:r>
              <a:t>Tool: Shape Canvas: rectangle and right triangle with the same base and height. Numeracy Hub: Volume and Layout, then Module 2 Area and perimeter.</a:t>
            </a:r>
          </a:p>
          <a:p/>
          <a:p>
            <a:r>
              <a:t>EXACT SCHEDULED STEPS</a:t>
            </a:r>
          </a:p>
          <a:p>
            <a:r>
              <a:t>12:45 PM–12:50 PM | 1 Start | 5 min</a:t>
            </a:r>
          </a:p>
          <a:p>
            <a:r>
              <a:t>Instructor: Connect area and material coverage to a dimensioned carpentry drawing. State the objective.</a:t>
            </a:r>
          </a:p>
          <a:p>
            <a:r>
              <a:t>Learners: Describe a prior use of the skill; identify the given and unknown quantities.</a:t>
            </a:r>
          </a:p>
          <a:p>
            <a:r>
              <a:t>Materials/check: Notebook; calculator</a:t>
            </a:r>
          </a:p>
          <a:p>
            <a:r>
              <a:t>Source: 'Math Week 6'!A30:F30</a:t>
            </a:r>
          </a:p>
          <a:p/>
          <a:p>
            <a:r>
              <a:t>12:50 PM–12:55 PM | 2 Recall | 5 min</a:t>
            </a:r>
          </a:p>
          <a:p>
            <a:r>
              <a:t>Instructor: Ask why 1 m² is not 1,000 mm²; retrieve a rectangle perimeter and name its different unit.</a:t>
            </a:r>
          </a:p>
          <a:p>
            <a:r>
              <a:t>Learners: Attempt the retrieval task independently; explain the method before checking.</a:t>
            </a:r>
          </a:p>
          <a:p>
            <a:r>
              <a:t>Materials/check: Identify support needs</a:t>
            </a:r>
          </a:p>
          <a:p>
            <a:r>
              <a:t>Source: 'Math Week 6'!A31:F31</a:t>
            </a:r>
          </a:p>
          <a:p/>
          <a:p>
            <a:r>
              <a:t>12:55 PM–1:10 PM | 3 Teach | 15 min</a:t>
            </a:r>
          </a:p>
          <a:p>
            <a:r>
              <a:t>Instructor: Model area as a count of squares, then the triangle as half a rectangle. Show squared conversion factors.</a:t>
            </a:r>
          </a:p>
          <a:p>
            <a:r>
              <a:t>Learners: Annotate the example and predict the next step; ask about unclear units or symbols.</a:t>
            </a:r>
          </a:p>
          <a:p>
            <a:r>
              <a:t>Materials/check: Textbook; worked example</a:t>
            </a:r>
          </a:p>
          <a:p>
            <a:r>
              <a:t>Source: 'Math Week 6'!A32:F32</a:t>
            </a:r>
          </a:p>
          <a:p/>
          <a:p>
            <a:r>
              <a:t>1:10 PM–1:25 PM | 4 Together | 15 min</a:t>
            </a:r>
          </a:p>
          <a:p>
            <a:r>
              <a:t>Instructor: Work Exercise Book 10A Q2–4,7–8; learners label perpendicular height, not the sloping side.</a:t>
            </a:r>
          </a:p>
          <a:p>
            <a:r>
              <a:t>Learners: Work in pairs, alternating solver and checker. Write a diagram, formula, units and estimate.</a:t>
            </a:r>
          </a:p>
          <a:p>
            <a:r>
              <a:t>Materials/check: Exercise Book; tool above</a:t>
            </a:r>
          </a:p>
          <a:p>
            <a:r>
              <a:t>Source: 'Math Week 6'!A33:F33</a:t>
            </a:r>
          </a:p>
          <a:p/>
          <a:p>
            <a:r>
              <a:t>1:25 PM–1:45 PM | 5 Practise | 20 min</a:t>
            </a:r>
          </a:p>
          <a:p>
            <a:r>
              <a:t>Instructor: Complete Exercise Book 10A Q5–6 and 10B Q1,4. On Shape Canvas, compare the two shapes’ areas. Keep the sheet count’s no-waste assumption explicit.</a:t>
            </a:r>
          </a:p>
          <a:p>
            <a:r>
              <a:t>Learners: Solve on paper first; check with tools; correct one error and explain the change.</a:t>
            </a:r>
          </a:p>
          <a:p>
            <a:r>
              <a:t>Materials/check: Paper first; tool second</a:t>
            </a:r>
          </a:p>
          <a:p>
            <a:r>
              <a:t>Source: 'Math Week 6'!A34:F34</a:t>
            </a:r>
          </a:p>
          <a:p/>
          <a:p>
            <a:r>
              <a:t>1:45 PM–1:55 PM | 6 Check | 10 min</a:t>
            </a:r>
          </a:p>
          <a:p>
            <a:r>
              <a:t>Instructor: Exercise Book 10B Q1; show floor area, one-sheet area and sheet quantity.</a:t>
            </a:r>
          </a:p>
          <a:p>
            <a:r>
              <a:t>Learners: Solve without displayed answers; include working, units and final rounding.</a:t>
            </a:r>
          </a:p>
          <a:p>
            <a:r>
              <a:t>Materials/check: Teacher answers below</a:t>
            </a:r>
          </a:p>
          <a:p>
            <a:r>
              <a:t>Source: 'Math Week 6'!A35:F35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6'!A36:F36</a:t>
            </a:r>
          </a:p>
          <a:p/>
          <a:p>
            <a:r>
              <a:t>INSTRUCTOR ONLY: REVEAL ASSESSMENT ANSWERS AFTER THE ATTEMPT</a:t>
            </a:r>
          </a:p>
          <a:p>
            <a:r>
              <a:t>10B Q1 = 25.92 m² and 9 sheets, assuming no waste as stated. Answer Key p.28. Answer Key pp.27–28</a:t>
            </a:r>
          </a:p>
          <a:p/>
          <a:p>
            <a:r>
              <a:t>Extend to composite surfaces and openings without double-counting.</a:t>
            </a:r>
          </a:p>
          <a:p/>
          <a:p>
            <a:r>
              <a:t>Sources: 'Math Week 6'!A10:E10; 'Carpentry Schedule'!B60; 'Math Week 6'!A24</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ACCESS EXERCISE BOOK: 10A-Q5</a:t>
            </a:r>
          </a:p>
          <a:p>
            <a:r>
              <a:t>Exact question: Find the area of a rectangle 840 mm by 350 mm.</a:t>
            </a:r>
          </a:p>
          <a:p>
            <a:r>
              <a:t>Instructor answer: 294,000 mm²</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W06-L01 | 2026-11-30 | 12:45 PM–2:00 PM | 75 minutes</a:t>
            </a:r>
          </a:p>
          <a:p>
            <a:r>
              <a:t>Area and material coverage</a:t>
            </a:r>
          </a:p>
          <a:p>
            <a:r>
              <a:t>Mode: Math</a:t>
            </a:r>
          </a:p>
          <a:p>
            <a:r>
              <a:t>Goal: Calculate rectangle and triangle areas and distinguish linear units from square units.</a:t>
            </a:r>
          </a:p>
          <a:p>
            <a:r>
              <a:t>Read: Textbook sections 10.1–10.3 pp.154–157; sections 7.4 pp.113–115</a:t>
            </a:r>
          </a:p>
          <a:p>
            <a:r>
              <a:t>Practise: Exercise Book 10A Q1–8 (p.63); 10B Q1,4 (p.65)</a:t>
            </a:r>
          </a:p>
          <a:p>
            <a:r>
              <a:t>Tool: Shape Canvas: rectangle and right triangle with the same base and height. Numeracy Hub: Volume and Layout, then Module 2 Area and perimeter.</a:t>
            </a:r>
          </a:p>
          <a:p/>
          <a:p>
            <a:r>
              <a:t>EXACT SCHEDULED STEPS</a:t>
            </a:r>
          </a:p>
          <a:p>
            <a:r>
              <a:t>12:45 PM–12:50 PM | 1 Start | 5 min</a:t>
            </a:r>
          </a:p>
          <a:p>
            <a:r>
              <a:t>Instructor: Connect area and material coverage to a dimensioned carpentry drawing. State the objective.</a:t>
            </a:r>
          </a:p>
          <a:p>
            <a:r>
              <a:t>Learners: Describe a prior use of the skill; identify the given and unknown quantities.</a:t>
            </a:r>
          </a:p>
          <a:p>
            <a:r>
              <a:t>Materials/check: Notebook; calculator</a:t>
            </a:r>
          </a:p>
          <a:p>
            <a:r>
              <a:t>Source: 'Math Week 6'!A30:F30</a:t>
            </a:r>
          </a:p>
          <a:p/>
          <a:p>
            <a:r>
              <a:t>12:50 PM–12:55 PM | 2 Recall | 5 min</a:t>
            </a:r>
          </a:p>
          <a:p>
            <a:r>
              <a:t>Instructor: Ask why 1 m² is not 1,000 mm²; retrieve a rectangle perimeter and name its different unit.</a:t>
            </a:r>
          </a:p>
          <a:p>
            <a:r>
              <a:t>Learners: Attempt the retrieval task independently; explain the method before checking.</a:t>
            </a:r>
          </a:p>
          <a:p>
            <a:r>
              <a:t>Materials/check: Identify support needs</a:t>
            </a:r>
          </a:p>
          <a:p>
            <a:r>
              <a:t>Source: 'Math Week 6'!A31:F31</a:t>
            </a:r>
          </a:p>
          <a:p/>
          <a:p>
            <a:r>
              <a:t>12:55 PM–1:10 PM | 3 Teach | 15 min</a:t>
            </a:r>
          </a:p>
          <a:p>
            <a:r>
              <a:t>Instructor: Model area as a count of squares, then the triangle as half a rectangle. Show squared conversion factors.</a:t>
            </a:r>
          </a:p>
          <a:p>
            <a:r>
              <a:t>Learners: Annotate the example and predict the next step; ask about unclear units or symbols.</a:t>
            </a:r>
          </a:p>
          <a:p>
            <a:r>
              <a:t>Materials/check: Textbook; worked example</a:t>
            </a:r>
          </a:p>
          <a:p>
            <a:r>
              <a:t>Source: 'Math Week 6'!A32:F32</a:t>
            </a:r>
          </a:p>
          <a:p/>
          <a:p>
            <a:r>
              <a:t>1:10 PM–1:25 PM | 4 Together | 15 min</a:t>
            </a:r>
          </a:p>
          <a:p>
            <a:r>
              <a:t>Instructor: Work Exercise Book 10A Q2–4,7–8; learners label perpendicular height, not the sloping side.</a:t>
            </a:r>
          </a:p>
          <a:p>
            <a:r>
              <a:t>Learners: Work in pairs, alternating solver and checker. Write a diagram, formula, units and estimate.</a:t>
            </a:r>
          </a:p>
          <a:p>
            <a:r>
              <a:t>Materials/check: Exercise Book; tool above</a:t>
            </a:r>
          </a:p>
          <a:p>
            <a:r>
              <a:t>Source: 'Math Week 6'!A33:F33</a:t>
            </a:r>
          </a:p>
          <a:p/>
          <a:p>
            <a:r>
              <a:t>1:25 PM–1:45 PM | 5 Practise | 20 min</a:t>
            </a:r>
          </a:p>
          <a:p>
            <a:r>
              <a:t>Instructor: Complete Exercise Book 10A Q5–6 and 10B Q1,4. On Shape Canvas, compare the two shapes’ areas. Keep the sheet count’s no-waste assumption explicit.</a:t>
            </a:r>
          </a:p>
          <a:p>
            <a:r>
              <a:t>Learners: Solve on paper first; check with tools; correct one error and explain the change.</a:t>
            </a:r>
          </a:p>
          <a:p>
            <a:r>
              <a:t>Materials/check: Paper first; tool second</a:t>
            </a:r>
          </a:p>
          <a:p>
            <a:r>
              <a:t>Source: 'Math Week 6'!A34:F34</a:t>
            </a:r>
          </a:p>
          <a:p/>
          <a:p>
            <a:r>
              <a:t>1:45 PM–1:55 PM | 6 Check | 10 min</a:t>
            </a:r>
          </a:p>
          <a:p>
            <a:r>
              <a:t>Instructor: Exercise Book 10B Q1; show floor area, one-sheet area and sheet quantity.</a:t>
            </a:r>
          </a:p>
          <a:p>
            <a:r>
              <a:t>Learners: Solve without displayed answers; include working, units and final rounding.</a:t>
            </a:r>
          </a:p>
          <a:p>
            <a:r>
              <a:t>Materials/check: Teacher answers below</a:t>
            </a:r>
          </a:p>
          <a:p>
            <a:r>
              <a:t>Source: 'Math Week 6'!A35:F35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6'!A36:F36</a:t>
            </a:r>
          </a:p>
          <a:p/>
          <a:p>
            <a:r>
              <a:t>INSTRUCTOR ONLY: REVEAL ASSESSMENT ANSWERS AFTER THE ATTEMPT</a:t>
            </a:r>
          </a:p>
          <a:p>
            <a:r>
              <a:t>10B Q1 = 25.92 m² and 9 sheets, assuming no waste as stated. Answer Key p.28. Answer Key pp.27–28</a:t>
            </a:r>
          </a:p>
          <a:p/>
          <a:p>
            <a:r>
              <a:t>Extend to composite surfaces and openings without double-counting.</a:t>
            </a:r>
          </a:p>
          <a:p/>
          <a:p>
            <a:r>
              <a:t>Sources: 'Math Week 6'!A10:E10; 'Carpentry Schedule'!B60; 'Math Week 6'!A24</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ACCESS EXERCISE BOOK: 10A-Q6</a:t>
            </a:r>
          </a:p>
          <a:p>
            <a:r>
              <a:t>Exact question: Find the area of a square with 1.6 m sides.</a:t>
            </a:r>
          </a:p>
          <a:p>
            <a:r>
              <a:t>Instructor answer: 2.56 m²</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W06-L01 | 2026-11-30 | 12:45 PM–2:00 PM | 75 minutes</a:t>
            </a:r>
          </a:p>
          <a:p>
            <a:r>
              <a:t>Area and material coverage</a:t>
            </a:r>
          </a:p>
          <a:p>
            <a:r>
              <a:t>Mode: Math</a:t>
            </a:r>
          </a:p>
          <a:p>
            <a:r>
              <a:t>Goal: Calculate rectangle and triangle areas and distinguish linear units from square units.</a:t>
            </a:r>
          </a:p>
          <a:p>
            <a:r>
              <a:t>Read: Textbook sections 10.1–10.3 pp.154–157; sections 7.4 pp.113–115</a:t>
            </a:r>
          </a:p>
          <a:p>
            <a:r>
              <a:t>Practise: Exercise Book 10A Q1–8 (p.63); 10B Q1,4 (p.65)</a:t>
            </a:r>
          </a:p>
          <a:p>
            <a:r>
              <a:t>Tool: Shape Canvas: rectangle and right triangle with the same base and height. Numeracy Hub: Volume and Layout, then Module 2 Area and perimeter.</a:t>
            </a:r>
          </a:p>
          <a:p/>
          <a:p>
            <a:r>
              <a:t>EXACT SCHEDULED STEPS</a:t>
            </a:r>
          </a:p>
          <a:p>
            <a:r>
              <a:t>12:45 PM–12:50 PM | 1 Start | 5 min</a:t>
            </a:r>
          </a:p>
          <a:p>
            <a:r>
              <a:t>Instructor: Connect area and material coverage to a dimensioned carpentry drawing. State the objective.</a:t>
            </a:r>
          </a:p>
          <a:p>
            <a:r>
              <a:t>Learners: Describe a prior use of the skill; identify the given and unknown quantities.</a:t>
            </a:r>
          </a:p>
          <a:p>
            <a:r>
              <a:t>Materials/check: Notebook; calculator</a:t>
            </a:r>
          </a:p>
          <a:p>
            <a:r>
              <a:t>Source: 'Math Week 6'!A30:F30</a:t>
            </a:r>
          </a:p>
          <a:p/>
          <a:p>
            <a:r>
              <a:t>12:50 PM–12:55 PM | 2 Recall | 5 min</a:t>
            </a:r>
          </a:p>
          <a:p>
            <a:r>
              <a:t>Instructor: Ask why 1 m² is not 1,000 mm²; retrieve a rectangle perimeter and name its different unit.</a:t>
            </a:r>
          </a:p>
          <a:p>
            <a:r>
              <a:t>Learners: Attempt the retrieval task independently; explain the method before checking.</a:t>
            </a:r>
          </a:p>
          <a:p>
            <a:r>
              <a:t>Materials/check: Identify support needs</a:t>
            </a:r>
          </a:p>
          <a:p>
            <a:r>
              <a:t>Source: 'Math Week 6'!A31:F31</a:t>
            </a:r>
          </a:p>
          <a:p/>
          <a:p>
            <a:r>
              <a:t>12:55 PM–1:10 PM | 3 Teach | 15 min</a:t>
            </a:r>
          </a:p>
          <a:p>
            <a:r>
              <a:t>Instructor: Model area as a count of squares, then the triangle as half a rectangle. Show squared conversion factors.</a:t>
            </a:r>
          </a:p>
          <a:p>
            <a:r>
              <a:t>Learners: Annotate the example and predict the next step; ask about unclear units or symbols.</a:t>
            </a:r>
          </a:p>
          <a:p>
            <a:r>
              <a:t>Materials/check: Textbook; worked example</a:t>
            </a:r>
          </a:p>
          <a:p>
            <a:r>
              <a:t>Source: 'Math Week 6'!A32:F32</a:t>
            </a:r>
          </a:p>
          <a:p/>
          <a:p>
            <a:r>
              <a:t>1:10 PM–1:25 PM | 4 Together | 15 min</a:t>
            </a:r>
          </a:p>
          <a:p>
            <a:r>
              <a:t>Instructor: Work Exercise Book 10A Q2–4,7–8; learners label perpendicular height, not the sloping side.</a:t>
            </a:r>
          </a:p>
          <a:p>
            <a:r>
              <a:t>Learners: Work in pairs, alternating solver and checker. Write a diagram, formula, units and estimate.</a:t>
            </a:r>
          </a:p>
          <a:p>
            <a:r>
              <a:t>Materials/check: Exercise Book; tool above</a:t>
            </a:r>
          </a:p>
          <a:p>
            <a:r>
              <a:t>Source: 'Math Week 6'!A33:F33</a:t>
            </a:r>
          </a:p>
          <a:p/>
          <a:p>
            <a:r>
              <a:t>1:25 PM–1:45 PM | 5 Practise | 20 min</a:t>
            </a:r>
          </a:p>
          <a:p>
            <a:r>
              <a:t>Instructor: Complete Exercise Book 10A Q5–6 and 10B Q1,4. On Shape Canvas, compare the two shapes’ areas. Keep the sheet count’s no-waste assumption explicit.</a:t>
            </a:r>
          </a:p>
          <a:p>
            <a:r>
              <a:t>Learners: Solve on paper first; check with tools; correct one error and explain the change.</a:t>
            </a:r>
          </a:p>
          <a:p>
            <a:r>
              <a:t>Materials/check: Paper first; tool second</a:t>
            </a:r>
          </a:p>
          <a:p>
            <a:r>
              <a:t>Source: 'Math Week 6'!A34:F34</a:t>
            </a:r>
          </a:p>
          <a:p/>
          <a:p>
            <a:r>
              <a:t>1:45 PM–1:55 PM | 6 Check | 10 min</a:t>
            </a:r>
          </a:p>
          <a:p>
            <a:r>
              <a:t>Instructor: Exercise Book 10B Q1; show floor area, one-sheet area and sheet quantity.</a:t>
            </a:r>
          </a:p>
          <a:p>
            <a:r>
              <a:t>Learners: Solve without displayed answers; include working, units and final rounding.</a:t>
            </a:r>
          </a:p>
          <a:p>
            <a:r>
              <a:t>Materials/check: Teacher answers below</a:t>
            </a:r>
          </a:p>
          <a:p>
            <a:r>
              <a:t>Source: 'Math Week 6'!A35:F35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6'!A36:F36</a:t>
            </a:r>
          </a:p>
          <a:p/>
          <a:p>
            <a:r>
              <a:t>INSTRUCTOR ONLY: REVEAL ASSESSMENT ANSWERS AFTER THE ATTEMPT</a:t>
            </a:r>
          </a:p>
          <a:p>
            <a:r>
              <a:t>10B Q1 = 25.92 m² and 9 sheets, assuming no waste as stated. Answer Key p.28. Answer Key pp.27–28</a:t>
            </a:r>
          </a:p>
          <a:p/>
          <a:p>
            <a:r>
              <a:t>Extend to composite surfaces and openings without double-counting.</a:t>
            </a:r>
          </a:p>
          <a:p/>
          <a:p>
            <a:r>
              <a:t>Sources: 'Math Week 6'!A10:E10; 'Carpentry Schedule'!B60; 'Math Week 6'!A24</a:t>
            </a:r>
          </a:p>
          <a:p>
            <a:r>
              <a:t>Navigation/resource slides support these scheduled steps and do not add instructional time.</a:t>
            </a:r>
          </a:p>
          <a:p>
            <a:r>
              <a:t>SLIDE PLACEMENT: Check, 1:45 PM–1:55 PM.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W06-L01 | 2026-11-30 | 12:45 PM–2:00 PM | 75 minutes</a:t>
            </a:r>
          </a:p>
          <a:p>
            <a:r>
              <a:t>Area and material coverage</a:t>
            </a:r>
          </a:p>
          <a:p>
            <a:r>
              <a:t>Mode: Math</a:t>
            </a:r>
          </a:p>
          <a:p>
            <a:r>
              <a:t>Goal: Calculate rectangle and triangle areas and distinguish linear units from square units.</a:t>
            </a:r>
          </a:p>
          <a:p>
            <a:r>
              <a:t>Read: Textbook sections 10.1–10.3 pp.154–157; sections 7.4 pp.113–115</a:t>
            </a:r>
          </a:p>
          <a:p>
            <a:r>
              <a:t>Practise: Exercise Book 10A Q1–8 (p.63); 10B Q1,4 (p.65)</a:t>
            </a:r>
          </a:p>
          <a:p>
            <a:r>
              <a:t>Tool: Shape Canvas: rectangle and right triangle with the same base and height. Numeracy Hub: Volume and Layout, then Module 2 Area and perimeter.</a:t>
            </a:r>
          </a:p>
          <a:p/>
          <a:p>
            <a:r>
              <a:t>EXACT SCHEDULED STEPS</a:t>
            </a:r>
          </a:p>
          <a:p>
            <a:r>
              <a:t>12:45 PM–12:50 PM | 1 Start | 5 min</a:t>
            </a:r>
          </a:p>
          <a:p>
            <a:r>
              <a:t>Instructor: Connect area and material coverage to a dimensioned carpentry drawing. State the objective.</a:t>
            </a:r>
          </a:p>
          <a:p>
            <a:r>
              <a:t>Learners: Describe a prior use of the skill; identify the given and unknown quantities.</a:t>
            </a:r>
          </a:p>
          <a:p>
            <a:r>
              <a:t>Materials/check: Notebook; calculator</a:t>
            </a:r>
          </a:p>
          <a:p>
            <a:r>
              <a:t>Source: 'Math Week 6'!A30:F30</a:t>
            </a:r>
          </a:p>
          <a:p/>
          <a:p>
            <a:r>
              <a:t>12:50 PM–12:55 PM | 2 Recall | 5 min</a:t>
            </a:r>
          </a:p>
          <a:p>
            <a:r>
              <a:t>Instructor: Ask why 1 m² is not 1,000 mm²; retrieve a rectangle perimeter and name its different unit.</a:t>
            </a:r>
          </a:p>
          <a:p>
            <a:r>
              <a:t>Learners: Attempt the retrieval task independently; explain the method before checking.</a:t>
            </a:r>
          </a:p>
          <a:p>
            <a:r>
              <a:t>Materials/check: Identify support needs</a:t>
            </a:r>
          </a:p>
          <a:p>
            <a:r>
              <a:t>Source: 'Math Week 6'!A31:F31</a:t>
            </a:r>
          </a:p>
          <a:p/>
          <a:p>
            <a:r>
              <a:t>12:55 PM–1:10 PM | 3 Teach | 15 min</a:t>
            </a:r>
          </a:p>
          <a:p>
            <a:r>
              <a:t>Instructor: Model area as a count of squares, then the triangle as half a rectangle. Show squared conversion factors.</a:t>
            </a:r>
          </a:p>
          <a:p>
            <a:r>
              <a:t>Learners: Annotate the example and predict the next step; ask about unclear units or symbols.</a:t>
            </a:r>
          </a:p>
          <a:p>
            <a:r>
              <a:t>Materials/check: Textbook; worked example</a:t>
            </a:r>
          </a:p>
          <a:p>
            <a:r>
              <a:t>Source: 'Math Week 6'!A32:F32</a:t>
            </a:r>
          </a:p>
          <a:p/>
          <a:p>
            <a:r>
              <a:t>1:10 PM–1:25 PM | 4 Together | 15 min</a:t>
            </a:r>
          </a:p>
          <a:p>
            <a:r>
              <a:t>Instructor: Work Exercise Book 10A Q2–4,7–8; learners label perpendicular height, not the sloping side.</a:t>
            </a:r>
          </a:p>
          <a:p>
            <a:r>
              <a:t>Learners: Work in pairs, alternating solver and checker. Write a diagram, formula, units and estimate.</a:t>
            </a:r>
          </a:p>
          <a:p>
            <a:r>
              <a:t>Materials/check: Exercise Book; tool above</a:t>
            </a:r>
          </a:p>
          <a:p>
            <a:r>
              <a:t>Source: 'Math Week 6'!A33:F33</a:t>
            </a:r>
          </a:p>
          <a:p/>
          <a:p>
            <a:r>
              <a:t>1:25 PM–1:45 PM | 5 Practise | 20 min</a:t>
            </a:r>
          </a:p>
          <a:p>
            <a:r>
              <a:t>Instructor: Complete Exercise Book 10A Q5–6 and 10B Q1,4. On Shape Canvas, compare the two shapes’ areas. Keep the sheet count’s no-waste assumption explicit.</a:t>
            </a:r>
          </a:p>
          <a:p>
            <a:r>
              <a:t>Learners: Solve on paper first; check with tools; correct one error and explain the change.</a:t>
            </a:r>
          </a:p>
          <a:p>
            <a:r>
              <a:t>Materials/check: Paper first; tool second</a:t>
            </a:r>
          </a:p>
          <a:p>
            <a:r>
              <a:t>Source: 'Math Week 6'!A34:F34</a:t>
            </a:r>
          </a:p>
          <a:p/>
          <a:p>
            <a:r>
              <a:t>1:45 PM–1:55 PM | 6 Check | 10 min</a:t>
            </a:r>
          </a:p>
          <a:p>
            <a:r>
              <a:t>Instructor: Exercise Book 10B Q1; show floor area, one-sheet area and sheet quantity.</a:t>
            </a:r>
          </a:p>
          <a:p>
            <a:r>
              <a:t>Learners: Solve without displayed answers; include working, units and final rounding.</a:t>
            </a:r>
          </a:p>
          <a:p>
            <a:r>
              <a:t>Materials/check: Teacher answers below</a:t>
            </a:r>
          </a:p>
          <a:p>
            <a:r>
              <a:t>Source: 'Math Week 6'!A35:F35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6'!A36:F36</a:t>
            </a:r>
          </a:p>
          <a:p/>
          <a:p>
            <a:r>
              <a:t>INSTRUCTOR ONLY: REVEAL ASSESSMENT ANSWERS AFTER THE ATTEMPT</a:t>
            </a:r>
          </a:p>
          <a:p>
            <a:r>
              <a:t>10B Q1 = 25.92 m² and 9 sheets, assuming no waste as stated. Answer Key p.28. Answer Key pp.27–28</a:t>
            </a:r>
          </a:p>
          <a:p/>
          <a:p>
            <a:r>
              <a:t>Extend to composite surfaces and openings without double-counting.</a:t>
            </a:r>
          </a:p>
          <a:p/>
          <a:p>
            <a:r>
              <a:t>Sources: 'Math Week 6'!A10:E10; 'Carpentry Schedule'!B60; 'Math Week 6'!A24</a:t>
            </a:r>
          </a:p>
          <a:p>
            <a:r>
              <a:t>Navigation/resource slides support these scheduled steps and do not add instructional time.</a:t>
            </a:r>
          </a:p>
          <a:p>
            <a:r>
              <a:t>SLIDE PLACEMENT: Check, 1:45 PM–1:55 PM. All slides with this phase share these 10 minutes; do not restart the time allocation for each slide.</a:t>
            </a:r>
          </a:p>
          <a:p/>
          <a:p>
            <a:r>
              <a:t>ACCESS EXERCISE BOOK: 10B-Q1</a:t>
            </a:r>
          </a:p>
          <a:p>
            <a:r>
              <a:t>Exact question: A mezzanine floor is 7.2 m by 3.6 m. It is covered with checker plate sheets that are 1.2 m by 2.4 m, laid edge to edge with no waste. Find the floor area and the number of sheets.</a:t>
            </a:r>
          </a:p>
          <a:p>
            <a:r>
              <a:t>Instructor answer: 25.92 m², 9 sheets</a:t>
            </a:r>
          </a:p>
          <a:p>
            <a:r>
              <a:t>Working: 7.2 × 3.6 = 25.92 m², one sheet = 2.88 m², 25.92 ÷ 2.88 = 9</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W06-L01 | 2026-11-30 | 12:45 PM–2:00 PM | 75 minutes</a:t>
            </a:r>
          </a:p>
          <a:p>
            <a:r>
              <a:t>Area and material coverage</a:t>
            </a:r>
          </a:p>
          <a:p>
            <a:r>
              <a:t>Mode: Math</a:t>
            </a:r>
          </a:p>
          <a:p>
            <a:r>
              <a:t>Goal: Calculate rectangle and triangle areas and distinguish linear units from square units.</a:t>
            </a:r>
          </a:p>
          <a:p>
            <a:r>
              <a:t>Read: Textbook sections 10.1–10.3 pp.154–157; sections 7.4 pp.113–115</a:t>
            </a:r>
          </a:p>
          <a:p>
            <a:r>
              <a:t>Practise: Exercise Book 10A Q1–8 (p.63); 10B Q1,4 (p.65)</a:t>
            </a:r>
          </a:p>
          <a:p>
            <a:r>
              <a:t>Tool: Shape Canvas: rectangle and right triangle with the same base and height. Numeracy Hub: Volume and Layout, then Module 2 Area and perimeter.</a:t>
            </a:r>
          </a:p>
          <a:p/>
          <a:p>
            <a:r>
              <a:t>EXACT SCHEDULED STEPS</a:t>
            </a:r>
          </a:p>
          <a:p>
            <a:r>
              <a:t>12:45 PM–12:50 PM | 1 Start | 5 min</a:t>
            </a:r>
          </a:p>
          <a:p>
            <a:r>
              <a:t>Instructor: Connect area and material coverage to a dimensioned carpentry drawing. State the objective.</a:t>
            </a:r>
          </a:p>
          <a:p>
            <a:r>
              <a:t>Learners: Describe a prior use of the skill; identify the given and unknown quantities.</a:t>
            </a:r>
          </a:p>
          <a:p>
            <a:r>
              <a:t>Materials/check: Notebook; calculator</a:t>
            </a:r>
          </a:p>
          <a:p>
            <a:r>
              <a:t>Source: 'Math Week 6'!A30:F30</a:t>
            </a:r>
          </a:p>
          <a:p/>
          <a:p>
            <a:r>
              <a:t>12:50 PM–12:55 PM | 2 Recall | 5 min</a:t>
            </a:r>
          </a:p>
          <a:p>
            <a:r>
              <a:t>Instructor: Ask why 1 m² is not 1,000 mm²; retrieve a rectangle perimeter and name its different unit.</a:t>
            </a:r>
          </a:p>
          <a:p>
            <a:r>
              <a:t>Learners: Attempt the retrieval task independently; explain the method before checking.</a:t>
            </a:r>
          </a:p>
          <a:p>
            <a:r>
              <a:t>Materials/check: Identify support needs</a:t>
            </a:r>
          </a:p>
          <a:p>
            <a:r>
              <a:t>Source: 'Math Week 6'!A31:F31</a:t>
            </a:r>
          </a:p>
          <a:p/>
          <a:p>
            <a:r>
              <a:t>12:55 PM–1:10 PM | 3 Teach | 15 min</a:t>
            </a:r>
          </a:p>
          <a:p>
            <a:r>
              <a:t>Instructor: Model area as a count of squares, then the triangle as half a rectangle. Show squared conversion factors.</a:t>
            </a:r>
          </a:p>
          <a:p>
            <a:r>
              <a:t>Learners: Annotate the example and predict the next step; ask about unclear units or symbols.</a:t>
            </a:r>
          </a:p>
          <a:p>
            <a:r>
              <a:t>Materials/check: Textbook; worked example</a:t>
            </a:r>
          </a:p>
          <a:p>
            <a:r>
              <a:t>Source: 'Math Week 6'!A32:F32</a:t>
            </a:r>
          </a:p>
          <a:p/>
          <a:p>
            <a:r>
              <a:t>1:10 PM–1:25 PM | 4 Together | 15 min</a:t>
            </a:r>
          </a:p>
          <a:p>
            <a:r>
              <a:t>Instructor: Work Exercise Book 10A Q2–4,7–8; learners label perpendicular height, not the sloping side.</a:t>
            </a:r>
          </a:p>
          <a:p>
            <a:r>
              <a:t>Learners: Work in pairs, alternating solver and checker. Write a diagram, formula, units and estimate.</a:t>
            </a:r>
          </a:p>
          <a:p>
            <a:r>
              <a:t>Materials/check: Exercise Book; tool above</a:t>
            </a:r>
          </a:p>
          <a:p>
            <a:r>
              <a:t>Source: 'Math Week 6'!A33:F33</a:t>
            </a:r>
          </a:p>
          <a:p/>
          <a:p>
            <a:r>
              <a:t>1:25 PM–1:45 PM | 5 Practise | 20 min</a:t>
            </a:r>
          </a:p>
          <a:p>
            <a:r>
              <a:t>Instructor: Complete Exercise Book 10A Q5–6 and 10B Q1,4. On Shape Canvas, compare the two shapes’ areas. Keep the sheet count’s no-waste assumption explicit.</a:t>
            </a:r>
          </a:p>
          <a:p>
            <a:r>
              <a:t>Learners: Solve on paper first; check with tools; correct one error and explain the change.</a:t>
            </a:r>
          </a:p>
          <a:p>
            <a:r>
              <a:t>Materials/check: Paper first; tool second</a:t>
            </a:r>
          </a:p>
          <a:p>
            <a:r>
              <a:t>Source: 'Math Week 6'!A34:F34</a:t>
            </a:r>
          </a:p>
          <a:p/>
          <a:p>
            <a:r>
              <a:t>1:45 PM–1:55 PM | 6 Check | 10 min</a:t>
            </a:r>
          </a:p>
          <a:p>
            <a:r>
              <a:t>Instructor: Exercise Book 10B Q1; show floor area, one-sheet area and sheet quantity.</a:t>
            </a:r>
          </a:p>
          <a:p>
            <a:r>
              <a:t>Learners: Solve without displayed answers; include working, units and final rounding.</a:t>
            </a:r>
          </a:p>
          <a:p>
            <a:r>
              <a:t>Materials/check: Teacher answers below</a:t>
            </a:r>
          </a:p>
          <a:p>
            <a:r>
              <a:t>Source: 'Math Week 6'!A35:F35</a:t>
            </a:r>
          </a:p>
          <a:p/>
          <a:p>
            <a:r>
              <a:t>1:55 PM–2:00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6'!A36:F36</a:t>
            </a:r>
          </a:p>
          <a:p/>
          <a:p>
            <a:r>
              <a:t>INSTRUCTOR ONLY: REVEAL ASSESSMENT ANSWERS AFTER THE ATTEMPT</a:t>
            </a:r>
          </a:p>
          <a:p>
            <a:r>
              <a:t>10B Q1 = 25.92 m² and 9 sheets, assuming no waste as stated. Answer Key p.28. Answer Key pp.27–28</a:t>
            </a:r>
          </a:p>
          <a:p/>
          <a:p>
            <a:r>
              <a:t>Extend to composite surfaces and openings without double-counting.</a:t>
            </a:r>
          </a:p>
          <a:p/>
          <a:p>
            <a:r>
              <a:t>Sources: 'Math Week 6'!A10:E10; 'Carpentry Schedule'!B60; 'Math Week 6'!A24</a:t>
            </a:r>
          </a:p>
          <a:p>
            <a:r>
              <a:t>Navigation/resource slides support these scheduled steps and do not add instructional time.</a:t>
            </a:r>
          </a:p>
          <a:p>
            <a:r>
              <a:t>SLIDE PLACEMENT: Wrap up, 1:55 PM–2:00 PM. All slides with this phase share these 5 minutes; do not restart the time allocation for each slide.</a:t>
            </a:r>
          </a:p>
          <a:p/>
          <a:p>
            <a:r>
              <a:t>Next scheduled learning: Extend to composite surfaces and openings without double-counting.</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15 minutes. Resume at 2:15 PM. Do not move the following math block into the break.</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W06-L02 | 2026-11-30 | 2:15 PM–3:30 PM | 75 minutes</a:t>
            </a:r>
          </a:p>
          <a:p>
            <a:r>
              <a:t>Composite areas, openings and surface coverage</a:t>
            </a:r>
          </a:p>
          <a:p>
            <a:r>
              <a:t>Mode: Math</a:t>
            </a:r>
          </a:p>
          <a:p>
            <a:r>
              <a:t>Goal: Break a composite shape into known parts and subtract openings before estimating coverage.</a:t>
            </a:r>
          </a:p>
          <a:p>
            <a:r>
              <a:t>Read: Textbook sections 10.4–10.7 pp.158–164</a:t>
            </a:r>
          </a:p>
          <a:p>
            <a:r>
              <a:t>Practise: Exercise Book 10A Q10–12 (p.64); 10B Q2 (p.65), Q11–12 (p.66); 10C Q4 (p.67)</a:t>
            </a:r>
          </a:p>
          <a:p>
            <a:r>
              <a:t>Tool: Shape Canvas: build a rectangle with an opening using two labelled shapes; compare parts. Numeracy Hub Shape Studio: use a solid/net as an optional surface-area preview.</a:t>
            </a:r>
          </a:p>
          <a:p/>
          <a:p>
            <a:r>
              <a:t>EXACT SCHEDULED STEPS</a:t>
            </a:r>
          </a:p>
          <a:p>
            <a:r>
              <a:t>2:15 PM–2:20 PM | 1 Start | 5 min</a:t>
            </a:r>
          </a:p>
          <a:p>
            <a:r>
              <a:t>Instructor: Connect composite areas, openings and surface coverage to a dimensioned carpentry drawing. State the objective.</a:t>
            </a:r>
          </a:p>
          <a:p>
            <a:r>
              <a:t>Learners: Describe a prior use of the skill; identify the given and unknown quantities.</a:t>
            </a:r>
          </a:p>
          <a:p>
            <a:r>
              <a:t>Materials/check: Notebook; calculator</a:t>
            </a:r>
          </a:p>
          <a:p>
            <a:r>
              <a:t>Source: 'Math Week 6'!A47:F47</a:t>
            </a:r>
          </a:p>
          <a:p/>
          <a:p>
            <a:r>
              <a:t>2:20 PM–2:25 PM | 2 Recall | 5 min</a:t>
            </a:r>
          </a:p>
          <a:p>
            <a:r>
              <a:t>Instructor: Show a panel with a hole; ask which area is added and which is subtracted.</a:t>
            </a:r>
          </a:p>
          <a:p>
            <a:r>
              <a:t>Learners: Attempt the retrieval task independently; explain the method before checking.</a:t>
            </a:r>
          </a:p>
          <a:p>
            <a:r>
              <a:t>Materials/check: Identify support needs</a:t>
            </a:r>
          </a:p>
          <a:p>
            <a:r>
              <a:t>Source: 'Math Week 6'!A48:F48</a:t>
            </a:r>
          </a:p>
          <a:p/>
          <a:p>
            <a:r>
              <a:t>2:25 PM–2:40 PM | 3 Teach | 15 min</a:t>
            </a:r>
          </a:p>
          <a:p>
            <a:r>
              <a:t>Instructor: Model Exercise Book 10B Q11 with outer and opening areas. Demonstrate a trapezoid and circle formula, keeping radius/diameter distinct.</a:t>
            </a:r>
          </a:p>
          <a:p>
            <a:r>
              <a:t>Learners: Annotate the example and predict the next step; ask about unclear units or symbols.</a:t>
            </a:r>
          </a:p>
          <a:p>
            <a:r>
              <a:t>Materials/check: Textbook; worked example</a:t>
            </a:r>
          </a:p>
          <a:p>
            <a:r>
              <a:t>Source: 'Math Week 6'!A49:F49</a:t>
            </a:r>
          </a:p>
          <a:p/>
          <a:p>
            <a:r>
              <a:t>2:40 PM–2:55 PM | 4 Together | 15 min</a:t>
            </a:r>
          </a:p>
          <a:p>
            <a:r>
              <a:t>Instructor: Work Exercise Book 10A Q10–12 and Exercise Book 10C Q4. Partners annotate non-overlapping pieces.</a:t>
            </a:r>
          </a:p>
          <a:p>
            <a:r>
              <a:t>Learners: Work in pairs, alternating solver and checker. Write a diagram, formula, units and estimate.</a:t>
            </a:r>
          </a:p>
          <a:p>
            <a:r>
              <a:t>Materials/check: Exercise Book; tool above</a:t>
            </a:r>
          </a:p>
          <a:p>
            <a:r>
              <a:t>Source: 'Math Week 6'!A50:F50</a:t>
            </a:r>
          </a:p>
          <a:p/>
          <a:p>
            <a:r>
              <a:t>2:55 PM–3:15 PM | 5 Practise | 20 min</a:t>
            </a:r>
          </a:p>
          <a:p>
            <a:r>
              <a:t>Instructor: Complete Exercise Book 10B Q2,11–12. Build a Shape Canvas sketch and label areas; use the net preview only if core subtraction and coverage are secure.</a:t>
            </a:r>
          </a:p>
          <a:p>
            <a:r>
              <a:t>Learners: Solve on paper first; check with tools; correct one error and explain the change.</a:t>
            </a:r>
          </a:p>
          <a:p>
            <a:r>
              <a:t>Materials/check: Paper first; tool second</a:t>
            </a:r>
          </a:p>
          <a:p>
            <a:r>
              <a:t>Source: 'Math Week 6'!A51:F51</a:t>
            </a:r>
          </a:p>
          <a:p/>
          <a:p>
            <a:r>
              <a:t>3:15 PM–3:25 PM | 6 Check | 10 min</a:t>
            </a:r>
          </a:p>
          <a:p>
            <a:r>
              <a:t>Instructor: Exercise Book 10B Q11 and Q2; report net area and whole tins to buy.</a:t>
            </a:r>
          </a:p>
          <a:p>
            <a:r>
              <a:t>Learners: Solve without displayed answers; include working, units and final rounding.</a:t>
            </a:r>
          </a:p>
          <a:p>
            <a:r>
              <a:t>Materials/check: Teacher answers below</a:t>
            </a:r>
          </a:p>
          <a:p>
            <a:r>
              <a:t>Source: 'Math Week 6'!A52:F52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6'!A53:F53</a:t>
            </a:r>
          </a:p>
          <a:p/>
          <a:p>
            <a:r>
              <a:t>INSTRUCTOR ONLY: REVEAL ASSESSMENT ANSWERS AFTER THE ATTEMPT</a:t>
            </a:r>
          </a:p>
          <a:p>
            <a:r>
              <a:t>10B Q11 = 900,000 mm² = 0.9 m²; Q2 = 4.57 L, buy 5 tins. Answer Key p.28. Answer Key pp.27–28</a:t>
            </a:r>
          </a:p>
          <a:p/>
          <a:p>
            <a:r>
              <a:t>Compare square units with cubic units before the volume lesson.</a:t>
            </a:r>
          </a:p>
          <a:p/>
          <a:p>
            <a:r>
              <a:t>Sources: 'Math Week 6'!A11:E11; 'Carpentry Schedule'!B62; 'Math Week 6'!A41</a:t>
            </a:r>
          </a:p>
          <a:p>
            <a:r>
              <a:t>Navigation/resource slides support these scheduled steps and do not add instructional time.</a:t>
            </a:r>
          </a:p>
          <a:p>
            <a:r>
              <a:t>SLIDE PLACEMENT: Start, 2:15 PM–2:20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W06-L02 | 2026-11-30 | 2:15 PM–3:30 PM | 75 minutes</a:t>
            </a:r>
          </a:p>
          <a:p>
            <a:r>
              <a:t>Composite areas, openings and surface coverage</a:t>
            </a:r>
          </a:p>
          <a:p>
            <a:r>
              <a:t>Mode: Math</a:t>
            </a:r>
          </a:p>
          <a:p>
            <a:r>
              <a:t>Goal: Break a composite shape into known parts and subtract openings before estimating coverage.</a:t>
            </a:r>
          </a:p>
          <a:p>
            <a:r>
              <a:t>Read: Textbook sections 10.4–10.7 pp.158–164</a:t>
            </a:r>
          </a:p>
          <a:p>
            <a:r>
              <a:t>Practise: Exercise Book 10A Q10–12 (p.64); 10B Q2 (p.65), Q11–12 (p.66); 10C Q4 (p.67)</a:t>
            </a:r>
          </a:p>
          <a:p>
            <a:r>
              <a:t>Tool: Shape Canvas: build a rectangle with an opening using two labelled shapes; compare parts. Numeracy Hub Shape Studio: use a solid/net as an optional surface-area preview.</a:t>
            </a:r>
          </a:p>
          <a:p/>
          <a:p>
            <a:r>
              <a:t>EXACT SCHEDULED STEPS</a:t>
            </a:r>
          </a:p>
          <a:p>
            <a:r>
              <a:t>2:15 PM–2:20 PM | 1 Start | 5 min</a:t>
            </a:r>
          </a:p>
          <a:p>
            <a:r>
              <a:t>Instructor: Connect composite areas, openings and surface coverage to a dimensioned carpentry drawing. State the objective.</a:t>
            </a:r>
          </a:p>
          <a:p>
            <a:r>
              <a:t>Learners: Describe a prior use of the skill; identify the given and unknown quantities.</a:t>
            </a:r>
          </a:p>
          <a:p>
            <a:r>
              <a:t>Materials/check: Notebook; calculator</a:t>
            </a:r>
          </a:p>
          <a:p>
            <a:r>
              <a:t>Source: 'Math Week 6'!A47:F47</a:t>
            </a:r>
          </a:p>
          <a:p/>
          <a:p>
            <a:r>
              <a:t>2:20 PM–2:25 PM | 2 Recall | 5 min</a:t>
            </a:r>
          </a:p>
          <a:p>
            <a:r>
              <a:t>Instructor: Show a panel with a hole; ask which area is added and which is subtracted.</a:t>
            </a:r>
          </a:p>
          <a:p>
            <a:r>
              <a:t>Learners: Attempt the retrieval task independently; explain the method before checking.</a:t>
            </a:r>
          </a:p>
          <a:p>
            <a:r>
              <a:t>Materials/check: Identify support needs</a:t>
            </a:r>
          </a:p>
          <a:p>
            <a:r>
              <a:t>Source: 'Math Week 6'!A48:F48</a:t>
            </a:r>
          </a:p>
          <a:p/>
          <a:p>
            <a:r>
              <a:t>2:25 PM–2:40 PM | 3 Teach | 15 min</a:t>
            </a:r>
          </a:p>
          <a:p>
            <a:r>
              <a:t>Instructor: Model Exercise Book 10B Q11 with outer and opening areas. Demonstrate a trapezoid and circle formula, keeping radius/diameter distinct.</a:t>
            </a:r>
          </a:p>
          <a:p>
            <a:r>
              <a:t>Learners: Annotate the example and predict the next step; ask about unclear units or symbols.</a:t>
            </a:r>
          </a:p>
          <a:p>
            <a:r>
              <a:t>Materials/check: Textbook; worked example</a:t>
            </a:r>
          </a:p>
          <a:p>
            <a:r>
              <a:t>Source: 'Math Week 6'!A49:F49</a:t>
            </a:r>
          </a:p>
          <a:p/>
          <a:p>
            <a:r>
              <a:t>2:40 PM–2:55 PM | 4 Together | 15 min</a:t>
            </a:r>
          </a:p>
          <a:p>
            <a:r>
              <a:t>Instructor: Work Exercise Book 10A Q10–12 and Exercise Book 10C Q4. Partners annotate non-overlapping pieces.</a:t>
            </a:r>
          </a:p>
          <a:p>
            <a:r>
              <a:t>Learners: Work in pairs, alternating solver and checker. Write a diagram, formula, units and estimate.</a:t>
            </a:r>
          </a:p>
          <a:p>
            <a:r>
              <a:t>Materials/check: Exercise Book; tool above</a:t>
            </a:r>
          </a:p>
          <a:p>
            <a:r>
              <a:t>Source: 'Math Week 6'!A50:F50</a:t>
            </a:r>
          </a:p>
          <a:p/>
          <a:p>
            <a:r>
              <a:t>2:55 PM–3:15 PM | 5 Practise | 20 min</a:t>
            </a:r>
          </a:p>
          <a:p>
            <a:r>
              <a:t>Instructor: Complete Exercise Book 10B Q2,11–12. Build a Shape Canvas sketch and label areas; use the net preview only if core subtraction and coverage are secure.</a:t>
            </a:r>
          </a:p>
          <a:p>
            <a:r>
              <a:t>Learners: Solve on paper first; check with tools; correct one error and explain the change.</a:t>
            </a:r>
          </a:p>
          <a:p>
            <a:r>
              <a:t>Materials/check: Paper first; tool second</a:t>
            </a:r>
          </a:p>
          <a:p>
            <a:r>
              <a:t>Source: 'Math Week 6'!A51:F51</a:t>
            </a:r>
          </a:p>
          <a:p/>
          <a:p>
            <a:r>
              <a:t>3:15 PM–3:25 PM | 6 Check | 10 min</a:t>
            </a:r>
          </a:p>
          <a:p>
            <a:r>
              <a:t>Instructor: Exercise Book 10B Q11 and Q2; report net area and whole tins to buy.</a:t>
            </a:r>
          </a:p>
          <a:p>
            <a:r>
              <a:t>Learners: Solve without displayed answers; include working, units and final rounding.</a:t>
            </a:r>
          </a:p>
          <a:p>
            <a:r>
              <a:t>Materials/check: Teacher answers below</a:t>
            </a:r>
          </a:p>
          <a:p>
            <a:r>
              <a:t>Source: 'Math Week 6'!A52:F52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6'!A53:F53</a:t>
            </a:r>
          </a:p>
          <a:p/>
          <a:p>
            <a:r>
              <a:t>INSTRUCTOR ONLY: REVEAL ASSESSMENT ANSWERS AFTER THE ATTEMPT</a:t>
            </a:r>
          </a:p>
          <a:p>
            <a:r>
              <a:t>10B Q11 = 900,000 mm² = 0.9 m²; Q2 = 4.57 L, buy 5 tins. Answer Key p.28. Answer Key pp.27–28</a:t>
            </a:r>
          </a:p>
          <a:p/>
          <a:p>
            <a:r>
              <a:t>Compare square units with cubic units before the volume lesson.</a:t>
            </a:r>
          </a:p>
          <a:p/>
          <a:p>
            <a:r>
              <a:t>Sources: 'Math Week 6'!A11:E11; 'Carpentry Schedule'!B62; 'Math Week 6'!A41</a:t>
            </a:r>
          </a:p>
          <a:p>
            <a:r>
              <a:t>Navigation/resource slides support these scheduled steps and do not add instructional time.</a:t>
            </a:r>
          </a:p>
          <a:p>
            <a:r>
              <a:t>SLIDE PLACEMENT: Recall, 2:20 PM–2:25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W06-L02 | 2026-11-30 | 2:15 PM–3:30 PM | 75 minutes</a:t>
            </a:r>
          </a:p>
          <a:p>
            <a:r>
              <a:t>Composite areas, openings and surface coverage</a:t>
            </a:r>
          </a:p>
          <a:p>
            <a:r>
              <a:t>Mode: Math</a:t>
            </a:r>
          </a:p>
          <a:p>
            <a:r>
              <a:t>Goal: Break a composite shape into known parts and subtract openings before estimating coverage.</a:t>
            </a:r>
          </a:p>
          <a:p>
            <a:r>
              <a:t>Read: Textbook sections 10.4–10.7 pp.158–164</a:t>
            </a:r>
          </a:p>
          <a:p>
            <a:r>
              <a:t>Practise: Exercise Book 10A Q10–12 (p.64); 10B Q2 (p.65), Q11–12 (p.66); 10C Q4 (p.67)</a:t>
            </a:r>
          </a:p>
          <a:p>
            <a:r>
              <a:t>Tool: Shape Canvas: build a rectangle with an opening using two labelled shapes; compare parts. Numeracy Hub Shape Studio: use a solid/net as an optional surface-area preview.</a:t>
            </a:r>
          </a:p>
          <a:p/>
          <a:p>
            <a:r>
              <a:t>EXACT SCHEDULED STEPS</a:t>
            </a:r>
          </a:p>
          <a:p>
            <a:r>
              <a:t>2:15 PM–2:20 PM | 1 Start | 5 min</a:t>
            </a:r>
          </a:p>
          <a:p>
            <a:r>
              <a:t>Instructor: Connect composite areas, openings and surface coverage to a dimensioned carpentry drawing. State the objective.</a:t>
            </a:r>
          </a:p>
          <a:p>
            <a:r>
              <a:t>Learners: Describe a prior use of the skill; identify the given and unknown quantities.</a:t>
            </a:r>
          </a:p>
          <a:p>
            <a:r>
              <a:t>Materials/check: Notebook; calculator</a:t>
            </a:r>
          </a:p>
          <a:p>
            <a:r>
              <a:t>Source: 'Math Week 6'!A47:F47</a:t>
            </a:r>
          </a:p>
          <a:p/>
          <a:p>
            <a:r>
              <a:t>2:20 PM–2:25 PM | 2 Recall | 5 min</a:t>
            </a:r>
          </a:p>
          <a:p>
            <a:r>
              <a:t>Instructor: Show a panel with a hole; ask which area is added and which is subtracted.</a:t>
            </a:r>
          </a:p>
          <a:p>
            <a:r>
              <a:t>Learners: Attempt the retrieval task independently; explain the method before checking.</a:t>
            </a:r>
          </a:p>
          <a:p>
            <a:r>
              <a:t>Materials/check: Identify support needs</a:t>
            </a:r>
          </a:p>
          <a:p>
            <a:r>
              <a:t>Source: 'Math Week 6'!A48:F48</a:t>
            </a:r>
          </a:p>
          <a:p/>
          <a:p>
            <a:r>
              <a:t>2:25 PM–2:40 PM | 3 Teach | 15 min</a:t>
            </a:r>
          </a:p>
          <a:p>
            <a:r>
              <a:t>Instructor: Model Exercise Book 10B Q11 with outer and opening areas. Demonstrate a trapezoid and circle formula, keeping radius/diameter distinct.</a:t>
            </a:r>
          </a:p>
          <a:p>
            <a:r>
              <a:t>Learners: Annotate the example and predict the next step; ask about unclear units or symbols.</a:t>
            </a:r>
          </a:p>
          <a:p>
            <a:r>
              <a:t>Materials/check: Textbook; worked example</a:t>
            </a:r>
          </a:p>
          <a:p>
            <a:r>
              <a:t>Source: 'Math Week 6'!A49:F49</a:t>
            </a:r>
          </a:p>
          <a:p/>
          <a:p>
            <a:r>
              <a:t>2:40 PM–2:55 PM | 4 Together | 15 min</a:t>
            </a:r>
          </a:p>
          <a:p>
            <a:r>
              <a:t>Instructor: Work Exercise Book 10A Q10–12 and Exercise Book 10C Q4. Partners annotate non-overlapping pieces.</a:t>
            </a:r>
          </a:p>
          <a:p>
            <a:r>
              <a:t>Learners: Work in pairs, alternating solver and checker. Write a diagram, formula, units and estimate.</a:t>
            </a:r>
          </a:p>
          <a:p>
            <a:r>
              <a:t>Materials/check: Exercise Book; tool above</a:t>
            </a:r>
          </a:p>
          <a:p>
            <a:r>
              <a:t>Source: 'Math Week 6'!A50:F50</a:t>
            </a:r>
          </a:p>
          <a:p/>
          <a:p>
            <a:r>
              <a:t>2:55 PM–3:15 PM | 5 Practise | 20 min</a:t>
            </a:r>
          </a:p>
          <a:p>
            <a:r>
              <a:t>Instructor: Complete Exercise Book 10B Q2,11–12. Build a Shape Canvas sketch and label areas; use the net preview only if core subtraction and coverage are secure.</a:t>
            </a:r>
          </a:p>
          <a:p>
            <a:r>
              <a:t>Learners: Solve on paper first; check with tools; correct one error and explain the change.</a:t>
            </a:r>
          </a:p>
          <a:p>
            <a:r>
              <a:t>Materials/check: Paper first; tool second</a:t>
            </a:r>
          </a:p>
          <a:p>
            <a:r>
              <a:t>Source: 'Math Week 6'!A51:F51</a:t>
            </a:r>
          </a:p>
          <a:p/>
          <a:p>
            <a:r>
              <a:t>3:15 PM–3:25 PM | 6 Check | 10 min</a:t>
            </a:r>
          </a:p>
          <a:p>
            <a:r>
              <a:t>Instructor: Exercise Book 10B Q11 and Q2; report net area and whole tins to buy.</a:t>
            </a:r>
          </a:p>
          <a:p>
            <a:r>
              <a:t>Learners: Solve without displayed answers; include working, units and final rounding.</a:t>
            </a:r>
          </a:p>
          <a:p>
            <a:r>
              <a:t>Materials/check: Teacher answers below</a:t>
            </a:r>
          </a:p>
          <a:p>
            <a:r>
              <a:t>Source: 'Math Week 6'!A52:F52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6'!A53:F53</a:t>
            </a:r>
          </a:p>
          <a:p/>
          <a:p>
            <a:r>
              <a:t>INSTRUCTOR ONLY: REVEAL ASSESSMENT ANSWERS AFTER THE ATTEMPT</a:t>
            </a:r>
          </a:p>
          <a:p>
            <a:r>
              <a:t>10B Q11 = 900,000 mm² = 0.9 m²; Q2 = 4.57 L, buy 5 tins. Answer Key p.28. Answer Key pp.27–28</a:t>
            </a:r>
          </a:p>
          <a:p/>
          <a:p>
            <a:r>
              <a:t>Compare square units with cubic units before the volume lesson.</a:t>
            </a:r>
          </a:p>
          <a:p/>
          <a:p>
            <a:r>
              <a:t>Sources: 'Math Week 6'!A11:E11; 'Carpentry Schedule'!B62; 'Math Week 6'!A41</a:t>
            </a:r>
          </a:p>
          <a:p>
            <a:r>
              <a:t>Navigation/resource slides support these scheduled steps and do not add instructional time.</a:t>
            </a:r>
          </a:p>
          <a:p>
            <a:r>
              <a:t>SLIDE PLACEMENT: Teach, 2:25 PM–2:40 PM. All slides with this phase share these 15 minutes; do not restart the time allocation for each slide.</a:t>
            </a:r>
          </a:p>
          <a:p/>
          <a:p>
            <a:r>
              <a:t>Teaching content sources:</a:t>
            </a:r>
          </a:p>
          <a:p>
            <a:r>
              <a:t>Textbook sections 10.4–10.7 pp.158–164</a:t>
            </a:r>
          </a:p>
          <a:p>
            <a:r>
              <a:t>'Math Week 6'!B45</a:t>
            </a:r>
          </a:p>
          <a:p>
            <a:r>
              <a:t>'Math Week 6'!A49:F49</a:t>
            </a:r>
          </a:p>
          <a:p>
            <a:r>
              <a:t>ACCESS CARPENTRY SLIDES.pptx slides 113, 114, 115</a:t>
            </a:r>
          </a:p>
          <a:p>
            <a:r>
              <a:t>ACCESS Trades Numeracy Textbook p.162 — Examples 10.7–10.8 — Composite plates and a lifting lug</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W06-L02 | 2026-11-30 | 2:15 PM–3:30 PM | 75 minutes</a:t>
            </a:r>
          </a:p>
          <a:p>
            <a:r>
              <a:t>Composite areas, openings and surface coverage</a:t>
            </a:r>
          </a:p>
          <a:p>
            <a:r>
              <a:t>Mode: Math</a:t>
            </a:r>
          </a:p>
          <a:p>
            <a:r>
              <a:t>Goal: Break a composite shape into known parts and subtract openings before estimating coverage.</a:t>
            </a:r>
          </a:p>
          <a:p>
            <a:r>
              <a:t>Read: Textbook sections 10.4–10.7 pp.158–164</a:t>
            </a:r>
          </a:p>
          <a:p>
            <a:r>
              <a:t>Practise: Exercise Book 10A Q10–12 (p.64); 10B Q2 (p.65), Q11–12 (p.66); 10C Q4 (p.67)</a:t>
            </a:r>
          </a:p>
          <a:p>
            <a:r>
              <a:t>Tool: Shape Canvas: build a rectangle with an opening using two labelled shapes; compare parts. Numeracy Hub Shape Studio: use a solid/net as an optional surface-area preview.</a:t>
            </a:r>
          </a:p>
          <a:p/>
          <a:p>
            <a:r>
              <a:t>EXACT SCHEDULED STEPS</a:t>
            </a:r>
          </a:p>
          <a:p>
            <a:r>
              <a:t>2:15 PM–2:20 PM | 1 Start | 5 min</a:t>
            </a:r>
          </a:p>
          <a:p>
            <a:r>
              <a:t>Instructor: Connect composite areas, openings and surface coverage to a dimensioned carpentry drawing. State the objective.</a:t>
            </a:r>
          </a:p>
          <a:p>
            <a:r>
              <a:t>Learners: Describe a prior use of the skill; identify the given and unknown quantities.</a:t>
            </a:r>
          </a:p>
          <a:p>
            <a:r>
              <a:t>Materials/check: Notebook; calculator</a:t>
            </a:r>
          </a:p>
          <a:p>
            <a:r>
              <a:t>Source: 'Math Week 6'!A47:F47</a:t>
            </a:r>
          </a:p>
          <a:p/>
          <a:p>
            <a:r>
              <a:t>2:20 PM–2:25 PM | 2 Recall | 5 min</a:t>
            </a:r>
          </a:p>
          <a:p>
            <a:r>
              <a:t>Instructor: Show a panel with a hole; ask which area is added and which is subtracted.</a:t>
            </a:r>
          </a:p>
          <a:p>
            <a:r>
              <a:t>Learners: Attempt the retrieval task independently; explain the method before checking.</a:t>
            </a:r>
          </a:p>
          <a:p>
            <a:r>
              <a:t>Materials/check: Identify support needs</a:t>
            </a:r>
          </a:p>
          <a:p>
            <a:r>
              <a:t>Source: 'Math Week 6'!A48:F48</a:t>
            </a:r>
          </a:p>
          <a:p/>
          <a:p>
            <a:r>
              <a:t>2:25 PM–2:40 PM | 3 Teach | 15 min</a:t>
            </a:r>
          </a:p>
          <a:p>
            <a:r>
              <a:t>Instructor: Model Exercise Book 10B Q11 with outer and opening areas. Demonstrate a trapezoid and circle formula, keeping radius/diameter distinct.</a:t>
            </a:r>
          </a:p>
          <a:p>
            <a:r>
              <a:t>Learners: Annotate the example and predict the next step; ask about unclear units or symbols.</a:t>
            </a:r>
          </a:p>
          <a:p>
            <a:r>
              <a:t>Materials/check: Textbook; worked example</a:t>
            </a:r>
          </a:p>
          <a:p>
            <a:r>
              <a:t>Source: 'Math Week 6'!A49:F49</a:t>
            </a:r>
          </a:p>
          <a:p/>
          <a:p>
            <a:r>
              <a:t>2:40 PM–2:55 PM | 4 Together | 15 min</a:t>
            </a:r>
          </a:p>
          <a:p>
            <a:r>
              <a:t>Instructor: Work Exercise Book 10A Q10–12 and Exercise Book 10C Q4. Partners annotate non-overlapping pieces.</a:t>
            </a:r>
          </a:p>
          <a:p>
            <a:r>
              <a:t>Learners: Work in pairs, alternating solver and checker. Write a diagram, formula, units and estimate.</a:t>
            </a:r>
          </a:p>
          <a:p>
            <a:r>
              <a:t>Materials/check: Exercise Book; tool above</a:t>
            </a:r>
          </a:p>
          <a:p>
            <a:r>
              <a:t>Source: 'Math Week 6'!A50:F50</a:t>
            </a:r>
          </a:p>
          <a:p/>
          <a:p>
            <a:r>
              <a:t>2:55 PM–3:15 PM | 5 Practise | 20 min</a:t>
            </a:r>
          </a:p>
          <a:p>
            <a:r>
              <a:t>Instructor: Complete Exercise Book 10B Q2,11–12. Build a Shape Canvas sketch and label areas; use the net preview only if core subtraction and coverage are secure.</a:t>
            </a:r>
          </a:p>
          <a:p>
            <a:r>
              <a:t>Learners: Solve on paper first; check with tools; correct one error and explain the change.</a:t>
            </a:r>
          </a:p>
          <a:p>
            <a:r>
              <a:t>Materials/check: Paper first; tool second</a:t>
            </a:r>
          </a:p>
          <a:p>
            <a:r>
              <a:t>Source: 'Math Week 6'!A51:F51</a:t>
            </a:r>
          </a:p>
          <a:p/>
          <a:p>
            <a:r>
              <a:t>3:15 PM–3:25 PM | 6 Check | 10 min</a:t>
            </a:r>
          </a:p>
          <a:p>
            <a:r>
              <a:t>Instructor: Exercise Book 10B Q11 and Q2; report net area and whole tins to buy.</a:t>
            </a:r>
          </a:p>
          <a:p>
            <a:r>
              <a:t>Learners: Solve without displayed answers; include working, units and final rounding.</a:t>
            </a:r>
          </a:p>
          <a:p>
            <a:r>
              <a:t>Materials/check: Teacher answers below</a:t>
            </a:r>
          </a:p>
          <a:p>
            <a:r>
              <a:t>Source: 'Math Week 6'!A52:F52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6'!A53:F53</a:t>
            </a:r>
          </a:p>
          <a:p/>
          <a:p>
            <a:r>
              <a:t>INSTRUCTOR ONLY: REVEAL ASSESSMENT ANSWERS AFTER THE ATTEMPT</a:t>
            </a:r>
          </a:p>
          <a:p>
            <a:r>
              <a:t>10B Q11 = 900,000 mm² = 0.9 m²; Q2 = 4.57 L, buy 5 tins. Answer Key p.28. Answer Key pp.27–28</a:t>
            </a:r>
          </a:p>
          <a:p/>
          <a:p>
            <a:r>
              <a:t>Compare square units with cubic units before the volume lesson.</a:t>
            </a:r>
          </a:p>
          <a:p/>
          <a:p>
            <a:r>
              <a:t>Sources: 'Math Week 6'!A11:E11; 'Carpentry Schedule'!B62; 'Math Week 6'!A41</a:t>
            </a:r>
          </a:p>
          <a:p>
            <a:r>
              <a:t>Navigation/resource slides support these scheduled steps and do not add instructional time.</a:t>
            </a:r>
          </a:p>
          <a:p>
            <a:r>
              <a:t>SLIDE PLACEMENT: Teach, 2:25 PM–2:40 PM. All slides with this phase share these 15 minutes; do not restart the time allocation for each slide.</a:t>
            </a:r>
          </a:p>
          <a:p/>
          <a:p>
            <a:r>
              <a:t>Teaching content sources:</a:t>
            </a:r>
          </a:p>
          <a:p>
            <a:r>
              <a:t>Textbook sections 10.4–10.7 pp.158–164</a:t>
            </a:r>
          </a:p>
          <a:p>
            <a:r>
              <a:t>'Math Week 6'!B45</a:t>
            </a:r>
          </a:p>
          <a:p>
            <a:r>
              <a:t>'Math Week 6'!A49:F49</a:t>
            </a:r>
          </a:p>
          <a:p>
            <a:r>
              <a:t>ACCESS CARPENTRY SLIDES.pptx slides 113, 114, 115</a:t>
            </a:r>
          </a:p>
          <a:p>
            <a:r>
              <a:t>ACCESS Trades Numeracy Textbook p.162 — Examples 10.7–10.8 — Composite plates and a lifting lug</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W06-L02 | 2026-11-30 | 2:15 PM–3:30 PM | 75 minutes</a:t>
            </a:r>
          </a:p>
          <a:p>
            <a:r>
              <a:t>Composite areas, openings and surface coverage</a:t>
            </a:r>
          </a:p>
          <a:p>
            <a:r>
              <a:t>Mode: Math</a:t>
            </a:r>
          </a:p>
          <a:p>
            <a:r>
              <a:t>Goal: Break a composite shape into known parts and subtract openings before estimating coverage.</a:t>
            </a:r>
          </a:p>
          <a:p>
            <a:r>
              <a:t>Read: Textbook sections 10.4–10.7 pp.158–164</a:t>
            </a:r>
          </a:p>
          <a:p>
            <a:r>
              <a:t>Practise: Exercise Book 10A Q10–12 (p.64); 10B Q2 (p.65), Q11–12 (p.66); 10C Q4 (p.67)</a:t>
            </a:r>
          </a:p>
          <a:p>
            <a:r>
              <a:t>Tool: Shape Canvas: build a rectangle with an opening using two labelled shapes; compare parts. Numeracy Hub Shape Studio: use a solid/net as an optional surface-area preview.</a:t>
            </a:r>
          </a:p>
          <a:p/>
          <a:p>
            <a:r>
              <a:t>EXACT SCHEDULED STEPS</a:t>
            </a:r>
          </a:p>
          <a:p>
            <a:r>
              <a:t>2:15 PM–2:20 PM | 1 Start | 5 min</a:t>
            </a:r>
          </a:p>
          <a:p>
            <a:r>
              <a:t>Instructor: Connect composite areas, openings and surface coverage to a dimensioned carpentry drawing. State the objective.</a:t>
            </a:r>
          </a:p>
          <a:p>
            <a:r>
              <a:t>Learners: Describe a prior use of the skill; identify the given and unknown quantities.</a:t>
            </a:r>
          </a:p>
          <a:p>
            <a:r>
              <a:t>Materials/check: Notebook; calculator</a:t>
            </a:r>
          </a:p>
          <a:p>
            <a:r>
              <a:t>Source: 'Math Week 6'!A47:F47</a:t>
            </a:r>
          </a:p>
          <a:p/>
          <a:p>
            <a:r>
              <a:t>2:20 PM–2:25 PM | 2 Recall | 5 min</a:t>
            </a:r>
          </a:p>
          <a:p>
            <a:r>
              <a:t>Instructor: Show a panel with a hole; ask which area is added and which is subtracted.</a:t>
            </a:r>
          </a:p>
          <a:p>
            <a:r>
              <a:t>Learners: Attempt the retrieval task independently; explain the method before checking.</a:t>
            </a:r>
          </a:p>
          <a:p>
            <a:r>
              <a:t>Materials/check: Identify support needs</a:t>
            </a:r>
          </a:p>
          <a:p>
            <a:r>
              <a:t>Source: 'Math Week 6'!A48:F48</a:t>
            </a:r>
          </a:p>
          <a:p/>
          <a:p>
            <a:r>
              <a:t>2:25 PM–2:40 PM | 3 Teach | 15 min</a:t>
            </a:r>
          </a:p>
          <a:p>
            <a:r>
              <a:t>Instructor: Model Exercise Book 10B Q11 with outer and opening areas. Demonstrate a trapezoid and circle formula, keeping radius/diameter distinct.</a:t>
            </a:r>
          </a:p>
          <a:p>
            <a:r>
              <a:t>Learners: Annotate the example and predict the next step; ask about unclear units or symbols.</a:t>
            </a:r>
          </a:p>
          <a:p>
            <a:r>
              <a:t>Materials/check: Textbook; worked example</a:t>
            </a:r>
          </a:p>
          <a:p>
            <a:r>
              <a:t>Source: 'Math Week 6'!A49:F49</a:t>
            </a:r>
          </a:p>
          <a:p/>
          <a:p>
            <a:r>
              <a:t>2:40 PM–2:55 PM | 4 Together | 15 min</a:t>
            </a:r>
          </a:p>
          <a:p>
            <a:r>
              <a:t>Instructor: Work Exercise Book 10A Q10–12 and Exercise Book 10C Q4. Partners annotate non-overlapping pieces.</a:t>
            </a:r>
          </a:p>
          <a:p>
            <a:r>
              <a:t>Learners: Work in pairs, alternating solver and checker. Write a diagram, formula, units and estimate.</a:t>
            </a:r>
          </a:p>
          <a:p>
            <a:r>
              <a:t>Materials/check: Exercise Book; tool above</a:t>
            </a:r>
          </a:p>
          <a:p>
            <a:r>
              <a:t>Source: 'Math Week 6'!A50:F50</a:t>
            </a:r>
          </a:p>
          <a:p/>
          <a:p>
            <a:r>
              <a:t>2:55 PM–3:15 PM | 5 Practise | 20 min</a:t>
            </a:r>
          </a:p>
          <a:p>
            <a:r>
              <a:t>Instructor: Complete Exercise Book 10B Q2,11–12. Build a Shape Canvas sketch and label areas; use the net preview only if core subtraction and coverage are secure.</a:t>
            </a:r>
          </a:p>
          <a:p>
            <a:r>
              <a:t>Learners: Solve on paper first; check with tools; correct one error and explain the change.</a:t>
            </a:r>
          </a:p>
          <a:p>
            <a:r>
              <a:t>Materials/check: Paper first; tool second</a:t>
            </a:r>
          </a:p>
          <a:p>
            <a:r>
              <a:t>Source: 'Math Week 6'!A51:F51</a:t>
            </a:r>
          </a:p>
          <a:p/>
          <a:p>
            <a:r>
              <a:t>3:15 PM–3:25 PM | 6 Check | 10 min</a:t>
            </a:r>
          </a:p>
          <a:p>
            <a:r>
              <a:t>Instructor: Exercise Book 10B Q11 and Q2; report net area and whole tins to buy.</a:t>
            </a:r>
          </a:p>
          <a:p>
            <a:r>
              <a:t>Learners: Solve without displayed answers; include working, units and final rounding.</a:t>
            </a:r>
          </a:p>
          <a:p>
            <a:r>
              <a:t>Materials/check: Teacher answers below</a:t>
            </a:r>
          </a:p>
          <a:p>
            <a:r>
              <a:t>Source: 'Math Week 6'!A52:F52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6'!A53:F53</a:t>
            </a:r>
          </a:p>
          <a:p/>
          <a:p>
            <a:r>
              <a:t>INSTRUCTOR ONLY: REVEAL ASSESSMENT ANSWERS AFTER THE ATTEMPT</a:t>
            </a:r>
          </a:p>
          <a:p>
            <a:r>
              <a:t>10B Q11 = 900,000 mm² = 0.9 m²; Q2 = 4.57 L, buy 5 tins. Answer Key p.28. Answer Key pp.27–28</a:t>
            </a:r>
          </a:p>
          <a:p/>
          <a:p>
            <a:r>
              <a:t>Compare square units with cubic units before the volume lesson.</a:t>
            </a:r>
          </a:p>
          <a:p/>
          <a:p>
            <a:r>
              <a:t>Sources: 'Math Week 6'!A11:E11; 'Carpentry Schedule'!B62; 'Math Week 6'!A41</a:t>
            </a:r>
          </a:p>
          <a:p>
            <a:r>
              <a:t>Navigation/resource slides support these scheduled steps and do not add instructional time.</a:t>
            </a:r>
          </a:p>
          <a:p>
            <a:r>
              <a:t>SLIDE PLACEMENT: Teach, 2:25 PM–2:40 PM. All slides with this phase share these 15 minutes; do not restart the time allocation for each slide.</a:t>
            </a:r>
          </a:p>
          <a:p/>
          <a:p>
            <a:r>
              <a:t>Textbook visual: ACCESS Textbook p.162 • Example 10.7 — Split an L-shaped plate into non-overlapping rectangles</a:t>
            </a:r>
          </a:p>
          <a:p>
            <a:r>
              <a:t>Exact PDF/printed page: 162. Excerpt reproduced from the supplied ACCESS Textbook.</a:t>
            </a:r>
          </a:p>
          <a:p>
            <a:r>
              <a:t>Point to non-overlapping areas to add and the opening to subtract.</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W06-L02 | 2026-11-30 | 2:15 PM–3:30 PM | 75 minutes</a:t>
            </a:r>
          </a:p>
          <a:p>
            <a:r>
              <a:t>Composite areas, openings and surface coverage</a:t>
            </a:r>
          </a:p>
          <a:p>
            <a:r>
              <a:t>Mode: Math</a:t>
            </a:r>
          </a:p>
          <a:p>
            <a:r>
              <a:t>Goal: Break a composite shape into known parts and subtract openings before estimating coverage.</a:t>
            </a:r>
          </a:p>
          <a:p>
            <a:r>
              <a:t>Read: Textbook sections 10.4–10.7 pp.158–164</a:t>
            </a:r>
          </a:p>
          <a:p>
            <a:r>
              <a:t>Practise: Exercise Book 10A Q10–12 (p.64); 10B Q2 (p.65), Q11–12 (p.66); 10C Q4 (p.67)</a:t>
            </a:r>
          </a:p>
          <a:p>
            <a:r>
              <a:t>Tool: Shape Canvas: build a rectangle with an opening using two labelled shapes; compare parts. Numeracy Hub Shape Studio: use a solid/net as an optional surface-area preview.</a:t>
            </a:r>
          </a:p>
          <a:p/>
          <a:p>
            <a:r>
              <a:t>EXACT SCHEDULED STEPS</a:t>
            </a:r>
          </a:p>
          <a:p>
            <a:r>
              <a:t>2:15 PM–2:20 PM | 1 Start | 5 min</a:t>
            </a:r>
          </a:p>
          <a:p>
            <a:r>
              <a:t>Instructor: Connect composite areas, openings and surface coverage to a dimensioned carpentry drawing. State the objective.</a:t>
            </a:r>
          </a:p>
          <a:p>
            <a:r>
              <a:t>Learners: Describe a prior use of the skill; identify the given and unknown quantities.</a:t>
            </a:r>
          </a:p>
          <a:p>
            <a:r>
              <a:t>Materials/check: Notebook; calculator</a:t>
            </a:r>
          </a:p>
          <a:p>
            <a:r>
              <a:t>Source: 'Math Week 6'!A47:F47</a:t>
            </a:r>
          </a:p>
          <a:p/>
          <a:p>
            <a:r>
              <a:t>2:20 PM–2:25 PM | 2 Recall | 5 min</a:t>
            </a:r>
          </a:p>
          <a:p>
            <a:r>
              <a:t>Instructor: Show a panel with a hole; ask which area is added and which is subtracted.</a:t>
            </a:r>
          </a:p>
          <a:p>
            <a:r>
              <a:t>Learners: Attempt the retrieval task independently; explain the method before checking.</a:t>
            </a:r>
          </a:p>
          <a:p>
            <a:r>
              <a:t>Materials/check: Identify support needs</a:t>
            </a:r>
          </a:p>
          <a:p>
            <a:r>
              <a:t>Source: 'Math Week 6'!A48:F48</a:t>
            </a:r>
          </a:p>
          <a:p/>
          <a:p>
            <a:r>
              <a:t>2:25 PM–2:40 PM | 3 Teach | 15 min</a:t>
            </a:r>
          </a:p>
          <a:p>
            <a:r>
              <a:t>Instructor: Model Exercise Book 10B Q11 with outer and opening areas. Demonstrate a trapezoid and circle formula, keeping radius/diameter distinct.</a:t>
            </a:r>
          </a:p>
          <a:p>
            <a:r>
              <a:t>Learners: Annotate the example and predict the next step; ask about unclear units or symbols.</a:t>
            </a:r>
          </a:p>
          <a:p>
            <a:r>
              <a:t>Materials/check: Textbook; worked example</a:t>
            </a:r>
          </a:p>
          <a:p>
            <a:r>
              <a:t>Source: 'Math Week 6'!A49:F49</a:t>
            </a:r>
          </a:p>
          <a:p/>
          <a:p>
            <a:r>
              <a:t>2:40 PM–2:55 PM | 4 Together | 15 min</a:t>
            </a:r>
          </a:p>
          <a:p>
            <a:r>
              <a:t>Instructor: Work Exercise Book 10A Q10–12 and Exercise Book 10C Q4. Partners annotate non-overlapping pieces.</a:t>
            </a:r>
          </a:p>
          <a:p>
            <a:r>
              <a:t>Learners: Work in pairs, alternating solver and checker. Write a diagram, formula, units and estimate.</a:t>
            </a:r>
          </a:p>
          <a:p>
            <a:r>
              <a:t>Materials/check: Exercise Book; tool above</a:t>
            </a:r>
          </a:p>
          <a:p>
            <a:r>
              <a:t>Source: 'Math Week 6'!A50:F50</a:t>
            </a:r>
          </a:p>
          <a:p/>
          <a:p>
            <a:r>
              <a:t>2:55 PM–3:15 PM | 5 Practise | 20 min</a:t>
            </a:r>
          </a:p>
          <a:p>
            <a:r>
              <a:t>Instructor: Complete Exercise Book 10B Q2,11–12. Build a Shape Canvas sketch and label areas; use the net preview only if core subtraction and coverage are secure.</a:t>
            </a:r>
          </a:p>
          <a:p>
            <a:r>
              <a:t>Learners: Solve on paper first; check with tools; correct one error and explain the change.</a:t>
            </a:r>
          </a:p>
          <a:p>
            <a:r>
              <a:t>Materials/check: Paper first; tool second</a:t>
            </a:r>
          </a:p>
          <a:p>
            <a:r>
              <a:t>Source: 'Math Week 6'!A51:F51</a:t>
            </a:r>
          </a:p>
          <a:p/>
          <a:p>
            <a:r>
              <a:t>3:15 PM–3:25 PM | 6 Check | 10 min</a:t>
            </a:r>
          </a:p>
          <a:p>
            <a:r>
              <a:t>Instructor: Exercise Book 10B Q11 and Q2; report net area and whole tins to buy.</a:t>
            </a:r>
          </a:p>
          <a:p>
            <a:r>
              <a:t>Learners: Solve without displayed answers; include working, units and final rounding.</a:t>
            </a:r>
          </a:p>
          <a:p>
            <a:r>
              <a:t>Materials/check: Teacher answers below</a:t>
            </a:r>
          </a:p>
          <a:p>
            <a:r>
              <a:t>Source: 'Math Week 6'!A52:F52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6'!A53:F53</a:t>
            </a:r>
          </a:p>
          <a:p/>
          <a:p>
            <a:r>
              <a:t>INSTRUCTOR ONLY: REVEAL ASSESSMENT ANSWERS AFTER THE ATTEMPT</a:t>
            </a:r>
          </a:p>
          <a:p>
            <a:r>
              <a:t>10B Q11 = 900,000 mm² = 0.9 m²; Q2 = 4.57 L, buy 5 tins. Answer Key p.28. Answer Key pp.27–28</a:t>
            </a:r>
          </a:p>
          <a:p/>
          <a:p>
            <a:r>
              <a:t>Compare square units with cubic units before the volume lesson.</a:t>
            </a:r>
          </a:p>
          <a:p/>
          <a:p>
            <a:r>
              <a:t>Sources: 'Math Week 6'!A11:E11; 'Carpentry Schedule'!B62; 'Math Week 6'!A41</a:t>
            </a:r>
          </a:p>
          <a:p>
            <a:r>
              <a:t>Navigation/resource slides support these scheduled steps and do not add instructional time.</a:t>
            </a:r>
          </a:p>
          <a:p>
            <a:r>
              <a:t>SLIDE PLACEMENT: Teach, 2:25 PM–2:40 PM. All slides with this phase share these 15 minutes; do not restart the time allocation for each slide.</a:t>
            </a:r>
          </a:p>
          <a:p/>
          <a:p>
            <a:r>
              <a:t>Textbook visual: ACCESS Textbook p.162 • Example 10.8 — Add the shapes and subtract the opening</a:t>
            </a:r>
          </a:p>
          <a:p>
            <a:r>
              <a:t>Exact PDF/printed page: 162. Excerpt reproduced from the supplied ACCESS Textbook.</a:t>
            </a:r>
          </a:p>
          <a:p>
            <a:r>
              <a:t>Point to non-overlapping areas to add and the opening to subtract.</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W06-L02 | 2026-11-30 | 2:15 PM–3:30 PM | 75 minutes</a:t>
            </a:r>
          </a:p>
          <a:p>
            <a:r>
              <a:t>Composite areas, openings and surface coverage</a:t>
            </a:r>
          </a:p>
          <a:p>
            <a:r>
              <a:t>Mode: Math</a:t>
            </a:r>
          </a:p>
          <a:p>
            <a:r>
              <a:t>Goal: Break a composite shape into known parts and subtract openings before estimating coverage.</a:t>
            </a:r>
          </a:p>
          <a:p>
            <a:r>
              <a:t>Read: Textbook sections 10.4–10.7 pp.158–164</a:t>
            </a:r>
          </a:p>
          <a:p>
            <a:r>
              <a:t>Practise: Exercise Book 10A Q10–12 (p.64); 10B Q2 (p.65), Q11–12 (p.66); 10C Q4 (p.67)</a:t>
            </a:r>
          </a:p>
          <a:p>
            <a:r>
              <a:t>Tool: Shape Canvas: build a rectangle with an opening using two labelled shapes; compare parts. Numeracy Hub Shape Studio: use a solid/net as an optional surface-area preview.</a:t>
            </a:r>
          </a:p>
          <a:p/>
          <a:p>
            <a:r>
              <a:t>EXACT SCHEDULED STEPS</a:t>
            </a:r>
          </a:p>
          <a:p>
            <a:r>
              <a:t>2:15 PM–2:20 PM | 1 Start | 5 min</a:t>
            </a:r>
          </a:p>
          <a:p>
            <a:r>
              <a:t>Instructor: Connect composite areas, openings and surface coverage to a dimensioned carpentry drawing. State the objective.</a:t>
            </a:r>
          </a:p>
          <a:p>
            <a:r>
              <a:t>Learners: Describe a prior use of the skill; identify the given and unknown quantities.</a:t>
            </a:r>
          </a:p>
          <a:p>
            <a:r>
              <a:t>Materials/check: Notebook; calculator</a:t>
            </a:r>
          </a:p>
          <a:p>
            <a:r>
              <a:t>Source: 'Math Week 6'!A47:F47</a:t>
            </a:r>
          </a:p>
          <a:p/>
          <a:p>
            <a:r>
              <a:t>2:20 PM–2:25 PM | 2 Recall | 5 min</a:t>
            </a:r>
          </a:p>
          <a:p>
            <a:r>
              <a:t>Instructor: Show a panel with a hole; ask which area is added and which is subtracted.</a:t>
            </a:r>
          </a:p>
          <a:p>
            <a:r>
              <a:t>Learners: Attempt the retrieval task independently; explain the method before checking.</a:t>
            </a:r>
          </a:p>
          <a:p>
            <a:r>
              <a:t>Materials/check: Identify support needs</a:t>
            </a:r>
          </a:p>
          <a:p>
            <a:r>
              <a:t>Source: 'Math Week 6'!A48:F48</a:t>
            </a:r>
          </a:p>
          <a:p/>
          <a:p>
            <a:r>
              <a:t>2:25 PM–2:40 PM | 3 Teach | 15 min</a:t>
            </a:r>
          </a:p>
          <a:p>
            <a:r>
              <a:t>Instructor: Model Exercise Book 10B Q11 with outer and opening areas. Demonstrate a trapezoid and circle formula, keeping radius/diameter distinct.</a:t>
            </a:r>
          </a:p>
          <a:p>
            <a:r>
              <a:t>Learners: Annotate the example and predict the next step; ask about unclear units or symbols.</a:t>
            </a:r>
          </a:p>
          <a:p>
            <a:r>
              <a:t>Materials/check: Textbook; worked example</a:t>
            </a:r>
          </a:p>
          <a:p>
            <a:r>
              <a:t>Source: 'Math Week 6'!A49:F49</a:t>
            </a:r>
          </a:p>
          <a:p/>
          <a:p>
            <a:r>
              <a:t>2:40 PM–2:55 PM | 4 Together | 15 min</a:t>
            </a:r>
          </a:p>
          <a:p>
            <a:r>
              <a:t>Instructor: Work Exercise Book 10A Q10–12 and Exercise Book 10C Q4. Partners annotate non-overlapping pieces.</a:t>
            </a:r>
          </a:p>
          <a:p>
            <a:r>
              <a:t>Learners: Work in pairs, alternating solver and checker. Write a diagram, formula, units and estimate.</a:t>
            </a:r>
          </a:p>
          <a:p>
            <a:r>
              <a:t>Materials/check: Exercise Book; tool above</a:t>
            </a:r>
          </a:p>
          <a:p>
            <a:r>
              <a:t>Source: 'Math Week 6'!A50:F50</a:t>
            </a:r>
          </a:p>
          <a:p/>
          <a:p>
            <a:r>
              <a:t>2:55 PM–3:15 PM | 5 Practise | 20 min</a:t>
            </a:r>
          </a:p>
          <a:p>
            <a:r>
              <a:t>Instructor: Complete Exercise Book 10B Q2,11–12. Build a Shape Canvas sketch and label areas; use the net preview only if core subtraction and coverage are secure.</a:t>
            </a:r>
          </a:p>
          <a:p>
            <a:r>
              <a:t>Learners: Solve on paper first; check with tools; correct one error and explain the change.</a:t>
            </a:r>
          </a:p>
          <a:p>
            <a:r>
              <a:t>Materials/check: Paper first; tool second</a:t>
            </a:r>
          </a:p>
          <a:p>
            <a:r>
              <a:t>Source: 'Math Week 6'!A51:F51</a:t>
            </a:r>
          </a:p>
          <a:p/>
          <a:p>
            <a:r>
              <a:t>3:15 PM–3:25 PM | 6 Check | 10 min</a:t>
            </a:r>
          </a:p>
          <a:p>
            <a:r>
              <a:t>Instructor: Exercise Book 10B Q11 and Q2; report net area and whole tins to buy.</a:t>
            </a:r>
          </a:p>
          <a:p>
            <a:r>
              <a:t>Learners: Solve without displayed answers; include working, units and final rounding.</a:t>
            </a:r>
          </a:p>
          <a:p>
            <a:r>
              <a:t>Materials/check: Teacher answers below</a:t>
            </a:r>
          </a:p>
          <a:p>
            <a:r>
              <a:t>Source: 'Math Week 6'!A52:F52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6'!A53:F53</a:t>
            </a:r>
          </a:p>
          <a:p/>
          <a:p>
            <a:r>
              <a:t>INSTRUCTOR ONLY: REVEAL ASSESSMENT ANSWERS AFTER THE ATTEMPT</a:t>
            </a:r>
          </a:p>
          <a:p>
            <a:r>
              <a:t>10B Q11 = 900,000 mm² = 0.9 m²; Q2 = 4.57 L, buy 5 tins. Answer Key p.28. Answer Key pp.27–28</a:t>
            </a:r>
          </a:p>
          <a:p/>
          <a:p>
            <a:r>
              <a:t>Compare square units with cubic units before the volume lesson.</a:t>
            </a:r>
          </a:p>
          <a:p/>
          <a:p>
            <a:r>
              <a:t>Sources: 'Math Week 6'!A11:E11; 'Carpentry Schedule'!B62; 'Math Week 6'!A41</a:t>
            </a:r>
          </a:p>
          <a:p>
            <a:r>
              <a:t>Navigation/resource slides support these scheduled steps and do not add instructional time.</a:t>
            </a:r>
          </a:p>
          <a:p>
            <a:r>
              <a:t>SLIDE PLACEMENT: Teach, 2:25 PM–2:40 PM.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W06-L02 | 2026-11-30 | 2:15 PM–3:30 PM | 75 minutes</a:t>
            </a:r>
          </a:p>
          <a:p>
            <a:r>
              <a:t>Composite areas, openings and surface coverage</a:t>
            </a:r>
          </a:p>
          <a:p>
            <a:r>
              <a:t>Mode: Math</a:t>
            </a:r>
          </a:p>
          <a:p>
            <a:r>
              <a:t>Goal: Break a composite shape into known parts and subtract openings before estimating coverage.</a:t>
            </a:r>
          </a:p>
          <a:p>
            <a:r>
              <a:t>Read: Textbook sections 10.4–10.7 pp.158–164</a:t>
            </a:r>
          </a:p>
          <a:p>
            <a:r>
              <a:t>Practise: Exercise Book 10A Q10–12 (p.64); 10B Q2 (p.65), Q11–12 (p.66); 10C Q4 (p.67)</a:t>
            </a:r>
          </a:p>
          <a:p>
            <a:r>
              <a:t>Tool: Shape Canvas: build a rectangle with an opening using two labelled shapes; compare parts. Numeracy Hub Shape Studio: use a solid/net as an optional surface-area preview.</a:t>
            </a:r>
          </a:p>
          <a:p/>
          <a:p>
            <a:r>
              <a:t>EXACT SCHEDULED STEPS</a:t>
            </a:r>
          </a:p>
          <a:p>
            <a:r>
              <a:t>2:15 PM–2:20 PM | 1 Start | 5 min</a:t>
            </a:r>
          </a:p>
          <a:p>
            <a:r>
              <a:t>Instructor: Connect composite areas, openings and surface coverage to a dimensioned carpentry drawing. State the objective.</a:t>
            </a:r>
          </a:p>
          <a:p>
            <a:r>
              <a:t>Learners: Describe a prior use of the skill; identify the given and unknown quantities.</a:t>
            </a:r>
          </a:p>
          <a:p>
            <a:r>
              <a:t>Materials/check: Notebook; calculator</a:t>
            </a:r>
          </a:p>
          <a:p>
            <a:r>
              <a:t>Source: 'Math Week 6'!A47:F47</a:t>
            </a:r>
          </a:p>
          <a:p/>
          <a:p>
            <a:r>
              <a:t>2:20 PM–2:25 PM | 2 Recall | 5 min</a:t>
            </a:r>
          </a:p>
          <a:p>
            <a:r>
              <a:t>Instructor: Show a panel with a hole; ask which area is added and which is subtracted.</a:t>
            </a:r>
          </a:p>
          <a:p>
            <a:r>
              <a:t>Learners: Attempt the retrieval task independently; explain the method before checking.</a:t>
            </a:r>
          </a:p>
          <a:p>
            <a:r>
              <a:t>Materials/check: Identify support needs</a:t>
            </a:r>
          </a:p>
          <a:p>
            <a:r>
              <a:t>Source: 'Math Week 6'!A48:F48</a:t>
            </a:r>
          </a:p>
          <a:p/>
          <a:p>
            <a:r>
              <a:t>2:25 PM–2:40 PM | 3 Teach | 15 min</a:t>
            </a:r>
          </a:p>
          <a:p>
            <a:r>
              <a:t>Instructor: Model Exercise Book 10B Q11 with outer and opening areas. Demonstrate a trapezoid and circle formula, keeping radius/diameter distinct.</a:t>
            </a:r>
          </a:p>
          <a:p>
            <a:r>
              <a:t>Learners: Annotate the example and predict the next step; ask about unclear units or symbols.</a:t>
            </a:r>
          </a:p>
          <a:p>
            <a:r>
              <a:t>Materials/check: Textbook; worked example</a:t>
            </a:r>
          </a:p>
          <a:p>
            <a:r>
              <a:t>Source: 'Math Week 6'!A49:F49</a:t>
            </a:r>
          </a:p>
          <a:p/>
          <a:p>
            <a:r>
              <a:t>2:40 PM–2:55 PM | 4 Together | 15 min</a:t>
            </a:r>
          </a:p>
          <a:p>
            <a:r>
              <a:t>Instructor: Work Exercise Book 10A Q10–12 and Exercise Book 10C Q4. Partners annotate non-overlapping pieces.</a:t>
            </a:r>
          </a:p>
          <a:p>
            <a:r>
              <a:t>Learners: Work in pairs, alternating solver and checker. Write a diagram, formula, units and estimate.</a:t>
            </a:r>
          </a:p>
          <a:p>
            <a:r>
              <a:t>Materials/check: Exercise Book; tool above</a:t>
            </a:r>
          </a:p>
          <a:p>
            <a:r>
              <a:t>Source: 'Math Week 6'!A50:F50</a:t>
            </a:r>
          </a:p>
          <a:p/>
          <a:p>
            <a:r>
              <a:t>2:55 PM–3:15 PM | 5 Practise | 20 min</a:t>
            </a:r>
          </a:p>
          <a:p>
            <a:r>
              <a:t>Instructor: Complete Exercise Book 10B Q2,11–12. Build a Shape Canvas sketch and label areas; use the net preview only if core subtraction and coverage are secure.</a:t>
            </a:r>
          </a:p>
          <a:p>
            <a:r>
              <a:t>Learners: Solve on paper first; check with tools; correct one error and explain the change.</a:t>
            </a:r>
          </a:p>
          <a:p>
            <a:r>
              <a:t>Materials/check: Paper first; tool second</a:t>
            </a:r>
          </a:p>
          <a:p>
            <a:r>
              <a:t>Source: 'Math Week 6'!A51:F51</a:t>
            </a:r>
          </a:p>
          <a:p/>
          <a:p>
            <a:r>
              <a:t>3:15 PM–3:25 PM | 6 Check | 10 min</a:t>
            </a:r>
          </a:p>
          <a:p>
            <a:r>
              <a:t>Instructor: Exercise Book 10B Q11 and Q2; report net area and whole tins to buy.</a:t>
            </a:r>
          </a:p>
          <a:p>
            <a:r>
              <a:t>Learners: Solve without displayed answers; include working, units and final rounding.</a:t>
            </a:r>
          </a:p>
          <a:p>
            <a:r>
              <a:t>Materials/check: Teacher answers below</a:t>
            </a:r>
          </a:p>
          <a:p>
            <a:r>
              <a:t>Source: 'Math Week 6'!A52:F52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6'!A53:F53</a:t>
            </a:r>
          </a:p>
          <a:p/>
          <a:p>
            <a:r>
              <a:t>INSTRUCTOR ONLY: REVEAL ASSESSMENT ANSWERS AFTER THE ATTEMPT</a:t>
            </a:r>
          </a:p>
          <a:p>
            <a:r>
              <a:t>10B Q11 = 900,000 mm² = 0.9 m²; Q2 = 4.57 L, buy 5 tins. Answer Key p.28. Answer Key pp.27–28</a:t>
            </a:r>
          </a:p>
          <a:p/>
          <a:p>
            <a:r>
              <a:t>Compare square units with cubic units before the volume lesson.</a:t>
            </a:r>
          </a:p>
          <a:p/>
          <a:p>
            <a:r>
              <a:t>Sources: 'Math Week 6'!A11:E11; 'Carpentry Schedule'!B62; 'Math Week 6'!A41</a:t>
            </a:r>
          </a:p>
          <a:p>
            <a:r>
              <a:t>Navigation/resource slides support these scheduled steps and do not add instructional time.</a:t>
            </a:r>
          </a:p>
          <a:p>
            <a:r>
              <a:t>SLIDE PLACEMENT: Together, 2:40 PM–2:55 PM.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W06-L02 | 2026-11-30 | 2:15 PM–3:30 PM | 75 minutes</a:t>
            </a:r>
          </a:p>
          <a:p>
            <a:r>
              <a:t>Composite areas, openings and surface coverage</a:t>
            </a:r>
          </a:p>
          <a:p>
            <a:r>
              <a:t>Mode: Math</a:t>
            </a:r>
          </a:p>
          <a:p>
            <a:r>
              <a:t>Goal: Break a composite shape into known parts and subtract openings before estimating coverage.</a:t>
            </a:r>
          </a:p>
          <a:p>
            <a:r>
              <a:t>Read: Textbook sections 10.4–10.7 pp.158–164</a:t>
            </a:r>
          </a:p>
          <a:p>
            <a:r>
              <a:t>Practise: Exercise Book 10A Q10–12 (p.64); 10B Q2 (p.65), Q11–12 (p.66); 10C Q4 (p.67)</a:t>
            </a:r>
          </a:p>
          <a:p>
            <a:r>
              <a:t>Tool: Shape Canvas: build a rectangle with an opening using two labelled shapes; compare parts. Numeracy Hub Shape Studio: use a solid/net as an optional surface-area preview.</a:t>
            </a:r>
          </a:p>
          <a:p/>
          <a:p>
            <a:r>
              <a:t>EXACT SCHEDULED STEPS</a:t>
            </a:r>
          </a:p>
          <a:p>
            <a:r>
              <a:t>2:15 PM–2:20 PM | 1 Start | 5 min</a:t>
            </a:r>
          </a:p>
          <a:p>
            <a:r>
              <a:t>Instructor: Connect composite areas, openings and surface coverage to a dimensioned carpentry drawing. State the objective.</a:t>
            </a:r>
          </a:p>
          <a:p>
            <a:r>
              <a:t>Learners: Describe a prior use of the skill; identify the given and unknown quantities.</a:t>
            </a:r>
          </a:p>
          <a:p>
            <a:r>
              <a:t>Materials/check: Notebook; calculator</a:t>
            </a:r>
          </a:p>
          <a:p>
            <a:r>
              <a:t>Source: 'Math Week 6'!A47:F47</a:t>
            </a:r>
          </a:p>
          <a:p/>
          <a:p>
            <a:r>
              <a:t>2:20 PM–2:25 PM | 2 Recall | 5 min</a:t>
            </a:r>
          </a:p>
          <a:p>
            <a:r>
              <a:t>Instructor: Show a panel with a hole; ask which area is added and which is subtracted.</a:t>
            </a:r>
          </a:p>
          <a:p>
            <a:r>
              <a:t>Learners: Attempt the retrieval task independently; explain the method before checking.</a:t>
            </a:r>
          </a:p>
          <a:p>
            <a:r>
              <a:t>Materials/check: Identify support needs</a:t>
            </a:r>
          </a:p>
          <a:p>
            <a:r>
              <a:t>Source: 'Math Week 6'!A48:F48</a:t>
            </a:r>
          </a:p>
          <a:p/>
          <a:p>
            <a:r>
              <a:t>2:25 PM–2:40 PM | 3 Teach | 15 min</a:t>
            </a:r>
          </a:p>
          <a:p>
            <a:r>
              <a:t>Instructor: Model Exercise Book 10B Q11 with outer and opening areas. Demonstrate a trapezoid and circle formula, keeping radius/diameter distinct.</a:t>
            </a:r>
          </a:p>
          <a:p>
            <a:r>
              <a:t>Learners: Annotate the example and predict the next step; ask about unclear units or symbols.</a:t>
            </a:r>
          </a:p>
          <a:p>
            <a:r>
              <a:t>Materials/check: Textbook; worked example</a:t>
            </a:r>
          </a:p>
          <a:p>
            <a:r>
              <a:t>Source: 'Math Week 6'!A49:F49</a:t>
            </a:r>
          </a:p>
          <a:p/>
          <a:p>
            <a:r>
              <a:t>2:40 PM–2:55 PM | 4 Together | 15 min</a:t>
            </a:r>
          </a:p>
          <a:p>
            <a:r>
              <a:t>Instructor: Work Exercise Book 10A Q10–12 and Exercise Book 10C Q4. Partners annotate non-overlapping pieces.</a:t>
            </a:r>
          </a:p>
          <a:p>
            <a:r>
              <a:t>Learners: Work in pairs, alternating solver and checker. Write a diagram, formula, units and estimate.</a:t>
            </a:r>
          </a:p>
          <a:p>
            <a:r>
              <a:t>Materials/check: Exercise Book; tool above</a:t>
            </a:r>
          </a:p>
          <a:p>
            <a:r>
              <a:t>Source: 'Math Week 6'!A50:F50</a:t>
            </a:r>
          </a:p>
          <a:p/>
          <a:p>
            <a:r>
              <a:t>2:55 PM–3:15 PM | 5 Practise | 20 min</a:t>
            </a:r>
          </a:p>
          <a:p>
            <a:r>
              <a:t>Instructor: Complete Exercise Book 10B Q2,11–12. Build a Shape Canvas sketch and label areas; use the net preview only if core subtraction and coverage are secure.</a:t>
            </a:r>
          </a:p>
          <a:p>
            <a:r>
              <a:t>Learners: Solve on paper first; check with tools; correct one error and explain the change.</a:t>
            </a:r>
          </a:p>
          <a:p>
            <a:r>
              <a:t>Materials/check: Paper first; tool second</a:t>
            </a:r>
          </a:p>
          <a:p>
            <a:r>
              <a:t>Source: 'Math Week 6'!A51:F51</a:t>
            </a:r>
          </a:p>
          <a:p/>
          <a:p>
            <a:r>
              <a:t>3:15 PM–3:25 PM | 6 Check | 10 min</a:t>
            </a:r>
          </a:p>
          <a:p>
            <a:r>
              <a:t>Instructor: Exercise Book 10B Q11 and Q2; report net area and whole tins to buy.</a:t>
            </a:r>
          </a:p>
          <a:p>
            <a:r>
              <a:t>Learners: Solve without displayed answers; include working, units and final rounding.</a:t>
            </a:r>
          </a:p>
          <a:p>
            <a:r>
              <a:t>Materials/check: Teacher answers below</a:t>
            </a:r>
          </a:p>
          <a:p>
            <a:r>
              <a:t>Source: 'Math Week 6'!A52:F52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6'!A53:F53</a:t>
            </a:r>
          </a:p>
          <a:p/>
          <a:p>
            <a:r>
              <a:t>INSTRUCTOR ONLY: REVEAL ASSESSMENT ANSWERS AFTER THE ATTEMPT</a:t>
            </a:r>
          </a:p>
          <a:p>
            <a:r>
              <a:t>10B Q11 = 900,000 mm² = 0.9 m²; Q2 = 4.57 L, buy 5 tins. Answer Key p.28. Answer Key pp.27–28</a:t>
            </a:r>
          </a:p>
          <a:p/>
          <a:p>
            <a:r>
              <a:t>Compare square units with cubic units before the volume lesson.</a:t>
            </a:r>
          </a:p>
          <a:p/>
          <a:p>
            <a:r>
              <a:t>Sources: 'Math Week 6'!A11:E11; 'Carpentry Schedule'!B62; 'Math Week 6'!A41</a:t>
            </a:r>
          </a:p>
          <a:p>
            <a:r>
              <a:t>Navigation/resource slides support these scheduled steps and do not add instructional time.</a:t>
            </a:r>
          </a:p>
          <a:p>
            <a:r>
              <a:t>SLIDE PLACEMENT: Together, 2:40 PM–2:55 PM. All slides with this phase share these 15 minutes; do not restart the time allocation for each slide.</a:t>
            </a:r>
          </a:p>
          <a:p/>
          <a:p>
            <a:r>
              <a:t>ACCESS EXERCISE BOOK: 10A-Q10</a:t>
            </a:r>
          </a:p>
          <a:p>
            <a:r>
              <a:t>Exact question: Trapezoid: parallel sides 250 mm and 410 mm, height 180 mm. Find the area.</a:t>
            </a:r>
          </a:p>
          <a:p>
            <a:r>
              <a:t>Instructor answer: 59,400 mm²</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W06-L02 | 2026-11-30 | 2:15 PM–3:30 PM | 75 minutes</a:t>
            </a:r>
          </a:p>
          <a:p>
            <a:r>
              <a:t>Composite areas, openings and surface coverage</a:t>
            </a:r>
          </a:p>
          <a:p>
            <a:r>
              <a:t>Mode: Math</a:t>
            </a:r>
          </a:p>
          <a:p>
            <a:r>
              <a:t>Goal: Break a composite shape into known parts and subtract openings before estimating coverage.</a:t>
            </a:r>
          </a:p>
          <a:p>
            <a:r>
              <a:t>Read: Textbook sections 10.4–10.7 pp.158–164</a:t>
            </a:r>
          </a:p>
          <a:p>
            <a:r>
              <a:t>Practise: Exercise Book 10A Q10–12 (p.64); 10B Q2 (p.65), Q11–12 (p.66); 10C Q4 (p.67)</a:t>
            </a:r>
          </a:p>
          <a:p>
            <a:r>
              <a:t>Tool: Shape Canvas: build a rectangle with an opening using two labelled shapes; compare parts. Numeracy Hub Shape Studio: use a solid/net as an optional surface-area preview.</a:t>
            </a:r>
          </a:p>
          <a:p/>
          <a:p>
            <a:r>
              <a:t>EXACT SCHEDULED STEPS</a:t>
            </a:r>
          </a:p>
          <a:p>
            <a:r>
              <a:t>2:15 PM–2:20 PM | 1 Start | 5 min</a:t>
            </a:r>
          </a:p>
          <a:p>
            <a:r>
              <a:t>Instructor: Connect composite areas, openings and surface coverage to a dimensioned carpentry drawing. State the objective.</a:t>
            </a:r>
          </a:p>
          <a:p>
            <a:r>
              <a:t>Learners: Describe a prior use of the skill; identify the given and unknown quantities.</a:t>
            </a:r>
          </a:p>
          <a:p>
            <a:r>
              <a:t>Materials/check: Notebook; calculator</a:t>
            </a:r>
          </a:p>
          <a:p>
            <a:r>
              <a:t>Source: 'Math Week 6'!A47:F47</a:t>
            </a:r>
          </a:p>
          <a:p/>
          <a:p>
            <a:r>
              <a:t>2:20 PM–2:25 PM | 2 Recall | 5 min</a:t>
            </a:r>
          </a:p>
          <a:p>
            <a:r>
              <a:t>Instructor: Show a panel with a hole; ask which area is added and which is subtracted.</a:t>
            </a:r>
          </a:p>
          <a:p>
            <a:r>
              <a:t>Learners: Attempt the retrieval task independently; explain the method before checking.</a:t>
            </a:r>
          </a:p>
          <a:p>
            <a:r>
              <a:t>Materials/check: Identify support needs</a:t>
            </a:r>
          </a:p>
          <a:p>
            <a:r>
              <a:t>Source: 'Math Week 6'!A48:F48</a:t>
            </a:r>
          </a:p>
          <a:p/>
          <a:p>
            <a:r>
              <a:t>2:25 PM–2:40 PM | 3 Teach | 15 min</a:t>
            </a:r>
          </a:p>
          <a:p>
            <a:r>
              <a:t>Instructor: Model Exercise Book 10B Q11 with outer and opening areas. Demonstrate a trapezoid and circle formula, keeping radius/diameter distinct.</a:t>
            </a:r>
          </a:p>
          <a:p>
            <a:r>
              <a:t>Learners: Annotate the example and predict the next step; ask about unclear units or symbols.</a:t>
            </a:r>
          </a:p>
          <a:p>
            <a:r>
              <a:t>Materials/check: Textbook; worked example</a:t>
            </a:r>
          </a:p>
          <a:p>
            <a:r>
              <a:t>Source: 'Math Week 6'!A49:F49</a:t>
            </a:r>
          </a:p>
          <a:p/>
          <a:p>
            <a:r>
              <a:t>2:40 PM–2:55 PM | 4 Together | 15 min</a:t>
            </a:r>
          </a:p>
          <a:p>
            <a:r>
              <a:t>Instructor: Work Exercise Book 10A Q10–12 and Exercise Book 10C Q4. Partners annotate non-overlapping pieces.</a:t>
            </a:r>
          </a:p>
          <a:p>
            <a:r>
              <a:t>Learners: Work in pairs, alternating solver and checker. Write a diagram, formula, units and estimate.</a:t>
            </a:r>
          </a:p>
          <a:p>
            <a:r>
              <a:t>Materials/check: Exercise Book; tool above</a:t>
            </a:r>
          </a:p>
          <a:p>
            <a:r>
              <a:t>Source: 'Math Week 6'!A50:F50</a:t>
            </a:r>
          </a:p>
          <a:p/>
          <a:p>
            <a:r>
              <a:t>2:55 PM–3:15 PM | 5 Practise | 20 min</a:t>
            </a:r>
          </a:p>
          <a:p>
            <a:r>
              <a:t>Instructor: Complete Exercise Book 10B Q2,11–12. Build a Shape Canvas sketch and label areas; use the net preview only if core subtraction and coverage are secure.</a:t>
            </a:r>
          </a:p>
          <a:p>
            <a:r>
              <a:t>Learners: Solve on paper first; check with tools; correct one error and explain the change.</a:t>
            </a:r>
          </a:p>
          <a:p>
            <a:r>
              <a:t>Materials/check: Paper first; tool second</a:t>
            </a:r>
          </a:p>
          <a:p>
            <a:r>
              <a:t>Source: 'Math Week 6'!A51:F51</a:t>
            </a:r>
          </a:p>
          <a:p/>
          <a:p>
            <a:r>
              <a:t>3:15 PM–3:25 PM | 6 Check | 10 min</a:t>
            </a:r>
          </a:p>
          <a:p>
            <a:r>
              <a:t>Instructor: Exercise Book 10B Q11 and Q2; report net area and whole tins to buy.</a:t>
            </a:r>
          </a:p>
          <a:p>
            <a:r>
              <a:t>Learners: Solve without displayed answers; include working, units and final rounding.</a:t>
            </a:r>
          </a:p>
          <a:p>
            <a:r>
              <a:t>Materials/check: Teacher answers below</a:t>
            </a:r>
          </a:p>
          <a:p>
            <a:r>
              <a:t>Source: 'Math Week 6'!A52:F52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6'!A53:F53</a:t>
            </a:r>
          </a:p>
          <a:p/>
          <a:p>
            <a:r>
              <a:t>INSTRUCTOR ONLY: REVEAL ASSESSMENT ANSWERS AFTER THE ATTEMPT</a:t>
            </a:r>
          </a:p>
          <a:p>
            <a:r>
              <a:t>10B Q11 = 900,000 mm² = 0.9 m²; Q2 = 4.57 L, buy 5 tins. Answer Key p.28. Answer Key pp.27–28</a:t>
            </a:r>
          </a:p>
          <a:p/>
          <a:p>
            <a:r>
              <a:t>Compare square units with cubic units before the volume lesson.</a:t>
            </a:r>
          </a:p>
          <a:p/>
          <a:p>
            <a:r>
              <a:t>Sources: 'Math Week 6'!A11:E11; 'Carpentry Schedule'!B62; 'Math Week 6'!A41</a:t>
            </a:r>
          </a:p>
          <a:p>
            <a:r>
              <a:t>Navigation/resource slides support these scheduled steps and do not add instructional time.</a:t>
            </a:r>
          </a:p>
          <a:p>
            <a:r>
              <a:t>SLIDE PLACEMENT: Together, 2:40 PM–2:55 PM. All slides with this phase share these 15 minutes; do not restart the time allocation for each slide.</a:t>
            </a:r>
          </a:p>
          <a:p/>
          <a:p>
            <a:r>
              <a:t>ACCESS EXERCISE BOOK: 10A-Q10</a:t>
            </a:r>
          </a:p>
          <a:p>
            <a:r>
              <a:t>Exact question: Trapezoid: parallel sides 250 mm and 410 mm, height 180 mm. Find the area.</a:t>
            </a:r>
          </a:p>
          <a:p>
            <a:r>
              <a:t>Instructor answer: 59,400 mm²</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W06-L02 | 2026-11-30 | 2:15 PM–3:30 PM | 75 minutes</a:t>
            </a:r>
          </a:p>
          <a:p>
            <a:r>
              <a:t>Composite areas, openings and surface coverage</a:t>
            </a:r>
          </a:p>
          <a:p>
            <a:r>
              <a:t>Mode: Math</a:t>
            </a:r>
          </a:p>
          <a:p>
            <a:r>
              <a:t>Goal: Break a composite shape into known parts and subtract openings before estimating coverage.</a:t>
            </a:r>
          </a:p>
          <a:p>
            <a:r>
              <a:t>Read: Textbook sections 10.4–10.7 pp.158–164</a:t>
            </a:r>
          </a:p>
          <a:p>
            <a:r>
              <a:t>Practise: Exercise Book 10A Q10–12 (p.64); 10B Q2 (p.65), Q11–12 (p.66); 10C Q4 (p.67)</a:t>
            </a:r>
          </a:p>
          <a:p>
            <a:r>
              <a:t>Tool: Shape Canvas: build a rectangle with an opening using two labelled shapes; compare parts. Numeracy Hub Shape Studio: use a solid/net as an optional surface-area preview.</a:t>
            </a:r>
          </a:p>
          <a:p/>
          <a:p>
            <a:r>
              <a:t>EXACT SCHEDULED STEPS</a:t>
            </a:r>
          </a:p>
          <a:p>
            <a:r>
              <a:t>2:15 PM–2:20 PM | 1 Start | 5 min</a:t>
            </a:r>
          </a:p>
          <a:p>
            <a:r>
              <a:t>Instructor: Connect composite areas, openings and surface coverage to a dimensioned carpentry drawing. State the objective.</a:t>
            </a:r>
          </a:p>
          <a:p>
            <a:r>
              <a:t>Learners: Describe a prior use of the skill; identify the given and unknown quantities.</a:t>
            </a:r>
          </a:p>
          <a:p>
            <a:r>
              <a:t>Materials/check: Notebook; calculator</a:t>
            </a:r>
          </a:p>
          <a:p>
            <a:r>
              <a:t>Source: 'Math Week 6'!A47:F47</a:t>
            </a:r>
          </a:p>
          <a:p/>
          <a:p>
            <a:r>
              <a:t>2:20 PM–2:25 PM | 2 Recall | 5 min</a:t>
            </a:r>
          </a:p>
          <a:p>
            <a:r>
              <a:t>Instructor: Show a panel with a hole; ask which area is added and which is subtracted.</a:t>
            </a:r>
          </a:p>
          <a:p>
            <a:r>
              <a:t>Learners: Attempt the retrieval task independently; explain the method before checking.</a:t>
            </a:r>
          </a:p>
          <a:p>
            <a:r>
              <a:t>Materials/check: Identify support needs</a:t>
            </a:r>
          </a:p>
          <a:p>
            <a:r>
              <a:t>Source: 'Math Week 6'!A48:F48</a:t>
            </a:r>
          </a:p>
          <a:p/>
          <a:p>
            <a:r>
              <a:t>2:25 PM–2:40 PM | 3 Teach | 15 min</a:t>
            </a:r>
          </a:p>
          <a:p>
            <a:r>
              <a:t>Instructor: Model Exercise Book 10B Q11 with outer and opening areas. Demonstrate a trapezoid and circle formula, keeping radius/diameter distinct.</a:t>
            </a:r>
          </a:p>
          <a:p>
            <a:r>
              <a:t>Learners: Annotate the example and predict the next step; ask about unclear units or symbols.</a:t>
            </a:r>
          </a:p>
          <a:p>
            <a:r>
              <a:t>Materials/check: Textbook; worked example</a:t>
            </a:r>
          </a:p>
          <a:p>
            <a:r>
              <a:t>Source: 'Math Week 6'!A49:F49</a:t>
            </a:r>
          </a:p>
          <a:p/>
          <a:p>
            <a:r>
              <a:t>2:40 PM–2:55 PM | 4 Together | 15 min</a:t>
            </a:r>
          </a:p>
          <a:p>
            <a:r>
              <a:t>Instructor: Work Exercise Book 10A Q10–12 and Exercise Book 10C Q4. Partners annotate non-overlapping pieces.</a:t>
            </a:r>
          </a:p>
          <a:p>
            <a:r>
              <a:t>Learners: Work in pairs, alternating solver and checker. Write a diagram, formula, units and estimate.</a:t>
            </a:r>
          </a:p>
          <a:p>
            <a:r>
              <a:t>Materials/check: Exercise Book; tool above</a:t>
            </a:r>
          </a:p>
          <a:p>
            <a:r>
              <a:t>Source: 'Math Week 6'!A50:F50</a:t>
            </a:r>
          </a:p>
          <a:p/>
          <a:p>
            <a:r>
              <a:t>2:55 PM–3:15 PM | 5 Practise | 20 min</a:t>
            </a:r>
          </a:p>
          <a:p>
            <a:r>
              <a:t>Instructor: Complete Exercise Book 10B Q2,11–12. Build a Shape Canvas sketch and label areas; use the net preview only if core subtraction and coverage are secure.</a:t>
            </a:r>
          </a:p>
          <a:p>
            <a:r>
              <a:t>Learners: Solve on paper first; check with tools; correct one error and explain the change.</a:t>
            </a:r>
          </a:p>
          <a:p>
            <a:r>
              <a:t>Materials/check: Paper first; tool second</a:t>
            </a:r>
          </a:p>
          <a:p>
            <a:r>
              <a:t>Source: 'Math Week 6'!A51:F51</a:t>
            </a:r>
          </a:p>
          <a:p/>
          <a:p>
            <a:r>
              <a:t>3:15 PM–3:25 PM | 6 Check | 10 min</a:t>
            </a:r>
          </a:p>
          <a:p>
            <a:r>
              <a:t>Instructor: Exercise Book 10B Q11 and Q2; report net area and whole tins to buy.</a:t>
            </a:r>
          </a:p>
          <a:p>
            <a:r>
              <a:t>Learners: Solve without displayed answers; include working, units and final rounding.</a:t>
            </a:r>
          </a:p>
          <a:p>
            <a:r>
              <a:t>Materials/check: Teacher answers below</a:t>
            </a:r>
          </a:p>
          <a:p>
            <a:r>
              <a:t>Source: 'Math Week 6'!A52:F52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6'!A53:F53</a:t>
            </a:r>
          </a:p>
          <a:p/>
          <a:p>
            <a:r>
              <a:t>INSTRUCTOR ONLY: REVEAL ASSESSMENT ANSWERS AFTER THE ATTEMPT</a:t>
            </a:r>
          </a:p>
          <a:p>
            <a:r>
              <a:t>10B Q11 = 900,000 mm² = 0.9 m²; Q2 = 4.57 L, buy 5 tins. Answer Key p.28. Answer Key pp.27–28</a:t>
            </a:r>
          </a:p>
          <a:p/>
          <a:p>
            <a:r>
              <a:t>Compare square units with cubic units before the volume lesson.</a:t>
            </a:r>
          </a:p>
          <a:p/>
          <a:p>
            <a:r>
              <a:t>Sources: 'Math Week 6'!A11:E11; 'Carpentry Schedule'!B62; 'Math Week 6'!A41</a:t>
            </a:r>
          </a:p>
          <a:p>
            <a:r>
              <a:t>Navigation/resource slides support these scheduled steps and do not add instructional time.</a:t>
            </a:r>
          </a:p>
          <a:p>
            <a:r>
              <a:t>SLIDE PLACEMENT: Practise, 2:55 PM–3:15 PM.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W06-L02 | 2026-11-30 | 2:15 PM–3:30 PM | 75 minutes</a:t>
            </a:r>
          </a:p>
          <a:p>
            <a:r>
              <a:t>Composite areas, openings and surface coverage</a:t>
            </a:r>
          </a:p>
          <a:p>
            <a:r>
              <a:t>Mode: Math</a:t>
            </a:r>
          </a:p>
          <a:p>
            <a:r>
              <a:t>Goal: Break a composite shape into known parts and subtract openings before estimating coverage.</a:t>
            </a:r>
          </a:p>
          <a:p>
            <a:r>
              <a:t>Read: Textbook sections 10.4–10.7 pp.158–164</a:t>
            </a:r>
          </a:p>
          <a:p>
            <a:r>
              <a:t>Practise: Exercise Book 10A Q10–12 (p.64); 10B Q2 (p.65), Q11–12 (p.66); 10C Q4 (p.67)</a:t>
            </a:r>
          </a:p>
          <a:p>
            <a:r>
              <a:t>Tool: Shape Canvas: build a rectangle with an opening using two labelled shapes; compare parts. Numeracy Hub Shape Studio: use a solid/net as an optional surface-area preview.</a:t>
            </a:r>
          </a:p>
          <a:p/>
          <a:p>
            <a:r>
              <a:t>EXACT SCHEDULED STEPS</a:t>
            </a:r>
          </a:p>
          <a:p>
            <a:r>
              <a:t>2:15 PM–2:20 PM | 1 Start | 5 min</a:t>
            </a:r>
          </a:p>
          <a:p>
            <a:r>
              <a:t>Instructor: Connect composite areas, openings and surface coverage to a dimensioned carpentry drawing. State the objective.</a:t>
            </a:r>
          </a:p>
          <a:p>
            <a:r>
              <a:t>Learners: Describe a prior use of the skill; identify the given and unknown quantities.</a:t>
            </a:r>
          </a:p>
          <a:p>
            <a:r>
              <a:t>Materials/check: Notebook; calculator</a:t>
            </a:r>
          </a:p>
          <a:p>
            <a:r>
              <a:t>Source: 'Math Week 6'!A47:F47</a:t>
            </a:r>
          </a:p>
          <a:p/>
          <a:p>
            <a:r>
              <a:t>2:20 PM–2:25 PM | 2 Recall | 5 min</a:t>
            </a:r>
          </a:p>
          <a:p>
            <a:r>
              <a:t>Instructor: Show a panel with a hole; ask which area is added and which is subtracted.</a:t>
            </a:r>
          </a:p>
          <a:p>
            <a:r>
              <a:t>Learners: Attempt the retrieval task independently; explain the method before checking.</a:t>
            </a:r>
          </a:p>
          <a:p>
            <a:r>
              <a:t>Materials/check: Identify support needs</a:t>
            </a:r>
          </a:p>
          <a:p>
            <a:r>
              <a:t>Source: 'Math Week 6'!A48:F48</a:t>
            </a:r>
          </a:p>
          <a:p/>
          <a:p>
            <a:r>
              <a:t>2:25 PM–2:40 PM | 3 Teach | 15 min</a:t>
            </a:r>
          </a:p>
          <a:p>
            <a:r>
              <a:t>Instructor: Model Exercise Book 10B Q11 with outer and opening areas. Demonstrate a trapezoid and circle formula, keeping radius/diameter distinct.</a:t>
            </a:r>
          </a:p>
          <a:p>
            <a:r>
              <a:t>Learners: Annotate the example and predict the next step; ask about unclear units or symbols.</a:t>
            </a:r>
          </a:p>
          <a:p>
            <a:r>
              <a:t>Materials/check: Textbook; worked example</a:t>
            </a:r>
          </a:p>
          <a:p>
            <a:r>
              <a:t>Source: 'Math Week 6'!A49:F49</a:t>
            </a:r>
          </a:p>
          <a:p/>
          <a:p>
            <a:r>
              <a:t>2:40 PM–2:55 PM | 4 Together | 15 min</a:t>
            </a:r>
          </a:p>
          <a:p>
            <a:r>
              <a:t>Instructor: Work Exercise Book 10A Q10–12 and Exercise Book 10C Q4. Partners annotate non-overlapping pieces.</a:t>
            </a:r>
          </a:p>
          <a:p>
            <a:r>
              <a:t>Learners: Work in pairs, alternating solver and checker. Write a diagram, formula, units and estimate.</a:t>
            </a:r>
          </a:p>
          <a:p>
            <a:r>
              <a:t>Materials/check: Exercise Book; tool above</a:t>
            </a:r>
          </a:p>
          <a:p>
            <a:r>
              <a:t>Source: 'Math Week 6'!A50:F50</a:t>
            </a:r>
          </a:p>
          <a:p/>
          <a:p>
            <a:r>
              <a:t>2:55 PM–3:15 PM | 5 Practise | 20 min</a:t>
            </a:r>
          </a:p>
          <a:p>
            <a:r>
              <a:t>Instructor: Complete Exercise Book 10B Q2,11–12. Build a Shape Canvas sketch and label areas; use the net preview only if core subtraction and coverage are secure.</a:t>
            </a:r>
          </a:p>
          <a:p>
            <a:r>
              <a:t>Learners: Solve on paper first; check with tools; correct one error and explain the change.</a:t>
            </a:r>
          </a:p>
          <a:p>
            <a:r>
              <a:t>Materials/check: Paper first; tool second</a:t>
            </a:r>
          </a:p>
          <a:p>
            <a:r>
              <a:t>Source: 'Math Week 6'!A51:F51</a:t>
            </a:r>
          </a:p>
          <a:p/>
          <a:p>
            <a:r>
              <a:t>3:15 PM–3:25 PM | 6 Check | 10 min</a:t>
            </a:r>
          </a:p>
          <a:p>
            <a:r>
              <a:t>Instructor: Exercise Book 10B Q11 and Q2; report net area and whole tins to buy.</a:t>
            </a:r>
          </a:p>
          <a:p>
            <a:r>
              <a:t>Learners: Solve without displayed answers; include working, units and final rounding.</a:t>
            </a:r>
          </a:p>
          <a:p>
            <a:r>
              <a:t>Materials/check: Teacher answers below</a:t>
            </a:r>
          </a:p>
          <a:p>
            <a:r>
              <a:t>Source: 'Math Week 6'!A52:F52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6'!A53:F53</a:t>
            </a:r>
          </a:p>
          <a:p/>
          <a:p>
            <a:r>
              <a:t>INSTRUCTOR ONLY: REVEAL ASSESSMENT ANSWERS AFTER THE ATTEMPT</a:t>
            </a:r>
          </a:p>
          <a:p>
            <a:r>
              <a:t>10B Q11 = 900,000 mm² = 0.9 m²; Q2 = 4.57 L, buy 5 tins. Answer Key p.28. Answer Key pp.27–28</a:t>
            </a:r>
          </a:p>
          <a:p/>
          <a:p>
            <a:r>
              <a:t>Compare square units with cubic units before the volume lesson.</a:t>
            </a:r>
          </a:p>
          <a:p/>
          <a:p>
            <a:r>
              <a:t>Sources: 'Math Week 6'!A11:E11; 'Carpentry Schedule'!B62; 'Math Week 6'!A41</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W06-L02 | 2026-11-30 | 2:15 PM–3:30 PM | 75 minutes</a:t>
            </a:r>
          </a:p>
          <a:p>
            <a:r>
              <a:t>Composite areas, openings and surface coverage</a:t>
            </a:r>
          </a:p>
          <a:p>
            <a:r>
              <a:t>Mode: Math</a:t>
            </a:r>
          </a:p>
          <a:p>
            <a:r>
              <a:t>Goal: Break a composite shape into known parts and subtract openings before estimating coverage.</a:t>
            </a:r>
          </a:p>
          <a:p>
            <a:r>
              <a:t>Read: Textbook sections 10.4–10.7 pp.158–164</a:t>
            </a:r>
          </a:p>
          <a:p>
            <a:r>
              <a:t>Practise: Exercise Book 10A Q10–12 (p.64); 10B Q2 (p.65), Q11–12 (p.66); 10C Q4 (p.67)</a:t>
            </a:r>
          </a:p>
          <a:p>
            <a:r>
              <a:t>Tool: Shape Canvas: build a rectangle with an opening using two labelled shapes; compare parts. Numeracy Hub Shape Studio: use a solid/net as an optional surface-area preview.</a:t>
            </a:r>
          </a:p>
          <a:p/>
          <a:p>
            <a:r>
              <a:t>EXACT SCHEDULED STEPS</a:t>
            </a:r>
          </a:p>
          <a:p>
            <a:r>
              <a:t>2:15 PM–2:20 PM | 1 Start | 5 min</a:t>
            </a:r>
          </a:p>
          <a:p>
            <a:r>
              <a:t>Instructor: Connect composite areas, openings and surface coverage to a dimensioned carpentry drawing. State the objective.</a:t>
            </a:r>
          </a:p>
          <a:p>
            <a:r>
              <a:t>Learners: Describe a prior use of the skill; identify the given and unknown quantities.</a:t>
            </a:r>
          </a:p>
          <a:p>
            <a:r>
              <a:t>Materials/check: Notebook; calculator</a:t>
            </a:r>
          </a:p>
          <a:p>
            <a:r>
              <a:t>Source: 'Math Week 6'!A47:F47</a:t>
            </a:r>
          </a:p>
          <a:p/>
          <a:p>
            <a:r>
              <a:t>2:20 PM–2:25 PM | 2 Recall | 5 min</a:t>
            </a:r>
          </a:p>
          <a:p>
            <a:r>
              <a:t>Instructor: Show a panel with a hole; ask which area is added and which is subtracted.</a:t>
            </a:r>
          </a:p>
          <a:p>
            <a:r>
              <a:t>Learners: Attempt the retrieval task independently; explain the method before checking.</a:t>
            </a:r>
          </a:p>
          <a:p>
            <a:r>
              <a:t>Materials/check: Identify support needs</a:t>
            </a:r>
          </a:p>
          <a:p>
            <a:r>
              <a:t>Source: 'Math Week 6'!A48:F48</a:t>
            </a:r>
          </a:p>
          <a:p/>
          <a:p>
            <a:r>
              <a:t>2:25 PM–2:40 PM | 3 Teach | 15 min</a:t>
            </a:r>
          </a:p>
          <a:p>
            <a:r>
              <a:t>Instructor: Model Exercise Book 10B Q11 with outer and opening areas. Demonstrate a trapezoid and circle formula, keeping radius/diameter distinct.</a:t>
            </a:r>
          </a:p>
          <a:p>
            <a:r>
              <a:t>Learners: Annotate the example and predict the next step; ask about unclear units or symbols.</a:t>
            </a:r>
          </a:p>
          <a:p>
            <a:r>
              <a:t>Materials/check: Textbook; worked example</a:t>
            </a:r>
          </a:p>
          <a:p>
            <a:r>
              <a:t>Source: 'Math Week 6'!A49:F49</a:t>
            </a:r>
          </a:p>
          <a:p/>
          <a:p>
            <a:r>
              <a:t>2:40 PM–2:55 PM | 4 Together | 15 min</a:t>
            </a:r>
          </a:p>
          <a:p>
            <a:r>
              <a:t>Instructor: Work Exercise Book 10A Q10–12 and Exercise Book 10C Q4. Partners annotate non-overlapping pieces.</a:t>
            </a:r>
          </a:p>
          <a:p>
            <a:r>
              <a:t>Learners: Work in pairs, alternating solver and checker. Write a diagram, formula, units and estimate.</a:t>
            </a:r>
          </a:p>
          <a:p>
            <a:r>
              <a:t>Materials/check: Exercise Book; tool above</a:t>
            </a:r>
          </a:p>
          <a:p>
            <a:r>
              <a:t>Source: 'Math Week 6'!A50:F50</a:t>
            </a:r>
          </a:p>
          <a:p/>
          <a:p>
            <a:r>
              <a:t>2:55 PM–3:15 PM | 5 Practise | 20 min</a:t>
            </a:r>
          </a:p>
          <a:p>
            <a:r>
              <a:t>Instructor: Complete Exercise Book 10B Q2,11–12. Build a Shape Canvas sketch and label areas; use the net preview only if core subtraction and coverage are secure.</a:t>
            </a:r>
          </a:p>
          <a:p>
            <a:r>
              <a:t>Learners: Solve on paper first; check with tools; correct one error and explain the change.</a:t>
            </a:r>
          </a:p>
          <a:p>
            <a:r>
              <a:t>Materials/check: Paper first; tool second</a:t>
            </a:r>
          </a:p>
          <a:p>
            <a:r>
              <a:t>Source: 'Math Week 6'!A51:F51</a:t>
            </a:r>
          </a:p>
          <a:p/>
          <a:p>
            <a:r>
              <a:t>3:15 PM–3:25 PM | 6 Check | 10 min</a:t>
            </a:r>
          </a:p>
          <a:p>
            <a:r>
              <a:t>Instructor: Exercise Book 10B Q11 and Q2; report net area and whole tins to buy.</a:t>
            </a:r>
          </a:p>
          <a:p>
            <a:r>
              <a:t>Learners: Solve without displayed answers; include working, units and final rounding.</a:t>
            </a:r>
          </a:p>
          <a:p>
            <a:r>
              <a:t>Materials/check: Teacher answers below</a:t>
            </a:r>
          </a:p>
          <a:p>
            <a:r>
              <a:t>Source: 'Math Week 6'!A52:F52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6'!A53:F53</a:t>
            </a:r>
          </a:p>
          <a:p/>
          <a:p>
            <a:r>
              <a:t>INSTRUCTOR ONLY: REVEAL ASSESSMENT ANSWERS AFTER THE ATTEMPT</a:t>
            </a:r>
          </a:p>
          <a:p>
            <a:r>
              <a:t>10B Q11 = 900,000 mm² = 0.9 m²; Q2 = 4.57 L, buy 5 tins. Answer Key p.28. Answer Key pp.27–28</a:t>
            </a:r>
          </a:p>
          <a:p/>
          <a:p>
            <a:r>
              <a:t>Compare square units with cubic units before the volume lesson.</a:t>
            </a:r>
          </a:p>
          <a:p/>
          <a:p>
            <a:r>
              <a:t>Sources: 'Math Week 6'!A11:E11; 'Carpentry Schedule'!B62; 'Math Week 6'!A41</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Exact scheduled tool activity: Shape Canvas: build a rectangle with an opening using two labelled shapes; compare parts. Numeracy Hub Shape Studio: use a solid/net as an optional surface-area preview.</a:t>
            </a:r>
          </a:p>
          <a:p>
            <a:r>
              <a:t>Use two labelled shapes in Shape Canvas to represent the outer rectangle and opening.</a:t>
            </a:r>
          </a:p>
          <a:p>
            <a:r>
              <a:t>Compute the separate areas and net area on paper before comparing the labels.</a:t>
            </a:r>
          </a:p>
          <a:p>
            <a:r>
              <a:t>Only after core coverage work is secure, inspect the optional Shape Studio solid/net preview.</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W06-L02 | 2026-11-30 | 2:15 PM–3:30 PM | 75 minutes</a:t>
            </a:r>
          </a:p>
          <a:p>
            <a:r>
              <a:t>Composite areas, openings and surface coverage</a:t>
            </a:r>
          </a:p>
          <a:p>
            <a:r>
              <a:t>Mode: Math</a:t>
            </a:r>
          </a:p>
          <a:p>
            <a:r>
              <a:t>Goal: Break a composite shape into known parts and subtract openings before estimating coverage.</a:t>
            </a:r>
          </a:p>
          <a:p>
            <a:r>
              <a:t>Read: Textbook sections 10.4–10.7 pp.158–164</a:t>
            </a:r>
          </a:p>
          <a:p>
            <a:r>
              <a:t>Practise: Exercise Book 10A Q10–12 (p.64); 10B Q2 (p.65), Q11–12 (p.66); 10C Q4 (p.67)</a:t>
            </a:r>
          </a:p>
          <a:p>
            <a:r>
              <a:t>Tool: Shape Canvas: build a rectangle with an opening using two labelled shapes; compare parts. Numeracy Hub Shape Studio: use a solid/net as an optional surface-area preview.</a:t>
            </a:r>
          </a:p>
          <a:p/>
          <a:p>
            <a:r>
              <a:t>EXACT SCHEDULED STEPS</a:t>
            </a:r>
          </a:p>
          <a:p>
            <a:r>
              <a:t>2:15 PM–2:20 PM | 1 Start | 5 min</a:t>
            </a:r>
          </a:p>
          <a:p>
            <a:r>
              <a:t>Instructor: Connect composite areas, openings and surface coverage to a dimensioned carpentry drawing. State the objective.</a:t>
            </a:r>
          </a:p>
          <a:p>
            <a:r>
              <a:t>Learners: Describe a prior use of the skill; identify the given and unknown quantities.</a:t>
            </a:r>
          </a:p>
          <a:p>
            <a:r>
              <a:t>Materials/check: Notebook; calculator</a:t>
            </a:r>
          </a:p>
          <a:p>
            <a:r>
              <a:t>Source: 'Math Week 6'!A47:F47</a:t>
            </a:r>
          </a:p>
          <a:p/>
          <a:p>
            <a:r>
              <a:t>2:20 PM–2:25 PM | 2 Recall | 5 min</a:t>
            </a:r>
          </a:p>
          <a:p>
            <a:r>
              <a:t>Instructor: Show a panel with a hole; ask which area is added and which is subtracted.</a:t>
            </a:r>
          </a:p>
          <a:p>
            <a:r>
              <a:t>Learners: Attempt the retrieval task independently; explain the method before checking.</a:t>
            </a:r>
          </a:p>
          <a:p>
            <a:r>
              <a:t>Materials/check: Identify support needs</a:t>
            </a:r>
          </a:p>
          <a:p>
            <a:r>
              <a:t>Source: 'Math Week 6'!A48:F48</a:t>
            </a:r>
          </a:p>
          <a:p/>
          <a:p>
            <a:r>
              <a:t>2:25 PM–2:40 PM | 3 Teach | 15 min</a:t>
            </a:r>
          </a:p>
          <a:p>
            <a:r>
              <a:t>Instructor: Model Exercise Book 10B Q11 with outer and opening areas. Demonstrate a trapezoid and circle formula, keeping radius/diameter distinct.</a:t>
            </a:r>
          </a:p>
          <a:p>
            <a:r>
              <a:t>Learners: Annotate the example and predict the next step; ask about unclear units or symbols.</a:t>
            </a:r>
          </a:p>
          <a:p>
            <a:r>
              <a:t>Materials/check: Textbook; worked example</a:t>
            </a:r>
          </a:p>
          <a:p>
            <a:r>
              <a:t>Source: 'Math Week 6'!A49:F49</a:t>
            </a:r>
          </a:p>
          <a:p/>
          <a:p>
            <a:r>
              <a:t>2:40 PM–2:55 PM | 4 Together | 15 min</a:t>
            </a:r>
          </a:p>
          <a:p>
            <a:r>
              <a:t>Instructor: Work Exercise Book 10A Q10–12 and Exercise Book 10C Q4. Partners annotate non-overlapping pieces.</a:t>
            </a:r>
          </a:p>
          <a:p>
            <a:r>
              <a:t>Learners: Work in pairs, alternating solver and checker. Write a diagram, formula, units and estimate.</a:t>
            </a:r>
          </a:p>
          <a:p>
            <a:r>
              <a:t>Materials/check: Exercise Book; tool above</a:t>
            </a:r>
          </a:p>
          <a:p>
            <a:r>
              <a:t>Source: 'Math Week 6'!A50:F50</a:t>
            </a:r>
          </a:p>
          <a:p/>
          <a:p>
            <a:r>
              <a:t>2:55 PM–3:15 PM | 5 Practise | 20 min</a:t>
            </a:r>
          </a:p>
          <a:p>
            <a:r>
              <a:t>Instructor: Complete Exercise Book 10B Q2,11–12. Build a Shape Canvas sketch and label areas; use the net preview only if core subtraction and coverage are secure.</a:t>
            </a:r>
          </a:p>
          <a:p>
            <a:r>
              <a:t>Learners: Solve on paper first; check with tools; correct one error and explain the change.</a:t>
            </a:r>
          </a:p>
          <a:p>
            <a:r>
              <a:t>Materials/check: Paper first; tool second</a:t>
            </a:r>
          </a:p>
          <a:p>
            <a:r>
              <a:t>Source: 'Math Week 6'!A51:F51</a:t>
            </a:r>
          </a:p>
          <a:p/>
          <a:p>
            <a:r>
              <a:t>3:15 PM–3:25 PM | 6 Check | 10 min</a:t>
            </a:r>
          </a:p>
          <a:p>
            <a:r>
              <a:t>Instructor: Exercise Book 10B Q11 and Q2; report net area and whole tins to buy.</a:t>
            </a:r>
          </a:p>
          <a:p>
            <a:r>
              <a:t>Learners: Solve without displayed answers; include working, units and final rounding.</a:t>
            </a:r>
          </a:p>
          <a:p>
            <a:r>
              <a:t>Materials/check: Teacher answers below</a:t>
            </a:r>
          </a:p>
          <a:p>
            <a:r>
              <a:t>Source: 'Math Week 6'!A52:F52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6'!A53:F53</a:t>
            </a:r>
          </a:p>
          <a:p/>
          <a:p>
            <a:r>
              <a:t>INSTRUCTOR ONLY: REVEAL ASSESSMENT ANSWERS AFTER THE ATTEMPT</a:t>
            </a:r>
          </a:p>
          <a:p>
            <a:r>
              <a:t>10B Q11 = 900,000 mm² = 0.9 m²; Q2 = 4.57 L, buy 5 tins. Answer Key p.28. Answer Key pp.27–28</a:t>
            </a:r>
          </a:p>
          <a:p/>
          <a:p>
            <a:r>
              <a:t>Compare square units with cubic units before the volume lesson.</a:t>
            </a:r>
          </a:p>
          <a:p/>
          <a:p>
            <a:r>
              <a:t>Sources: 'Math Week 6'!A11:E11; 'Carpentry Schedule'!B62; 'Math Week 6'!A41</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ACCESS EXERCISE BOOK: 10B-Q2</a:t>
            </a:r>
          </a:p>
          <a:p>
            <a:r>
              <a:t>Exact question: Four plates, each 2.5 m by 1.6 m, are primed on both sides. The primer label says 1 L covers 7 m². Primer is sold in 1 L tins. How many tins do you buy? Give the litres to two decimal places.</a:t>
            </a:r>
          </a:p>
          <a:p>
            <a:r>
              <a:t>Instructor answer: 4.57 L, so 5 tins</a:t>
            </a:r>
          </a:p>
          <a:p>
            <a:r>
              <a:t>Working: Area 2 × 4 × 4 = 32 m², 32 ÷ 7</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W06-L02 | 2026-11-30 | 2:15 PM–3:30 PM | 75 minutes</a:t>
            </a:r>
          </a:p>
          <a:p>
            <a:r>
              <a:t>Composite areas, openings and surface coverage</a:t>
            </a:r>
          </a:p>
          <a:p>
            <a:r>
              <a:t>Mode: Math</a:t>
            </a:r>
          </a:p>
          <a:p>
            <a:r>
              <a:t>Goal: Break a composite shape into known parts and subtract openings before estimating coverage.</a:t>
            </a:r>
          </a:p>
          <a:p>
            <a:r>
              <a:t>Read: Textbook sections 10.4–10.7 pp.158–164</a:t>
            </a:r>
          </a:p>
          <a:p>
            <a:r>
              <a:t>Practise: Exercise Book 10A Q10–12 (p.64); 10B Q2 (p.65), Q11–12 (p.66); 10C Q4 (p.67)</a:t>
            </a:r>
          </a:p>
          <a:p>
            <a:r>
              <a:t>Tool: Shape Canvas: build a rectangle with an opening using two labelled shapes; compare parts. Numeracy Hub Shape Studio: use a solid/net as an optional surface-area preview.</a:t>
            </a:r>
          </a:p>
          <a:p/>
          <a:p>
            <a:r>
              <a:t>EXACT SCHEDULED STEPS</a:t>
            </a:r>
          </a:p>
          <a:p>
            <a:r>
              <a:t>2:15 PM–2:20 PM | 1 Start | 5 min</a:t>
            </a:r>
          </a:p>
          <a:p>
            <a:r>
              <a:t>Instructor: Connect composite areas, openings and surface coverage to a dimensioned carpentry drawing. State the objective.</a:t>
            </a:r>
          </a:p>
          <a:p>
            <a:r>
              <a:t>Learners: Describe a prior use of the skill; identify the given and unknown quantities.</a:t>
            </a:r>
          </a:p>
          <a:p>
            <a:r>
              <a:t>Materials/check: Notebook; calculator</a:t>
            </a:r>
          </a:p>
          <a:p>
            <a:r>
              <a:t>Source: 'Math Week 6'!A47:F47</a:t>
            </a:r>
          </a:p>
          <a:p/>
          <a:p>
            <a:r>
              <a:t>2:20 PM–2:25 PM | 2 Recall | 5 min</a:t>
            </a:r>
          </a:p>
          <a:p>
            <a:r>
              <a:t>Instructor: Show a panel with a hole; ask which area is added and which is subtracted.</a:t>
            </a:r>
          </a:p>
          <a:p>
            <a:r>
              <a:t>Learners: Attempt the retrieval task independently; explain the method before checking.</a:t>
            </a:r>
          </a:p>
          <a:p>
            <a:r>
              <a:t>Materials/check: Identify support needs</a:t>
            </a:r>
          </a:p>
          <a:p>
            <a:r>
              <a:t>Source: 'Math Week 6'!A48:F48</a:t>
            </a:r>
          </a:p>
          <a:p/>
          <a:p>
            <a:r>
              <a:t>2:25 PM–2:40 PM | 3 Teach | 15 min</a:t>
            </a:r>
          </a:p>
          <a:p>
            <a:r>
              <a:t>Instructor: Model Exercise Book 10B Q11 with outer and opening areas. Demonstrate a trapezoid and circle formula, keeping radius/diameter distinct.</a:t>
            </a:r>
          </a:p>
          <a:p>
            <a:r>
              <a:t>Learners: Annotate the example and predict the next step; ask about unclear units or symbols.</a:t>
            </a:r>
          </a:p>
          <a:p>
            <a:r>
              <a:t>Materials/check: Textbook; worked example</a:t>
            </a:r>
          </a:p>
          <a:p>
            <a:r>
              <a:t>Source: 'Math Week 6'!A49:F49</a:t>
            </a:r>
          </a:p>
          <a:p/>
          <a:p>
            <a:r>
              <a:t>2:40 PM–2:55 PM | 4 Together | 15 min</a:t>
            </a:r>
          </a:p>
          <a:p>
            <a:r>
              <a:t>Instructor: Work Exercise Book 10A Q10–12 and Exercise Book 10C Q4. Partners annotate non-overlapping pieces.</a:t>
            </a:r>
          </a:p>
          <a:p>
            <a:r>
              <a:t>Learners: Work in pairs, alternating solver and checker. Write a diagram, formula, units and estimate.</a:t>
            </a:r>
          </a:p>
          <a:p>
            <a:r>
              <a:t>Materials/check: Exercise Book; tool above</a:t>
            </a:r>
          </a:p>
          <a:p>
            <a:r>
              <a:t>Source: 'Math Week 6'!A50:F50</a:t>
            </a:r>
          </a:p>
          <a:p/>
          <a:p>
            <a:r>
              <a:t>2:55 PM–3:15 PM | 5 Practise | 20 min</a:t>
            </a:r>
          </a:p>
          <a:p>
            <a:r>
              <a:t>Instructor: Complete Exercise Book 10B Q2,11–12. Build a Shape Canvas sketch and label areas; use the net preview only if core subtraction and coverage are secure.</a:t>
            </a:r>
          </a:p>
          <a:p>
            <a:r>
              <a:t>Learners: Solve on paper first; check with tools; correct one error and explain the change.</a:t>
            </a:r>
          </a:p>
          <a:p>
            <a:r>
              <a:t>Materials/check: Paper first; tool second</a:t>
            </a:r>
          </a:p>
          <a:p>
            <a:r>
              <a:t>Source: 'Math Week 6'!A51:F51</a:t>
            </a:r>
          </a:p>
          <a:p/>
          <a:p>
            <a:r>
              <a:t>3:15 PM–3:25 PM | 6 Check | 10 min</a:t>
            </a:r>
          </a:p>
          <a:p>
            <a:r>
              <a:t>Instructor: Exercise Book 10B Q11 and Q2; report net area and whole tins to buy.</a:t>
            </a:r>
          </a:p>
          <a:p>
            <a:r>
              <a:t>Learners: Solve without displayed answers; include working, units and final rounding.</a:t>
            </a:r>
          </a:p>
          <a:p>
            <a:r>
              <a:t>Materials/check: Teacher answers below</a:t>
            </a:r>
          </a:p>
          <a:p>
            <a:r>
              <a:t>Source: 'Math Week 6'!A52:F52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6'!A53:F53</a:t>
            </a:r>
          </a:p>
          <a:p/>
          <a:p>
            <a:r>
              <a:t>INSTRUCTOR ONLY: REVEAL ASSESSMENT ANSWERS AFTER THE ATTEMPT</a:t>
            </a:r>
          </a:p>
          <a:p>
            <a:r>
              <a:t>10B Q11 = 900,000 mm² = 0.9 m²; Q2 = 4.57 L, buy 5 tins. Answer Key p.28. Answer Key pp.27–28</a:t>
            </a:r>
          </a:p>
          <a:p/>
          <a:p>
            <a:r>
              <a:t>Compare square units with cubic units before the volume lesson.</a:t>
            </a:r>
          </a:p>
          <a:p/>
          <a:p>
            <a:r>
              <a:t>Sources: 'Math Week 6'!A11:E11; 'Carpentry Schedule'!B62; 'Math Week 6'!A41</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ACCESS EXERCISE BOOK: 10B-Q11</a:t>
            </a:r>
          </a:p>
          <a:p>
            <a:r>
              <a:t>Exact question: A 300 mm by 200 mm access hole is cut in a 1,200 mm by 800 mm cover plate. Find the area of plate left in mm² and in m².</a:t>
            </a:r>
          </a:p>
          <a:p>
            <a:r>
              <a:t>Instructor answer: 900,000 mm² = 0.9 m²</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W06-L02 | 2026-11-30 | 2:15 PM–3:30 PM | 75 minutes</a:t>
            </a:r>
          </a:p>
          <a:p>
            <a:r>
              <a:t>Composite areas, openings and surface coverage</a:t>
            </a:r>
          </a:p>
          <a:p>
            <a:r>
              <a:t>Mode: Math</a:t>
            </a:r>
          </a:p>
          <a:p>
            <a:r>
              <a:t>Goal: Break a composite shape into known parts and subtract openings before estimating coverage.</a:t>
            </a:r>
          </a:p>
          <a:p>
            <a:r>
              <a:t>Read: Textbook sections 10.4–10.7 pp.158–164</a:t>
            </a:r>
          </a:p>
          <a:p>
            <a:r>
              <a:t>Practise: Exercise Book 10A Q10–12 (p.64); 10B Q2 (p.65), Q11–12 (p.66); 10C Q4 (p.67)</a:t>
            </a:r>
          </a:p>
          <a:p>
            <a:r>
              <a:t>Tool: Shape Canvas: build a rectangle with an opening using two labelled shapes; compare parts. Numeracy Hub Shape Studio: use a solid/net as an optional surface-area preview.</a:t>
            </a:r>
          </a:p>
          <a:p/>
          <a:p>
            <a:r>
              <a:t>EXACT SCHEDULED STEPS</a:t>
            </a:r>
          </a:p>
          <a:p>
            <a:r>
              <a:t>2:15 PM–2:20 PM | 1 Start | 5 min</a:t>
            </a:r>
          </a:p>
          <a:p>
            <a:r>
              <a:t>Instructor: Connect composite areas, openings and surface coverage to a dimensioned carpentry drawing. State the objective.</a:t>
            </a:r>
          </a:p>
          <a:p>
            <a:r>
              <a:t>Learners: Describe a prior use of the skill; identify the given and unknown quantities.</a:t>
            </a:r>
          </a:p>
          <a:p>
            <a:r>
              <a:t>Materials/check: Notebook; calculator</a:t>
            </a:r>
          </a:p>
          <a:p>
            <a:r>
              <a:t>Source: 'Math Week 6'!A47:F47</a:t>
            </a:r>
          </a:p>
          <a:p/>
          <a:p>
            <a:r>
              <a:t>2:20 PM–2:25 PM | 2 Recall | 5 min</a:t>
            </a:r>
          </a:p>
          <a:p>
            <a:r>
              <a:t>Instructor: Show a panel with a hole; ask which area is added and which is subtracted.</a:t>
            </a:r>
          </a:p>
          <a:p>
            <a:r>
              <a:t>Learners: Attempt the retrieval task independently; explain the method before checking.</a:t>
            </a:r>
          </a:p>
          <a:p>
            <a:r>
              <a:t>Materials/check: Identify support needs</a:t>
            </a:r>
          </a:p>
          <a:p>
            <a:r>
              <a:t>Source: 'Math Week 6'!A48:F48</a:t>
            </a:r>
          </a:p>
          <a:p/>
          <a:p>
            <a:r>
              <a:t>2:25 PM–2:40 PM | 3 Teach | 15 min</a:t>
            </a:r>
          </a:p>
          <a:p>
            <a:r>
              <a:t>Instructor: Model Exercise Book 10B Q11 with outer and opening areas. Demonstrate a trapezoid and circle formula, keeping radius/diameter distinct.</a:t>
            </a:r>
          </a:p>
          <a:p>
            <a:r>
              <a:t>Learners: Annotate the example and predict the next step; ask about unclear units or symbols.</a:t>
            </a:r>
          </a:p>
          <a:p>
            <a:r>
              <a:t>Materials/check: Textbook; worked example</a:t>
            </a:r>
          </a:p>
          <a:p>
            <a:r>
              <a:t>Source: 'Math Week 6'!A49:F49</a:t>
            </a:r>
          </a:p>
          <a:p/>
          <a:p>
            <a:r>
              <a:t>2:40 PM–2:55 PM | 4 Together | 15 min</a:t>
            </a:r>
          </a:p>
          <a:p>
            <a:r>
              <a:t>Instructor: Work Exercise Book 10A Q10–12 and Exercise Book 10C Q4. Partners annotate non-overlapping pieces.</a:t>
            </a:r>
          </a:p>
          <a:p>
            <a:r>
              <a:t>Learners: Work in pairs, alternating solver and checker. Write a diagram, formula, units and estimate.</a:t>
            </a:r>
          </a:p>
          <a:p>
            <a:r>
              <a:t>Materials/check: Exercise Book; tool above</a:t>
            </a:r>
          </a:p>
          <a:p>
            <a:r>
              <a:t>Source: 'Math Week 6'!A50:F50</a:t>
            </a:r>
          </a:p>
          <a:p/>
          <a:p>
            <a:r>
              <a:t>2:55 PM–3:15 PM | 5 Practise | 20 min</a:t>
            </a:r>
          </a:p>
          <a:p>
            <a:r>
              <a:t>Instructor: Complete Exercise Book 10B Q2,11–12. Build a Shape Canvas sketch and label areas; use the net preview only if core subtraction and coverage are secure.</a:t>
            </a:r>
          </a:p>
          <a:p>
            <a:r>
              <a:t>Learners: Solve on paper first; check with tools; correct one error and explain the change.</a:t>
            </a:r>
          </a:p>
          <a:p>
            <a:r>
              <a:t>Materials/check: Paper first; tool second</a:t>
            </a:r>
          </a:p>
          <a:p>
            <a:r>
              <a:t>Source: 'Math Week 6'!A51:F51</a:t>
            </a:r>
          </a:p>
          <a:p/>
          <a:p>
            <a:r>
              <a:t>3:15 PM–3:25 PM | 6 Check | 10 min</a:t>
            </a:r>
          </a:p>
          <a:p>
            <a:r>
              <a:t>Instructor: Exercise Book 10B Q11 and Q2; report net area and whole tins to buy.</a:t>
            </a:r>
          </a:p>
          <a:p>
            <a:r>
              <a:t>Learners: Solve without displayed answers; include working, units and final rounding.</a:t>
            </a:r>
          </a:p>
          <a:p>
            <a:r>
              <a:t>Materials/check: Teacher answers below</a:t>
            </a:r>
          </a:p>
          <a:p>
            <a:r>
              <a:t>Source: 'Math Week 6'!A52:F52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6'!A53:F53</a:t>
            </a:r>
          </a:p>
          <a:p/>
          <a:p>
            <a:r>
              <a:t>INSTRUCTOR ONLY: REVEAL ASSESSMENT ANSWERS AFTER THE ATTEMPT</a:t>
            </a:r>
          </a:p>
          <a:p>
            <a:r>
              <a:t>10B Q11 = 900,000 mm² = 0.9 m²; Q2 = 4.57 L, buy 5 tins. Answer Key p.28. Answer Key pp.27–28</a:t>
            </a:r>
          </a:p>
          <a:p/>
          <a:p>
            <a:r>
              <a:t>Compare square units with cubic units before the volume lesson.</a:t>
            </a:r>
          </a:p>
          <a:p/>
          <a:p>
            <a:r>
              <a:t>Sources: 'Math Week 6'!A11:E11; 'Carpentry Schedule'!B62; 'Math Week 6'!A41</a:t>
            </a:r>
          </a:p>
          <a:p>
            <a:r>
              <a:t>Navigation/resource slides support these scheduled steps and do not add instructional time.</a:t>
            </a:r>
          </a:p>
          <a:p>
            <a:r>
              <a:t>SLIDE PLACEMENT: Check, 3:15 PM–3:25 PM.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W06-L02 | 2026-11-30 | 2:15 PM–3:30 PM | 75 minutes</a:t>
            </a:r>
          </a:p>
          <a:p>
            <a:r>
              <a:t>Composite areas, openings and surface coverage</a:t>
            </a:r>
          </a:p>
          <a:p>
            <a:r>
              <a:t>Mode: Math</a:t>
            </a:r>
          </a:p>
          <a:p>
            <a:r>
              <a:t>Goal: Break a composite shape into known parts and subtract openings before estimating coverage.</a:t>
            </a:r>
          </a:p>
          <a:p>
            <a:r>
              <a:t>Read: Textbook sections 10.4–10.7 pp.158–164</a:t>
            </a:r>
          </a:p>
          <a:p>
            <a:r>
              <a:t>Practise: Exercise Book 10A Q10–12 (p.64); 10B Q2 (p.65), Q11–12 (p.66); 10C Q4 (p.67)</a:t>
            </a:r>
          </a:p>
          <a:p>
            <a:r>
              <a:t>Tool: Shape Canvas: build a rectangle with an opening using two labelled shapes; compare parts. Numeracy Hub Shape Studio: use a solid/net as an optional surface-area preview.</a:t>
            </a:r>
          </a:p>
          <a:p/>
          <a:p>
            <a:r>
              <a:t>EXACT SCHEDULED STEPS</a:t>
            </a:r>
          </a:p>
          <a:p>
            <a:r>
              <a:t>2:15 PM–2:20 PM | 1 Start | 5 min</a:t>
            </a:r>
          </a:p>
          <a:p>
            <a:r>
              <a:t>Instructor: Connect composite areas, openings and surface coverage to a dimensioned carpentry drawing. State the objective.</a:t>
            </a:r>
          </a:p>
          <a:p>
            <a:r>
              <a:t>Learners: Describe a prior use of the skill; identify the given and unknown quantities.</a:t>
            </a:r>
          </a:p>
          <a:p>
            <a:r>
              <a:t>Materials/check: Notebook; calculator</a:t>
            </a:r>
          </a:p>
          <a:p>
            <a:r>
              <a:t>Source: 'Math Week 6'!A47:F47</a:t>
            </a:r>
          </a:p>
          <a:p/>
          <a:p>
            <a:r>
              <a:t>2:20 PM–2:25 PM | 2 Recall | 5 min</a:t>
            </a:r>
          </a:p>
          <a:p>
            <a:r>
              <a:t>Instructor: Show a panel with a hole; ask which area is added and which is subtracted.</a:t>
            </a:r>
          </a:p>
          <a:p>
            <a:r>
              <a:t>Learners: Attempt the retrieval task independently; explain the method before checking.</a:t>
            </a:r>
          </a:p>
          <a:p>
            <a:r>
              <a:t>Materials/check: Identify support needs</a:t>
            </a:r>
          </a:p>
          <a:p>
            <a:r>
              <a:t>Source: 'Math Week 6'!A48:F48</a:t>
            </a:r>
          </a:p>
          <a:p/>
          <a:p>
            <a:r>
              <a:t>2:25 PM–2:40 PM | 3 Teach | 15 min</a:t>
            </a:r>
          </a:p>
          <a:p>
            <a:r>
              <a:t>Instructor: Model Exercise Book 10B Q11 with outer and opening areas. Demonstrate a trapezoid and circle formula, keeping radius/diameter distinct.</a:t>
            </a:r>
          </a:p>
          <a:p>
            <a:r>
              <a:t>Learners: Annotate the example and predict the next step; ask about unclear units or symbols.</a:t>
            </a:r>
          </a:p>
          <a:p>
            <a:r>
              <a:t>Materials/check: Textbook; worked example</a:t>
            </a:r>
          </a:p>
          <a:p>
            <a:r>
              <a:t>Source: 'Math Week 6'!A49:F49</a:t>
            </a:r>
          </a:p>
          <a:p/>
          <a:p>
            <a:r>
              <a:t>2:40 PM–2:55 PM | 4 Together | 15 min</a:t>
            </a:r>
          </a:p>
          <a:p>
            <a:r>
              <a:t>Instructor: Work Exercise Book 10A Q10–12 and Exercise Book 10C Q4. Partners annotate non-overlapping pieces.</a:t>
            </a:r>
          </a:p>
          <a:p>
            <a:r>
              <a:t>Learners: Work in pairs, alternating solver and checker. Write a diagram, formula, units and estimate.</a:t>
            </a:r>
          </a:p>
          <a:p>
            <a:r>
              <a:t>Materials/check: Exercise Book; tool above</a:t>
            </a:r>
          </a:p>
          <a:p>
            <a:r>
              <a:t>Source: 'Math Week 6'!A50:F50</a:t>
            </a:r>
          </a:p>
          <a:p/>
          <a:p>
            <a:r>
              <a:t>2:55 PM–3:15 PM | 5 Practise | 20 min</a:t>
            </a:r>
          </a:p>
          <a:p>
            <a:r>
              <a:t>Instructor: Complete Exercise Book 10B Q2,11–12. Build a Shape Canvas sketch and label areas; use the net preview only if core subtraction and coverage are secure.</a:t>
            </a:r>
          </a:p>
          <a:p>
            <a:r>
              <a:t>Learners: Solve on paper first; check with tools; correct one error and explain the change.</a:t>
            </a:r>
          </a:p>
          <a:p>
            <a:r>
              <a:t>Materials/check: Paper first; tool second</a:t>
            </a:r>
          </a:p>
          <a:p>
            <a:r>
              <a:t>Source: 'Math Week 6'!A51:F51</a:t>
            </a:r>
          </a:p>
          <a:p/>
          <a:p>
            <a:r>
              <a:t>3:15 PM–3:25 PM | 6 Check | 10 min</a:t>
            </a:r>
          </a:p>
          <a:p>
            <a:r>
              <a:t>Instructor: Exercise Book 10B Q11 and Q2; report net area and whole tins to buy.</a:t>
            </a:r>
          </a:p>
          <a:p>
            <a:r>
              <a:t>Learners: Solve without displayed answers; include working, units and final rounding.</a:t>
            </a:r>
          </a:p>
          <a:p>
            <a:r>
              <a:t>Materials/check: Teacher answers below</a:t>
            </a:r>
          </a:p>
          <a:p>
            <a:r>
              <a:t>Source: 'Math Week 6'!A52:F52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6'!A53:F53</a:t>
            </a:r>
          </a:p>
          <a:p/>
          <a:p>
            <a:r>
              <a:t>INSTRUCTOR ONLY: REVEAL ASSESSMENT ANSWERS AFTER THE ATTEMPT</a:t>
            </a:r>
          </a:p>
          <a:p>
            <a:r>
              <a:t>10B Q11 = 900,000 mm² = 0.9 m²; Q2 = 4.57 L, buy 5 tins. Answer Key p.28. Answer Key pp.27–28</a:t>
            </a:r>
          </a:p>
          <a:p/>
          <a:p>
            <a:r>
              <a:t>Compare square units with cubic units before the volume lesson.</a:t>
            </a:r>
          </a:p>
          <a:p/>
          <a:p>
            <a:r>
              <a:t>Sources: 'Math Week 6'!A11:E11; 'Carpentry Schedule'!B62; 'Math Week 6'!A41</a:t>
            </a:r>
          </a:p>
          <a:p>
            <a:r>
              <a:t>Navigation/resource slides support these scheduled steps and do not add instructional time.</a:t>
            </a:r>
          </a:p>
          <a:p>
            <a:r>
              <a:t>SLIDE PLACEMENT: Check, 3:15 PM–3:25 PM. All slides with this phase share these 10 minutes; do not restart the time allocation for each slide.</a:t>
            </a:r>
          </a:p>
          <a:p/>
          <a:p>
            <a:r>
              <a:t>ACCESS EXERCISE BOOK: 10B-Q11</a:t>
            </a:r>
          </a:p>
          <a:p>
            <a:r>
              <a:t>Exact question: A 300 mm by 200 mm access hole is cut in a 1,200 mm by 800 mm cover plate. Find the area of plate left in mm² and in m².</a:t>
            </a:r>
          </a:p>
          <a:p>
            <a:r>
              <a:t>Instructor answer: 900,000 mm² = 0.9 m²</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W06-L02 | 2026-11-30 | 2:15 PM–3:30 PM | 75 minutes</a:t>
            </a:r>
          </a:p>
          <a:p>
            <a:r>
              <a:t>Composite areas, openings and surface coverage</a:t>
            </a:r>
          </a:p>
          <a:p>
            <a:r>
              <a:t>Mode: Math</a:t>
            </a:r>
          </a:p>
          <a:p>
            <a:r>
              <a:t>Goal: Break a composite shape into known parts and subtract openings before estimating coverage.</a:t>
            </a:r>
          </a:p>
          <a:p>
            <a:r>
              <a:t>Read: Textbook sections 10.4–10.7 pp.158–164</a:t>
            </a:r>
          </a:p>
          <a:p>
            <a:r>
              <a:t>Practise: Exercise Book 10A Q10–12 (p.64); 10B Q2 (p.65), Q11–12 (p.66); 10C Q4 (p.67)</a:t>
            </a:r>
          </a:p>
          <a:p>
            <a:r>
              <a:t>Tool: Shape Canvas: build a rectangle with an opening using two labelled shapes; compare parts. Numeracy Hub Shape Studio: use a solid/net as an optional surface-area preview.</a:t>
            </a:r>
          </a:p>
          <a:p/>
          <a:p>
            <a:r>
              <a:t>EXACT SCHEDULED STEPS</a:t>
            </a:r>
          </a:p>
          <a:p>
            <a:r>
              <a:t>2:15 PM–2:20 PM | 1 Start | 5 min</a:t>
            </a:r>
          </a:p>
          <a:p>
            <a:r>
              <a:t>Instructor: Connect composite areas, openings and surface coverage to a dimensioned carpentry drawing. State the objective.</a:t>
            </a:r>
          </a:p>
          <a:p>
            <a:r>
              <a:t>Learners: Describe a prior use of the skill; identify the given and unknown quantities.</a:t>
            </a:r>
          </a:p>
          <a:p>
            <a:r>
              <a:t>Materials/check: Notebook; calculator</a:t>
            </a:r>
          </a:p>
          <a:p>
            <a:r>
              <a:t>Source: 'Math Week 6'!A47:F47</a:t>
            </a:r>
          </a:p>
          <a:p/>
          <a:p>
            <a:r>
              <a:t>2:20 PM–2:25 PM | 2 Recall | 5 min</a:t>
            </a:r>
          </a:p>
          <a:p>
            <a:r>
              <a:t>Instructor: Show a panel with a hole; ask which area is added and which is subtracted.</a:t>
            </a:r>
          </a:p>
          <a:p>
            <a:r>
              <a:t>Learners: Attempt the retrieval task independently; explain the method before checking.</a:t>
            </a:r>
          </a:p>
          <a:p>
            <a:r>
              <a:t>Materials/check: Identify support needs</a:t>
            </a:r>
          </a:p>
          <a:p>
            <a:r>
              <a:t>Source: 'Math Week 6'!A48:F48</a:t>
            </a:r>
          </a:p>
          <a:p/>
          <a:p>
            <a:r>
              <a:t>2:25 PM–2:40 PM | 3 Teach | 15 min</a:t>
            </a:r>
          </a:p>
          <a:p>
            <a:r>
              <a:t>Instructor: Model Exercise Book 10B Q11 with outer and opening areas. Demonstrate a trapezoid and circle formula, keeping radius/diameter distinct.</a:t>
            </a:r>
          </a:p>
          <a:p>
            <a:r>
              <a:t>Learners: Annotate the example and predict the next step; ask about unclear units or symbols.</a:t>
            </a:r>
          </a:p>
          <a:p>
            <a:r>
              <a:t>Materials/check: Textbook; worked example</a:t>
            </a:r>
          </a:p>
          <a:p>
            <a:r>
              <a:t>Source: 'Math Week 6'!A49:F49</a:t>
            </a:r>
          </a:p>
          <a:p/>
          <a:p>
            <a:r>
              <a:t>2:40 PM–2:55 PM | 4 Together | 15 min</a:t>
            </a:r>
          </a:p>
          <a:p>
            <a:r>
              <a:t>Instructor: Work Exercise Book 10A Q10–12 and Exercise Book 10C Q4. Partners annotate non-overlapping pieces.</a:t>
            </a:r>
          </a:p>
          <a:p>
            <a:r>
              <a:t>Learners: Work in pairs, alternating solver and checker. Write a diagram, formula, units and estimate.</a:t>
            </a:r>
          </a:p>
          <a:p>
            <a:r>
              <a:t>Materials/check: Exercise Book; tool above</a:t>
            </a:r>
          </a:p>
          <a:p>
            <a:r>
              <a:t>Source: 'Math Week 6'!A50:F50</a:t>
            </a:r>
          </a:p>
          <a:p/>
          <a:p>
            <a:r>
              <a:t>2:55 PM–3:15 PM | 5 Practise | 20 min</a:t>
            </a:r>
          </a:p>
          <a:p>
            <a:r>
              <a:t>Instructor: Complete Exercise Book 10B Q2,11–12. Build a Shape Canvas sketch and label areas; use the net preview only if core subtraction and coverage are secure.</a:t>
            </a:r>
          </a:p>
          <a:p>
            <a:r>
              <a:t>Learners: Solve on paper first; check with tools; correct one error and explain the change.</a:t>
            </a:r>
          </a:p>
          <a:p>
            <a:r>
              <a:t>Materials/check: Paper first; tool second</a:t>
            </a:r>
          </a:p>
          <a:p>
            <a:r>
              <a:t>Source: 'Math Week 6'!A51:F51</a:t>
            </a:r>
          </a:p>
          <a:p/>
          <a:p>
            <a:r>
              <a:t>3:15 PM–3:25 PM | 6 Check | 10 min</a:t>
            </a:r>
          </a:p>
          <a:p>
            <a:r>
              <a:t>Instructor: Exercise Book 10B Q11 and Q2; report net area and whole tins to buy.</a:t>
            </a:r>
          </a:p>
          <a:p>
            <a:r>
              <a:t>Learners: Solve without displayed answers; include working, units and final rounding.</a:t>
            </a:r>
          </a:p>
          <a:p>
            <a:r>
              <a:t>Materials/check: Teacher answers below</a:t>
            </a:r>
          </a:p>
          <a:p>
            <a:r>
              <a:t>Source: 'Math Week 6'!A52:F52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6'!A53:F53</a:t>
            </a:r>
          </a:p>
          <a:p/>
          <a:p>
            <a:r>
              <a:t>INSTRUCTOR ONLY: REVEAL ASSESSMENT ANSWERS AFTER THE ATTEMPT</a:t>
            </a:r>
          </a:p>
          <a:p>
            <a:r>
              <a:t>10B Q11 = 900,000 mm² = 0.9 m²; Q2 = 4.57 L, buy 5 tins. Answer Key p.28. Answer Key pp.27–28</a:t>
            </a:r>
          </a:p>
          <a:p/>
          <a:p>
            <a:r>
              <a:t>Compare square units with cubic units before the volume lesson.</a:t>
            </a:r>
          </a:p>
          <a:p/>
          <a:p>
            <a:r>
              <a:t>Sources: 'Math Week 6'!A11:E11; 'Carpentry Schedule'!B62; 'Math Week 6'!A41</a:t>
            </a:r>
          </a:p>
          <a:p>
            <a:r>
              <a:t>Navigation/resource slides support these scheduled steps and do not add instructional time.</a:t>
            </a:r>
          </a:p>
          <a:p>
            <a:r>
              <a:t>SLIDE PLACEMENT: Check, 3:15 PM–3:25 PM. All slides with this phase share these 10 minutes; do not restart the time allocation for each slide.</a:t>
            </a:r>
          </a:p>
          <a:p/>
          <a:p>
            <a:r>
              <a:t>ACCESS EXERCISE BOOK: 10B-Q2</a:t>
            </a:r>
          </a:p>
          <a:p>
            <a:r>
              <a:t>Exact question: Four plates, each 2.5 m by 1.6 m, are primed on both sides. The primer label says 1 L covers 7 m². Primer is sold in 1 L tins. How many tins do you buy? Give the litres to two decimal places.</a:t>
            </a:r>
          </a:p>
          <a:p>
            <a:r>
              <a:t>Instructor answer: 4.57 L, so 5 tins</a:t>
            </a:r>
          </a:p>
          <a:p>
            <a:r>
              <a:t>Working: Area 2 × 4 × 4 = 32 m², 32 ÷ 7</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W06-L02 | 2026-11-30 | 2:15 PM–3:30 PM | 75 minutes</a:t>
            </a:r>
          </a:p>
          <a:p>
            <a:r>
              <a:t>Composite areas, openings and surface coverage</a:t>
            </a:r>
          </a:p>
          <a:p>
            <a:r>
              <a:t>Mode: Math</a:t>
            </a:r>
          </a:p>
          <a:p>
            <a:r>
              <a:t>Goal: Break a composite shape into known parts and subtract openings before estimating coverage.</a:t>
            </a:r>
          </a:p>
          <a:p>
            <a:r>
              <a:t>Read: Textbook sections 10.4–10.7 pp.158–164</a:t>
            </a:r>
          </a:p>
          <a:p>
            <a:r>
              <a:t>Practise: Exercise Book 10A Q10–12 (p.64); 10B Q2 (p.65), Q11–12 (p.66); 10C Q4 (p.67)</a:t>
            </a:r>
          </a:p>
          <a:p>
            <a:r>
              <a:t>Tool: Shape Canvas: build a rectangle with an opening using two labelled shapes; compare parts. Numeracy Hub Shape Studio: use a solid/net as an optional surface-area preview.</a:t>
            </a:r>
          </a:p>
          <a:p/>
          <a:p>
            <a:r>
              <a:t>EXACT SCHEDULED STEPS</a:t>
            </a:r>
          </a:p>
          <a:p>
            <a:r>
              <a:t>2:15 PM–2:20 PM | 1 Start | 5 min</a:t>
            </a:r>
          </a:p>
          <a:p>
            <a:r>
              <a:t>Instructor: Connect composite areas, openings and surface coverage to a dimensioned carpentry drawing. State the objective.</a:t>
            </a:r>
          </a:p>
          <a:p>
            <a:r>
              <a:t>Learners: Describe a prior use of the skill; identify the given and unknown quantities.</a:t>
            </a:r>
          </a:p>
          <a:p>
            <a:r>
              <a:t>Materials/check: Notebook; calculator</a:t>
            </a:r>
          </a:p>
          <a:p>
            <a:r>
              <a:t>Source: 'Math Week 6'!A47:F47</a:t>
            </a:r>
          </a:p>
          <a:p/>
          <a:p>
            <a:r>
              <a:t>2:20 PM–2:25 PM | 2 Recall | 5 min</a:t>
            </a:r>
          </a:p>
          <a:p>
            <a:r>
              <a:t>Instructor: Show a panel with a hole; ask which area is added and which is subtracted.</a:t>
            </a:r>
          </a:p>
          <a:p>
            <a:r>
              <a:t>Learners: Attempt the retrieval task independently; explain the method before checking.</a:t>
            </a:r>
          </a:p>
          <a:p>
            <a:r>
              <a:t>Materials/check: Identify support needs</a:t>
            </a:r>
          </a:p>
          <a:p>
            <a:r>
              <a:t>Source: 'Math Week 6'!A48:F48</a:t>
            </a:r>
          </a:p>
          <a:p/>
          <a:p>
            <a:r>
              <a:t>2:25 PM–2:40 PM | 3 Teach | 15 min</a:t>
            </a:r>
          </a:p>
          <a:p>
            <a:r>
              <a:t>Instructor: Model Exercise Book 10B Q11 with outer and opening areas. Demonstrate a trapezoid and circle formula, keeping radius/diameter distinct.</a:t>
            </a:r>
          </a:p>
          <a:p>
            <a:r>
              <a:t>Learners: Annotate the example and predict the next step; ask about unclear units or symbols.</a:t>
            </a:r>
          </a:p>
          <a:p>
            <a:r>
              <a:t>Materials/check: Textbook; worked example</a:t>
            </a:r>
          </a:p>
          <a:p>
            <a:r>
              <a:t>Source: 'Math Week 6'!A49:F49</a:t>
            </a:r>
          </a:p>
          <a:p/>
          <a:p>
            <a:r>
              <a:t>2:40 PM–2:55 PM | 4 Together | 15 min</a:t>
            </a:r>
          </a:p>
          <a:p>
            <a:r>
              <a:t>Instructor: Work Exercise Book 10A Q10–12 and Exercise Book 10C Q4. Partners annotate non-overlapping pieces.</a:t>
            </a:r>
          </a:p>
          <a:p>
            <a:r>
              <a:t>Learners: Work in pairs, alternating solver and checker. Write a diagram, formula, units and estimate.</a:t>
            </a:r>
          </a:p>
          <a:p>
            <a:r>
              <a:t>Materials/check: Exercise Book; tool above</a:t>
            </a:r>
          </a:p>
          <a:p>
            <a:r>
              <a:t>Source: 'Math Week 6'!A50:F50</a:t>
            </a:r>
          </a:p>
          <a:p/>
          <a:p>
            <a:r>
              <a:t>2:55 PM–3:15 PM | 5 Practise | 20 min</a:t>
            </a:r>
          </a:p>
          <a:p>
            <a:r>
              <a:t>Instructor: Complete Exercise Book 10B Q2,11–12. Build a Shape Canvas sketch and label areas; use the net preview only if core subtraction and coverage are secure.</a:t>
            </a:r>
          </a:p>
          <a:p>
            <a:r>
              <a:t>Learners: Solve on paper first; check with tools; correct one error and explain the change.</a:t>
            </a:r>
          </a:p>
          <a:p>
            <a:r>
              <a:t>Materials/check: Paper first; tool second</a:t>
            </a:r>
          </a:p>
          <a:p>
            <a:r>
              <a:t>Source: 'Math Week 6'!A51:F51</a:t>
            </a:r>
          </a:p>
          <a:p/>
          <a:p>
            <a:r>
              <a:t>3:15 PM–3:25 PM | 6 Check | 10 min</a:t>
            </a:r>
          </a:p>
          <a:p>
            <a:r>
              <a:t>Instructor: Exercise Book 10B Q11 and Q2; report net area and whole tins to buy.</a:t>
            </a:r>
          </a:p>
          <a:p>
            <a:r>
              <a:t>Learners: Solve without displayed answers; include working, units and final rounding.</a:t>
            </a:r>
          </a:p>
          <a:p>
            <a:r>
              <a:t>Materials/check: Teacher answers below</a:t>
            </a:r>
          </a:p>
          <a:p>
            <a:r>
              <a:t>Source: 'Math Week 6'!A52:F52</a:t>
            </a:r>
          </a:p>
          <a:p/>
          <a:p>
            <a:r>
              <a:t>3:25 PM–3:30 PM | 7 Wrap up | 5 min</a:t>
            </a:r>
          </a:p>
          <a:p>
            <a:r>
              <a:t>Instructor: Ask: What changed in your understanding? Where will you use it? What should you check next time?</a:t>
            </a:r>
          </a:p>
          <a:p>
            <a:r>
              <a:t>Learners: Name the math and one other essential skill used; record a next practice step.</a:t>
            </a:r>
          </a:p>
          <a:p>
            <a:r>
              <a:t>Materials/check: Notebook / error log</a:t>
            </a:r>
          </a:p>
          <a:p>
            <a:r>
              <a:t>Source: 'Math Week 6'!A53:F53</a:t>
            </a:r>
          </a:p>
          <a:p/>
          <a:p>
            <a:r>
              <a:t>INSTRUCTOR ONLY: REVEAL ASSESSMENT ANSWERS AFTER THE ATTEMPT</a:t>
            </a:r>
          </a:p>
          <a:p>
            <a:r>
              <a:t>10B Q11 = 900,000 mm² = 0.9 m²; Q2 = 4.57 L, buy 5 tins. Answer Key p.28. Answer Key pp.27–28</a:t>
            </a:r>
          </a:p>
          <a:p/>
          <a:p>
            <a:r>
              <a:t>Compare square units with cubic units before the volume lesson.</a:t>
            </a:r>
          </a:p>
          <a:p/>
          <a:p>
            <a:r>
              <a:t>Sources: 'Math Week 6'!A11:E11; 'Carpentry Schedule'!B62; 'Math Week 6'!A41</a:t>
            </a:r>
          </a:p>
          <a:p>
            <a:r>
              <a:t>Navigation/resource slides support these scheduled steps and do not add instructional time.</a:t>
            </a:r>
          </a:p>
          <a:p>
            <a:r>
              <a:t>SLIDE PLACEMENT: Wrap up, 3:25 PM–3:30 PM. All slides with this phase share these 5 minutes; do not restart the time allocation for each slide.</a:t>
            </a:r>
          </a:p>
          <a:p/>
          <a:p>
            <a:r>
              <a:t>Next scheduled learning: Compare square units with cubic units before the volume lesson.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4.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4.png"/><Relationship Id="rId4" Type="http://schemas.openxmlformats.org/officeDocument/2006/relationships/hyperlink" Target="../Resources/ACCESS-Tools/books/ACCESS-Trades-Numeracy-Textbook.pdf#page=154" TargetMode="External"/><Relationship Id="rId5" Type="http://schemas.openxmlformats.org/officeDocument/2006/relationships/hyperlink" Target="../Resources/ACCESS-Tools/books/ACCESS-Trades-Numeracy-Exercise-Book.pdf#page=63"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4.png"/><Relationship Id="rId4" Type="http://schemas.openxmlformats.org/officeDocument/2006/relationships/hyperlink" Target="../Resources/ACCESS-Tools/books/ACCESS-Trades-Numeracy-Textbook.pdf#page=154" TargetMode="External"/><Relationship Id="rId5" Type="http://schemas.openxmlformats.org/officeDocument/2006/relationships/hyperlink" Target="../Resources/ACCESS-Tools/books/ACCESS-Trades-Numeracy-Exercise-Book.pdf#page=63"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4.png"/><Relationship Id="rId4" Type="http://schemas.openxmlformats.org/officeDocument/2006/relationships/hyperlink" Target="../Resources/ACCESS-Tools/books/ACCESS-Trades-Numeracy-Textbook.pdf#page=154" TargetMode="External"/><Relationship Id="rId5" Type="http://schemas.openxmlformats.org/officeDocument/2006/relationships/hyperlink" Target="../Resources/ACCESS-Tools/books/ACCESS-Trades-Numeracy-Exercise-Book.pdf#page=63"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4.png"/><Relationship Id="rId4" Type="http://schemas.openxmlformats.org/officeDocument/2006/relationships/hyperlink" Target="../Resources/ACCESS-Tools/books/ACCESS-Trades-Numeracy-Textbook.pdf#page=154" TargetMode="External"/><Relationship Id="rId5" Type="http://schemas.openxmlformats.org/officeDocument/2006/relationships/hyperlink" Target="../Resources/ACCESS-Tools/books/ACCESS-Trades-Numeracy-Exercise-Book.pdf#page=63"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4.png"/><Relationship Id="rId4" Type="http://schemas.openxmlformats.org/officeDocument/2006/relationships/hyperlink" Target="../Resources/ACCESS-Tools/books/ACCESS-Trades-Numeracy-Textbook.pdf#page=154" TargetMode="External"/><Relationship Id="rId5" Type="http://schemas.openxmlformats.org/officeDocument/2006/relationships/hyperlink" Target="../Resources/ACCESS-Tools/books/ACCESS-Trades-Numeracy-Exercise-Book.pdf#page=63"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14.png"/><Relationship Id="rId4" Type="http://schemas.openxmlformats.org/officeDocument/2006/relationships/hyperlink" Target="../Resources/ACCESS-Tools/books/ACCESS-Trades-Numeracy-Textbook.pdf#page=154" TargetMode="External"/><Relationship Id="rId5" Type="http://schemas.openxmlformats.org/officeDocument/2006/relationships/hyperlink" Target="../Resources/ACCESS-Tools/books/ACCESS-Trades-Numeracy-Exercise-Book.pdf#page=63"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hyperlink" Target="../Resources/ACCESS-Tools/books/ACCESS-Trades-Numeracy-Textbook.pdf#page=156" TargetMode="External"/><Relationship Id="rId6" Type="http://schemas.openxmlformats.org/officeDocument/2006/relationships/hyperlink" Target="../Resources/ACCESS-Tools/books/ACCESS-Trades-Numeracy-Exercise-Book.pdf#page=63"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hyperlink" Target="../Resources/ACCESS-Tools/books/ACCESS-Trades-Numeracy-Textbook.pdf#page=155" TargetMode="External"/><Relationship Id="rId6" Type="http://schemas.openxmlformats.org/officeDocument/2006/relationships/hyperlink" Target="../Resources/ACCESS-Tools/books/ACCESS-Trades-Numeracy-Exercise-Book.pdf#page=63"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4.png"/><Relationship Id="rId4" Type="http://schemas.openxmlformats.org/officeDocument/2006/relationships/hyperlink" Target="../Resources/ACCESS-Tools/books/ACCESS-Trades-Numeracy-Textbook.pdf#page=154" TargetMode="External"/><Relationship Id="rId5" Type="http://schemas.openxmlformats.org/officeDocument/2006/relationships/hyperlink" Target="../Resources/ACCESS-Tools/books/ACCESS-Trades-Numeracy-Exercise-Book.pdf#page=63"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4.png"/><Relationship Id="rId4" Type="http://schemas.openxmlformats.org/officeDocument/2006/relationships/hyperlink" Target="../Resources/ACCESS-Tools/books/ACCESS-Trades-Numeracy-Textbook.pdf#page=154" TargetMode="External"/><Relationship Id="rId5" Type="http://schemas.openxmlformats.org/officeDocument/2006/relationships/hyperlink" Target="../Resources/ACCESS-Tools/books/ACCESS-Trades-Numeracy-Exercise-Book.pdf#page=63"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4.png"/><Relationship Id="rId5" Type="http://schemas.openxmlformats.org/officeDocument/2006/relationships/hyperlink" Target="../Resources/ACCESS-Tools/books/ACCESS-Trades-Numeracy-Textbook.pdf#page=154" TargetMode="External"/><Relationship Id="rId6" Type="http://schemas.openxmlformats.org/officeDocument/2006/relationships/hyperlink" Target="../Resources/ACCESS-Tools/books/ACCESS-Trades-Numeracy-Exercise-Book.pdf#page=63"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4.png"/><Relationship Id="rId5" Type="http://schemas.openxmlformats.org/officeDocument/2006/relationships/hyperlink" Target="../Resources/ACCESS-Tools/books/ACCESS-Trades-Numeracy-Textbook.pdf#page=154" TargetMode="External"/><Relationship Id="rId6" Type="http://schemas.openxmlformats.org/officeDocument/2006/relationships/hyperlink" Target="../Resources/ACCESS-Tools/books/ACCESS-Trades-Numeracy-Exercise-Book.pdf#page=63"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4.png"/><Relationship Id="rId4" Type="http://schemas.openxmlformats.org/officeDocument/2006/relationships/hyperlink" Target="../Resources/ACCESS-Tools/books/ACCESS-Trades-Numeracy-Textbook.pdf#page=154" TargetMode="External"/><Relationship Id="rId5" Type="http://schemas.openxmlformats.org/officeDocument/2006/relationships/hyperlink" Target="../Resources/ACCESS-Tools/books/ACCESS-Trades-Numeracy-Exercise-Book.pdf#page=63"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Resources/ACCESS-Tools/books/ACCESS-Trades-Numeracy-Textbook.pdf#page=154" TargetMode="External"/><Relationship Id="rId6" Type="http://schemas.openxmlformats.org/officeDocument/2006/relationships/hyperlink" Target="../Resources/ACCESS-Tools/books/ACCESS-Trades-Numeracy-Exercise-Book.pdf#page=63"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4.png"/><Relationship Id="rId4" Type="http://schemas.openxmlformats.org/officeDocument/2006/relationships/hyperlink" Target="../Resources/ACCESS-Tools/books/ACCESS-Trades-Numeracy-Textbook.pdf#page=154" TargetMode="External"/><Relationship Id="rId5" Type="http://schemas.openxmlformats.org/officeDocument/2006/relationships/hyperlink" Target="../Resources/ACCESS-Tools/books/ACCESS-Trades-Numeracy-Exercise-Book.pdf#page=63"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hyperlink" Target="../Resources/ACCESS-Tools/books/ACCESS-Trades-Numeracy-Textbook.pdf#page=154" TargetMode="External"/><Relationship Id="rId6" Type="http://schemas.openxmlformats.org/officeDocument/2006/relationships/hyperlink" Target="../Resources/ACCESS-Tools/books/ACCESS-Trades-Numeracy-Exercise-Book.pdf#page=63"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4.png"/><Relationship Id="rId5" Type="http://schemas.openxmlformats.org/officeDocument/2006/relationships/hyperlink" Target="../Resources/ACCESS-Tools/books/ACCESS-Trades-Numeracy-Textbook.pdf#page=154" TargetMode="External"/><Relationship Id="rId6" Type="http://schemas.openxmlformats.org/officeDocument/2006/relationships/hyperlink" Target="../Resources/ACCESS-Tools/books/ACCESS-Trades-Numeracy-Exercise-Book.pdf#page=63"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4.png"/><Relationship Id="rId4" Type="http://schemas.openxmlformats.org/officeDocument/2006/relationships/hyperlink" Target="../Resources/ACCESS-Tools/books/ACCESS-Trades-Numeracy-Textbook.pdf#page=154" TargetMode="External"/><Relationship Id="rId5" Type="http://schemas.openxmlformats.org/officeDocument/2006/relationships/hyperlink" Target="../Resources/ACCESS-Tools/books/ACCESS-Trades-Numeracy-Exercise-Book.pdf#page=63"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hyperlink" Target="../Resources/ACCESS-Tools/books/ACCESS-Trades-Numeracy-Textbook.pdf#page=154" TargetMode="External"/><Relationship Id="rId6" Type="http://schemas.openxmlformats.org/officeDocument/2006/relationships/hyperlink" Target="../Resources/ACCESS-Tools/books/ACCESS-Trades-Numeracy-Exercise-Book.pdf#page=6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4.png"/><Relationship Id="rId4" Type="http://schemas.openxmlformats.org/officeDocument/2006/relationships/hyperlink" Target="../Resources/ACCESS-Tools/books/ACCESS-Trades-Numeracy-Textbook.pdf#page=154" TargetMode="External"/><Relationship Id="rId5" Type="http://schemas.openxmlformats.org/officeDocument/2006/relationships/hyperlink" Target="../Resources/ACCESS-Tools/books/ACCESS-Trades-Numeracy-Exercise-Book.pdf#page=63"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4.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4.png"/><Relationship Id="rId4" Type="http://schemas.openxmlformats.org/officeDocument/2006/relationships/hyperlink" Target="../Resources/ACCESS-Tools/books/ACCESS-Trades-Numeracy-Textbook.pdf#page=158" TargetMode="External"/><Relationship Id="rId5" Type="http://schemas.openxmlformats.org/officeDocument/2006/relationships/hyperlink" Target="../Resources/ACCESS-Tools/books/ACCESS-Trades-Numeracy-Exercise-Book.pdf#page=64"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4.png"/><Relationship Id="rId4" Type="http://schemas.openxmlformats.org/officeDocument/2006/relationships/hyperlink" Target="../Resources/ACCESS-Tools/books/ACCESS-Trades-Numeracy-Textbook.pdf#page=158" TargetMode="External"/><Relationship Id="rId5" Type="http://schemas.openxmlformats.org/officeDocument/2006/relationships/hyperlink" Target="../Resources/ACCESS-Tools/books/ACCESS-Trades-Numeracy-Exercise-Book.pdf#page=64"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4.png"/><Relationship Id="rId4" Type="http://schemas.openxmlformats.org/officeDocument/2006/relationships/hyperlink" Target="../Resources/ACCESS-Tools/books/ACCESS-Trades-Numeracy-Textbook.pdf#page=158" TargetMode="External"/><Relationship Id="rId5" Type="http://schemas.openxmlformats.org/officeDocument/2006/relationships/hyperlink" Target="../Resources/ACCESS-Tools/books/ACCESS-Trades-Numeracy-Exercise-Book.pdf#page=64"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4.png"/><Relationship Id="rId4" Type="http://schemas.openxmlformats.org/officeDocument/2006/relationships/hyperlink" Target="../Resources/ACCESS-Tools/books/ACCESS-Trades-Numeracy-Textbook.pdf#page=158" TargetMode="External"/><Relationship Id="rId5" Type="http://schemas.openxmlformats.org/officeDocument/2006/relationships/hyperlink" Target="../Resources/ACCESS-Tools/books/ACCESS-Trades-Numeracy-Exercise-Book.pdf#page=64"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14.png"/><Relationship Id="rId4" Type="http://schemas.openxmlformats.org/officeDocument/2006/relationships/hyperlink" Target="../Resources/ACCESS-Tools/books/ACCESS-Trades-Numeracy-Textbook.pdf#page=158" TargetMode="External"/><Relationship Id="rId5" Type="http://schemas.openxmlformats.org/officeDocument/2006/relationships/hyperlink" Target="../Resources/ACCESS-Tools/books/ACCESS-Trades-Numeracy-Exercise-Book.pdf#page=64"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hyperlink" Target="../Resources/ACCESS-Tools/books/ACCESS-Trades-Numeracy-Textbook.pdf#page=162" TargetMode="External"/><Relationship Id="rId6" Type="http://schemas.openxmlformats.org/officeDocument/2006/relationships/hyperlink" Target="../Resources/ACCESS-Tools/books/ACCESS-Trades-Numeracy-Exercise-Book.pdf#page=64"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hyperlink" Target="../Resources/ACCESS-Tools/books/ACCESS-Trades-Numeracy-Textbook.pdf#page=162" TargetMode="External"/><Relationship Id="rId6" Type="http://schemas.openxmlformats.org/officeDocument/2006/relationships/hyperlink" Target="../Resources/ACCESS-Tools/books/ACCESS-Trades-Numeracy-Exercise-Book.pdf#page=64"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4.png"/><Relationship Id="rId4" Type="http://schemas.openxmlformats.org/officeDocument/2006/relationships/hyperlink" Target="../Resources/ACCESS-Tools/books/ACCESS-Trades-Numeracy-Textbook.pdf#page=158" TargetMode="External"/><Relationship Id="rId5" Type="http://schemas.openxmlformats.org/officeDocument/2006/relationships/hyperlink" Target="../Resources/ACCESS-Tools/books/ACCESS-Trades-Numeracy-Exercise-Book.pdf#page=64"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4.png"/><Relationship Id="rId4" Type="http://schemas.openxmlformats.org/officeDocument/2006/relationships/hyperlink" Target="../Resources/ACCESS-Tools/books/ACCESS-Trades-Numeracy-Textbook.pdf#page=158" TargetMode="External"/><Relationship Id="rId5" Type="http://schemas.openxmlformats.org/officeDocument/2006/relationships/hyperlink" Target="../Resources/ACCESS-Tools/books/ACCESS-Trades-Numeracy-Exercise-Book.pdf#page=64"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hyperlink" Target="../Resources/ACCESS-Tools/books/ACCESS-Trades-Numeracy-Textbook.pdf#page=158" TargetMode="External"/><Relationship Id="rId6" Type="http://schemas.openxmlformats.org/officeDocument/2006/relationships/hyperlink" Target="../Resources/ACCESS-Tools/books/ACCESS-Trades-Numeracy-Exercise-Book.pdf#page=63"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hyperlink" Target="../Resources/ACCESS-Tools/books/ACCESS-Trades-Numeracy-Textbook.pdf#page=158" TargetMode="External"/><Relationship Id="rId6" Type="http://schemas.openxmlformats.org/officeDocument/2006/relationships/hyperlink" Target="../Resources/ACCESS-Tools/books/ACCESS-Trades-Numeracy-Exercise-Book.pdf#page=63"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4.png"/><Relationship Id="rId4" Type="http://schemas.openxmlformats.org/officeDocument/2006/relationships/hyperlink" Target="../Resources/ACCESS-Tools/books/ACCESS-Trades-Numeracy-Textbook.pdf#page=158" TargetMode="External"/><Relationship Id="rId5" Type="http://schemas.openxmlformats.org/officeDocument/2006/relationships/hyperlink" Target="../Resources/ACCESS-Tools/books/ACCESS-Trades-Numeracy-Exercise-Book.pdf#page=64"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Resources/ACCESS-Tools/books/ACCESS-Trades-Numeracy-Textbook.pdf#page=158" TargetMode="External"/><Relationship Id="rId6" Type="http://schemas.openxmlformats.org/officeDocument/2006/relationships/hyperlink" Target="../Resources/ACCESS-Tools/books/ACCESS-Trades-Numeracy-Exercise-Book.pdf#page=64"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4.png"/><Relationship Id="rId4" Type="http://schemas.openxmlformats.org/officeDocument/2006/relationships/hyperlink" Target="../Resources/ACCESS-Tools/books/ACCESS-Trades-Numeracy-Textbook.pdf#page=158" TargetMode="External"/><Relationship Id="rId5" Type="http://schemas.openxmlformats.org/officeDocument/2006/relationships/hyperlink" Target="../Resources/ACCESS-Tools/books/ACCESS-Trades-Numeracy-Exercise-Book.pdf#page=64"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Resources/ACCESS-Tools/books/ACCESS-Trades-Numeracy-Textbook.pdf#page=158" TargetMode="External"/><Relationship Id="rId6" Type="http://schemas.openxmlformats.org/officeDocument/2006/relationships/hyperlink" Target="../Resources/ACCESS-Tools/books/ACCESS-Trades-Numeracy-Exercise-Book.pdf#page=6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hyperlink" Target="../Resources/ACCESS-Tools/books/ACCESS-Trades-Numeracy-Textbook.pdf#page=158" TargetMode="External"/><Relationship Id="rId6" Type="http://schemas.openxmlformats.org/officeDocument/2006/relationships/hyperlink" Target="../Resources/ACCESS-Tools/books/ACCESS-Trades-Numeracy-Exercise-Book.pdf#page=6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4.png"/><Relationship Id="rId4" Type="http://schemas.openxmlformats.org/officeDocument/2006/relationships/hyperlink" Target="../Resources/ACCESS-Tools/books/ACCESS-Trades-Numeracy-Textbook.pdf#page=158" TargetMode="External"/><Relationship Id="rId5" Type="http://schemas.openxmlformats.org/officeDocument/2006/relationships/hyperlink" Target="../Resources/ACCESS-Tools/books/ACCESS-Trades-Numeracy-Exercise-Book.pdf#page=64"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hyperlink" Target="../Resources/ACCESS-Tools/books/ACCESS-Trades-Numeracy-Textbook.pdf#page=158" TargetMode="External"/><Relationship Id="rId6" Type="http://schemas.openxmlformats.org/officeDocument/2006/relationships/hyperlink" Target="../Resources/ACCESS-Tools/books/ACCESS-Trades-Numeracy-Exercise-Book.pdf#page=6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Resources/ACCESS-Tools/books/ACCESS-Trades-Numeracy-Textbook.pdf#page=158" TargetMode="External"/><Relationship Id="rId6" Type="http://schemas.openxmlformats.org/officeDocument/2006/relationships/hyperlink" Target="../Resources/ACCESS-Tools/books/ACCESS-Trades-Numeracy-Exercise-Book.pdf#page=6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4.png"/><Relationship Id="rId4" Type="http://schemas.openxmlformats.org/officeDocument/2006/relationships/hyperlink" Target="../Resources/ACCESS-Tools/books/ACCESS-Trades-Numeracy-Textbook.pdf#page=158" TargetMode="External"/><Relationship Id="rId5" Type="http://schemas.openxmlformats.org/officeDocument/2006/relationships/hyperlink" Target="../Resources/ACCESS-Tools/books/ACCESS-Trades-Numeracy-Exercise-Book.pdf#page=64"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ACCESS  /  CARPENTRY FOUNDATION  /  INTAKE 141</a:t>
            </a:r>
          </a:p>
        </p:txBody>
      </p:sp>
      <p:sp>
        <p:nvSpPr>
          <p:cNvPr id="3" name="TextBox 2"/>
          <p:cNvSpPr txBox="1"/>
          <p:nvPr/>
        </p:nvSpPr>
        <p:spPr>
          <a:xfrm>
            <a:off x="612648" y="1143000"/>
            <a:ext cx="10789920" cy="64008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t>Day 18  |  Monday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t>November 30,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Area and material coverage</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Composite areas, openings and surface coverage</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t>Week 6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5" name="TextBox 14"/>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6" name="TextBox 15"/>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7" name="TextBox 16"/>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8" name="TextBox 17"/>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18  •  2026-11-30  •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t>DAY 18  /  WEEK 6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12:45 PM–2:00 PM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Area and material coverage</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12:45 PM–12:50 PM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12:50 PM–12:55 PM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12:55 PM–1:10 PM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1:10 PM–1:25 PM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 PM–1:45 PM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1:45 PM–1:55 PM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1:55 PM–2:00 PM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6, Lesson 1</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2:15 PM–3:30 PM  •  75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Composite areas, openings and surface coverage</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2:15 PM–2:20 PM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2:20 PM–2:25 PM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2:25 PM–2:40 PM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2:40 PM–2:55 PM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2:55 PM–3:15 PM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3:15 PM–3:25 PM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3:25 PM–3:30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6, Lesson 2</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56" name="TextBox 5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57" name="TextBox 5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58" name="TextBox 5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59" name="TextBox 5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W06-L01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Area and material coverage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10.1–10.3 pp.154–157; sections 7.4 pp.113–115</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Calculate rectangle and triangle areas and distinguish linear units from square units.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sections 10.1–10.3 pp.154–157; sections 7.4 pp.113–115</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10A Q1–8 (p.63); 10B Q1,4 (p.65)</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W06-L01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10.1–10.3 pp.154–157; sections 7.4 pp.113–115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Explain why 1 m² is not 1,000 mm²; retrieve a rectangle perimeter and name its different unit.</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10A Q1–8 (p.63); 10B Q1,4 (p.65)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Measure coverage in squares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10.1–10.3 pp.154–157; sections 7.4 pp.113–115</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Rectangle area = length × width.</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Triangle area = ½ × base × perpendicular height.</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The height meets the base at 90°; it is not usually the sloping side.</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Area answers use square units such as mm² or m².</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Convert areas and count sheets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10.1–10.3 pp.154–157; sections 7.4 pp.113–115</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 square conversion applies the length factor twice.</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Because 1 m = 1,000 mm, 1 m² = 1,000,000 mm².</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Sheet count = surface area ÷ one-sheet area in matching units.</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Keep the exercise’s no-waste assumption explicit; round purchases as required.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W06-L01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181818"/>
                </a:solidFill>
                <a:latin typeface="Arial" pitchFamily="34" charset="0"/>
                <a:ea typeface="Arial" pitchFamily="34" charset="-122"/>
                <a:cs typeface="Arial" pitchFamily="34" charset="-120"/>
              </a:rPr>
              <a:t>Turn floor area into a sheet quantity</a:t>
            </a:r>
            <a:endParaRPr lang="en-US" sz="3000" dirty="0"/>
          </a:p>
        </p:txBody>
      </p:sp>
      <p:sp>
        <p:nvSpPr>
          <p:cNvPr id="5" name="Text 3"/>
          <p:cNvSpPr/>
          <p:nvPr/>
        </p:nvSpPr>
        <p:spPr>
          <a:xfrm>
            <a:off x="609585" y="1714500"/>
            <a:ext cx="10972526" cy="1119783"/>
          </a:xfrm>
          <a:prstGeom prst="rect">
            <a:avLst/>
          </a:prstGeom>
          <a:noFill/>
          <a:ln/>
        </p:spPr>
        <p:txBody>
          <a:bodyPr wrap="square" lIns="0" tIns="0" rIns="0" bIns="0" rtlCol="0" anchor="t"/>
          <a:lstStyle/>
          <a:p>
            <a:pPr marL="0" indent="0" algn="l">
              <a:buNone/>
            </a:pPr>
            <a:r>
              <a:rPr lang="en-US" sz="2100" dirty="0">
                <a:solidFill>
                  <a:srgbClr val="181818"/>
                </a:solidFill>
                <a:latin typeface="Arial" pitchFamily="34" charset="0"/>
                <a:ea typeface="Arial" pitchFamily="34" charset="-122"/>
                <a:cs typeface="Arial" pitchFamily="34" charset="-120"/>
              </a:rPr>
              <a:t>Floor: 7.2 m × 3.6 m = 25.92 m²</a:t>
            </a:r>
            <a:endParaRPr lang="en-US" sz="2100" dirty="0"/>
          </a:p>
          <a:p>
            <a:pPr marL="0" indent="0" algn="l">
              <a:buNone/>
            </a:pPr>
            <a:r>
              <a:rPr lang="en-US" sz="2100" dirty="0">
                <a:solidFill>
                  <a:srgbClr val="181818"/>
                </a:solidFill>
                <a:latin typeface="Arial" pitchFamily="34" charset="0"/>
                <a:ea typeface="Arial" pitchFamily="34" charset="-122"/>
                <a:cs typeface="Arial" pitchFamily="34" charset="-120"/>
              </a:rPr>
              <a:t>One sheet: 1.2 m × 2.4 m = 2.88 m²</a:t>
            </a:r>
            <a:endParaRPr lang="en-US" sz="2100" dirty="0"/>
          </a:p>
          <a:p>
            <a:pPr marL="0" indent="0" algn="l">
              <a:buNone/>
            </a:pPr>
            <a:r>
              <a:rPr lang="en-US" sz="2100" dirty="0">
                <a:solidFill>
                  <a:srgbClr val="181818"/>
                </a:solidFill>
                <a:latin typeface="Arial" pitchFamily="34" charset="0"/>
                <a:ea typeface="Arial" pitchFamily="34" charset="-122"/>
                <a:cs typeface="Arial" pitchFamily="34" charset="-120"/>
              </a:rPr>
              <a:t>No-waste quantity: 25.92 ÷ 2.88 = 9 sheets</a:t>
            </a:r>
            <a:endParaRPr lang="en-US" sz="2100" dirty="0"/>
          </a:p>
        </p:txBody>
      </p:sp>
      <p:sp>
        <p:nvSpPr>
          <p:cNvPr id="6" name="Text 4"/>
          <p:cNvSpPr/>
          <p:nvPr/>
        </p:nvSpPr>
        <p:spPr>
          <a:xfrm>
            <a:off x="609585" y="3238500"/>
            <a:ext cx="10972526" cy="95994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What the result means • This is a no-waste classroom calculation.</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An area quotient is not automatically a workable cutting plan.</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Keep the sheet dimensions and layout assumptions visible.</a:t>
            </a:r>
            <a:endParaRPr lang="en-US" sz="1800" dirty="0"/>
          </a:p>
        </p:txBody>
      </p:sp>
      <p:sp>
        <p:nvSpPr>
          <p:cNvPr id="7" name="Text 5"/>
          <p:cNvSpPr/>
          <p:nvPr/>
        </p:nvSpPr>
        <p:spPr>
          <a:xfrm>
            <a:off x="609585" y="4714875"/>
            <a:ext cx="10972526" cy="95994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Together • Work 10A Q2–4,7–8. Label perpendicular heights.</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Shape Canvas: compare a rectangle and a right triangle with the same</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base and height. Predict why the triangle has half the area.</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181818"/>
                </a:solidFill>
                <a:latin typeface="Arial" pitchFamily="34" charset="0"/>
                <a:ea typeface="Arial" pitchFamily="34" charset="-122"/>
                <a:cs typeface="Arial" pitchFamily="34" charset="-120"/>
              </a:rPr>
              <a:t>Exercise Book 10B Q1 p.65 • Numeracy Hub → Volume and Layout → Area and perimeter</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07</a:t>
            </a:r>
          </a:p>
        </p:txBody>
      </p:sp>
    </p:spTree>
    <p:extLst>
      <p:ext uri="{BB962C8B-B14F-4D97-AF65-F5344CB8AC3E}">
        <p14:creationId xmlns:p14="http://schemas.microsoft.com/office/powerpoint/2010/main" val="2839120278"/>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156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10.1–10.3 pp.154–157; sections 7.4 pp.113–115</a:t>
            </a:r>
          </a:p>
        </p:txBody>
      </p:sp>
      <p:pic>
        <p:nvPicPr>
          <p:cNvPr id="5" name="Picture 4" descr="W06-L01.png"/>
          <p:cNvPicPr>
            <a:picLocks noChangeAspect="1"/>
          </p:cNvPicPr>
          <p:nvPr/>
        </p:nvPicPr>
        <p:blipFill>
          <a:blip r:embed="rId3"/>
          <a:stretch>
            <a:fillRect/>
          </a:stretch>
        </p:blipFill>
        <p:spPr>
          <a:xfrm>
            <a:off x="685800" y="2357526"/>
            <a:ext cx="10698480" cy="2737306"/>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p.156 • Figure 10.3 — Equal base and perpendicular height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155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10.1–10.3 pp.154–157; sections 7.4 pp.113–115</a:t>
            </a:r>
          </a:p>
        </p:txBody>
      </p:sp>
      <p:pic>
        <p:nvPicPr>
          <p:cNvPr id="5" name="Picture 4" descr="W06-L01-2.png"/>
          <p:cNvPicPr>
            <a:picLocks noChangeAspect="1"/>
          </p:cNvPicPr>
          <p:nvPr/>
        </p:nvPicPr>
        <p:blipFill>
          <a:blip r:embed="rId3"/>
          <a:stretch>
            <a:fillRect/>
          </a:stretch>
        </p:blipFill>
        <p:spPr>
          <a:xfrm>
            <a:off x="685800" y="1935866"/>
            <a:ext cx="10698480" cy="358062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p.155 • Example 10.1 — Rectangle area and squared unit conversion</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10.1–10.3 pp.154–157; sections 7.4 pp.113–115</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Can an area in m² be converted to mm² by multiplying by 1,000?</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No. Both dimensions change by 1,000, so the area factor is 1,000 squared.</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10.1–10.3 pp.154–157; sections 7.4 pp.113–115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Work Exercise Book 10A Q2–4,7–8; learners label perpendicular height, not the sloping side.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10A Q1–8 (p.63); 10B Q1,4 (p.65)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10A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10.1–10.3 pp.154–157; sections 7.4 pp.113–115</a:t>
            </a:r>
          </a:p>
        </p:txBody>
      </p:sp>
      <p:pic>
        <p:nvPicPr>
          <p:cNvPr id="5" name="Picture 4" descr="10A-Q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10A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10.1–10.3 pp.154–157; sections 7.4 pp.113–115</a:t>
            </a:r>
          </a:p>
        </p:txBody>
      </p:sp>
      <p:pic>
        <p:nvPicPr>
          <p:cNvPr id="5" name="Picture 4" descr="10A-Q2.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1.5 m²</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10.1–10.3 pp.154–157; sections 7.4 pp.113–115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Exercise Book 10A Q5–6 and 10B Q1,4. On Shape Canvas, compare the two shapes’ areas. Keep the sheet count’s no-waste assumption explicit.</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10A Q1–8 (p.63); 10B Q1,4 (p.65)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10.1–10.3 pp.154–157; sections 7.4 pp.113–115</a:t>
            </a:r>
          </a:p>
        </p:txBody>
      </p:sp>
      <p:pic>
        <p:nvPicPr>
          <p:cNvPr id="5" name="Picture 4" descr="hub-vl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10.1–10.3 pp.154–157; sections 7.4 pp.113–115</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Create a rectangle and right triangle with equal base and height in Shape Canvas.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Calculate both areas on paper; explain why the triangle covers half as much.</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Check the area method in Numeracy Hub Volume and Layout → Area and perimeter.</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10A Q5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10.1–10.3 pp.154–157; sections 7.4 pp.113–115</a:t>
            </a:r>
          </a:p>
        </p:txBody>
      </p:sp>
      <p:pic>
        <p:nvPicPr>
          <p:cNvPr id="5" name="Picture 4" descr="10A-Q5.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10A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10.1–10.3 pp.154–157; sections 7.4 pp.113–115</a:t>
            </a:r>
          </a:p>
        </p:txBody>
      </p:sp>
      <p:pic>
        <p:nvPicPr>
          <p:cNvPr id="5" name="Picture 4" descr="10A-Q6.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W06-L01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10.1–10.3 pp.154–157; sections 7.4 pp.113–115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Exercise Book 10B Q1; show floor area, one-sheet area and sheet quantity.</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10A Q1–8 (p.63); 10B Q1,4 (p.65)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W06-L01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10B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10.1–10.3 pp.154–157; sections 7.4 pp.113–115</a:t>
            </a:r>
          </a:p>
        </p:txBody>
      </p:sp>
      <p:pic>
        <p:nvPicPr>
          <p:cNvPr id="5" name="Picture 4" descr="10B-Q1.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W06-L01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10.1–10.3 pp.154–157; sections 7.4 pp.113–115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10A Q1–8 (p.63); 10B Q1,4 (p.65)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DAY 18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t>2:00 PM–2:15 PM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t>Return ready for: Composite areas, openings and surface coverage</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18  •  2026-11-30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W06-L02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Composite areas, openings and surface coverage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10.4–10.7 pp.158–164</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Break a composite shape into known parts and subtract openings before estimating coverage.</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sections 10.4–10.7 pp.158–164</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10A Q10–12 (p.64); 10B Q2 (p.65), Q11–12 (p.66); 10C Q4 (p.67)</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W06-L02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10.4–10.7 pp.158–164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Show a panel with a hole; ask which area is added and which is subtracted.</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10A Q10–12 (p.64); 10B Q2 (p.65), Q11–12 (p.66); 10C Q4 (p.67)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Build a composite area from known pieces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10.4–10.7 pp.158–164</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Split the outline into non-overlapping shapes with known area formulas.</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Label the required lengths and perpendicular heights.</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Add the separate areas once each.</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For a trapezoid, multiply the average parallel-side length by its height.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Subtract openings before estimating coverage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10.4–10.7 pp.158–164</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Net area = outer area − opening area.</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For a circular opening, use A = πr² with half the diameter as r.</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Keep all areas in the same square unit.</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net area and the stated coverage to calculate whole tins to buy.</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W06-L02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181818"/>
                </a:solidFill>
                <a:latin typeface="Arial" pitchFamily="34" charset="0"/>
                <a:ea typeface="Arial" pitchFamily="34" charset="-122"/>
                <a:cs typeface="Arial" pitchFamily="34" charset="-120"/>
              </a:rPr>
              <a:t>Subtract the opening, not the outside</a:t>
            </a:r>
            <a:endParaRPr lang="en-US" sz="3000" dirty="0"/>
          </a:p>
        </p:txBody>
      </p:sp>
      <p:sp>
        <p:nvSpPr>
          <p:cNvPr id="5" name="Shape 3"/>
          <p:cNvSpPr/>
          <p:nvPr/>
        </p:nvSpPr>
        <p:spPr>
          <a:xfrm>
            <a:off x="904852" y="2333625"/>
            <a:ext cx="3333667" cy="2190750"/>
          </a:xfrm>
          <a:prstGeom prst="rect">
            <a:avLst/>
          </a:prstGeom>
          <a:solidFill>
            <a:srgbClr val="E3E5E7"/>
          </a:solidFill>
          <a:ln w="28575">
            <a:solidFill>
              <a:srgbClr val="444444"/>
            </a:solidFill>
            <a:prstDash val="solid"/>
          </a:ln>
        </p:spPr>
        <p:txBody>
          <a:bodyPr/>
          <a:lstStyle/>
          <a:p>
            <a:endParaRPr lang="en-CA"/>
          </a:p>
        </p:txBody>
      </p:sp>
      <p:sp>
        <p:nvSpPr>
          <p:cNvPr id="6" name="Shape 4"/>
          <p:cNvSpPr/>
          <p:nvPr/>
        </p:nvSpPr>
        <p:spPr>
          <a:xfrm>
            <a:off x="2047824" y="2952750"/>
            <a:ext cx="1047724" cy="857250"/>
          </a:xfrm>
          <a:prstGeom prst="rect">
            <a:avLst/>
          </a:prstGeom>
          <a:solidFill>
            <a:srgbClr val="FFFFFF"/>
          </a:solidFill>
          <a:ln w="28575">
            <a:solidFill>
              <a:srgbClr val="C60016"/>
            </a:solidFill>
            <a:prstDash val="solid"/>
          </a:ln>
        </p:spPr>
        <p:txBody>
          <a:bodyPr/>
          <a:lstStyle/>
          <a:p>
            <a:endParaRPr lang="en-CA"/>
          </a:p>
        </p:txBody>
      </p:sp>
      <p:sp>
        <p:nvSpPr>
          <p:cNvPr id="7" name="Text 5"/>
          <p:cNvSpPr/>
          <p:nvPr/>
        </p:nvSpPr>
        <p:spPr>
          <a:xfrm>
            <a:off x="904852" y="1809750"/>
            <a:ext cx="4762381" cy="319980"/>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Outer: 1,200 × 800 mm</a:t>
            </a:r>
            <a:endParaRPr lang="en-US" sz="1800" dirty="0"/>
          </a:p>
        </p:txBody>
      </p:sp>
      <p:sp>
        <p:nvSpPr>
          <p:cNvPr id="8" name="Text 6"/>
          <p:cNvSpPr/>
          <p:nvPr/>
        </p:nvSpPr>
        <p:spPr>
          <a:xfrm>
            <a:off x="904852" y="4667250"/>
            <a:ext cx="4762381" cy="319980"/>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Opening: 300 × 200 mm</a:t>
            </a:r>
            <a:endParaRPr lang="en-US" sz="1800" dirty="0"/>
          </a:p>
        </p:txBody>
      </p:sp>
      <p:sp>
        <p:nvSpPr>
          <p:cNvPr id="9" name="Text 7"/>
          <p:cNvSpPr/>
          <p:nvPr/>
        </p:nvSpPr>
        <p:spPr>
          <a:xfrm>
            <a:off x="5810105" y="1905000"/>
            <a:ext cx="5714857" cy="1119783"/>
          </a:xfrm>
          <a:prstGeom prst="rect">
            <a:avLst/>
          </a:prstGeom>
          <a:noFill/>
          <a:ln/>
        </p:spPr>
        <p:txBody>
          <a:bodyPr wrap="square" lIns="0" tIns="0" rIns="0" bIns="0" rtlCol="0" anchor="t"/>
          <a:lstStyle/>
          <a:p>
            <a:pPr marL="0" indent="0" algn="l">
              <a:buNone/>
            </a:pPr>
            <a:r>
              <a:rPr lang="en-US" sz="2100" dirty="0">
                <a:solidFill>
                  <a:srgbClr val="181818"/>
                </a:solidFill>
                <a:latin typeface="Arial" pitchFamily="34" charset="0"/>
                <a:ea typeface="Arial" pitchFamily="34" charset="-122"/>
                <a:cs typeface="Arial" pitchFamily="34" charset="-120"/>
              </a:rPr>
              <a:t>Outer area = 960,000 mm²</a:t>
            </a:r>
            <a:endParaRPr lang="en-US" sz="2100" dirty="0"/>
          </a:p>
          <a:p>
            <a:pPr marL="0" indent="0" algn="l">
              <a:buNone/>
            </a:pPr>
            <a:r>
              <a:rPr lang="en-US" sz="2100" dirty="0">
                <a:solidFill>
                  <a:srgbClr val="181818"/>
                </a:solidFill>
                <a:latin typeface="Arial" pitchFamily="34" charset="0"/>
                <a:ea typeface="Arial" pitchFamily="34" charset="-122"/>
                <a:cs typeface="Arial" pitchFamily="34" charset="-120"/>
              </a:rPr>
              <a:t>Opening area = 60,000 mm²</a:t>
            </a:r>
            <a:endParaRPr lang="en-US" sz="2100" dirty="0"/>
          </a:p>
          <a:p>
            <a:pPr marL="0" indent="0" algn="l">
              <a:buNone/>
            </a:pPr>
            <a:r>
              <a:rPr lang="en-US" sz="2100" dirty="0">
                <a:solidFill>
                  <a:srgbClr val="181818"/>
                </a:solidFill>
                <a:latin typeface="Arial" pitchFamily="34" charset="0"/>
                <a:ea typeface="Arial" pitchFamily="34" charset="-122"/>
                <a:cs typeface="Arial" pitchFamily="34" charset="-120"/>
              </a:rPr>
              <a:t>Net = 900,000 mm² = 0.9 m²</a:t>
            </a:r>
            <a:endParaRPr lang="en-US" sz="2100" dirty="0"/>
          </a:p>
        </p:txBody>
      </p:sp>
      <p:sp>
        <p:nvSpPr>
          <p:cNvPr id="10" name="Text 8"/>
          <p:cNvSpPr/>
          <p:nvPr/>
        </p:nvSpPr>
        <p:spPr>
          <a:xfrm>
            <a:off x="5810105" y="3286125"/>
            <a:ext cx="5524362" cy="95994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Check: 900,000 + 60,000</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 960,000 mm².</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Keep all dimensions in one unit.</a:t>
            </a:r>
            <a:endParaRPr lang="en-US" sz="1800" dirty="0"/>
          </a:p>
        </p:txBody>
      </p:sp>
      <p:sp>
        <p:nvSpPr>
          <p:cNvPr id="11" name="Text 9"/>
          <p:cNvSpPr/>
          <p:nvPr/>
        </p:nvSpPr>
        <p:spPr>
          <a:xfrm>
            <a:off x="609585" y="5334000"/>
            <a:ext cx="10972526" cy="639961"/>
          </a:xfrm>
          <a:prstGeom prst="rect">
            <a:avLst/>
          </a:prstGeom>
          <a:noFill/>
          <a:ln/>
        </p:spPr>
        <p:txBody>
          <a:bodyPr wrap="square" lIns="0" tIns="0" rIns="0" bIns="0" rtlCol="0" anchor="t"/>
          <a:lstStyle/>
          <a:p>
            <a:pPr marL="0" indent="0" algn="l">
              <a:buNone/>
            </a:pPr>
            <a:r>
              <a:rPr lang="en-US" sz="1800" dirty="0">
                <a:solidFill>
                  <a:srgbClr val="181818"/>
                </a:solidFill>
                <a:latin typeface="Arial" pitchFamily="34" charset="0"/>
                <a:ea typeface="Arial" pitchFamily="34" charset="-122"/>
                <a:cs typeface="Arial" pitchFamily="34" charset="-120"/>
              </a:rPr>
              <a:t>Together • 10A Q10–12 and 10C Q4. Annotate non-overlapping parts.</a:t>
            </a:r>
            <a:endParaRPr lang="en-US" sz="1800" dirty="0"/>
          </a:p>
          <a:p>
            <a:pPr marL="0" indent="0" algn="l">
              <a:buNone/>
            </a:pPr>
            <a:r>
              <a:rPr lang="en-US" sz="1800" dirty="0">
                <a:solidFill>
                  <a:srgbClr val="181818"/>
                </a:solidFill>
                <a:latin typeface="Arial" pitchFamily="34" charset="0"/>
                <a:ea typeface="Arial" pitchFamily="34" charset="-122"/>
                <a:cs typeface="Arial" pitchFamily="34" charset="-120"/>
              </a:rPr>
              <a:t>Use a Shape Canvas sketch only after choosing the add/subtract steps.</a:t>
            </a:r>
            <a:endParaRPr lang="en-US" sz="1800" dirty="0"/>
          </a:p>
        </p:txBody>
      </p:sp>
      <p:sp>
        <p:nvSpPr>
          <p:cNvPr id="12" name="Text 10"/>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181818"/>
                </a:solidFill>
                <a:latin typeface="Arial" pitchFamily="34" charset="0"/>
                <a:ea typeface="Arial" pitchFamily="34" charset="-122"/>
                <a:cs typeface="Arial" pitchFamily="34" charset="-120"/>
              </a:rPr>
              <a:t>Exercise Book 10B Q11 p.66 • Schematic, not to scale • Surface-net preview is optional after core work</a:t>
            </a:r>
            <a:endParaRPr lang="en-US" sz="1050" dirty="0"/>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27</a:t>
            </a:r>
          </a:p>
        </p:txBody>
      </p:sp>
    </p:spTree>
    <p:extLst>
      <p:ext uri="{BB962C8B-B14F-4D97-AF65-F5344CB8AC3E}">
        <p14:creationId xmlns:p14="http://schemas.microsoft.com/office/powerpoint/2010/main" val="2508019296"/>
      </p:ext>
    </p:extLst>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162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10.4–10.7 pp.158–164</a:t>
            </a:r>
          </a:p>
        </p:txBody>
      </p:sp>
      <p:pic>
        <p:nvPicPr>
          <p:cNvPr id="5" name="Picture 4" descr="W06-L02.png"/>
          <p:cNvPicPr>
            <a:picLocks noChangeAspect="1"/>
          </p:cNvPicPr>
          <p:nvPr/>
        </p:nvPicPr>
        <p:blipFill>
          <a:blip r:embed="rId3"/>
          <a:stretch>
            <a:fillRect/>
          </a:stretch>
        </p:blipFill>
        <p:spPr>
          <a:xfrm>
            <a:off x="685800" y="2250527"/>
            <a:ext cx="10698480" cy="295130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p.162 • Example 10.7 — Split an L-shaped plate into non-overlapping rectangles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162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10.4–10.7 pp.158–164</a:t>
            </a:r>
          </a:p>
        </p:txBody>
      </p:sp>
      <p:pic>
        <p:nvPicPr>
          <p:cNvPr id="5" name="Picture 4" descr="W06-L02-2.png"/>
          <p:cNvPicPr>
            <a:picLocks noChangeAspect="1"/>
          </p:cNvPicPr>
          <p:nvPr/>
        </p:nvPicPr>
        <p:blipFill>
          <a:blip r:embed="rId3"/>
          <a:stretch>
            <a:fillRect/>
          </a:stretch>
        </p:blipFill>
        <p:spPr>
          <a:xfrm>
            <a:off x="943526" y="1691640"/>
            <a:ext cx="10183027"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ACCESS Textbook p.162 • Example 10.8 — Add the shapes and subtract the opening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10.4–10.7 pp.158–164</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A panel has a circular opening labelled by diameter. Can that diameter go directly into πr²?</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No. Divide the diameter by two to obtain the radius, then square the radius.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10.4–10.7 pp.158–164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Work Exercise Book 10A Q10–12 and Exercise Book 10C Q4. Partners annotate non-overlapping pieces.</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10A Q10–12 (p.64); 10B Q2 (p.65), Q11–12 (p.66); 10C Q4 (p.67)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10A Q10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10.4–10.7 pp.158–164</a:t>
            </a:r>
          </a:p>
        </p:txBody>
      </p:sp>
      <p:pic>
        <p:nvPicPr>
          <p:cNvPr id="5" name="Picture 4" descr="10A-Q10.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10A Q10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10.4–10.7 pp.158–164</a:t>
            </a:r>
          </a:p>
        </p:txBody>
      </p:sp>
      <p:pic>
        <p:nvPicPr>
          <p:cNvPr id="5" name="Picture 4" descr="10A-Q10.png"/>
          <p:cNvPicPr>
            <a:picLocks noChangeAspect="1"/>
          </p:cNvPicPr>
          <p:nvPr/>
        </p:nvPicPr>
        <p:blipFill>
          <a:blip r:embed="rId3"/>
          <a:stretch>
            <a:fillRect/>
          </a:stretch>
        </p:blipFill>
        <p:spPr>
          <a:xfrm>
            <a:off x="685800" y="1853945"/>
            <a:ext cx="10698480" cy="1367028"/>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59,400 mm²</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10.4–10.7 pp.158–164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Exercise Book 10B Q2,11–12. Build a Shape Canvas sketch and label areas; use the net preview only if core subtraction and coverage are secure.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10A Q10–12 (p.64); 10B Q2 (p.65), Q11–12 (p.66); 10C Q4 (p.67)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10.4–10.7 pp.158–164</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10.4–10.7 pp.158–164</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two labelled shapes in Shape Canvas to represent the outer rectangle and opening.</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Compute the separate areas and net area on paper before comparing the labels.</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Only after core coverage work is secure, inspect the optional Shape Studio solid/net preview.</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10B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10.4–10.7 pp.158–164</a:t>
            </a:r>
          </a:p>
        </p:txBody>
      </p:sp>
      <p:pic>
        <p:nvPicPr>
          <p:cNvPr id="5" name="Picture 4" descr="10B-Q2.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10B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10.4–10.7 pp.158–164</a:t>
            </a:r>
          </a:p>
        </p:txBody>
      </p:sp>
      <p:pic>
        <p:nvPicPr>
          <p:cNvPr id="5" name="Picture 4" descr="10B-Q11.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10.4–10.7 pp.158–164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Exercise Book 10B Q11 and Q2; report net area and whole tins to buy.</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10A Q10–12 (p.64); 10B Q2 (p.65), Q11–12 (p.66); 10C Q4 (p.67)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10B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10.4–10.7 pp.158–164</a:t>
            </a:r>
          </a:p>
        </p:txBody>
      </p:sp>
      <p:pic>
        <p:nvPicPr>
          <p:cNvPr id="5" name="Picture 4" descr="10B-Q11.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10B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10.4–10.7 pp.158–164</a:t>
            </a:r>
          </a:p>
        </p:txBody>
      </p:sp>
      <p:pic>
        <p:nvPicPr>
          <p:cNvPr id="5" name="Picture 4" descr="10B-Q2.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W06-L02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sections 10.4–10.7 pp.158–164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10A Q10–12 (p.64); 10B Q2 (p.65), Q11–12 (p.66); 10C Q4 (p.67)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18  •  2026-11-30  •  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37</TotalTime>
  <Words>19960</Words>
  <Application>Microsoft Office PowerPoint</Application>
  <PresentationFormat>Widescreen</PresentationFormat>
  <Paragraphs>2040</Paragraphs>
  <Slides>165</Slides>
  <Notes>165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165</vt:i4>
      </vt:variant>
    </vt:vector>
  </HeadingPairs>
  <TitlesOfParts>
    <vt:vector size="168"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ACCESS Carpentry Math | Full Day 18 | 2026-11-30</dc:title>
  <dc:creator>ACCESS Trades</dc:creator>
  <cp:lastModifiedBy>Gabriel Ostrowidzki</cp:lastModifiedBy>
  <cp:revision>3</cp:revision>
  <dcterms:created xsi:type="dcterms:W3CDTF">2026-10-19T18:44:52Z</dcterms:created>
  <dcterms:modified xsi:type="dcterms:W3CDTF">2026-10-19T19:22:04Z</dcterms:modified>
  <dc:subject>Area and material coverage; Composite areas, openings and surface coverage</dc:subject>
</cp:coreProperties>
</file>