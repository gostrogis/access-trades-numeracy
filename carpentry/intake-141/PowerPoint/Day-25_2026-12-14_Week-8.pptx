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53.xml" ContentType="application/vnd.openxmlformats-officedocument.presentationml.notesSlide+xml"/>
  <Override PartName="/ppt/notesSlides/notesSlide156.xml" ContentType="application/vnd.openxmlformats-officedocument.presentationml.notesSlide+xml"/>
  <Override PartName="/ppt/notesSlides/notesSlide166.xml" ContentType="application/vnd.openxmlformats-officedocument.presentationml.notesSlide+xml"/>
  <Override PartName="/ppt/notesSlides/notesSlide167.xml" ContentType="application/vnd.openxmlformats-officedocument.presentationml.notesSlide+xml"/>
  <Override PartName="/ppt/notesSlides/notesSlide168.xml" ContentType="application/vnd.openxmlformats-officedocument.presentationml.notesSlide+xml"/>
  <Override PartName="/ppt/notesSlides/notesSlide169.xml" ContentType="application/vnd.openxmlformats-officedocument.presentationml.notesSlide+xml"/>
  <Override PartName="/ppt/notesSlides/notesSlide170.xml" ContentType="application/vnd.openxmlformats-officedocument.presentationml.notesSlide+xml"/>
  <Override PartName="/ppt/notesSlides/notesSlide171.xml" ContentType="application/vnd.openxmlformats-officedocument.presentationml.notesSlide+xml"/>
  <Override PartName="/ppt/notesSlides/notesSlide172.xml" ContentType="application/vnd.openxmlformats-officedocument.presentationml.notesSlide+xml"/>
  <Override PartName="/ppt/notesSlides/notesSlide173.xml" ContentType="application/vnd.openxmlformats-officedocument.presentationml.notesSlide+xml"/>
  <Override PartName="/ppt/notesSlides/notesSlide174.xml" ContentType="application/vnd.openxmlformats-officedocument.presentationml.notesSlide+xml"/>
  <Override PartName="/ppt/notesSlides/notesSlide175.xml" ContentType="application/vnd.openxmlformats-officedocument.presentationml.notesSlide+xml"/>
  <Override PartName="/ppt/notesSlides/notesSlide176.xml" ContentType="application/vnd.openxmlformats-officedocument.presentationml.notesSlide+xml"/>
  <Override PartName="/ppt/notesSlides/notesSlide177.xml" ContentType="application/vnd.openxmlformats-officedocument.presentationml.notesSlide+xml"/>
  <Override PartName="/ppt/notesSlides/notesSlide178.xml" ContentType="application/vnd.openxmlformats-officedocument.presentationml.notesSlide+xml"/>
  <Override PartName="/ppt/notesSlides/notesSlide179.xml" ContentType="application/vnd.openxmlformats-officedocument.presentationml.notesSlide+xml"/>
  <Override PartName="/ppt/notesSlides/notesSlide180.xml" ContentType="application/vnd.openxmlformats-officedocument.presentationml.notesSlide+xml"/>
  <Override PartName="/ppt/notesSlides/notesSlide181.xml" ContentType="application/vnd.openxmlformats-officedocument.presentationml.notesSlide+xml"/>
  <Override PartName="/ppt/notesSlides/notesSlide182.xml" ContentType="application/vnd.openxmlformats-officedocument.presentationml.notesSlide+xml"/>
  <Override PartName="/ppt/notesSlides/notesSlide183.xml" ContentType="application/vnd.openxmlformats-officedocument.presentationml.notesSlide+xml"/>
  <Override PartName="/ppt/notesSlides/notesSlide184.xml" ContentType="application/vnd.openxmlformats-officedocument.presentationml.notesSlide+xml"/>
  <Override PartName="/ppt/notesSlides/notesSlide185.xml" ContentType="application/vnd.openxmlformats-officedocument.presentationml.notesSlide+xml"/>
  <Override PartName="/ppt/notesSlides/notesSlide186.xml" ContentType="application/vnd.openxmlformats-officedocument.presentationml.notesSlide+xml"/>
  <Override PartName="/ppt/notesSlides/notesSlide187.xml" ContentType="application/vnd.openxmlformats-officedocument.presentationml.notesSlide+xml"/>
  <Override PartName="/ppt/notesSlides/notesSlide188.xml" ContentType="application/vnd.openxmlformats-officedocument.presentationml.notesSlide+xml"/>
  <Override PartName="/ppt/notesSlides/notesSlide189.xml" ContentType="application/vnd.openxmlformats-officedocument.presentationml.notesSlide+xml"/>
  <Override PartName="/ppt/notesSlides/notesSlide190.xml" ContentType="application/vnd.openxmlformats-officedocument.presentationml.notesSlide+xml"/>
  <Override PartName="/ppt/notesSlides/notesSlide191.xml" ContentType="application/vnd.openxmlformats-officedocument.presentationml.notesSlide+xml"/>
  <Override PartName="/ppt/notesSlides/notesSlide192.xml" ContentType="application/vnd.openxmlformats-officedocument.presentationml.notesSlide+xml"/>
  <Override PartName="/ppt/notesSlides/notesSlide193.xml" ContentType="application/vnd.openxmlformats-officedocument.presentationml.notesSlide+xml"/>
  <Override PartName="/ppt/notesSlides/notesSlide194.xml" ContentType="application/vnd.openxmlformats-officedocument.presentationml.notesSlide+xml"/>
  <Override PartName="/ppt/notesSlides/notesSlide195.xml" ContentType="application/vnd.openxmlformats-officedocument.presentationml.notesSlide+xml"/>
  <Override PartName="/ppt/notesSlides/notesSlide196.xml" ContentType="application/vnd.openxmlformats-officedocument.presentationml.notesSlide+xml"/>
  <Override PartName="/ppt/notesSlides/notesSlide197.xml" ContentType="application/vnd.openxmlformats-officedocument.presentationml.notesSlide+xml"/>
  <Override PartName="/ppt/notesSlides/notesSlide198.xml" ContentType="application/vnd.openxmlformats-officedocument.presentationml.notesSlide+xml"/>
  <Override PartName="/ppt/notesSlides/notesSlide199.xml" ContentType="application/vnd.openxmlformats-officedocument.presentationml.notesSlide+xml"/>
  <Override PartName="/ppt/notesSlides/notesSlide200.xml" ContentType="application/vnd.openxmlformats-officedocument.presentationml.notesSlide+xml"/>
  <Override PartName="/ppt/notesSlides/notesSlide201.xml" ContentType="application/vnd.openxmlformats-officedocument.presentationml.notesSlide+xml"/>
  <Override PartName="/ppt/notesSlides/notesSlide202.xml" ContentType="application/vnd.openxmlformats-officedocument.presentationml.notesSlide+xml"/>
  <Override PartName="/ppt/notesSlides/notesSlide203.xml" ContentType="application/vnd.openxmlformats-officedocument.presentationml.notesSlide+xml"/>
  <Override PartName="/ppt/notesSlides/notesSlide204.xml" ContentType="application/vnd.openxmlformats-officedocument.presentationml.notesSlide+xml"/>
  <Override PartName="/ppt/notesSlides/notesSlide205.xml" ContentType="application/vnd.openxmlformats-officedocument.presentationml.notesSlide+xml"/>
  <Override PartName="/ppt/notesSlides/notesSlide20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Override PartName="/ppt/webextensions/taskpanes.xml" ContentType="application/vnd.ms-office.webextensiontaskpanes+xml"/>
  <Override PartName="/ppt/webextensions/webextension1.xml" ContentType="application/vnd.ms-office.webextension+xml"/>
  <Override PartName="/ppt/webextensions/webextension2.xml" ContentType="application/vnd.ms-office.webextension+xml"/>
</Types>
</file>

<file path=_rels/.rels><?xml version='1.0' encoding='UTF-8' standalone='yes'?>
<Relationships xmlns="http://schemas.openxmlformats.org/package/2006/relationships"><Relationship Id="rId1" Type="http://schemas.microsoft.com/office/2011/relationships/webextensiontaskpanes" Target="ppt/webextensions/taskpanes.xml"/><Relationship Id="rId2" Type="http://schemas.openxmlformats.org/officeDocument/2006/relationships/officeDocument" Target="ppt/presentation.xml"/><Relationship Id="rId3" Type="http://schemas.openxmlformats.org/package/2006/relationships/metadata/thumbnail" Target="docProps/thumbnail.jpeg"/><Relationship Id="rId4" Type="http://schemas.openxmlformats.org/package/2006/relationships/metadata/core-properties" Target="docProps/core.xml"/><Relationship Id="rId5"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67"/>
  </p:notesMasterIdLst>
  <p:sldIdLst>
    <p:sldId id="435" r:id="rId172"/>
    <p:sldId id="436" r:id="rId173"/>
    <p:sldId id="437" r:id="rId174"/>
    <p:sldId id="438" r:id="rId175"/>
    <p:sldId id="439" r:id="rId176"/>
    <p:sldId id="440" r:id="rId177"/>
    <p:sldId id="422" r:id="rId154"/>
    <p:sldId id="441" r:id="rId178"/>
    <p:sldId id="442" r:id="rId179"/>
    <p:sldId id="443" r:id="rId180"/>
    <p:sldId id="444" r:id="rId181"/>
    <p:sldId id="445" r:id="rId182"/>
    <p:sldId id="446" r:id="rId183"/>
    <p:sldId id="447" r:id="rId184"/>
    <p:sldId id="448" r:id="rId185"/>
    <p:sldId id="449" r:id="rId186"/>
    <p:sldId id="450" r:id="rId187"/>
    <p:sldId id="451" r:id="rId188"/>
    <p:sldId id="452" r:id="rId189"/>
    <p:sldId id="453" r:id="rId190"/>
    <p:sldId id="454" r:id="rId191"/>
    <p:sldId id="455" r:id="rId192"/>
    <p:sldId id="456" r:id="rId193"/>
    <p:sldId id="457" r:id="rId194"/>
    <p:sldId id="458" r:id="rId195"/>
    <p:sldId id="459" r:id="rId196"/>
    <p:sldId id="425" r:id="rId157"/>
    <p:sldId id="460" r:id="rId197"/>
    <p:sldId id="461" r:id="rId198"/>
    <p:sldId id="462" r:id="rId199"/>
    <p:sldId id="463" r:id="rId200"/>
    <p:sldId id="464" r:id="rId201"/>
    <p:sldId id="465" r:id="rId202"/>
    <p:sldId id="466" r:id="rId203"/>
    <p:sldId id="467" r:id="rId204"/>
    <p:sldId id="468" r:id="rId205"/>
    <p:sldId id="469" r:id="rId206"/>
    <p:sldId id="470" r:id="rId207"/>
    <p:sldId id="471" r:id="rId208"/>
    <p:sldId id="472" r:id="rId209"/>
    <p:sldId id="473" r:id="rId210"/>
    <p:sldId id="474" r:id="rId211"/>
    <p:sldId id="475" r:id="rId2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021" autoAdjust="0"/>
    <p:restoredTop sz="90520" autoAdjust="0"/>
  </p:normalViewPr>
  <p:slideViewPr>
    <p:cSldViewPr snapToGrid="0">
      <p:cViewPr varScale="1">
        <p:scale>
          <a:sx n="65" d="100"/>
          <a:sy n="65" d="100"/>
        </p:scale>
        <p:origin x="234" y="6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154" Type="http://schemas.openxmlformats.org/officeDocument/2006/relationships/slide" Target="slides/slide7.xml"/><Relationship Id="rId157" Type="http://schemas.openxmlformats.org/officeDocument/2006/relationships/slide" Target="slides/slide27.xml"/><Relationship Id="rId167" Type="http://schemas.openxmlformats.org/officeDocument/2006/relationships/notesMaster" Target="notesMasters/notesMaster1.xml"/><Relationship Id="rId168" Type="http://schemas.openxmlformats.org/officeDocument/2006/relationships/presProps" Target="presProps.xml"/><Relationship Id="rId169" Type="http://schemas.openxmlformats.org/officeDocument/2006/relationships/viewProps" Target="viewProps.xml"/><Relationship Id="rId170" Type="http://schemas.openxmlformats.org/officeDocument/2006/relationships/theme" Target="theme/theme1.xml"/><Relationship Id="rId171" Type="http://schemas.openxmlformats.org/officeDocument/2006/relationships/tableStyles" Target="tableStyles.xml"/><Relationship Id="rId172" Type="http://schemas.openxmlformats.org/officeDocument/2006/relationships/slide" Target="slides/slide1.xml"/><Relationship Id="rId173" Type="http://schemas.openxmlformats.org/officeDocument/2006/relationships/slide" Target="slides/slide2.xml"/><Relationship Id="rId174" Type="http://schemas.openxmlformats.org/officeDocument/2006/relationships/slide" Target="slides/slide3.xml"/><Relationship Id="rId175" Type="http://schemas.openxmlformats.org/officeDocument/2006/relationships/slide" Target="slides/slide4.xml"/><Relationship Id="rId176" Type="http://schemas.openxmlformats.org/officeDocument/2006/relationships/slide" Target="slides/slide5.xml"/><Relationship Id="rId177" Type="http://schemas.openxmlformats.org/officeDocument/2006/relationships/slide" Target="slides/slide6.xml"/><Relationship Id="rId178" Type="http://schemas.openxmlformats.org/officeDocument/2006/relationships/slide" Target="slides/slide8.xml"/><Relationship Id="rId179" Type="http://schemas.openxmlformats.org/officeDocument/2006/relationships/slide" Target="slides/slide9.xml"/><Relationship Id="rId180" Type="http://schemas.openxmlformats.org/officeDocument/2006/relationships/slide" Target="slides/slide10.xml"/><Relationship Id="rId181" Type="http://schemas.openxmlformats.org/officeDocument/2006/relationships/slide" Target="slides/slide11.xml"/><Relationship Id="rId182" Type="http://schemas.openxmlformats.org/officeDocument/2006/relationships/slide" Target="slides/slide12.xml"/><Relationship Id="rId183" Type="http://schemas.openxmlformats.org/officeDocument/2006/relationships/slide" Target="slides/slide13.xml"/><Relationship Id="rId184" Type="http://schemas.openxmlformats.org/officeDocument/2006/relationships/slide" Target="slides/slide14.xml"/><Relationship Id="rId185" Type="http://schemas.openxmlformats.org/officeDocument/2006/relationships/slide" Target="slides/slide15.xml"/><Relationship Id="rId186" Type="http://schemas.openxmlformats.org/officeDocument/2006/relationships/slide" Target="slides/slide16.xml"/><Relationship Id="rId187" Type="http://schemas.openxmlformats.org/officeDocument/2006/relationships/slide" Target="slides/slide17.xml"/><Relationship Id="rId188" Type="http://schemas.openxmlformats.org/officeDocument/2006/relationships/slide" Target="slides/slide18.xml"/><Relationship Id="rId189" Type="http://schemas.openxmlformats.org/officeDocument/2006/relationships/slide" Target="slides/slide19.xml"/><Relationship Id="rId190" Type="http://schemas.openxmlformats.org/officeDocument/2006/relationships/slide" Target="slides/slide20.xml"/><Relationship Id="rId191" Type="http://schemas.openxmlformats.org/officeDocument/2006/relationships/slide" Target="slides/slide21.xml"/><Relationship Id="rId192" Type="http://schemas.openxmlformats.org/officeDocument/2006/relationships/slide" Target="slides/slide22.xml"/><Relationship Id="rId193" Type="http://schemas.openxmlformats.org/officeDocument/2006/relationships/slide" Target="slides/slide23.xml"/><Relationship Id="rId194" Type="http://schemas.openxmlformats.org/officeDocument/2006/relationships/slide" Target="slides/slide24.xml"/><Relationship Id="rId195" Type="http://schemas.openxmlformats.org/officeDocument/2006/relationships/slide" Target="slides/slide25.xml"/><Relationship Id="rId196" Type="http://schemas.openxmlformats.org/officeDocument/2006/relationships/slide" Target="slides/slide26.xml"/><Relationship Id="rId197" Type="http://schemas.openxmlformats.org/officeDocument/2006/relationships/slide" Target="slides/slide28.xml"/><Relationship Id="rId198" Type="http://schemas.openxmlformats.org/officeDocument/2006/relationships/slide" Target="slides/slide29.xml"/><Relationship Id="rId199" Type="http://schemas.openxmlformats.org/officeDocument/2006/relationships/slide" Target="slides/slide30.xml"/><Relationship Id="rId200" Type="http://schemas.openxmlformats.org/officeDocument/2006/relationships/slide" Target="slides/slide31.xml"/><Relationship Id="rId201" Type="http://schemas.openxmlformats.org/officeDocument/2006/relationships/slide" Target="slides/slide32.xml"/><Relationship Id="rId202" Type="http://schemas.openxmlformats.org/officeDocument/2006/relationships/slide" Target="slides/slide33.xml"/><Relationship Id="rId203" Type="http://schemas.openxmlformats.org/officeDocument/2006/relationships/slide" Target="slides/slide34.xml"/><Relationship Id="rId204" Type="http://schemas.openxmlformats.org/officeDocument/2006/relationships/slide" Target="slides/slide35.xml"/><Relationship Id="rId205" Type="http://schemas.openxmlformats.org/officeDocument/2006/relationships/slide" Target="slides/slide36.xml"/><Relationship Id="rId206" Type="http://schemas.openxmlformats.org/officeDocument/2006/relationships/slide" Target="slides/slide37.xml"/><Relationship Id="rId207" Type="http://schemas.openxmlformats.org/officeDocument/2006/relationships/slide" Target="slides/slide38.xml"/><Relationship Id="rId208" Type="http://schemas.openxmlformats.org/officeDocument/2006/relationships/slide" Target="slides/slide39.xml"/><Relationship Id="rId209" Type="http://schemas.openxmlformats.org/officeDocument/2006/relationships/slide" Target="slides/slide40.xml"/><Relationship Id="rId210" Type="http://schemas.openxmlformats.org/officeDocument/2006/relationships/slide" Target="slides/slide41.xml"/><Relationship Id="rId211" Type="http://schemas.openxmlformats.org/officeDocument/2006/relationships/slide" Target="slides/slide42.xml"/><Relationship Id="rId212" Type="http://schemas.openxmlformats.org/officeDocument/2006/relationships/slide" Target="slides/slide4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CA"/>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22A43CA-EE69-4B9A-80F8-91B7489D0DD8}" type="datetimeFigureOut">
              <a:rPr lang="en-CA" smtClean="0"/>
              <a:t>2026-10-19</a:t>
            </a:fld>
            <a:endParaRPr lang="en-CA"/>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CA"/>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CA"/>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499165C-7370-4B52-8859-B50CCB89355C}" type="slidenum">
              <a:rPr lang="en-CA" smtClean="0"/>
              <a:t>‹#›</a:t>
            </a:fld>
            <a:endParaRPr lang="en-CA"/>
          </a:p>
        </p:txBody>
      </p:sp>
    </p:spTree>
    <p:extLst>
      <p:ext uri="{BB962C8B-B14F-4D97-AF65-F5344CB8AC3E}">
        <p14:creationId xmlns:p14="http://schemas.microsoft.com/office/powerpoint/2010/main" val="236861393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1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1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1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1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1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1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1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1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1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8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8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8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8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8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8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18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18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18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19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19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19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19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19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19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19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19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19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19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20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20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20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20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20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20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20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notesSlide1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 TEACH  •  9:10 AM–9:25 AM  •  15 MIN TOTAL — shared across this phase’s slides.</a:t>
            </a:r>
          </a:p>
          <a:p/>
          <a:p>
            <a:r>
              <a:t>Our four stations use the listed exercise-book questions. The number station uses 1B Q3. Fractions and decimals use 4A Q14(a) and Q15(a), plus 5A Q12–13. Conversion and scale use 6A Q19 and 7A Q11–12. Formulas use 8C Q1–2. Start with your highest-need topics during practice, while using the paired rotation to hear an explanation at each station. What must your partner hear? Why the selected method applies and how the answer can be checked. Keep displayed answers hidden during the first attempt so that explanation belongs to you.</a:t>
            </a:r>
          </a:p>
        </p:txBody>
      </p:sp>
      <p:sp>
        <p:nvSpPr>
          <p:cNvPr id="4" name="Slide Number Placeholder 3"/>
          <p:cNvSpPr>
            <a:spLocks noGrp="1"/>
          </p:cNvSpPr>
          <p:nvPr>
            <p:ph type="sldNum" sz="quarter" idx="10"/>
          </p:nvPr>
        </p:nvSpPr>
        <p:spPr/>
        <p:txBody>
          <a:bodyPr/>
          <a:lstStyle/>
          <a:p>
            <a:fld id="{F7021451-1387-4CA6-816F-3879F97B5CBC}" type="slidenum">
              <a:rPr lang="en-US"/>
              <a:t>153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 TEACH  •  10:40 AM–10:55 AM  •  15 MIN TOTAL — shared across this phase’s slides.</a:t>
            </a:r>
          </a:p>
          <a:p/>
          <a:p>
            <a:r>
              <a:t>Use the requested quantity to connect each drawing, formula and unit. A rectangle's boundary uses an edge-sum formula and length units. Its surface uses an area formula and square units. A prism extends base area through a height, producing cubic units. For the paired work, 10B Q1 is a no-waste floor coverage problem, while 12B Q3 includes its stated cutting details. What would go wrong if we used one question's assumptions in the other? We would solve a different problem. Read the conditions as carefully as the numbers.</a:t>
            </a:r>
          </a:p>
        </p:txBody>
      </p:sp>
      <p:sp>
        <p:nvSpPr>
          <p:cNvPr id="4" name="Slide Number Placeholder 3"/>
          <p:cNvSpPr>
            <a:spLocks noGrp="1"/>
          </p:cNvSpPr>
          <p:nvPr>
            <p:ph type="sldNum" sz="quarter" idx="10"/>
          </p:nvPr>
        </p:nvSpPr>
        <p:spPr/>
        <p:txBody>
          <a:bodyPr/>
          <a:lstStyle/>
          <a:p>
            <a:fld id="{F7021451-1387-4CA6-816F-3879F97B5CBC}" type="slidenum">
              <a:rPr lang="en-US"/>
              <a:t>156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Opening — within the first scheduled Start period; no additional teaching time.</a:t>
            </a:r>
          </a:p>
          <a:p/>
          <a:p>
            <a:r>
              <a:t>Today is a review of choosing methods, first for numbers, units and formulas, then for geometry and job problems. Start with the two priorities you identified last week. We will use stations and worked explanations to strengthen those decisions before another independent check. The aim is not to race through familiar answers. It is to explain why an operation fits the unknown and how you would detect an error in your own result.</a:t>
            </a:r>
          </a:p>
        </p:txBody>
      </p:sp>
      <p:sp>
        <p:nvSpPr>
          <p:cNvPr id="4" name="Slide Number Placeholder 3"/>
          <p:cNvSpPr>
            <a:spLocks noGrp="1"/>
          </p:cNvSpPr>
          <p:nvPr>
            <p:ph type="sldNum" idx="5" sz="quarter"/>
          </p:nvPr>
        </p:nvSpPr>
        <p:spPr/>
      </p:sp>
    </p:spTree>
  </p:cSld>
  <p:clrMapOvr>
    <a:masterClrMapping/>
  </p:clrMapOvr>
</p:notes>
</file>

<file path=ppt/notesSlides/notesSlide16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Opening — within the first scheduled Start period; no additional teaching time.</a:t>
            </a:r>
          </a:p>
          <a:p/>
          <a:p>
            <a:r>
              <a:t>The first review block runs from 9:00 to 10:15, including twenty minutes for station practice and a ten-minute independent check. We break until 10:30, then review geometry and job problems until noon. The second block has thirty-five minutes of practice because the applications need time for drawings and working. Keep the scheduled phases together: the slides within one phase share its minutes, leaving enough time for your actual problem solving.</a:t>
            </a:r>
          </a:p>
        </p:txBody>
      </p:sp>
      <p:sp>
        <p:nvSpPr>
          <p:cNvPr id="4" name="Slide Number Placeholder 3"/>
          <p:cNvSpPr>
            <a:spLocks noGrp="1"/>
          </p:cNvSpPr>
          <p:nvPr>
            <p:ph type="sldNum" idx="5" sz="quarter"/>
          </p:nvPr>
        </p:nvSpPr>
        <p:spPr/>
      </p:sp>
    </p:spTree>
  </p:cSld>
  <p:clrMapOvr>
    <a:masterClrMapping/>
  </p:clrMapOvr>
</p:notes>
</file>

<file path=ppt/notesSlides/notesSlide16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START  •  9:00 AM–9:05 AM  •  5 MIN TOTAL — shared across this phase’s slides.</a:t>
            </a:r>
          </a:p>
          <a:p/>
          <a:p>
            <a:r>
              <a:t>Open your two revision priorities from last week. Today the number, fraction, conversion and formula stations give you a chance to test those methods again. Keep the formula sheet on page 219 and conversion factors on pages 220–221 available. What should you decide before entering calculator keys? The operation or relationship that fits the question. By the end of this block, you should be able to justify that decision and demonstrate a check on the result.</a:t>
            </a:r>
          </a:p>
        </p:txBody>
      </p:sp>
      <p:sp>
        <p:nvSpPr>
          <p:cNvPr id="4" name="Slide Number Placeholder 3"/>
          <p:cNvSpPr>
            <a:spLocks noGrp="1"/>
          </p:cNvSpPr>
          <p:nvPr>
            <p:ph type="sldNum" idx="5" sz="quarter"/>
          </p:nvPr>
        </p:nvSpPr>
        <p:spPr/>
      </p:sp>
    </p:spTree>
  </p:cSld>
  <p:clrMapOvr>
    <a:masterClrMapping/>
  </p:clrMapOvr>
</p:notes>
</file>

<file path=ppt/notesSlides/notesSlide16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RECALL  •  9:05 AM–9:10 AM  •  5 MIN TOTAL — shared across this phase’s slides.</a:t>
            </a:r>
          </a:p>
          <a:p/>
          <a:p>
            <a:r>
              <a:t>Choose one checking strategy for each of your two priorities. If fractions were difficult, adding back can test a subtraction. If conversion direction was difficult, a reverse conversion can recover the starting quantity. If a missing dimension caused trouble, substitute it into the original formula. Which check would expose your specific earlier mistake? Explain that choice to a neighbour. We are not just repeating calculations today; we are using evidence to make the next attempt more reliable.</a:t>
            </a:r>
          </a:p>
        </p:txBody>
      </p:sp>
      <p:sp>
        <p:nvSpPr>
          <p:cNvPr id="4" name="Slide Number Placeholder 3"/>
          <p:cNvSpPr>
            <a:spLocks noGrp="1"/>
          </p:cNvSpPr>
          <p:nvPr>
            <p:ph type="sldNum" idx="5" sz="quarter"/>
          </p:nvPr>
        </p:nvSpPr>
        <p:spPr/>
      </p:sp>
    </p:spTree>
  </p:cSld>
  <p:clrMapOvr>
    <a:masterClrMapping/>
  </p:clrMapOvr>
</p:notes>
</file>

<file path=ppt/notesSlides/notesSlide17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TEACH  •  9:10 AM–9:25 AM  •  15 MIN TOTAL — shared across this phase’s slides.</a:t>
            </a:r>
          </a:p>
          <a:p/>
          <a:p>
            <a:r>
              <a:t>At the number station, distinguish the total required from the number of whole purchase units. At fractions and decimals, preserve the quantity while changing its form or regrouping it. At conversion and scale, identify the starting and target units and choose the correct direction. At formulas, isolate the missing dimension and substitute it back. What connects these stations? In each case, the meaning of the quantity controls the operation. The calculator can perform arithmetic, but it cannot decide whether the question asks for bolts, boxes, millimetres, a drawing length or a width.</a:t>
            </a:r>
          </a:p>
        </p:txBody>
      </p:sp>
      <p:sp>
        <p:nvSpPr>
          <p:cNvPr id="4" name="Slide Number Placeholder 3"/>
          <p:cNvSpPr>
            <a:spLocks noGrp="1"/>
          </p:cNvSpPr>
          <p:nvPr>
            <p:ph type="sldNum" idx="5" sz="quarter"/>
          </p:nvPr>
        </p:nvSpPr>
        <p:spPr/>
      </p:sp>
    </p:spTree>
  </p:cSld>
  <p:clrMapOvr>
    <a:masterClrMapping/>
  </p:clrMapOvr>
</p:notes>
</file>

<file path=ppt/notesSlides/notesSlide17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TEACH  •  9:10 AM–9:25 AM  •  15 MIN TOTAL — shared across this phase’s slides.</a:t>
            </a:r>
          </a:p>
          <a:p/>
          <a:p>
            <a:r>
              <a:t>An error log is useful when it identifies a step you can change. “Wrong answer” tells us little; “I divided the inches by 25.4” tells us to revisit conversion direction. Missing brackets, an incorrect common denominator and a lost whole number are different errors with different repairs. Use the relevant textbook explanation to name why the repair works. What should you record about support? Whether you solved independently, checked afterward with a tool or needed a prompt. That distinction helps us choose the next practice rather than treating every matching answer as equal evidence.</a:t>
            </a:r>
          </a:p>
        </p:txBody>
      </p:sp>
      <p:sp>
        <p:nvSpPr>
          <p:cNvPr id="4" name="Slide Number Placeholder 3"/>
          <p:cNvSpPr>
            <a:spLocks noGrp="1"/>
          </p:cNvSpPr>
          <p:nvPr>
            <p:ph type="sldNum" idx="5" sz="quarter"/>
          </p:nvPr>
        </p:nvSpPr>
        <p:spPr/>
      </p:sp>
    </p:spTree>
  </p:cSld>
  <p:clrMapOvr>
    <a:masterClrMapping/>
  </p:clrMapOvr>
</p:notes>
</file>

<file path=ppt/notesSlides/notesSlide17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TEACH  •  9:10 AM–9:25 AM  •  15 MIN TOTAL — shared across this phase’s slides.</a:t>
            </a:r>
          </a:p>
          <a:p/>
          <a:p>
            <a:r>
              <a:t>Figure 8.1 on page 127 represents equality as a balance. If we divide one side of an equation, we divide the other side by the same nonzero quantity to preserve equality. This is the reasoning behind finding width from area and length. Starting with A = l × w, dividing both sides by l leaves A/l = w. Why is this more than a rule to move symbols? We are keeping two equal quantities equal while isolating the unknown. Substitution afterward checks that our proposed value still satisfies the original relationship.</a:t>
            </a:r>
          </a:p>
        </p:txBody>
      </p:sp>
      <p:sp>
        <p:nvSpPr>
          <p:cNvPr id="4" name="Slide Number Placeholder 3"/>
          <p:cNvSpPr>
            <a:spLocks noGrp="1"/>
          </p:cNvSpPr>
          <p:nvPr>
            <p:ph type="sldNum" idx="5" sz="quarter"/>
          </p:nvPr>
        </p:nvSpPr>
        <p:spPr/>
      </p:sp>
    </p:spTree>
  </p:cSld>
  <p:clrMapOvr>
    <a:masterClrMapping/>
  </p:clrMapOvr>
</p:notes>
</file>

<file path=ppt/notesSlides/notesSlide17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TEACH  •  9:10 AM–9:25 AM  •  15 MIN TOTAL — shared across this phase’s slides.</a:t>
            </a:r>
          </a:p>
          <a:p/>
          <a:p>
            <a:r>
              <a:t>In Example 8.4, identify the operation acting on the unknown, then undo it using the inverse operation. Do not jump straight to a remembered final formula. Read the equation as a statement about quantities and follow the balance at each line. What comes after solving? Substitute the result back into the original equation. If the original values are not reproduced, inspect the rearrangement before trying random calculator entries. This check is especially useful when a problem gives area but asks for a length, because the units also reveal whether the operation makes sense.</a:t>
            </a:r>
          </a:p>
        </p:txBody>
      </p:sp>
      <p:sp>
        <p:nvSpPr>
          <p:cNvPr id="4" name="Slide Number Placeholder 3"/>
          <p:cNvSpPr>
            <a:spLocks noGrp="1"/>
          </p:cNvSpPr>
          <p:nvPr>
            <p:ph type="sldNum" idx="5" sz="quarter"/>
          </p:nvPr>
        </p:nvSpPr>
        <p:spPr/>
      </p:sp>
    </p:spTree>
  </p:cSld>
  <p:clrMapOvr>
    <a:masterClrMapping/>
  </p:clrMapOvr>
</p:notes>
</file>

<file path=ppt/notesSlides/notesSlide17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TEACH  •  9:10 AM–9:25 AM  •  15 MIN TOTAL — shared across this phase’s slides.</a:t>
            </a:r>
          </a:p>
          <a:p/>
          <a:p>
            <a:r>
              <a:t>“Multiply by the factor” is incomplete without the units and direction. A factor that converts inches to millimetres is used differently when converting millimetres to inches. Name the starting unit and requested unit, then explain how the factor changes one into the other. What size clue can help? Moving from a larger unit to a smaller unit normally increases the numerical count for the same length. After the paper attempt, use Unit Conversions to compare. Keep the factor and working so the tool result does not replace the explanation.</a:t>
            </a:r>
          </a:p>
        </p:txBody>
      </p:sp>
      <p:sp>
        <p:nvSpPr>
          <p:cNvPr id="4" name="Slide Number Placeholder 3"/>
          <p:cNvSpPr>
            <a:spLocks noGrp="1"/>
          </p:cNvSpPr>
          <p:nvPr>
            <p:ph type="sldNum" idx="5" sz="quarter"/>
          </p:nvPr>
        </p:nvSpPr>
        <p:spPr/>
      </p:sp>
    </p:spTree>
  </p:cSld>
  <p:clrMapOvr>
    <a:masterClrMapping/>
  </p:clrMapOvr>
</p:notes>
</file>

<file path=ppt/notesSlides/notesSlide17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TOGETHER  •  9:25 AM–9:40 AM  •  15 MIN TOTAL — shared across this phase’s slides.</a:t>
            </a:r>
          </a:p>
          <a:p/>
          <a:p>
            <a:r>
              <a:t>Rotate through the four stations with your partner. At each stop, one person explains a solution while the other asks a checking question. Then swap roles. At the number station, ask whether the quantity can be purchased fractionally. At conversions, ask which unit cancels. At formulas, ask whether substitution recreates the given value. Keep the discussion tied to the listed questions and retain the working. A clear spoken explanation should make the next written attempt easier to choose independently.</a:t>
            </a:r>
          </a:p>
        </p:txBody>
      </p:sp>
      <p:sp>
        <p:nvSpPr>
          <p:cNvPr id="4" name="Slide Number Placeholder 3"/>
          <p:cNvSpPr>
            <a:spLocks noGrp="1"/>
          </p:cNvSpPr>
          <p:nvPr>
            <p:ph type="sldNum" idx="5" sz="quarter"/>
          </p:nvPr>
        </p:nvSpPr>
        <p:spPr/>
      </p:sp>
    </p:spTree>
  </p:cSld>
  <p:clrMapOvr>
    <a:masterClrMapping/>
  </p:clrMapOvr>
</p:notes>
</file>

<file path=ppt/notesSlides/notesSlide17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PRACTISE  •  9:40 AM–10:00 AM  •  20 MIN TOTAL — shared across this phase’s slides.</a:t>
            </a:r>
          </a:p>
          <a:p/>
          <a:p>
            <a:r>
              <a:t>Complete the listed station questions, beginning with your two highest-need topics. Keep each reference above its working and note whether the response was independent, checked with a tool afterward or completed with a prompt. Those labels help us interpret progress accurately. Before checking a final number, inspect the vulnerable step from your error log. Which line could show the same old mistake? Test that line using the strategy you selected at the start of the block.</a:t>
            </a:r>
          </a:p>
        </p:txBody>
      </p:sp>
      <p:sp>
        <p:nvSpPr>
          <p:cNvPr id="4" name="Slide Number Placeholder 3"/>
          <p:cNvSpPr>
            <a:spLocks noGrp="1"/>
          </p:cNvSpPr>
          <p:nvPr>
            <p:ph type="sldNum" idx="5" sz="quarter"/>
          </p:nvPr>
        </p:nvSpPr>
        <p:spPr/>
      </p:sp>
    </p:spTree>
  </p:cSld>
  <p:clrMapOvr>
    <a:masterClrMapping/>
  </p:clrMapOvr>
</p:notes>
</file>

<file path=ppt/notesSlides/notesSlide17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PRACTISE  •  9:40 AM–10:00 AM  •  20 MIN TOTAL — shared across this phase’s slides.</a:t>
            </a:r>
          </a:p>
          <a:p/>
          <a:p>
            <a:r>
              <a:t>Open Numeracy Hub Calculator for the number checks or Unit Conversions for the length station. Keep the exercise-book values and units beside the screen. Your first attempt stays on paper; the tool then helps you compare the result and locate any difference. What would you do if the tool gives a different value? Check the entered quantity, units and direction against your written method before replacing the answer. A mismatch is information to investigate, not a reason to erase the evidence.</a:t>
            </a:r>
          </a:p>
        </p:txBody>
      </p:sp>
      <p:sp>
        <p:nvSpPr>
          <p:cNvPr id="4" name="Slide Number Placeholder 3"/>
          <p:cNvSpPr>
            <a:spLocks noGrp="1"/>
          </p:cNvSpPr>
          <p:nvPr>
            <p:ph type="sldNum" idx="5" sz="quarter"/>
          </p:nvPr>
        </p:nvSpPr>
        <p:spPr/>
      </p:sp>
    </p:spTree>
  </p:cSld>
  <p:clrMapOvr>
    <a:masterClrMapping/>
  </p:clrMapOvr>
</p:notes>
</file>

<file path=ppt/notesSlides/notesSlide17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PRACTISE  •  9:40 AM–10:00 AM  •  20 MIN TOTAL — shared across this phase’s slides.</a:t>
            </a:r>
          </a:p>
          <a:p/>
          <a:p>
            <a:r>
              <a:t>At the formula station, build the assigned rectangle in Shape Canvas and identify the missing dimension. Solve it on paper, then substitute the result into the area relationship. At the other stations, use Calculator or Unit Conversions after your written attempt. Mark how much support each answer needed. Why keep that distinction? A solution you can explain independently tells us something different from one reached after a hint, and both help plan the next step when recorded honestly.</a:t>
            </a:r>
          </a:p>
        </p:txBody>
      </p:sp>
      <p:sp>
        <p:nvSpPr>
          <p:cNvPr id="4" name="Slide Number Placeholder 3"/>
          <p:cNvSpPr>
            <a:spLocks noGrp="1"/>
          </p:cNvSpPr>
          <p:nvPr>
            <p:ph type="sldNum" idx="5" sz="quarter"/>
          </p:nvPr>
        </p:nvSpPr>
        <p:spPr/>
      </p:sp>
    </p:spTree>
  </p:cSld>
  <p:clrMapOvr>
    <a:masterClrMapping/>
  </p:clrMapOvr>
</p:notes>
</file>

<file path=ppt/notesSlides/notesSlide17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PRACTISE  •  9:40 AM–10:00 AM  •  20 MIN TOTAL — shared across this phase’s slides.</a:t>
            </a:r>
          </a:p>
          <a:p/>
          <a:p>
            <a:r>
              <a:t>For 1B Q3, separate the bolt requirement from the box order. Attempt both quantities before checking. After your attempt, fourteen baseplates times eight bolts gives 112 bolts. Dividing by twenty-five per box gives 4.48 boxes, so five boxes are needed. Why not four? Four boxes contain only one hundred bolts. Check that five boxes supply 125, enough for the stated requirement. The arithmetic and purchasing decision belong on separate lines so the rounding is justified.</a:t>
            </a:r>
          </a:p>
          <a:p/>
          <a:p>
            <a:r>
              <a:t>INSTRUCTOR ONLY — AFTER THE ATTEMPT: 112 bolts, 5 boxes Working: 14 × 8 = 112. 112 ÷ 25 = 4.48, round up to 5 boxes.</a:t>
            </a:r>
          </a:p>
        </p:txBody>
      </p:sp>
      <p:sp>
        <p:nvSpPr>
          <p:cNvPr id="4" name="Slide Number Placeholder 3"/>
          <p:cNvSpPr>
            <a:spLocks noGrp="1"/>
          </p:cNvSpPr>
          <p:nvPr>
            <p:ph type="sldNum" idx="5" sz="quarter"/>
          </p:nvPr>
        </p:nvSpPr>
        <p:spPr/>
      </p:sp>
    </p:spTree>
  </p:cSld>
  <p:clrMapOvr>
    <a:masterClrMapping/>
  </p:clrMapOvr>
</p:notes>
</file>

<file path=ppt/notesSlides/notesSlide18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PRACTISE  •  9:40 AM–10:00 AM  •  20 MIN TOTAL — shared across this phase’s slides.</a:t>
            </a:r>
          </a:p>
          <a:p/>
          <a:p>
            <a:r>
              <a:t>For 8C Q1, use the rectangle's given length and area to find its width. Attempt the inverse relationship before checking. After the attempt, divide 4,800 square centimetres by the shown 80-centimetre length to obtain 60 centimetres. Multiplying 80 by 60 recreates 4,800 square centimetres. What happened to the square unit during division? Dividing area by a length leaves a length. That unit reasoning helps confirm that the operation is finding the requested width.</a:t>
            </a:r>
          </a:p>
          <a:p/>
          <a:p>
            <a:r>
              <a:t>INSTRUCTOR ONLY — AFTER THE ATTEMPT: 60 cm</a:t>
            </a:r>
          </a:p>
        </p:txBody>
      </p:sp>
      <p:sp>
        <p:nvSpPr>
          <p:cNvPr id="4" name="Slide Number Placeholder 3"/>
          <p:cNvSpPr>
            <a:spLocks noGrp="1"/>
          </p:cNvSpPr>
          <p:nvPr>
            <p:ph type="sldNum" idx="5" sz="quarter"/>
          </p:nvPr>
        </p:nvSpPr>
        <p:spPr/>
      </p:sp>
    </p:spTree>
  </p:cSld>
  <p:clrMapOvr>
    <a:masterClrMapping/>
  </p:clrMapOvr>
</p:notes>
</file>

<file path=ppt/notesSlides/notesSlide18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CHECK  •  10:00 AM–10:10 AM  •  10 MIN TOTAL — shared across this phase’s slides.</a:t>
            </a:r>
          </a:p>
          <a:p/>
          <a:p>
            <a:r>
              <a:t>Complete 6A Q19, 7A Q11 and 8C Q2 independently. Each question uses a different decision: scale, unit conversion or a missing dimension. Identify the method before calculating, then include working and an appropriate check. Keep worked solutions closed until you have finished. I am looking for evidence that you can recognize the relationship from the question, not just repeat a sequence used by the previous station.</a:t>
            </a:r>
          </a:p>
        </p:txBody>
      </p:sp>
      <p:sp>
        <p:nvSpPr>
          <p:cNvPr id="4" name="Slide Number Placeholder 3"/>
          <p:cNvSpPr>
            <a:spLocks noGrp="1"/>
          </p:cNvSpPr>
          <p:nvPr>
            <p:ph type="sldNum" idx="5" sz="quarter"/>
          </p:nvPr>
        </p:nvSpPr>
        <p:spPr/>
      </p:sp>
    </p:spTree>
  </p:cSld>
  <p:clrMapOvr>
    <a:masterClrMapping/>
  </p:clrMapOvr>
</p:notes>
</file>

<file path=ppt/notesSlides/notesSlide18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CHECK  •  10:00 AM–10:10 AM  •  10 MIN TOTAL — shared across this phase’s slides.</a:t>
            </a:r>
          </a:p>
          <a:p/>
          <a:p>
            <a:r>
              <a:t>In 6A Q19, use the stated drawing scale to find the real length. Show the relationship between the drawing measurement and actual measurement, including the unit. Keep the response independent and record a check of the direction.</a:t>
            </a:r>
          </a:p>
          <a:p/>
          <a:p>
            <a:r>
              <a:t>INSTRUCTOR ONLY — AFTER THE ATTEMPT: 1:40 means each drawing unit represents 40 real units. Real length = 85 × 40 = 3,400 mm. Dividing 3,400 by 40 recovers the 85 mm drawing length.</a:t>
            </a:r>
          </a:p>
        </p:txBody>
      </p:sp>
      <p:sp>
        <p:nvSpPr>
          <p:cNvPr id="4" name="Slide Number Placeholder 3"/>
          <p:cNvSpPr>
            <a:spLocks noGrp="1"/>
          </p:cNvSpPr>
          <p:nvPr>
            <p:ph type="sldNum" idx="5" sz="quarter"/>
          </p:nvPr>
        </p:nvSpPr>
        <p:spPr/>
      </p:sp>
    </p:spTree>
  </p:cSld>
  <p:clrMapOvr>
    <a:masterClrMapping/>
  </p:clrMapOvr>
</p:notes>
</file>

<file path=ppt/notesSlides/notesSlide18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CHECK  •  10:00 AM–10:10 AM  •  10 MIN TOTAL — shared across this phase’s slides.</a:t>
            </a:r>
          </a:p>
          <a:p/>
          <a:p>
            <a:r>
              <a:t>Complete 7A Q11 with the starting and target units visible. Write the factor or relationship that converts the fractional-inch measurement, then show how you would check it. Keep your numerical answer private until collection.</a:t>
            </a:r>
          </a:p>
          <a:p/>
          <a:p>
            <a:r>
              <a:t>INSTRUCTOR ONLY — AFTER THE ATTEMPT: 5/8 = 0.625 in. Multiplying by 25.4 mm per inch gives 15.875 mm. The reverse calculation, 15.875/25.4, returns 0.625 in. Check that the student converted the entire quantity and used the correct direction.</a:t>
            </a:r>
          </a:p>
        </p:txBody>
      </p:sp>
      <p:sp>
        <p:nvSpPr>
          <p:cNvPr id="4" name="Slide Number Placeholder 3"/>
          <p:cNvSpPr>
            <a:spLocks noGrp="1"/>
          </p:cNvSpPr>
          <p:nvPr>
            <p:ph type="sldNum" idx="5" sz="quarter"/>
          </p:nvPr>
        </p:nvSpPr>
        <p:spPr/>
      </p:sp>
    </p:spTree>
  </p:cSld>
  <p:clrMapOvr>
    <a:masterClrMapping/>
  </p:clrMapOvr>
</p:notes>
</file>

<file path=ppt/notesSlides/notesSlide18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CHECK  •  10:00 AM–10:10 AM  •  10 MIN TOTAL — shared across this phase’s slides.</a:t>
            </a:r>
          </a:p>
          <a:p/>
          <a:p>
            <a:r>
              <a:t>For 8C Q2, find the square's side from its given area. Record the relationship and your inverse operation, then check the proposed length against the original area. Include the appropriate unit in the final answer.</a:t>
            </a:r>
          </a:p>
          <a:p/>
          <a:p>
            <a:r>
              <a:t>INSTRUCTOR ONLY — AFTER THE ATTEMPT: Side = √3,136 = 56 mm. Check: 56 × 56 = 3,136 mm². The result is a length; dividing by four would use a perimeter idea on an area quantity.</a:t>
            </a:r>
          </a:p>
        </p:txBody>
      </p:sp>
      <p:sp>
        <p:nvSpPr>
          <p:cNvPr id="4" name="Slide Number Placeholder 3"/>
          <p:cNvSpPr>
            <a:spLocks noGrp="1"/>
          </p:cNvSpPr>
          <p:nvPr>
            <p:ph type="sldNum" idx="5" sz="quarter"/>
          </p:nvPr>
        </p:nvSpPr>
        <p:spPr/>
      </p:sp>
    </p:spTree>
  </p:cSld>
  <p:clrMapOvr>
    <a:masterClrMapping/>
  </p:clrMapOvr>
</p:notes>
</file>

<file path=ppt/notesSlides/notesSlide18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WRAP UP  •  10:10 AM–10:15 AM  •  5 MIN TOTAL — shared across this phase’s slides.</a:t>
            </a:r>
          </a:p>
          <a:p/>
          <a:p>
            <a:r>
              <a:t>Which of the three check questions required you to reverse a relationship? In different ways, all three asked you to connect a known measurement to another representation or quantity. Name the method you can now justify most clearly, and the step that still needs attention. Keep the relevant question and checking strategy in your notes. After the break, we will apply that same habit of identifying the unknown to perimeter, area, volume and triangles.</a:t>
            </a:r>
          </a:p>
        </p:txBody>
      </p:sp>
      <p:sp>
        <p:nvSpPr>
          <p:cNvPr id="4" name="Slide Number Placeholder 3"/>
          <p:cNvSpPr>
            <a:spLocks noGrp="1"/>
          </p:cNvSpPr>
          <p:nvPr>
            <p:ph type="sldNum" idx="5" sz="quarter"/>
          </p:nvPr>
        </p:nvSpPr>
        <p:spPr/>
      </p:sp>
    </p:spTree>
  </p:cSld>
  <p:clrMapOvr>
    <a:masterClrMapping/>
  </p:clrMapOvr>
</p:notes>
</file>

<file path=ppt/notesSlides/notesSlide18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Scheduled break — resume at the time shown.</a:t>
            </a:r>
          </a:p>
          <a:p/>
          <a:p>
            <a:r>
              <a:t>Take the scheduled break and return at 10:30. Keep your calculator, textbook formula sheet and error notes ready. The next review block focuses on geometry and job problems. We will use the drawing and the requested unit to decide which calculation belongs, then test whether the answer makes physical sense.</a:t>
            </a:r>
          </a:p>
        </p:txBody>
      </p:sp>
      <p:sp>
        <p:nvSpPr>
          <p:cNvPr id="4" name="Slide Number Placeholder 3"/>
          <p:cNvSpPr>
            <a:spLocks noGrp="1"/>
          </p:cNvSpPr>
          <p:nvPr>
            <p:ph type="sldNum" idx="5" sz="quarter"/>
          </p:nvPr>
        </p:nvSpPr>
        <p:spPr/>
      </p:sp>
    </p:spTree>
  </p:cSld>
  <p:clrMapOvr>
    <a:masterClrMapping/>
  </p:clrMapOvr>
</p:notes>
</file>

<file path=ppt/notesSlides/notesSlide18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START  •  10:30 AM–10:35 AM  •  5 MIN TOTAL — shared across this phase’s slides.</a:t>
            </a:r>
          </a:p>
          <a:p/>
          <a:p>
            <a:r>
              <a:t>For this geometry review, begin with the unknown rather than the formula. Are we measuring an outside boundary, covering a surface, filling space or finding a triangle side? The answer to that question determines the method and unit. We will use selected work from chapters 9–13, the formula sheet on page 219 and the listed exercises. What should you draw before entering numbers? A labelled sketch that separates the given dimensions from the quantity you are trying to find.</a:t>
            </a:r>
          </a:p>
        </p:txBody>
      </p:sp>
      <p:sp>
        <p:nvSpPr>
          <p:cNvPr id="4" name="Slide Number Placeholder 3"/>
          <p:cNvSpPr>
            <a:spLocks noGrp="1"/>
          </p:cNvSpPr>
          <p:nvPr>
            <p:ph type="sldNum" idx="5" sz="quarter"/>
          </p:nvPr>
        </p:nvSpPr>
        <p:spPr/>
      </p:sp>
    </p:spTree>
  </p:cSld>
  <p:clrMapOvr>
    <a:masterClrMapping/>
  </p:clrMapOvr>
</p:notes>
</file>

<file path=ppt/notesSlides/notesSlide18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RECALL  •  10:35 AM–10:40 AM  •  5 MIN TOTAL — shared across this phase’s slides.</a:t>
            </a:r>
          </a:p>
          <a:p/>
          <a:p>
            <a:r>
              <a:t>Compare a rectangle, a rectangular prism and a right triangle. A boundary or side length may use millimetres; surface coverage uses square millimetres; volume uses cubic millimetres. Which picture needs three dimensions for its volume? The prism. Which triangle setting must agree with degree-marked angles? DEG. These quick decisions can detect an error before arithmetic begins. If the requested unit and your formula disagree, stop and reconsider the quantity rather than trying to repair only the label afterward.</a:t>
            </a:r>
          </a:p>
        </p:txBody>
      </p:sp>
      <p:sp>
        <p:nvSpPr>
          <p:cNvPr id="4" name="Slide Number Placeholder 3"/>
          <p:cNvSpPr>
            <a:spLocks noGrp="1"/>
          </p:cNvSpPr>
          <p:nvPr>
            <p:ph type="sldNum" idx="5" sz="quarter"/>
          </p:nvPr>
        </p:nvSpPr>
        <p:spPr/>
      </p:sp>
    </p:spTree>
  </p:cSld>
  <p:clrMapOvr>
    <a:masterClrMapping/>
  </p:clrMapOvr>
</p:notes>
</file>

<file path=ppt/notesSlides/notesSlide18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TEACH  •  10:40 AM–10:55 AM  •  15 MIN TOTAL — shared across this phase’s slides.</a:t>
            </a:r>
          </a:p>
          <a:p/>
          <a:p>
            <a:r>
              <a:t>Perimeter follows the outside edge, so it adds lengths. Area covers a surface, so it uses square units and subtracts openings when the problem says material is removed. Volume measures space; for a prism it is base area times height and uses cubic units. A right-triangle side remains a length even when its calculation uses squared values or trig ratios. What first question sorts these methods? “What quantity is being asked for?” The same rectangle may appear in a perimeter problem, an area problem or the base of a volume problem, so the shape alone is not enough.</a:t>
            </a:r>
          </a:p>
        </p:txBody>
      </p:sp>
      <p:sp>
        <p:nvSpPr>
          <p:cNvPr id="4" name="Slide Number Placeholder 3"/>
          <p:cNvSpPr>
            <a:spLocks noGrp="1"/>
          </p:cNvSpPr>
          <p:nvPr>
            <p:ph type="sldNum" idx="5" sz="quarter"/>
          </p:nvPr>
        </p:nvSpPr>
        <p:spPr/>
      </p:sp>
    </p:spTree>
  </p:cSld>
  <p:clrMapOvr>
    <a:masterClrMapping/>
  </p:clrMapOvr>
</p:notes>
</file>

<file path=ppt/notesSlides/notesSlide19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TEACH  •  10:40 AM–10:55 AM  •  15 MIN TOTAL — shared across this phase’s slides.</a:t>
            </a:r>
          </a:p>
          <a:p/>
          <a:p>
            <a:r>
              <a:t>Annotate the dimensions that belong to the problem you are solving. A kerf stated in 12B Q3 belongs with that cutting calculation; it should not be imported into an unrelated no-waste floor problem. Check the magnitude against the drawing as well as the unit. A hypotenuse shorter than a leg or an opening larger than the entire plate should make you stop. What should you retain from a fresh Numeracy Hub question? Its prompt or code, the written method and your reason for choosing the formula. That record makes the later check meaningful.</a:t>
            </a:r>
          </a:p>
        </p:txBody>
      </p:sp>
      <p:sp>
        <p:nvSpPr>
          <p:cNvPr id="4" name="Slide Number Placeholder 3"/>
          <p:cNvSpPr>
            <a:spLocks noGrp="1"/>
          </p:cNvSpPr>
          <p:nvPr>
            <p:ph type="sldNum" idx="5" sz="quarter"/>
          </p:nvPr>
        </p:nvSpPr>
        <p:spPr/>
      </p:sp>
    </p:spTree>
  </p:cSld>
  <p:clrMapOvr>
    <a:masterClrMapping/>
  </p:clrMapOvr>
</p:notes>
</file>

<file path=ppt/notesSlides/notesSlide19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TEACH  •  10:40 AM–10:55 AM  •  15 MIN TOTAL — shared across this phase’s slides.</a:t>
            </a:r>
          </a:p>
          <a:p/>
          <a:p>
            <a:r>
              <a:t>Figure 11.1 on page 172 builds volume from unit cubes. A row counts one direction, a layer adds a second, and stacked layers add the third. That is why length times width times height produces cubic units. What does multiplying the base area by height count? The same-sized area repeated through the prism's depth. Keep the three directions conceptually separate even if two dimensions happen to match. A number with square units describes only the base surface, not the space occupied by all the stacked layers.</a:t>
            </a:r>
          </a:p>
        </p:txBody>
      </p:sp>
      <p:sp>
        <p:nvSpPr>
          <p:cNvPr id="4" name="Slide Number Placeholder 3"/>
          <p:cNvSpPr>
            <a:spLocks noGrp="1"/>
          </p:cNvSpPr>
          <p:nvPr>
            <p:ph type="sldNum" idx="5" sz="quarter"/>
          </p:nvPr>
        </p:nvSpPr>
        <p:spPr/>
      </p:sp>
    </p:spTree>
  </p:cSld>
  <p:clrMapOvr>
    <a:masterClrMapping/>
  </p:clrMapOvr>
</p:notes>
</file>

<file path=ppt/notesSlides/notesSlide19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TEACH  •  10:40 AM–10:55 AM  •  15 MIN TOTAL — shared across this phase’s slides.</a:t>
            </a:r>
          </a:p>
          <a:p/>
          <a:p>
            <a:r>
              <a:t>Cubic conversion applies the length conversion in three directions. One metre contains one thousand millimetres, so a cubic metre contains one thousand times one thousand times one thousand cubic millimetres: one billion. What happens if you divide cubic millimetres by only one thousand? You apply a length conversion to a volume and get the wrong scale. An alternative is to convert each of the three dimensions into metres first, then multiply. Both approaches must give the same cubic-metre volume when the units are handled consistently.</a:t>
            </a:r>
          </a:p>
        </p:txBody>
      </p:sp>
      <p:sp>
        <p:nvSpPr>
          <p:cNvPr id="4" name="Slide Number Placeholder 3"/>
          <p:cNvSpPr>
            <a:spLocks noGrp="1"/>
          </p:cNvSpPr>
          <p:nvPr>
            <p:ph type="sldNum" idx="5" sz="quarter"/>
          </p:nvPr>
        </p:nvSpPr>
        <p:spPr/>
      </p:sp>
    </p:spTree>
  </p:cSld>
  <p:clrMapOvr>
    <a:masterClrMapping/>
  </p:clrMapOvr>
</p:notes>
</file>

<file path=ppt/notesSlides/notesSlide19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TEACH  •  10:40 AM–10:55 AM  •  15 MIN TOTAL — shared across this phase’s slides.</a:t>
            </a:r>
          </a:p>
          <a:p/>
          <a:p>
            <a:r>
              <a:t>The answer is labelled cubic millimetres, but the question asked for surface coverage. Cubic units describe volume, so the label signals that either the formula or the interpretation may be wrong. Do not simply cross out the exponent and assume the number is fine. Check whether you multiplied two relevant dimensions for area or accidentally included a third. What unit should surface coverage use? Square units. A correct-looking number and a wrong unit are a reason to inspect the method together, because the unit tells us what the calculation actually measured.</a:t>
            </a:r>
          </a:p>
        </p:txBody>
      </p:sp>
      <p:sp>
        <p:nvSpPr>
          <p:cNvPr id="4" name="Slide Number Placeholder 3"/>
          <p:cNvSpPr>
            <a:spLocks noGrp="1"/>
          </p:cNvSpPr>
          <p:nvPr>
            <p:ph type="sldNum" idx="5" sz="quarter"/>
          </p:nvPr>
        </p:nvSpPr>
        <p:spPr/>
      </p:sp>
    </p:spTree>
  </p:cSld>
  <p:clrMapOvr>
    <a:masterClrMapping/>
  </p:clrMapOvr>
</p:notes>
</file>

<file path=ppt/notesSlides/notesSlide19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TOGETHER  •  10:55 AM–11:10 AM  •  15 MIN TOTAL — shared across this phase’s slides.</a:t>
            </a:r>
          </a:p>
          <a:p/>
          <a:p>
            <a:r>
              <a:t>Work 10B Q1 and 12B Q3 with your partner. Annotate every dimension before selecting the relationship. In the floor question, retain the stated no-waste condition. In the cutting question, include its stated kerf. One partner explains why the formula matches the unknown; the other checks whether the result's unit and size fit the drawing. Then swap roles. If the arithmetic differs, compare assumptions and diagrams before repeating keys, because those determine which numbers belong in the equation.</a:t>
            </a:r>
          </a:p>
        </p:txBody>
      </p:sp>
      <p:sp>
        <p:nvSpPr>
          <p:cNvPr id="4" name="Slide Number Placeholder 3"/>
          <p:cNvSpPr>
            <a:spLocks noGrp="1"/>
          </p:cNvSpPr>
          <p:nvPr>
            <p:ph type="sldNum" idx="5" sz="quarter"/>
          </p:nvPr>
        </p:nvSpPr>
        <p:spPr/>
      </p:sp>
    </p:spTree>
  </p:cSld>
  <p:clrMapOvr>
    <a:masterClrMapping/>
  </p:clrMapOvr>
</p:notes>
</file>

<file path=ppt/notesSlides/notesSlide19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TOGETHER  •  10:55 AM–11:10 AM  •  15 MIN TOTAL — shared across this phase’s slides.</a:t>
            </a:r>
          </a:p>
          <a:p/>
          <a:p>
            <a:r>
              <a:t>For 10B Q1, calculate the floor area and one-sheet area, then use them to find the no-waste count. Attempt the question with your partner before checking. Read the exact condition: the checker plate sheets are laid edge to edge with no waste. Do we automatically add the ten-percent allowance from our earlier classroom adaptation? No. That allowance belonged to a different stated task. This question's answer follows its own dimensions and no-waste condition.</a:t>
            </a:r>
          </a:p>
          <a:p/>
          <a:p>
            <a:r>
              <a:t>INSTRUCTOR ONLY — AFTER THE ATTEMPT: 25.92 m², 9 sheets Working: 7.2 × 3.6 = 25.92 m², one sheet = 2.88 m², 25.92 ÷ 2.88 = 9</a:t>
            </a:r>
          </a:p>
        </p:txBody>
      </p:sp>
      <p:sp>
        <p:nvSpPr>
          <p:cNvPr id="4" name="Slide Number Placeholder 3"/>
          <p:cNvSpPr>
            <a:spLocks noGrp="1"/>
          </p:cNvSpPr>
          <p:nvPr>
            <p:ph type="sldNum" idx="5" sz="quarter"/>
          </p:nvPr>
        </p:nvSpPr>
        <p:spPr/>
      </p:sp>
    </p:spTree>
  </p:cSld>
  <p:clrMapOvr>
    <a:masterClrMapping/>
  </p:clrMapOvr>
</p:notes>
</file>

<file path=ppt/notesSlides/notesSlide19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TOGETHER  •  10:55 AM–11:10 AM  •  15 MIN TOTAL — shared across this phase’s slides.</a:t>
            </a:r>
          </a:p>
          <a:p/>
          <a:p>
            <a:r>
              <a:t>The floor area is 7.2 times 3.6, or 25.92 square metres. One sheet covers 1.2 times 2.4, or 2.88 square metres. Division gives nine sheets. Check the layout: three lengths of 2.4 span 7.2 metres, and three widths of 1.2 span 3.6 metres. Why does the answer remain nine here? The question explicitly says no waste. We do not add an unstated allowance just because another lesson used one. Conditions are part of the mathematics.</a:t>
            </a:r>
          </a:p>
          <a:p/>
          <a:p>
            <a:r>
              <a:t>INSTRUCTOR ONLY — AFTER THE ATTEMPT: 25.92 m², 9 sheets Working: 7.2 × 3.6 = 25.92 m², one sheet = 2.88 m², 25.92 ÷ 2.88 = 9</a:t>
            </a:r>
          </a:p>
        </p:txBody>
      </p:sp>
      <p:sp>
        <p:nvSpPr>
          <p:cNvPr id="4" name="Slide Number Placeholder 3"/>
          <p:cNvSpPr>
            <a:spLocks noGrp="1"/>
          </p:cNvSpPr>
          <p:nvPr>
            <p:ph type="sldNum" idx="5" sz="quarter"/>
          </p:nvPr>
        </p:nvSpPr>
        <p:spPr/>
      </p:sp>
    </p:spTree>
  </p:cSld>
  <p:clrMapOvr>
    <a:masterClrMapping/>
  </p:clrMapOvr>
</p:notes>
</file>

<file path=ppt/notesSlides/notesSlide19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PRACTISE  •  11:10 AM–11:45 AM  •  35 MIN TOTAL — shared across this phase’s slides.</a:t>
            </a:r>
          </a:p>
          <a:p/>
          <a:p>
            <a:r>
              <a:t>Complete the remaining listed exercises, prioritizing the needs shown in your work. Finish with one Easy Numeracy Hub question in a taught topic and keep its question or code. Before calculating, write why the formula applies. For example, a plate with a hole requires net area, while a box's missing height requires reversing volume divided by base area. The specific explanation makes it easier to see whether a wrong answer came from interpretation, arithmetic, units or calculator entry.</a:t>
            </a:r>
          </a:p>
        </p:txBody>
      </p:sp>
      <p:sp>
        <p:nvSpPr>
          <p:cNvPr id="4" name="Slide Number Placeholder 3"/>
          <p:cNvSpPr>
            <a:spLocks noGrp="1"/>
          </p:cNvSpPr>
          <p:nvPr>
            <p:ph type="sldNum" idx="5" sz="quarter"/>
          </p:nvPr>
        </p:nvSpPr>
        <p:spPr/>
      </p:sp>
    </p:spTree>
  </p:cSld>
  <p:clrMapOvr>
    <a:masterClrMapping/>
  </p:clrMapOvr>
</p:notes>
</file>

<file path=ppt/notesSlides/notesSlide19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PRACTISE  •  11:10 AM–11:45 AM  •  35 MIN TOTAL — shared across this phase’s slides.</a:t>
            </a:r>
          </a:p>
          <a:p/>
          <a:p>
            <a:r>
              <a:t>Open Volume and Layout or Angles and Trig in Numeracy Hub, choosing the taught topic that matches your documented need. Use one Easy question after the assigned paper work. Copy its values and retain the code so the answer can be checked against the right prompt. What must you write before revealing the solution? The unknown, selected formula and unit. The tool supplies feedback, while your written reasoning shows the decision you made independently.</a:t>
            </a:r>
          </a:p>
        </p:txBody>
      </p:sp>
      <p:sp>
        <p:nvSpPr>
          <p:cNvPr id="4" name="Slide Number Placeholder 3"/>
          <p:cNvSpPr>
            <a:spLocks noGrp="1"/>
          </p:cNvSpPr>
          <p:nvPr>
            <p:ph type="sldNum" idx="5" sz="quarter"/>
          </p:nvPr>
        </p:nvSpPr>
        <p:spPr/>
      </p:sp>
    </p:spTree>
  </p:cSld>
  <p:clrMapOvr>
    <a:masterClrMapping/>
  </p:clrMapOvr>
</p:notes>
</file>

<file path=ppt/notesSlides/notesSlide19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PRACTISE  •  11:10 AM–11:45 AM  •  35 MIN TOTAL — shared across this phase’s slides.</a:t>
            </a:r>
          </a:p>
          <a:p/>
          <a:p>
            <a:r>
              <a:t>In Shape Canvas, compare the rectangle, prism and right triangle using the dimensions relevant to your problem. Mark the unknown so the picture tells us what the calculation should return. After the paper work, use one Easy Numeracy Hub task from the matching taught module. Keep the diagram, formula, unit and question code together. If the result seems unreasonable, point to the drawing feature that contradicts it: a leg too long, an area too large or a volume unit where a length was requested.</a:t>
            </a:r>
          </a:p>
        </p:txBody>
      </p:sp>
      <p:sp>
        <p:nvSpPr>
          <p:cNvPr id="4" name="Slide Number Placeholder 3"/>
          <p:cNvSpPr>
            <a:spLocks noGrp="1"/>
          </p:cNvSpPr>
          <p:nvPr>
            <p:ph type="sldNum" idx="5" sz="quarter"/>
          </p:nvPr>
        </p:nvSpPr>
        <p:spPr/>
      </p:sp>
    </p:spTree>
  </p:cSld>
  <p:clrMapOvr>
    <a:masterClrMapping/>
  </p:clrMapOvr>
</p:notes>
</file>

<file path=ppt/notesSlides/notesSlide20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PRACTISE  •  11:10 AM–11:45 AM  •  35 MIN TOTAL — shared across this phase’s slides.</a:t>
            </a:r>
          </a:p>
          <a:p/>
          <a:p>
            <a:r>
              <a:t>Attempt 9A Q1 by tracing the entire rectangle boundary. After your attempt, compare two equivalent calculations: 2 times the sum of 2,400 and 1,150, or 2,400 plus 1,150 plus 2,400 plus 1,150. Both give 7,100 millimetres. What would 3,550 millimetres represent? Only one length and one width, halfway around. A quick boundary trace makes that missing-half error visible without needing a second calculator entry.</a:t>
            </a:r>
          </a:p>
          <a:p/>
          <a:p>
            <a:r>
              <a:t>INSTRUCTOR ONLY — AFTER THE ATTEMPT: 7,100 mm</a:t>
            </a:r>
          </a:p>
        </p:txBody>
      </p:sp>
      <p:sp>
        <p:nvSpPr>
          <p:cNvPr id="4" name="Slide Number Placeholder 3"/>
          <p:cNvSpPr>
            <a:spLocks noGrp="1"/>
          </p:cNvSpPr>
          <p:nvPr>
            <p:ph type="sldNum" idx="5" sz="quarter"/>
          </p:nvPr>
        </p:nvSpPr>
        <p:spPr/>
      </p:sp>
    </p:spTree>
  </p:cSld>
  <p:clrMapOvr>
    <a:masterClrMapping/>
  </p:clrMapOvr>
</p:notes>
</file>

<file path=ppt/notesSlides/notesSlide20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PRACTISE  •  11:10 AM–11:45 AM  •  35 MIN TOTAL — shared across this phase’s slides.</a:t>
            </a:r>
          </a:p>
          <a:p/>
          <a:p>
            <a:r>
              <a:t>For 9A Q8, the full perimeter is 3,800 millimetres and each long edge is 1,200. Attempt the missing width first. Afterward, halve the perimeter to get length plus width: 1,900 millimetres. Subtract the length, 1,200, leaving a 700-millimetre width. Check by tracing all four edges: 1,200 plus 700 plus 1,200 plus 700 equals 3,800. Why not subtract only one long edge from the full perimeter? The remaining distance would still include three edges, not one width.</a:t>
            </a:r>
          </a:p>
          <a:p/>
          <a:p>
            <a:r>
              <a:t>INSTRUCTOR ONLY — AFTER THE ATTEMPT: 700 mm</a:t>
            </a:r>
          </a:p>
        </p:txBody>
      </p:sp>
      <p:sp>
        <p:nvSpPr>
          <p:cNvPr id="4" name="Slide Number Placeholder 3"/>
          <p:cNvSpPr>
            <a:spLocks noGrp="1"/>
          </p:cNvSpPr>
          <p:nvPr>
            <p:ph type="sldNum" idx="5" sz="quarter"/>
          </p:nvPr>
        </p:nvSpPr>
        <p:spPr/>
      </p:sp>
    </p:spTree>
  </p:cSld>
  <p:clrMapOvr>
    <a:masterClrMapping/>
  </p:clrMapOvr>
</p:notes>
</file>

<file path=ppt/notesSlides/notesSlide20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CHECK  •  11:45 AM–11:55 AM  •  10 MIN TOTAL — shared across this phase’s slides.</a:t>
            </a:r>
          </a:p>
          <a:p/>
          <a:p>
            <a:r>
              <a:t>Complete 10B Q11, 11A Q19 and 13A Q14 independently, with diagrams and units. These questions ask for different quantities, so name the unknown before selecting the formula. Keep the solution displays closed and retain working through the final requested rounding. Your drawing should help explain which dimensions belong together and what the answer measures. Submit your own method before comparing results with the class.</a:t>
            </a:r>
          </a:p>
        </p:txBody>
      </p:sp>
      <p:sp>
        <p:nvSpPr>
          <p:cNvPr id="4" name="Slide Number Placeholder 3"/>
          <p:cNvSpPr>
            <a:spLocks noGrp="1"/>
          </p:cNvSpPr>
          <p:nvPr>
            <p:ph type="sldNum" idx="5" sz="quarter"/>
          </p:nvPr>
        </p:nvSpPr>
        <p:spPr/>
      </p:sp>
    </p:spTree>
  </p:cSld>
  <p:clrMapOvr>
    <a:masterClrMapping/>
  </p:clrMapOvr>
</p:notes>
</file>

<file path=ppt/notesSlides/notesSlide20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CHECK  •  11:45 AM–11:55 AM  •  10 MIN TOTAL — shared across this phase’s slides.</a:t>
            </a:r>
          </a:p>
          <a:p/>
          <a:p>
            <a:r>
              <a:t>For 10B Q11, show the plate and opening on a labelled sketch, then find the area left in both requested units. Retain the conversion working so the relationship between the two answers is clear. Keep the check independent until collection.</a:t>
            </a:r>
          </a:p>
          <a:p/>
          <a:p>
            <a:r>
              <a:t>INSTRUCTOR ONLY — AFTER THE ATTEMPT: Outer area 1,200 × 800 = 960,000 mm²; opening 300 × 200 = 60,000 mm²; remaining 900,000 mm². Divide by 1,000,000 to obtain 0.9 m². The opening is subtracted once.</a:t>
            </a:r>
          </a:p>
        </p:txBody>
      </p:sp>
      <p:sp>
        <p:nvSpPr>
          <p:cNvPr id="4" name="Slide Number Placeholder 3"/>
          <p:cNvSpPr>
            <a:spLocks noGrp="1"/>
          </p:cNvSpPr>
          <p:nvPr>
            <p:ph type="sldNum" idx="5" sz="quarter"/>
          </p:nvPr>
        </p:nvSpPr>
        <p:spPr/>
      </p:sp>
    </p:spTree>
  </p:cSld>
  <p:clrMapOvr>
    <a:masterClrMapping/>
  </p:clrMapOvr>
</p:notes>
</file>

<file path=ppt/notesSlides/notesSlide20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CHECK  •  11:45 AM–11:55 AM  •  10 MIN TOTAL — shared across this phase’s slides.</a:t>
            </a:r>
          </a:p>
          <a:p/>
          <a:p>
            <a:r>
              <a:t>For 11A Q19, identify the unknown height and the given base dimensions. Show the volume relationship, your rearrangement and a substitution check. Include the length unit with the answer rather than carrying the volume unit into the unknown.</a:t>
            </a:r>
          </a:p>
          <a:p/>
          <a:p>
            <a:r>
              <a:t>INSTRUCTOR ONLY — AFTER THE ATTEMPT: Base area = 0.8 × 0.5 = 0.4 m²; height = 0.24/0.4 = 0.6 m. Check: 0.8 × 0.5 × 0.6 = 0.24 m³. Dividing volume by base area returns a length.</a:t>
            </a:r>
          </a:p>
        </p:txBody>
      </p:sp>
      <p:sp>
        <p:nvSpPr>
          <p:cNvPr id="4" name="Slide Number Placeholder 3"/>
          <p:cNvSpPr>
            <a:spLocks noGrp="1"/>
          </p:cNvSpPr>
          <p:nvPr>
            <p:ph type="sldNum" idx="5" sz="quarter"/>
          </p:nvPr>
        </p:nvSpPr>
        <p:spPr/>
      </p:sp>
    </p:spTree>
  </p:cSld>
  <p:clrMapOvr>
    <a:masterClrMapping/>
  </p:clrMapOvr>
</p:notes>
</file>

<file path=ppt/notesSlides/notesSlide20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CHECK  •  11:45 AM–11:55 AM  •  10 MIN TOTAL — shared across this phase’s slides.</a:t>
            </a:r>
          </a:p>
          <a:p/>
          <a:p>
            <a:r>
              <a:t>For 13A Q14, calculate percentage grade and angle as separate outputs. Retain the stated rise and run and label both answers clearly. Keep the method independent and show the final requested rounding.</a:t>
            </a:r>
          </a:p>
          <a:p/>
          <a:p>
            <a:r>
              <a:t>INSTRUCTOR ONLY — AFTER THE ATTEMPT: rise/run = 120/6,000 = 0.02. Grade = 2%; angle = tan⁻¹(0.02) ≈ 1.15° in DEG mode. A 2° result incorrectly treats percent grade and degree angle as the same scale.</a:t>
            </a:r>
          </a:p>
        </p:txBody>
      </p:sp>
      <p:sp>
        <p:nvSpPr>
          <p:cNvPr id="4" name="Slide Number Placeholder 3"/>
          <p:cNvSpPr>
            <a:spLocks noGrp="1"/>
          </p:cNvSpPr>
          <p:nvPr>
            <p:ph type="sldNum" idx="5" sz="quarter"/>
          </p:nvPr>
        </p:nvSpPr>
        <p:spPr/>
      </p:sp>
    </p:spTree>
  </p:cSld>
  <p:clrMapOvr>
    <a:masterClrMapping/>
  </p:clrMapOvr>
</p:notes>
</file>

<file path=ppt/notesSlides/notesSlide20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WRAP UP  •  11:55 AM–12:00 PM  •  5 MIN TOTAL — shared across this phase’s slides.</a:t>
            </a:r>
          </a:p>
          <a:p/>
          <a:p>
            <a:r>
              <a:t>Choose the geometry decision that is now clearest to you: boundary, coverage, volume, triangle side or slope. Explain the unit that belongs to it and one check that would expose an error. Then record the method you still need to review before the readiness check. Use a precise reference and action, such as reworking a net-area question while keeping square-unit conversion visible. Your drawings and error notes are useful evidence; keep them with the corrected working.</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6.xml"/><Relationship Id="rId3" Type="http://schemas.openxmlformats.org/officeDocument/2006/relationships/image" Target="../media/image18.png"/><Relationship Id="rId4" Type="http://schemas.openxmlformats.org/officeDocument/2006/relationships/hyperlink" Target="../../../books/ACCESS-Trades-Numeracy-Textbook.pdf" TargetMode="External"/><Relationship Id="rId5" Type="http://schemas.openxmlformats.org/officeDocument/2006/relationships/hyperlink" Target="../../../books/ACCESS-Trades-Numeracy-Exercise-Book.pdf"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7.xml"/><Relationship Id="rId3" Type="http://schemas.openxmlformats.org/officeDocument/2006/relationships/image" Target="../media/image18.png"/><Relationship Id="rId4" Type="http://schemas.openxmlformats.org/officeDocument/2006/relationships/hyperlink" Target="../../../books/ACCESS-Trades-Numeracy-Textbook.pdf#page=219" TargetMode="External"/><Relationship Id="rId5" Type="http://schemas.openxmlformats.org/officeDocument/2006/relationships/hyperlink" Target="../../../books/ACCESS-Trades-Numeracy-Exercise-Book.pdf#page=8"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8.xml"/><Relationship Id="rId3" Type="http://schemas.openxmlformats.org/officeDocument/2006/relationships/image" Target="../media/image18.png"/><Relationship Id="rId4" Type="http://schemas.openxmlformats.org/officeDocument/2006/relationships/hyperlink" Target="../../../books/ACCESS-Trades-Numeracy-Textbook.pdf#page=219" TargetMode="External"/><Relationship Id="rId5" Type="http://schemas.openxmlformats.org/officeDocument/2006/relationships/hyperlink" Target="../../../books/ACCESS-Trades-Numeracy-Exercise-Book.pdf#page=8"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9.xml"/><Relationship Id="rId3" Type="http://schemas.openxmlformats.org/officeDocument/2006/relationships/image" Target="../media/image18.png"/><Relationship Id="rId4" Type="http://schemas.openxmlformats.org/officeDocument/2006/relationships/hyperlink" Target="../../../books/ACCESS-Trades-Numeracy-Textbook.pdf#page=219" TargetMode="External"/><Relationship Id="rId5" Type="http://schemas.openxmlformats.org/officeDocument/2006/relationships/hyperlink" Target="../../../books/ACCESS-Trades-Numeracy-Exercise-Book.pdf#page=8"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0.xml"/><Relationship Id="rId3" Type="http://schemas.openxmlformats.org/officeDocument/2006/relationships/image" Target="../media/image18.png"/><Relationship Id="rId4" Type="http://schemas.openxmlformats.org/officeDocument/2006/relationships/hyperlink" Target="../../../books/ACCESS-Trades-Numeracy-Textbook.pdf#page=219" TargetMode="External"/><Relationship Id="rId5" Type="http://schemas.openxmlformats.org/officeDocument/2006/relationships/hyperlink" Target="../../../books/ACCESS-Trades-Numeracy-Exercise-Book.pdf#page=8"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1.xml"/><Relationship Id="rId3" Type="http://schemas.openxmlformats.org/officeDocument/2006/relationships/image" Target="../media/image18.png"/><Relationship Id="rId4" Type="http://schemas.openxmlformats.org/officeDocument/2006/relationships/hyperlink" Target="../../../books/ACCESS-Trades-Numeracy-Textbook.pdf#page=219" TargetMode="External"/><Relationship Id="rId5" Type="http://schemas.openxmlformats.org/officeDocument/2006/relationships/hyperlink" Target="../../../books/ACCESS-Trades-Numeracy-Exercise-Book.pdf#page=8"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3.xml"/><Relationship Id="rId3" Type="http://schemas.openxmlformats.org/officeDocument/2006/relationships/image" Target="../media/image18.png"/><Relationship Id="rId4" Type="http://schemas.openxmlformats.org/officeDocument/2006/relationships/hyperlink" Target="../../../books/ACCESS-Trades-Numeracy-Textbook.pdf#page=219" TargetMode="External"/><Relationship Id="rId5" Type="http://schemas.openxmlformats.org/officeDocument/2006/relationships/hyperlink" Target="../../../books/ACCESS-Trades-Numeracy-Exercise-Book.pdf#page=8"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2.xml"/><Relationship Id="rId3" Type="http://schemas.openxmlformats.org/officeDocument/2006/relationships/image" Target="../media/image1.png"/><Relationship Id="rId4" Type="http://schemas.openxmlformats.org/officeDocument/2006/relationships/image" Target="../media/image18.png"/><Relationship Id="rId5" Type="http://schemas.openxmlformats.org/officeDocument/2006/relationships/hyperlink" Target="../../../books/ACCESS-Trades-Numeracy-Textbook.pdf#page=127" TargetMode="External"/><Relationship Id="rId6" Type="http://schemas.openxmlformats.org/officeDocument/2006/relationships/hyperlink" Target="../../../books/ACCESS-Trades-Numeracy-Exercise-Book.pdf#page=8" TargetMode="External"/><Relationship Id="rId7" Type="http://schemas.openxmlformats.org/officeDocument/2006/relationships/hyperlink" Target="../../../numeracy-hub/index.html" TargetMode="External"/><Relationship Id="rId8" Type="http://schemas.openxmlformats.org/officeDocument/2006/relationships/hyperlink" Target="../../../shape-canvas/index.html" TargetMode="Externa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3.xml"/><Relationship Id="rId3" Type="http://schemas.openxmlformats.org/officeDocument/2006/relationships/image" Target="../media/image2.png"/><Relationship Id="rId4" Type="http://schemas.openxmlformats.org/officeDocument/2006/relationships/image" Target="../media/image18.png"/><Relationship Id="rId5" Type="http://schemas.openxmlformats.org/officeDocument/2006/relationships/hyperlink" Target="../../../books/ACCESS-Trades-Numeracy-Textbook.pdf#page=127" TargetMode="External"/><Relationship Id="rId6" Type="http://schemas.openxmlformats.org/officeDocument/2006/relationships/hyperlink" Target="../../../books/ACCESS-Trades-Numeracy-Exercise-Book.pdf#page=8" TargetMode="External"/><Relationship Id="rId7" Type="http://schemas.openxmlformats.org/officeDocument/2006/relationships/hyperlink" Target="../../../numeracy-hub/index.html" TargetMode="External"/><Relationship Id="rId8" Type="http://schemas.openxmlformats.org/officeDocument/2006/relationships/hyperlink" Target="../../../shape-canvas/index.html" TargetMode="Externa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4.xml"/><Relationship Id="rId3" Type="http://schemas.openxmlformats.org/officeDocument/2006/relationships/image" Target="../media/image18.png"/><Relationship Id="rId4" Type="http://schemas.openxmlformats.org/officeDocument/2006/relationships/hyperlink" Target="../../../books/ACCESS-Trades-Numeracy-Textbook.pdf#page=219" TargetMode="External"/><Relationship Id="rId5" Type="http://schemas.openxmlformats.org/officeDocument/2006/relationships/hyperlink" Target="../../../books/ACCESS-Trades-Numeracy-Exercise-Book.pdf#page=8"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5.xml"/><Relationship Id="rId3" Type="http://schemas.openxmlformats.org/officeDocument/2006/relationships/image" Target="../media/image18.png"/><Relationship Id="rId4" Type="http://schemas.openxmlformats.org/officeDocument/2006/relationships/hyperlink" Target="../../../books/ACCESS-Trades-Numeracy-Textbook.pdf#page=219" TargetMode="External"/><Relationship Id="rId5" Type="http://schemas.openxmlformats.org/officeDocument/2006/relationships/hyperlink" Target="../../../books/ACCESS-Trades-Numeracy-Exercise-Book.pdf#page=8"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6.xml"/><Relationship Id="rId3" Type="http://schemas.openxmlformats.org/officeDocument/2006/relationships/image" Target="../media/image18.png"/><Relationship Id="rId4" Type="http://schemas.openxmlformats.org/officeDocument/2006/relationships/hyperlink" Target="../../../books/ACCESS-Trades-Numeracy-Textbook.pdf#page=219" TargetMode="External"/><Relationship Id="rId5" Type="http://schemas.openxmlformats.org/officeDocument/2006/relationships/hyperlink" Target="../../../books/ACCESS-Trades-Numeracy-Exercise-Book.pdf#page=8"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7.xml"/><Relationship Id="rId3" Type="http://schemas.openxmlformats.org/officeDocument/2006/relationships/image" Target="../media/image3.png"/><Relationship Id="rId4" Type="http://schemas.openxmlformats.org/officeDocument/2006/relationships/image" Target="../media/image18.png"/><Relationship Id="rId5" Type="http://schemas.openxmlformats.org/officeDocument/2006/relationships/hyperlink" Target="../../../books/ACCESS-Trades-Numeracy-Textbook.pdf#page=219" TargetMode="External"/><Relationship Id="rId6" Type="http://schemas.openxmlformats.org/officeDocument/2006/relationships/hyperlink" Target="../../../books/ACCESS-Trades-Numeracy-Exercise-Book.pdf#page=8" TargetMode="External"/><Relationship Id="rId7" Type="http://schemas.openxmlformats.org/officeDocument/2006/relationships/hyperlink" Target="../../../numeracy-hub/index.html" TargetMode="External"/><Relationship Id="rId8" Type="http://schemas.openxmlformats.org/officeDocument/2006/relationships/hyperlink" Target="../../../shape-canvas/index.html" TargetMode="Externa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8.xml"/><Relationship Id="rId3" Type="http://schemas.openxmlformats.org/officeDocument/2006/relationships/image" Target="../media/image18.png"/><Relationship Id="rId4" Type="http://schemas.openxmlformats.org/officeDocument/2006/relationships/hyperlink" Target="../../../books/ACCESS-Trades-Numeracy-Textbook.pdf#page=219" TargetMode="External"/><Relationship Id="rId5" Type="http://schemas.openxmlformats.org/officeDocument/2006/relationships/hyperlink" Target="../../../books/ACCESS-Trades-Numeracy-Exercise-Book.pdf#page=8"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9.xml"/><Relationship Id="rId3" Type="http://schemas.openxmlformats.org/officeDocument/2006/relationships/image" Target="../media/image4.png"/><Relationship Id="rId4" Type="http://schemas.openxmlformats.org/officeDocument/2006/relationships/image" Target="../media/image18.png"/><Relationship Id="rId5" Type="http://schemas.openxmlformats.org/officeDocument/2006/relationships/hyperlink" Target="../../../books/ACCESS-Trades-Numeracy-Textbook.pdf#page=219" TargetMode="External"/><Relationship Id="rId6" Type="http://schemas.openxmlformats.org/officeDocument/2006/relationships/hyperlink" Target="../../../books/ACCESS-Trades-Numeracy-Exercise-Book.pdf#page=8" TargetMode="External"/><Relationship Id="rId7" Type="http://schemas.openxmlformats.org/officeDocument/2006/relationships/hyperlink" Target="../../../numeracy-hub/index.html" TargetMode="External"/><Relationship Id="rId8" Type="http://schemas.openxmlformats.org/officeDocument/2006/relationships/hyperlink" Target="../../../shape-canvas/index.html" TargetMode="Externa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0.xml"/><Relationship Id="rId3" Type="http://schemas.openxmlformats.org/officeDocument/2006/relationships/image" Target="../media/image5.png"/><Relationship Id="rId4" Type="http://schemas.openxmlformats.org/officeDocument/2006/relationships/image" Target="../media/image18.png"/><Relationship Id="rId5" Type="http://schemas.openxmlformats.org/officeDocument/2006/relationships/hyperlink" Target="../../../books/ACCESS-Trades-Numeracy-Textbook.pdf#page=219" TargetMode="External"/><Relationship Id="rId6" Type="http://schemas.openxmlformats.org/officeDocument/2006/relationships/hyperlink" Target="../../../books/ACCESS-Trades-Numeracy-Exercise-Book.pdf#page=55" TargetMode="External"/><Relationship Id="rId7" Type="http://schemas.openxmlformats.org/officeDocument/2006/relationships/hyperlink" Target="../../../numeracy-hub/index.html" TargetMode="External"/><Relationship Id="rId8" Type="http://schemas.openxmlformats.org/officeDocument/2006/relationships/hyperlink" Target="../../../shape-canvas/index.html" TargetMode="Externa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1.xml"/><Relationship Id="rId3" Type="http://schemas.openxmlformats.org/officeDocument/2006/relationships/image" Target="../media/image18.png"/><Relationship Id="rId4" Type="http://schemas.openxmlformats.org/officeDocument/2006/relationships/hyperlink" Target="../../../books/ACCESS-Trades-Numeracy-Textbook.pdf#page=219" TargetMode="External"/><Relationship Id="rId5" Type="http://schemas.openxmlformats.org/officeDocument/2006/relationships/hyperlink" Target="../../../books/ACCESS-Trades-Numeracy-Exercise-Book.pdf#page=8"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2.xml"/><Relationship Id="rId3" Type="http://schemas.openxmlformats.org/officeDocument/2006/relationships/image" Target="../media/image6.png"/><Relationship Id="rId4" Type="http://schemas.openxmlformats.org/officeDocument/2006/relationships/image" Target="../media/image18.png"/><Relationship Id="rId5" Type="http://schemas.openxmlformats.org/officeDocument/2006/relationships/hyperlink" Target="../../../books/ACCESS-Trades-Numeracy-Textbook.pdf#page=219" TargetMode="External"/><Relationship Id="rId6" Type="http://schemas.openxmlformats.org/officeDocument/2006/relationships/hyperlink" Target="../../../books/ACCESS-Trades-Numeracy-Exercise-Book.pdf#page=39" TargetMode="External"/><Relationship Id="rId7" Type="http://schemas.openxmlformats.org/officeDocument/2006/relationships/hyperlink" Target="../../../numeracy-hub/index.html" TargetMode="External"/><Relationship Id="rId8" Type="http://schemas.openxmlformats.org/officeDocument/2006/relationships/hyperlink" Target="../../../shape-canvas/index.html" TargetMode="Externa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3.xml"/><Relationship Id="rId3" Type="http://schemas.openxmlformats.org/officeDocument/2006/relationships/image" Target="../media/image7.png"/><Relationship Id="rId4" Type="http://schemas.openxmlformats.org/officeDocument/2006/relationships/image" Target="../media/image18.png"/><Relationship Id="rId5" Type="http://schemas.openxmlformats.org/officeDocument/2006/relationships/hyperlink" Target="../../../books/ACCESS-Trades-Numeracy-Textbook.pdf#page=219" TargetMode="External"/><Relationship Id="rId6" Type="http://schemas.openxmlformats.org/officeDocument/2006/relationships/hyperlink" Target="../../../books/ACCESS-Trades-Numeracy-Exercise-Book.pdf#page=45" TargetMode="External"/><Relationship Id="rId7" Type="http://schemas.openxmlformats.org/officeDocument/2006/relationships/hyperlink" Target="../../../numeracy-hub/index.html" TargetMode="External"/><Relationship Id="rId8" Type="http://schemas.openxmlformats.org/officeDocument/2006/relationships/hyperlink" Target="../../../shape-canvas/index.html" TargetMode="Externa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4.xml"/><Relationship Id="rId3" Type="http://schemas.openxmlformats.org/officeDocument/2006/relationships/image" Target="../media/image8.png"/><Relationship Id="rId4" Type="http://schemas.openxmlformats.org/officeDocument/2006/relationships/image" Target="../media/image18.png"/><Relationship Id="rId5" Type="http://schemas.openxmlformats.org/officeDocument/2006/relationships/hyperlink" Target="../../../books/ACCESS-Trades-Numeracy-Textbook.pdf#page=219" TargetMode="External"/><Relationship Id="rId6" Type="http://schemas.openxmlformats.org/officeDocument/2006/relationships/hyperlink" Target="../../../books/ACCESS-Trades-Numeracy-Exercise-Book.pdf#page=55" TargetMode="External"/><Relationship Id="rId7" Type="http://schemas.openxmlformats.org/officeDocument/2006/relationships/hyperlink" Target="../../../numeracy-hub/index.html" TargetMode="External"/><Relationship Id="rId8" Type="http://schemas.openxmlformats.org/officeDocument/2006/relationships/hyperlink" Target="../../../shape-canvas/index.html" TargetMode="Externa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5.xml"/><Relationship Id="rId3" Type="http://schemas.openxmlformats.org/officeDocument/2006/relationships/image" Target="../media/image18.png"/><Relationship Id="rId4" Type="http://schemas.openxmlformats.org/officeDocument/2006/relationships/hyperlink" Target="../../../books/ACCESS-Trades-Numeracy-Textbook.pdf#page=219" TargetMode="External"/><Relationship Id="rId5" Type="http://schemas.openxmlformats.org/officeDocument/2006/relationships/hyperlink" Target="../../../books/ACCESS-Trades-Numeracy-Exercise-Book.pdf#page=8"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6.xml"/><Relationship Id="rId3" Type="http://schemas.openxmlformats.org/officeDocument/2006/relationships/image" Target="../media/image18.png"/><Relationship Id="rId4" Type="http://schemas.openxmlformats.org/officeDocument/2006/relationships/hyperlink" Target="../../../books/ACCESS-Trades-Numeracy-Textbook.pdf" TargetMode="External"/><Relationship Id="rId5" Type="http://schemas.openxmlformats.org/officeDocument/2006/relationships/hyperlink" Target="../../../books/ACCESS-Trades-Numeracy-Exercise-Book.pdf"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7.xml"/><Relationship Id="rId3" Type="http://schemas.openxmlformats.org/officeDocument/2006/relationships/image" Target="../media/image18.png"/><Relationship Id="rId4" Type="http://schemas.openxmlformats.org/officeDocument/2006/relationships/hyperlink" Target="../../../books/ACCESS-Trades-Numeracy-Textbook.pdf#page=140" TargetMode="External"/><Relationship Id="rId5" Type="http://schemas.openxmlformats.org/officeDocument/2006/relationships/hyperlink" Target="../../../books/ACCESS-Trades-Numeracy-Exercise-Book.pdf#page=57"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8.xml"/><Relationship Id="rId3" Type="http://schemas.openxmlformats.org/officeDocument/2006/relationships/image" Target="../media/image18.png"/><Relationship Id="rId4" Type="http://schemas.openxmlformats.org/officeDocument/2006/relationships/hyperlink" Target="../../../books/ACCESS-Trades-Numeracy-Textbook.pdf#page=140" TargetMode="External"/><Relationship Id="rId5" Type="http://schemas.openxmlformats.org/officeDocument/2006/relationships/hyperlink" Target="../../../books/ACCESS-Trades-Numeracy-Exercise-Book.pdf#page=57"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9.xml"/><Relationship Id="rId3" Type="http://schemas.openxmlformats.org/officeDocument/2006/relationships/image" Target="../media/image18.png"/><Relationship Id="rId4" Type="http://schemas.openxmlformats.org/officeDocument/2006/relationships/hyperlink" Target="../../../books/ACCESS-Trades-Numeracy-Textbook.pdf#page=140" TargetMode="External"/><Relationship Id="rId5" Type="http://schemas.openxmlformats.org/officeDocument/2006/relationships/hyperlink" Target="../../../books/ACCESS-Trades-Numeracy-Exercise-Book.pdf#page=57"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0.xml"/><Relationship Id="rId3" Type="http://schemas.openxmlformats.org/officeDocument/2006/relationships/image" Target="../media/image18.png"/><Relationship Id="rId4" Type="http://schemas.openxmlformats.org/officeDocument/2006/relationships/hyperlink" Target="../../../books/ACCESS-Trades-Numeracy-Textbook.pdf#page=140" TargetMode="External"/><Relationship Id="rId5" Type="http://schemas.openxmlformats.org/officeDocument/2006/relationships/hyperlink" Target="../../../books/ACCESS-Trades-Numeracy-Exercise-Book.pdf#page=57"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6.xml"/><Relationship Id="rId3" Type="http://schemas.openxmlformats.org/officeDocument/2006/relationships/image" Target="../media/image18.png"/><Relationship Id="rId4" Type="http://schemas.openxmlformats.org/officeDocument/2006/relationships/hyperlink" Target="../../../books/ACCESS-Trades-Numeracy-Textbook.pdf#page=140" TargetMode="External"/><Relationship Id="rId5" Type="http://schemas.openxmlformats.org/officeDocument/2006/relationships/hyperlink" Target="../../../books/ACCESS-Trades-Numeracy-Exercise-Book.pdf#page=57"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1.xml"/><Relationship Id="rId3" Type="http://schemas.openxmlformats.org/officeDocument/2006/relationships/image" Target="../media/image9.png"/><Relationship Id="rId4" Type="http://schemas.openxmlformats.org/officeDocument/2006/relationships/image" Target="../media/image18.png"/><Relationship Id="rId5" Type="http://schemas.openxmlformats.org/officeDocument/2006/relationships/hyperlink" Target="../../../books/ACCESS-Trades-Numeracy-Textbook.pdf#page=172" TargetMode="External"/><Relationship Id="rId6" Type="http://schemas.openxmlformats.org/officeDocument/2006/relationships/hyperlink" Target="../../../books/ACCESS-Trades-Numeracy-Exercise-Book.pdf#page=57" TargetMode="External"/><Relationship Id="rId7" Type="http://schemas.openxmlformats.org/officeDocument/2006/relationships/hyperlink" Target="../../../numeracy-hub/index.html" TargetMode="External"/><Relationship Id="rId8" Type="http://schemas.openxmlformats.org/officeDocument/2006/relationships/hyperlink" Target="../../../shape-canvas/index.html" TargetMode="Externa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2.xml"/><Relationship Id="rId3" Type="http://schemas.openxmlformats.org/officeDocument/2006/relationships/image" Target="../media/image10.png"/><Relationship Id="rId4" Type="http://schemas.openxmlformats.org/officeDocument/2006/relationships/image" Target="../media/image18.png"/><Relationship Id="rId5" Type="http://schemas.openxmlformats.org/officeDocument/2006/relationships/hyperlink" Target="../../../books/ACCESS-Trades-Numeracy-Textbook.pdf#page=172" TargetMode="External"/><Relationship Id="rId6" Type="http://schemas.openxmlformats.org/officeDocument/2006/relationships/hyperlink" Target="../../../books/ACCESS-Trades-Numeracy-Exercise-Book.pdf#page=57" TargetMode="External"/><Relationship Id="rId7" Type="http://schemas.openxmlformats.org/officeDocument/2006/relationships/hyperlink" Target="../../../numeracy-hub/index.html" TargetMode="External"/><Relationship Id="rId8" Type="http://schemas.openxmlformats.org/officeDocument/2006/relationships/hyperlink" Target="../../../shape-canvas/index.html" TargetMode="Externa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3.xml"/><Relationship Id="rId3" Type="http://schemas.openxmlformats.org/officeDocument/2006/relationships/image" Target="../media/image18.png"/><Relationship Id="rId4" Type="http://schemas.openxmlformats.org/officeDocument/2006/relationships/hyperlink" Target="../../../books/ACCESS-Trades-Numeracy-Textbook.pdf#page=140" TargetMode="External"/><Relationship Id="rId5" Type="http://schemas.openxmlformats.org/officeDocument/2006/relationships/hyperlink" Target="../../../books/ACCESS-Trades-Numeracy-Exercise-Book.pdf#page=57"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4.xml"/><Relationship Id="rId3" Type="http://schemas.openxmlformats.org/officeDocument/2006/relationships/image" Target="../media/image18.png"/><Relationship Id="rId4" Type="http://schemas.openxmlformats.org/officeDocument/2006/relationships/hyperlink" Target="../../../books/ACCESS-Trades-Numeracy-Textbook.pdf#page=140" TargetMode="External"/><Relationship Id="rId5" Type="http://schemas.openxmlformats.org/officeDocument/2006/relationships/hyperlink" Target="../../../books/ACCESS-Trades-Numeracy-Exercise-Book.pdf#page=57"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5.xml"/><Relationship Id="rId3" Type="http://schemas.openxmlformats.org/officeDocument/2006/relationships/image" Target="../media/image11.png"/><Relationship Id="rId4" Type="http://schemas.openxmlformats.org/officeDocument/2006/relationships/image" Target="../media/image18.png"/><Relationship Id="rId5" Type="http://schemas.openxmlformats.org/officeDocument/2006/relationships/hyperlink" Target="../../../books/ACCESS-Trades-Numeracy-Textbook.pdf#page=140" TargetMode="External"/><Relationship Id="rId6" Type="http://schemas.openxmlformats.org/officeDocument/2006/relationships/hyperlink" Target="../../../books/ACCESS-Trades-Numeracy-Exercise-Book.pdf#page=65" TargetMode="External"/><Relationship Id="rId7" Type="http://schemas.openxmlformats.org/officeDocument/2006/relationships/hyperlink" Target="../../../numeracy-hub/index.html" TargetMode="External"/><Relationship Id="rId8" Type="http://schemas.openxmlformats.org/officeDocument/2006/relationships/hyperlink" Target="../../../shape-canvas/index.html" TargetMode="Externa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6.xml"/><Relationship Id="rId3" Type="http://schemas.openxmlformats.org/officeDocument/2006/relationships/image" Target="../media/image11.png"/><Relationship Id="rId4" Type="http://schemas.openxmlformats.org/officeDocument/2006/relationships/image" Target="../media/image18.png"/><Relationship Id="rId5" Type="http://schemas.openxmlformats.org/officeDocument/2006/relationships/hyperlink" Target="../../../books/ACCESS-Trades-Numeracy-Textbook.pdf#page=140" TargetMode="External"/><Relationship Id="rId6" Type="http://schemas.openxmlformats.org/officeDocument/2006/relationships/hyperlink" Target="../../../books/ACCESS-Trades-Numeracy-Exercise-Book.pdf#page=65" TargetMode="External"/><Relationship Id="rId7" Type="http://schemas.openxmlformats.org/officeDocument/2006/relationships/hyperlink" Target="../../../numeracy-hub/index.html" TargetMode="External"/><Relationship Id="rId8" Type="http://schemas.openxmlformats.org/officeDocument/2006/relationships/hyperlink" Target="../../../shape-canvas/index.html" TargetMode="Externa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7.xml"/><Relationship Id="rId3" Type="http://schemas.openxmlformats.org/officeDocument/2006/relationships/image" Target="../media/image18.png"/><Relationship Id="rId4" Type="http://schemas.openxmlformats.org/officeDocument/2006/relationships/hyperlink" Target="../../../books/ACCESS-Trades-Numeracy-Textbook.pdf#page=140" TargetMode="External"/><Relationship Id="rId5" Type="http://schemas.openxmlformats.org/officeDocument/2006/relationships/hyperlink" Target="../../../books/ACCESS-Trades-Numeracy-Exercise-Book.pdf#page=57"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8.xml"/><Relationship Id="rId3" Type="http://schemas.openxmlformats.org/officeDocument/2006/relationships/image" Target="../media/image12.png"/><Relationship Id="rId4" Type="http://schemas.openxmlformats.org/officeDocument/2006/relationships/image" Target="../media/image18.png"/><Relationship Id="rId5" Type="http://schemas.openxmlformats.org/officeDocument/2006/relationships/hyperlink" Target="../../../books/ACCESS-Trades-Numeracy-Textbook.pdf#page=140" TargetMode="External"/><Relationship Id="rId6" Type="http://schemas.openxmlformats.org/officeDocument/2006/relationships/hyperlink" Target="../../../books/ACCESS-Trades-Numeracy-Exercise-Book.pdf#page=57" TargetMode="External"/><Relationship Id="rId7" Type="http://schemas.openxmlformats.org/officeDocument/2006/relationships/hyperlink" Target="../../../numeracy-hub/index.html" TargetMode="External"/><Relationship Id="rId8" Type="http://schemas.openxmlformats.org/officeDocument/2006/relationships/hyperlink" Target="../../../shape-canvas/index.html" TargetMode="Externa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9.xml"/><Relationship Id="rId3" Type="http://schemas.openxmlformats.org/officeDocument/2006/relationships/image" Target="../media/image18.png"/><Relationship Id="rId4" Type="http://schemas.openxmlformats.org/officeDocument/2006/relationships/hyperlink" Target="../../../books/ACCESS-Trades-Numeracy-Textbook.pdf#page=140" TargetMode="External"/><Relationship Id="rId5" Type="http://schemas.openxmlformats.org/officeDocument/2006/relationships/hyperlink" Target="../../../books/ACCESS-Trades-Numeracy-Exercise-Book.pdf#page=57"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0.xml"/><Relationship Id="rId3" Type="http://schemas.openxmlformats.org/officeDocument/2006/relationships/image" Target="../media/image13.png"/><Relationship Id="rId4" Type="http://schemas.openxmlformats.org/officeDocument/2006/relationships/image" Target="../media/image18.png"/><Relationship Id="rId5" Type="http://schemas.openxmlformats.org/officeDocument/2006/relationships/hyperlink" Target="../../../books/ACCESS-Trades-Numeracy-Textbook.pdf#page=140" TargetMode="External"/><Relationship Id="rId6" Type="http://schemas.openxmlformats.org/officeDocument/2006/relationships/hyperlink" Target="../../../books/ACCESS-Trades-Numeracy-Exercise-Book.pdf#page=57" TargetMode="External"/><Relationship Id="rId7" Type="http://schemas.openxmlformats.org/officeDocument/2006/relationships/hyperlink" Target="../../../numeracy-hub/index.html" TargetMode="External"/><Relationship Id="rId8" Type="http://schemas.openxmlformats.org/officeDocument/2006/relationships/hyperlink" Target="../../../shape-canvas/index.html" TargetMode="Externa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1.xml"/><Relationship Id="rId3" Type="http://schemas.openxmlformats.org/officeDocument/2006/relationships/image" Target="../media/image14.png"/><Relationship Id="rId4" Type="http://schemas.openxmlformats.org/officeDocument/2006/relationships/image" Target="../media/image18.png"/><Relationship Id="rId5" Type="http://schemas.openxmlformats.org/officeDocument/2006/relationships/hyperlink" Target="../../../books/ACCESS-Trades-Numeracy-Textbook.pdf#page=140" TargetMode="External"/><Relationship Id="rId6" Type="http://schemas.openxmlformats.org/officeDocument/2006/relationships/hyperlink" Target="../../../books/ACCESS-Trades-Numeracy-Exercise-Book.pdf#page=57" TargetMode="External"/><Relationship Id="rId7" Type="http://schemas.openxmlformats.org/officeDocument/2006/relationships/hyperlink" Target="../../../numeracy-hub/index.html" TargetMode="External"/><Relationship Id="rId8" Type="http://schemas.openxmlformats.org/officeDocument/2006/relationships/hyperlink" Target="../../../shape-canvas/index.html" TargetMode="Externa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2.xml"/><Relationship Id="rId3" Type="http://schemas.openxmlformats.org/officeDocument/2006/relationships/image" Target="../media/image18.png"/><Relationship Id="rId4" Type="http://schemas.openxmlformats.org/officeDocument/2006/relationships/hyperlink" Target="../../../books/ACCESS-Trades-Numeracy-Textbook.pdf#page=140" TargetMode="External"/><Relationship Id="rId5" Type="http://schemas.openxmlformats.org/officeDocument/2006/relationships/hyperlink" Target="../../../books/ACCESS-Trades-Numeracy-Exercise-Book.pdf#page=57"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3.xml"/><Relationship Id="rId3" Type="http://schemas.openxmlformats.org/officeDocument/2006/relationships/image" Target="../media/image15.png"/><Relationship Id="rId4" Type="http://schemas.openxmlformats.org/officeDocument/2006/relationships/image" Target="../media/image18.png"/><Relationship Id="rId5" Type="http://schemas.openxmlformats.org/officeDocument/2006/relationships/hyperlink" Target="../../../books/ACCESS-Trades-Numeracy-Textbook.pdf#page=140" TargetMode="External"/><Relationship Id="rId6" Type="http://schemas.openxmlformats.org/officeDocument/2006/relationships/hyperlink" Target="../../../books/ACCESS-Trades-Numeracy-Exercise-Book.pdf#page=65" TargetMode="External"/><Relationship Id="rId7" Type="http://schemas.openxmlformats.org/officeDocument/2006/relationships/hyperlink" Target="../../../numeracy-hub/index.html" TargetMode="External"/><Relationship Id="rId8" Type="http://schemas.openxmlformats.org/officeDocument/2006/relationships/hyperlink" Target="../../../shape-canvas/index.html" TargetMode="Externa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4.xml"/><Relationship Id="rId3" Type="http://schemas.openxmlformats.org/officeDocument/2006/relationships/image" Target="../media/image16.png"/><Relationship Id="rId4" Type="http://schemas.openxmlformats.org/officeDocument/2006/relationships/image" Target="../media/image18.png"/><Relationship Id="rId5" Type="http://schemas.openxmlformats.org/officeDocument/2006/relationships/hyperlink" Target="../../../books/ACCESS-Trades-Numeracy-Textbook.pdf#page=140" TargetMode="External"/><Relationship Id="rId6" Type="http://schemas.openxmlformats.org/officeDocument/2006/relationships/hyperlink" Target="../../../books/ACCESS-Trades-Numeracy-Exercise-Book.pdf#page=69" TargetMode="External"/><Relationship Id="rId7" Type="http://schemas.openxmlformats.org/officeDocument/2006/relationships/hyperlink" Target="../../../numeracy-hub/index.html" TargetMode="External"/><Relationship Id="rId8" Type="http://schemas.openxmlformats.org/officeDocument/2006/relationships/hyperlink" Target="../../../shape-canvas/index.html" TargetMode="Externa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5.xml"/><Relationship Id="rId3" Type="http://schemas.openxmlformats.org/officeDocument/2006/relationships/image" Target="../media/image17.png"/><Relationship Id="rId4" Type="http://schemas.openxmlformats.org/officeDocument/2006/relationships/image" Target="../media/image18.png"/><Relationship Id="rId5" Type="http://schemas.openxmlformats.org/officeDocument/2006/relationships/hyperlink" Target="../../../books/ACCESS-Trades-Numeracy-Textbook.pdf#page=140" TargetMode="External"/><Relationship Id="rId6" Type="http://schemas.openxmlformats.org/officeDocument/2006/relationships/hyperlink" Target="../../../books/ACCESS-Trades-Numeracy-Exercise-Book.pdf#page=81" TargetMode="External"/><Relationship Id="rId7" Type="http://schemas.openxmlformats.org/officeDocument/2006/relationships/hyperlink" Target="../../../numeracy-hub/index.html" TargetMode="External"/><Relationship Id="rId8" Type="http://schemas.openxmlformats.org/officeDocument/2006/relationships/hyperlink" Target="../../../shape-canvas/index.html" TargetMode="Externa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6.xml"/><Relationship Id="rId3" Type="http://schemas.openxmlformats.org/officeDocument/2006/relationships/image" Target="../media/image18.png"/><Relationship Id="rId4" Type="http://schemas.openxmlformats.org/officeDocument/2006/relationships/hyperlink" Target="../../../books/ACCESS-Trades-Numeracy-Textbook.pdf#page=140" TargetMode="External"/><Relationship Id="rId5" Type="http://schemas.openxmlformats.org/officeDocument/2006/relationships/hyperlink" Target="../../../books/ACCESS-Trades-Numeracy-Exercise-Book.pdf#page=57"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A1512"/>
        </a:solidFill>
        <a:effectLst/>
      </p:bgPr>
    </p:bg>
    <p:spTree>
      <p:nvGrpSpPr>
        <p:cNvPr id="1" name=""/>
        <p:cNvGrpSpPr/>
        <p:nvPr/>
      </p:nvGrpSpPr>
      <p:grpSpPr/>
      <p:sp>
        <p:nvSpPr>
          <p:cNvPr id="19" name="Rectangle 18"/>
          <p:cNvSpPr/>
          <p:nvPr/>
        </p:nvSpPr>
        <p:spPr>
          <a:xfrm>
            <a:off x="0" y="6528816"/>
            <a:ext cx="12191695" cy="329184"/>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10104120" y="114300"/>
            <a:ext cx="1517904" cy="753153"/>
          </a:xfrm>
          <a:prstGeom prst="roundRect">
            <a:avLst>
              <a:gd name="adj" fmla="val 8000"/>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ounded Rectangle 31"/>
          <p:cNvSpPr/>
          <p:nvPr/>
        </p:nvSpPr>
        <p:spPr>
          <a:xfrm>
            <a:off x="585216" y="2587752"/>
            <a:ext cx="10991088" cy="978408"/>
          </a:xfrm>
          <a:prstGeom prst="roundRect">
            <a:avLst>
              <a:gd name="adj" fmla="val 8000"/>
            </a:avLst>
          </a:prstGeom>
          <a:solidFill>
            <a:srgbClr val="302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ounded Rectangle 33"/>
          <p:cNvSpPr/>
          <p:nvPr/>
        </p:nvSpPr>
        <p:spPr>
          <a:xfrm>
            <a:off x="585216" y="3685032"/>
            <a:ext cx="10991088" cy="978408"/>
          </a:xfrm>
          <a:prstGeom prst="roundRect">
            <a:avLst>
              <a:gd name="adj" fmla="val 8000"/>
            </a:avLst>
          </a:prstGeom>
          <a:solidFill>
            <a:srgbClr val="302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38912"/>
            <a:ext cx="9144000" cy="228600"/>
          </a:xfrm>
          <a:prstGeom prst="rect">
            <a:avLst/>
          </a:prstGeom>
          <a:noFill/>
        </p:spPr>
        <p:txBody>
          <a:bodyPr wrap="square" lIns="0" rIns="0" tIns="0" bIns="0">
            <a:spAutoFit/>
          </a:bodyPr>
          <a:lstStyle/>
          <a:p>
            <a:pPr>
              <a:spcBef>
                <a:spcPts val="0"/>
              </a:spcBef>
              <a:spcAft>
                <a:spcPts val="300"/>
              </a:spcAft>
              <a:defRPr sz="1200" b="1">
                <a:solidFill>
                  <a:srgbClr val="D2181F"/>
                </a:solidFill>
                <a:latin typeface="Arial"/>
              </a:defRPr>
            </a:pPr>
            <a:r>
              <a:rPr>
                <a:solidFill>
                  <a:srgbClr val="FFFFFF"/>
                </a:solidFill>
                <a:latin typeface="Arial"/>
              </a:rPr>
              <a:t>CARPENTRY FOUNDATION  /  INTAKE 141</a:t>
            </a:r>
          </a:p>
        </p:txBody>
      </p:sp>
      <p:sp>
        <p:nvSpPr>
          <p:cNvPr id="3" name="TextBox 2"/>
          <p:cNvSpPr txBox="1"/>
          <p:nvPr/>
        </p:nvSpPr>
        <p:spPr>
          <a:xfrm>
            <a:off x="612648" y="1143000"/>
            <a:ext cx="10789920" cy="822960"/>
          </a:xfrm>
          <a:prstGeom prst="rect">
            <a:avLst/>
          </a:prstGeom>
          <a:noFill/>
        </p:spPr>
        <p:txBody>
          <a:bodyPr wrap="square" lIns="0" rIns="0" tIns="0" bIns="0">
            <a:spAutoFit/>
          </a:bodyPr>
          <a:lstStyle/>
          <a:p>
            <a:pPr>
              <a:spcBef>
                <a:spcPts val="0"/>
              </a:spcBef>
              <a:spcAft>
                <a:spcPts val="300"/>
              </a:spcAft>
              <a:defRPr sz="3600" b="1">
                <a:solidFill>
                  <a:srgbClr val="1A1A1A"/>
                </a:solidFill>
                <a:latin typeface="Arial"/>
              </a:defRPr>
            </a:pPr>
            <a:r>
              <a:rPr b="1" sz="4300">
                <a:solidFill>
                  <a:srgbClr val="FFFFFF"/>
                </a:solidFill>
                <a:latin typeface="Arial"/>
              </a:rPr>
              <a:t>Day 25  |  Monday</a:t>
            </a:r>
          </a:p>
        </p:txBody>
      </p:sp>
      <p:sp>
        <p:nvSpPr>
          <p:cNvPr id="4" name="TextBox 3"/>
          <p:cNvSpPr txBox="1"/>
          <p:nvPr/>
        </p:nvSpPr>
        <p:spPr>
          <a:xfrm>
            <a:off x="612648" y="1883664"/>
            <a:ext cx="10789920" cy="457200"/>
          </a:xfrm>
          <a:prstGeom prst="rect">
            <a:avLst/>
          </a:prstGeom>
          <a:noFill/>
        </p:spPr>
        <p:txBody>
          <a:bodyPr wrap="square" lIns="0" rIns="0" tIns="0" bIns="0">
            <a:spAutoFit/>
          </a:bodyPr>
          <a:lstStyle/>
          <a:p>
            <a:pPr>
              <a:spcBef>
                <a:spcPts val="0"/>
              </a:spcBef>
              <a:spcAft>
                <a:spcPts val="300"/>
              </a:spcAft>
              <a:defRPr sz="2600" b="0">
                <a:solidFill>
                  <a:srgbClr val="4A4E54"/>
                </a:solidFill>
                <a:latin typeface="Arial"/>
              </a:defRPr>
            </a:pPr>
            <a:r>
              <a:rPr b="0" sz="2500">
                <a:solidFill>
                  <a:srgbClr val="F7F4F1"/>
                </a:solidFill>
                <a:latin typeface="Arial"/>
              </a:rPr>
              <a:t>December 14, 2026</a:t>
            </a:r>
          </a:p>
        </p:txBody>
      </p:sp>
      <p:sp>
        <p:nvSpPr>
          <p:cNvPr id="6" name="TextBox 5"/>
          <p:cNvSpPr txBox="1"/>
          <p:nvPr/>
        </p:nvSpPr>
        <p:spPr>
          <a:xfrm>
            <a:off x="932688" y="2743200"/>
            <a:ext cx="10287000" cy="384048"/>
          </a:xfrm>
          <a:prstGeom prst="rect">
            <a:avLst/>
          </a:prstGeom>
          <a:noFill/>
        </p:spPr>
        <p:txBody>
          <a:bodyPr wrap="square" lIns="0" rIns="0" tIns="0" bIns="0">
            <a:spAutoFit/>
          </a:bodyPr>
          <a:lstStyle/>
          <a:p>
            <a:pPr>
              <a:spcBef>
                <a:spcPts val="0"/>
              </a:spcBef>
              <a:spcAft>
                <a:spcPts val="300"/>
              </a:spcAft>
              <a:defRPr sz="2400" b="1">
                <a:solidFill>
                  <a:srgbClr val="1A1A1A"/>
                </a:solidFill>
                <a:latin typeface="Arial"/>
              </a:defRPr>
            </a:pPr>
            <a:r>
              <a:rPr b="1">
                <a:solidFill>
                  <a:srgbClr val="FFFFFF"/>
                </a:solidFill>
                <a:latin typeface="Arial"/>
              </a:rPr>
              <a:t>Review: numbers, units and formulas</a:t>
            </a:r>
          </a:p>
        </p:txBody>
      </p:sp>
      <p:sp>
        <p:nvSpPr>
          <p:cNvPr id="7" name="TextBox 6"/>
          <p:cNvSpPr txBox="1"/>
          <p:nvPr/>
        </p:nvSpPr>
        <p:spPr>
          <a:xfrm>
            <a:off x="932688" y="3200400"/>
            <a:ext cx="10058400" cy="292608"/>
          </a:xfrm>
          <a:prstGeom prst="rect">
            <a:avLst/>
          </a:prstGeom>
          <a:noFill/>
        </p:spPr>
        <p:txBody>
          <a:bodyPr wrap="square" lIns="0" rIns="0" tIns="0" bIns="0">
            <a:spAutoFit/>
          </a:bodyPr>
          <a:lstStyle/>
          <a:p>
            <a:pPr>
              <a:spcBef>
                <a:spcPts val="0"/>
              </a:spcBef>
              <a:spcAft>
                <a:spcPts val="300"/>
              </a:spcAft>
              <a:defRPr sz="1600" b="0">
                <a:solidFill>
                  <a:srgbClr val="4A4E54"/>
                </a:solidFill>
                <a:latin typeface="Arial"/>
              </a:defRPr>
            </a:pPr>
            <a:r>
              <a:rPr b="0">
                <a:solidFill>
                  <a:srgbClr val="D9CEC5"/>
                </a:solidFill>
                <a:latin typeface="Arial"/>
              </a:rPr>
              <a:t>9:00 AM–10:15 AM  •  Math Review  •  75 min</a:t>
            </a:r>
          </a:p>
        </p:txBody>
      </p:sp>
      <p:sp>
        <p:nvSpPr>
          <p:cNvPr id="8" name="TextBox 7"/>
          <p:cNvSpPr txBox="1"/>
          <p:nvPr/>
        </p:nvSpPr>
        <p:spPr>
          <a:xfrm>
            <a:off x="932688" y="3840480"/>
            <a:ext cx="10287000" cy="384048"/>
          </a:xfrm>
          <a:prstGeom prst="rect">
            <a:avLst/>
          </a:prstGeom>
          <a:noFill/>
        </p:spPr>
        <p:txBody>
          <a:bodyPr wrap="square" lIns="0" rIns="0" tIns="0" bIns="0">
            <a:spAutoFit/>
          </a:bodyPr>
          <a:lstStyle/>
          <a:p>
            <a:pPr>
              <a:spcBef>
                <a:spcPts val="0"/>
              </a:spcBef>
              <a:spcAft>
                <a:spcPts val="300"/>
              </a:spcAft>
              <a:defRPr sz="2400" b="1">
                <a:solidFill>
                  <a:srgbClr val="1A1A1A"/>
                </a:solidFill>
                <a:latin typeface="Arial"/>
              </a:defRPr>
            </a:pPr>
            <a:r>
              <a:rPr b="1">
                <a:solidFill>
                  <a:srgbClr val="FFFFFF"/>
                </a:solidFill>
                <a:latin typeface="Arial"/>
              </a:rPr>
              <a:t>Review: geometry and job problems</a:t>
            </a:r>
          </a:p>
        </p:txBody>
      </p:sp>
      <p:sp>
        <p:nvSpPr>
          <p:cNvPr id="9" name="TextBox 8"/>
          <p:cNvSpPr txBox="1"/>
          <p:nvPr/>
        </p:nvSpPr>
        <p:spPr>
          <a:xfrm>
            <a:off x="932688" y="4297680"/>
            <a:ext cx="10058400" cy="292608"/>
          </a:xfrm>
          <a:prstGeom prst="rect">
            <a:avLst/>
          </a:prstGeom>
          <a:noFill/>
        </p:spPr>
        <p:txBody>
          <a:bodyPr wrap="square" lIns="0" rIns="0" tIns="0" bIns="0">
            <a:spAutoFit/>
          </a:bodyPr>
          <a:lstStyle/>
          <a:p>
            <a:pPr>
              <a:spcBef>
                <a:spcPts val="0"/>
              </a:spcBef>
              <a:spcAft>
                <a:spcPts val="300"/>
              </a:spcAft>
              <a:defRPr sz="1600" b="0">
                <a:solidFill>
                  <a:srgbClr val="4A4E54"/>
                </a:solidFill>
                <a:latin typeface="Arial"/>
              </a:defRPr>
            </a:pPr>
            <a:r>
              <a:rPr b="0">
                <a:solidFill>
                  <a:srgbClr val="D9CEC5"/>
                </a:solidFill>
                <a:latin typeface="Arial"/>
              </a:rPr>
              <a:t>10:30 AM–12:00 PM  •  Math Review  •  90 min</a:t>
            </a:r>
          </a:p>
        </p:txBody>
      </p:sp>
      <p:sp>
        <p:nvSpPr>
          <p:cNvPr id="10" name="TextBox 9"/>
          <p:cNvSpPr txBox="1"/>
          <p:nvPr/>
        </p:nvSpPr>
        <p:spPr>
          <a:xfrm>
            <a:off x="612648" y="5440680"/>
            <a:ext cx="10881360" cy="411480"/>
          </a:xfrm>
          <a:prstGeom prst="rect">
            <a:avLst/>
          </a:prstGeom>
          <a:noFill/>
        </p:spPr>
        <p:txBody>
          <a:bodyPr wrap="square" lIns="0" rIns="0" tIns="0" bIns="0">
            <a:spAutoFit/>
          </a:bodyPr>
          <a:lstStyle/>
          <a:p>
            <a:pPr>
              <a:spcBef>
                <a:spcPts val="0"/>
              </a:spcBef>
              <a:spcAft>
                <a:spcPts val="300"/>
              </a:spcAft>
              <a:defRPr sz="1800" b="1">
                <a:solidFill>
                  <a:srgbClr val="D2181F"/>
                </a:solidFill>
                <a:latin typeface="Arial"/>
              </a:defRPr>
            </a:pPr>
            <a:r>
              <a:rPr>
                <a:solidFill>
                  <a:srgbClr val="F7F4F1"/>
                </a:solidFill>
                <a:latin typeface="Arial"/>
              </a:rPr>
              <a:t>Week 8  •  2 scheduled blocks  •  165 teaching minutes</a:t>
            </a:r>
          </a:p>
        </p:txBody>
      </p:sp>
      <p:sp>
        <p:nvSpPr>
          <p:cNvPr id="11" name="TextBox 10"/>
          <p:cNvSpPr txBox="1"/>
          <p:nvPr/>
        </p:nvSpPr>
        <p:spPr>
          <a:xfrm>
            <a:off x="612648" y="5943600"/>
            <a:ext cx="10881360" cy="274320"/>
          </a:xfrm>
          <a:prstGeom prst="rect">
            <a:avLst/>
          </a:prstGeom>
          <a:noFill/>
        </p:spPr>
        <p:txBody>
          <a:bodyPr wrap="square" lIns="0" rIns="0" tIns="0" bIns="0">
            <a:spAutoFit/>
          </a:bodyPr>
          <a:lstStyle/>
          <a:p>
            <a:pPr>
              <a:spcBef>
                <a:spcPts val="0"/>
              </a:spcBef>
              <a:spcAft>
                <a:spcPts val="300"/>
              </a:spcAft>
              <a:defRPr sz="1700" b="0">
                <a:solidFill>
                  <a:srgbClr val="4A4E54"/>
                </a:solidFill>
                <a:latin typeface="Arial"/>
              </a:defRPr>
            </a:pPr>
            <a:r>
              <a:rPr>
                <a:solidFill>
                  <a:srgbClr val="F7F4F1"/>
                </a:solidFill>
                <a:latin typeface="Arial"/>
              </a:rPr>
              <a:t>Estimate. Show the method. Label units. Check the result.</a:t>
            </a:r>
          </a:p>
        </p:txBody>
      </p:sp>
      <p:pic>
        <p:nvPicPr>
          <p:cNvPr id="12" name="Picture 11"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4" name="TextBox 13"/>
          <p:cNvSpPr txBox="1"/>
          <p:nvPr/>
        </p:nvSpPr>
        <p:spPr>
          <a:xfrm>
            <a:off x="612648" y="6620256"/>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4"/>
              </a:rPr>
              <a:t>Textbook</a:t>
            </a:r>
          </a:p>
        </p:txBody>
      </p:sp>
      <p:sp>
        <p:nvSpPr>
          <p:cNvPr id="15" name="TextBox 14"/>
          <p:cNvSpPr txBox="1"/>
          <p:nvPr/>
        </p:nvSpPr>
        <p:spPr>
          <a:xfrm>
            <a:off x="1691640" y="6620256"/>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5"/>
              </a:rPr>
              <a:t>Exercise Book</a:t>
            </a:r>
          </a:p>
        </p:txBody>
      </p:sp>
      <p:sp>
        <p:nvSpPr>
          <p:cNvPr id="16" name="TextBox 15"/>
          <p:cNvSpPr txBox="1"/>
          <p:nvPr/>
        </p:nvSpPr>
        <p:spPr>
          <a:xfrm>
            <a:off x="3136392" y="6620256"/>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6"/>
              </a:rPr>
              <a:t>Numeracy Hub</a:t>
            </a:r>
          </a:p>
        </p:txBody>
      </p:sp>
      <p:sp>
        <p:nvSpPr>
          <p:cNvPr id="17" name="TextBox 16"/>
          <p:cNvSpPr txBox="1"/>
          <p:nvPr/>
        </p:nvSpPr>
        <p:spPr>
          <a:xfrm>
            <a:off x="4736592" y="6620256"/>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7"/>
              </a:rPr>
              <a:t>Shape Canvas</a:t>
            </a:r>
          </a:p>
        </p:txBody>
      </p:sp>
      <p:sp>
        <p:nvSpPr>
          <p:cNvPr id="18" name="TextBox 17"/>
          <p:cNvSpPr txBox="1"/>
          <p:nvPr/>
        </p:nvSpPr>
        <p:spPr>
          <a:xfrm>
            <a:off x="8412480" y="6620256"/>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sz="850">
                <a:solidFill>
                  <a:srgbClr val="F7F4F1"/>
                </a:solidFill>
                <a:latin typeface="Arial"/>
              </a:rPr>
              <a:t>Day 25  •  2026-12-14  •  01</a:t>
            </a:r>
          </a:p>
        </p:txBody>
      </p:sp>
      <p:sp>
        <p:nvSpPr>
          <p:cNvPr id="36" name="TextBox 35"/>
          <p:cNvSpPr txBox="1"/>
          <p:nvPr/>
        </p:nvSpPr>
        <p:spPr>
          <a:xfrm>
            <a:off x="9491472" y="1033271"/>
            <a:ext cx="2423160" cy="1481328"/>
          </a:xfrm>
          <a:prstGeom prst="rect">
            <a:avLst/>
          </a:prstGeom>
          <a:noFill/>
        </p:spPr>
        <p:txBody>
          <a:bodyPr wrap="none">
            <a:spAutoFit/>
          </a:bodyPr>
          <a:lstStyle/>
          <a:p>
            <a:r>
              <a:rPr b="1" sz="10000">
                <a:solidFill>
                  <a:srgbClr val="FFFFFF"/>
                </a:solidFill>
                <a:latin typeface="Arial"/>
              </a:rPr>
              <a:t>25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7F4F1"/>
        </a:solidFill>
        <a:effectLst/>
      </p:bgPr>
    </p:bg>
    <p:spTree>
      <p:nvGrpSpPr>
        <p:cNvPr id="1" name=""/>
        <p:cNvGrpSpPr/>
        <p:nvPr/>
      </p:nvGrpSpPr>
      <p:grpSpPr/>
      <p:sp>
        <p:nvSpPr>
          <p:cNvPr id="60" name="Rectangle 59"/>
          <p:cNvSpPr/>
          <p:nvPr/>
        </p:nvSpPr>
        <p:spPr>
          <a:xfrm>
            <a:off x="0" y="6528816"/>
            <a:ext cx="12191695" cy="329184"/>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Rectangle 60"/>
          <p:cNvSpPr/>
          <p:nvPr/>
        </p:nvSpPr>
        <p:spPr>
          <a:xfrm>
            <a:off x="0" y="0"/>
            <a:ext cx="12191695" cy="1645920"/>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Rounded Rectangle 63"/>
          <p:cNvSpPr/>
          <p:nvPr/>
        </p:nvSpPr>
        <p:spPr>
          <a:xfrm>
            <a:off x="10104120" y="114300"/>
            <a:ext cx="1517904" cy="753153"/>
          </a:xfrm>
          <a:prstGeom prst="roundRect">
            <a:avLst>
              <a:gd name="adj" fmla="val 8000"/>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Rounded Rectangle 64"/>
          <p:cNvSpPr/>
          <p:nvPr/>
        </p:nvSpPr>
        <p:spPr>
          <a:xfrm>
            <a:off x="466344" y="1773936"/>
            <a:ext cx="5486400" cy="4169663"/>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Rectangle 66"/>
          <p:cNvSpPr/>
          <p:nvPr/>
        </p:nvSpPr>
        <p:spPr>
          <a:xfrm>
            <a:off x="594360" y="2788920"/>
            <a:ext cx="5230368" cy="338328"/>
          </a:xfrm>
          <a:prstGeom prst="rect">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Rectangle 67"/>
          <p:cNvSpPr/>
          <p:nvPr/>
        </p:nvSpPr>
        <p:spPr>
          <a:xfrm>
            <a:off x="594360" y="3502152"/>
            <a:ext cx="5230368" cy="338328"/>
          </a:xfrm>
          <a:prstGeom prst="rect">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Rectangle 68"/>
          <p:cNvSpPr/>
          <p:nvPr/>
        </p:nvSpPr>
        <p:spPr>
          <a:xfrm>
            <a:off x="594360" y="4215383"/>
            <a:ext cx="5230368" cy="338328"/>
          </a:xfrm>
          <a:prstGeom prst="rect">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Rectangle 69"/>
          <p:cNvSpPr/>
          <p:nvPr/>
        </p:nvSpPr>
        <p:spPr>
          <a:xfrm>
            <a:off x="594360" y="4928616"/>
            <a:ext cx="5230368" cy="338328"/>
          </a:xfrm>
          <a:prstGeom prst="rect">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Rounded Rectangle 70"/>
          <p:cNvSpPr/>
          <p:nvPr/>
        </p:nvSpPr>
        <p:spPr>
          <a:xfrm>
            <a:off x="6089904" y="1773936"/>
            <a:ext cx="5486400" cy="4169663"/>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Rectangle 72"/>
          <p:cNvSpPr/>
          <p:nvPr/>
        </p:nvSpPr>
        <p:spPr>
          <a:xfrm>
            <a:off x="6217920" y="2788920"/>
            <a:ext cx="5230368" cy="338328"/>
          </a:xfrm>
          <a:prstGeom prst="rect">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Rectangle 73"/>
          <p:cNvSpPr/>
          <p:nvPr/>
        </p:nvSpPr>
        <p:spPr>
          <a:xfrm>
            <a:off x="6217920" y="3502152"/>
            <a:ext cx="5230368" cy="338328"/>
          </a:xfrm>
          <a:prstGeom prst="rect">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Rectangle 74"/>
          <p:cNvSpPr/>
          <p:nvPr/>
        </p:nvSpPr>
        <p:spPr>
          <a:xfrm>
            <a:off x="6217920" y="4215383"/>
            <a:ext cx="5230368" cy="338328"/>
          </a:xfrm>
          <a:prstGeom prst="rect">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Rectangle 75"/>
          <p:cNvSpPr/>
          <p:nvPr/>
        </p:nvSpPr>
        <p:spPr>
          <a:xfrm>
            <a:off x="6217920" y="4928616"/>
            <a:ext cx="5230368" cy="338328"/>
          </a:xfrm>
          <a:prstGeom prst="rect">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Rounded Rectangle 76"/>
          <p:cNvSpPr/>
          <p:nvPr/>
        </p:nvSpPr>
        <p:spPr>
          <a:xfrm>
            <a:off x="521208" y="5993892"/>
            <a:ext cx="11109959" cy="438912"/>
          </a:xfrm>
          <a:prstGeom prst="roundRect">
            <a:avLst>
              <a:gd name="adj" fmla="val 8000"/>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57200"/>
            <a:ext cx="9418320" cy="228600"/>
          </a:xfrm>
          <a:prstGeom prst="rect">
            <a:avLst/>
          </a:prstGeom>
          <a:noFill/>
        </p:spPr>
        <p:txBody>
          <a:bodyPr wrap="square" lIns="0" rIns="0" tIns="0" bIns="0">
            <a:spAutoFit/>
          </a:bodyPr>
          <a:lstStyle/>
          <a:p>
            <a:pPr>
              <a:spcBef>
                <a:spcPts val="0"/>
              </a:spcBef>
              <a:spcAft>
                <a:spcPts val="300"/>
              </a:spcAft>
              <a:defRPr sz="1200" b="1">
                <a:solidFill>
                  <a:srgbClr val="D2181F"/>
                </a:solidFill>
                <a:latin typeface="Arial"/>
              </a:defRPr>
            </a:pPr>
            <a:r>
              <a:rPr>
                <a:solidFill>
                  <a:srgbClr val="FFFFFF"/>
                </a:solidFill>
                <a:latin typeface="Arial"/>
              </a:rPr>
              <a:t>DAY 25  /  WEEK 8  /  CLASS TIMETABLE</a:t>
            </a:r>
          </a:p>
        </p:txBody>
      </p:sp>
      <p:sp>
        <p:nvSpPr>
          <p:cNvPr id="3" name="TextBox 2"/>
          <p:cNvSpPr txBox="1"/>
          <p:nvPr/>
        </p:nvSpPr>
        <p:spPr>
          <a:xfrm>
            <a:off x="612648" y="877824"/>
            <a:ext cx="10972800" cy="502920"/>
          </a:xfrm>
          <a:prstGeom prst="rect">
            <a:avLst/>
          </a:prstGeom>
          <a:noFill/>
        </p:spPr>
        <p:txBody>
          <a:bodyPr wrap="square" lIns="0" rIns="0" tIns="0" bIns="0">
            <a:spAutoFit/>
          </a:bodyPr>
          <a:lstStyle/>
          <a:p>
            <a:pPr>
              <a:spcBef>
                <a:spcPts val="0"/>
              </a:spcBef>
              <a:spcAft>
                <a:spcPts val="300"/>
              </a:spcAft>
              <a:defRPr sz="3000" b="1">
                <a:solidFill>
                  <a:srgbClr val="1A1A1A"/>
                </a:solidFill>
                <a:latin typeface="Arial"/>
              </a:defRPr>
            </a:pPr>
            <a:r>
              <a:rPr b="1">
                <a:solidFill>
                  <a:srgbClr val="FFFFFF"/>
                </a:solidFill>
                <a:latin typeface="Arial"/>
              </a:rPr>
              <a:t>Today’s exact schedule</a:t>
            </a:r>
          </a:p>
        </p:txBody>
      </p:sp>
      <p:sp>
        <p:nvSpPr>
          <p:cNvPr id="4" name="TextBox 3"/>
          <p:cNvSpPr txBox="1"/>
          <p:nvPr/>
        </p:nvSpPr>
        <p:spPr>
          <a:xfrm>
            <a:off x="612648" y="1627632"/>
            <a:ext cx="5349240" cy="320040"/>
          </a:xfrm>
          <a:prstGeom prst="rect">
            <a:avLst/>
          </a:prstGeom>
          <a:noFill/>
        </p:spPr>
        <p:txBody>
          <a:bodyPr wrap="square" lIns="0" rIns="0" tIns="0" bIns="0">
            <a:spAutoFit/>
          </a:bodyPr>
          <a:lstStyle/>
          <a:p>
            <a:pPr>
              <a:spcBef>
                <a:spcPts val="0"/>
              </a:spcBef>
              <a:spcAft>
                <a:spcPts val="300"/>
              </a:spcAft>
              <a:defRPr sz="2100" b="1">
                <a:solidFill>
                  <a:srgbClr val="D2181F"/>
                </a:solidFill>
                <a:latin typeface="Arial"/>
              </a:defRPr>
            </a:pPr>
            <a:r>
              <a:rPr b="1">
                <a:solidFill>
                  <a:srgbClr val="5A1018"/>
                </a:solidFill>
                <a:latin typeface="Arial"/>
              </a:rPr>
              <a:t>9:00 AM–10:15 AM  •  75 min</a:t>
            </a:r>
          </a:p>
        </p:txBody>
      </p:sp>
      <p:sp>
        <p:nvSpPr>
          <p:cNvPr id="5" name="TextBox 4"/>
          <p:cNvSpPr txBox="1"/>
          <p:nvPr/>
        </p:nvSpPr>
        <p:spPr>
          <a:xfrm>
            <a:off x="612648" y="2048256"/>
            <a:ext cx="5349240" cy="640080"/>
          </a:xfrm>
          <a:prstGeom prst="rect">
            <a:avLst/>
          </a:prstGeom>
          <a:noFill/>
        </p:spPr>
        <p:txBody>
          <a:bodyPr wrap="square" lIns="0" rIns="0" tIns="0" bIns="0">
            <a:spAutoFit/>
          </a:bodyPr>
          <a:lstStyle/>
          <a:p>
            <a:pPr>
              <a:spcBef>
                <a:spcPts val="0"/>
              </a:spcBef>
              <a:spcAft>
                <a:spcPts val="300"/>
              </a:spcAft>
              <a:defRPr sz="1900" b="1">
                <a:solidFill>
                  <a:srgbClr val="1A1A1A"/>
                </a:solidFill>
                <a:latin typeface="Arial"/>
              </a:defRPr>
            </a:pPr>
            <a:r>
              <a:rPr b="1">
                <a:solidFill>
                  <a:srgbClr val="5A1018"/>
                </a:solidFill>
                <a:latin typeface="Arial"/>
              </a:rPr>
              <a:t>Review: numbers, units and formulas</a:t>
            </a:r>
          </a:p>
        </p:txBody>
      </p:sp>
      <p:sp>
        <p:nvSpPr>
          <p:cNvPr id="6" name="TextBox 5"/>
          <p:cNvSpPr txBox="1"/>
          <p:nvPr/>
        </p:nvSpPr>
        <p:spPr>
          <a:xfrm>
            <a:off x="612648" y="2852928"/>
            <a:ext cx="2194560" cy="256032"/>
          </a:xfrm>
          <a:prstGeom prst="rect">
            <a:avLst/>
          </a:prstGeom>
          <a:noFill/>
        </p:spPr>
        <p:txBody>
          <a:bodyPr wrap="square" lIns="0" rIns="0" tIns="0" bIns="0">
            <a:spAutoFit/>
          </a:bodyPr>
          <a:lstStyle/>
          <a:p>
            <a:pPr>
              <a:spcBef>
                <a:spcPts val="0"/>
              </a:spcBef>
              <a:spcAft>
                <a:spcPts val="300"/>
              </a:spcAft>
              <a:defRPr sz="1300" b="0">
                <a:solidFill>
                  <a:srgbClr val="4A4E54"/>
                </a:solidFill>
                <a:latin typeface="Arial"/>
              </a:defRPr>
            </a:pPr>
            <a:r>
              <a:rPr>
                <a:solidFill>
                  <a:srgbClr val="201C19"/>
                </a:solidFill>
                <a:latin typeface="Arial"/>
              </a:rPr>
              <a:t>9:00 AM–9:05 AM</a:t>
            </a:r>
          </a:p>
        </p:txBody>
      </p:sp>
      <p:sp>
        <p:nvSpPr>
          <p:cNvPr id="7" name="TextBox 6"/>
          <p:cNvSpPr txBox="1"/>
          <p:nvPr/>
        </p:nvSpPr>
        <p:spPr>
          <a:xfrm>
            <a:off x="2898648" y="2852928"/>
            <a:ext cx="2514600" cy="274320"/>
          </a:xfrm>
          <a:prstGeom prst="rect">
            <a:avLst/>
          </a:prstGeom>
          <a:noFill/>
        </p:spPr>
        <p:txBody>
          <a:bodyPr wrap="square" lIns="0" rIns="0" tIns="0" bIns="0">
            <a:spAutoFit/>
          </a:bodyPr>
          <a:lstStyle/>
          <a:p>
            <a:pPr>
              <a:spcBef>
                <a:spcPts val="0"/>
              </a:spcBef>
              <a:spcAft>
                <a:spcPts val="300"/>
              </a:spcAft>
              <a:defRPr sz="1500" b="1">
                <a:solidFill>
                  <a:srgbClr val="1A1A1A"/>
                </a:solidFill>
                <a:latin typeface="Arial"/>
              </a:defRPr>
            </a:pPr>
            <a:r>
              <a:rPr>
                <a:solidFill>
                  <a:srgbClr val="201C19"/>
                </a:solidFill>
                <a:latin typeface="Arial"/>
              </a:rPr>
              <a:t>Start</a:t>
            </a:r>
          </a:p>
        </p:txBody>
      </p:sp>
      <p:sp>
        <p:nvSpPr>
          <p:cNvPr id="8" name="TextBox 7"/>
          <p:cNvSpPr txBox="1"/>
          <p:nvPr/>
        </p:nvSpPr>
        <p:spPr>
          <a:xfrm>
            <a:off x="5367528" y="2852928"/>
            <a:ext cx="548640" cy="274320"/>
          </a:xfrm>
          <a:prstGeom prst="rect">
            <a:avLst/>
          </a:prstGeom>
          <a:noFill/>
        </p:spPr>
        <p:txBody>
          <a:bodyPr wrap="square" lIns="0" rIns="0" tIns="0" bIns="0">
            <a:spAutoFit/>
          </a:bodyPr>
          <a:lstStyle/>
          <a:p>
            <a:pPr>
              <a:spcBef>
                <a:spcPts val="0"/>
              </a:spcBef>
              <a:spcAft>
                <a:spcPts val="300"/>
              </a:spcAft>
              <a:defRPr sz="1400" b="0">
                <a:solidFill>
                  <a:srgbClr val="D2181F"/>
                </a:solidFill>
                <a:latin typeface="Arial"/>
              </a:defRPr>
            </a:pPr>
            <a:r>
              <a:rPr>
                <a:solidFill>
                  <a:srgbClr val="201C19"/>
                </a:solidFill>
                <a:latin typeface="Arial"/>
              </a:rPr>
              <a:t>5</a:t>
            </a:r>
          </a:p>
        </p:txBody>
      </p:sp>
      <p:sp>
        <p:nvSpPr>
          <p:cNvPr id="9" name="TextBox 8"/>
          <p:cNvSpPr txBox="1"/>
          <p:nvPr/>
        </p:nvSpPr>
        <p:spPr>
          <a:xfrm>
            <a:off x="612648" y="3209544"/>
            <a:ext cx="2194560" cy="256032"/>
          </a:xfrm>
          <a:prstGeom prst="rect">
            <a:avLst/>
          </a:prstGeom>
          <a:noFill/>
        </p:spPr>
        <p:txBody>
          <a:bodyPr wrap="square" lIns="0" rIns="0" tIns="0" bIns="0">
            <a:spAutoFit/>
          </a:bodyPr>
          <a:lstStyle/>
          <a:p>
            <a:pPr>
              <a:spcBef>
                <a:spcPts val="0"/>
              </a:spcBef>
              <a:spcAft>
                <a:spcPts val="300"/>
              </a:spcAft>
              <a:defRPr sz="1300" b="0">
                <a:solidFill>
                  <a:srgbClr val="4A4E54"/>
                </a:solidFill>
                <a:latin typeface="Arial"/>
              </a:defRPr>
            </a:pPr>
            <a:r>
              <a:rPr>
                <a:solidFill>
                  <a:srgbClr val="201C19"/>
                </a:solidFill>
                <a:latin typeface="Arial"/>
              </a:rPr>
              <a:t>9:05 AM–9:10 AM</a:t>
            </a:r>
          </a:p>
        </p:txBody>
      </p:sp>
      <p:sp>
        <p:nvSpPr>
          <p:cNvPr id="10" name="TextBox 9"/>
          <p:cNvSpPr txBox="1"/>
          <p:nvPr/>
        </p:nvSpPr>
        <p:spPr>
          <a:xfrm>
            <a:off x="2898648" y="3209544"/>
            <a:ext cx="2514600" cy="274320"/>
          </a:xfrm>
          <a:prstGeom prst="rect">
            <a:avLst/>
          </a:prstGeom>
          <a:noFill/>
        </p:spPr>
        <p:txBody>
          <a:bodyPr wrap="square" lIns="0" rIns="0" tIns="0" bIns="0">
            <a:spAutoFit/>
          </a:bodyPr>
          <a:lstStyle/>
          <a:p>
            <a:pPr>
              <a:spcBef>
                <a:spcPts val="0"/>
              </a:spcBef>
              <a:spcAft>
                <a:spcPts val="300"/>
              </a:spcAft>
              <a:defRPr sz="1500" b="1">
                <a:solidFill>
                  <a:srgbClr val="1A1A1A"/>
                </a:solidFill>
                <a:latin typeface="Arial"/>
              </a:defRPr>
            </a:pPr>
            <a:r>
              <a:rPr>
                <a:solidFill>
                  <a:srgbClr val="201C19"/>
                </a:solidFill>
                <a:latin typeface="Arial"/>
              </a:rPr>
              <a:t>Recall</a:t>
            </a:r>
          </a:p>
        </p:txBody>
      </p:sp>
      <p:sp>
        <p:nvSpPr>
          <p:cNvPr id="11" name="TextBox 10"/>
          <p:cNvSpPr txBox="1"/>
          <p:nvPr/>
        </p:nvSpPr>
        <p:spPr>
          <a:xfrm>
            <a:off x="5367528" y="3209544"/>
            <a:ext cx="548640" cy="274320"/>
          </a:xfrm>
          <a:prstGeom prst="rect">
            <a:avLst/>
          </a:prstGeom>
          <a:noFill/>
        </p:spPr>
        <p:txBody>
          <a:bodyPr wrap="square" lIns="0" rIns="0" tIns="0" bIns="0">
            <a:spAutoFit/>
          </a:bodyPr>
          <a:lstStyle/>
          <a:p>
            <a:pPr>
              <a:spcBef>
                <a:spcPts val="0"/>
              </a:spcBef>
              <a:spcAft>
                <a:spcPts val="300"/>
              </a:spcAft>
              <a:defRPr sz="1400" b="0">
                <a:solidFill>
                  <a:srgbClr val="D2181F"/>
                </a:solidFill>
                <a:latin typeface="Arial"/>
              </a:defRPr>
            </a:pPr>
            <a:r>
              <a:rPr>
                <a:solidFill>
                  <a:srgbClr val="201C19"/>
                </a:solidFill>
                <a:latin typeface="Arial"/>
              </a:rPr>
              <a:t>5</a:t>
            </a:r>
          </a:p>
        </p:txBody>
      </p:sp>
      <p:sp>
        <p:nvSpPr>
          <p:cNvPr id="12" name="TextBox 11"/>
          <p:cNvSpPr txBox="1"/>
          <p:nvPr/>
        </p:nvSpPr>
        <p:spPr>
          <a:xfrm>
            <a:off x="612648" y="3566160"/>
            <a:ext cx="2194560" cy="256032"/>
          </a:xfrm>
          <a:prstGeom prst="rect">
            <a:avLst/>
          </a:prstGeom>
          <a:noFill/>
        </p:spPr>
        <p:txBody>
          <a:bodyPr wrap="square" lIns="0" rIns="0" tIns="0" bIns="0">
            <a:spAutoFit/>
          </a:bodyPr>
          <a:lstStyle/>
          <a:p>
            <a:pPr>
              <a:spcBef>
                <a:spcPts val="0"/>
              </a:spcBef>
              <a:spcAft>
                <a:spcPts val="300"/>
              </a:spcAft>
              <a:defRPr sz="1300" b="0">
                <a:solidFill>
                  <a:srgbClr val="4A4E54"/>
                </a:solidFill>
                <a:latin typeface="Arial"/>
              </a:defRPr>
            </a:pPr>
            <a:r>
              <a:rPr>
                <a:solidFill>
                  <a:srgbClr val="201C19"/>
                </a:solidFill>
                <a:latin typeface="Arial"/>
              </a:rPr>
              <a:t>9:10 AM–9:25 AM</a:t>
            </a:r>
          </a:p>
        </p:txBody>
      </p:sp>
      <p:sp>
        <p:nvSpPr>
          <p:cNvPr id="13" name="TextBox 12"/>
          <p:cNvSpPr txBox="1"/>
          <p:nvPr/>
        </p:nvSpPr>
        <p:spPr>
          <a:xfrm>
            <a:off x="2898648" y="3566160"/>
            <a:ext cx="2514600" cy="274320"/>
          </a:xfrm>
          <a:prstGeom prst="rect">
            <a:avLst/>
          </a:prstGeom>
          <a:noFill/>
        </p:spPr>
        <p:txBody>
          <a:bodyPr wrap="square" lIns="0" rIns="0" tIns="0" bIns="0">
            <a:spAutoFit/>
          </a:bodyPr>
          <a:lstStyle/>
          <a:p>
            <a:pPr>
              <a:spcBef>
                <a:spcPts val="0"/>
              </a:spcBef>
              <a:spcAft>
                <a:spcPts val="300"/>
              </a:spcAft>
              <a:defRPr sz="1500" b="1">
                <a:solidFill>
                  <a:srgbClr val="1A1A1A"/>
                </a:solidFill>
                <a:latin typeface="Arial"/>
              </a:defRPr>
            </a:pPr>
            <a:r>
              <a:rPr>
                <a:solidFill>
                  <a:srgbClr val="201C19"/>
                </a:solidFill>
                <a:latin typeface="Arial"/>
              </a:rPr>
              <a:t>Teach</a:t>
            </a:r>
          </a:p>
        </p:txBody>
      </p:sp>
      <p:sp>
        <p:nvSpPr>
          <p:cNvPr id="14" name="TextBox 13"/>
          <p:cNvSpPr txBox="1"/>
          <p:nvPr/>
        </p:nvSpPr>
        <p:spPr>
          <a:xfrm>
            <a:off x="5367528" y="3566160"/>
            <a:ext cx="548640" cy="274320"/>
          </a:xfrm>
          <a:prstGeom prst="rect">
            <a:avLst/>
          </a:prstGeom>
          <a:noFill/>
        </p:spPr>
        <p:txBody>
          <a:bodyPr wrap="square" lIns="0" rIns="0" tIns="0" bIns="0">
            <a:spAutoFit/>
          </a:bodyPr>
          <a:lstStyle/>
          <a:p>
            <a:pPr>
              <a:spcBef>
                <a:spcPts val="0"/>
              </a:spcBef>
              <a:spcAft>
                <a:spcPts val="300"/>
              </a:spcAft>
              <a:defRPr sz="1400" b="0">
                <a:solidFill>
                  <a:srgbClr val="D2181F"/>
                </a:solidFill>
                <a:latin typeface="Arial"/>
              </a:defRPr>
            </a:pPr>
            <a:r>
              <a:rPr>
                <a:solidFill>
                  <a:srgbClr val="201C19"/>
                </a:solidFill>
                <a:latin typeface="Arial"/>
              </a:rPr>
              <a:t>15</a:t>
            </a:r>
          </a:p>
        </p:txBody>
      </p:sp>
      <p:sp>
        <p:nvSpPr>
          <p:cNvPr id="15" name="TextBox 14"/>
          <p:cNvSpPr txBox="1"/>
          <p:nvPr/>
        </p:nvSpPr>
        <p:spPr>
          <a:xfrm>
            <a:off x="612648" y="3922776"/>
            <a:ext cx="2194560" cy="256032"/>
          </a:xfrm>
          <a:prstGeom prst="rect">
            <a:avLst/>
          </a:prstGeom>
          <a:noFill/>
        </p:spPr>
        <p:txBody>
          <a:bodyPr wrap="square" lIns="0" rIns="0" tIns="0" bIns="0">
            <a:spAutoFit/>
          </a:bodyPr>
          <a:lstStyle/>
          <a:p>
            <a:pPr>
              <a:spcBef>
                <a:spcPts val="0"/>
              </a:spcBef>
              <a:spcAft>
                <a:spcPts val="300"/>
              </a:spcAft>
              <a:defRPr sz="1300" b="0">
                <a:solidFill>
                  <a:srgbClr val="4A4E54"/>
                </a:solidFill>
                <a:latin typeface="Arial"/>
              </a:defRPr>
            </a:pPr>
            <a:r>
              <a:rPr>
                <a:solidFill>
                  <a:srgbClr val="201C19"/>
                </a:solidFill>
                <a:latin typeface="Arial"/>
              </a:rPr>
              <a:t>9:25 AM–9:40 AM</a:t>
            </a:r>
          </a:p>
        </p:txBody>
      </p:sp>
      <p:sp>
        <p:nvSpPr>
          <p:cNvPr id="16" name="TextBox 15"/>
          <p:cNvSpPr txBox="1"/>
          <p:nvPr/>
        </p:nvSpPr>
        <p:spPr>
          <a:xfrm>
            <a:off x="2898648" y="3922776"/>
            <a:ext cx="2514600" cy="274320"/>
          </a:xfrm>
          <a:prstGeom prst="rect">
            <a:avLst/>
          </a:prstGeom>
          <a:noFill/>
        </p:spPr>
        <p:txBody>
          <a:bodyPr wrap="square" lIns="0" rIns="0" tIns="0" bIns="0">
            <a:spAutoFit/>
          </a:bodyPr>
          <a:lstStyle/>
          <a:p>
            <a:pPr>
              <a:spcBef>
                <a:spcPts val="0"/>
              </a:spcBef>
              <a:spcAft>
                <a:spcPts val="300"/>
              </a:spcAft>
              <a:defRPr sz="1500" b="1">
                <a:solidFill>
                  <a:srgbClr val="1A1A1A"/>
                </a:solidFill>
                <a:latin typeface="Arial"/>
              </a:defRPr>
            </a:pPr>
            <a:r>
              <a:rPr>
                <a:solidFill>
                  <a:srgbClr val="201C19"/>
                </a:solidFill>
                <a:latin typeface="Arial"/>
              </a:rPr>
              <a:t>Together</a:t>
            </a:r>
          </a:p>
        </p:txBody>
      </p:sp>
      <p:sp>
        <p:nvSpPr>
          <p:cNvPr id="17" name="TextBox 16"/>
          <p:cNvSpPr txBox="1"/>
          <p:nvPr/>
        </p:nvSpPr>
        <p:spPr>
          <a:xfrm>
            <a:off x="5367528" y="3922776"/>
            <a:ext cx="548640" cy="274320"/>
          </a:xfrm>
          <a:prstGeom prst="rect">
            <a:avLst/>
          </a:prstGeom>
          <a:noFill/>
        </p:spPr>
        <p:txBody>
          <a:bodyPr wrap="square" lIns="0" rIns="0" tIns="0" bIns="0">
            <a:spAutoFit/>
          </a:bodyPr>
          <a:lstStyle/>
          <a:p>
            <a:pPr>
              <a:spcBef>
                <a:spcPts val="0"/>
              </a:spcBef>
              <a:spcAft>
                <a:spcPts val="300"/>
              </a:spcAft>
              <a:defRPr sz="1400" b="0">
                <a:solidFill>
                  <a:srgbClr val="D2181F"/>
                </a:solidFill>
                <a:latin typeface="Arial"/>
              </a:defRPr>
            </a:pPr>
            <a:r>
              <a:rPr>
                <a:solidFill>
                  <a:srgbClr val="201C19"/>
                </a:solidFill>
                <a:latin typeface="Arial"/>
              </a:rPr>
              <a:t>15</a:t>
            </a:r>
          </a:p>
        </p:txBody>
      </p:sp>
      <p:sp>
        <p:nvSpPr>
          <p:cNvPr id="18" name="TextBox 17"/>
          <p:cNvSpPr txBox="1"/>
          <p:nvPr/>
        </p:nvSpPr>
        <p:spPr>
          <a:xfrm>
            <a:off x="612648" y="4279392"/>
            <a:ext cx="2194560" cy="256032"/>
          </a:xfrm>
          <a:prstGeom prst="rect">
            <a:avLst/>
          </a:prstGeom>
          <a:noFill/>
        </p:spPr>
        <p:txBody>
          <a:bodyPr wrap="square" lIns="0" rIns="0" tIns="0" bIns="0">
            <a:spAutoFit/>
          </a:bodyPr>
          <a:lstStyle/>
          <a:p>
            <a:pPr>
              <a:spcBef>
                <a:spcPts val="0"/>
              </a:spcBef>
              <a:spcAft>
                <a:spcPts val="300"/>
              </a:spcAft>
              <a:defRPr sz="1300" b="0">
                <a:solidFill>
                  <a:srgbClr val="4A4E54"/>
                </a:solidFill>
                <a:latin typeface="Arial"/>
              </a:defRPr>
            </a:pPr>
            <a:r>
              <a:rPr>
                <a:solidFill>
                  <a:srgbClr val="201C19"/>
                </a:solidFill>
                <a:latin typeface="Arial"/>
              </a:rPr>
              <a:t>9:40 AM–10:00 AM</a:t>
            </a:r>
          </a:p>
        </p:txBody>
      </p:sp>
      <p:sp>
        <p:nvSpPr>
          <p:cNvPr id="19" name="TextBox 18"/>
          <p:cNvSpPr txBox="1"/>
          <p:nvPr/>
        </p:nvSpPr>
        <p:spPr>
          <a:xfrm>
            <a:off x="2898648" y="4279392"/>
            <a:ext cx="2514600" cy="274320"/>
          </a:xfrm>
          <a:prstGeom prst="rect">
            <a:avLst/>
          </a:prstGeom>
          <a:noFill/>
        </p:spPr>
        <p:txBody>
          <a:bodyPr wrap="square" lIns="0" rIns="0" tIns="0" bIns="0">
            <a:spAutoFit/>
          </a:bodyPr>
          <a:lstStyle/>
          <a:p>
            <a:pPr>
              <a:spcBef>
                <a:spcPts val="0"/>
              </a:spcBef>
              <a:spcAft>
                <a:spcPts val="300"/>
              </a:spcAft>
              <a:defRPr sz="1500" b="1">
                <a:solidFill>
                  <a:srgbClr val="1A1A1A"/>
                </a:solidFill>
                <a:latin typeface="Arial"/>
              </a:defRPr>
            </a:pPr>
            <a:r>
              <a:rPr>
                <a:solidFill>
                  <a:srgbClr val="201C19"/>
                </a:solidFill>
                <a:latin typeface="Arial"/>
              </a:rPr>
              <a:t>Practise</a:t>
            </a:r>
          </a:p>
        </p:txBody>
      </p:sp>
      <p:sp>
        <p:nvSpPr>
          <p:cNvPr id="20" name="TextBox 19"/>
          <p:cNvSpPr txBox="1"/>
          <p:nvPr/>
        </p:nvSpPr>
        <p:spPr>
          <a:xfrm>
            <a:off x="5367528" y="4279392"/>
            <a:ext cx="548640" cy="274320"/>
          </a:xfrm>
          <a:prstGeom prst="rect">
            <a:avLst/>
          </a:prstGeom>
          <a:noFill/>
        </p:spPr>
        <p:txBody>
          <a:bodyPr wrap="square" lIns="0" rIns="0" tIns="0" bIns="0">
            <a:spAutoFit/>
          </a:bodyPr>
          <a:lstStyle/>
          <a:p>
            <a:pPr>
              <a:spcBef>
                <a:spcPts val="0"/>
              </a:spcBef>
              <a:spcAft>
                <a:spcPts val="300"/>
              </a:spcAft>
              <a:defRPr sz="1400" b="0">
                <a:solidFill>
                  <a:srgbClr val="D2181F"/>
                </a:solidFill>
                <a:latin typeface="Arial"/>
              </a:defRPr>
            </a:pPr>
            <a:r>
              <a:rPr>
                <a:solidFill>
                  <a:srgbClr val="201C19"/>
                </a:solidFill>
                <a:latin typeface="Arial"/>
              </a:rPr>
              <a:t>20</a:t>
            </a:r>
          </a:p>
        </p:txBody>
      </p:sp>
      <p:sp>
        <p:nvSpPr>
          <p:cNvPr id="21" name="TextBox 20"/>
          <p:cNvSpPr txBox="1"/>
          <p:nvPr/>
        </p:nvSpPr>
        <p:spPr>
          <a:xfrm>
            <a:off x="612648" y="4636007"/>
            <a:ext cx="2194560" cy="256032"/>
          </a:xfrm>
          <a:prstGeom prst="rect">
            <a:avLst/>
          </a:prstGeom>
          <a:noFill/>
        </p:spPr>
        <p:txBody>
          <a:bodyPr wrap="square" lIns="0" rIns="0" tIns="0" bIns="0">
            <a:spAutoFit/>
          </a:bodyPr>
          <a:lstStyle/>
          <a:p>
            <a:pPr>
              <a:spcBef>
                <a:spcPts val="0"/>
              </a:spcBef>
              <a:spcAft>
                <a:spcPts val="300"/>
              </a:spcAft>
              <a:defRPr sz="1300" b="0">
                <a:solidFill>
                  <a:srgbClr val="4A4E54"/>
                </a:solidFill>
                <a:latin typeface="Arial"/>
              </a:defRPr>
            </a:pPr>
            <a:r>
              <a:rPr>
                <a:solidFill>
                  <a:srgbClr val="201C19"/>
                </a:solidFill>
                <a:latin typeface="Arial"/>
              </a:rPr>
              <a:t>10:00 AM–10:10 AM</a:t>
            </a:r>
          </a:p>
        </p:txBody>
      </p:sp>
      <p:sp>
        <p:nvSpPr>
          <p:cNvPr id="22" name="TextBox 21"/>
          <p:cNvSpPr txBox="1"/>
          <p:nvPr/>
        </p:nvSpPr>
        <p:spPr>
          <a:xfrm>
            <a:off x="2898648" y="4636007"/>
            <a:ext cx="2514600" cy="274320"/>
          </a:xfrm>
          <a:prstGeom prst="rect">
            <a:avLst/>
          </a:prstGeom>
          <a:noFill/>
        </p:spPr>
        <p:txBody>
          <a:bodyPr wrap="square" lIns="0" rIns="0" tIns="0" bIns="0">
            <a:spAutoFit/>
          </a:bodyPr>
          <a:lstStyle/>
          <a:p>
            <a:pPr>
              <a:spcBef>
                <a:spcPts val="0"/>
              </a:spcBef>
              <a:spcAft>
                <a:spcPts val="300"/>
              </a:spcAft>
              <a:defRPr sz="1500" b="1">
                <a:solidFill>
                  <a:srgbClr val="1A1A1A"/>
                </a:solidFill>
                <a:latin typeface="Arial"/>
              </a:defRPr>
            </a:pPr>
            <a:r>
              <a:rPr>
                <a:solidFill>
                  <a:srgbClr val="201C19"/>
                </a:solidFill>
                <a:latin typeface="Arial"/>
              </a:rPr>
              <a:t>Check</a:t>
            </a:r>
          </a:p>
        </p:txBody>
      </p:sp>
      <p:sp>
        <p:nvSpPr>
          <p:cNvPr id="23" name="TextBox 22"/>
          <p:cNvSpPr txBox="1"/>
          <p:nvPr/>
        </p:nvSpPr>
        <p:spPr>
          <a:xfrm>
            <a:off x="5367528" y="4636007"/>
            <a:ext cx="548640" cy="274320"/>
          </a:xfrm>
          <a:prstGeom prst="rect">
            <a:avLst/>
          </a:prstGeom>
          <a:noFill/>
        </p:spPr>
        <p:txBody>
          <a:bodyPr wrap="square" lIns="0" rIns="0" tIns="0" bIns="0">
            <a:spAutoFit/>
          </a:bodyPr>
          <a:lstStyle/>
          <a:p>
            <a:pPr>
              <a:spcBef>
                <a:spcPts val="0"/>
              </a:spcBef>
              <a:spcAft>
                <a:spcPts val="300"/>
              </a:spcAft>
              <a:defRPr sz="1400" b="0">
                <a:solidFill>
                  <a:srgbClr val="D2181F"/>
                </a:solidFill>
                <a:latin typeface="Arial"/>
              </a:defRPr>
            </a:pPr>
            <a:r>
              <a:rPr>
                <a:solidFill>
                  <a:srgbClr val="201C19"/>
                </a:solidFill>
                <a:latin typeface="Arial"/>
              </a:rPr>
              <a:t>10</a:t>
            </a:r>
          </a:p>
        </p:txBody>
      </p:sp>
      <p:sp>
        <p:nvSpPr>
          <p:cNvPr id="24" name="TextBox 23"/>
          <p:cNvSpPr txBox="1"/>
          <p:nvPr/>
        </p:nvSpPr>
        <p:spPr>
          <a:xfrm>
            <a:off x="612648" y="4992623"/>
            <a:ext cx="2194560" cy="256032"/>
          </a:xfrm>
          <a:prstGeom prst="rect">
            <a:avLst/>
          </a:prstGeom>
          <a:noFill/>
        </p:spPr>
        <p:txBody>
          <a:bodyPr wrap="square" lIns="0" rIns="0" tIns="0" bIns="0">
            <a:spAutoFit/>
          </a:bodyPr>
          <a:lstStyle/>
          <a:p>
            <a:pPr>
              <a:spcBef>
                <a:spcPts val="0"/>
              </a:spcBef>
              <a:spcAft>
                <a:spcPts val="300"/>
              </a:spcAft>
              <a:defRPr sz="1300" b="0">
                <a:solidFill>
                  <a:srgbClr val="4A4E54"/>
                </a:solidFill>
                <a:latin typeface="Arial"/>
              </a:defRPr>
            </a:pPr>
            <a:r>
              <a:rPr>
                <a:solidFill>
                  <a:srgbClr val="201C19"/>
                </a:solidFill>
                <a:latin typeface="Arial"/>
              </a:rPr>
              <a:t>10:10 AM–10:15 AM</a:t>
            </a:r>
          </a:p>
        </p:txBody>
      </p:sp>
      <p:sp>
        <p:nvSpPr>
          <p:cNvPr id="25" name="TextBox 24"/>
          <p:cNvSpPr txBox="1"/>
          <p:nvPr/>
        </p:nvSpPr>
        <p:spPr>
          <a:xfrm>
            <a:off x="2898648" y="4992623"/>
            <a:ext cx="2514600" cy="274320"/>
          </a:xfrm>
          <a:prstGeom prst="rect">
            <a:avLst/>
          </a:prstGeom>
          <a:noFill/>
        </p:spPr>
        <p:txBody>
          <a:bodyPr wrap="square" lIns="0" rIns="0" tIns="0" bIns="0">
            <a:spAutoFit/>
          </a:bodyPr>
          <a:lstStyle/>
          <a:p>
            <a:pPr>
              <a:spcBef>
                <a:spcPts val="0"/>
              </a:spcBef>
              <a:spcAft>
                <a:spcPts val="300"/>
              </a:spcAft>
              <a:defRPr sz="1500" b="1">
                <a:solidFill>
                  <a:srgbClr val="1A1A1A"/>
                </a:solidFill>
                <a:latin typeface="Arial"/>
              </a:defRPr>
            </a:pPr>
            <a:r>
              <a:rPr>
                <a:solidFill>
                  <a:srgbClr val="201C19"/>
                </a:solidFill>
                <a:latin typeface="Arial"/>
              </a:rPr>
              <a:t>Wrap up</a:t>
            </a:r>
          </a:p>
        </p:txBody>
      </p:sp>
      <p:sp>
        <p:nvSpPr>
          <p:cNvPr id="26" name="TextBox 25"/>
          <p:cNvSpPr txBox="1"/>
          <p:nvPr/>
        </p:nvSpPr>
        <p:spPr>
          <a:xfrm>
            <a:off x="5367528" y="4992623"/>
            <a:ext cx="548640" cy="274320"/>
          </a:xfrm>
          <a:prstGeom prst="rect">
            <a:avLst/>
          </a:prstGeom>
          <a:noFill/>
        </p:spPr>
        <p:txBody>
          <a:bodyPr wrap="square" lIns="0" rIns="0" tIns="0" bIns="0">
            <a:spAutoFit/>
          </a:bodyPr>
          <a:lstStyle/>
          <a:p>
            <a:pPr>
              <a:spcBef>
                <a:spcPts val="0"/>
              </a:spcBef>
              <a:spcAft>
                <a:spcPts val="300"/>
              </a:spcAft>
              <a:defRPr sz="1400" b="0">
                <a:solidFill>
                  <a:srgbClr val="D2181F"/>
                </a:solidFill>
                <a:latin typeface="Arial"/>
              </a:defRPr>
            </a:pPr>
            <a:r>
              <a:rPr>
                <a:solidFill>
                  <a:srgbClr val="201C19"/>
                </a:solidFill>
                <a:latin typeface="Arial"/>
              </a:rPr>
              <a:t>5</a:t>
            </a:r>
          </a:p>
        </p:txBody>
      </p:sp>
      <p:sp>
        <p:nvSpPr>
          <p:cNvPr id="27" name="TextBox 26"/>
          <p:cNvSpPr txBox="1"/>
          <p:nvPr/>
        </p:nvSpPr>
        <p:spPr>
          <a:xfrm>
            <a:off x="612648" y="5522976"/>
            <a:ext cx="5349240" cy="457200"/>
          </a:xfrm>
          <a:prstGeom prst="rect">
            <a:avLst/>
          </a:prstGeom>
          <a:noFill/>
        </p:spPr>
        <p:txBody>
          <a:bodyPr wrap="square" lIns="0" rIns="0" tIns="0" bIns="0">
            <a:spAutoFit/>
          </a:bodyPr>
          <a:lstStyle/>
          <a:p>
            <a:pPr>
              <a:spcBef>
                <a:spcPts val="0"/>
              </a:spcBef>
              <a:spcAft>
                <a:spcPts val="300"/>
              </a:spcAft>
              <a:defRPr sz="1300" b="0">
                <a:solidFill>
                  <a:srgbClr val="4A4E54"/>
                </a:solidFill>
                <a:latin typeface="Arial"/>
              </a:defRPr>
            </a:pPr>
            <a:r>
              <a:rPr>
                <a:solidFill>
                  <a:srgbClr val="201C19"/>
                </a:solidFill>
                <a:latin typeface="Arial"/>
              </a:rPr>
              <a:t>Math Review  •  Math Week 8, Lesson 1</a:t>
            </a:r>
          </a:p>
        </p:txBody>
      </p:sp>
      <p:sp>
        <p:nvSpPr>
          <p:cNvPr id="28" name="TextBox 27"/>
          <p:cNvSpPr txBox="1"/>
          <p:nvPr/>
        </p:nvSpPr>
        <p:spPr>
          <a:xfrm>
            <a:off x="6236208" y="1627632"/>
            <a:ext cx="5349240" cy="320040"/>
          </a:xfrm>
          <a:prstGeom prst="rect">
            <a:avLst/>
          </a:prstGeom>
          <a:noFill/>
        </p:spPr>
        <p:txBody>
          <a:bodyPr wrap="square" lIns="0" rIns="0" tIns="0" bIns="0">
            <a:spAutoFit/>
          </a:bodyPr>
          <a:lstStyle/>
          <a:p>
            <a:pPr>
              <a:spcBef>
                <a:spcPts val="0"/>
              </a:spcBef>
              <a:spcAft>
                <a:spcPts val="300"/>
              </a:spcAft>
              <a:defRPr sz="2100" b="1">
                <a:solidFill>
                  <a:srgbClr val="D2181F"/>
                </a:solidFill>
                <a:latin typeface="Arial"/>
              </a:defRPr>
            </a:pPr>
            <a:r>
              <a:rPr b="1">
                <a:solidFill>
                  <a:srgbClr val="5A1018"/>
                </a:solidFill>
                <a:latin typeface="Arial"/>
              </a:rPr>
              <a:t>10:30 AM–12:00 PM  •  90 min</a:t>
            </a:r>
          </a:p>
        </p:txBody>
      </p:sp>
      <p:sp>
        <p:nvSpPr>
          <p:cNvPr id="29" name="TextBox 28"/>
          <p:cNvSpPr txBox="1"/>
          <p:nvPr/>
        </p:nvSpPr>
        <p:spPr>
          <a:xfrm>
            <a:off x="6236208" y="2048256"/>
            <a:ext cx="5349240" cy="640080"/>
          </a:xfrm>
          <a:prstGeom prst="rect">
            <a:avLst/>
          </a:prstGeom>
          <a:noFill/>
        </p:spPr>
        <p:txBody>
          <a:bodyPr wrap="square" lIns="0" rIns="0" tIns="0" bIns="0">
            <a:spAutoFit/>
          </a:bodyPr>
          <a:lstStyle/>
          <a:p>
            <a:pPr>
              <a:spcBef>
                <a:spcPts val="0"/>
              </a:spcBef>
              <a:spcAft>
                <a:spcPts val="300"/>
              </a:spcAft>
              <a:defRPr sz="1900" b="1">
                <a:solidFill>
                  <a:srgbClr val="1A1A1A"/>
                </a:solidFill>
                <a:latin typeface="Arial"/>
              </a:defRPr>
            </a:pPr>
            <a:r>
              <a:rPr b="1">
                <a:solidFill>
                  <a:srgbClr val="5A1018"/>
                </a:solidFill>
                <a:latin typeface="Arial"/>
              </a:rPr>
              <a:t>Review: geometry and job problems</a:t>
            </a:r>
          </a:p>
        </p:txBody>
      </p:sp>
      <p:sp>
        <p:nvSpPr>
          <p:cNvPr id="30" name="TextBox 29"/>
          <p:cNvSpPr txBox="1"/>
          <p:nvPr/>
        </p:nvSpPr>
        <p:spPr>
          <a:xfrm>
            <a:off x="6236208" y="2852928"/>
            <a:ext cx="2194560" cy="256032"/>
          </a:xfrm>
          <a:prstGeom prst="rect">
            <a:avLst/>
          </a:prstGeom>
          <a:noFill/>
        </p:spPr>
        <p:txBody>
          <a:bodyPr wrap="square" lIns="0" rIns="0" tIns="0" bIns="0">
            <a:spAutoFit/>
          </a:bodyPr>
          <a:lstStyle/>
          <a:p>
            <a:pPr>
              <a:spcBef>
                <a:spcPts val="0"/>
              </a:spcBef>
              <a:spcAft>
                <a:spcPts val="300"/>
              </a:spcAft>
              <a:defRPr sz="1300" b="0">
                <a:solidFill>
                  <a:srgbClr val="4A4E54"/>
                </a:solidFill>
                <a:latin typeface="Arial"/>
              </a:defRPr>
            </a:pPr>
            <a:r>
              <a:rPr>
                <a:solidFill>
                  <a:srgbClr val="201C19"/>
                </a:solidFill>
                <a:latin typeface="Arial"/>
              </a:rPr>
              <a:t>10:30 AM–10:35 AM</a:t>
            </a:r>
          </a:p>
        </p:txBody>
      </p:sp>
      <p:sp>
        <p:nvSpPr>
          <p:cNvPr id="31" name="TextBox 30"/>
          <p:cNvSpPr txBox="1"/>
          <p:nvPr/>
        </p:nvSpPr>
        <p:spPr>
          <a:xfrm>
            <a:off x="8522208" y="2852928"/>
            <a:ext cx="2514600" cy="274320"/>
          </a:xfrm>
          <a:prstGeom prst="rect">
            <a:avLst/>
          </a:prstGeom>
          <a:noFill/>
        </p:spPr>
        <p:txBody>
          <a:bodyPr wrap="square" lIns="0" rIns="0" tIns="0" bIns="0">
            <a:spAutoFit/>
          </a:bodyPr>
          <a:lstStyle/>
          <a:p>
            <a:pPr>
              <a:spcBef>
                <a:spcPts val="0"/>
              </a:spcBef>
              <a:spcAft>
                <a:spcPts val="300"/>
              </a:spcAft>
              <a:defRPr sz="1500" b="1">
                <a:solidFill>
                  <a:srgbClr val="1A1A1A"/>
                </a:solidFill>
                <a:latin typeface="Arial"/>
              </a:defRPr>
            </a:pPr>
            <a:r>
              <a:rPr>
                <a:solidFill>
                  <a:srgbClr val="201C19"/>
                </a:solidFill>
                <a:latin typeface="Arial"/>
              </a:rPr>
              <a:t>Start</a:t>
            </a:r>
          </a:p>
        </p:txBody>
      </p:sp>
      <p:sp>
        <p:nvSpPr>
          <p:cNvPr id="32" name="TextBox 31"/>
          <p:cNvSpPr txBox="1"/>
          <p:nvPr/>
        </p:nvSpPr>
        <p:spPr>
          <a:xfrm>
            <a:off x="10991088" y="2852928"/>
            <a:ext cx="548640" cy="274320"/>
          </a:xfrm>
          <a:prstGeom prst="rect">
            <a:avLst/>
          </a:prstGeom>
          <a:noFill/>
        </p:spPr>
        <p:txBody>
          <a:bodyPr wrap="square" lIns="0" rIns="0" tIns="0" bIns="0">
            <a:spAutoFit/>
          </a:bodyPr>
          <a:lstStyle/>
          <a:p>
            <a:pPr>
              <a:spcBef>
                <a:spcPts val="0"/>
              </a:spcBef>
              <a:spcAft>
                <a:spcPts val="300"/>
              </a:spcAft>
              <a:defRPr sz="1400" b="0">
                <a:solidFill>
                  <a:srgbClr val="D2181F"/>
                </a:solidFill>
                <a:latin typeface="Arial"/>
              </a:defRPr>
            </a:pPr>
            <a:r>
              <a:rPr>
                <a:solidFill>
                  <a:srgbClr val="201C19"/>
                </a:solidFill>
                <a:latin typeface="Arial"/>
              </a:rPr>
              <a:t>5</a:t>
            </a:r>
          </a:p>
        </p:txBody>
      </p:sp>
      <p:sp>
        <p:nvSpPr>
          <p:cNvPr id="33" name="TextBox 32"/>
          <p:cNvSpPr txBox="1"/>
          <p:nvPr/>
        </p:nvSpPr>
        <p:spPr>
          <a:xfrm>
            <a:off x="6236208" y="3209544"/>
            <a:ext cx="2194560" cy="256032"/>
          </a:xfrm>
          <a:prstGeom prst="rect">
            <a:avLst/>
          </a:prstGeom>
          <a:noFill/>
        </p:spPr>
        <p:txBody>
          <a:bodyPr wrap="square" lIns="0" rIns="0" tIns="0" bIns="0">
            <a:spAutoFit/>
          </a:bodyPr>
          <a:lstStyle/>
          <a:p>
            <a:pPr>
              <a:spcBef>
                <a:spcPts val="0"/>
              </a:spcBef>
              <a:spcAft>
                <a:spcPts val="300"/>
              </a:spcAft>
              <a:defRPr sz="1300" b="0">
                <a:solidFill>
                  <a:srgbClr val="4A4E54"/>
                </a:solidFill>
                <a:latin typeface="Arial"/>
              </a:defRPr>
            </a:pPr>
            <a:r>
              <a:rPr>
                <a:solidFill>
                  <a:srgbClr val="201C19"/>
                </a:solidFill>
                <a:latin typeface="Arial"/>
              </a:rPr>
              <a:t>10:35 AM–10:40 AM</a:t>
            </a:r>
          </a:p>
        </p:txBody>
      </p:sp>
      <p:sp>
        <p:nvSpPr>
          <p:cNvPr id="34" name="TextBox 33"/>
          <p:cNvSpPr txBox="1"/>
          <p:nvPr/>
        </p:nvSpPr>
        <p:spPr>
          <a:xfrm>
            <a:off x="8522208" y="3209544"/>
            <a:ext cx="2514600" cy="274320"/>
          </a:xfrm>
          <a:prstGeom prst="rect">
            <a:avLst/>
          </a:prstGeom>
          <a:noFill/>
        </p:spPr>
        <p:txBody>
          <a:bodyPr wrap="square" lIns="0" rIns="0" tIns="0" bIns="0">
            <a:spAutoFit/>
          </a:bodyPr>
          <a:lstStyle/>
          <a:p>
            <a:pPr>
              <a:spcBef>
                <a:spcPts val="0"/>
              </a:spcBef>
              <a:spcAft>
                <a:spcPts val="300"/>
              </a:spcAft>
              <a:defRPr sz="1500" b="1">
                <a:solidFill>
                  <a:srgbClr val="1A1A1A"/>
                </a:solidFill>
                <a:latin typeface="Arial"/>
              </a:defRPr>
            </a:pPr>
            <a:r>
              <a:rPr>
                <a:solidFill>
                  <a:srgbClr val="201C19"/>
                </a:solidFill>
                <a:latin typeface="Arial"/>
              </a:rPr>
              <a:t>Recall</a:t>
            </a:r>
          </a:p>
        </p:txBody>
      </p:sp>
      <p:sp>
        <p:nvSpPr>
          <p:cNvPr id="35" name="TextBox 34"/>
          <p:cNvSpPr txBox="1"/>
          <p:nvPr/>
        </p:nvSpPr>
        <p:spPr>
          <a:xfrm>
            <a:off x="10991088" y="3209544"/>
            <a:ext cx="548640" cy="274320"/>
          </a:xfrm>
          <a:prstGeom prst="rect">
            <a:avLst/>
          </a:prstGeom>
          <a:noFill/>
        </p:spPr>
        <p:txBody>
          <a:bodyPr wrap="square" lIns="0" rIns="0" tIns="0" bIns="0">
            <a:spAutoFit/>
          </a:bodyPr>
          <a:lstStyle/>
          <a:p>
            <a:pPr>
              <a:spcBef>
                <a:spcPts val="0"/>
              </a:spcBef>
              <a:spcAft>
                <a:spcPts val="300"/>
              </a:spcAft>
              <a:defRPr sz="1400" b="0">
                <a:solidFill>
                  <a:srgbClr val="D2181F"/>
                </a:solidFill>
                <a:latin typeface="Arial"/>
              </a:defRPr>
            </a:pPr>
            <a:r>
              <a:rPr>
                <a:solidFill>
                  <a:srgbClr val="201C19"/>
                </a:solidFill>
                <a:latin typeface="Arial"/>
              </a:rPr>
              <a:t>5</a:t>
            </a:r>
          </a:p>
        </p:txBody>
      </p:sp>
      <p:sp>
        <p:nvSpPr>
          <p:cNvPr id="36" name="TextBox 35"/>
          <p:cNvSpPr txBox="1"/>
          <p:nvPr/>
        </p:nvSpPr>
        <p:spPr>
          <a:xfrm>
            <a:off x="6236208" y="3566160"/>
            <a:ext cx="2194560" cy="256032"/>
          </a:xfrm>
          <a:prstGeom prst="rect">
            <a:avLst/>
          </a:prstGeom>
          <a:noFill/>
        </p:spPr>
        <p:txBody>
          <a:bodyPr wrap="square" lIns="0" rIns="0" tIns="0" bIns="0">
            <a:spAutoFit/>
          </a:bodyPr>
          <a:lstStyle/>
          <a:p>
            <a:pPr>
              <a:spcBef>
                <a:spcPts val="0"/>
              </a:spcBef>
              <a:spcAft>
                <a:spcPts val="300"/>
              </a:spcAft>
              <a:defRPr sz="1300" b="0">
                <a:solidFill>
                  <a:srgbClr val="4A4E54"/>
                </a:solidFill>
                <a:latin typeface="Arial"/>
              </a:defRPr>
            </a:pPr>
            <a:r>
              <a:rPr>
                <a:solidFill>
                  <a:srgbClr val="201C19"/>
                </a:solidFill>
                <a:latin typeface="Arial"/>
              </a:rPr>
              <a:t>10:40 AM–10:55 AM</a:t>
            </a:r>
          </a:p>
        </p:txBody>
      </p:sp>
      <p:sp>
        <p:nvSpPr>
          <p:cNvPr id="37" name="TextBox 36"/>
          <p:cNvSpPr txBox="1"/>
          <p:nvPr/>
        </p:nvSpPr>
        <p:spPr>
          <a:xfrm>
            <a:off x="8522208" y="3566160"/>
            <a:ext cx="2514600" cy="274320"/>
          </a:xfrm>
          <a:prstGeom prst="rect">
            <a:avLst/>
          </a:prstGeom>
          <a:noFill/>
        </p:spPr>
        <p:txBody>
          <a:bodyPr wrap="square" lIns="0" rIns="0" tIns="0" bIns="0">
            <a:spAutoFit/>
          </a:bodyPr>
          <a:lstStyle/>
          <a:p>
            <a:pPr>
              <a:spcBef>
                <a:spcPts val="0"/>
              </a:spcBef>
              <a:spcAft>
                <a:spcPts val="300"/>
              </a:spcAft>
              <a:defRPr sz="1500" b="1">
                <a:solidFill>
                  <a:srgbClr val="1A1A1A"/>
                </a:solidFill>
                <a:latin typeface="Arial"/>
              </a:defRPr>
            </a:pPr>
            <a:r>
              <a:rPr>
                <a:solidFill>
                  <a:srgbClr val="201C19"/>
                </a:solidFill>
                <a:latin typeface="Arial"/>
              </a:rPr>
              <a:t>Teach</a:t>
            </a:r>
          </a:p>
        </p:txBody>
      </p:sp>
      <p:sp>
        <p:nvSpPr>
          <p:cNvPr id="38" name="TextBox 37"/>
          <p:cNvSpPr txBox="1"/>
          <p:nvPr/>
        </p:nvSpPr>
        <p:spPr>
          <a:xfrm>
            <a:off x="10991088" y="3566160"/>
            <a:ext cx="548640" cy="274320"/>
          </a:xfrm>
          <a:prstGeom prst="rect">
            <a:avLst/>
          </a:prstGeom>
          <a:noFill/>
        </p:spPr>
        <p:txBody>
          <a:bodyPr wrap="square" lIns="0" rIns="0" tIns="0" bIns="0">
            <a:spAutoFit/>
          </a:bodyPr>
          <a:lstStyle/>
          <a:p>
            <a:pPr>
              <a:spcBef>
                <a:spcPts val="0"/>
              </a:spcBef>
              <a:spcAft>
                <a:spcPts val="300"/>
              </a:spcAft>
              <a:defRPr sz="1400" b="0">
                <a:solidFill>
                  <a:srgbClr val="D2181F"/>
                </a:solidFill>
                <a:latin typeface="Arial"/>
              </a:defRPr>
            </a:pPr>
            <a:r>
              <a:rPr>
                <a:solidFill>
                  <a:srgbClr val="201C19"/>
                </a:solidFill>
                <a:latin typeface="Arial"/>
              </a:rPr>
              <a:t>15</a:t>
            </a:r>
          </a:p>
        </p:txBody>
      </p:sp>
      <p:sp>
        <p:nvSpPr>
          <p:cNvPr id="39" name="TextBox 38"/>
          <p:cNvSpPr txBox="1"/>
          <p:nvPr/>
        </p:nvSpPr>
        <p:spPr>
          <a:xfrm>
            <a:off x="6236208" y="3922776"/>
            <a:ext cx="2194560" cy="256032"/>
          </a:xfrm>
          <a:prstGeom prst="rect">
            <a:avLst/>
          </a:prstGeom>
          <a:noFill/>
        </p:spPr>
        <p:txBody>
          <a:bodyPr wrap="square" lIns="0" rIns="0" tIns="0" bIns="0">
            <a:spAutoFit/>
          </a:bodyPr>
          <a:lstStyle/>
          <a:p>
            <a:pPr>
              <a:spcBef>
                <a:spcPts val="0"/>
              </a:spcBef>
              <a:spcAft>
                <a:spcPts val="300"/>
              </a:spcAft>
              <a:defRPr sz="1300" b="0">
                <a:solidFill>
                  <a:srgbClr val="4A4E54"/>
                </a:solidFill>
                <a:latin typeface="Arial"/>
              </a:defRPr>
            </a:pPr>
            <a:r>
              <a:rPr>
                <a:solidFill>
                  <a:srgbClr val="201C19"/>
                </a:solidFill>
                <a:latin typeface="Arial"/>
              </a:rPr>
              <a:t>10:55 AM–11:10 AM</a:t>
            </a:r>
          </a:p>
        </p:txBody>
      </p:sp>
      <p:sp>
        <p:nvSpPr>
          <p:cNvPr id="40" name="TextBox 39"/>
          <p:cNvSpPr txBox="1"/>
          <p:nvPr/>
        </p:nvSpPr>
        <p:spPr>
          <a:xfrm>
            <a:off x="8522208" y="3922776"/>
            <a:ext cx="2514600" cy="274320"/>
          </a:xfrm>
          <a:prstGeom prst="rect">
            <a:avLst/>
          </a:prstGeom>
          <a:noFill/>
        </p:spPr>
        <p:txBody>
          <a:bodyPr wrap="square" lIns="0" rIns="0" tIns="0" bIns="0">
            <a:spAutoFit/>
          </a:bodyPr>
          <a:lstStyle/>
          <a:p>
            <a:pPr>
              <a:spcBef>
                <a:spcPts val="0"/>
              </a:spcBef>
              <a:spcAft>
                <a:spcPts val="300"/>
              </a:spcAft>
              <a:defRPr sz="1500" b="1">
                <a:solidFill>
                  <a:srgbClr val="1A1A1A"/>
                </a:solidFill>
                <a:latin typeface="Arial"/>
              </a:defRPr>
            </a:pPr>
            <a:r>
              <a:rPr>
                <a:solidFill>
                  <a:srgbClr val="201C19"/>
                </a:solidFill>
                <a:latin typeface="Arial"/>
              </a:rPr>
              <a:t>Together</a:t>
            </a:r>
          </a:p>
        </p:txBody>
      </p:sp>
      <p:sp>
        <p:nvSpPr>
          <p:cNvPr id="41" name="TextBox 40"/>
          <p:cNvSpPr txBox="1"/>
          <p:nvPr/>
        </p:nvSpPr>
        <p:spPr>
          <a:xfrm>
            <a:off x="10991088" y="3922776"/>
            <a:ext cx="548640" cy="274320"/>
          </a:xfrm>
          <a:prstGeom prst="rect">
            <a:avLst/>
          </a:prstGeom>
          <a:noFill/>
        </p:spPr>
        <p:txBody>
          <a:bodyPr wrap="square" lIns="0" rIns="0" tIns="0" bIns="0">
            <a:spAutoFit/>
          </a:bodyPr>
          <a:lstStyle/>
          <a:p>
            <a:pPr>
              <a:spcBef>
                <a:spcPts val="0"/>
              </a:spcBef>
              <a:spcAft>
                <a:spcPts val="300"/>
              </a:spcAft>
              <a:defRPr sz="1400" b="0">
                <a:solidFill>
                  <a:srgbClr val="D2181F"/>
                </a:solidFill>
                <a:latin typeface="Arial"/>
              </a:defRPr>
            </a:pPr>
            <a:r>
              <a:rPr>
                <a:solidFill>
                  <a:srgbClr val="201C19"/>
                </a:solidFill>
                <a:latin typeface="Arial"/>
              </a:rPr>
              <a:t>15</a:t>
            </a:r>
          </a:p>
        </p:txBody>
      </p:sp>
      <p:sp>
        <p:nvSpPr>
          <p:cNvPr id="42" name="TextBox 41"/>
          <p:cNvSpPr txBox="1"/>
          <p:nvPr/>
        </p:nvSpPr>
        <p:spPr>
          <a:xfrm>
            <a:off x="6236208" y="4279392"/>
            <a:ext cx="2194560" cy="256032"/>
          </a:xfrm>
          <a:prstGeom prst="rect">
            <a:avLst/>
          </a:prstGeom>
          <a:noFill/>
        </p:spPr>
        <p:txBody>
          <a:bodyPr wrap="square" lIns="0" rIns="0" tIns="0" bIns="0">
            <a:spAutoFit/>
          </a:bodyPr>
          <a:lstStyle/>
          <a:p>
            <a:pPr>
              <a:spcBef>
                <a:spcPts val="0"/>
              </a:spcBef>
              <a:spcAft>
                <a:spcPts val="300"/>
              </a:spcAft>
              <a:defRPr sz="1300" b="0">
                <a:solidFill>
                  <a:srgbClr val="4A4E54"/>
                </a:solidFill>
                <a:latin typeface="Arial"/>
              </a:defRPr>
            </a:pPr>
            <a:r>
              <a:rPr>
                <a:solidFill>
                  <a:srgbClr val="201C19"/>
                </a:solidFill>
                <a:latin typeface="Arial"/>
              </a:rPr>
              <a:t>11:10 AM–11:45 AM</a:t>
            </a:r>
          </a:p>
        </p:txBody>
      </p:sp>
      <p:sp>
        <p:nvSpPr>
          <p:cNvPr id="43" name="TextBox 42"/>
          <p:cNvSpPr txBox="1"/>
          <p:nvPr/>
        </p:nvSpPr>
        <p:spPr>
          <a:xfrm>
            <a:off x="8522208" y="4279392"/>
            <a:ext cx="2514600" cy="274320"/>
          </a:xfrm>
          <a:prstGeom prst="rect">
            <a:avLst/>
          </a:prstGeom>
          <a:noFill/>
        </p:spPr>
        <p:txBody>
          <a:bodyPr wrap="square" lIns="0" rIns="0" tIns="0" bIns="0">
            <a:spAutoFit/>
          </a:bodyPr>
          <a:lstStyle/>
          <a:p>
            <a:pPr>
              <a:spcBef>
                <a:spcPts val="0"/>
              </a:spcBef>
              <a:spcAft>
                <a:spcPts val="300"/>
              </a:spcAft>
              <a:defRPr sz="1500" b="1">
                <a:solidFill>
                  <a:srgbClr val="1A1A1A"/>
                </a:solidFill>
                <a:latin typeface="Arial"/>
              </a:defRPr>
            </a:pPr>
            <a:r>
              <a:rPr>
                <a:solidFill>
                  <a:srgbClr val="201C19"/>
                </a:solidFill>
                <a:latin typeface="Arial"/>
              </a:rPr>
              <a:t>Practise</a:t>
            </a:r>
          </a:p>
        </p:txBody>
      </p:sp>
      <p:sp>
        <p:nvSpPr>
          <p:cNvPr id="44" name="TextBox 43"/>
          <p:cNvSpPr txBox="1"/>
          <p:nvPr/>
        </p:nvSpPr>
        <p:spPr>
          <a:xfrm>
            <a:off x="10991088" y="4279392"/>
            <a:ext cx="548640" cy="274320"/>
          </a:xfrm>
          <a:prstGeom prst="rect">
            <a:avLst/>
          </a:prstGeom>
          <a:noFill/>
        </p:spPr>
        <p:txBody>
          <a:bodyPr wrap="square" lIns="0" rIns="0" tIns="0" bIns="0">
            <a:spAutoFit/>
          </a:bodyPr>
          <a:lstStyle/>
          <a:p>
            <a:pPr>
              <a:spcBef>
                <a:spcPts val="0"/>
              </a:spcBef>
              <a:spcAft>
                <a:spcPts val="300"/>
              </a:spcAft>
              <a:defRPr sz="1400" b="0">
                <a:solidFill>
                  <a:srgbClr val="D2181F"/>
                </a:solidFill>
                <a:latin typeface="Arial"/>
              </a:defRPr>
            </a:pPr>
            <a:r>
              <a:rPr>
                <a:solidFill>
                  <a:srgbClr val="201C19"/>
                </a:solidFill>
                <a:latin typeface="Arial"/>
              </a:rPr>
              <a:t>35</a:t>
            </a:r>
          </a:p>
        </p:txBody>
      </p:sp>
      <p:sp>
        <p:nvSpPr>
          <p:cNvPr id="45" name="TextBox 44"/>
          <p:cNvSpPr txBox="1"/>
          <p:nvPr/>
        </p:nvSpPr>
        <p:spPr>
          <a:xfrm>
            <a:off x="6236208" y="4636007"/>
            <a:ext cx="2194560" cy="256032"/>
          </a:xfrm>
          <a:prstGeom prst="rect">
            <a:avLst/>
          </a:prstGeom>
          <a:noFill/>
        </p:spPr>
        <p:txBody>
          <a:bodyPr wrap="square" lIns="0" rIns="0" tIns="0" bIns="0">
            <a:spAutoFit/>
          </a:bodyPr>
          <a:lstStyle/>
          <a:p>
            <a:pPr>
              <a:spcBef>
                <a:spcPts val="0"/>
              </a:spcBef>
              <a:spcAft>
                <a:spcPts val="300"/>
              </a:spcAft>
              <a:defRPr sz="1300" b="0">
                <a:solidFill>
                  <a:srgbClr val="4A4E54"/>
                </a:solidFill>
                <a:latin typeface="Arial"/>
              </a:defRPr>
            </a:pPr>
            <a:r>
              <a:rPr>
                <a:solidFill>
                  <a:srgbClr val="201C19"/>
                </a:solidFill>
                <a:latin typeface="Arial"/>
              </a:rPr>
              <a:t>11:45 AM–11:55 AM</a:t>
            </a:r>
          </a:p>
        </p:txBody>
      </p:sp>
      <p:sp>
        <p:nvSpPr>
          <p:cNvPr id="46" name="TextBox 45"/>
          <p:cNvSpPr txBox="1"/>
          <p:nvPr/>
        </p:nvSpPr>
        <p:spPr>
          <a:xfrm>
            <a:off x="8522208" y="4636007"/>
            <a:ext cx="2514600" cy="274320"/>
          </a:xfrm>
          <a:prstGeom prst="rect">
            <a:avLst/>
          </a:prstGeom>
          <a:noFill/>
        </p:spPr>
        <p:txBody>
          <a:bodyPr wrap="square" lIns="0" rIns="0" tIns="0" bIns="0">
            <a:spAutoFit/>
          </a:bodyPr>
          <a:lstStyle/>
          <a:p>
            <a:pPr>
              <a:spcBef>
                <a:spcPts val="0"/>
              </a:spcBef>
              <a:spcAft>
                <a:spcPts val="300"/>
              </a:spcAft>
              <a:defRPr sz="1500" b="1">
                <a:solidFill>
                  <a:srgbClr val="1A1A1A"/>
                </a:solidFill>
                <a:latin typeface="Arial"/>
              </a:defRPr>
            </a:pPr>
            <a:r>
              <a:rPr>
                <a:solidFill>
                  <a:srgbClr val="201C19"/>
                </a:solidFill>
                <a:latin typeface="Arial"/>
              </a:rPr>
              <a:t>Check</a:t>
            </a:r>
          </a:p>
        </p:txBody>
      </p:sp>
      <p:sp>
        <p:nvSpPr>
          <p:cNvPr id="47" name="TextBox 46"/>
          <p:cNvSpPr txBox="1"/>
          <p:nvPr/>
        </p:nvSpPr>
        <p:spPr>
          <a:xfrm>
            <a:off x="10991088" y="4636007"/>
            <a:ext cx="548640" cy="274320"/>
          </a:xfrm>
          <a:prstGeom prst="rect">
            <a:avLst/>
          </a:prstGeom>
          <a:noFill/>
        </p:spPr>
        <p:txBody>
          <a:bodyPr wrap="square" lIns="0" rIns="0" tIns="0" bIns="0">
            <a:spAutoFit/>
          </a:bodyPr>
          <a:lstStyle/>
          <a:p>
            <a:pPr>
              <a:spcBef>
                <a:spcPts val="0"/>
              </a:spcBef>
              <a:spcAft>
                <a:spcPts val="300"/>
              </a:spcAft>
              <a:defRPr sz="1400" b="0">
                <a:solidFill>
                  <a:srgbClr val="D2181F"/>
                </a:solidFill>
                <a:latin typeface="Arial"/>
              </a:defRPr>
            </a:pPr>
            <a:r>
              <a:rPr>
                <a:solidFill>
                  <a:srgbClr val="201C19"/>
                </a:solidFill>
                <a:latin typeface="Arial"/>
              </a:rPr>
              <a:t>10</a:t>
            </a:r>
          </a:p>
        </p:txBody>
      </p:sp>
      <p:sp>
        <p:nvSpPr>
          <p:cNvPr id="48" name="TextBox 47"/>
          <p:cNvSpPr txBox="1"/>
          <p:nvPr/>
        </p:nvSpPr>
        <p:spPr>
          <a:xfrm>
            <a:off x="6236208" y="4992623"/>
            <a:ext cx="2194560" cy="256032"/>
          </a:xfrm>
          <a:prstGeom prst="rect">
            <a:avLst/>
          </a:prstGeom>
          <a:noFill/>
        </p:spPr>
        <p:txBody>
          <a:bodyPr wrap="square" lIns="0" rIns="0" tIns="0" bIns="0">
            <a:spAutoFit/>
          </a:bodyPr>
          <a:lstStyle/>
          <a:p>
            <a:pPr>
              <a:spcBef>
                <a:spcPts val="0"/>
              </a:spcBef>
              <a:spcAft>
                <a:spcPts val="300"/>
              </a:spcAft>
              <a:defRPr sz="1300" b="0">
                <a:solidFill>
                  <a:srgbClr val="4A4E54"/>
                </a:solidFill>
                <a:latin typeface="Arial"/>
              </a:defRPr>
            </a:pPr>
            <a:r>
              <a:rPr>
                <a:solidFill>
                  <a:srgbClr val="201C19"/>
                </a:solidFill>
                <a:latin typeface="Arial"/>
              </a:rPr>
              <a:t>11:55 AM–12:00 PM</a:t>
            </a:r>
          </a:p>
        </p:txBody>
      </p:sp>
      <p:sp>
        <p:nvSpPr>
          <p:cNvPr id="49" name="TextBox 48"/>
          <p:cNvSpPr txBox="1"/>
          <p:nvPr/>
        </p:nvSpPr>
        <p:spPr>
          <a:xfrm>
            <a:off x="8522208" y="4992623"/>
            <a:ext cx="2514600" cy="274320"/>
          </a:xfrm>
          <a:prstGeom prst="rect">
            <a:avLst/>
          </a:prstGeom>
          <a:noFill/>
        </p:spPr>
        <p:txBody>
          <a:bodyPr wrap="square" lIns="0" rIns="0" tIns="0" bIns="0">
            <a:spAutoFit/>
          </a:bodyPr>
          <a:lstStyle/>
          <a:p>
            <a:pPr>
              <a:spcBef>
                <a:spcPts val="0"/>
              </a:spcBef>
              <a:spcAft>
                <a:spcPts val="300"/>
              </a:spcAft>
              <a:defRPr sz="1500" b="1">
                <a:solidFill>
                  <a:srgbClr val="1A1A1A"/>
                </a:solidFill>
                <a:latin typeface="Arial"/>
              </a:defRPr>
            </a:pPr>
            <a:r>
              <a:rPr>
                <a:solidFill>
                  <a:srgbClr val="201C19"/>
                </a:solidFill>
                <a:latin typeface="Arial"/>
              </a:rPr>
              <a:t>Wrap up</a:t>
            </a:r>
          </a:p>
        </p:txBody>
      </p:sp>
      <p:sp>
        <p:nvSpPr>
          <p:cNvPr id="50" name="TextBox 49"/>
          <p:cNvSpPr txBox="1"/>
          <p:nvPr/>
        </p:nvSpPr>
        <p:spPr>
          <a:xfrm>
            <a:off x="10991088" y="4992623"/>
            <a:ext cx="548640" cy="274320"/>
          </a:xfrm>
          <a:prstGeom prst="rect">
            <a:avLst/>
          </a:prstGeom>
          <a:noFill/>
        </p:spPr>
        <p:txBody>
          <a:bodyPr wrap="square" lIns="0" rIns="0" tIns="0" bIns="0">
            <a:spAutoFit/>
          </a:bodyPr>
          <a:lstStyle/>
          <a:p>
            <a:pPr>
              <a:spcBef>
                <a:spcPts val="0"/>
              </a:spcBef>
              <a:spcAft>
                <a:spcPts val="300"/>
              </a:spcAft>
              <a:defRPr sz="1400" b="0">
                <a:solidFill>
                  <a:srgbClr val="D2181F"/>
                </a:solidFill>
                <a:latin typeface="Arial"/>
              </a:defRPr>
            </a:pPr>
            <a:r>
              <a:rPr>
                <a:solidFill>
                  <a:srgbClr val="201C19"/>
                </a:solidFill>
                <a:latin typeface="Arial"/>
              </a:rPr>
              <a:t>5</a:t>
            </a:r>
          </a:p>
        </p:txBody>
      </p:sp>
      <p:sp>
        <p:nvSpPr>
          <p:cNvPr id="51" name="TextBox 50"/>
          <p:cNvSpPr txBox="1"/>
          <p:nvPr/>
        </p:nvSpPr>
        <p:spPr>
          <a:xfrm>
            <a:off x="6236208" y="5522976"/>
            <a:ext cx="5349240" cy="457200"/>
          </a:xfrm>
          <a:prstGeom prst="rect">
            <a:avLst/>
          </a:prstGeom>
          <a:noFill/>
        </p:spPr>
        <p:txBody>
          <a:bodyPr wrap="square" lIns="0" rIns="0" tIns="0" bIns="0">
            <a:spAutoFit/>
          </a:bodyPr>
          <a:lstStyle/>
          <a:p>
            <a:pPr>
              <a:spcBef>
                <a:spcPts val="0"/>
              </a:spcBef>
              <a:spcAft>
                <a:spcPts val="300"/>
              </a:spcAft>
              <a:defRPr sz="1300" b="0">
                <a:solidFill>
                  <a:srgbClr val="4A4E54"/>
                </a:solidFill>
                <a:latin typeface="Arial"/>
              </a:defRPr>
            </a:pPr>
            <a:r>
              <a:rPr>
                <a:solidFill>
                  <a:srgbClr val="201C19"/>
                </a:solidFill>
                <a:latin typeface="Arial"/>
              </a:rPr>
              <a:t>Math Review  •  Math Week 8, Lesson 2</a:t>
            </a:r>
          </a:p>
        </p:txBody>
      </p:sp>
      <p:sp>
        <p:nvSpPr>
          <p:cNvPr id="52" name="TextBox 51"/>
          <p:cNvSpPr txBox="1"/>
          <p:nvPr/>
        </p:nvSpPr>
        <p:spPr>
          <a:xfrm>
            <a:off x="612648" y="6053328"/>
            <a:ext cx="10927080" cy="320040"/>
          </a:xfrm>
          <a:prstGeom prst="rect">
            <a:avLst/>
          </a:prstGeom>
          <a:noFill/>
        </p:spPr>
        <p:txBody>
          <a:bodyPr wrap="square" lIns="0" rIns="0" tIns="0" bIns="0">
            <a:spAutoFit/>
          </a:bodyPr>
          <a:lstStyle/>
          <a:p>
            <a:pPr>
              <a:spcBef>
                <a:spcPts val="0"/>
              </a:spcBef>
              <a:spcAft>
                <a:spcPts val="300"/>
              </a:spcAft>
              <a:defRPr sz="1500" b="0">
                <a:solidFill>
                  <a:srgbClr val="1A1A1A"/>
                </a:solidFill>
                <a:latin typeface="Arial"/>
              </a:defRPr>
            </a:pPr>
            <a:r>
              <a:rPr b="1">
                <a:solidFill>
                  <a:srgbClr val="201C19"/>
                </a:solidFill>
                <a:latin typeface="Arial"/>
              </a:rPr>
              <a:t>Break: 10:15 AM–10:30 AM  •  15 minutes  •  excluded from teaching time</a:t>
            </a:r>
          </a:p>
        </p:txBody>
      </p:sp>
      <p:pic>
        <p:nvPicPr>
          <p:cNvPr id="53" name="Picture 52" descr="access-logo.png"/>
          <p:cNvPicPr>
            <a:picLocks noChangeAspect="1"/>
          </p:cNvPicPr>
          <p:nvPr/>
        </p:nvPicPr>
        <p:blipFill>
          <a:blip r:embed="rId3"/>
          <a:stretch>
            <a:fillRect/>
          </a:stretch>
        </p:blipFill>
        <p:spPr>
          <a:xfrm>
            <a:off x="10177272" y="146304"/>
            <a:ext cx="1371600" cy="689145"/>
          </a:xfrm>
          <a:prstGeom prst="rect">
            <a:avLst/>
          </a:prstGeom>
        </p:spPr>
      </p:pic>
      <p:sp>
        <p:nvSpPr>
          <p:cNvPr id="55" name="TextBox 54"/>
          <p:cNvSpPr txBox="1"/>
          <p:nvPr/>
        </p:nvSpPr>
        <p:spPr>
          <a:xfrm>
            <a:off x="612648" y="6620256"/>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4"/>
              </a:rPr>
              <a:t>Textbook</a:t>
            </a:r>
          </a:p>
        </p:txBody>
      </p:sp>
      <p:sp>
        <p:nvSpPr>
          <p:cNvPr id="56" name="TextBox 55"/>
          <p:cNvSpPr txBox="1"/>
          <p:nvPr/>
        </p:nvSpPr>
        <p:spPr>
          <a:xfrm>
            <a:off x="1691640" y="6620256"/>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5"/>
              </a:rPr>
              <a:t>Exercise Book</a:t>
            </a:r>
          </a:p>
        </p:txBody>
      </p:sp>
      <p:sp>
        <p:nvSpPr>
          <p:cNvPr id="57" name="TextBox 56"/>
          <p:cNvSpPr txBox="1"/>
          <p:nvPr/>
        </p:nvSpPr>
        <p:spPr>
          <a:xfrm>
            <a:off x="3136392" y="6620256"/>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6"/>
              </a:rPr>
              <a:t>Numeracy Hub</a:t>
            </a:r>
          </a:p>
        </p:txBody>
      </p:sp>
      <p:sp>
        <p:nvSpPr>
          <p:cNvPr id="58" name="TextBox 57"/>
          <p:cNvSpPr txBox="1"/>
          <p:nvPr/>
        </p:nvSpPr>
        <p:spPr>
          <a:xfrm>
            <a:off x="4736592" y="6620256"/>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7"/>
              </a:rPr>
              <a:t>Shape Canvas</a:t>
            </a:r>
          </a:p>
        </p:txBody>
      </p:sp>
      <p:sp>
        <p:nvSpPr>
          <p:cNvPr id="59" name="TextBox 58"/>
          <p:cNvSpPr txBox="1"/>
          <p:nvPr/>
        </p:nvSpPr>
        <p:spPr>
          <a:xfrm>
            <a:off x="8412480" y="6620256"/>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sz="850">
                <a:solidFill>
                  <a:srgbClr val="F7F4F1"/>
                </a:solidFill>
                <a:latin typeface="Arial"/>
              </a:rPr>
              <a:t>Day 25  •  2026-12-14  •  02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5A1018"/>
        </a:solidFill>
        <a:effectLst/>
      </p:bgPr>
    </p:bg>
    <p:spTree>
      <p:nvGrpSpPr>
        <p:cNvPr id="1" name=""/>
        <p:cNvGrpSpPr/>
        <p:nvPr/>
      </p:nvGrpSpPr>
      <p:grpSpPr/>
      <p:sp>
        <p:nvSpPr>
          <p:cNvPr id="18" name="Rectangle 17"/>
          <p:cNvSpPr/>
          <p:nvPr/>
        </p:nvSpPr>
        <p:spPr>
          <a:xfrm>
            <a:off x="0" y="6528816"/>
            <a:ext cx="12191695" cy="329184"/>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0" y="0"/>
            <a:ext cx="12191695" cy="1645920"/>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10104120" y="114300"/>
            <a:ext cx="1517904" cy="753153"/>
          </a:xfrm>
          <a:prstGeom prst="roundRect">
            <a:avLst>
              <a:gd name="adj" fmla="val 8000"/>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spAutoFit/>
          </a:bodyPr>
          <a:lstStyle/>
          <a:p>
            <a:pPr>
              <a:spcBef>
                <a:spcPts val="0"/>
              </a:spcBef>
              <a:spcAft>
                <a:spcPts val="300"/>
              </a:spcAft>
              <a:defRPr sz="1150" b="1">
                <a:solidFill>
                  <a:srgbClr val="D2181F"/>
                </a:solidFill>
                <a:latin typeface="Arial"/>
              </a:defRPr>
            </a:pPr>
            <a:r>
              <a:rPr>
                <a:solidFill>
                  <a:srgbClr val="FFFFFF"/>
                </a:solidFill>
                <a:latin typeface="Arial"/>
              </a:rPr>
              <a:t>W08-L01  •  START  •  9:00 AM–9:05 AM  •  5 MIN TOTAL</a:t>
            </a:r>
          </a:p>
        </p:txBody>
      </p:sp>
      <p:sp>
        <p:nvSpPr>
          <p:cNvPr id="3" name="TextBox 2"/>
          <p:cNvSpPr txBox="1"/>
          <p:nvPr/>
        </p:nvSpPr>
        <p:spPr>
          <a:xfrm>
            <a:off x="612648" y="932688"/>
            <a:ext cx="10927080" cy="749808"/>
          </a:xfrm>
          <a:prstGeom prst="rect">
            <a:avLst/>
          </a:prstGeom>
          <a:noFill/>
        </p:spPr>
        <p:txBody>
          <a:bodyPr wrap="square" lIns="0" rIns="0" tIns="0" bIns="0">
            <a:spAutoFit/>
          </a:bodyPr>
          <a:lstStyle/>
          <a:p>
            <a:pPr>
              <a:spcBef>
                <a:spcPts val="0"/>
              </a:spcBef>
              <a:spcAft>
                <a:spcPts val="300"/>
              </a:spcAft>
              <a:defRPr sz="2900" b="1">
                <a:solidFill>
                  <a:srgbClr val="1A1A1A"/>
                </a:solidFill>
                <a:latin typeface="Arial"/>
              </a:defRPr>
            </a:pPr>
            <a:r>
              <a:rPr b="1">
                <a:solidFill>
                  <a:srgbClr val="FFFFFF"/>
                </a:solidFill>
                <a:latin typeface="Arial"/>
              </a:rPr>
              <a:t>Review: numbers, units and formulas</a:t>
            </a:r>
          </a:p>
        </p:txBody>
      </p:sp>
      <p:sp>
        <p:nvSpPr>
          <p:cNvPr id="4" name="TextBox 3"/>
          <p:cNvSpPr txBox="1"/>
          <p:nvPr/>
        </p:nvSpPr>
        <p:spPr>
          <a:xfrm>
            <a:off x="612648" y="6327648"/>
            <a:ext cx="10881360" cy="219456"/>
          </a:xfrm>
          <a:prstGeom prst="rect">
            <a:avLst/>
          </a:prstGeom>
          <a:noFill/>
        </p:spPr>
        <p:txBody>
          <a:bodyPr wrap="square" lIns="0" rIns="0" tIns="0" bIns="0">
            <a:spAutoFit/>
          </a:bodyPr>
          <a:lstStyle/>
          <a:p>
            <a:pPr>
              <a:spcBef>
                <a:spcPts val="0"/>
              </a:spcBef>
              <a:spcAft>
                <a:spcPts val="300"/>
              </a:spcAft>
              <a:defRPr sz="1050" b="0">
                <a:solidFill>
                  <a:srgbClr val="4A4E54"/>
                </a:solidFill>
                <a:latin typeface="Arial"/>
              </a:defRPr>
            </a:pPr>
            <a:r>
              <a:rPr>
                <a:solidFill>
                  <a:srgbClr val="D9CEC5"/>
                </a:solidFill>
                <a:latin typeface="Arial"/>
              </a:rPr>
              <a:t>Textbook Chapter 1–8, selected; formula sheet p.219; conversion factors pp.220–221</a:t>
            </a:r>
          </a:p>
        </p:txBody>
      </p:sp>
      <p:sp>
        <p:nvSpPr>
          <p:cNvPr id="5" name="TextBox 4"/>
          <p:cNvSpPr txBox="1"/>
          <p:nvPr/>
        </p:nvSpPr>
        <p:spPr>
          <a:xfrm>
            <a:off x="612648" y="1856231"/>
            <a:ext cx="10927080" cy="1005840"/>
          </a:xfrm>
          <a:prstGeom prst="rect">
            <a:avLst/>
          </a:prstGeom>
          <a:noFill/>
        </p:spPr>
        <p:txBody>
          <a:bodyPr wrap="square" lIns="0" rIns="0" tIns="0" bIns="0">
            <a:spAutoFit/>
          </a:bodyPr>
          <a:lstStyle/>
          <a:p>
            <a:pPr>
              <a:spcBef>
                <a:spcPts val="0"/>
              </a:spcBef>
              <a:spcAft>
                <a:spcPts val="300"/>
              </a:spcAft>
              <a:defRPr sz="2400" b="1">
                <a:solidFill>
                  <a:srgbClr val="1A1A1A"/>
                </a:solidFill>
                <a:latin typeface="Arial"/>
              </a:defRPr>
            </a:pPr>
            <a:r>
              <a:rPr b="1">
                <a:solidFill>
                  <a:srgbClr val="FFFFFF"/>
                </a:solidFill>
                <a:latin typeface="Arial"/>
              </a:rPr>
              <a:t>Today’s goal: Retrieve core methods across the course and explain when each method is appropriate.</a:t>
            </a:r>
          </a:p>
        </p:txBody>
      </p:sp>
      <p:sp>
        <p:nvSpPr>
          <p:cNvPr id="6" name="TextBox 5"/>
          <p:cNvSpPr txBox="1"/>
          <p:nvPr/>
        </p:nvSpPr>
        <p:spPr>
          <a:xfrm>
            <a:off x="612648" y="3154680"/>
            <a:ext cx="10927080" cy="594360"/>
          </a:xfrm>
          <a:prstGeom prst="rect">
            <a:avLst/>
          </a:prstGeom>
          <a:noFill/>
        </p:spPr>
        <p:txBody>
          <a:bodyPr wrap="square" lIns="0" rIns="0" tIns="0" bIns="0">
            <a:spAutoFit/>
          </a:bodyPr>
          <a:lstStyle/>
          <a:p>
            <a:pPr>
              <a:spcBef>
                <a:spcPts val="0"/>
              </a:spcBef>
              <a:spcAft>
                <a:spcPts val="300"/>
              </a:spcAft>
              <a:defRPr sz="2200" b="0">
                <a:solidFill>
                  <a:srgbClr val="1A1A1A"/>
                </a:solidFill>
                <a:latin typeface="Arial"/>
              </a:defRPr>
            </a:pPr>
            <a:r>
              <a:rPr>
                <a:solidFill>
                  <a:srgbClr val="FFFFFF"/>
                </a:solidFill>
                <a:latin typeface="Arial"/>
              </a:rPr>
              <a:t>Identify one target skill and the checking habit to use today.</a:t>
            </a:r>
          </a:p>
        </p:txBody>
      </p:sp>
      <p:sp>
        <p:nvSpPr>
          <p:cNvPr id="7" name="Rectangle 6"/>
          <p:cNvSpPr/>
          <p:nvPr/>
        </p:nvSpPr>
        <p:spPr>
          <a:xfrm>
            <a:off x="612648" y="4114800"/>
            <a:ext cx="10927080" cy="1371600"/>
          </a:xfrm>
          <a:prstGeom prst="rect">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A1A1A"/>
                </a:solidFill>
                <a:latin typeface="Arial"/>
              </a:defRPr>
            </a:pPr>
          </a:p>
        </p:txBody>
      </p:sp>
      <p:sp>
        <p:nvSpPr>
          <p:cNvPr id="8" name="TextBox 7"/>
          <p:cNvSpPr txBox="1"/>
          <p:nvPr/>
        </p:nvSpPr>
        <p:spPr>
          <a:xfrm>
            <a:off x="841248" y="4297680"/>
            <a:ext cx="10424160" cy="457200"/>
          </a:xfrm>
          <a:prstGeom prst="rect">
            <a:avLst/>
          </a:prstGeom>
          <a:noFill/>
        </p:spPr>
        <p:txBody>
          <a:bodyPr wrap="square" lIns="0" rIns="0" tIns="0" bIns="0">
            <a:spAutoFit/>
          </a:bodyPr>
          <a:lstStyle/>
          <a:p>
            <a:pPr>
              <a:spcBef>
                <a:spcPts val="0"/>
              </a:spcBef>
              <a:spcAft>
                <a:spcPts val="300"/>
              </a:spcAft>
              <a:defRPr sz="1700" b="0">
                <a:solidFill>
                  <a:srgbClr val="1A1A1A"/>
                </a:solidFill>
                <a:latin typeface="Arial"/>
              </a:defRPr>
            </a:pPr>
            <a:r>
              <a:rPr>
                <a:solidFill>
                  <a:srgbClr val="201C19"/>
                </a:solidFill>
                <a:latin typeface="Arial"/>
              </a:rPr>
              <a:t>Textbook Chapter 1–8, selected; formula sheet p.219; conversion factors pp.220–221</a:t>
            </a:r>
          </a:p>
        </p:txBody>
      </p:sp>
      <p:sp>
        <p:nvSpPr>
          <p:cNvPr id="9" name="TextBox 8"/>
          <p:cNvSpPr txBox="1"/>
          <p:nvPr/>
        </p:nvSpPr>
        <p:spPr>
          <a:xfrm>
            <a:off x="841248" y="4901184"/>
            <a:ext cx="10424160" cy="457200"/>
          </a:xfrm>
          <a:prstGeom prst="rect">
            <a:avLst/>
          </a:prstGeom>
          <a:noFill/>
        </p:spPr>
        <p:txBody>
          <a:bodyPr wrap="square" lIns="0" rIns="0" tIns="0" bIns="0">
            <a:spAutoFit/>
          </a:bodyPr>
          <a:lstStyle/>
          <a:p>
            <a:pPr>
              <a:spcBef>
                <a:spcPts val="0"/>
              </a:spcBef>
              <a:spcAft>
                <a:spcPts val="300"/>
              </a:spcAft>
              <a:defRPr sz="1600" b="0">
                <a:solidFill>
                  <a:srgbClr val="4A4E54"/>
                </a:solidFill>
                <a:latin typeface="Arial"/>
              </a:defRPr>
            </a:pPr>
            <a:r>
              <a:rPr>
                <a:solidFill>
                  <a:srgbClr val="201C19"/>
                </a:solidFill>
                <a:latin typeface="Arial"/>
              </a:rPr>
              <a:t>Stations: 1B Q3 p.8; 4A Q14(a),15(a) p.26; 5A Q12–13 p.33; 6A Q19 p.40; 7A Q11–12 p.45; 8C Q1–2 p.55.</a:t>
            </a:r>
          </a:p>
        </p:txBody>
      </p:sp>
      <p:sp>
        <p:nvSpPr>
          <p:cNvPr id="10" name="TextBox 9"/>
          <p:cNvSpPr txBox="1"/>
          <p:nvPr/>
        </p:nvSpPr>
        <p:spPr>
          <a:xfrm>
            <a:off x="612648" y="5806440"/>
            <a:ext cx="10927080" cy="411480"/>
          </a:xfrm>
          <a:prstGeom prst="rect">
            <a:avLst/>
          </a:prstGeom>
          <a:noFill/>
        </p:spPr>
        <p:txBody>
          <a:bodyPr wrap="square" lIns="0" rIns="0" tIns="0" bIns="0">
            <a:spAutoFit/>
          </a:bodyPr>
          <a:lstStyle/>
          <a:p>
            <a:pPr>
              <a:spcBef>
                <a:spcPts val="0"/>
              </a:spcBef>
              <a:spcAft>
                <a:spcPts val="300"/>
              </a:spcAft>
              <a:defRPr sz="1700" b="0">
                <a:solidFill>
                  <a:srgbClr val="D2181F"/>
                </a:solidFill>
                <a:latin typeface="Arial"/>
              </a:defRPr>
            </a:pPr>
            <a:r>
              <a:rPr>
                <a:solidFill>
                  <a:srgbClr val="F7F4F1"/>
                </a:solidFill>
                <a:latin typeface="Arial"/>
              </a:rPr>
              <a:t>Keep your notebook, textbook, exercise book and chosen calculator ready.</a:t>
            </a:r>
          </a:p>
        </p:txBody>
      </p:sp>
      <p:pic>
        <p:nvPicPr>
          <p:cNvPr id="11" name="Picture 10"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3" name="TextBox 12"/>
          <p:cNvSpPr txBox="1"/>
          <p:nvPr/>
        </p:nvSpPr>
        <p:spPr>
          <a:xfrm>
            <a:off x="612648" y="6620256"/>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4"/>
              </a:rPr>
              <a:t>Textbook</a:t>
            </a:r>
          </a:p>
        </p:txBody>
      </p:sp>
      <p:sp>
        <p:nvSpPr>
          <p:cNvPr id="14" name="TextBox 13"/>
          <p:cNvSpPr txBox="1"/>
          <p:nvPr/>
        </p:nvSpPr>
        <p:spPr>
          <a:xfrm>
            <a:off x="1691640" y="6620256"/>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5"/>
              </a:rPr>
              <a:t>Exercise Book</a:t>
            </a:r>
          </a:p>
        </p:txBody>
      </p:sp>
      <p:sp>
        <p:nvSpPr>
          <p:cNvPr id="15" name="TextBox 14"/>
          <p:cNvSpPr txBox="1"/>
          <p:nvPr/>
        </p:nvSpPr>
        <p:spPr>
          <a:xfrm>
            <a:off x="3136392" y="6620256"/>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6"/>
              </a:rPr>
              <a:t>Numeracy Hub</a:t>
            </a:r>
          </a:p>
        </p:txBody>
      </p:sp>
      <p:sp>
        <p:nvSpPr>
          <p:cNvPr id="16" name="TextBox 15"/>
          <p:cNvSpPr txBox="1"/>
          <p:nvPr/>
        </p:nvSpPr>
        <p:spPr>
          <a:xfrm>
            <a:off x="4736592" y="6620256"/>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7"/>
              </a:rPr>
              <a:t>Shape Canvas</a:t>
            </a:r>
          </a:p>
        </p:txBody>
      </p:sp>
      <p:sp>
        <p:nvSpPr>
          <p:cNvPr id="17" name="TextBox 16"/>
          <p:cNvSpPr txBox="1"/>
          <p:nvPr/>
        </p:nvSpPr>
        <p:spPr>
          <a:xfrm>
            <a:off x="8412480" y="6620256"/>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sz="850">
                <a:solidFill>
                  <a:srgbClr val="F7F4F1"/>
                </a:solidFill>
                <a:latin typeface="Arial"/>
              </a:rPr>
              <a:t>Day 25  •  2026-12-14  •  03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7F4F1"/>
        </a:solidFill>
        <a:effectLst/>
      </p:bgPr>
    </p:bg>
    <p:spTree>
      <p:nvGrpSpPr>
        <p:cNvPr id="1" name=""/>
        <p:cNvGrpSpPr/>
        <p:nvPr/>
      </p:nvGrpSpPr>
      <p:grpSpPr/>
      <p:sp>
        <p:nvSpPr>
          <p:cNvPr id="16" name="Rectangle 15"/>
          <p:cNvSpPr/>
          <p:nvPr/>
        </p:nvSpPr>
        <p:spPr>
          <a:xfrm>
            <a:off x="0" y="6528816"/>
            <a:ext cx="12191695" cy="329184"/>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0" y="0"/>
            <a:ext cx="12191695" cy="1645920"/>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10104120" y="114300"/>
            <a:ext cx="1517904" cy="753153"/>
          </a:xfrm>
          <a:prstGeom prst="roundRect">
            <a:avLst>
              <a:gd name="adj" fmla="val 8000"/>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493776" y="1773936"/>
            <a:ext cx="11192256" cy="2240280"/>
          </a:xfrm>
          <a:prstGeom prst="roundRect">
            <a:avLst>
              <a:gd name="adj" fmla="val 8000"/>
            </a:avLst>
          </a:prstGeom>
          <a:solidFill>
            <a:srgbClr val="5A10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spAutoFit/>
          </a:bodyPr>
          <a:lstStyle/>
          <a:p>
            <a:pPr>
              <a:spcBef>
                <a:spcPts val="0"/>
              </a:spcBef>
              <a:spcAft>
                <a:spcPts val="300"/>
              </a:spcAft>
              <a:defRPr sz="1150" b="1">
                <a:solidFill>
                  <a:srgbClr val="D2181F"/>
                </a:solidFill>
                <a:latin typeface="Arial"/>
              </a:defRPr>
            </a:pPr>
            <a:r>
              <a:rPr>
                <a:solidFill>
                  <a:srgbClr val="FFFFFF"/>
                </a:solidFill>
                <a:latin typeface="Arial"/>
              </a:rPr>
              <a:t>W08-L01  •  RECALL  •  9:05 AM–9:10 AM  •  5 MIN TOTAL</a:t>
            </a:r>
          </a:p>
        </p:txBody>
      </p:sp>
      <p:sp>
        <p:nvSpPr>
          <p:cNvPr id="3" name="TextBox 2"/>
          <p:cNvSpPr txBox="1"/>
          <p:nvPr/>
        </p:nvSpPr>
        <p:spPr>
          <a:xfrm>
            <a:off x="612648" y="932688"/>
            <a:ext cx="10927080" cy="749808"/>
          </a:xfrm>
          <a:prstGeom prst="rect">
            <a:avLst/>
          </a:prstGeom>
          <a:noFill/>
        </p:spPr>
        <p:txBody>
          <a:bodyPr wrap="square" lIns="0" rIns="0" tIns="0" bIns="0">
            <a:spAutoFit/>
          </a:bodyPr>
          <a:lstStyle/>
          <a:p>
            <a:pPr>
              <a:spcBef>
                <a:spcPts val="0"/>
              </a:spcBef>
              <a:spcAft>
                <a:spcPts val="300"/>
              </a:spcAft>
              <a:defRPr sz="2900" b="1">
                <a:solidFill>
                  <a:srgbClr val="1A1A1A"/>
                </a:solidFill>
                <a:latin typeface="Arial"/>
              </a:defRPr>
            </a:pPr>
            <a:r>
              <a:rPr b="1">
                <a:solidFill>
                  <a:srgbClr val="FFFFFF"/>
                </a:solidFill>
                <a:latin typeface="Arial"/>
              </a:rPr>
              <a:t>Recall and reconnect</a:t>
            </a:r>
          </a:p>
        </p:txBody>
      </p:sp>
      <p:sp>
        <p:nvSpPr>
          <p:cNvPr id="4" name="TextBox 3"/>
          <p:cNvSpPr txBox="1"/>
          <p:nvPr/>
        </p:nvSpPr>
        <p:spPr>
          <a:xfrm>
            <a:off x="612648" y="6327648"/>
            <a:ext cx="10881360" cy="219456"/>
          </a:xfrm>
          <a:prstGeom prst="rect">
            <a:avLst/>
          </a:prstGeom>
          <a:noFill/>
        </p:spPr>
        <p:txBody>
          <a:bodyPr wrap="square" lIns="0" rIns="0" tIns="0" bIns="0">
            <a:spAutoFit/>
          </a:bodyPr>
          <a:lstStyle/>
          <a:p>
            <a:pPr>
              <a:spcBef>
                <a:spcPts val="0"/>
              </a:spcBef>
              <a:spcAft>
                <a:spcPts val="300"/>
              </a:spcAft>
              <a:defRPr sz="1050" b="0">
                <a:solidFill>
                  <a:srgbClr val="4A4E54"/>
                </a:solidFill>
                <a:latin typeface="Arial"/>
              </a:defRPr>
            </a:pPr>
            <a:r>
              <a:rPr>
                <a:solidFill>
                  <a:srgbClr val="62564B"/>
                </a:solidFill>
                <a:latin typeface="Arial"/>
              </a:rPr>
              <a:t>Textbook Chapter 1–8, selected; formula sheet p.219; conversion factors pp.220–221</a:t>
            </a:r>
          </a:p>
        </p:txBody>
      </p:sp>
      <p:sp>
        <p:nvSpPr>
          <p:cNvPr id="5" name="TextBox 4"/>
          <p:cNvSpPr txBox="1"/>
          <p:nvPr/>
        </p:nvSpPr>
        <p:spPr>
          <a:xfrm>
            <a:off x="612648" y="1874519"/>
            <a:ext cx="10927080" cy="2103120"/>
          </a:xfrm>
          <a:prstGeom prst="rect">
            <a:avLst/>
          </a:prstGeom>
          <a:noFill/>
        </p:spPr>
        <p:txBody>
          <a:bodyPr wrap="square" lIns="0" rIns="0" tIns="0" bIns="0">
            <a:spAutoFit/>
          </a:bodyPr>
          <a:lstStyle/>
          <a:p>
            <a:pPr>
              <a:spcBef>
                <a:spcPts val="0"/>
              </a:spcBef>
              <a:spcAft>
                <a:spcPts val="300"/>
              </a:spcAft>
              <a:defRPr sz="2400" b="0">
                <a:solidFill>
                  <a:srgbClr val="1A1A1A"/>
                </a:solidFill>
                <a:latin typeface="Arial"/>
              </a:defRPr>
            </a:pPr>
            <a:r>
              <a:rPr>
                <a:solidFill>
                  <a:srgbClr val="FFFFFF"/>
                </a:solidFill>
                <a:latin typeface="Arial"/>
              </a:rPr>
              <a:t>Use learners’ two priorities from Week 7. Ask each to identify a useful checking strategy.</a:t>
            </a:r>
          </a:p>
        </p:txBody>
      </p:sp>
      <p:sp>
        <p:nvSpPr>
          <p:cNvPr id="6" name="Rectangle 5"/>
          <p:cNvSpPr/>
          <p:nvPr/>
        </p:nvSpPr>
        <p:spPr>
          <a:xfrm>
            <a:off x="612648" y="4251960"/>
            <a:ext cx="10927080" cy="1280160"/>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A1A1A"/>
                </a:solidFill>
                <a:latin typeface="Arial"/>
              </a:defRPr>
            </a:pPr>
          </a:p>
        </p:txBody>
      </p:sp>
      <p:sp>
        <p:nvSpPr>
          <p:cNvPr id="7" name="TextBox 6"/>
          <p:cNvSpPr txBox="1"/>
          <p:nvPr/>
        </p:nvSpPr>
        <p:spPr>
          <a:xfrm>
            <a:off x="859536" y="4462272"/>
            <a:ext cx="10424160" cy="822960"/>
          </a:xfrm>
          <a:prstGeom prst="rect">
            <a:avLst/>
          </a:prstGeom>
          <a:noFill/>
        </p:spPr>
        <p:txBody>
          <a:bodyPr wrap="square" lIns="0" rIns="0" tIns="0" bIns="0">
            <a:spAutoFit/>
          </a:bodyPr>
          <a:lstStyle/>
          <a:p>
            <a:pPr>
              <a:spcBef>
                <a:spcPts val="0"/>
              </a:spcBef>
              <a:spcAft>
                <a:spcPts val="300"/>
              </a:spcAft>
              <a:defRPr sz="2100" b="1">
                <a:solidFill>
                  <a:srgbClr val="1A1A1A"/>
                </a:solidFill>
                <a:latin typeface="Arial"/>
              </a:defRPr>
            </a:pPr>
            <a:r>
              <a:rPr b="1">
                <a:solidFill>
                  <a:srgbClr val="201C19"/>
                </a:solidFill>
                <a:latin typeface="Arial"/>
              </a:rPr>
              <a:t>Review previous feedback and attempt the retrieval prompt without displayed solutions.</a:t>
            </a:r>
          </a:p>
        </p:txBody>
      </p:sp>
      <p:sp>
        <p:nvSpPr>
          <p:cNvPr id="8" name="TextBox 7"/>
          <p:cNvSpPr txBox="1"/>
          <p:nvPr/>
        </p:nvSpPr>
        <p:spPr>
          <a:xfrm>
            <a:off x="612648" y="5788152"/>
            <a:ext cx="10927080" cy="411480"/>
          </a:xfrm>
          <a:prstGeom prst="rect">
            <a:avLst/>
          </a:prstGeom>
          <a:noFill/>
        </p:spPr>
        <p:txBody>
          <a:bodyPr wrap="square" lIns="0" rIns="0" tIns="0" bIns="0">
            <a:spAutoFit/>
          </a:bodyPr>
          <a:lstStyle/>
          <a:p>
            <a:pPr>
              <a:spcBef>
                <a:spcPts val="0"/>
              </a:spcBef>
              <a:spcAft>
                <a:spcPts val="300"/>
              </a:spcAft>
              <a:defRPr sz="1250" b="0">
                <a:solidFill>
                  <a:srgbClr val="4A4E54"/>
                </a:solidFill>
                <a:latin typeface="Arial"/>
              </a:defRPr>
            </a:pPr>
            <a:r>
              <a:rPr>
                <a:solidFill>
                  <a:srgbClr val="62564B"/>
                </a:solidFill>
                <a:latin typeface="Arial"/>
              </a:rPr>
              <a:t>Resources: Stations: 1B Q3 p.8; 4A Q14(a),15(a) p.26; 5A Q12–13 p.33; 6A Q19 p.40; 7A Q11–12 p.45; 8C Q1–2 p.55.</a:t>
            </a:r>
          </a:p>
        </p:txBody>
      </p:sp>
      <p:pic>
        <p:nvPicPr>
          <p:cNvPr id="9" name="Picture 8"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1" name="TextBox 10"/>
          <p:cNvSpPr txBox="1"/>
          <p:nvPr/>
        </p:nvSpPr>
        <p:spPr>
          <a:xfrm>
            <a:off x="612648" y="6620256"/>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4"/>
              </a:rPr>
              <a:t>Textbook</a:t>
            </a:r>
          </a:p>
        </p:txBody>
      </p:sp>
      <p:sp>
        <p:nvSpPr>
          <p:cNvPr id="12" name="TextBox 11"/>
          <p:cNvSpPr txBox="1"/>
          <p:nvPr/>
        </p:nvSpPr>
        <p:spPr>
          <a:xfrm>
            <a:off x="1691640" y="6620256"/>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5"/>
              </a:rPr>
              <a:t>Exercise Book</a:t>
            </a:r>
          </a:p>
        </p:txBody>
      </p:sp>
      <p:sp>
        <p:nvSpPr>
          <p:cNvPr id="13" name="TextBox 12"/>
          <p:cNvSpPr txBox="1"/>
          <p:nvPr/>
        </p:nvSpPr>
        <p:spPr>
          <a:xfrm>
            <a:off x="3136392" y="6620256"/>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6"/>
              </a:rPr>
              <a:t>Numeracy Hub</a:t>
            </a:r>
          </a:p>
        </p:txBody>
      </p:sp>
      <p:sp>
        <p:nvSpPr>
          <p:cNvPr id="14" name="TextBox 13"/>
          <p:cNvSpPr txBox="1"/>
          <p:nvPr/>
        </p:nvSpPr>
        <p:spPr>
          <a:xfrm>
            <a:off x="4736592" y="6620256"/>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7"/>
              </a:rPr>
              <a:t>Shape Canvas</a:t>
            </a:r>
          </a:p>
        </p:txBody>
      </p:sp>
      <p:sp>
        <p:nvSpPr>
          <p:cNvPr id="15" name="TextBox 14"/>
          <p:cNvSpPr txBox="1"/>
          <p:nvPr/>
        </p:nvSpPr>
        <p:spPr>
          <a:xfrm>
            <a:off x="8412480" y="6620256"/>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sz="850">
                <a:solidFill>
                  <a:srgbClr val="F7F4F1"/>
                </a:solidFill>
                <a:latin typeface="Arial"/>
              </a:rPr>
              <a:t>Day 25  •  2026-12-14  •  04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7F4F1"/>
        </a:solidFill>
        <a:effectLst/>
      </p:bgPr>
    </p:bg>
    <p:spTree>
      <p:nvGrpSpPr>
        <p:cNvPr id="1" name=""/>
        <p:cNvGrpSpPr/>
        <p:nvPr/>
      </p:nvGrpSpPr>
      <p:grpSpPr/>
      <p:sp>
        <p:nvSpPr>
          <p:cNvPr id="20" name="Rectangle 19"/>
          <p:cNvSpPr/>
          <p:nvPr/>
        </p:nvSpPr>
        <p:spPr>
          <a:xfrm>
            <a:off x="0" y="6528816"/>
            <a:ext cx="12191695" cy="329184"/>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0" y="0"/>
            <a:ext cx="12191695" cy="1645920"/>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10104120" y="114300"/>
            <a:ext cx="1517904" cy="753153"/>
          </a:xfrm>
          <a:prstGeom prst="roundRect">
            <a:avLst>
              <a:gd name="adj" fmla="val 8000"/>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612648" y="1865376"/>
            <a:ext cx="5349240" cy="190195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6217920" y="1865376"/>
            <a:ext cx="5349240" cy="190195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612648" y="3895344"/>
            <a:ext cx="5349240" cy="190195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a:off x="6217920" y="3895344"/>
            <a:ext cx="5349240" cy="190195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spAutoFit/>
          </a:bodyPr>
          <a:lstStyle/>
          <a:p>
            <a:pPr>
              <a:spcBef>
                <a:spcPts val="0"/>
              </a:spcBef>
              <a:spcAft>
                <a:spcPts val="300"/>
              </a:spcAft>
              <a:defRPr sz="1150" b="1">
                <a:solidFill>
                  <a:srgbClr val="D2181F"/>
                </a:solidFill>
                <a:latin typeface="Arial"/>
              </a:defRPr>
            </a:pPr>
            <a:r>
              <a:rPr>
                <a:solidFill>
                  <a:srgbClr val="FFFFFF"/>
                </a:solidFill>
                <a:latin typeface="Arial"/>
              </a:rPr>
              <a:t>W08-L01  •  TEACH  •  9:10 AM–9:25 AM  •  15 MIN TOTAL</a:t>
            </a:r>
          </a:p>
        </p:txBody>
      </p:sp>
      <p:sp>
        <p:nvSpPr>
          <p:cNvPr id="3" name="TextBox 2"/>
          <p:cNvSpPr txBox="1"/>
          <p:nvPr/>
        </p:nvSpPr>
        <p:spPr>
          <a:xfrm>
            <a:off x="612648" y="932688"/>
            <a:ext cx="10927080" cy="749808"/>
          </a:xfrm>
          <a:prstGeom prst="rect">
            <a:avLst/>
          </a:prstGeom>
          <a:noFill/>
        </p:spPr>
        <p:txBody>
          <a:bodyPr wrap="square" lIns="0" rIns="0" tIns="0" bIns="0">
            <a:spAutoFit/>
          </a:bodyPr>
          <a:lstStyle/>
          <a:p>
            <a:pPr>
              <a:spcBef>
                <a:spcPts val="0"/>
              </a:spcBef>
              <a:spcAft>
                <a:spcPts val="300"/>
              </a:spcAft>
              <a:defRPr sz="2900" b="1">
                <a:solidFill>
                  <a:srgbClr val="1A1A1A"/>
                </a:solidFill>
                <a:latin typeface="Arial"/>
              </a:defRPr>
            </a:pPr>
            <a:r>
              <a:rPr b="1">
                <a:solidFill>
                  <a:srgbClr val="FFFFFF"/>
                </a:solidFill>
                <a:latin typeface="Arial"/>
              </a:rPr>
              <a:t>Choose the method before the keys</a:t>
            </a:r>
          </a:p>
        </p:txBody>
      </p:sp>
      <p:sp>
        <p:nvSpPr>
          <p:cNvPr id="4" name="TextBox 3"/>
          <p:cNvSpPr txBox="1"/>
          <p:nvPr/>
        </p:nvSpPr>
        <p:spPr>
          <a:xfrm>
            <a:off x="612648" y="6327648"/>
            <a:ext cx="10881360" cy="219456"/>
          </a:xfrm>
          <a:prstGeom prst="rect">
            <a:avLst/>
          </a:prstGeom>
          <a:noFill/>
        </p:spPr>
        <p:txBody>
          <a:bodyPr wrap="square" lIns="0" rIns="0" tIns="0" bIns="0">
            <a:spAutoFit/>
          </a:bodyPr>
          <a:lstStyle/>
          <a:p>
            <a:pPr>
              <a:spcBef>
                <a:spcPts val="0"/>
              </a:spcBef>
              <a:spcAft>
                <a:spcPts val="300"/>
              </a:spcAft>
              <a:defRPr sz="1050" b="0">
                <a:solidFill>
                  <a:srgbClr val="4A4E54"/>
                </a:solidFill>
                <a:latin typeface="Arial"/>
              </a:defRPr>
            </a:pPr>
            <a:r>
              <a:rPr>
                <a:solidFill>
                  <a:srgbClr val="62564B"/>
                </a:solidFill>
                <a:latin typeface="Arial"/>
              </a:rPr>
              <a:t>Textbook Chapter 1–8, selected; formula sheet p.219; conversion factors pp.220–221</a:t>
            </a:r>
          </a:p>
        </p:txBody>
      </p:sp>
      <p:sp>
        <p:nvSpPr>
          <p:cNvPr id="5" name="Rectangle 4"/>
          <p:cNvSpPr/>
          <p:nvPr/>
        </p:nvSpPr>
        <p:spPr>
          <a:xfrm>
            <a:off x="795528" y="2029968"/>
            <a:ext cx="393192" cy="393192"/>
          </a:xfrm>
          <a:prstGeom prst="rect">
            <a:avLst/>
          </a:prstGeom>
          <a:solidFill>
            <a:srgbClr val="C60016"/>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500" b="1">
                <a:solidFill>
                  <a:srgbClr val="1A1A1A"/>
                </a:solidFill>
                <a:latin typeface="Arial"/>
              </a:defRPr>
            </a:pPr>
            <a:r>
              <a:rPr b="1" sz="1900">
                <a:solidFill>
                  <a:srgbClr val="FFFFFF"/>
                </a:solidFill>
                <a:latin typeface="Arial"/>
              </a:rPr>
              <a:t>1</a:t>
            </a:r>
          </a:p>
        </p:txBody>
      </p:sp>
      <p:sp>
        <p:nvSpPr>
          <p:cNvPr id="6" name="TextBox 5"/>
          <p:cNvSpPr txBox="1"/>
          <p:nvPr/>
        </p:nvSpPr>
        <p:spPr>
          <a:xfrm>
            <a:off x="1362456" y="2048256"/>
            <a:ext cx="4343400" cy="1554480"/>
          </a:xfrm>
          <a:prstGeom prst="rect">
            <a:avLst/>
          </a:prstGeom>
          <a:noFill/>
        </p:spPr>
        <p:txBody>
          <a:bodyPr wrap="square" lIns="0" rIns="0" tIns="0" bIns="0">
            <a:spAutoFit/>
          </a:bodyPr>
          <a:lstStyle/>
          <a:p>
            <a:pPr>
              <a:lnSpc>
                <a:spcPct val="105000"/>
              </a:lnSpc>
              <a:spcBef>
                <a:spcPts val="0"/>
              </a:spcBef>
              <a:spcAft>
                <a:spcPts val="300"/>
              </a:spcAft>
              <a:defRPr sz="2200" b="0">
                <a:solidFill>
                  <a:srgbClr val="1A1A1A"/>
                </a:solidFill>
                <a:latin typeface="Arial"/>
              </a:defRPr>
            </a:pPr>
            <a:r>
              <a:rPr sz="2100">
                <a:solidFill>
                  <a:srgbClr val="201C19"/>
                </a:solidFill>
                <a:latin typeface="Arial"/>
              </a:rPr>
              <a:t>At the number station, explain the operation choice and any rounding needed for a whole purchase unit.</a:t>
            </a:r>
          </a:p>
        </p:txBody>
      </p:sp>
      <p:sp>
        <p:nvSpPr>
          <p:cNvPr id="7" name="Rectangle 6"/>
          <p:cNvSpPr/>
          <p:nvPr/>
        </p:nvSpPr>
        <p:spPr>
          <a:xfrm>
            <a:off x="6400800" y="2029968"/>
            <a:ext cx="393192" cy="393192"/>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500" b="1">
                <a:solidFill>
                  <a:srgbClr val="1A1A1A"/>
                </a:solidFill>
                <a:latin typeface="Arial"/>
              </a:defRPr>
            </a:pPr>
            <a:r>
              <a:rPr b="1" sz="1900">
                <a:solidFill>
                  <a:srgbClr val="201C19"/>
                </a:solidFill>
                <a:latin typeface="Arial"/>
              </a:rPr>
              <a:t>2</a:t>
            </a:r>
          </a:p>
        </p:txBody>
      </p:sp>
      <p:sp>
        <p:nvSpPr>
          <p:cNvPr id="8" name="TextBox 7"/>
          <p:cNvSpPr txBox="1"/>
          <p:nvPr/>
        </p:nvSpPr>
        <p:spPr>
          <a:xfrm>
            <a:off x="6967728" y="2048256"/>
            <a:ext cx="4343400" cy="1554480"/>
          </a:xfrm>
          <a:prstGeom prst="rect">
            <a:avLst/>
          </a:prstGeom>
          <a:noFill/>
        </p:spPr>
        <p:txBody>
          <a:bodyPr wrap="square" lIns="0" rIns="0" tIns="0" bIns="0">
            <a:spAutoFit/>
          </a:bodyPr>
          <a:lstStyle/>
          <a:p>
            <a:pPr>
              <a:lnSpc>
                <a:spcPct val="105000"/>
              </a:lnSpc>
              <a:spcBef>
                <a:spcPts val="0"/>
              </a:spcBef>
              <a:spcAft>
                <a:spcPts val="300"/>
              </a:spcAft>
              <a:defRPr sz="2200" b="0">
                <a:solidFill>
                  <a:srgbClr val="1A1A1A"/>
                </a:solidFill>
                <a:latin typeface="Arial"/>
              </a:defRPr>
            </a:pPr>
            <a:r>
              <a:rPr sz="2100">
                <a:solidFill>
                  <a:srgbClr val="201C19"/>
                </a:solidFill>
                <a:latin typeface="Arial"/>
              </a:rPr>
              <a:t>At the fraction/decimal station, show the regrouping or conversion that keeps the quantity unchanged.</a:t>
            </a:r>
          </a:p>
        </p:txBody>
      </p:sp>
      <p:sp>
        <p:nvSpPr>
          <p:cNvPr id="9" name="Rectangle 8"/>
          <p:cNvSpPr/>
          <p:nvPr/>
        </p:nvSpPr>
        <p:spPr>
          <a:xfrm>
            <a:off x="795528" y="4059935"/>
            <a:ext cx="393192" cy="393192"/>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500" b="1">
                <a:solidFill>
                  <a:srgbClr val="1A1A1A"/>
                </a:solidFill>
                <a:latin typeface="Arial"/>
              </a:defRPr>
            </a:pPr>
            <a:r>
              <a:rPr b="1" sz="1900">
                <a:solidFill>
                  <a:srgbClr val="201C19"/>
                </a:solidFill>
                <a:latin typeface="Arial"/>
              </a:rPr>
              <a:t>3</a:t>
            </a:r>
          </a:p>
        </p:txBody>
      </p:sp>
      <p:sp>
        <p:nvSpPr>
          <p:cNvPr id="10" name="TextBox 9"/>
          <p:cNvSpPr txBox="1"/>
          <p:nvPr/>
        </p:nvSpPr>
        <p:spPr>
          <a:xfrm>
            <a:off x="1362456" y="4078224"/>
            <a:ext cx="4343400" cy="1554480"/>
          </a:xfrm>
          <a:prstGeom prst="rect">
            <a:avLst/>
          </a:prstGeom>
          <a:noFill/>
        </p:spPr>
        <p:txBody>
          <a:bodyPr wrap="square" lIns="0" rIns="0" tIns="0" bIns="0">
            <a:spAutoFit/>
          </a:bodyPr>
          <a:lstStyle/>
          <a:p>
            <a:pPr>
              <a:lnSpc>
                <a:spcPct val="105000"/>
              </a:lnSpc>
              <a:spcBef>
                <a:spcPts val="0"/>
              </a:spcBef>
              <a:spcAft>
                <a:spcPts val="300"/>
              </a:spcAft>
              <a:defRPr sz="2200" b="0">
                <a:solidFill>
                  <a:srgbClr val="1A1A1A"/>
                </a:solidFill>
                <a:latin typeface="Arial"/>
              </a:defRPr>
            </a:pPr>
            <a:r>
              <a:rPr sz="2100">
                <a:solidFill>
                  <a:srgbClr val="201C19"/>
                </a:solidFill>
                <a:latin typeface="Arial"/>
              </a:rPr>
              <a:t>At the conversion/scale station, record the factor, its direction and both units.</a:t>
            </a:r>
          </a:p>
        </p:txBody>
      </p:sp>
      <p:sp>
        <p:nvSpPr>
          <p:cNvPr id="11" name="Rectangle 10"/>
          <p:cNvSpPr/>
          <p:nvPr/>
        </p:nvSpPr>
        <p:spPr>
          <a:xfrm>
            <a:off x="6400800" y="4059935"/>
            <a:ext cx="393192" cy="393192"/>
          </a:xfrm>
          <a:prstGeom prst="rect">
            <a:avLst/>
          </a:prstGeom>
          <a:solidFill>
            <a:srgbClr val="C60016"/>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500" b="1">
                <a:solidFill>
                  <a:srgbClr val="1A1A1A"/>
                </a:solidFill>
                <a:latin typeface="Arial"/>
              </a:defRPr>
            </a:pPr>
            <a:r>
              <a:rPr b="1" sz="1900">
                <a:solidFill>
                  <a:srgbClr val="FFFFFF"/>
                </a:solidFill>
                <a:latin typeface="Arial"/>
              </a:rPr>
              <a:t>4</a:t>
            </a:r>
          </a:p>
        </p:txBody>
      </p:sp>
      <p:sp>
        <p:nvSpPr>
          <p:cNvPr id="12" name="TextBox 11"/>
          <p:cNvSpPr txBox="1"/>
          <p:nvPr/>
        </p:nvSpPr>
        <p:spPr>
          <a:xfrm>
            <a:off x="6967728" y="4078224"/>
            <a:ext cx="4343400" cy="1554480"/>
          </a:xfrm>
          <a:prstGeom prst="rect">
            <a:avLst/>
          </a:prstGeom>
          <a:noFill/>
        </p:spPr>
        <p:txBody>
          <a:bodyPr wrap="square" lIns="0" rIns="0" tIns="0" bIns="0">
            <a:spAutoFit/>
          </a:bodyPr>
          <a:lstStyle/>
          <a:p>
            <a:pPr>
              <a:lnSpc>
                <a:spcPct val="105000"/>
              </a:lnSpc>
              <a:spcBef>
                <a:spcPts val="0"/>
              </a:spcBef>
              <a:spcAft>
                <a:spcPts val="300"/>
              </a:spcAft>
              <a:defRPr sz="2200" b="0">
                <a:solidFill>
                  <a:srgbClr val="1A1A1A"/>
                </a:solidFill>
                <a:latin typeface="Arial"/>
              </a:defRPr>
            </a:pPr>
            <a:r>
              <a:rPr sz="2100">
                <a:solidFill>
                  <a:srgbClr val="201C19"/>
                </a:solidFill>
                <a:latin typeface="Arial"/>
              </a:rPr>
              <a:t>At the formulas station, find the missing dimension and substitute it back into the original relationship.</a:t>
            </a:r>
          </a:p>
        </p:txBody>
      </p:sp>
      <p:pic>
        <p:nvPicPr>
          <p:cNvPr id="13" name="Picture 12"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5" name="TextBox 14"/>
          <p:cNvSpPr txBox="1"/>
          <p:nvPr/>
        </p:nvSpPr>
        <p:spPr>
          <a:xfrm>
            <a:off x="612648" y="6620256"/>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4"/>
              </a:rPr>
              <a:t>Textbook</a:t>
            </a:r>
          </a:p>
        </p:txBody>
      </p:sp>
      <p:sp>
        <p:nvSpPr>
          <p:cNvPr id="16" name="TextBox 15"/>
          <p:cNvSpPr txBox="1"/>
          <p:nvPr/>
        </p:nvSpPr>
        <p:spPr>
          <a:xfrm>
            <a:off x="1691640" y="6620256"/>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5"/>
              </a:rPr>
              <a:t>Exercise Book</a:t>
            </a:r>
          </a:p>
        </p:txBody>
      </p:sp>
      <p:sp>
        <p:nvSpPr>
          <p:cNvPr id="17" name="TextBox 16"/>
          <p:cNvSpPr txBox="1"/>
          <p:nvPr/>
        </p:nvSpPr>
        <p:spPr>
          <a:xfrm>
            <a:off x="3136392" y="6620256"/>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6"/>
              </a:rPr>
              <a:t>Numeracy Hub</a:t>
            </a:r>
          </a:p>
        </p:txBody>
      </p:sp>
      <p:sp>
        <p:nvSpPr>
          <p:cNvPr id="18" name="TextBox 17"/>
          <p:cNvSpPr txBox="1"/>
          <p:nvPr/>
        </p:nvSpPr>
        <p:spPr>
          <a:xfrm>
            <a:off x="4736592" y="6620256"/>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7"/>
              </a:rPr>
              <a:t>Shape Canvas</a:t>
            </a:r>
          </a:p>
        </p:txBody>
      </p:sp>
      <p:sp>
        <p:nvSpPr>
          <p:cNvPr id="19" name="TextBox 18"/>
          <p:cNvSpPr txBox="1"/>
          <p:nvPr/>
        </p:nvSpPr>
        <p:spPr>
          <a:xfrm>
            <a:off x="8412480" y="6620256"/>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sz="850">
                <a:solidFill>
                  <a:srgbClr val="F7F4F1"/>
                </a:solidFill>
                <a:latin typeface="Arial"/>
              </a:rPr>
              <a:t>Day 25  •  2026-12-14  •  05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7F4F1"/>
        </a:solidFill>
        <a:effectLst/>
      </p:bgPr>
    </p:bg>
    <p:spTree>
      <p:nvGrpSpPr>
        <p:cNvPr id="1" name=""/>
        <p:cNvGrpSpPr/>
        <p:nvPr/>
      </p:nvGrpSpPr>
      <p:grpSpPr/>
      <p:sp>
        <p:nvSpPr>
          <p:cNvPr id="20" name="Rectangle 19"/>
          <p:cNvSpPr/>
          <p:nvPr/>
        </p:nvSpPr>
        <p:spPr>
          <a:xfrm>
            <a:off x="0" y="6528816"/>
            <a:ext cx="12191695" cy="329184"/>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0" y="0"/>
            <a:ext cx="12191695" cy="1645920"/>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10104120" y="114300"/>
            <a:ext cx="1517904" cy="753153"/>
          </a:xfrm>
          <a:prstGeom prst="roundRect">
            <a:avLst>
              <a:gd name="adj" fmla="val 8000"/>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612648" y="1865376"/>
            <a:ext cx="5349240" cy="190195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6217920" y="1865376"/>
            <a:ext cx="5349240" cy="190195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612648" y="3895344"/>
            <a:ext cx="5349240" cy="190195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a:off x="6217920" y="3895344"/>
            <a:ext cx="5349240" cy="190195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spAutoFit/>
          </a:bodyPr>
          <a:lstStyle/>
          <a:p>
            <a:pPr>
              <a:spcBef>
                <a:spcPts val="0"/>
              </a:spcBef>
              <a:spcAft>
                <a:spcPts val="300"/>
              </a:spcAft>
              <a:defRPr sz="1150" b="1">
                <a:solidFill>
                  <a:srgbClr val="D2181F"/>
                </a:solidFill>
                <a:latin typeface="Arial"/>
              </a:defRPr>
            </a:pPr>
            <a:r>
              <a:rPr>
                <a:solidFill>
                  <a:srgbClr val="FFFFFF"/>
                </a:solidFill>
                <a:latin typeface="Arial"/>
              </a:rPr>
              <a:t>W08-L01  •  TEACH  •  9:10 AM–9:25 AM  •  15 MIN TOTAL</a:t>
            </a:r>
          </a:p>
        </p:txBody>
      </p:sp>
      <p:sp>
        <p:nvSpPr>
          <p:cNvPr id="3" name="TextBox 2"/>
          <p:cNvSpPr txBox="1"/>
          <p:nvPr/>
        </p:nvSpPr>
        <p:spPr>
          <a:xfrm>
            <a:off x="612648" y="932688"/>
            <a:ext cx="10927080" cy="749808"/>
          </a:xfrm>
          <a:prstGeom prst="rect">
            <a:avLst/>
          </a:prstGeom>
          <a:noFill/>
        </p:spPr>
        <p:txBody>
          <a:bodyPr wrap="square" lIns="0" rIns="0" tIns="0" bIns="0">
            <a:spAutoFit/>
          </a:bodyPr>
          <a:lstStyle/>
          <a:p>
            <a:pPr>
              <a:spcBef>
                <a:spcPts val="0"/>
              </a:spcBef>
              <a:spcAft>
                <a:spcPts val="300"/>
              </a:spcAft>
              <a:defRPr sz="2900" b="1">
                <a:solidFill>
                  <a:srgbClr val="1A1A1A"/>
                </a:solidFill>
                <a:latin typeface="Arial"/>
              </a:defRPr>
            </a:pPr>
            <a:r>
              <a:rPr b="1">
                <a:solidFill>
                  <a:srgbClr val="FFFFFF"/>
                </a:solidFill>
                <a:latin typeface="Arial"/>
              </a:rPr>
              <a:t>Let your error log guide the review</a:t>
            </a:r>
          </a:p>
        </p:txBody>
      </p:sp>
      <p:sp>
        <p:nvSpPr>
          <p:cNvPr id="4" name="TextBox 3"/>
          <p:cNvSpPr txBox="1"/>
          <p:nvPr/>
        </p:nvSpPr>
        <p:spPr>
          <a:xfrm>
            <a:off x="612648" y="6327648"/>
            <a:ext cx="10881360" cy="219456"/>
          </a:xfrm>
          <a:prstGeom prst="rect">
            <a:avLst/>
          </a:prstGeom>
          <a:noFill/>
        </p:spPr>
        <p:txBody>
          <a:bodyPr wrap="square" lIns="0" rIns="0" tIns="0" bIns="0">
            <a:spAutoFit/>
          </a:bodyPr>
          <a:lstStyle/>
          <a:p>
            <a:pPr>
              <a:spcBef>
                <a:spcPts val="0"/>
              </a:spcBef>
              <a:spcAft>
                <a:spcPts val="300"/>
              </a:spcAft>
              <a:defRPr sz="1050" b="0">
                <a:solidFill>
                  <a:srgbClr val="4A4E54"/>
                </a:solidFill>
                <a:latin typeface="Arial"/>
              </a:defRPr>
            </a:pPr>
            <a:r>
              <a:rPr>
                <a:solidFill>
                  <a:srgbClr val="62564B"/>
                </a:solidFill>
                <a:latin typeface="Arial"/>
              </a:rPr>
              <a:t>Textbook Chapter 1–8, selected; formula sheet p.219; conversion factors pp.220–221</a:t>
            </a:r>
          </a:p>
        </p:txBody>
      </p:sp>
      <p:sp>
        <p:nvSpPr>
          <p:cNvPr id="5" name="Rectangle 4"/>
          <p:cNvSpPr/>
          <p:nvPr/>
        </p:nvSpPr>
        <p:spPr>
          <a:xfrm>
            <a:off x="795528" y="2029968"/>
            <a:ext cx="393192" cy="393192"/>
          </a:xfrm>
          <a:prstGeom prst="rect">
            <a:avLst/>
          </a:prstGeom>
          <a:solidFill>
            <a:srgbClr val="C60016"/>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500" b="1">
                <a:solidFill>
                  <a:srgbClr val="1A1A1A"/>
                </a:solidFill>
                <a:latin typeface="Arial"/>
              </a:defRPr>
            </a:pPr>
            <a:r>
              <a:rPr b="1" sz="1900">
                <a:solidFill>
                  <a:srgbClr val="FFFFFF"/>
                </a:solidFill>
                <a:latin typeface="Arial"/>
              </a:rPr>
              <a:t>1</a:t>
            </a:r>
          </a:p>
        </p:txBody>
      </p:sp>
      <p:sp>
        <p:nvSpPr>
          <p:cNvPr id="6" name="TextBox 5"/>
          <p:cNvSpPr txBox="1"/>
          <p:nvPr/>
        </p:nvSpPr>
        <p:spPr>
          <a:xfrm>
            <a:off x="1362456" y="2048256"/>
            <a:ext cx="4343400" cy="1554480"/>
          </a:xfrm>
          <a:prstGeom prst="rect">
            <a:avLst/>
          </a:prstGeom>
          <a:noFill/>
        </p:spPr>
        <p:txBody>
          <a:bodyPr wrap="square" lIns="0" rIns="0" tIns="0" bIns="0">
            <a:spAutoFit/>
          </a:bodyPr>
          <a:lstStyle/>
          <a:p>
            <a:pPr>
              <a:lnSpc>
                <a:spcPct val="105000"/>
              </a:lnSpc>
              <a:spcBef>
                <a:spcPts val="0"/>
              </a:spcBef>
              <a:spcAft>
                <a:spcPts val="300"/>
              </a:spcAft>
              <a:defRPr sz="2200" b="0">
                <a:solidFill>
                  <a:srgbClr val="1A1A1A"/>
                </a:solidFill>
                <a:latin typeface="Arial"/>
              </a:defRPr>
            </a:pPr>
            <a:r>
              <a:rPr sz="2100">
                <a:solidFill>
                  <a:srgbClr val="201C19"/>
                </a:solidFill>
                <a:latin typeface="Arial"/>
              </a:rPr>
              <a:t>Begin with the two revision priorities from Week 7 and select a checking strategy for each.</a:t>
            </a:r>
          </a:p>
        </p:txBody>
      </p:sp>
      <p:sp>
        <p:nvSpPr>
          <p:cNvPr id="7" name="Rectangle 6"/>
          <p:cNvSpPr/>
          <p:nvPr/>
        </p:nvSpPr>
        <p:spPr>
          <a:xfrm>
            <a:off x="6400800" y="2029968"/>
            <a:ext cx="393192" cy="393192"/>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500" b="1">
                <a:solidFill>
                  <a:srgbClr val="1A1A1A"/>
                </a:solidFill>
                <a:latin typeface="Arial"/>
              </a:defRPr>
            </a:pPr>
            <a:r>
              <a:rPr b="1" sz="1900">
                <a:solidFill>
                  <a:srgbClr val="201C19"/>
                </a:solidFill>
                <a:latin typeface="Arial"/>
              </a:rPr>
              <a:t>2</a:t>
            </a:r>
          </a:p>
        </p:txBody>
      </p:sp>
      <p:sp>
        <p:nvSpPr>
          <p:cNvPr id="8" name="TextBox 7"/>
          <p:cNvSpPr txBox="1"/>
          <p:nvPr/>
        </p:nvSpPr>
        <p:spPr>
          <a:xfrm>
            <a:off x="6967728" y="2048256"/>
            <a:ext cx="4343400" cy="1554480"/>
          </a:xfrm>
          <a:prstGeom prst="rect">
            <a:avLst/>
          </a:prstGeom>
          <a:noFill/>
        </p:spPr>
        <p:txBody>
          <a:bodyPr wrap="square" lIns="0" rIns="0" tIns="0" bIns="0">
            <a:spAutoFit/>
          </a:bodyPr>
          <a:lstStyle/>
          <a:p>
            <a:pPr>
              <a:lnSpc>
                <a:spcPct val="105000"/>
              </a:lnSpc>
              <a:spcBef>
                <a:spcPts val="0"/>
              </a:spcBef>
              <a:spcAft>
                <a:spcPts val="300"/>
              </a:spcAft>
              <a:defRPr sz="2200" b="0">
                <a:solidFill>
                  <a:srgbClr val="1A1A1A"/>
                </a:solidFill>
                <a:latin typeface="Arial"/>
              </a:defRPr>
            </a:pPr>
            <a:r>
              <a:rPr sz="2100">
                <a:solidFill>
                  <a:srgbClr val="201C19"/>
                </a:solidFill>
                <a:latin typeface="Arial"/>
              </a:rPr>
              <a:t>Look for the step behind the error: regrouping, a wrong factor, a wrong denominator or missing brackets.</a:t>
            </a:r>
          </a:p>
        </p:txBody>
      </p:sp>
      <p:sp>
        <p:nvSpPr>
          <p:cNvPr id="9" name="Rectangle 8"/>
          <p:cNvSpPr/>
          <p:nvPr/>
        </p:nvSpPr>
        <p:spPr>
          <a:xfrm>
            <a:off x="795528" y="4059935"/>
            <a:ext cx="393192" cy="393192"/>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500" b="1">
                <a:solidFill>
                  <a:srgbClr val="1A1A1A"/>
                </a:solidFill>
                <a:latin typeface="Arial"/>
              </a:defRPr>
            </a:pPr>
            <a:r>
              <a:rPr b="1" sz="1900">
                <a:solidFill>
                  <a:srgbClr val="201C19"/>
                </a:solidFill>
                <a:latin typeface="Arial"/>
              </a:rPr>
              <a:t>3</a:t>
            </a:r>
          </a:p>
        </p:txBody>
      </p:sp>
      <p:sp>
        <p:nvSpPr>
          <p:cNvPr id="10" name="TextBox 9"/>
          <p:cNvSpPr txBox="1"/>
          <p:nvPr/>
        </p:nvSpPr>
        <p:spPr>
          <a:xfrm>
            <a:off x="1362456" y="4078224"/>
            <a:ext cx="4343400" cy="1554480"/>
          </a:xfrm>
          <a:prstGeom prst="rect">
            <a:avLst/>
          </a:prstGeom>
          <a:noFill/>
        </p:spPr>
        <p:txBody>
          <a:bodyPr wrap="square" lIns="0" rIns="0" tIns="0" bIns="0">
            <a:spAutoFit/>
          </a:bodyPr>
          <a:lstStyle/>
          <a:p>
            <a:pPr>
              <a:lnSpc>
                <a:spcPct val="105000"/>
              </a:lnSpc>
              <a:spcBef>
                <a:spcPts val="0"/>
              </a:spcBef>
              <a:spcAft>
                <a:spcPts val="300"/>
              </a:spcAft>
              <a:defRPr sz="2200" b="0">
                <a:solidFill>
                  <a:srgbClr val="1A1A1A"/>
                </a:solidFill>
                <a:latin typeface="Arial"/>
              </a:defRPr>
            </a:pPr>
            <a:r>
              <a:rPr sz="2100">
                <a:solidFill>
                  <a:srgbClr val="201C19"/>
                </a:solidFill>
                <a:latin typeface="Arial"/>
              </a:rPr>
              <a:t>Use the selected Textbook chapters, formula sheet p.219 and conversion factors pp.220–221 to explain why the method applies.</a:t>
            </a:r>
          </a:p>
        </p:txBody>
      </p:sp>
      <p:sp>
        <p:nvSpPr>
          <p:cNvPr id="11" name="Rectangle 10"/>
          <p:cNvSpPr/>
          <p:nvPr/>
        </p:nvSpPr>
        <p:spPr>
          <a:xfrm>
            <a:off x="6400800" y="4059935"/>
            <a:ext cx="393192" cy="393192"/>
          </a:xfrm>
          <a:prstGeom prst="rect">
            <a:avLst/>
          </a:prstGeom>
          <a:solidFill>
            <a:srgbClr val="C60016"/>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500" b="1">
                <a:solidFill>
                  <a:srgbClr val="1A1A1A"/>
                </a:solidFill>
                <a:latin typeface="Arial"/>
              </a:defRPr>
            </a:pPr>
            <a:r>
              <a:rPr b="1" sz="1900">
                <a:solidFill>
                  <a:srgbClr val="FFFFFF"/>
                </a:solidFill>
                <a:latin typeface="Arial"/>
              </a:rPr>
              <a:t>4</a:t>
            </a:r>
          </a:p>
        </p:txBody>
      </p:sp>
      <p:sp>
        <p:nvSpPr>
          <p:cNvPr id="12" name="TextBox 11"/>
          <p:cNvSpPr txBox="1"/>
          <p:nvPr/>
        </p:nvSpPr>
        <p:spPr>
          <a:xfrm>
            <a:off x="6967728" y="4078224"/>
            <a:ext cx="4343400" cy="1554480"/>
          </a:xfrm>
          <a:prstGeom prst="rect">
            <a:avLst/>
          </a:prstGeom>
          <a:noFill/>
        </p:spPr>
        <p:txBody>
          <a:bodyPr wrap="square" lIns="0" rIns="0" tIns="0" bIns="0">
            <a:spAutoFit/>
          </a:bodyPr>
          <a:lstStyle/>
          <a:p>
            <a:pPr>
              <a:lnSpc>
                <a:spcPct val="105000"/>
              </a:lnSpc>
              <a:spcBef>
                <a:spcPts val="0"/>
              </a:spcBef>
              <a:spcAft>
                <a:spcPts val="300"/>
              </a:spcAft>
              <a:defRPr sz="2200" b="0">
                <a:solidFill>
                  <a:srgbClr val="1A1A1A"/>
                </a:solidFill>
                <a:latin typeface="Arial"/>
              </a:defRPr>
            </a:pPr>
            <a:r>
              <a:rPr sz="2100">
                <a:solidFill>
                  <a:srgbClr val="201C19"/>
                </a:solidFill>
                <a:latin typeface="Arial"/>
              </a:rPr>
              <a:t>Keep written working and record whether the solution was independent, tool-checked or completed with a prompt.</a:t>
            </a:r>
          </a:p>
        </p:txBody>
      </p:sp>
      <p:pic>
        <p:nvPicPr>
          <p:cNvPr id="13" name="Picture 12"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5" name="TextBox 14"/>
          <p:cNvSpPr txBox="1"/>
          <p:nvPr/>
        </p:nvSpPr>
        <p:spPr>
          <a:xfrm>
            <a:off x="612648" y="6620256"/>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4"/>
              </a:rPr>
              <a:t>Textbook</a:t>
            </a:r>
          </a:p>
        </p:txBody>
      </p:sp>
      <p:sp>
        <p:nvSpPr>
          <p:cNvPr id="16" name="TextBox 15"/>
          <p:cNvSpPr txBox="1"/>
          <p:nvPr/>
        </p:nvSpPr>
        <p:spPr>
          <a:xfrm>
            <a:off x="1691640" y="6620256"/>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5"/>
              </a:rPr>
              <a:t>Exercise Book</a:t>
            </a:r>
          </a:p>
        </p:txBody>
      </p:sp>
      <p:sp>
        <p:nvSpPr>
          <p:cNvPr id="17" name="TextBox 16"/>
          <p:cNvSpPr txBox="1"/>
          <p:nvPr/>
        </p:nvSpPr>
        <p:spPr>
          <a:xfrm>
            <a:off x="3136392" y="6620256"/>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6"/>
              </a:rPr>
              <a:t>Numeracy Hub</a:t>
            </a:r>
          </a:p>
        </p:txBody>
      </p:sp>
      <p:sp>
        <p:nvSpPr>
          <p:cNvPr id="18" name="TextBox 17"/>
          <p:cNvSpPr txBox="1"/>
          <p:nvPr/>
        </p:nvSpPr>
        <p:spPr>
          <a:xfrm>
            <a:off x="4736592" y="6620256"/>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7"/>
              </a:rPr>
              <a:t>Shape Canvas</a:t>
            </a:r>
          </a:p>
        </p:txBody>
      </p:sp>
      <p:sp>
        <p:nvSpPr>
          <p:cNvPr id="19" name="TextBox 18"/>
          <p:cNvSpPr txBox="1"/>
          <p:nvPr/>
        </p:nvSpPr>
        <p:spPr>
          <a:xfrm>
            <a:off x="8412480" y="6620256"/>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sz="850">
                <a:solidFill>
                  <a:srgbClr val="F7F4F1"/>
                </a:solidFill>
                <a:latin typeface="Arial"/>
              </a:rPr>
              <a:t>Day 25  •  2026-12-14  •  06</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1">
    <p:bg>
      <p:bgPr>
        <a:solidFill>
          <a:srgbClr val="F7F4F1"/>
        </a:solidFill>
        <a:effectLst/>
      </p:bgPr>
    </p:bg>
    <p:spTree>
      <p:nvGrpSpPr>
        <p:cNvPr id="1" name=""/>
        <p:cNvGrpSpPr/>
        <p:nvPr/>
      </p:nvGrpSpPr>
      <p:grpSpPr>
        <a:xfrm>
          <a:off x="0" y="0"/>
          <a:ext cx="0" cy="0"/>
          <a:chOff x="0" y="0"/>
          <a:chExt cx="0" cy="0"/>
        </a:xfrm>
      </p:grpSpPr>
      <p:sp>
        <p:nvSpPr>
          <p:cNvPr id="18" name="Rectangle 17"/>
          <p:cNvSpPr/>
          <p:nvPr/>
        </p:nvSpPr>
        <p:spPr>
          <a:xfrm>
            <a:off x="0" y="6528816"/>
            <a:ext cx="12191695" cy="329184"/>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0" y="0"/>
            <a:ext cx="12191695" cy="1645920"/>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10104120" y="114300"/>
            <a:ext cx="1517904" cy="753153"/>
          </a:xfrm>
          <a:prstGeom prst="roundRect">
            <a:avLst>
              <a:gd name="adj" fmla="val 8000"/>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 1"/>
          <p:cNvSpPr/>
          <p:nvPr/>
        </p:nvSpPr>
        <p:spPr>
          <a:xfrm>
            <a:off x="609585" y="381000"/>
            <a:ext cx="9418320" cy="213271"/>
          </a:xfrm>
          <a:prstGeom prst="rect">
            <a:avLst/>
          </a:prstGeom>
          <a:noFill/>
          <a:ln/>
        </p:spPr>
        <p:txBody>
          <a:bodyPr wrap="square" lIns="0" tIns="0" rIns="0" bIns="0" rtlCol="0" anchor="t"/>
          <a:lstStyle/>
          <a:p>
            <a:pPr marL="0" indent="0" algn="l">
              <a:buNone/>
              <a:defRPr sz="1150">
                <a:solidFill>
                  <a:srgbClr val="D2181F"/>
                </a:solidFill>
                <a:latin typeface="Arial"/>
              </a:defRPr>
            </a:pPr>
            <a:r>
              <a:rPr>
                <a:solidFill>
                  <a:srgbClr val="FFFFFF"/>
                </a:solidFill>
                <a:latin typeface="Arial"/>
              </a:rPr>
              <a:t>W08-L01  •  TEACH  •  9:10 AM–9:25 AM  •  15 MIN TOTAL</a:t>
            </a:r>
            <a:endParaRPr lang="en-US" sz="1200" dirty="0"/>
          </a:p>
        </p:txBody>
      </p:sp>
      <p:sp>
        <p:nvSpPr>
          <p:cNvPr id="4" name="Text 2"/>
          <p:cNvSpPr/>
          <p:nvPr/>
        </p:nvSpPr>
        <p:spPr>
          <a:xfrm>
            <a:off x="609585" y="781050"/>
            <a:ext cx="10972526" cy="428625"/>
          </a:xfrm>
          <a:prstGeom prst="rect">
            <a:avLst/>
          </a:prstGeom>
          <a:noFill/>
          <a:ln/>
        </p:spPr>
        <p:txBody>
          <a:bodyPr wrap="square" lIns="0" tIns="0" rIns="0" bIns="0" rtlCol="0" anchor="t"/>
          <a:lstStyle/>
          <a:p>
            <a:pPr marL="0" indent="0" algn="l">
              <a:buNone/>
            </a:pPr>
            <a:r>
              <a:rPr lang="en-US" sz="3000" b="1" dirty="0">
                <a:solidFill>
                  <a:srgbClr val="FFFFFF"/>
                </a:solidFill>
                <a:latin typeface="Arial" pitchFamily="34" charset="0"/>
                <a:ea typeface="Arial" pitchFamily="34" charset="-122"/>
                <a:cs typeface="Arial" pitchFamily="34" charset="-120"/>
              </a:rPr>
              <a:t>Rotate through four method stations</a:t>
            </a:r>
            <a:endParaRPr lang="en-US" sz="3000" dirty="0"/>
          </a:p>
        </p:txBody>
      </p:sp>
      <p:sp>
        <p:nvSpPr>
          <p:cNvPr id="5" name="Text 3"/>
          <p:cNvSpPr/>
          <p:nvPr/>
        </p:nvSpPr>
        <p:spPr>
          <a:xfrm>
            <a:off x="609585" y="1714500"/>
            <a:ext cx="5048124" cy="1279922"/>
          </a:xfrm>
          <a:prstGeom prst="rect">
            <a:avLst/>
          </a:prstGeom>
          <a:noFill/>
          <a:ln/>
        </p:spPr>
        <p:txBody>
          <a:bodyPr wrap="square" lIns="0" tIns="0" rIns="0" bIns="0" rtlCol="0" anchor="t"/>
          <a:lstStyle/>
          <a:p>
            <a:pPr marL="0" indent="0" algn="l">
              <a:buNone/>
            </a:pPr>
            <a:r>
              <a:rPr lang="en-US" sz="1800" dirty="0">
                <a:solidFill>
                  <a:srgbClr val="201C19"/>
                </a:solidFill>
                <a:latin typeface="Arial" pitchFamily="34" charset="0"/>
                <a:ea typeface="Arial" pitchFamily="34" charset="-122"/>
                <a:cs typeface="Arial" pitchFamily="34" charset="-120"/>
              </a:rPr>
              <a:t>1 • NUMBER DECISIONS</a:t>
            </a:r>
            <a:endParaRPr lang="en-US" sz="1800" dirty="0"/>
          </a:p>
          <a:p>
            <a:pPr marL="0" indent="0" algn="l">
              <a:buNone/>
            </a:pPr>
            <a:r>
              <a:rPr lang="en-US" sz="1800" dirty="0">
                <a:solidFill>
                  <a:srgbClr val="201C19"/>
                </a:solidFill>
                <a:latin typeface="Arial" pitchFamily="34" charset="0"/>
                <a:ea typeface="Arial" pitchFamily="34" charset="-122"/>
                <a:cs typeface="Arial" pitchFamily="34" charset="-120"/>
              </a:rPr>
              <a:t>1B Q3 p.8.</a:t>
            </a:r>
            <a:endParaRPr lang="en-US" sz="1800" dirty="0"/>
          </a:p>
          <a:p>
            <a:pPr marL="0" indent="0" algn="l">
              <a:buNone/>
            </a:pPr>
            <a:r>
              <a:rPr lang="en-US" sz="1800" dirty="0">
                <a:solidFill>
                  <a:srgbClr val="201C19"/>
                </a:solidFill>
                <a:latin typeface="Arial" pitchFamily="34" charset="0"/>
                <a:ea typeface="Arial" pitchFamily="34" charset="-122"/>
                <a:cs typeface="Arial" pitchFamily="34" charset="-120"/>
              </a:rPr>
              <a:t>Explain operation choice and</a:t>
            </a:r>
            <a:endParaRPr lang="en-US" sz="1800" dirty="0"/>
          </a:p>
          <a:p>
            <a:pPr marL="0" indent="0" algn="l">
              <a:buNone/>
            </a:pPr>
            <a:r>
              <a:rPr lang="en-US" sz="1800" dirty="0">
                <a:solidFill>
                  <a:srgbClr val="201C19"/>
                </a:solidFill>
                <a:latin typeface="Arial" pitchFamily="34" charset="0"/>
                <a:ea typeface="Arial" pitchFamily="34" charset="-122"/>
                <a:cs typeface="Arial" pitchFamily="34" charset="-120"/>
              </a:rPr>
              <a:t>whole-purchase-unit rounding.</a:t>
            </a:r>
            <a:endParaRPr lang="en-US" sz="1800" dirty="0"/>
          </a:p>
        </p:txBody>
      </p:sp>
      <p:sp>
        <p:nvSpPr>
          <p:cNvPr id="6" name="Text 4"/>
          <p:cNvSpPr/>
          <p:nvPr/>
        </p:nvSpPr>
        <p:spPr>
          <a:xfrm>
            <a:off x="6476838" y="1714500"/>
            <a:ext cx="5048124" cy="1279922"/>
          </a:xfrm>
          <a:prstGeom prst="rect">
            <a:avLst/>
          </a:prstGeom>
          <a:noFill/>
          <a:ln/>
        </p:spPr>
        <p:txBody>
          <a:bodyPr wrap="square" lIns="0" tIns="0" rIns="0" bIns="0" rtlCol="0" anchor="t"/>
          <a:lstStyle/>
          <a:p>
            <a:pPr marL="0" indent="0" algn="l">
              <a:buNone/>
            </a:pPr>
            <a:r>
              <a:rPr lang="en-US" sz="1800" dirty="0">
                <a:solidFill>
                  <a:srgbClr val="201C19"/>
                </a:solidFill>
                <a:latin typeface="Arial" pitchFamily="34" charset="0"/>
                <a:ea typeface="Arial" pitchFamily="34" charset="-122"/>
                <a:cs typeface="Arial" pitchFamily="34" charset="-120"/>
              </a:rPr>
              <a:t>2 • FRACTIONS / DECIMALS</a:t>
            </a:r>
            <a:endParaRPr lang="en-US" sz="1800" dirty="0"/>
          </a:p>
          <a:p>
            <a:pPr marL="0" indent="0" algn="l">
              <a:buNone/>
            </a:pPr>
            <a:r>
              <a:rPr lang="en-US" sz="1800" dirty="0">
                <a:solidFill>
                  <a:srgbClr val="201C19"/>
                </a:solidFill>
                <a:latin typeface="Arial" pitchFamily="34" charset="0"/>
                <a:ea typeface="Arial" pitchFamily="34" charset="-122"/>
                <a:cs typeface="Arial" pitchFamily="34" charset="-120"/>
              </a:rPr>
              <a:t>4A Q14(a),15(a) p.26;</a:t>
            </a:r>
            <a:endParaRPr lang="en-US" sz="1800" dirty="0"/>
          </a:p>
          <a:p>
            <a:pPr marL="0" indent="0" algn="l">
              <a:buNone/>
            </a:pPr>
            <a:r>
              <a:rPr lang="en-US" sz="1800" dirty="0">
                <a:solidFill>
                  <a:srgbClr val="201C19"/>
                </a:solidFill>
                <a:latin typeface="Arial" pitchFamily="34" charset="0"/>
                <a:ea typeface="Arial" pitchFamily="34" charset="-122"/>
                <a:cs typeface="Arial" pitchFamily="34" charset="-120"/>
              </a:rPr>
              <a:t>5A Q12–13 p.33.</a:t>
            </a:r>
            <a:endParaRPr lang="en-US" sz="1800" dirty="0"/>
          </a:p>
          <a:p>
            <a:pPr marL="0" indent="0" algn="l">
              <a:buNone/>
            </a:pPr>
            <a:r>
              <a:rPr lang="en-US" sz="1800" dirty="0">
                <a:solidFill>
                  <a:srgbClr val="201C19"/>
                </a:solidFill>
                <a:latin typeface="Arial" pitchFamily="34" charset="0"/>
                <a:ea typeface="Arial" pitchFamily="34" charset="-122"/>
                <a:cs typeface="Arial" pitchFamily="34" charset="-120"/>
              </a:rPr>
              <a:t>Explain regrouping or conversion.</a:t>
            </a:r>
            <a:endParaRPr lang="en-US" sz="1800" dirty="0"/>
          </a:p>
        </p:txBody>
      </p:sp>
      <p:sp>
        <p:nvSpPr>
          <p:cNvPr id="7" name="Text 5"/>
          <p:cNvSpPr/>
          <p:nvPr/>
        </p:nvSpPr>
        <p:spPr>
          <a:xfrm>
            <a:off x="609585" y="3571875"/>
            <a:ext cx="5048124" cy="1279922"/>
          </a:xfrm>
          <a:prstGeom prst="rect">
            <a:avLst/>
          </a:prstGeom>
          <a:noFill/>
          <a:ln/>
        </p:spPr>
        <p:txBody>
          <a:bodyPr wrap="square" lIns="0" tIns="0" rIns="0" bIns="0" rtlCol="0" anchor="t"/>
          <a:lstStyle/>
          <a:p>
            <a:pPr marL="0" indent="0" algn="l">
              <a:buNone/>
            </a:pPr>
            <a:r>
              <a:rPr lang="en-US" sz="1800" dirty="0">
                <a:solidFill>
                  <a:srgbClr val="201C19"/>
                </a:solidFill>
                <a:latin typeface="Arial" pitchFamily="34" charset="0"/>
                <a:ea typeface="Arial" pitchFamily="34" charset="-122"/>
                <a:cs typeface="Arial" pitchFamily="34" charset="-120"/>
              </a:rPr>
              <a:t>3 • CONVERSION / SCALE</a:t>
            </a:r>
            <a:endParaRPr lang="en-US" sz="1800" dirty="0"/>
          </a:p>
          <a:p>
            <a:pPr marL="0" indent="0" algn="l">
              <a:buNone/>
            </a:pPr>
            <a:r>
              <a:rPr lang="en-US" sz="1800" dirty="0">
                <a:solidFill>
                  <a:srgbClr val="201C19"/>
                </a:solidFill>
                <a:latin typeface="Arial" pitchFamily="34" charset="0"/>
                <a:ea typeface="Arial" pitchFamily="34" charset="-122"/>
                <a:cs typeface="Arial" pitchFamily="34" charset="-120"/>
              </a:rPr>
              <a:t>6A Q19 p.40;</a:t>
            </a:r>
            <a:endParaRPr lang="en-US" sz="1800" dirty="0"/>
          </a:p>
          <a:p>
            <a:pPr marL="0" indent="0" algn="l">
              <a:buNone/>
            </a:pPr>
            <a:r>
              <a:rPr lang="en-US" sz="1800" dirty="0">
                <a:solidFill>
                  <a:srgbClr val="201C19"/>
                </a:solidFill>
                <a:latin typeface="Arial" pitchFamily="34" charset="0"/>
                <a:ea typeface="Arial" pitchFamily="34" charset="-122"/>
                <a:cs typeface="Arial" pitchFamily="34" charset="-120"/>
              </a:rPr>
              <a:t>7A Q11–12 p.45.</a:t>
            </a:r>
            <a:endParaRPr lang="en-US" sz="1800" dirty="0"/>
          </a:p>
          <a:p>
            <a:pPr marL="0" indent="0" algn="l">
              <a:buNone/>
            </a:pPr>
            <a:r>
              <a:rPr lang="en-US" sz="1800" dirty="0">
                <a:solidFill>
                  <a:srgbClr val="201C19"/>
                </a:solidFill>
                <a:latin typeface="Arial" pitchFamily="34" charset="0"/>
                <a:ea typeface="Arial" pitchFamily="34" charset="-122"/>
                <a:cs typeface="Arial" pitchFamily="34" charset="-120"/>
              </a:rPr>
              <a:t>Show factor, direction and units.</a:t>
            </a:r>
            <a:endParaRPr lang="en-US" sz="1800" dirty="0"/>
          </a:p>
        </p:txBody>
      </p:sp>
      <p:sp>
        <p:nvSpPr>
          <p:cNvPr id="8" name="Text 6"/>
          <p:cNvSpPr/>
          <p:nvPr/>
        </p:nvSpPr>
        <p:spPr>
          <a:xfrm>
            <a:off x="6476838" y="3571875"/>
            <a:ext cx="5048124" cy="1279922"/>
          </a:xfrm>
          <a:prstGeom prst="rect">
            <a:avLst/>
          </a:prstGeom>
          <a:noFill/>
          <a:ln/>
        </p:spPr>
        <p:txBody>
          <a:bodyPr wrap="square" lIns="0" tIns="0" rIns="0" bIns="0" rtlCol="0" anchor="t"/>
          <a:lstStyle/>
          <a:p>
            <a:pPr marL="0" indent="0" algn="l">
              <a:buNone/>
            </a:pPr>
            <a:r>
              <a:rPr lang="en-US" sz="1800" dirty="0">
                <a:solidFill>
                  <a:srgbClr val="201C19"/>
                </a:solidFill>
                <a:latin typeface="Arial" pitchFamily="34" charset="0"/>
                <a:ea typeface="Arial" pitchFamily="34" charset="-122"/>
                <a:cs typeface="Arial" pitchFamily="34" charset="-120"/>
              </a:rPr>
              <a:t>4 • FORMULAS</a:t>
            </a:r>
            <a:endParaRPr lang="en-US" sz="1800" dirty="0"/>
          </a:p>
          <a:p>
            <a:pPr marL="0" indent="0" algn="l">
              <a:buNone/>
            </a:pPr>
            <a:r>
              <a:rPr lang="en-US" sz="1800" dirty="0">
                <a:solidFill>
                  <a:srgbClr val="201C19"/>
                </a:solidFill>
                <a:latin typeface="Arial" pitchFamily="34" charset="0"/>
                <a:ea typeface="Arial" pitchFamily="34" charset="-122"/>
                <a:cs typeface="Arial" pitchFamily="34" charset="-120"/>
              </a:rPr>
              <a:t>8C Q1–2 p.55.</a:t>
            </a:r>
            <a:endParaRPr lang="en-US" sz="1800" dirty="0"/>
          </a:p>
          <a:p>
            <a:pPr marL="0" indent="0" algn="l">
              <a:buNone/>
            </a:pPr>
            <a:r>
              <a:rPr lang="en-US" sz="1800" dirty="0">
                <a:solidFill>
                  <a:srgbClr val="201C19"/>
                </a:solidFill>
                <a:latin typeface="Arial" pitchFamily="34" charset="0"/>
                <a:ea typeface="Arial" pitchFamily="34" charset="-122"/>
                <a:cs typeface="Arial" pitchFamily="34" charset="-120"/>
              </a:rPr>
              <a:t>Find the missing dimension,</a:t>
            </a:r>
            <a:endParaRPr lang="en-US" sz="1800" dirty="0"/>
          </a:p>
          <a:p>
            <a:pPr marL="0" indent="0" algn="l">
              <a:buNone/>
            </a:pPr>
            <a:r>
              <a:rPr lang="en-US" sz="1800" dirty="0">
                <a:solidFill>
                  <a:srgbClr val="201C19"/>
                </a:solidFill>
                <a:latin typeface="Arial" pitchFamily="34" charset="0"/>
                <a:ea typeface="Arial" pitchFamily="34" charset="-122"/>
                <a:cs typeface="Arial" pitchFamily="34" charset="-120"/>
              </a:rPr>
              <a:t>then substitute it back.</a:t>
            </a:r>
            <a:endParaRPr lang="en-US" sz="1800" dirty="0"/>
          </a:p>
        </p:txBody>
      </p:sp>
      <p:sp>
        <p:nvSpPr>
          <p:cNvPr id="9" name="Text 7"/>
          <p:cNvSpPr/>
          <p:nvPr/>
        </p:nvSpPr>
        <p:spPr>
          <a:xfrm>
            <a:off x="609585" y="5381625"/>
            <a:ext cx="10972526" cy="533400"/>
          </a:xfrm>
          <a:prstGeom prst="rect">
            <a:avLst/>
          </a:prstGeom>
          <a:noFill/>
          <a:ln/>
        </p:spPr>
        <p:txBody>
          <a:bodyPr wrap="square" lIns="0" tIns="0" rIns="0" bIns="0" rtlCol="0" anchor="t"/>
          <a:lstStyle/>
          <a:p>
            <a:pPr marL="0" indent="0" algn="l">
              <a:buNone/>
            </a:pPr>
            <a:r>
              <a:rPr lang="en-US" sz="1500" dirty="0">
                <a:solidFill>
                  <a:srgbClr val="201C19"/>
                </a:solidFill>
                <a:latin typeface="Arial" pitchFamily="34" charset="0"/>
                <a:ea typeface="Arial" pitchFamily="34" charset="-122"/>
                <a:cs typeface="Arial" pitchFamily="34" charset="-120"/>
              </a:rPr>
              <a:t>Instructor: model one error from the logs. Partners explain one method at each stop.</a:t>
            </a:r>
            <a:endParaRPr lang="en-US" sz="1500" dirty="0"/>
          </a:p>
          <a:p>
            <a:pPr marL="0" indent="0" algn="l">
              <a:buNone/>
            </a:pPr>
            <a:r>
              <a:rPr lang="en-US" sz="1500" dirty="0">
                <a:solidFill>
                  <a:srgbClr val="201C19"/>
                </a:solidFill>
                <a:latin typeface="Arial" pitchFamily="34" charset="0"/>
                <a:ea typeface="Arial" pitchFamily="34" charset="-122"/>
                <a:cs typeface="Arial" pitchFamily="34" charset="-120"/>
              </a:rPr>
              <a:t>Tools after paper: Calculator, Unit Conversions, or a Shape Canvas missing-dimension rectangle.</a:t>
            </a:r>
            <a:endParaRPr lang="en-US" sz="1500" dirty="0"/>
          </a:p>
        </p:txBody>
      </p:sp>
      <p:sp>
        <p:nvSpPr>
          <p:cNvPr id="10" name="Text 8"/>
          <p:cNvSpPr/>
          <p:nvPr/>
        </p:nvSpPr>
        <p:spPr>
          <a:xfrm>
            <a:off x="609585" y="6345936"/>
            <a:ext cx="10881360" cy="186630"/>
          </a:xfrm>
          <a:prstGeom prst="rect">
            <a:avLst/>
          </a:prstGeom>
          <a:noFill/>
          <a:ln/>
        </p:spPr>
        <p:txBody>
          <a:bodyPr wrap="square" lIns="0" tIns="0" rIns="0" bIns="0" rtlCol="0" anchor="t"/>
          <a:lstStyle/>
          <a:p>
            <a:pPr marL="0" indent="0" algn="l">
              <a:buNone/>
            </a:pPr>
            <a:r>
              <a:rPr lang="en-US" sz="1050" dirty="0">
                <a:solidFill>
                  <a:srgbClr val="62564B"/>
                </a:solidFill>
                <a:latin typeface="Arial" pitchFamily="34" charset="0"/>
                <a:ea typeface="Arial" pitchFamily="34" charset="-122"/>
                <a:cs typeface="Arial" pitchFamily="34" charset="-120"/>
              </a:rPr>
              <a:t>Exercise Book practice stations • No displayed answers during first attempts</a:t>
            </a:r>
            <a:endParaRPr lang="en-US" sz="1050" dirty="0"/>
          </a:p>
        </p:txBody>
      </p:sp>
      <p:pic>
        <p:nvPicPr>
          <p:cNvPr id="11" name="Picture 10"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3" name="TextBox 12"/>
          <p:cNvSpPr txBox="1"/>
          <p:nvPr/>
        </p:nvSpPr>
        <p:spPr>
          <a:xfrm>
            <a:off x="612648" y="6620256"/>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4"/>
              </a:rPr>
              <a:t>Textbook</a:t>
            </a:r>
          </a:p>
        </p:txBody>
      </p:sp>
      <p:sp>
        <p:nvSpPr>
          <p:cNvPr id="14" name="TextBox 13"/>
          <p:cNvSpPr txBox="1"/>
          <p:nvPr/>
        </p:nvSpPr>
        <p:spPr>
          <a:xfrm>
            <a:off x="1691640" y="6620256"/>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5"/>
              </a:rPr>
              <a:t>Exercise Book</a:t>
            </a:r>
          </a:p>
        </p:txBody>
      </p:sp>
      <p:sp>
        <p:nvSpPr>
          <p:cNvPr id="15" name="TextBox 14"/>
          <p:cNvSpPr txBox="1"/>
          <p:nvPr/>
        </p:nvSpPr>
        <p:spPr>
          <a:xfrm>
            <a:off x="3136392" y="6620256"/>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6"/>
              </a:rPr>
              <a:t>Numeracy Hub</a:t>
            </a:r>
          </a:p>
        </p:txBody>
      </p:sp>
      <p:sp>
        <p:nvSpPr>
          <p:cNvPr id="16" name="TextBox 15"/>
          <p:cNvSpPr txBox="1"/>
          <p:nvPr/>
        </p:nvSpPr>
        <p:spPr>
          <a:xfrm>
            <a:off x="4736592" y="6620256"/>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7"/>
              </a:rPr>
              <a:t>Shape Canvas</a:t>
            </a:r>
          </a:p>
        </p:txBody>
      </p:sp>
      <p:sp>
        <p:nvSpPr>
          <p:cNvPr id="17" name="TextBox 16"/>
          <p:cNvSpPr txBox="1"/>
          <p:nvPr/>
        </p:nvSpPr>
        <p:spPr>
          <a:xfrm>
            <a:off x="8412480" y="6620256"/>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sz="850">
                <a:solidFill>
                  <a:srgbClr val="F7F4F1"/>
                </a:solidFill>
                <a:latin typeface="Arial"/>
              </a:rPr>
              <a:t>Day 25  •  2026-12-14  •  07</a:t>
            </a:r>
          </a:p>
        </p:txBody>
      </p:sp>
    </p:spTree>
    <p:extLst>
      <p:ext uri="{BB962C8B-B14F-4D97-AF65-F5344CB8AC3E}">
        <p14:creationId xmlns:p14="http://schemas.microsoft.com/office/powerpoint/2010/main" val="460526846"/>
      </p:ext>
    </p:extLst>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1A1512"/>
        </a:solidFill>
        <a:effectLst/>
      </p:bgPr>
    </p:bg>
    <p:spTree>
      <p:nvGrpSpPr>
        <p:cNvPr id="1" name=""/>
        <p:cNvGrpSpPr/>
        <p:nvPr/>
      </p:nvGrpSpPr>
      <p:grpSpPr/>
      <p:sp>
        <p:nvSpPr>
          <p:cNvPr id="14" name="Rectangle 13"/>
          <p:cNvSpPr/>
          <p:nvPr/>
        </p:nvSpPr>
        <p:spPr>
          <a:xfrm>
            <a:off x="0" y="6528816"/>
            <a:ext cx="12191695" cy="329184"/>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0"/>
            <a:ext cx="12191695" cy="1645920"/>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104120" y="114300"/>
            <a:ext cx="1517904" cy="753153"/>
          </a:xfrm>
          <a:prstGeom prst="roundRect">
            <a:avLst>
              <a:gd name="adj" fmla="val 8000"/>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12064" y="1700784"/>
            <a:ext cx="11173968" cy="414223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spAutoFit/>
          </a:bodyPr>
          <a:lstStyle/>
          <a:p>
            <a:pPr>
              <a:spcBef>
                <a:spcPts val="0"/>
              </a:spcBef>
              <a:spcAft>
                <a:spcPts val="300"/>
              </a:spcAft>
              <a:defRPr sz="1150" b="1">
                <a:solidFill>
                  <a:srgbClr val="D2181F"/>
                </a:solidFill>
                <a:latin typeface="Arial"/>
              </a:defRPr>
            </a:pPr>
            <a:r>
              <a:rPr>
                <a:solidFill>
                  <a:srgbClr val="FFFFFF"/>
                </a:solidFill>
                <a:latin typeface="Arial"/>
              </a:rPr>
              <a:t>W08-L01  •  TEACH  •  9:10 AM–9:25 AM  •  15 MIN TOTAL</a:t>
            </a:r>
          </a:p>
        </p:txBody>
      </p:sp>
      <p:sp>
        <p:nvSpPr>
          <p:cNvPr id="3" name="TextBox 2"/>
          <p:cNvSpPr txBox="1"/>
          <p:nvPr/>
        </p:nvSpPr>
        <p:spPr>
          <a:xfrm>
            <a:off x="612648" y="932688"/>
            <a:ext cx="10927080" cy="749808"/>
          </a:xfrm>
          <a:prstGeom prst="rect">
            <a:avLst/>
          </a:prstGeom>
          <a:noFill/>
        </p:spPr>
        <p:txBody>
          <a:bodyPr wrap="square" lIns="0" rIns="0" tIns="0" bIns="0">
            <a:spAutoFit/>
          </a:bodyPr>
          <a:lstStyle/>
          <a:p>
            <a:pPr>
              <a:spcBef>
                <a:spcPts val="0"/>
              </a:spcBef>
              <a:spcAft>
                <a:spcPts val="300"/>
              </a:spcAft>
              <a:defRPr sz="2900" b="1">
                <a:solidFill>
                  <a:srgbClr val="1A1A1A"/>
                </a:solidFill>
                <a:latin typeface="Arial"/>
              </a:defRPr>
            </a:pPr>
            <a:r>
              <a:rPr b="1">
                <a:solidFill>
                  <a:srgbClr val="FFFFFF"/>
                </a:solidFill>
                <a:latin typeface="Arial"/>
              </a:rPr>
              <a:t>Textbook  |  page 127</a:t>
            </a:r>
          </a:p>
        </p:txBody>
      </p:sp>
      <p:sp>
        <p:nvSpPr>
          <p:cNvPr id="4" name="TextBox 3"/>
          <p:cNvSpPr txBox="1"/>
          <p:nvPr/>
        </p:nvSpPr>
        <p:spPr>
          <a:xfrm>
            <a:off x="612648" y="6327648"/>
            <a:ext cx="10881360" cy="219456"/>
          </a:xfrm>
          <a:prstGeom prst="rect">
            <a:avLst/>
          </a:prstGeom>
          <a:noFill/>
        </p:spPr>
        <p:txBody>
          <a:bodyPr wrap="square" lIns="0" rIns="0" tIns="0" bIns="0">
            <a:spAutoFit/>
          </a:bodyPr>
          <a:lstStyle/>
          <a:p>
            <a:pPr>
              <a:spcBef>
                <a:spcPts val="0"/>
              </a:spcBef>
              <a:spcAft>
                <a:spcPts val="300"/>
              </a:spcAft>
              <a:defRPr sz="1050" b="0">
                <a:solidFill>
                  <a:srgbClr val="4A4E54"/>
                </a:solidFill>
                <a:latin typeface="Arial"/>
              </a:defRPr>
            </a:pPr>
            <a:r>
              <a:rPr>
                <a:solidFill>
                  <a:srgbClr val="D9CEC5"/>
                </a:solidFill>
                <a:latin typeface="Arial"/>
              </a:rPr>
              <a:t>Textbook Chapter 1–8, selected; formula sheet p.219; conversion factors pp.220–221</a:t>
            </a:r>
          </a:p>
        </p:txBody>
      </p:sp>
      <p:pic>
        <p:nvPicPr>
          <p:cNvPr id="5" name="Picture 4" descr="W08-L01-1.png"/>
          <p:cNvPicPr>
            <a:picLocks noChangeAspect="1"/>
          </p:cNvPicPr>
          <p:nvPr/>
        </p:nvPicPr>
        <p:blipFill>
          <a:blip r:embed="rId3"/>
          <a:stretch>
            <a:fillRect/>
          </a:stretch>
        </p:blipFill>
        <p:spPr>
          <a:xfrm>
            <a:off x="685800" y="2438986"/>
            <a:ext cx="10698480" cy="2574387"/>
          </a:xfrm>
          <a:prstGeom prst="rect">
            <a:avLst/>
          </a:prstGeom>
        </p:spPr>
      </p:pic>
      <p:sp>
        <p:nvSpPr>
          <p:cNvPr id="6" name="TextBox 5"/>
          <p:cNvSpPr txBox="1"/>
          <p:nvPr/>
        </p:nvSpPr>
        <p:spPr>
          <a:xfrm>
            <a:off x="685800" y="5852160"/>
            <a:ext cx="10698480" cy="393192"/>
          </a:xfrm>
          <a:prstGeom prst="rect">
            <a:avLst/>
          </a:prstGeom>
          <a:noFill/>
        </p:spPr>
        <p:txBody>
          <a:bodyPr wrap="square" lIns="0" rIns="0" tIns="0" bIns="0">
            <a:spAutoFit/>
          </a:bodyPr>
          <a:lstStyle/>
          <a:p>
            <a:pPr>
              <a:spcBef>
                <a:spcPts val="0"/>
              </a:spcBef>
              <a:spcAft>
                <a:spcPts val="300"/>
              </a:spcAft>
              <a:defRPr sz="1400" b="0">
                <a:solidFill>
                  <a:srgbClr val="4A4E54"/>
                </a:solidFill>
                <a:latin typeface="Arial"/>
              </a:defRPr>
            </a:pPr>
            <a:r>
              <a:rPr>
                <a:solidFill>
                  <a:srgbClr val="F7F4F1"/>
                </a:solidFill>
                <a:latin typeface="Arial"/>
              </a:rPr>
              <a:t>Figure 8.1: inverse operations preserve equality.</a:t>
            </a:r>
          </a:p>
        </p:txBody>
      </p:sp>
      <p:pic>
        <p:nvPicPr>
          <p:cNvPr id="7" name="Picture 6" descr="access-logo.png"/>
          <p:cNvPicPr>
            <a:picLocks noChangeAspect="1"/>
          </p:cNvPicPr>
          <p:nvPr/>
        </p:nvPicPr>
        <p:blipFill>
          <a:blip r:embed="rId4"/>
          <a:stretch>
            <a:fillRect/>
          </a:stretch>
        </p:blipFill>
        <p:spPr>
          <a:xfrm>
            <a:off x="10177272" y="146304"/>
            <a:ext cx="1371600" cy="689145"/>
          </a:xfrm>
          <a:prstGeom prst="rect">
            <a:avLst/>
          </a:prstGeom>
        </p:spPr>
      </p:pic>
      <p:sp>
        <p:nvSpPr>
          <p:cNvPr id="9" name="TextBox 8"/>
          <p:cNvSpPr txBox="1"/>
          <p:nvPr/>
        </p:nvSpPr>
        <p:spPr>
          <a:xfrm>
            <a:off x="612648" y="6620256"/>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5"/>
              </a:rPr>
              <a:t>Textbook</a:t>
            </a:r>
          </a:p>
        </p:txBody>
      </p:sp>
      <p:sp>
        <p:nvSpPr>
          <p:cNvPr id="10" name="TextBox 9"/>
          <p:cNvSpPr txBox="1"/>
          <p:nvPr/>
        </p:nvSpPr>
        <p:spPr>
          <a:xfrm>
            <a:off x="1691640" y="6620256"/>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6"/>
              </a:rPr>
              <a:t>Exercise Book</a:t>
            </a:r>
          </a:p>
        </p:txBody>
      </p:sp>
      <p:sp>
        <p:nvSpPr>
          <p:cNvPr id="11" name="TextBox 10"/>
          <p:cNvSpPr txBox="1"/>
          <p:nvPr/>
        </p:nvSpPr>
        <p:spPr>
          <a:xfrm>
            <a:off x="3136392" y="6620256"/>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7"/>
              </a:rPr>
              <a:t>Numeracy Hub</a:t>
            </a:r>
          </a:p>
        </p:txBody>
      </p:sp>
      <p:sp>
        <p:nvSpPr>
          <p:cNvPr id="12" name="TextBox 11"/>
          <p:cNvSpPr txBox="1"/>
          <p:nvPr/>
        </p:nvSpPr>
        <p:spPr>
          <a:xfrm>
            <a:off x="4736592" y="6620256"/>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8"/>
              </a:rPr>
              <a:t>Shape Canvas</a:t>
            </a:r>
          </a:p>
        </p:txBody>
      </p:sp>
      <p:sp>
        <p:nvSpPr>
          <p:cNvPr id="13" name="TextBox 12"/>
          <p:cNvSpPr txBox="1"/>
          <p:nvPr/>
        </p:nvSpPr>
        <p:spPr>
          <a:xfrm>
            <a:off x="8412480" y="6620256"/>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sz="850">
                <a:solidFill>
                  <a:srgbClr val="F7F4F1"/>
                </a:solidFill>
                <a:latin typeface="Arial"/>
              </a:rPr>
              <a:t>Day 25  •  2026-12-14  •  08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1A1512"/>
        </a:solidFill>
        <a:effectLst/>
      </p:bgPr>
    </p:bg>
    <p:spTree>
      <p:nvGrpSpPr>
        <p:cNvPr id="1" name=""/>
        <p:cNvGrpSpPr/>
        <p:nvPr/>
      </p:nvGrpSpPr>
      <p:grpSpPr/>
      <p:sp>
        <p:nvSpPr>
          <p:cNvPr id="14" name="Rectangle 13"/>
          <p:cNvSpPr/>
          <p:nvPr/>
        </p:nvSpPr>
        <p:spPr>
          <a:xfrm>
            <a:off x="0" y="6528816"/>
            <a:ext cx="12191695" cy="329184"/>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0"/>
            <a:ext cx="12191695" cy="1645920"/>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104120" y="114300"/>
            <a:ext cx="1517904" cy="753153"/>
          </a:xfrm>
          <a:prstGeom prst="roundRect">
            <a:avLst>
              <a:gd name="adj" fmla="val 8000"/>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12064" y="1700784"/>
            <a:ext cx="11173968" cy="414223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spAutoFit/>
          </a:bodyPr>
          <a:lstStyle/>
          <a:p>
            <a:pPr>
              <a:spcBef>
                <a:spcPts val="0"/>
              </a:spcBef>
              <a:spcAft>
                <a:spcPts val="300"/>
              </a:spcAft>
              <a:defRPr sz="1150" b="1">
                <a:solidFill>
                  <a:srgbClr val="D2181F"/>
                </a:solidFill>
                <a:latin typeface="Arial"/>
              </a:defRPr>
            </a:pPr>
            <a:r>
              <a:rPr>
                <a:solidFill>
                  <a:srgbClr val="FFFFFF"/>
                </a:solidFill>
                <a:latin typeface="Arial"/>
              </a:rPr>
              <a:t>W08-L01  •  TEACH  •  9:10 AM–9:25 AM  •  15 MIN TOTAL</a:t>
            </a:r>
          </a:p>
        </p:txBody>
      </p:sp>
      <p:sp>
        <p:nvSpPr>
          <p:cNvPr id="3" name="TextBox 2"/>
          <p:cNvSpPr txBox="1"/>
          <p:nvPr/>
        </p:nvSpPr>
        <p:spPr>
          <a:xfrm>
            <a:off x="612648" y="932688"/>
            <a:ext cx="10927080" cy="749808"/>
          </a:xfrm>
          <a:prstGeom prst="rect">
            <a:avLst/>
          </a:prstGeom>
          <a:noFill/>
        </p:spPr>
        <p:txBody>
          <a:bodyPr wrap="square" lIns="0" rIns="0" tIns="0" bIns="0">
            <a:spAutoFit/>
          </a:bodyPr>
          <a:lstStyle/>
          <a:p>
            <a:pPr>
              <a:spcBef>
                <a:spcPts val="0"/>
              </a:spcBef>
              <a:spcAft>
                <a:spcPts val="300"/>
              </a:spcAft>
              <a:defRPr sz="2900" b="1">
                <a:solidFill>
                  <a:srgbClr val="1A1A1A"/>
                </a:solidFill>
                <a:latin typeface="Arial"/>
              </a:defRPr>
            </a:pPr>
            <a:r>
              <a:rPr b="1">
                <a:solidFill>
                  <a:srgbClr val="FFFFFF"/>
                </a:solidFill>
                <a:latin typeface="Arial"/>
              </a:rPr>
              <a:t>Textbook  |  page 127</a:t>
            </a:r>
          </a:p>
        </p:txBody>
      </p:sp>
      <p:sp>
        <p:nvSpPr>
          <p:cNvPr id="4" name="TextBox 3"/>
          <p:cNvSpPr txBox="1"/>
          <p:nvPr/>
        </p:nvSpPr>
        <p:spPr>
          <a:xfrm>
            <a:off x="612648" y="6327648"/>
            <a:ext cx="10881360" cy="219456"/>
          </a:xfrm>
          <a:prstGeom prst="rect">
            <a:avLst/>
          </a:prstGeom>
          <a:noFill/>
        </p:spPr>
        <p:txBody>
          <a:bodyPr wrap="square" lIns="0" rIns="0" tIns="0" bIns="0">
            <a:spAutoFit/>
          </a:bodyPr>
          <a:lstStyle/>
          <a:p>
            <a:pPr>
              <a:spcBef>
                <a:spcPts val="0"/>
              </a:spcBef>
              <a:spcAft>
                <a:spcPts val="300"/>
              </a:spcAft>
              <a:defRPr sz="1050" b="0">
                <a:solidFill>
                  <a:srgbClr val="4A4E54"/>
                </a:solidFill>
                <a:latin typeface="Arial"/>
              </a:defRPr>
            </a:pPr>
            <a:r>
              <a:rPr>
                <a:solidFill>
                  <a:srgbClr val="D9CEC5"/>
                </a:solidFill>
                <a:latin typeface="Arial"/>
              </a:rPr>
              <a:t>Textbook Chapter 1–8, selected; formula sheet p.219; conversion factors pp.220–221</a:t>
            </a:r>
          </a:p>
        </p:txBody>
      </p:sp>
      <p:pic>
        <p:nvPicPr>
          <p:cNvPr id="5" name="Picture 4" descr="W08-L01-2.png"/>
          <p:cNvPicPr>
            <a:picLocks noChangeAspect="1"/>
          </p:cNvPicPr>
          <p:nvPr/>
        </p:nvPicPr>
        <p:blipFill>
          <a:blip r:embed="rId3"/>
          <a:stretch>
            <a:fillRect/>
          </a:stretch>
        </p:blipFill>
        <p:spPr>
          <a:xfrm>
            <a:off x="1119046" y="1691640"/>
            <a:ext cx="9831987" cy="4069080"/>
          </a:xfrm>
          <a:prstGeom prst="rect">
            <a:avLst/>
          </a:prstGeom>
        </p:spPr>
      </p:pic>
      <p:sp>
        <p:nvSpPr>
          <p:cNvPr id="6" name="TextBox 5"/>
          <p:cNvSpPr txBox="1"/>
          <p:nvPr/>
        </p:nvSpPr>
        <p:spPr>
          <a:xfrm>
            <a:off x="685800" y="5852160"/>
            <a:ext cx="10698480" cy="393192"/>
          </a:xfrm>
          <a:prstGeom prst="rect">
            <a:avLst/>
          </a:prstGeom>
          <a:noFill/>
        </p:spPr>
        <p:txBody>
          <a:bodyPr wrap="square" lIns="0" rIns="0" tIns="0" bIns="0">
            <a:spAutoFit/>
          </a:bodyPr>
          <a:lstStyle/>
          <a:p>
            <a:pPr>
              <a:spcBef>
                <a:spcPts val="0"/>
              </a:spcBef>
              <a:spcAft>
                <a:spcPts val="300"/>
              </a:spcAft>
              <a:defRPr sz="1400" b="0">
                <a:solidFill>
                  <a:srgbClr val="4A4E54"/>
                </a:solidFill>
                <a:latin typeface="Arial"/>
              </a:defRPr>
            </a:pPr>
            <a:r>
              <a:rPr>
                <a:solidFill>
                  <a:srgbClr val="F7F4F1"/>
                </a:solidFill>
                <a:latin typeface="Arial"/>
              </a:rPr>
              <a:t>Example 8.4: name the operation, undo it, then substitute back.</a:t>
            </a:r>
          </a:p>
        </p:txBody>
      </p:sp>
      <p:pic>
        <p:nvPicPr>
          <p:cNvPr id="7" name="Picture 6" descr="access-logo.png"/>
          <p:cNvPicPr>
            <a:picLocks noChangeAspect="1"/>
          </p:cNvPicPr>
          <p:nvPr/>
        </p:nvPicPr>
        <p:blipFill>
          <a:blip r:embed="rId4"/>
          <a:stretch>
            <a:fillRect/>
          </a:stretch>
        </p:blipFill>
        <p:spPr>
          <a:xfrm>
            <a:off x="10177272" y="146304"/>
            <a:ext cx="1371600" cy="689145"/>
          </a:xfrm>
          <a:prstGeom prst="rect">
            <a:avLst/>
          </a:prstGeom>
        </p:spPr>
      </p:pic>
      <p:sp>
        <p:nvSpPr>
          <p:cNvPr id="9" name="TextBox 8"/>
          <p:cNvSpPr txBox="1"/>
          <p:nvPr/>
        </p:nvSpPr>
        <p:spPr>
          <a:xfrm>
            <a:off x="612648" y="6620256"/>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5"/>
              </a:rPr>
              <a:t>Textbook</a:t>
            </a:r>
          </a:p>
        </p:txBody>
      </p:sp>
      <p:sp>
        <p:nvSpPr>
          <p:cNvPr id="10" name="TextBox 9"/>
          <p:cNvSpPr txBox="1"/>
          <p:nvPr/>
        </p:nvSpPr>
        <p:spPr>
          <a:xfrm>
            <a:off x="1691640" y="6620256"/>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6"/>
              </a:rPr>
              <a:t>Exercise Book</a:t>
            </a:r>
          </a:p>
        </p:txBody>
      </p:sp>
      <p:sp>
        <p:nvSpPr>
          <p:cNvPr id="11" name="TextBox 10"/>
          <p:cNvSpPr txBox="1"/>
          <p:nvPr/>
        </p:nvSpPr>
        <p:spPr>
          <a:xfrm>
            <a:off x="3136392" y="6620256"/>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7"/>
              </a:rPr>
              <a:t>Numeracy Hub</a:t>
            </a:r>
          </a:p>
        </p:txBody>
      </p:sp>
      <p:sp>
        <p:nvSpPr>
          <p:cNvPr id="12" name="TextBox 11"/>
          <p:cNvSpPr txBox="1"/>
          <p:nvPr/>
        </p:nvSpPr>
        <p:spPr>
          <a:xfrm>
            <a:off x="4736592" y="6620256"/>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8"/>
              </a:rPr>
              <a:t>Shape Canvas</a:t>
            </a:r>
          </a:p>
        </p:txBody>
      </p:sp>
      <p:sp>
        <p:nvSpPr>
          <p:cNvPr id="13" name="TextBox 12"/>
          <p:cNvSpPr txBox="1"/>
          <p:nvPr/>
        </p:nvSpPr>
        <p:spPr>
          <a:xfrm>
            <a:off x="8412480" y="6620256"/>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sz="850">
                <a:solidFill>
                  <a:srgbClr val="F7F4F1"/>
                </a:solidFill>
                <a:latin typeface="Arial"/>
              </a:rPr>
              <a:t>Day 25  •  2026-12-14  •  09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5A1018"/>
        </a:solidFill>
        <a:effectLst/>
      </p:bgPr>
    </p:bg>
    <p:spTree>
      <p:nvGrpSpPr>
        <p:cNvPr id="1" name=""/>
        <p:cNvGrpSpPr/>
        <p:nvPr/>
      </p:nvGrpSpPr>
      <p:grpSpPr/>
      <p:sp>
        <p:nvSpPr>
          <p:cNvPr id="15" name="Rectangle 14"/>
          <p:cNvSpPr/>
          <p:nvPr/>
        </p:nvSpPr>
        <p:spPr>
          <a:xfrm>
            <a:off x="0" y="6528816"/>
            <a:ext cx="12191695" cy="329184"/>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0" y="0"/>
            <a:ext cx="12191695" cy="1645920"/>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10104120" y="114300"/>
            <a:ext cx="1517904" cy="753153"/>
          </a:xfrm>
          <a:prstGeom prst="roundRect">
            <a:avLst>
              <a:gd name="adj" fmla="val 8000"/>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493776" y="4453128"/>
            <a:ext cx="11192256" cy="1481328"/>
          </a:xfrm>
          <a:prstGeom prst="roundRect">
            <a:avLst>
              <a:gd name="adj" fmla="val 8000"/>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spAutoFit/>
          </a:bodyPr>
          <a:lstStyle/>
          <a:p>
            <a:pPr>
              <a:spcBef>
                <a:spcPts val="0"/>
              </a:spcBef>
              <a:spcAft>
                <a:spcPts val="300"/>
              </a:spcAft>
              <a:defRPr sz="1150" b="1">
                <a:solidFill>
                  <a:srgbClr val="D2181F"/>
                </a:solidFill>
                <a:latin typeface="Arial"/>
              </a:defRPr>
            </a:pPr>
            <a:r>
              <a:rPr>
                <a:solidFill>
                  <a:srgbClr val="FFFFFF"/>
                </a:solidFill>
                <a:latin typeface="Arial"/>
              </a:rPr>
              <a:t>W08-L01  •  TEACH  •  9:10 AM–9:25 AM  •  15 MIN TOTAL</a:t>
            </a:r>
          </a:p>
        </p:txBody>
      </p:sp>
      <p:sp>
        <p:nvSpPr>
          <p:cNvPr id="3" name="TextBox 2"/>
          <p:cNvSpPr txBox="1"/>
          <p:nvPr/>
        </p:nvSpPr>
        <p:spPr>
          <a:xfrm>
            <a:off x="612648" y="932688"/>
            <a:ext cx="10927080" cy="749808"/>
          </a:xfrm>
          <a:prstGeom prst="rect">
            <a:avLst/>
          </a:prstGeom>
          <a:noFill/>
        </p:spPr>
        <p:txBody>
          <a:bodyPr wrap="square" lIns="0" rIns="0" tIns="0" bIns="0">
            <a:spAutoFit/>
          </a:bodyPr>
          <a:lstStyle/>
          <a:p>
            <a:pPr>
              <a:spcBef>
                <a:spcPts val="0"/>
              </a:spcBef>
              <a:spcAft>
                <a:spcPts val="300"/>
              </a:spcAft>
              <a:defRPr sz="2900" b="1">
                <a:solidFill>
                  <a:srgbClr val="1A1A1A"/>
                </a:solidFill>
                <a:latin typeface="Arial"/>
              </a:defRPr>
            </a:pPr>
            <a:r>
              <a:rPr b="1">
                <a:solidFill>
                  <a:srgbClr val="FFFFFF"/>
                </a:solidFill>
                <a:latin typeface="Arial"/>
              </a:rPr>
              <a:t>Spot the mistake. Explain the correction.</a:t>
            </a:r>
          </a:p>
        </p:txBody>
      </p:sp>
      <p:sp>
        <p:nvSpPr>
          <p:cNvPr id="4" name="TextBox 3"/>
          <p:cNvSpPr txBox="1"/>
          <p:nvPr/>
        </p:nvSpPr>
        <p:spPr>
          <a:xfrm>
            <a:off x="612648" y="6327648"/>
            <a:ext cx="10881360" cy="219456"/>
          </a:xfrm>
          <a:prstGeom prst="rect">
            <a:avLst/>
          </a:prstGeom>
          <a:noFill/>
        </p:spPr>
        <p:txBody>
          <a:bodyPr wrap="square" lIns="0" rIns="0" tIns="0" bIns="0">
            <a:spAutoFit/>
          </a:bodyPr>
          <a:lstStyle/>
          <a:p>
            <a:pPr>
              <a:spcBef>
                <a:spcPts val="0"/>
              </a:spcBef>
              <a:spcAft>
                <a:spcPts val="300"/>
              </a:spcAft>
              <a:defRPr sz="1050" b="0">
                <a:solidFill>
                  <a:srgbClr val="4A4E54"/>
                </a:solidFill>
                <a:latin typeface="Arial"/>
              </a:defRPr>
            </a:pPr>
            <a:r>
              <a:rPr>
                <a:solidFill>
                  <a:srgbClr val="D9CEC5"/>
                </a:solidFill>
                <a:latin typeface="Arial"/>
              </a:rPr>
              <a:t>Textbook Chapter 1–8, selected; formula sheet p.219; conversion factors pp.220–221</a:t>
            </a:r>
          </a:p>
        </p:txBody>
      </p:sp>
      <p:sp>
        <p:nvSpPr>
          <p:cNvPr id="5" name="TextBox 4"/>
          <p:cNvSpPr txBox="1"/>
          <p:nvPr/>
        </p:nvSpPr>
        <p:spPr>
          <a:xfrm>
            <a:off x="612648" y="1847088"/>
            <a:ext cx="10927080" cy="1554480"/>
          </a:xfrm>
          <a:prstGeom prst="rect">
            <a:avLst/>
          </a:prstGeom>
          <a:noFill/>
        </p:spPr>
        <p:txBody>
          <a:bodyPr wrap="square" lIns="0" rIns="0" tIns="0" bIns="0">
            <a:spAutoFit/>
          </a:bodyPr>
          <a:lstStyle/>
          <a:p>
            <a:pPr>
              <a:spcBef>
                <a:spcPts val="0"/>
              </a:spcBef>
              <a:spcAft>
                <a:spcPts val="300"/>
              </a:spcAft>
              <a:defRPr sz="2600" b="1">
                <a:solidFill>
                  <a:srgbClr val="1A1A1A"/>
                </a:solidFill>
                <a:latin typeface="Arial"/>
              </a:defRPr>
            </a:pPr>
            <a:r>
              <a:rPr>
                <a:solidFill>
                  <a:srgbClr val="FFFFFF"/>
                </a:solidFill>
                <a:latin typeface="Arial"/>
              </a:rPr>
              <a:t>A conversion response says “multiply by the factor” but omits the starting and target units. What still needs to be justified?</a:t>
            </a:r>
          </a:p>
        </p:txBody>
      </p:sp>
      <p:sp>
        <p:nvSpPr>
          <p:cNvPr id="6" name="TextBox 5"/>
          <p:cNvSpPr txBox="1"/>
          <p:nvPr/>
        </p:nvSpPr>
        <p:spPr>
          <a:xfrm>
            <a:off x="612648" y="3703320"/>
            <a:ext cx="10927080" cy="411480"/>
          </a:xfrm>
          <a:prstGeom prst="rect">
            <a:avLst/>
          </a:prstGeom>
          <a:noFill/>
        </p:spPr>
        <p:txBody>
          <a:bodyPr wrap="square" lIns="0" rIns="0" tIns="0" bIns="0">
            <a:spAutoFit/>
          </a:bodyPr>
          <a:lstStyle/>
          <a:p>
            <a:pPr>
              <a:spcBef>
                <a:spcPts val="0"/>
              </a:spcBef>
              <a:spcAft>
                <a:spcPts val="300"/>
              </a:spcAft>
              <a:defRPr sz="2000" b="0">
                <a:solidFill>
                  <a:srgbClr val="D2181F"/>
                </a:solidFill>
                <a:latin typeface="Arial"/>
              </a:defRPr>
            </a:pPr>
            <a:r>
              <a:rPr>
                <a:solidFill>
                  <a:srgbClr val="FFFFFF"/>
                </a:solidFill>
                <a:latin typeface="Arial"/>
              </a:rPr>
              <a:t>Discuss the method before checking the answer.</a:t>
            </a:r>
          </a:p>
        </p:txBody>
      </p:sp>
      <p:sp>
        <p:nvSpPr>
          <p:cNvPr id="7" name="TextBox 6"/>
          <p:cNvSpPr txBox="1"/>
          <p:nvPr/>
        </p:nvSpPr>
        <p:spPr>
          <a:xfrm>
            <a:off x="612648" y="4617720"/>
            <a:ext cx="10927080" cy="1188720"/>
          </a:xfrm>
          <a:prstGeom prst="rect">
            <a:avLst/>
          </a:prstGeom>
          <a:noFill/>
        </p:spPr>
        <p:txBody>
          <a:bodyPr wrap="square" lIns="0" rIns="0" tIns="0" bIns="0">
            <a:spAutoFit/>
          </a:bodyPr>
          <a:lstStyle/>
          <a:p>
            <a:pPr>
              <a:spcBef>
                <a:spcPts val="0"/>
              </a:spcBef>
              <a:spcAft>
                <a:spcPts val="300"/>
              </a:spcAft>
              <a:defRPr sz="2200" b="0">
                <a:solidFill>
                  <a:srgbClr val="4A4E54"/>
                </a:solidFill>
                <a:latin typeface="Arial"/>
              </a:defRPr>
            </a:pPr>
            <a:r>
              <a:rPr b="1">
                <a:solidFill>
                  <a:srgbClr val="201C19"/>
                </a:solidFill>
                <a:latin typeface="Arial"/>
              </a:rPr>
              <a:t>Name both units and show why the chosen factor and direction produce the requested unit. Check the result with Unit Conversions after the paper attempt; retain the factor and working.</a:t>
            </a:r>
          </a:p>
        </p:txBody>
      </p:sp>
      <p:pic>
        <p:nvPicPr>
          <p:cNvPr id="8" name="Picture 7"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0" name="TextBox 9"/>
          <p:cNvSpPr txBox="1"/>
          <p:nvPr/>
        </p:nvSpPr>
        <p:spPr>
          <a:xfrm>
            <a:off x="612648" y="6620256"/>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4"/>
              </a:rPr>
              <a:t>Textbook</a:t>
            </a:r>
          </a:p>
        </p:txBody>
      </p:sp>
      <p:sp>
        <p:nvSpPr>
          <p:cNvPr id="11" name="TextBox 10"/>
          <p:cNvSpPr txBox="1"/>
          <p:nvPr/>
        </p:nvSpPr>
        <p:spPr>
          <a:xfrm>
            <a:off x="1691640" y="6620256"/>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5"/>
              </a:rPr>
              <a:t>Exercise Book</a:t>
            </a:r>
          </a:p>
        </p:txBody>
      </p:sp>
      <p:sp>
        <p:nvSpPr>
          <p:cNvPr id="12" name="TextBox 11"/>
          <p:cNvSpPr txBox="1"/>
          <p:nvPr/>
        </p:nvSpPr>
        <p:spPr>
          <a:xfrm>
            <a:off x="3136392" y="6620256"/>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6"/>
              </a:rPr>
              <a:t>Numeracy Hub</a:t>
            </a:r>
          </a:p>
        </p:txBody>
      </p:sp>
      <p:sp>
        <p:nvSpPr>
          <p:cNvPr id="13" name="TextBox 12"/>
          <p:cNvSpPr txBox="1"/>
          <p:nvPr/>
        </p:nvSpPr>
        <p:spPr>
          <a:xfrm>
            <a:off x="4736592" y="6620256"/>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7"/>
              </a:rPr>
              <a:t>Shape Canvas</a:t>
            </a:r>
          </a:p>
        </p:txBody>
      </p:sp>
      <p:sp>
        <p:nvSpPr>
          <p:cNvPr id="14" name="TextBox 13"/>
          <p:cNvSpPr txBox="1"/>
          <p:nvPr/>
        </p:nvSpPr>
        <p:spPr>
          <a:xfrm>
            <a:off x="8412480" y="6620256"/>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sz="850">
                <a:solidFill>
                  <a:srgbClr val="F7F4F1"/>
                </a:solidFill>
                <a:latin typeface="Arial"/>
              </a:rPr>
              <a:t>Day 25  •  2026-12-14  •  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7F4F1"/>
        </a:solidFill>
        <a:effectLst/>
      </p:bgPr>
    </p:bg>
    <p:spTree>
      <p:nvGrpSpPr>
        <p:cNvPr id="1" name=""/>
        <p:cNvGrpSpPr/>
        <p:nvPr/>
      </p:nvGrpSpPr>
      <p:grpSpPr/>
      <p:sp>
        <p:nvSpPr>
          <p:cNvPr id="16" name="Rectangle 15"/>
          <p:cNvSpPr/>
          <p:nvPr/>
        </p:nvSpPr>
        <p:spPr>
          <a:xfrm>
            <a:off x="0" y="6528816"/>
            <a:ext cx="12191695" cy="329184"/>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0" y="0"/>
            <a:ext cx="12191695" cy="1645920"/>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10104120" y="114300"/>
            <a:ext cx="1517904" cy="753153"/>
          </a:xfrm>
          <a:prstGeom prst="roundRect">
            <a:avLst>
              <a:gd name="adj" fmla="val 8000"/>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493776" y="1773936"/>
            <a:ext cx="11192256" cy="2240280"/>
          </a:xfrm>
          <a:prstGeom prst="roundRect">
            <a:avLst>
              <a:gd name="adj" fmla="val 8000"/>
            </a:avLst>
          </a:prstGeom>
          <a:solidFill>
            <a:srgbClr val="5A10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spAutoFit/>
          </a:bodyPr>
          <a:lstStyle/>
          <a:p>
            <a:pPr>
              <a:spcBef>
                <a:spcPts val="0"/>
              </a:spcBef>
              <a:spcAft>
                <a:spcPts val="300"/>
              </a:spcAft>
              <a:defRPr sz="1150" b="1">
                <a:solidFill>
                  <a:srgbClr val="D2181F"/>
                </a:solidFill>
                <a:latin typeface="Arial"/>
              </a:defRPr>
            </a:pPr>
            <a:r>
              <a:rPr>
                <a:solidFill>
                  <a:srgbClr val="FFFFFF"/>
                </a:solidFill>
                <a:latin typeface="Arial"/>
              </a:rPr>
              <a:t>W08-L01  •  TOGETHER  •  9:25 AM–9:40 AM  •  15 MIN TOTAL</a:t>
            </a:r>
          </a:p>
        </p:txBody>
      </p:sp>
      <p:sp>
        <p:nvSpPr>
          <p:cNvPr id="3" name="TextBox 2"/>
          <p:cNvSpPr txBox="1"/>
          <p:nvPr/>
        </p:nvSpPr>
        <p:spPr>
          <a:xfrm>
            <a:off x="612648" y="932688"/>
            <a:ext cx="10927080" cy="749808"/>
          </a:xfrm>
          <a:prstGeom prst="rect">
            <a:avLst/>
          </a:prstGeom>
          <a:noFill/>
        </p:spPr>
        <p:txBody>
          <a:bodyPr wrap="square" lIns="0" rIns="0" tIns="0" bIns="0">
            <a:spAutoFit/>
          </a:bodyPr>
          <a:lstStyle/>
          <a:p>
            <a:pPr>
              <a:spcBef>
                <a:spcPts val="0"/>
              </a:spcBef>
              <a:spcAft>
                <a:spcPts val="300"/>
              </a:spcAft>
              <a:defRPr sz="2900" b="1">
                <a:solidFill>
                  <a:srgbClr val="1A1A1A"/>
                </a:solidFill>
                <a:latin typeface="Arial"/>
              </a:defRPr>
            </a:pPr>
            <a:r>
              <a:rPr b="1">
                <a:solidFill>
                  <a:srgbClr val="FFFFFF"/>
                </a:solidFill>
                <a:latin typeface="Arial"/>
              </a:rPr>
              <a:t>Work together</a:t>
            </a:r>
          </a:p>
        </p:txBody>
      </p:sp>
      <p:sp>
        <p:nvSpPr>
          <p:cNvPr id="4" name="TextBox 3"/>
          <p:cNvSpPr txBox="1"/>
          <p:nvPr/>
        </p:nvSpPr>
        <p:spPr>
          <a:xfrm>
            <a:off x="612648" y="6327648"/>
            <a:ext cx="10881360" cy="219456"/>
          </a:xfrm>
          <a:prstGeom prst="rect">
            <a:avLst/>
          </a:prstGeom>
          <a:noFill/>
        </p:spPr>
        <p:txBody>
          <a:bodyPr wrap="square" lIns="0" rIns="0" tIns="0" bIns="0">
            <a:spAutoFit/>
          </a:bodyPr>
          <a:lstStyle/>
          <a:p>
            <a:pPr>
              <a:spcBef>
                <a:spcPts val="0"/>
              </a:spcBef>
              <a:spcAft>
                <a:spcPts val="300"/>
              </a:spcAft>
              <a:defRPr sz="1050" b="0">
                <a:solidFill>
                  <a:srgbClr val="4A4E54"/>
                </a:solidFill>
                <a:latin typeface="Arial"/>
              </a:defRPr>
            </a:pPr>
            <a:r>
              <a:rPr>
                <a:solidFill>
                  <a:srgbClr val="62564B"/>
                </a:solidFill>
                <a:latin typeface="Arial"/>
              </a:rPr>
              <a:t>Textbook Chapter 1–8, selected; formula sheet p.219; conversion factors pp.220–221</a:t>
            </a:r>
          </a:p>
        </p:txBody>
      </p:sp>
      <p:sp>
        <p:nvSpPr>
          <p:cNvPr id="5" name="TextBox 4"/>
          <p:cNvSpPr txBox="1"/>
          <p:nvPr/>
        </p:nvSpPr>
        <p:spPr>
          <a:xfrm>
            <a:off x="612648" y="1874519"/>
            <a:ext cx="10927080" cy="2103120"/>
          </a:xfrm>
          <a:prstGeom prst="rect">
            <a:avLst/>
          </a:prstGeom>
          <a:noFill/>
        </p:spPr>
        <p:txBody>
          <a:bodyPr wrap="square" lIns="0" rIns="0" tIns="0" bIns="0">
            <a:spAutoFit/>
          </a:bodyPr>
          <a:lstStyle/>
          <a:p>
            <a:pPr>
              <a:spcBef>
                <a:spcPts val="0"/>
              </a:spcBef>
              <a:spcAft>
                <a:spcPts val="300"/>
              </a:spcAft>
              <a:defRPr sz="2400" b="0">
                <a:solidFill>
                  <a:srgbClr val="1A1A1A"/>
                </a:solidFill>
                <a:latin typeface="Arial"/>
              </a:defRPr>
            </a:pPr>
            <a:r>
              <a:rPr>
                <a:solidFill>
                  <a:srgbClr val="FFFFFF"/>
                </a:solidFill>
                <a:latin typeface="Arial"/>
              </a:rPr>
              <a:t>Pairs rotate through number, fraction/decimal, conversion and formula stations; explain one solution aloud at each stop.</a:t>
            </a:r>
          </a:p>
        </p:txBody>
      </p:sp>
      <p:sp>
        <p:nvSpPr>
          <p:cNvPr id="6" name="Rectangle 5"/>
          <p:cNvSpPr/>
          <p:nvPr/>
        </p:nvSpPr>
        <p:spPr>
          <a:xfrm>
            <a:off x="612648" y="4251960"/>
            <a:ext cx="10927080" cy="1280160"/>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A1A1A"/>
                </a:solidFill>
                <a:latin typeface="Arial"/>
              </a:defRPr>
            </a:pPr>
          </a:p>
        </p:txBody>
      </p:sp>
      <p:sp>
        <p:nvSpPr>
          <p:cNvPr id="7" name="TextBox 6"/>
          <p:cNvSpPr txBox="1"/>
          <p:nvPr/>
        </p:nvSpPr>
        <p:spPr>
          <a:xfrm>
            <a:off x="859536" y="4462272"/>
            <a:ext cx="10424160" cy="822960"/>
          </a:xfrm>
          <a:prstGeom prst="rect">
            <a:avLst/>
          </a:prstGeom>
          <a:noFill/>
        </p:spPr>
        <p:txBody>
          <a:bodyPr wrap="square" lIns="0" rIns="0" tIns="0" bIns="0">
            <a:spAutoFit/>
          </a:bodyPr>
          <a:lstStyle/>
          <a:p>
            <a:pPr>
              <a:spcBef>
                <a:spcPts val="0"/>
              </a:spcBef>
              <a:spcAft>
                <a:spcPts val="300"/>
              </a:spcAft>
              <a:defRPr sz="2100" b="1">
                <a:solidFill>
                  <a:srgbClr val="1A1A1A"/>
                </a:solidFill>
                <a:latin typeface="Arial"/>
              </a:defRPr>
            </a:pPr>
            <a:r>
              <a:rPr b="1">
                <a:solidFill>
                  <a:srgbClr val="201C19"/>
                </a:solidFill>
                <a:latin typeface="Arial"/>
              </a:rPr>
              <a:t>Explain the method and check directions; work with a partner only where permitted.</a:t>
            </a:r>
          </a:p>
        </p:txBody>
      </p:sp>
      <p:sp>
        <p:nvSpPr>
          <p:cNvPr id="8" name="TextBox 7"/>
          <p:cNvSpPr txBox="1"/>
          <p:nvPr/>
        </p:nvSpPr>
        <p:spPr>
          <a:xfrm>
            <a:off x="612648" y="5788152"/>
            <a:ext cx="10927080" cy="411480"/>
          </a:xfrm>
          <a:prstGeom prst="rect">
            <a:avLst/>
          </a:prstGeom>
          <a:noFill/>
        </p:spPr>
        <p:txBody>
          <a:bodyPr wrap="square" lIns="0" rIns="0" tIns="0" bIns="0">
            <a:spAutoFit/>
          </a:bodyPr>
          <a:lstStyle/>
          <a:p>
            <a:pPr>
              <a:spcBef>
                <a:spcPts val="0"/>
              </a:spcBef>
              <a:spcAft>
                <a:spcPts val="300"/>
              </a:spcAft>
              <a:defRPr sz="1250" b="0">
                <a:solidFill>
                  <a:srgbClr val="4A4E54"/>
                </a:solidFill>
                <a:latin typeface="Arial"/>
              </a:defRPr>
            </a:pPr>
            <a:r>
              <a:rPr>
                <a:solidFill>
                  <a:srgbClr val="62564B"/>
                </a:solidFill>
                <a:latin typeface="Arial"/>
              </a:rPr>
              <a:t>Resources: Stations: 1B Q3 p.8; 4A Q14(a),15(a) p.26; 5A Q12–13 p.33; 6A Q19 p.40; 7A Q11–12 p.45; 8C Q1–2 p.55.</a:t>
            </a:r>
          </a:p>
        </p:txBody>
      </p:sp>
      <p:pic>
        <p:nvPicPr>
          <p:cNvPr id="9" name="Picture 8"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1" name="TextBox 10"/>
          <p:cNvSpPr txBox="1"/>
          <p:nvPr/>
        </p:nvSpPr>
        <p:spPr>
          <a:xfrm>
            <a:off x="612648" y="6620256"/>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4"/>
              </a:rPr>
              <a:t>Textbook</a:t>
            </a:r>
          </a:p>
        </p:txBody>
      </p:sp>
      <p:sp>
        <p:nvSpPr>
          <p:cNvPr id="12" name="TextBox 11"/>
          <p:cNvSpPr txBox="1"/>
          <p:nvPr/>
        </p:nvSpPr>
        <p:spPr>
          <a:xfrm>
            <a:off x="1691640" y="6620256"/>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5"/>
              </a:rPr>
              <a:t>Exercise Book</a:t>
            </a:r>
          </a:p>
        </p:txBody>
      </p:sp>
      <p:sp>
        <p:nvSpPr>
          <p:cNvPr id="13" name="TextBox 12"/>
          <p:cNvSpPr txBox="1"/>
          <p:nvPr/>
        </p:nvSpPr>
        <p:spPr>
          <a:xfrm>
            <a:off x="3136392" y="6620256"/>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6"/>
              </a:rPr>
              <a:t>Numeracy Hub</a:t>
            </a:r>
          </a:p>
        </p:txBody>
      </p:sp>
      <p:sp>
        <p:nvSpPr>
          <p:cNvPr id="14" name="TextBox 13"/>
          <p:cNvSpPr txBox="1"/>
          <p:nvPr/>
        </p:nvSpPr>
        <p:spPr>
          <a:xfrm>
            <a:off x="4736592" y="6620256"/>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7"/>
              </a:rPr>
              <a:t>Shape Canvas</a:t>
            </a:r>
          </a:p>
        </p:txBody>
      </p:sp>
      <p:sp>
        <p:nvSpPr>
          <p:cNvPr id="15" name="TextBox 14"/>
          <p:cNvSpPr txBox="1"/>
          <p:nvPr/>
        </p:nvSpPr>
        <p:spPr>
          <a:xfrm>
            <a:off x="8412480" y="6620256"/>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sz="850">
                <a:solidFill>
                  <a:srgbClr val="F7F4F1"/>
                </a:solidFill>
                <a:latin typeface="Arial"/>
              </a:rPr>
              <a:t>Day 25  •  2026-12-14  •  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7F4F1"/>
        </a:solidFill>
        <a:effectLst/>
      </p:bgPr>
    </p:bg>
    <p:spTree>
      <p:nvGrpSpPr>
        <p:cNvPr id="1" name=""/>
        <p:cNvGrpSpPr/>
        <p:nvPr/>
      </p:nvGrpSpPr>
      <p:grpSpPr/>
      <p:sp>
        <p:nvSpPr>
          <p:cNvPr id="16" name="Rectangle 15"/>
          <p:cNvSpPr/>
          <p:nvPr/>
        </p:nvSpPr>
        <p:spPr>
          <a:xfrm>
            <a:off x="0" y="6528816"/>
            <a:ext cx="12191695" cy="329184"/>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0" y="0"/>
            <a:ext cx="12191695" cy="1645920"/>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10104120" y="114300"/>
            <a:ext cx="1517904" cy="753153"/>
          </a:xfrm>
          <a:prstGeom prst="roundRect">
            <a:avLst>
              <a:gd name="adj" fmla="val 8000"/>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493776" y="1773936"/>
            <a:ext cx="11192256" cy="2240280"/>
          </a:xfrm>
          <a:prstGeom prst="roundRect">
            <a:avLst>
              <a:gd name="adj" fmla="val 8000"/>
            </a:avLst>
          </a:prstGeom>
          <a:solidFill>
            <a:srgbClr val="5A10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spAutoFit/>
          </a:bodyPr>
          <a:lstStyle/>
          <a:p>
            <a:pPr>
              <a:spcBef>
                <a:spcPts val="0"/>
              </a:spcBef>
              <a:spcAft>
                <a:spcPts val="300"/>
              </a:spcAft>
              <a:defRPr sz="1150" b="1">
                <a:solidFill>
                  <a:srgbClr val="D2181F"/>
                </a:solidFill>
                <a:latin typeface="Arial"/>
              </a:defRPr>
            </a:pPr>
            <a:r>
              <a:rPr>
                <a:solidFill>
                  <a:srgbClr val="FFFFFF"/>
                </a:solidFill>
                <a:latin typeface="Arial"/>
              </a:rPr>
              <a:t>W08-L01  •  PRACTISE  •  9:40 AM–10:00 AM  •  20 MIN TOTAL</a:t>
            </a:r>
          </a:p>
        </p:txBody>
      </p:sp>
      <p:sp>
        <p:nvSpPr>
          <p:cNvPr id="3" name="TextBox 2"/>
          <p:cNvSpPr txBox="1"/>
          <p:nvPr/>
        </p:nvSpPr>
        <p:spPr>
          <a:xfrm>
            <a:off x="612648" y="932688"/>
            <a:ext cx="10927080" cy="749808"/>
          </a:xfrm>
          <a:prstGeom prst="rect">
            <a:avLst/>
          </a:prstGeom>
          <a:noFill/>
        </p:spPr>
        <p:txBody>
          <a:bodyPr wrap="square" lIns="0" rIns="0" tIns="0" bIns="0">
            <a:spAutoFit/>
          </a:bodyPr>
          <a:lstStyle/>
          <a:p>
            <a:pPr>
              <a:spcBef>
                <a:spcPts val="0"/>
              </a:spcBef>
              <a:spcAft>
                <a:spcPts val="300"/>
              </a:spcAft>
              <a:defRPr sz="2900" b="1">
                <a:solidFill>
                  <a:srgbClr val="1A1A1A"/>
                </a:solidFill>
                <a:latin typeface="Arial"/>
              </a:defRPr>
            </a:pPr>
            <a:r>
              <a:rPr b="1">
                <a:solidFill>
                  <a:srgbClr val="FFFFFF"/>
                </a:solidFill>
                <a:latin typeface="Arial"/>
              </a:rPr>
              <a:t>Your scheduled practice</a:t>
            </a:r>
          </a:p>
        </p:txBody>
      </p:sp>
      <p:sp>
        <p:nvSpPr>
          <p:cNvPr id="4" name="TextBox 3"/>
          <p:cNvSpPr txBox="1"/>
          <p:nvPr/>
        </p:nvSpPr>
        <p:spPr>
          <a:xfrm>
            <a:off x="612648" y="6327648"/>
            <a:ext cx="10881360" cy="219456"/>
          </a:xfrm>
          <a:prstGeom prst="rect">
            <a:avLst/>
          </a:prstGeom>
          <a:noFill/>
        </p:spPr>
        <p:txBody>
          <a:bodyPr wrap="square" lIns="0" rIns="0" tIns="0" bIns="0">
            <a:spAutoFit/>
          </a:bodyPr>
          <a:lstStyle/>
          <a:p>
            <a:pPr>
              <a:spcBef>
                <a:spcPts val="0"/>
              </a:spcBef>
              <a:spcAft>
                <a:spcPts val="300"/>
              </a:spcAft>
              <a:defRPr sz="1050" b="0">
                <a:solidFill>
                  <a:srgbClr val="4A4E54"/>
                </a:solidFill>
                <a:latin typeface="Arial"/>
              </a:defRPr>
            </a:pPr>
            <a:r>
              <a:rPr>
                <a:solidFill>
                  <a:srgbClr val="62564B"/>
                </a:solidFill>
                <a:latin typeface="Arial"/>
              </a:rPr>
              <a:t>Textbook Chapter 1–8, selected; formula sheet p.219; conversion factors pp.220–221</a:t>
            </a:r>
          </a:p>
        </p:txBody>
      </p:sp>
      <p:sp>
        <p:nvSpPr>
          <p:cNvPr id="5" name="TextBox 4"/>
          <p:cNvSpPr txBox="1"/>
          <p:nvPr/>
        </p:nvSpPr>
        <p:spPr>
          <a:xfrm>
            <a:off x="612648" y="1874519"/>
            <a:ext cx="10927080" cy="2103120"/>
          </a:xfrm>
          <a:prstGeom prst="rect">
            <a:avLst/>
          </a:prstGeom>
          <a:noFill/>
        </p:spPr>
        <p:txBody>
          <a:bodyPr wrap="square" lIns="0" rIns="0" tIns="0" bIns="0">
            <a:spAutoFit/>
          </a:bodyPr>
          <a:lstStyle/>
          <a:p>
            <a:pPr>
              <a:spcBef>
                <a:spcPts val="0"/>
              </a:spcBef>
              <a:spcAft>
                <a:spcPts val="300"/>
              </a:spcAft>
              <a:defRPr sz="2400" b="0">
                <a:solidFill>
                  <a:srgbClr val="1A1A1A"/>
                </a:solidFill>
                <a:latin typeface="Arial"/>
              </a:defRPr>
            </a:pPr>
            <a:r>
              <a:rPr>
                <a:solidFill>
                  <a:srgbClr val="FFFFFF"/>
                </a:solidFill>
                <a:latin typeface="Arial"/>
              </a:rPr>
              <a:t>Complete the listed station questions; start with the two highest-need topics. Keep written working and note whether a tool or prompt was required.</a:t>
            </a:r>
          </a:p>
        </p:txBody>
      </p:sp>
      <p:sp>
        <p:nvSpPr>
          <p:cNvPr id="6" name="Rectangle 5"/>
          <p:cNvSpPr/>
          <p:nvPr/>
        </p:nvSpPr>
        <p:spPr>
          <a:xfrm>
            <a:off x="612648" y="4251960"/>
            <a:ext cx="10927080" cy="1280160"/>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A1A1A"/>
                </a:solidFill>
                <a:latin typeface="Arial"/>
              </a:defRPr>
            </a:pPr>
          </a:p>
        </p:txBody>
      </p:sp>
      <p:sp>
        <p:nvSpPr>
          <p:cNvPr id="7" name="TextBox 6"/>
          <p:cNvSpPr txBox="1"/>
          <p:nvPr/>
        </p:nvSpPr>
        <p:spPr>
          <a:xfrm>
            <a:off x="859536" y="4462272"/>
            <a:ext cx="10424160" cy="822960"/>
          </a:xfrm>
          <a:prstGeom prst="rect">
            <a:avLst/>
          </a:prstGeom>
          <a:noFill/>
        </p:spPr>
        <p:txBody>
          <a:bodyPr wrap="square" lIns="0" rIns="0" tIns="0" bIns="0">
            <a:spAutoFit/>
          </a:bodyPr>
          <a:lstStyle/>
          <a:p>
            <a:pPr>
              <a:spcBef>
                <a:spcPts val="0"/>
              </a:spcBef>
              <a:spcAft>
                <a:spcPts val="300"/>
              </a:spcAft>
              <a:defRPr sz="2100" b="1">
                <a:solidFill>
                  <a:srgbClr val="1A1A1A"/>
                </a:solidFill>
                <a:latin typeface="Arial"/>
              </a:defRPr>
            </a:pPr>
            <a:r>
              <a:rPr b="1">
                <a:solidFill>
                  <a:srgbClr val="201C19"/>
                </a:solidFill>
                <a:latin typeface="Arial"/>
              </a:rPr>
              <a:t>Keep numbered written solutions and units. Use tools only under the conditions stated for this block.</a:t>
            </a:r>
          </a:p>
        </p:txBody>
      </p:sp>
      <p:sp>
        <p:nvSpPr>
          <p:cNvPr id="8" name="TextBox 7"/>
          <p:cNvSpPr txBox="1"/>
          <p:nvPr/>
        </p:nvSpPr>
        <p:spPr>
          <a:xfrm>
            <a:off x="612648" y="5788152"/>
            <a:ext cx="10927080" cy="411480"/>
          </a:xfrm>
          <a:prstGeom prst="rect">
            <a:avLst/>
          </a:prstGeom>
          <a:noFill/>
        </p:spPr>
        <p:txBody>
          <a:bodyPr wrap="square" lIns="0" rIns="0" tIns="0" bIns="0">
            <a:spAutoFit/>
          </a:bodyPr>
          <a:lstStyle/>
          <a:p>
            <a:pPr>
              <a:spcBef>
                <a:spcPts val="0"/>
              </a:spcBef>
              <a:spcAft>
                <a:spcPts val="300"/>
              </a:spcAft>
              <a:defRPr sz="1250" b="0">
                <a:solidFill>
                  <a:srgbClr val="4A4E54"/>
                </a:solidFill>
                <a:latin typeface="Arial"/>
              </a:defRPr>
            </a:pPr>
            <a:r>
              <a:rPr>
                <a:solidFill>
                  <a:srgbClr val="62564B"/>
                </a:solidFill>
                <a:latin typeface="Arial"/>
              </a:rPr>
              <a:t>Resources: Stations: 1B Q3 p.8; 4A Q14(a),15(a) p.26; 5A Q12–13 p.33; 6A Q19 p.40; 7A Q11–12 p.45; 8C Q1–2 p.55.</a:t>
            </a:r>
          </a:p>
        </p:txBody>
      </p:sp>
      <p:pic>
        <p:nvPicPr>
          <p:cNvPr id="9" name="Picture 8"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1" name="TextBox 10"/>
          <p:cNvSpPr txBox="1"/>
          <p:nvPr/>
        </p:nvSpPr>
        <p:spPr>
          <a:xfrm>
            <a:off x="612648" y="6620256"/>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4"/>
              </a:rPr>
              <a:t>Textbook</a:t>
            </a:r>
          </a:p>
        </p:txBody>
      </p:sp>
      <p:sp>
        <p:nvSpPr>
          <p:cNvPr id="12" name="TextBox 11"/>
          <p:cNvSpPr txBox="1"/>
          <p:nvPr/>
        </p:nvSpPr>
        <p:spPr>
          <a:xfrm>
            <a:off x="1691640" y="6620256"/>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5"/>
              </a:rPr>
              <a:t>Exercise Book</a:t>
            </a:r>
          </a:p>
        </p:txBody>
      </p:sp>
      <p:sp>
        <p:nvSpPr>
          <p:cNvPr id="13" name="TextBox 12"/>
          <p:cNvSpPr txBox="1"/>
          <p:nvPr/>
        </p:nvSpPr>
        <p:spPr>
          <a:xfrm>
            <a:off x="3136392" y="6620256"/>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6"/>
              </a:rPr>
              <a:t>Numeracy Hub</a:t>
            </a:r>
          </a:p>
        </p:txBody>
      </p:sp>
      <p:sp>
        <p:nvSpPr>
          <p:cNvPr id="14" name="TextBox 13"/>
          <p:cNvSpPr txBox="1"/>
          <p:nvPr/>
        </p:nvSpPr>
        <p:spPr>
          <a:xfrm>
            <a:off x="4736592" y="6620256"/>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7"/>
              </a:rPr>
              <a:t>Shape Canvas</a:t>
            </a:r>
          </a:p>
        </p:txBody>
      </p:sp>
      <p:sp>
        <p:nvSpPr>
          <p:cNvPr id="15" name="TextBox 14"/>
          <p:cNvSpPr txBox="1"/>
          <p:nvPr/>
        </p:nvSpPr>
        <p:spPr>
          <a:xfrm>
            <a:off x="8412480" y="6620256"/>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sz="850">
                <a:solidFill>
                  <a:srgbClr val="F7F4F1"/>
                </a:solidFill>
                <a:latin typeface="Arial"/>
              </a:rPr>
              <a:t>Day 25  •  2026-12-14  •  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1A1512"/>
        </a:solidFill>
        <a:effectLst/>
      </p:bgPr>
    </p:bg>
    <p:spTree>
      <p:nvGrpSpPr>
        <p:cNvPr id="1" name=""/>
        <p:cNvGrpSpPr/>
        <p:nvPr/>
      </p:nvGrpSpPr>
      <p:grpSpPr/>
      <p:sp>
        <p:nvSpPr>
          <p:cNvPr id="14" name="Rectangle 13"/>
          <p:cNvSpPr/>
          <p:nvPr/>
        </p:nvSpPr>
        <p:spPr>
          <a:xfrm>
            <a:off x="0" y="6528816"/>
            <a:ext cx="12191695" cy="329184"/>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0"/>
            <a:ext cx="12191695" cy="1645920"/>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104120" y="114300"/>
            <a:ext cx="1517904" cy="753153"/>
          </a:xfrm>
          <a:prstGeom prst="roundRect">
            <a:avLst>
              <a:gd name="adj" fmla="val 8000"/>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12064" y="1664208"/>
            <a:ext cx="11173968" cy="427939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spAutoFit/>
          </a:bodyPr>
          <a:lstStyle/>
          <a:p>
            <a:pPr>
              <a:spcBef>
                <a:spcPts val="0"/>
              </a:spcBef>
              <a:spcAft>
                <a:spcPts val="300"/>
              </a:spcAft>
              <a:defRPr sz="1150" b="1">
                <a:solidFill>
                  <a:srgbClr val="D2181F"/>
                </a:solidFill>
                <a:latin typeface="Arial"/>
              </a:defRPr>
            </a:pPr>
            <a:r>
              <a:rPr>
                <a:solidFill>
                  <a:srgbClr val="FFFFFF"/>
                </a:solidFill>
                <a:latin typeface="Arial"/>
              </a:rPr>
              <a:t>W08-L01  •  PRACTISE  •  9:40 AM–10:00 AM  •  20 MIN TOTAL</a:t>
            </a:r>
          </a:p>
        </p:txBody>
      </p:sp>
      <p:sp>
        <p:nvSpPr>
          <p:cNvPr id="3" name="TextBox 2"/>
          <p:cNvSpPr txBox="1"/>
          <p:nvPr/>
        </p:nvSpPr>
        <p:spPr>
          <a:xfrm>
            <a:off x="612648" y="932688"/>
            <a:ext cx="10927080" cy="749808"/>
          </a:xfrm>
          <a:prstGeom prst="rect">
            <a:avLst/>
          </a:prstGeom>
          <a:noFill/>
        </p:spPr>
        <p:txBody>
          <a:bodyPr wrap="square" lIns="0" rIns="0" tIns="0" bIns="0">
            <a:spAutoFit/>
          </a:bodyPr>
          <a:lstStyle/>
          <a:p>
            <a:pPr>
              <a:spcBef>
                <a:spcPts val="0"/>
              </a:spcBef>
              <a:spcAft>
                <a:spcPts val="300"/>
              </a:spcAft>
              <a:defRPr sz="2900" b="1">
                <a:solidFill>
                  <a:srgbClr val="1A1A1A"/>
                </a:solidFill>
                <a:latin typeface="Arial"/>
              </a:defRPr>
            </a:pPr>
            <a:r>
              <a:rPr b="1">
                <a:solidFill>
                  <a:srgbClr val="FFFFFF"/>
                </a:solidFill>
                <a:latin typeface="Arial"/>
              </a:rPr>
              <a:t>Open Numeracy Hub</a:t>
            </a:r>
          </a:p>
        </p:txBody>
      </p:sp>
      <p:sp>
        <p:nvSpPr>
          <p:cNvPr id="4" name="TextBox 3"/>
          <p:cNvSpPr txBox="1"/>
          <p:nvPr/>
        </p:nvSpPr>
        <p:spPr>
          <a:xfrm>
            <a:off x="612648" y="6327648"/>
            <a:ext cx="10881360" cy="219456"/>
          </a:xfrm>
          <a:prstGeom prst="rect">
            <a:avLst/>
          </a:prstGeom>
          <a:noFill/>
        </p:spPr>
        <p:txBody>
          <a:bodyPr wrap="square" lIns="0" rIns="0" tIns="0" bIns="0">
            <a:spAutoFit/>
          </a:bodyPr>
          <a:lstStyle/>
          <a:p>
            <a:pPr>
              <a:spcBef>
                <a:spcPts val="0"/>
              </a:spcBef>
              <a:spcAft>
                <a:spcPts val="300"/>
              </a:spcAft>
              <a:defRPr sz="1050" b="0">
                <a:solidFill>
                  <a:srgbClr val="4A4E54"/>
                </a:solidFill>
                <a:latin typeface="Arial"/>
              </a:defRPr>
            </a:pPr>
            <a:r>
              <a:rPr>
                <a:solidFill>
                  <a:srgbClr val="D9CEC5"/>
                </a:solidFill>
                <a:latin typeface="Arial"/>
              </a:rPr>
              <a:t>Textbook Chapter 1–8, selected; formula sheet p.219; conversion factors pp.220–221</a:t>
            </a:r>
          </a:p>
        </p:txBody>
      </p:sp>
      <p:pic>
        <p:nvPicPr>
          <p:cNvPr id="5" name="Picture 4" descr="hub-units.png"/>
          <p:cNvPicPr>
            <a:picLocks noChangeAspect="1"/>
          </p:cNvPicPr>
          <p:nvPr/>
        </p:nvPicPr>
        <p:blipFill>
          <a:blip r:embed="rId3"/>
          <a:stretch>
            <a:fillRect/>
          </a:stretch>
        </p:blipFill>
        <p:spPr>
          <a:xfrm>
            <a:off x="3014776" y="1664208"/>
            <a:ext cx="6122822" cy="4251960"/>
          </a:xfrm>
          <a:prstGeom prst="rect">
            <a:avLst/>
          </a:prstGeom>
        </p:spPr>
      </p:pic>
      <p:sp>
        <p:nvSpPr>
          <p:cNvPr id="6" name="TextBox 5"/>
          <p:cNvSpPr txBox="1"/>
          <p:nvPr/>
        </p:nvSpPr>
        <p:spPr>
          <a:xfrm>
            <a:off x="612648" y="5998464"/>
            <a:ext cx="10927080" cy="256032"/>
          </a:xfrm>
          <a:prstGeom prst="rect">
            <a:avLst/>
          </a:prstGeom>
          <a:noFill/>
        </p:spPr>
        <p:txBody>
          <a:bodyPr wrap="square" lIns="0" rIns="0" tIns="0" bIns="0">
            <a:spAutoFit/>
          </a:bodyPr>
          <a:lstStyle/>
          <a:p>
            <a:pPr>
              <a:spcBef>
                <a:spcPts val="0"/>
              </a:spcBef>
              <a:spcAft>
                <a:spcPts val="300"/>
              </a:spcAft>
              <a:defRPr sz="1350" b="0">
                <a:solidFill>
                  <a:srgbClr val="4A4E54"/>
                </a:solidFill>
                <a:latin typeface="Arial"/>
              </a:defRPr>
            </a:pPr>
            <a:r>
              <a:rPr>
                <a:solidFill>
                  <a:srgbClr val="F7F4F1"/>
                </a:solidFill>
                <a:latin typeface="Arial"/>
              </a:rPr>
              <a:t>Navigation example. Use the values and units in the assigned task.</a:t>
            </a:r>
          </a:p>
        </p:txBody>
      </p:sp>
      <p:pic>
        <p:nvPicPr>
          <p:cNvPr id="7" name="Picture 6" descr="access-logo.png"/>
          <p:cNvPicPr>
            <a:picLocks noChangeAspect="1"/>
          </p:cNvPicPr>
          <p:nvPr/>
        </p:nvPicPr>
        <p:blipFill>
          <a:blip r:embed="rId4"/>
          <a:stretch>
            <a:fillRect/>
          </a:stretch>
        </p:blipFill>
        <p:spPr>
          <a:xfrm>
            <a:off x="10177272" y="146304"/>
            <a:ext cx="1371600" cy="689145"/>
          </a:xfrm>
          <a:prstGeom prst="rect">
            <a:avLst/>
          </a:prstGeom>
        </p:spPr>
      </p:pic>
      <p:sp>
        <p:nvSpPr>
          <p:cNvPr id="9" name="TextBox 8"/>
          <p:cNvSpPr txBox="1"/>
          <p:nvPr/>
        </p:nvSpPr>
        <p:spPr>
          <a:xfrm>
            <a:off x="612648" y="6620256"/>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5"/>
              </a:rPr>
              <a:t>Textbook</a:t>
            </a:r>
          </a:p>
        </p:txBody>
      </p:sp>
      <p:sp>
        <p:nvSpPr>
          <p:cNvPr id="10" name="TextBox 9"/>
          <p:cNvSpPr txBox="1"/>
          <p:nvPr/>
        </p:nvSpPr>
        <p:spPr>
          <a:xfrm>
            <a:off x="1691640" y="6620256"/>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6"/>
              </a:rPr>
              <a:t>Exercise Book</a:t>
            </a:r>
          </a:p>
        </p:txBody>
      </p:sp>
      <p:sp>
        <p:nvSpPr>
          <p:cNvPr id="11" name="TextBox 10"/>
          <p:cNvSpPr txBox="1"/>
          <p:nvPr/>
        </p:nvSpPr>
        <p:spPr>
          <a:xfrm>
            <a:off x="3136392" y="6620256"/>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7"/>
              </a:rPr>
              <a:t>Numeracy Hub</a:t>
            </a:r>
          </a:p>
        </p:txBody>
      </p:sp>
      <p:sp>
        <p:nvSpPr>
          <p:cNvPr id="12" name="TextBox 11"/>
          <p:cNvSpPr txBox="1"/>
          <p:nvPr/>
        </p:nvSpPr>
        <p:spPr>
          <a:xfrm>
            <a:off x="4736592" y="6620256"/>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8"/>
              </a:rPr>
              <a:t>Shape Canvas</a:t>
            </a:r>
          </a:p>
        </p:txBody>
      </p:sp>
      <p:sp>
        <p:nvSpPr>
          <p:cNvPr id="13" name="TextBox 12"/>
          <p:cNvSpPr txBox="1"/>
          <p:nvPr/>
        </p:nvSpPr>
        <p:spPr>
          <a:xfrm>
            <a:off x="8412480" y="6620256"/>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sz="850">
                <a:solidFill>
                  <a:srgbClr val="F7F4F1"/>
                </a:solidFill>
                <a:latin typeface="Arial"/>
              </a:rPr>
              <a:t>Day 25  •  2026-12-14  •  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1A1512"/>
        </a:solidFill>
        <a:effectLst/>
      </p:bgPr>
    </p:bg>
    <p:spTree>
      <p:nvGrpSpPr>
        <p:cNvPr id="1" name=""/>
        <p:cNvGrpSpPr/>
        <p:nvPr/>
      </p:nvGrpSpPr>
      <p:grpSpPr/>
      <p:sp>
        <p:nvSpPr>
          <p:cNvPr id="18" name="Rectangle 17"/>
          <p:cNvSpPr/>
          <p:nvPr/>
        </p:nvSpPr>
        <p:spPr>
          <a:xfrm>
            <a:off x="0" y="6528816"/>
            <a:ext cx="12191695" cy="329184"/>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0" y="0"/>
            <a:ext cx="12191695" cy="1645920"/>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10104120" y="114300"/>
            <a:ext cx="1517904" cy="753153"/>
          </a:xfrm>
          <a:prstGeom prst="roundRect">
            <a:avLst>
              <a:gd name="adj" fmla="val 8000"/>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502920" y="1737360"/>
            <a:ext cx="11183112" cy="1197864"/>
          </a:xfrm>
          <a:prstGeom prst="roundRect">
            <a:avLst>
              <a:gd name="adj" fmla="val 8000"/>
            </a:avLst>
          </a:prstGeom>
          <a:solidFill>
            <a:srgbClr val="302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502920" y="3035808"/>
            <a:ext cx="11183112" cy="1197864"/>
          </a:xfrm>
          <a:prstGeom prst="roundRect">
            <a:avLst>
              <a:gd name="adj" fmla="val 8000"/>
            </a:avLst>
          </a:prstGeom>
          <a:solidFill>
            <a:srgbClr val="302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502920" y="4334256"/>
            <a:ext cx="11183112" cy="1197864"/>
          </a:xfrm>
          <a:prstGeom prst="roundRect">
            <a:avLst>
              <a:gd name="adj" fmla="val 8000"/>
            </a:avLst>
          </a:prstGeom>
          <a:solidFill>
            <a:srgbClr val="302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spAutoFit/>
          </a:bodyPr>
          <a:lstStyle/>
          <a:p>
            <a:pPr>
              <a:spcBef>
                <a:spcPts val="0"/>
              </a:spcBef>
              <a:spcAft>
                <a:spcPts val="300"/>
              </a:spcAft>
              <a:defRPr sz="1150" b="1">
                <a:solidFill>
                  <a:srgbClr val="D2181F"/>
                </a:solidFill>
                <a:latin typeface="Arial"/>
              </a:defRPr>
            </a:pPr>
            <a:r>
              <a:rPr>
                <a:solidFill>
                  <a:srgbClr val="FFFFFF"/>
                </a:solidFill>
                <a:latin typeface="Arial"/>
              </a:rPr>
              <a:t>W08-L01  •  PRACTISE  •  9:40 AM–10:00 AM  •  20 MIN TOTAL</a:t>
            </a:r>
          </a:p>
        </p:txBody>
      </p:sp>
      <p:sp>
        <p:nvSpPr>
          <p:cNvPr id="3" name="TextBox 2"/>
          <p:cNvSpPr txBox="1"/>
          <p:nvPr/>
        </p:nvSpPr>
        <p:spPr>
          <a:xfrm>
            <a:off x="612648" y="932688"/>
            <a:ext cx="10927080" cy="749808"/>
          </a:xfrm>
          <a:prstGeom prst="rect">
            <a:avLst/>
          </a:prstGeom>
          <a:noFill/>
        </p:spPr>
        <p:txBody>
          <a:bodyPr wrap="square" lIns="0" rIns="0" tIns="0" bIns="0">
            <a:spAutoFit/>
          </a:bodyPr>
          <a:lstStyle/>
          <a:p>
            <a:pPr>
              <a:spcBef>
                <a:spcPts val="0"/>
              </a:spcBef>
              <a:spcAft>
                <a:spcPts val="300"/>
              </a:spcAft>
              <a:defRPr sz="2900" b="1">
                <a:solidFill>
                  <a:srgbClr val="1A1A1A"/>
                </a:solidFill>
                <a:latin typeface="Arial"/>
              </a:defRPr>
            </a:pPr>
            <a:r>
              <a:rPr b="1">
                <a:solidFill>
                  <a:srgbClr val="FFFFFF"/>
                </a:solidFill>
                <a:latin typeface="Arial"/>
              </a:rPr>
              <a:t>Practise in Numeracy Hub and Shape Canvas</a:t>
            </a:r>
          </a:p>
        </p:txBody>
      </p:sp>
      <p:sp>
        <p:nvSpPr>
          <p:cNvPr id="4" name="TextBox 3"/>
          <p:cNvSpPr txBox="1"/>
          <p:nvPr/>
        </p:nvSpPr>
        <p:spPr>
          <a:xfrm>
            <a:off x="612648" y="6327648"/>
            <a:ext cx="10881360" cy="219456"/>
          </a:xfrm>
          <a:prstGeom prst="rect">
            <a:avLst/>
          </a:prstGeom>
          <a:noFill/>
        </p:spPr>
        <p:txBody>
          <a:bodyPr wrap="square" lIns="0" rIns="0" tIns="0" bIns="0">
            <a:spAutoFit/>
          </a:bodyPr>
          <a:lstStyle/>
          <a:p>
            <a:pPr>
              <a:spcBef>
                <a:spcPts val="0"/>
              </a:spcBef>
              <a:spcAft>
                <a:spcPts val="300"/>
              </a:spcAft>
              <a:defRPr sz="1050" b="0">
                <a:solidFill>
                  <a:srgbClr val="4A4E54"/>
                </a:solidFill>
                <a:latin typeface="Arial"/>
              </a:defRPr>
            </a:pPr>
            <a:r>
              <a:rPr>
                <a:solidFill>
                  <a:srgbClr val="D9CEC5"/>
                </a:solidFill>
                <a:latin typeface="Arial"/>
              </a:rPr>
              <a:t>Textbook Chapter 1–8, selected; formula sheet p.219; conversion factors pp.220–221</a:t>
            </a:r>
          </a:p>
        </p:txBody>
      </p:sp>
      <p:sp>
        <p:nvSpPr>
          <p:cNvPr id="5" name="Rectangle 4"/>
          <p:cNvSpPr/>
          <p:nvPr/>
        </p:nvSpPr>
        <p:spPr>
          <a:xfrm>
            <a:off x="658368" y="1828800"/>
            <a:ext cx="365760" cy="365760"/>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1">
                <a:solidFill>
                  <a:srgbClr val="1A1A1A"/>
                </a:solidFill>
                <a:latin typeface="Arial"/>
              </a:defRPr>
            </a:pPr>
            <a:r>
              <a:rPr b="1" sz="2000">
                <a:solidFill>
                  <a:srgbClr val="201C19"/>
                </a:solidFill>
                <a:latin typeface="Arial"/>
              </a:rPr>
              <a:t>1</a:t>
            </a:r>
          </a:p>
        </p:txBody>
      </p:sp>
      <p:sp>
        <p:nvSpPr>
          <p:cNvPr id="6" name="TextBox 5"/>
          <p:cNvSpPr txBox="1"/>
          <p:nvPr/>
        </p:nvSpPr>
        <p:spPr>
          <a:xfrm>
            <a:off x="1234440" y="1828800"/>
            <a:ext cx="10149840" cy="1097280"/>
          </a:xfrm>
          <a:prstGeom prst="rect">
            <a:avLst/>
          </a:prstGeom>
          <a:noFill/>
        </p:spPr>
        <p:txBody>
          <a:bodyPr wrap="square" lIns="0" rIns="0" tIns="0" bIns="0">
            <a:spAutoFit/>
          </a:bodyPr>
          <a:lstStyle/>
          <a:p>
            <a:pPr>
              <a:spcBef>
                <a:spcPts val="0"/>
              </a:spcBef>
              <a:spcAft>
                <a:spcPts val="300"/>
              </a:spcAft>
              <a:defRPr sz="2200" b="0">
                <a:solidFill>
                  <a:srgbClr val="1A1A1A"/>
                </a:solidFill>
                <a:latin typeface="Arial"/>
              </a:defRPr>
            </a:pPr>
            <a:r>
              <a:rPr>
                <a:solidFill>
                  <a:srgbClr val="FFFFFF"/>
                </a:solidFill>
                <a:latin typeface="Arial"/>
              </a:rPr>
              <a:t>At the relevant stations, write the selected book solution first and state the method and units.</a:t>
            </a:r>
          </a:p>
        </p:txBody>
      </p:sp>
      <p:sp>
        <p:nvSpPr>
          <p:cNvPr id="7" name="Rectangle 6"/>
          <p:cNvSpPr/>
          <p:nvPr/>
        </p:nvSpPr>
        <p:spPr>
          <a:xfrm>
            <a:off x="658368" y="3127248"/>
            <a:ext cx="365760" cy="365760"/>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1">
                <a:solidFill>
                  <a:srgbClr val="1A1A1A"/>
                </a:solidFill>
                <a:latin typeface="Arial"/>
              </a:defRPr>
            </a:pPr>
            <a:r>
              <a:rPr b="1" sz="2000">
                <a:solidFill>
                  <a:srgbClr val="201C19"/>
                </a:solidFill>
                <a:latin typeface="Arial"/>
              </a:rPr>
              <a:t>2</a:t>
            </a:r>
          </a:p>
        </p:txBody>
      </p:sp>
      <p:sp>
        <p:nvSpPr>
          <p:cNvPr id="8" name="TextBox 7"/>
          <p:cNvSpPr txBox="1"/>
          <p:nvPr/>
        </p:nvSpPr>
        <p:spPr>
          <a:xfrm>
            <a:off x="1234440" y="3127248"/>
            <a:ext cx="10149840" cy="1097280"/>
          </a:xfrm>
          <a:prstGeom prst="rect">
            <a:avLst/>
          </a:prstGeom>
          <a:noFill/>
        </p:spPr>
        <p:txBody>
          <a:bodyPr wrap="square" lIns="0" rIns="0" tIns="0" bIns="0">
            <a:spAutoFit/>
          </a:bodyPr>
          <a:lstStyle/>
          <a:p>
            <a:pPr>
              <a:spcBef>
                <a:spcPts val="0"/>
              </a:spcBef>
              <a:spcAft>
                <a:spcPts val="300"/>
              </a:spcAft>
              <a:defRPr sz="2000" b="0">
                <a:solidFill>
                  <a:srgbClr val="1A1A1A"/>
                </a:solidFill>
                <a:latin typeface="Arial"/>
              </a:defRPr>
            </a:pPr>
            <a:r>
              <a:rPr>
                <a:solidFill>
                  <a:srgbClr val="FFFFFF"/>
                </a:solidFill>
                <a:latin typeface="Arial"/>
              </a:rPr>
              <a:t>Use Numeracy Hub Calculator for number checks or Unit Conversions for length practice; at the formulas station, use the scheduled Shape Canvas rectangle with one missing dimension.</a:t>
            </a:r>
          </a:p>
        </p:txBody>
      </p:sp>
      <p:sp>
        <p:nvSpPr>
          <p:cNvPr id="9" name="Rectangle 8"/>
          <p:cNvSpPr/>
          <p:nvPr/>
        </p:nvSpPr>
        <p:spPr>
          <a:xfrm>
            <a:off x="658368" y="4425696"/>
            <a:ext cx="365760" cy="365760"/>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1">
                <a:solidFill>
                  <a:srgbClr val="1A1A1A"/>
                </a:solidFill>
                <a:latin typeface="Arial"/>
              </a:defRPr>
            </a:pPr>
            <a:r>
              <a:rPr b="1" sz="2000">
                <a:solidFill>
                  <a:srgbClr val="201C19"/>
                </a:solidFill>
                <a:latin typeface="Arial"/>
              </a:rPr>
              <a:t>3</a:t>
            </a:r>
          </a:p>
        </p:txBody>
      </p:sp>
      <p:sp>
        <p:nvSpPr>
          <p:cNvPr id="10" name="TextBox 9"/>
          <p:cNvSpPr txBox="1"/>
          <p:nvPr/>
        </p:nvSpPr>
        <p:spPr>
          <a:xfrm>
            <a:off x="1234440" y="4425696"/>
            <a:ext cx="10149840" cy="1097280"/>
          </a:xfrm>
          <a:prstGeom prst="rect">
            <a:avLst/>
          </a:prstGeom>
          <a:noFill/>
        </p:spPr>
        <p:txBody>
          <a:bodyPr wrap="square" lIns="0" rIns="0" tIns="0" bIns="0">
            <a:spAutoFit/>
          </a:bodyPr>
          <a:lstStyle/>
          <a:p>
            <a:pPr>
              <a:spcBef>
                <a:spcPts val="0"/>
              </a:spcBef>
              <a:spcAft>
                <a:spcPts val="300"/>
              </a:spcAft>
              <a:defRPr sz="2000" b="0">
                <a:solidFill>
                  <a:srgbClr val="1A1A1A"/>
                </a:solidFill>
                <a:latin typeface="Arial"/>
              </a:defRPr>
            </a:pPr>
            <a:r>
              <a:rPr>
                <a:solidFill>
                  <a:srgbClr val="FFFFFF"/>
                </a:solidFill>
                <a:latin typeface="Arial"/>
              </a:rPr>
              <a:t>Compare the tool check with your working, and substitute the missing dimension back where relevant. Mark whether each solution was independent, tool-checked or prompted.</a:t>
            </a:r>
          </a:p>
        </p:txBody>
      </p:sp>
      <p:pic>
        <p:nvPicPr>
          <p:cNvPr id="11" name="Picture 10"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3" name="TextBox 12"/>
          <p:cNvSpPr txBox="1"/>
          <p:nvPr/>
        </p:nvSpPr>
        <p:spPr>
          <a:xfrm>
            <a:off x="612648" y="6620256"/>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4"/>
              </a:rPr>
              <a:t>Textbook</a:t>
            </a:r>
          </a:p>
        </p:txBody>
      </p:sp>
      <p:sp>
        <p:nvSpPr>
          <p:cNvPr id="14" name="TextBox 13"/>
          <p:cNvSpPr txBox="1"/>
          <p:nvPr/>
        </p:nvSpPr>
        <p:spPr>
          <a:xfrm>
            <a:off x="1691640" y="6620256"/>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5"/>
              </a:rPr>
              <a:t>Exercise Book</a:t>
            </a:r>
          </a:p>
        </p:txBody>
      </p:sp>
      <p:sp>
        <p:nvSpPr>
          <p:cNvPr id="15" name="TextBox 14"/>
          <p:cNvSpPr txBox="1"/>
          <p:nvPr/>
        </p:nvSpPr>
        <p:spPr>
          <a:xfrm>
            <a:off x="3136392" y="6620256"/>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6"/>
              </a:rPr>
              <a:t>Numeracy Hub</a:t>
            </a:r>
          </a:p>
        </p:txBody>
      </p:sp>
      <p:sp>
        <p:nvSpPr>
          <p:cNvPr id="16" name="TextBox 15"/>
          <p:cNvSpPr txBox="1"/>
          <p:nvPr/>
        </p:nvSpPr>
        <p:spPr>
          <a:xfrm>
            <a:off x="4736592" y="6620256"/>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7"/>
              </a:rPr>
              <a:t>Shape Canvas</a:t>
            </a:r>
          </a:p>
        </p:txBody>
      </p:sp>
      <p:sp>
        <p:nvSpPr>
          <p:cNvPr id="17" name="TextBox 16"/>
          <p:cNvSpPr txBox="1"/>
          <p:nvPr/>
        </p:nvSpPr>
        <p:spPr>
          <a:xfrm>
            <a:off x="8412480" y="6620256"/>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sz="850">
                <a:solidFill>
                  <a:srgbClr val="F7F4F1"/>
                </a:solidFill>
                <a:latin typeface="Arial"/>
              </a:rPr>
              <a:t>Day 25  •  2026-12-14  •  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1A1512"/>
        </a:solidFill>
        <a:effectLst/>
      </p:bgPr>
    </p:bg>
    <p:spTree>
      <p:nvGrpSpPr>
        <p:cNvPr id="1" name=""/>
        <p:cNvGrpSpPr/>
        <p:nvPr/>
      </p:nvGrpSpPr>
      <p:grpSpPr/>
      <p:sp>
        <p:nvSpPr>
          <p:cNvPr id="14" name="Rectangle 13"/>
          <p:cNvSpPr/>
          <p:nvPr/>
        </p:nvSpPr>
        <p:spPr>
          <a:xfrm>
            <a:off x="0" y="6528816"/>
            <a:ext cx="12191695" cy="329184"/>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0"/>
            <a:ext cx="12191695" cy="1645920"/>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104120" y="114300"/>
            <a:ext cx="1517904" cy="753153"/>
          </a:xfrm>
          <a:prstGeom prst="roundRect">
            <a:avLst>
              <a:gd name="adj" fmla="val 8000"/>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12064" y="1773936"/>
            <a:ext cx="11173968" cy="377647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spAutoFit/>
          </a:bodyPr>
          <a:lstStyle/>
          <a:p>
            <a:pPr>
              <a:spcBef>
                <a:spcPts val="0"/>
              </a:spcBef>
              <a:spcAft>
                <a:spcPts val="300"/>
              </a:spcAft>
              <a:defRPr sz="1150" b="1">
                <a:solidFill>
                  <a:srgbClr val="D2181F"/>
                </a:solidFill>
                <a:latin typeface="Arial"/>
              </a:defRPr>
            </a:pPr>
            <a:r>
              <a:rPr>
                <a:solidFill>
                  <a:srgbClr val="FFFFFF"/>
                </a:solidFill>
                <a:latin typeface="Arial"/>
              </a:rPr>
              <a:t>W08-L01  •  PRACTISE  •  9:40 AM–10:00 AM  •  20 MIN TOTAL</a:t>
            </a:r>
          </a:p>
        </p:txBody>
      </p:sp>
      <p:sp>
        <p:nvSpPr>
          <p:cNvPr id="3" name="TextBox 2"/>
          <p:cNvSpPr txBox="1"/>
          <p:nvPr/>
        </p:nvSpPr>
        <p:spPr>
          <a:xfrm>
            <a:off x="612648" y="932688"/>
            <a:ext cx="10927080" cy="749808"/>
          </a:xfrm>
          <a:prstGeom prst="rect">
            <a:avLst/>
          </a:prstGeom>
          <a:noFill/>
        </p:spPr>
        <p:txBody>
          <a:bodyPr wrap="square" lIns="0" rIns="0" tIns="0" bIns="0">
            <a:spAutoFit/>
          </a:bodyPr>
          <a:lstStyle/>
          <a:p>
            <a:pPr>
              <a:spcBef>
                <a:spcPts val="0"/>
              </a:spcBef>
              <a:spcAft>
                <a:spcPts val="300"/>
              </a:spcAft>
              <a:defRPr sz="2900" b="1">
                <a:solidFill>
                  <a:srgbClr val="1A1A1A"/>
                </a:solidFill>
                <a:latin typeface="Arial"/>
              </a:defRPr>
            </a:pPr>
            <a:r>
              <a:rPr b="1">
                <a:solidFill>
                  <a:srgbClr val="FFFFFF"/>
                </a:solidFill>
                <a:latin typeface="Arial"/>
              </a:rPr>
              <a:t>Practise from the Exercise Book  |  1B Q3</a:t>
            </a:r>
          </a:p>
        </p:txBody>
      </p:sp>
      <p:sp>
        <p:nvSpPr>
          <p:cNvPr id="4" name="TextBox 3"/>
          <p:cNvSpPr txBox="1"/>
          <p:nvPr/>
        </p:nvSpPr>
        <p:spPr>
          <a:xfrm>
            <a:off x="612648" y="6327648"/>
            <a:ext cx="10881360" cy="219456"/>
          </a:xfrm>
          <a:prstGeom prst="rect">
            <a:avLst/>
          </a:prstGeom>
          <a:noFill/>
        </p:spPr>
        <p:txBody>
          <a:bodyPr wrap="square" lIns="0" rIns="0" tIns="0" bIns="0">
            <a:spAutoFit/>
          </a:bodyPr>
          <a:lstStyle/>
          <a:p>
            <a:pPr>
              <a:spcBef>
                <a:spcPts val="0"/>
              </a:spcBef>
              <a:spcAft>
                <a:spcPts val="300"/>
              </a:spcAft>
              <a:defRPr sz="1050" b="0">
                <a:solidFill>
                  <a:srgbClr val="4A4E54"/>
                </a:solidFill>
                <a:latin typeface="Arial"/>
              </a:defRPr>
            </a:pPr>
            <a:r>
              <a:rPr>
                <a:solidFill>
                  <a:srgbClr val="D9CEC5"/>
                </a:solidFill>
                <a:latin typeface="Arial"/>
              </a:rPr>
              <a:t>Textbook Chapter 1–8, selected; formula sheet p.219; conversion factors pp.220–221</a:t>
            </a:r>
          </a:p>
        </p:txBody>
      </p:sp>
      <p:pic>
        <p:nvPicPr>
          <p:cNvPr id="5" name="Picture 4" descr="1B-Q3.png"/>
          <p:cNvPicPr>
            <a:picLocks noChangeAspect="1"/>
          </p:cNvPicPr>
          <p:nvPr/>
        </p:nvPicPr>
        <p:blipFill>
          <a:blip r:embed="rId3"/>
          <a:stretch>
            <a:fillRect/>
          </a:stretch>
        </p:blipFill>
        <p:spPr>
          <a:xfrm>
            <a:off x="685800" y="2658618"/>
            <a:ext cx="10698480" cy="1842516"/>
          </a:xfrm>
          <a:prstGeom prst="rect">
            <a:avLst/>
          </a:prstGeom>
        </p:spPr>
      </p:pic>
      <p:sp>
        <p:nvSpPr>
          <p:cNvPr id="6" name="TextBox 5"/>
          <p:cNvSpPr txBox="1"/>
          <p:nvPr/>
        </p:nvSpPr>
        <p:spPr>
          <a:xfrm>
            <a:off x="685800" y="5596128"/>
            <a:ext cx="10698480" cy="457200"/>
          </a:xfrm>
          <a:prstGeom prst="rect">
            <a:avLst/>
          </a:prstGeom>
          <a:noFill/>
        </p:spPr>
        <p:txBody>
          <a:bodyPr wrap="square" lIns="0" rIns="0" tIns="0" bIns="0">
            <a:spAutoFit/>
          </a:bodyPr>
          <a:lstStyle/>
          <a:p>
            <a:pPr>
              <a:spcBef>
                <a:spcPts val="0"/>
              </a:spcBef>
              <a:spcAft>
                <a:spcPts val="300"/>
              </a:spcAft>
              <a:defRPr sz="1700" b="0">
                <a:solidFill>
                  <a:srgbClr val="4A4E54"/>
                </a:solidFill>
                <a:latin typeface="Arial"/>
              </a:defRPr>
            </a:pPr>
            <a:r>
              <a:rPr>
                <a:solidFill>
                  <a:srgbClr val="F7F4F1"/>
                </a:solidFill>
                <a:latin typeface="Arial"/>
              </a:rPr>
              <a:t>Write the operation, working and units before checking.</a:t>
            </a:r>
          </a:p>
        </p:txBody>
      </p:sp>
      <p:pic>
        <p:nvPicPr>
          <p:cNvPr id="7" name="Picture 6" descr="access-logo.png"/>
          <p:cNvPicPr>
            <a:picLocks noChangeAspect="1"/>
          </p:cNvPicPr>
          <p:nvPr/>
        </p:nvPicPr>
        <p:blipFill>
          <a:blip r:embed="rId4"/>
          <a:stretch>
            <a:fillRect/>
          </a:stretch>
        </p:blipFill>
        <p:spPr>
          <a:xfrm>
            <a:off x="10177272" y="146304"/>
            <a:ext cx="1371600" cy="689145"/>
          </a:xfrm>
          <a:prstGeom prst="rect">
            <a:avLst/>
          </a:prstGeom>
        </p:spPr>
      </p:pic>
      <p:sp>
        <p:nvSpPr>
          <p:cNvPr id="9" name="TextBox 8"/>
          <p:cNvSpPr txBox="1"/>
          <p:nvPr/>
        </p:nvSpPr>
        <p:spPr>
          <a:xfrm>
            <a:off x="612648" y="6620256"/>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5"/>
              </a:rPr>
              <a:t>Textbook</a:t>
            </a:r>
          </a:p>
        </p:txBody>
      </p:sp>
      <p:sp>
        <p:nvSpPr>
          <p:cNvPr id="10" name="TextBox 9"/>
          <p:cNvSpPr txBox="1"/>
          <p:nvPr/>
        </p:nvSpPr>
        <p:spPr>
          <a:xfrm>
            <a:off x="1691640" y="6620256"/>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6"/>
              </a:rPr>
              <a:t>Exercise Book</a:t>
            </a:r>
          </a:p>
        </p:txBody>
      </p:sp>
      <p:sp>
        <p:nvSpPr>
          <p:cNvPr id="11" name="TextBox 10"/>
          <p:cNvSpPr txBox="1"/>
          <p:nvPr/>
        </p:nvSpPr>
        <p:spPr>
          <a:xfrm>
            <a:off x="3136392" y="6620256"/>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7"/>
              </a:rPr>
              <a:t>Numeracy Hub</a:t>
            </a:r>
          </a:p>
        </p:txBody>
      </p:sp>
      <p:sp>
        <p:nvSpPr>
          <p:cNvPr id="12" name="TextBox 11"/>
          <p:cNvSpPr txBox="1"/>
          <p:nvPr/>
        </p:nvSpPr>
        <p:spPr>
          <a:xfrm>
            <a:off x="4736592" y="6620256"/>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8"/>
              </a:rPr>
              <a:t>Shape Canvas</a:t>
            </a:r>
          </a:p>
        </p:txBody>
      </p:sp>
      <p:sp>
        <p:nvSpPr>
          <p:cNvPr id="13" name="TextBox 12"/>
          <p:cNvSpPr txBox="1"/>
          <p:nvPr/>
        </p:nvSpPr>
        <p:spPr>
          <a:xfrm>
            <a:off x="8412480" y="6620256"/>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sz="850">
                <a:solidFill>
                  <a:srgbClr val="F7F4F1"/>
                </a:solidFill>
                <a:latin typeface="Arial"/>
              </a:rPr>
              <a:t>Day 25  •  2026-12-14  •  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1A1512"/>
        </a:solidFill>
        <a:effectLst/>
      </p:bgPr>
    </p:bg>
    <p:spTree>
      <p:nvGrpSpPr>
        <p:cNvPr id="1" name=""/>
        <p:cNvGrpSpPr/>
        <p:nvPr/>
      </p:nvGrpSpPr>
      <p:grpSpPr/>
      <p:sp>
        <p:nvSpPr>
          <p:cNvPr id="14" name="Rectangle 13"/>
          <p:cNvSpPr/>
          <p:nvPr/>
        </p:nvSpPr>
        <p:spPr>
          <a:xfrm>
            <a:off x="0" y="6528816"/>
            <a:ext cx="12191695" cy="329184"/>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0"/>
            <a:ext cx="12191695" cy="1645920"/>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104120" y="114300"/>
            <a:ext cx="1517904" cy="753153"/>
          </a:xfrm>
          <a:prstGeom prst="roundRect">
            <a:avLst>
              <a:gd name="adj" fmla="val 8000"/>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12064" y="1773936"/>
            <a:ext cx="11173968" cy="377647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spAutoFit/>
          </a:bodyPr>
          <a:lstStyle/>
          <a:p>
            <a:pPr>
              <a:spcBef>
                <a:spcPts val="0"/>
              </a:spcBef>
              <a:spcAft>
                <a:spcPts val="300"/>
              </a:spcAft>
              <a:defRPr sz="1150" b="1">
                <a:solidFill>
                  <a:srgbClr val="D2181F"/>
                </a:solidFill>
                <a:latin typeface="Arial"/>
              </a:defRPr>
            </a:pPr>
            <a:r>
              <a:rPr>
                <a:solidFill>
                  <a:srgbClr val="FFFFFF"/>
                </a:solidFill>
                <a:latin typeface="Arial"/>
              </a:rPr>
              <a:t>W08-L01  •  PRACTISE  •  9:40 AM–10:00 AM  •  20 MIN TOTAL</a:t>
            </a:r>
          </a:p>
        </p:txBody>
      </p:sp>
      <p:sp>
        <p:nvSpPr>
          <p:cNvPr id="3" name="TextBox 2"/>
          <p:cNvSpPr txBox="1"/>
          <p:nvPr/>
        </p:nvSpPr>
        <p:spPr>
          <a:xfrm>
            <a:off x="612648" y="932688"/>
            <a:ext cx="10927080" cy="749808"/>
          </a:xfrm>
          <a:prstGeom prst="rect">
            <a:avLst/>
          </a:prstGeom>
          <a:noFill/>
        </p:spPr>
        <p:txBody>
          <a:bodyPr wrap="square" lIns="0" rIns="0" tIns="0" bIns="0">
            <a:spAutoFit/>
          </a:bodyPr>
          <a:lstStyle/>
          <a:p>
            <a:pPr>
              <a:spcBef>
                <a:spcPts val="0"/>
              </a:spcBef>
              <a:spcAft>
                <a:spcPts val="300"/>
              </a:spcAft>
              <a:defRPr sz="2900" b="1">
                <a:solidFill>
                  <a:srgbClr val="1A1A1A"/>
                </a:solidFill>
                <a:latin typeface="Arial"/>
              </a:defRPr>
            </a:pPr>
            <a:r>
              <a:rPr b="1">
                <a:solidFill>
                  <a:srgbClr val="FFFFFF"/>
                </a:solidFill>
                <a:latin typeface="Arial"/>
              </a:rPr>
              <a:t>Practise from the Exercise Book  |  8C Q1</a:t>
            </a:r>
          </a:p>
        </p:txBody>
      </p:sp>
      <p:sp>
        <p:nvSpPr>
          <p:cNvPr id="4" name="TextBox 3"/>
          <p:cNvSpPr txBox="1"/>
          <p:nvPr/>
        </p:nvSpPr>
        <p:spPr>
          <a:xfrm>
            <a:off x="612648" y="6327648"/>
            <a:ext cx="10881360" cy="219456"/>
          </a:xfrm>
          <a:prstGeom prst="rect">
            <a:avLst/>
          </a:prstGeom>
          <a:noFill/>
        </p:spPr>
        <p:txBody>
          <a:bodyPr wrap="square" lIns="0" rIns="0" tIns="0" bIns="0">
            <a:spAutoFit/>
          </a:bodyPr>
          <a:lstStyle/>
          <a:p>
            <a:pPr>
              <a:spcBef>
                <a:spcPts val="0"/>
              </a:spcBef>
              <a:spcAft>
                <a:spcPts val="300"/>
              </a:spcAft>
              <a:defRPr sz="1050" b="0">
                <a:solidFill>
                  <a:srgbClr val="4A4E54"/>
                </a:solidFill>
                <a:latin typeface="Arial"/>
              </a:defRPr>
            </a:pPr>
            <a:r>
              <a:rPr>
                <a:solidFill>
                  <a:srgbClr val="D9CEC5"/>
                </a:solidFill>
                <a:latin typeface="Arial"/>
              </a:rPr>
              <a:t>Textbook Chapter 1–8, selected; formula sheet p.219; conversion factors pp.220–221</a:t>
            </a:r>
          </a:p>
        </p:txBody>
      </p:sp>
      <p:pic>
        <p:nvPicPr>
          <p:cNvPr id="5" name="Picture 4" descr="8C-Q1.png"/>
          <p:cNvPicPr>
            <a:picLocks noChangeAspect="1"/>
          </p:cNvPicPr>
          <p:nvPr/>
        </p:nvPicPr>
        <p:blipFill>
          <a:blip r:embed="rId3"/>
          <a:stretch>
            <a:fillRect/>
          </a:stretch>
        </p:blipFill>
        <p:spPr>
          <a:xfrm>
            <a:off x="1602278" y="1773936"/>
            <a:ext cx="8865523" cy="3611880"/>
          </a:xfrm>
          <a:prstGeom prst="rect">
            <a:avLst/>
          </a:prstGeom>
        </p:spPr>
      </p:pic>
      <p:sp>
        <p:nvSpPr>
          <p:cNvPr id="6" name="TextBox 5"/>
          <p:cNvSpPr txBox="1"/>
          <p:nvPr/>
        </p:nvSpPr>
        <p:spPr>
          <a:xfrm>
            <a:off x="685800" y="5596128"/>
            <a:ext cx="10698480" cy="457200"/>
          </a:xfrm>
          <a:prstGeom prst="rect">
            <a:avLst/>
          </a:prstGeom>
          <a:noFill/>
        </p:spPr>
        <p:txBody>
          <a:bodyPr wrap="square" lIns="0" rIns="0" tIns="0" bIns="0">
            <a:spAutoFit/>
          </a:bodyPr>
          <a:lstStyle/>
          <a:p>
            <a:pPr>
              <a:spcBef>
                <a:spcPts val="0"/>
              </a:spcBef>
              <a:spcAft>
                <a:spcPts val="300"/>
              </a:spcAft>
              <a:defRPr sz="1700" b="0">
                <a:solidFill>
                  <a:srgbClr val="4A4E54"/>
                </a:solidFill>
                <a:latin typeface="Arial"/>
              </a:defRPr>
            </a:pPr>
            <a:r>
              <a:rPr>
                <a:solidFill>
                  <a:srgbClr val="F7F4F1"/>
                </a:solidFill>
                <a:latin typeface="Arial"/>
              </a:rPr>
              <a:t>Write the operation, working and units before checking.</a:t>
            </a:r>
          </a:p>
        </p:txBody>
      </p:sp>
      <p:pic>
        <p:nvPicPr>
          <p:cNvPr id="7" name="Picture 6" descr="access-logo.png"/>
          <p:cNvPicPr>
            <a:picLocks noChangeAspect="1"/>
          </p:cNvPicPr>
          <p:nvPr/>
        </p:nvPicPr>
        <p:blipFill>
          <a:blip r:embed="rId4"/>
          <a:stretch>
            <a:fillRect/>
          </a:stretch>
        </p:blipFill>
        <p:spPr>
          <a:xfrm>
            <a:off x="10177272" y="146304"/>
            <a:ext cx="1371600" cy="689145"/>
          </a:xfrm>
          <a:prstGeom prst="rect">
            <a:avLst/>
          </a:prstGeom>
        </p:spPr>
      </p:pic>
      <p:sp>
        <p:nvSpPr>
          <p:cNvPr id="9" name="TextBox 8"/>
          <p:cNvSpPr txBox="1"/>
          <p:nvPr/>
        </p:nvSpPr>
        <p:spPr>
          <a:xfrm>
            <a:off x="612648" y="6620256"/>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5"/>
              </a:rPr>
              <a:t>Textbook</a:t>
            </a:r>
          </a:p>
        </p:txBody>
      </p:sp>
      <p:sp>
        <p:nvSpPr>
          <p:cNvPr id="10" name="TextBox 9"/>
          <p:cNvSpPr txBox="1"/>
          <p:nvPr/>
        </p:nvSpPr>
        <p:spPr>
          <a:xfrm>
            <a:off x="1691640" y="6620256"/>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6"/>
              </a:rPr>
              <a:t>Exercise Book</a:t>
            </a:r>
          </a:p>
        </p:txBody>
      </p:sp>
      <p:sp>
        <p:nvSpPr>
          <p:cNvPr id="11" name="TextBox 10"/>
          <p:cNvSpPr txBox="1"/>
          <p:nvPr/>
        </p:nvSpPr>
        <p:spPr>
          <a:xfrm>
            <a:off x="3136392" y="6620256"/>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7"/>
              </a:rPr>
              <a:t>Numeracy Hub</a:t>
            </a:r>
          </a:p>
        </p:txBody>
      </p:sp>
      <p:sp>
        <p:nvSpPr>
          <p:cNvPr id="12" name="TextBox 11"/>
          <p:cNvSpPr txBox="1"/>
          <p:nvPr/>
        </p:nvSpPr>
        <p:spPr>
          <a:xfrm>
            <a:off x="4736592" y="6620256"/>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8"/>
              </a:rPr>
              <a:t>Shape Canvas</a:t>
            </a:r>
          </a:p>
        </p:txBody>
      </p:sp>
      <p:sp>
        <p:nvSpPr>
          <p:cNvPr id="13" name="TextBox 12"/>
          <p:cNvSpPr txBox="1"/>
          <p:nvPr/>
        </p:nvSpPr>
        <p:spPr>
          <a:xfrm>
            <a:off x="8412480" y="6620256"/>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sz="850">
                <a:solidFill>
                  <a:srgbClr val="F7F4F1"/>
                </a:solidFill>
                <a:latin typeface="Arial"/>
              </a:rPr>
              <a:t>Day 25  •  2026-12-14  •  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5A1018"/>
        </a:solidFill>
        <a:effectLst/>
      </p:bgPr>
    </p:bg>
    <p:spTree>
      <p:nvGrpSpPr>
        <p:cNvPr id="1" name=""/>
        <p:cNvGrpSpPr/>
        <p:nvPr/>
      </p:nvGrpSpPr>
      <p:grpSpPr/>
      <p:sp>
        <p:nvSpPr>
          <p:cNvPr id="16" name="Rectangle 15"/>
          <p:cNvSpPr/>
          <p:nvPr/>
        </p:nvSpPr>
        <p:spPr>
          <a:xfrm>
            <a:off x="0" y="6528816"/>
            <a:ext cx="12191695" cy="329184"/>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0" y="0"/>
            <a:ext cx="12191695" cy="1645920"/>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10104120" y="114300"/>
            <a:ext cx="1517904" cy="753153"/>
          </a:xfrm>
          <a:prstGeom prst="roundRect">
            <a:avLst>
              <a:gd name="adj" fmla="val 8000"/>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493776" y="1773936"/>
            <a:ext cx="11192256" cy="2240280"/>
          </a:xfrm>
          <a:prstGeom prst="roundRect">
            <a:avLst>
              <a:gd name="adj" fmla="val 8000"/>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spAutoFit/>
          </a:bodyPr>
          <a:lstStyle/>
          <a:p>
            <a:pPr>
              <a:spcBef>
                <a:spcPts val="0"/>
              </a:spcBef>
              <a:spcAft>
                <a:spcPts val="300"/>
              </a:spcAft>
              <a:defRPr sz="1150" b="1">
                <a:solidFill>
                  <a:srgbClr val="D2181F"/>
                </a:solidFill>
                <a:latin typeface="Arial"/>
              </a:defRPr>
            </a:pPr>
            <a:r>
              <a:rPr>
                <a:solidFill>
                  <a:srgbClr val="FFFFFF"/>
                </a:solidFill>
                <a:latin typeface="Arial"/>
              </a:rPr>
              <a:t>W08-L01  •  CHECK  •  10:00 AM–10:10 AM  •  10 MIN TOTAL</a:t>
            </a:r>
          </a:p>
        </p:txBody>
      </p:sp>
      <p:sp>
        <p:nvSpPr>
          <p:cNvPr id="3" name="TextBox 2"/>
          <p:cNvSpPr txBox="1"/>
          <p:nvPr/>
        </p:nvSpPr>
        <p:spPr>
          <a:xfrm>
            <a:off x="612648" y="932688"/>
            <a:ext cx="10927080" cy="749808"/>
          </a:xfrm>
          <a:prstGeom prst="rect">
            <a:avLst/>
          </a:prstGeom>
          <a:noFill/>
        </p:spPr>
        <p:txBody>
          <a:bodyPr wrap="square" lIns="0" rIns="0" tIns="0" bIns="0">
            <a:spAutoFit/>
          </a:bodyPr>
          <a:lstStyle/>
          <a:p>
            <a:pPr>
              <a:spcBef>
                <a:spcPts val="0"/>
              </a:spcBef>
              <a:spcAft>
                <a:spcPts val="300"/>
              </a:spcAft>
              <a:defRPr sz="2900" b="1">
                <a:solidFill>
                  <a:srgbClr val="1A1A1A"/>
                </a:solidFill>
                <a:latin typeface="Arial"/>
              </a:defRPr>
            </a:pPr>
            <a:r>
              <a:rPr b="1">
                <a:solidFill>
                  <a:srgbClr val="FFFFFF"/>
                </a:solidFill>
                <a:latin typeface="Arial"/>
              </a:rPr>
              <a:t>Check independently</a:t>
            </a:r>
          </a:p>
        </p:txBody>
      </p:sp>
      <p:sp>
        <p:nvSpPr>
          <p:cNvPr id="4" name="TextBox 3"/>
          <p:cNvSpPr txBox="1"/>
          <p:nvPr/>
        </p:nvSpPr>
        <p:spPr>
          <a:xfrm>
            <a:off x="612648" y="6327648"/>
            <a:ext cx="10881360" cy="219456"/>
          </a:xfrm>
          <a:prstGeom prst="rect">
            <a:avLst/>
          </a:prstGeom>
          <a:noFill/>
        </p:spPr>
        <p:txBody>
          <a:bodyPr wrap="square" lIns="0" rIns="0" tIns="0" bIns="0">
            <a:spAutoFit/>
          </a:bodyPr>
          <a:lstStyle/>
          <a:p>
            <a:pPr>
              <a:spcBef>
                <a:spcPts val="0"/>
              </a:spcBef>
              <a:spcAft>
                <a:spcPts val="300"/>
              </a:spcAft>
              <a:defRPr sz="1050" b="0">
                <a:solidFill>
                  <a:srgbClr val="4A4E54"/>
                </a:solidFill>
                <a:latin typeface="Arial"/>
              </a:defRPr>
            </a:pPr>
            <a:r>
              <a:rPr>
                <a:solidFill>
                  <a:srgbClr val="D9CEC5"/>
                </a:solidFill>
                <a:latin typeface="Arial"/>
              </a:rPr>
              <a:t>Textbook Chapter 1–8, selected; formula sheet p.219; conversion factors pp.220–221</a:t>
            </a:r>
          </a:p>
        </p:txBody>
      </p:sp>
      <p:sp>
        <p:nvSpPr>
          <p:cNvPr id="5" name="TextBox 4"/>
          <p:cNvSpPr txBox="1"/>
          <p:nvPr/>
        </p:nvSpPr>
        <p:spPr>
          <a:xfrm>
            <a:off x="612648" y="1874519"/>
            <a:ext cx="10927080" cy="2103120"/>
          </a:xfrm>
          <a:prstGeom prst="rect">
            <a:avLst/>
          </a:prstGeom>
          <a:noFill/>
        </p:spPr>
        <p:txBody>
          <a:bodyPr wrap="square" lIns="0" rIns="0" tIns="0" bIns="0">
            <a:spAutoFit/>
          </a:bodyPr>
          <a:lstStyle/>
          <a:p>
            <a:pPr>
              <a:spcBef>
                <a:spcPts val="0"/>
              </a:spcBef>
              <a:spcAft>
                <a:spcPts val="300"/>
              </a:spcAft>
              <a:defRPr sz="2400" b="0">
                <a:solidFill>
                  <a:srgbClr val="1A1A1A"/>
                </a:solidFill>
                <a:latin typeface="Arial"/>
              </a:defRPr>
            </a:pPr>
            <a:r>
              <a:rPr>
                <a:solidFill>
                  <a:srgbClr val="FFFFFF"/>
                </a:solidFill>
                <a:latin typeface="Arial"/>
              </a:rPr>
              <a:t>Exercise Book 6A Q19, 7A Q11 and 8C Q2; identify the appropriate method for each.</a:t>
            </a:r>
          </a:p>
        </p:txBody>
      </p:sp>
      <p:sp>
        <p:nvSpPr>
          <p:cNvPr id="6" name="Rectangle 5"/>
          <p:cNvSpPr/>
          <p:nvPr/>
        </p:nvSpPr>
        <p:spPr>
          <a:xfrm>
            <a:off x="612648" y="4251960"/>
            <a:ext cx="10927080" cy="1280160"/>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A1A1A"/>
                </a:solidFill>
                <a:latin typeface="Arial"/>
              </a:defRPr>
            </a:pPr>
          </a:p>
        </p:txBody>
      </p:sp>
      <p:sp>
        <p:nvSpPr>
          <p:cNvPr id="7" name="TextBox 6"/>
          <p:cNvSpPr txBox="1"/>
          <p:nvPr/>
        </p:nvSpPr>
        <p:spPr>
          <a:xfrm>
            <a:off x="859536" y="4462272"/>
            <a:ext cx="10424160" cy="822960"/>
          </a:xfrm>
          <a:prstGeom prst="rect">
            <a:avLst/>
          </a:prstGeom>
          <a:noFill/>
        </p:spPr>
        <p:txBody>
          <a:bodyPr wrap="square" lIns="0" rIns="0" tIns="0" bIns="0">
            <a:spAutoFit/>
          </a:bodyPr>
          <a:lstStyle/>
          <a:p>
            <a:pPr>
              <a:spcBef>
                <a:spcPts val="0"/>
              </a:spcBef>
              <a:spcAft>
                <a:spcPts val="300"/>
              </a:spcAft>
              <a:defRPr sz="2100" b="1">
                <a:solidFill>
                  <a:srgbClr val="1A1A1A"/>
                </a:solidFill>
                <a:latin typeface="Arial"/>
              </a:defRPr>
            </a:pPr>
            <a:r>
              <a:rPr b="1">
                <a:solidFill>
                  <a:srgbClr val="201C19"/>
                </a:solidFill>
                <a:latin typeface="Arial"/>
              </a:rPr>
              <a:t>Submit work and demonstrate the checking strategy; identify a remaining difficulty.</a:t>
            </a:r>
          </a:p>
        </p:txBody>
      </p:sp>
      <p:sp>
        <p:nvSpPr>
          <p:cNvPr id="8" name="TextBox 7"/>
          <p:cNvSpPr txBox="1"/>
          <p:nvPr/>
        </p:nvSpPr>
        <p:spPr>
          <a:xfrm>
            <a:off x="612648" y="5788152"/>
            <a:ext cx="10927080" cy="411480"/>
          </a:xfrm>
          <a:prstGeom prst="rect">
            <a:avLst/>
          </a:prstGeom>
          <a:noFill/>
        </p:spPr>
        <p:txBody>
          <a:bodyPr wrap="square" lIns="0" rIns="0" tIns="0" bIns="0">
            <a:spAutoFit/>
          </a:bodyPr>
          <a:lstStyle/>
          <a:p>
            <a:pPr>
              <a:spcBef>
                <a:spcPts val="0"/>
              </a:spcBef>
              <a:spcAft>
                <a:spcPts val="300"/>
              </a:spcAft>
              <a:defRPr sz="1250" b="0">
                <a:solidFill>
                  <a:srgbClr val="4A4E54"/>
                </a:solidFill>
                <a:latin typeface="Arial"/>
              </a:defRPr>
            </a:pPr>
            <a:r>
              <a:rPr>
                <a:solidFill>
                  <a:srgbClr val="F7F4F1"/>
                </a:solidFill>
                <a:latin typeface="Arial"/>
              </a:rPr>
              <a:t>Resources: Stations: 1B Q3 p.8; 4A Q14(a),15(a) p.26; 5A Q12–13 p.33; 6A Q19 p.40; 7A Q11–12 p.45; 8C Q1–2 p.55.</a:t>
            </a:r>
          </a:p>
        </p:txBody>
      </p:sp>
      <p:pic>
        <p:nvPicPr>
          <p:cNvPr id="9" name="Picture 8"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1" name="TextBox 10"/>
          <p:cNvSpPr txBox="1"/>
          <p:nvPr/>
        </p:nvSpPr>
        <p:spPr>
          <a:xfrm>
            <a:off x="612648" y="6620256"/>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4"/>
              </a:rPr>
              <a:t>Textbook</a:t>
            </a:r>
          </a:p>
        </p:txBody>
      </p:sp>
      <p:sp>
        <p:nvSpPr>
          <p:cNvPr id="12" name="TextBox 11"/>
          <p:cNvSpPr txBox="1"/>
          <p:nvPr/>
        </p:nvSpPr>
        <p:spPr>
          <a:xfrm>
            <a:off x="1691640" y="6620256"/>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5"/>
              </a:rPr>
              <a:t>Exercise Book</a:t>
            </a:r>
          </a:p>
        </p:txBody>
      </p:sp>
      <p:sp>
        <p:nvSpPr>
          <p:cNvPr id="13" name="TextBox 12"/>
          <p:cNvSpPr txBox="1"/>
          <p:nvPr/>
        </p:nvSpPr>
        <p:spPr>
          <a:xfrm>
            <a:off x="3136392" y="6620256"/>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6"/>
              </a:rPr>
              <a:t>Numeracy Hub</a:t>
            </a:r>
          </a:p>
        </p:txBody>
      </p:sp>
      <p:sp>
        <p:nvSpPr>
          <p:cNvPr id="14" name="TextBox 13"/>
          <p:cNvSpPr txBox="1"/>
          <p:nvPr/>
        </p:nvSpPr>
        <p:spPr>
          <a:xfrm>
            <a:off x="4736592" y="6620256"/>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7"/>
              </a:rPr>
              <a:t>Shape Canvas</a:t>
            </a:r>
          </a:p>
        </p:txBody>
      </p:sp>
      <p:sp>
        <p:nvSpPr>
          <p:cNvPr id="15" name="TextBox 14"/>
          <p:cNvSpPr txBox="1"/>
          <p:nvPr/>
        </p:nvSpPr>
        <p:spPr>
          <a:xfrm>
            <a:off x="8412480" y="6620256"/>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sz="850">
                <a:solidFill>
                  <a:srgbClr val="F7F4F1"/>
                </a:solidFill>
                <a:latin typeface="Arial"/>
              </a:rPr>
              <a:t>Day 25  •  2026-12-14  •  17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1A1512"/>
        </a:solidFill>
        <a:effectLst/>
      </p:bgPr>
    </p:bg>
    <p:spTree>
      <p:nvGrpSpPr>
        <p:cNvPr id="1" name=""/>
        <p:cNvGrpSpPr/>
        <p:nvPr/>
      </p:nvGrpSpPr>
      <p:grpSpPr/>
      <p:sp>
        <p:nvSpPr>
          <p:cNvPr id="14" name="Rectangle 13"/>
          <p:cNvSpPr/>
          <p:nvPr/>
        </p:nvSpPr>
        <p:spPr>
          <a:xfrm>
            <a:off x="0" y="6528816"/>
            <a:ext cx="12191695" cy="329184"/>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0"/>
            <a:ext cx="12191695" cy="1645920"/>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104120" y="114300"/>
            <a:ext cx="1517904" cy="753153"/>
          </a:xfrm>
          <a:prstGeom prst="roundRect">
            <a:avLst>
              <a:gd name="adj" fmla="val 8000"/>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12064" y="1773936"/>
            <a:ext cx="11173968" cy="377647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spAutoFit/>
          </a:bodyPr>
          <a:lstStyle/>
          <a:p>
            <a:pPr>
              <a:spcBef>
                <a:spcPts val="0"/>
              </a:spcBef>
              <a:spcAft>
                <a:spcPts val="300"/>
              </a:spcAft>
              <a:defRPr sz="1150" b="1">
                <a:solidFill>
                  <a:srgbClr val="D2181F"/>
                </a:solidFill>
                <a:latin typeface="Arial"/>
              </a:defRPr>
            </a:pPr>
            <a:r>
              <a:rPr>
                <a:solidFill>
                  <a:srgbClr val="FFFFFF"/>
                </a:solidFill>
                <a:latin typeface="Arial"/>
              </a:rPr>
              <a:t>W08-L01  •  CHECK  •  10:00 AM–10:10 AM  •  10 MIN TOTAL</a:t>
            </a:r>
          </a:p>
        </p:txBody>
      </p:sp>
      <p:sp>
        <p:nvSpPr>
          <p:cNvPr id="3" name="TextBox 2"/>
          <p:cNvSpPr txBox="1"/>
          <p:nvPr/>
        </p:nvSpPr>
        <p:spPr>
          <a:xfrm>
            <a:off x="612648" y="932688"/>
            <a:ext cx="10927080" cy="749808"/>
          </a:xfrm>
          <a:prstGeom prst="rect">
            <a:avLst/>
          </a:prstGeom>
          <a:noFill/>
        </p:spPr>
        <p:txBody>
          <a:bodyPr wrap="square" lIns="0" rIns="0" tIns="0" bIns="0">
            <a:spAutoFit/>
          </a:bodyPr>
          <a:lstStyle/>
          <a:p>
            <a:pPr>
              <a:spcBef>
                <a:spcPts val="0"/>
              </a:spcBef>
              <a:spcAft>
                <a:spcPts val="300"/>
              </a:spcAft>
              <a:defRPr sz="2900" b="1">
                <a:solidFill>
                  <a:srgbClr val="1A1A1A"/>
                </a:solidFill>
                <a:latin typeface="Arial"/>
              </a:defRPr>
            </a:pPr>
            <a:r>
              <a:rPr b="1">
                <a:solidFill>
                  <a:srgbClr val="FFFFFF"/>
                </a:solidFill>
                <a:latin typeface="Arial"/>
              </a:rPr>
              <a:t>Independent check  |  6A Q19</a:t>
            </a:r>
          </a:p>
        </p:txBody>
      </p:sp>
      <p:sp>
        <p:nvSpPr>
          <p:cNvPr id="4" name="TextBox 3"/>
          <p:cNvSpPr txBox="1"/>
          <p:nvPr/>
        </p:nvSpPr>
        <p:spPr>
          <a:xfrm>
            <a:off x="612648" y="6327648"/>
            <a:ext cx="10881360" cy="219456"/>
          </a:xfrm>
          <a:prstGeom prst="rect">
            <a:avLst/>
          </a:prstGeom>
          <a:noFill/>
        </p:spPr>
        <p:txBody>
          <a:bodyPr wrap="square" lIns="0" rIns="0" tIns="0" bIns="0">
            <a:spAutoFit/>
          </a:bodyPr>
          <a:lstStyle/>
          <a:p>
            <a:pPr>
              <a:spcBef>
                <a:spcPts val="0"/>
              </a:spcBef>
              <a:spcAft>
                <a:spcPts val="300"/>
              </a:spcAft>
              <a:defRPr sz="1050" b="0">
                <a:solidFill>
                  <a:srgbClr val="4A4E54"/>
                </a:solidFill>
                <a:latin typeface="Arial"/>
              </a:defRPr>
            </a:pPr>
            <a:r>
              <a:rPr>
                <a:solidFill>
                  <a:srgbClr val="D9CEC5"/>
                </a:solidFill>
                <a:latin typeface="Arial"/>
              </a:rPr>
              <a:t>Textbook Chapter 1–8, selected; formula sheet p.219; conversion factors pp.220–221</a:t>
            </a:r>
          </a:p>
        </p:txBody>
      </p:sp>
      <p:pic>
        <p:nvPicPr>
          <p:cNvPr id="5" name="Picture 4" descr="6A-Q19.png"/>
          <p:cNvPicPr>
            <a:picLocks noChangeAspect="1"/>
          </p:cNvPicPr>
          <p:nvPr/>
        </p:nvPicPr>
        <p:blipFill>
          <a:blip r:embed="rId3"/>
          <a:stretch>
            <a:fillRect/>
          </a:stretch>
        </p:blipFill>
        <p:spPr>
          <a:xfrm>
            <a:off x="685800" y="3134106"/>
            <a:ext cx="10698480" cy="891540"/>
          </a:xfrm>
          <a:prstGeom prst="rect">
            <a:avLst/>
          </a:prstGeom>
        </p:spPr>
      </p:pic>
      <p:sp>
        <p:nvSpPr>
          <p:cNvPr id="6" name="TextBox 5"/>
          <p:cNvSpPr txBox="1"/>
          <p:nvPr/>
        </p:nvSpPr>
        <p:spPr>
          <a:xfrm>
            <a:off x="685800" y="5596128"/>
            <a:ext cx="10698480" cy="457200"/>
          </a:xfrm>
          <a:prstGeom prst="rect">
            <a:avLst/>
          </a:prstGeom>
          <a:noFill/>
        </p:spPr>
        <p:txBody>
          <a:bodyPr wrap="square" lIns="0" rIns="0" tIns="0" bIns="0">
            <a:spAutoFit/>
          </a:bodyPr>
          <a:lstStyle/>
          <a:p>
            <a:pPr>
              <a:spcBef>
                <a:spcPts val="0"/>
              </a:spcBef>
              <a:spcAft>
                <a:spcPts val="300"/>
              </a:spcAft>
              <a:defRPr sz="1700" b="0">
                <a:solidFill>
                  <a:srgbClr val="4A4E54"/>
                </a:solidFill>
                <a:latin typeface="Arial"/>
              </a:defRPr>
            </a:pPr>
            <a:r>
              <a:rPr>
                <a:solidFill>
                  <a:srgbClr val="F7F4F1"/>
                </a:solidFill>
                <a:latin typeface="Arial"/>
              </a:rPr>
              <a:t>Answer independently. Keep worked solutions closed.</a:t>
            </a:r>
          </a:p>
        </p:txBody>
      </p:sp>
      <p:pic>
        <p:nvPicPr>
          <p:cNvPr id="7" name="Picture 6" descr="access-logo.png"/>
          <p:cNvPicPr>
            <a:picLocks noChangeAspect="1"/>
          </p:cNvPicPr>
          <p:nvPr/>
        </p:nvPicPr>
        <p:blipFill>
          <a:blip r:embed="rId4"/>
          <a:stretch>
            <a:fillRect/>
          </a:stretch>
        </p:blipFill>
        <p:spPr>
          <a:xfrm>
            <a:off x="10177272" y="146304"/>
            <a:ext cx="1371600" cy="689145"/>
          </a:xfrm>
          <a:prstGeom prst="rect">
            <a:avLst/>
          </a:prstGeom>
        </p:spPr>
      </p:pic>
      <p:sp>
        <p:nvSpPr>
          <p:cNvPr id="9" name="TextBox 8"/>
          <p:cNvSpPr txBox="1"/>
          <p:nvPr/>
        </p:nvSpPr>
        <p:spPr>
          <a:xfrm>
            <a:off x="612648" y="6620256"/>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5"/>
              </a:rPr>
              <a:t>Textbook</a:t>
            </a:r>
          </a:p>
        </p:txBody>
      </p:sp>
      <p:sp>
        <p:nvSpPr>
          <p:cNvPr id="10" name="TextBox 9"/>
          <p:cNvSpPr txBox="1"/>
          <p:nvPr/>
        </p:nvSpPr>
        <p:spPr>
          <a:xfrm>
            <a:off x="1691640" y="6620256"/>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6"/>
              </a:rPr>
              <a:t>Exercise Book</a:t>
            </a:r>
          </a:p>
        </p:txBody>
      </p:sp>
      <p:sp>
        <p:nvSpPr>
          <p:cNvPr id="11" name="TextBox 10"/>
          <p:cNvSpPr txBox="1"/>
          <p:nvPr/>
        </p:nvSpPr>
        <p:spPr>
          <a:xfrm>
            <a:off x="3136392" y="6620256"/>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7"/>
              </a:rPr>
              <a:t>Numeracy Hub</a:t>
            </a:r>
          </a:p>
        </p:txBody>
      </p:sp>
      <p:sp>
        <p:nvSpPr>
          <p:cNvPr id="12" name="TextBox 11"/>
          <p:cNvSpPr txBox="1"/>
          <p:nvPr/>
        </p:nvSpPr>
        <p:spPr>
          <a:xfrm>
            <a:off x="4736592" y="6620256"/>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8"/>
              </a:rPr>
              <a:t>Shape Canvas</a:t>
            </a:r>
          </a:p>
        </p:txBody>
      </p:sp>
      <p:sp>
        <p:nvSpPr>
          <p:cNvPr id="13" name="TextBox 12"/>
          <p:cNvSpPr txBox="1"/>
          <p:nvPr/>
        </p:nvSpPr>
        <p:spPr>
          <a:xfrm>
            <a:off x="8412480" y="6620256"/>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sz="850">
                <a:solidFill>
                  <a:srgbClr val="F7F4F1"/>
                </a:solidFill>
                <a:latin typeface="Arial"/>
              </a:rPr>
              <a:t>Day 25  •  2026-12-14  •  18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1A1512"/>
        </a:solidFill>
        <a:effectLst/>
      </p:bgPr>
    </p:bg>
    <p:spTree>
      <p:nvGrpSpPr>
        <p:cNvPr id="1" name=""/>
        <p:cNvGrpSpPr/>
        <p:nvPr/>
      </p:nvGrpSpPr>
      <p:grpSpPr/>
      <p:sp>
        <p:nvSpPr>
          <p:cNvPr id="14" name="Rectangle 13"/>
          <p:cNvSpPr/>
          <p:nvPr/>
        </p:nvSpPr>
        <p:spPr>
          <a:xfrm>
            <a:off x="0" y="6528816"/>
            <a:ext cx="12191695" cy="329184"/>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0"/>
            <a:ext cx="12191695" cy="1645920"/>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104120" y="114300"/>
            <a:ext cx="1517904" cy="753153"/>
          </a:xfrm>
          <a:prstGeom prst="roundRect">
            <a:avLst>
              <a:gd name="adj" fmla="val 8000"/>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12064" y="1773936"/>
            <a:ext cx="11173968" cy="377647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spAutoFit/>
          </a:bodyPr>
          <a:lstStyle/>
          <a:p>
            <a:pPr>
              <a:spcBef>
                <a:spcPts val="0"/>
              </a:spcBef>
              <a:spcAft>
                <a:spcPts val="300"/>
              </a:spcAft>
              <a:defRPr sz="1150" b="1">
                <a:solidFill>
                  <a:srgbClr val="D2181F"/>
                </a:solidFill>
                <a:latin typeface="Arial"/>
              </a:defRPr>
            </a:pPr>
            <a:r>
              <a:rPr>
                <a:solidFill>
                  <a:srgbClr val="FFFFFF"/>
                </a:solidFill>
                <a:latin typeface="Arial"/>
              </a:rPr>
              <a:t>W08-L01  •  CHECK  •  10:00 AM–10:10 AM  •  10 MIN TOTAL</a:t>
            </a:r>
          </a:p>
        </p:txBody>
      </p:sp>
      <p:sp>
        <p:nvSpPr>
          <p:cNvPr id="3" name="TextBox 2"/>
          <p:cNvSpPr txBox="1"/>
          <p:nvPr/>
        </p:nvSpPr>
        <p:spPr>
          <a:xfrm>
            <a:off x="612648" y="932688"/>
            <a:ext cx="10927080" cy="749808"/>
          </a:xfrm>
          <a:prstGeom prst="rect">
            <a:avLst/>
          </a:prstGeom>
          <a:noFill/>
        </p:spPr>
        <p:txBody>
          <a:bodyPr wrap="square" lIns="0" rIns="0" tIns="0" bIns="0">
            <a:spAutoFit/>
          </a:bodyPr>
          <a:lstStyle/>
          <a:p>
            <a:pPr>
              <a:spcBef>
                <a:spcPts val="0"/>
              </a:spcBef>
              <a:spcAft>
                <a:spcPts val="300"/>
              </a:spcAft>
              <a:defRPr sz="2900" b="1">
                <a:solidFill>
                  <a:srgbClr val="1A1A1A"/>
                </a:solidFill>
                <a:latin typeface="Arial"/>
              </a:defRPr>
            </a:pPr>
            <a:r>
              <a:rPr b="1">
                <a:solidFill>
                  <a:srgbClr val="FFFFFF"/>
                </a:solidFill>
                <a:latin typeface="Arial"/>
              </a:rPr>
              <a:t>Independent check  |  7A Q11</a:t>
            </a:r>
          </a:p>
        </p:txBody>
      </p:sp>
      <p:sp>
        <p:nvSpPr>
          <p:cNvPr id="4" name="TextBox 3"/>
          <p:cNvSpPr txBox="1"/>
          <p:nvPr/>
        </p:nvSpPr>
        <p:spPr>
          <a:xfrm>
            <a:off x="612648" y="6327648"/>
            <a:ext cx="10881360" cy="219456"/>
          </a:xfrm>
          <a:prstGeom prst="rect">
            <a:avLst/>
          </a:prstGeom>
          <a:noFill/>
        </p:spPr>
        <p:txBody>
          <a:bodyPr wrap="square" lIns="0" rIns="0" tIns="0" bIns="0">
            <a:spAutoFit/>
          </a:bodyPr>
          <a:lstStyle/>
          <a:p>
            <a:pPr>
              <a:spcBef>
                <a:spcPts val="0"/>
              </a:spcBef>
              <a:spcAft>
                <a:spcPts val="300"/>
              </a:spcAft>
              <a:defRPr sz="1050" b="0">
                <a:solidFill>
                  <a:srgbClr val="4A4E54"/>
                </a:solidFill>
                <a:latin typeface="Arial"/>
              </a:defRPr>
            </a:pPr>
            <a:r>
              <a:rPr>
                <a:solidFill>
                  <a:srgbClr val="D9CEC5"/>
                </a:solidFill>
                <a:latin typeface="Arial"/>
              </a:rPr>
              <a:t>Textbook Chapter 1–8, selected; formula sheet p.219; conversion factors pp.220–221</a:t>
            </a:r>
          </a:p>
        </p:txBody>
      </p:sp>
      <p:pic>
        <p:nvPicPr>
          <p:cNvPr id="5" name="Picture 4" descr="7A-Q11.png"/>
          <p:cNvPicPr>
            <a:picLocks noChangeAspect="1"/>
          </p:cNvPicPr>
          <p:nvPr/>
        </p:nvPicPr>
        <p:blipFill>
          <a:blip r:embed="rId3"/>
          <a:stretch>
            <a:fillRect/>
          </a:stretch>
        </p:blipFill>
        <p:spPr>
          <a:xfrm>
            <a:off x="685800" y="3134106"/>
            <a:ext cx="10698480" cy="891540"/>
          </a:xfrm>
          <a:prstGeom prst="rect">
            <a:avLst/>
          </a:prstGeom>
        </p:spPr>
      </p:pic>
      <p:sp>
        <p:nvSpPr>
          <p:cNvPr id="6" name="TextBox 5"/>
          <p:cNvSpPr txBox="1"/>
          <p:nvPr/>
        </p:nvSpPr>
        <p:spPr>
          <a:xfrm>
            <a:off x="685800" y="5596128"/>
            <a:ext cx="10698480" cy="457200"/>
          </a:xfrm>
          <a:prstGeom prst="rect">
            <a:avLst/>
          </a:prstGeom>
          <a:noFill/>
        </p:spPr>
        <p:txBody>
          <a:bodyPr wrap="square" lIns="0" rIns="0" tIns="0" bIns="0">
            <a:spAutoFit/>
          </a:bodyPr>
          <a:lstStyle/>
          <a:p>
            <a:pPr>
              <a:spcBef>
                <a:spcPts val="0"/>
              </a:spcBef>
              <a:spcAft>
                <a:spcPts val="300"/>
              </a:spcAft>
              <a:defRPr sz="1700" b="0">
                <a:solidFill>
                  <a:srgbClr val="4A4E54"/>
                </a:solidFill>
                <a:latin typeface="Arial"/>
              </a:defRPr>
            </a:pPr>
            <a:r>
              <a:rPr>
                <a:solidFill>
                  <a:srgbClr val="F7F4F1"/>
                </a:solidFill>
                <a:latin typeface="Arial"/>
              </a:rPr>
              <a:t>Answer independently. Keep worked solutions closed.</a:t>
            </a:r>
          </a:p>
        </p:txBody>
      </p:sp>
      <p:pic>
        <p:nvPicPr>
          <p:cNvPr id="7" name="Picture 6" descr="access-logo.png"/>
          <p:cNvPicPr>
            <a:picLocks noChangeAspect="1"/>
          </p:cNvPicPr>
          <p:nvPr/>
        </p:nvPicPr>
        <p:blipFill>
          <a:blip r:embed="rId4"/>
          <a:stretch>
            <a:fillRect/>
          </a:stretch>
        </p:blipFill>
        <p:spPr>
          <a:xfrm>
            <a:off x="10177272" y="146304"/>
            <a:ext cx="1371600" cy="689145"/>
          </a:xfrm>
          <a:prstGeom prst="rect">
            <a:avLst/>
          </a:prstGeom>
        </p:spPr>
      </p:pic>
      <p:sp>
        <p:nvSpPr>
          <p:cNvPr id="9" name="TextBox 8"/>
          <p:cNvSpPr txBox="1"/>
          <p:nvPr/>
        </p:nvSpPr>
        <p:spPr>
          <a:xfrm>
            <a:off x="612648" y="6620256"/>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5"/>
              </a:rPr>
              <a:t>Textbook</a:t>
            </a:r>
          </a:p>
        </p:txBody>
      </p:sp>
      <p:sp>
        <p:nvSpPr>
          <p:cNvPr id="10" name="TextBox 9"/>
          <p:cNvSpPr txBox="1"/>
          <p:nvPr/>
        </p:nvSpPr>
        <p:spPr>
          <a:xfrm>
            <a:off x="1691640" y="6620256"/>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6"/>
              </a:rPr>
              <a:t>Exercise Book</a:t>
            </a:r>
          </a:p>
        </p:txBody>
      </p:sp>
      <p:sp>
        <p:nvSpPr>
          <p:cNvPr id="11" name="TextBox 10"/>
          <p:cNvSpPr txBox="1"/>
          <p:nvPr/>
        </p:nvSpPr>
        <p:spPr>
          <a:xfrm>
            <a:off x="3136392" y="6620256"/>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7"/>
              </a:rPr>
              <a:t>Numeracy Hub</a:t>
            </a:r>
          </a:p>
        </p:txBody>
      </p:sp>
      <p:sp>
        <p:nvSpPr>
          <p:cNvPr id="12" name="TextBox 11"/>
          <p:cNvSpPr txBox="1"/>
          <p:nvPr/>
        </p:nvSpPr>
        <p:spPr>
          <a:xfrm>
            <a:off x="4736592" y="6620256"/>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8"/>
              </a:rPr>
              <a:t>Shape Canvas</a:t>
            </a:r>
          </a:p>
        </p:txBody>
      </p:sp>
      <p:sp>
        <p:nvSpPr>
          <p:cNvPr id="13" name="TextBox 12"/>
          <p:cNvSpPr txBox="1"/>
          <p:nvPr/>
        </p:nvSpPr>
        <p:spPr>
          <a:xfrm>
            <a:off x="8412480" y="6620256"/>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sz="850">
                <a:solidFill>
                  <a:srgbClr val="F7F4F1"/>
                </a:solidFill>
                <a:latin typeface="Arial"/>
              </a:rPr>
              <a:t>Day 25  •  2026-12-14  •  19</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1A1512"/>
        </a:solidFill>
        <a:effectLst/>
      </p:bgPr>
    </p:bg>
    <p:spTree>
      <p:nvGrpSpPr>
        <p:cNvPr id="1" name=""/>
        <p:cNvGrpSpPr/>
        <p:nvPr/>
      </p:nvGrpSpPr>
      <p:grpSpPr/>
      <p:sp>
        <p:nvSpPr>
          <p:cNvPr id="14" name="Rectangle 13"/>
          <p:cNvSpPr/>
          <p:nvPr/>
        </p:nvSpPr>
        <p:spPr>
          <a:xfrm>
            <a:off x="0" y="6528816"/>
            <a:ext cx="12191695" cy="329184"/>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0"/>
            <a:ext cx="12191695" cy="1645920"/>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104120" y="114300"/>
            <a:ext cx="1517904" cy="753153"/>
          </a:xfrm>
          <a:prstGeom prst="roundRect">
            <a:avLst>
              <a:gd name="adj" fmla="val 8000"/>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12064" y="1773936"/>
            <a:ext cx="11173968" cy="377647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spAutoFit/>
          </a:bodyPr>
          <a:lstStyle/>
          <a:p>
            <a:pPr>
              <a:spcBef>
                <a:spcPts val="0"/>
              </a:spcBef>
              <a:spcAft>
                <a:spcPts val="300"/>
              </a:spcAft>
              <a:defRPr sz="1150" b="1">
                <a:solidFill>
                  <a:srgbClr val="D2181F"/>
                </a:solidFill>
                <a:latin typeface="Arial"/>
              </a:defRPr>
            </a:pPr>
            <a:r>
              <a:rPr>
                <a:solidFill>
                  <a:srgbClr val="FFFFFF"/>
                </a:solidFill>
                <a:latin typeface="Arial"/>
              </a:rPr>
              <a:t>W08-L01  •  CHECK  •  10:00 AM–10:10 AM  •  10 MIN TOTAL</a:t>
            </a:r>
          </a:p>
        </p:txBody>
      </p:sp>
      <p:sp>
        <p:nvSpPr>
          <p:cNvPr id="3" name="TextBox 2"/>
          <p:cNvSpPr txBox="1"/>
          <p:nvPr/>
        </p:nvSpPr>
        <p:spPr>
          <a:xfrm>
            <a:off x="612648" y="932688"/>
            <a:ext cx="10927080" cy="749808"/>
          </a:xfrm>
          <a:prstGeom prst="rect">
            <a:avLst/>
          </a:prstGeom>
          <a:noFill/>
        </p:spPr>
        <p:txBody>
          <a:bodyPr wrap="square" lIns="0" rIns="0" tIns="0" bIns="0">
            <a:spAutoFit/>
          </a:bodyPr>
          <a:lstStyle/>
          <a:p>
            <a:pPr>
              <a:spcBef>
                <a:spcPts val="0"/>
              </a:spcBef>
              <a:spcAft>
                <a:spcPts val="300"/>
              </a:spcAft>
              <a:defRPr sz="2900" b="1">
                <a:solidFill>
                  <a:srgbClr val="1A1A1A"/>
                </a:solidFill>
                <a:latin typeface="Arial"/>
              </a:defRPr>
            </a:pPr>
            <a:r>
              <a:rPr b="1">
                <a:solidFill>
                  <a:srgbClr val="FFFFFF"/>
                </a:solidFill>
                <a:latin typeface="Arial"/>
              </a:rPr>
              <a:t>Independent check  |  8C Q2</a:t>
            </a:r>
          </a:p>
        </p:txBody>
      </p:sp>
      <p:sp>
        <p:nvSpPr>
          <p:cNvPr id="4" name="TextBox 3"/>
          <p:cNvSpPr txBox="1"/>
          <p:nvPr/>
        </p:nvSpPr>
        <p:spPr>
          <a:xfrm>
            <a:off x="612648" y="6327648"/>
            <a:ext cx="10881360" cy="219456"/>
          </a:xfrm>
          <a:prstGeom prst="rect">
            <a:avLst/>
          </a:prstGeom>
          <a:noFill/>
        </p:spPr>
        <p:txBody>
          <a:bodyPr wrap="square" lIns="0" rIns="0" tIns="0" bIns="0">
            <a:spAutoFit/>
          </a:bodyPr>
          <a:lstStyle/>
          <a:p>
            <a:pPr>
              <a:spcBef>
                <a:spcPts val="0"/>
              </a:spcBef>
              <a:spcAft>
                <a:spcPts val="300"/>
              </a:spcAft>
              <a:defRPr sz="1050" b="0">
                <a:solidFill>
                  <a:srgbClr val="4A4E54"/>
                </a:solidFill>
                <a:latin typeface="Arial"/>
              </a:defRPr>
            </a:pPr>
            <a:r>
              <a:rPr>
                <a:solidFill>
                  <a:srgbClr val="D9CEC5"/>
                </a:solidFill>
                <a:latin typeface="Arial"/>
              </a:rPr>
              <a:t>Textbook Chapter 1–8, selected; formula sheet p.219; conversion factors pp.220–221</a:t>
            </a:r>
          </a:p>
        </p:txBody>
      </p:sp>
      <p:pic>
        <p:nvPicPr>
          <p:cNvPr id="5" name="Picture 4" descr="8C-Q2.png"/>
          <p:cNvPicPr>
            <a:picLocks noChangeAspect="1"/>
          </p:cNvPicPr>
          <p:nvPr/>
        </p:nvPicPr>
        <p:blipFill>
          <a:blip r:embed="rId3"/>
          <a:stretch>
            <a:fillRect/>
          </a:stretch>
        </p:blipFill>
        <p:spPr>
          <a:xfrm>
            <a:off x="1602278" y="1773936"/>
            <a:ext cx="8865523" cy="3611880"/>
          </a:xfrm>
          <a:prstGeom prst="rect">
            <a:avLst/>
          </a:prstGeom>
        </p:spPr>
      </p:pic>
      <p:sp>
        <p:nvSpPr>
          <p:cNvPr id="6" name="TextBox 5"/>
          <p:cNvSpPr txBox="1"/>
          <p:nvPr/>
        </p:nvSpPr>
        <p:spPr>
          <a:xfrm>
            <a:off x="685800" y="5596128"/>
            <a:ext cx="10698480" cy="457200"/>
          </a:xfrm>
          <a:prstGeom prst="rect">
            <a:avLst/>
          </a:prstGeom>
          <a:noFill/>
        </p:spPr>
        <p:txBody>
          <a:bodyPr wrap="square" lIns="0" rIns="0" tIns="0" bIns="0">
            <a:spAutoFit/>
          </a:bodyPr>
          <a:lstStyle/>
          <a:p>
            <a:pPr>
              <a:spcBef>
                <a:spcPts val="0"/>
              </a:spcBef>
              <a:spcAft>
                <a:spcPts val="300"/>
              </a:spcAft>
              <a:defRPr sz="1700" b="0">
                <a:solidFill>
                  <a:srgbClr val="4A4E54"/>
                </a:solidFill>
                <a:latin typeface="Arial"/>
              </a:defRPr>
            </a:pPr>
            <a:r>
              <a:rPr>
                <a:solidFill>
                  <a:srgbClr val="F7F4F1"/>
                </a:solidFill>
                <a:latin typeface="Arial"/>
              </a:rPr>
              <a:t>Answer independently. Keep worked solutions closed.</a:t>
            </a:r>
          </a:p>
        </p:txBody>
      </p:sp>
      <p:pic>
        <p:nvPicPr>
          <p:cNvPr id="7" name="Picture 6" descr="access-logo.png"/>
          <p:cNvPicPr>
            <a:picLocks noChangeAspect="1"/>
          </p:cNvPicPr>
          <p:nvPr/>
        </p:nvPicPr>
        <p:blipFill>
          <a:blip r:embed="rId4"/>
          <a:stretch>
            <a:fillRect/>
          </a:stretch>
        </p:blipFill>
        <p:spPr>
          <a:xfrm>
            <a:off x="10177272" y="146304"/>
            <a:ext cx="1371600" cy="689145"/>
          </a:xfrm>
          <a:prstGeom prst="rect">
            <a:avLst/>
          </a:prstGeom>
        </p:spPr>
      </p:pic>
      <p:sp>
        <p:nvSpPr>
          <p:cNvPr id="9" name="TextBox 8"/>
          <p:cNvSpPr txBox="1"/>
          <p:nvPr/>
        </p:nvSpPr>
        <p:spPr>
          <a:xfrm>
            <a:off x="612648" y="6620256"/>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5"/>
              </a:rPr>
              <a:t>Textbook</a:t>
            </a:r>
          </a:p>
        </p:txBody>
      </p:sp>
      <p:sp>
        <p:nvSpPr>
          <p:cNvPr id="10" name="TextBox 9"/>
          <p:cNvSpPr txBox="1"/>
          <p:nvPr/>
        </p:nvSpPr>
        <p:spPr>
          <a:xfrm>
            <a:off x="1691640" y="6620256"/>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6"/>
              </a:rPr>
              <a:t>Exercise Book</a:t>
            </a:r>
          </a:p>
        </p:txBody>
      </p:sp>
      <p:sp>
        <p:nvSpPr>
          <p:cNvPr id="11" name="TextBox 10"/>
          <p:cNvSpPr txBox="1"/>
          <p:nvPr/>
        </p:nvSpPr>
        <p:spPr>
          <a:xfrm>
            <a:off x="3136392" y="6620256"/>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7"/>
              </a:rPr>
              <a:t>Numeracy Hub</a:t>
            </a:r>
          </a:p>
        </p:txBody>
      </p:sp>
      <p:sp>
        <p:nvSpPr>
          <p:cNvPr id="12" name="TextBox 11"/>
          <p:cNvSpPr txBox="1"/>
          <p:nvPr/>
        </p:nvSpPr>
        <p:spPr>
          <a:xfrm>
            <a:off x="4736592" y="6620256"/>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8"/>
              </a:rPr>
              <a:t>Shape Canvas</a:t>
            </a:r>
          </a:p>
        </p:txBody>
      </p:sp>
      <p:sp>
        <p:nvSpPr>
          <p:cNvPr id="13" name="TextBox 12"/>
          <p:cNvSpPr txBox="1"/>
          <p:nvPr/>
        </p:nvSpPr>
        <p:spPr>
          <a:xfrm>
            <a:off x="8412480" y="6620256"/>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sz="850">
                <a:solidFill>
                  <a:srgbClr val="F7F4F1"/>
                </a:solidFill>
                <a:latin typeface="Arial"/>
              </a:rPr>
              <a:t>Day 25  •  2026-12-14  •  20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1A1512"/>
        </a:solidFill>
        <a:effectLst/>
      </p:bgPr>
    </p:bg>
    <p:spTree>
      <p:nvGrpSpPr>
        <p:cNvPr id="1" name=""/>
        <p:cNvGrpSpPr/>
        <p:nvPr/>
      </p:nvGrpSpPr>
      <p:grpSpPr/>
      <p:sp>
        <p:nvSpPr>
          <p:cNvPr id="16" name="Rectangle 15"/>
          <p:cNvSpPr/>
          <p:nvPr/>
        </p:nvSpPr>
        <p:spPr>
          <a:xfrm>
            <a:off x="0" y="6528816"/>
            <a:ext cx="12191695" cy="329184"/>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0" y="0"/>
            <a:ext cx="12191695" cy="1645920"/>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10104120" y="114300"/>
            <a:ext cx="1517904" cy="753153"/>
          </a:xfrm>
          <a:prstGeom prst="roundRect">
            <a:avLst>
              <a:gd name="adj" fmla="val 8000"/>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493776" y="1773936"/>
            <a:ext cx="11192256" cy="2240280"/>
          </a:xfrm>
          <a:prstGeom prst="roundRect">
            <a:avLst>
              <a:gd name="adj" fmla="val 8000"/>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spAutoFit/>
          </a:bodyPr>
          <a:lstStyle/>
          <a:p>
            <a:pPr>
              <a:spcBef>
                <a:spcPts val="0"/>
              </a:spcBef>
              <a:spcAft>
                <a:spcPts val="300"/>
              </a:spcAft>
              <a:defRPr sz="1150" b="1">
                <a:solidFill>
                  <a:srgbClr val="D2181F"/>
                </a:solidFill>
                <a:latin typeface="Arial"/>
              </a:defRPr>
            </a:pPr>
            <a:r>
              <a:rPr>
                <a:solidFill>
                  <a:srgbClr val="FFFFFF"/>
                </a:solidFill>
                <a:latin typeface="Arial"/>
              </a:rPr>
              <a:t>W08-L01  •  WRAP UP  •  10:10 AM–10:15 AM  •  5 MIN TOTAL</a:t>
            </a:r>
          </a:p>
        </p:txBody>
      </p:sp>
      <p:sp>
        <p:nvSpPr>
          <p:cNvPr id="3" name="TextBox 2"/>
          <p:cNvSpPr txBox="1"/>
          <p:nvPr/>
        </p:nvSpPr>
        <p:spPr>
          <a:xfrm>
            <a:off x="612648" y="932688"/>
            <a:ext cx="10927080" cy="749808"/>
          </a:xfrm>
          <a:prstGeom prst="rect">
            <a:avLst/>
          </a:prstGeom>
          <a:noFill/>
        </p:spPr>
        <p:txBody>
          <a:bodyPr wrap="square" lIns="0" rIns="0" tIns="0" bIns="0">
            <a:spAutoFit/>
          </a:bodyPr>
          <a:lstStyle/>
          <a:p>
            <a:pPr>
              <a:spcBef>
                <a:spcPts val="0"/>
              </a:spcBef>
              <a:spcAft>
                <a:spcPts val="300"/>
              </a:spcAft>
              <a:defRPr sz="2900" b="1">
                <a:solidFill>
                  <a:srgbClr val="1A1A1A"/>
                </a:solidFill>
                <a:latin typeface="Arial"/>
              </a:defRPr>
            </a:pPr>
            <a:r>
              <a:rPr b="1">
                <a:solidFill>
                  <a:srgbClr val="FFFFFF"/>
                </a:solidFill>
                <a:latin typeface="Arial"/>
              </a:rPr>
              <a:t>Wrap up and choose the next step</a:t>
            </a:r>
          </a:p>
        </p:txBody>
      </p:sp>
      <p:sp>
        <p:nvSpPr>
          <p:cNvPr id="4" name="TextBox 3"/>
          <p:cNvSpPr txBox="1"/>
          <p:nvPr/>
        </p:nvSpPr>
        <p:spPr>
          <a:xfrm>
            <a:off x="612648" y="6327648"/>
            <a:ext cx="10881360" cy="219456"/>
          </a:xfrm>
          <a:prstGeom prst="rect">
            <a:avLst/>
          </a:prstGeom>
          <a:noFill/>
        </p:spPr>
        <p:txBody>
          <a:bodyPr wrap="square" lIns="0" rIns="0" tIns="0" bIns="0">
            <a:spAutoFit/>
          </a:bodyPr>
          <a:lstStyle/>
          <a:p>
            <a:pPr>
              <a:spcBef>
                <a:spcPts val="0"/>
              </a:spcBef>
              <a:spcAft>
                <a:spcPts val="300"/>
              </a:spcAft>
              <a:defRPr sz="1050" b="0">
                <a:solidFill>
                  <a:srgbClr val="4A4E54"/>
                </a:solidFill>
                <a:latin typeface="Arial"/>
              </a:defRPr>
            </a:pPr>
            <a:r>
              <a:rPr>
                <a:solidFill>
                  <a:srgbClr val="D9CEC5"/>
                </a:solidFill>
                <a:latin typeface="Arial"/>
              </a:rPr>
              <a:t>Textbook Chapter 1–8, selected; formula sheet p.219; conversion factors pp.220–221</a:t>
            </a:r>
          </a:p>
        </p:txBody>
      </p:sp>
      <p:sp>
        <p:nvSpPr>
          <p:cNvPr id="5" name="TextBox 4"/>
          <p:cNvSpPr txBox="1"/>
          <p:nvPr/>
        </p:nvSpPr>
        <p:spPr>
          <a:xfrm>
            <a:off x="612648" y="1874519"/>
            <a:ext cx="10927080" cy="2103120"/>
          </a:xfrm>
          <a:prstGeom prst="rect">
            <a:avLst/>
          </a:prstGeom>
          <a:noFill/>
        </p:spPr>
        <p:txBody>
          <a:bodyPr wrap="square" lIns="0" rIns="0" tIns="0" bIns="0">
            <a:spAutoFit/>
          </a:bodyPr>
          <a:lstStyle/>
          <a:p>
            <a:pPr>
              <a:spcBef>
                <a:spcPts val="0"/>
              </a:spcBef>
              <a:spcAft>
                <a:spcPts val="300"/>
              </a:spcAft>
              <a:defRPr sz="2400" b="0">
                <a:solidFill>
                  <a:srgbClr val="1A1A1A"/>
                </a:solidFill>
                <a:latin typeface="Arial"/>
              </a:defRPr>
            </a:pPr>
            <a:r>
              <a:rPr>
                <a:solidFill>
                  <a:srgbClr val="FFFFFF"/>
                </a:solidFill>
                <a:latin typeface="Arial"/>
              </a:rPr>
              <a:t>Identify what improved, what needs another attempt and which resource will support the next step.</a:t>
            </a:r>
          </a:p>
        </p:txBody>
      </p:sp>
      <p:sp>
        <p:nvSpPr>
          <p:cNvPr id="6" name="Rectangle 5"/>
          <p:cNvSpPr/>
          <p:nvPr/>
        </p:nvSpPr>
        <p:spPr>
          <a:xfrm>
            <a:off x="612648" y="4251960"/>
            <a:ext cx="10927080" cy="1280160"/>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A1A1A"/>
                </a:solidFill>
                <a:latin typeface="Arial"/>
              </a:defRPr>
            </a:pPr>
          </a:p>
        </p:txBody>
      </p:sp>
      <p:sp>
        <p:nvSpPr>
          <p:cNvPr id="7" name="TextBox 6"/>
          <p:cNvSpPr txBox="1"/>
          <p:nvPr/>
        </p:nvSpPr>
        <p:spPr>
          <a:xfrm>
            <a:off x="859536" y="4462272"/>
            <a:ext cx="10424160" cy="822960"/>
          </a:xfrm>
          <a:prstGeom prst="rect">
            <a:avLst/>
          </a:prstGeom>
          <a:noFill/>
        </p:spPr>
        <p:txBody>
          <a:bodyPr wrap="square" lIns="0" rIns="0" tIns="0" bIns="0">
            <a:spAutoFit/>
          </a:bodyPr>
          <a:lstStyle/>
          <a:p>
            <a:pPr>
              <a:spcBef>
                <a:spcPts val="0"/>
              </a:spcBef>
              <a:spcAft>
                <a:spcPts val="300"/>
              </a:spcAft>
              <a:defRPr sz="2100" b="1">
                <a:solidFill>
                  <a:srgbClr val="1A1A1A"/>
                </a:solidFill>
                <a:latin typeface="Arial"/>
              </a:defRPr>
            </a:pPr>
            <a:r>
              <a:rPr b="1">
                <a:solidFill>
                  <a:srgbClr val="201C19"/>
                </a:solidFill>
                <a:latin typeface="Arial"/>
              </a:rPr>
              <a:t>Name the math and another essential skill used; record a concrete follow-up action.</a:t>
            </a:r>
          </a:p>
        </p:txBody>
      </p:sp>
      <p:sp>
        <p:nvSpPr>
          <p:cNvPr id="8" name="TextBox 7"/>
          <p:cNvSpPr txBox="1"/>
          <p:nvPr/>
        </p:nvSpPr>
        <p:spPr>
          <a:xfrm>
            <a:off x="612648" y="5788152"/>
            <a:ext cx="10927080" cy="411480"/>
          </a:xfrm>
          <a:prstGeom prst="rect">
            <a:avLst/>
          </a:prstGeom>
          <a:noFill/>
        </p:spPr>
        <p:txBody>
          <a:bodyPr wrap="square" lIns="0" rIns="0" tIns="0" bIns="0">
            <a:spAutoFit/>
          </a:bodyPr>
          <a:lstStyle/>
          <a:p>
            <a:pPr>
              <a:spcBef>
                <a:spcPts val="0"/>
              </a:spcBef>
              <a:spcAft>
                <a:spcPts val="300"/>
              </a:spcAft>
              <a:defRPr sz="1250" b="0">
                <a:solidFill>
                  <a:srgbClr val="4A4E54"/>
                </a:solidFill>
                <a:latin typeface="Arial"/>
              </a:defRPr>
            </a:pPr>
            <a:r>
              <a:rPr>
                <a:solidFill>
                  <a:srgbClr val="F7F4F1"/>
                </a:solidFill>
                <a:latin typeface="Arial"/>
              </a:rPr>
              <a:t>Resources: Stations: 1B Q3 p.8; 4A Q14(a),15(a) p.26; 5A Q12–13 p.33; 6A Q19 p.40; 7A Q11–12 p.45; 8C Q1–2 p.55.</a:t>
            </a:r>
          </a:p>
        </p:txBody>
      </p:sp>
      <p:pic>
        <p:nvPicPr>
          <p:cNvPr id="9" name="Picture 8"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1" name="TextBox 10"/>
          <p:cNvSpPr txBox="1"/>
          <p:nvPr/>
        </p:nvSpPr>
        <p:spPr>
          <a:xfrm>
            <a:off x="612648" y="6620256"/>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4"/>
              </a:rPr>
              <a:t>Textbook</a:t>
            </a:r>
          </a:p>
        </p:txBody>
      </p:sp>
      <p:sp>
        <p:nvSpPr>
          <p:cNvPr id="12" name="TextBox 11"/>
          <p:cNvSpPr txBox="1"/>
          <p:nvPr/>
        </p:nvSpPr>
        <p:spPr>
          <a:xfrm>
            <a:off x="1691640" y="6620256"/>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5"/>
              </a:rPr>
              <a:t>Exercise Book</a:t>
            </a:r>
          </a:p>
        </p:txBody>
      </p:sp>
      <p:sp>
        <p:nvSpPr>
          <p:cNvPr id="13" name="TextBox 12"/>
          <p:cNvSpPr txBox="1"/>
          <p:nvPr/>
        </p:nvSpPr>
        <p:spPr>
          <a:xfrm>
            <a:off x="3136392" y="6620256"/>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6"/>
              </a:rPr>
              <a:t>Numeracy Hub</a:t>
            </a:r>
          </a:p>
        </p:txBody>
      </p:sp>
      <p:sp>
        <p:nvSpPr>
          <p:cNvPr id="14" name="TextBox 13"/>
          <p:cNvSpPr txBox="1"/>
          <p:nvPr/>
        </p:nvSpPr>
        <p:spPr>
          <a:xfrm>
            <a:off x="4736592" y="6620256"/>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7"/>
              </a:rPr>
              <a:t>Shape Canvas</a:t>
            </a:r>
          </a:p>
        </p:txBody>
      </p:sp>
      <p:sp>
        <p:nvSpPr>
          <p:cNvPr id="15" name="TextBox 14"/>
          <p:cNvSpPr txBox="1"/>
          <p:nvPr/>
        </p:nvSpPr>
        <p:spPr>
          <a:xfrm>
            <a:off x="8412480" y="6620256"/>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sz="850">
                <a:solidFill>
                  <a:srgbClr val="F7F4F1"/>
                </a:solidFill>
                <a:latin typeface="Arial"/>
              </a:rPr>
              <a:t>Day 25  •  2026-12-14  •  21</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7F4F1"/>
        </a:solidFill>
        <a:effectLst/>
      </p:bgPr>
    </p:bg>
    <p:spTree>
      <p:nvGrpSpPr>
        <p:cNvPr id="1" name=""/>
        <p:cNvGrpSpPr/>
        <p:nvPr/>
      </p:nvGrpSpPr>
      <p:grpSpPr/>
      <p:sp>
        <p:nvSpPr>
          <p:cNvPr id="14" name="Rectangle 13"/>
          <p:cNvSpPr/>
          <p:nvPr/>
        </p:nvSpPr>
        <p:spPr>
          <a:xfrm>
            <a:off x="0" y="6528816"/>
            <a:ext cx="12191695" cy="329184"/>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0"/>
            <a:ext cx="12191695" cy="1645920"/>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104120" y="114300"/>
            <a:ext cx="1517904" cy="753153"/>
          </a:xfrm>
          <a:prstGeom prst="roundRect">
            <a:avLst>
              <a:gd name="adj" fmla="val 8000"/>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493776" y="1773936"/>
            <a:ext cx="11192256" cy="2240280"/>
          </a:xfrm>
          <a:prstGeom prst="roundRect">
            <a:avLst>
              <a:gd name="adj" fmla="val 8000"/>
            </a:avLst>
          </a:prstGeom>
          <a:solidFill>
            <a:srgbClr val="5A10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57200"/>
            <a:ext cx="9418320" cy="274320"/>
          </a:xfrm>
          <a:prstGeom prst="rect">
            <a:avLst/>
          </a:prstGeom>
          <a:noFill/>
        </p:spPr>
        <p:txBody>
          <a:bodyPr wrap="square" lIns="0" rIns="0" tIns="0" bIns="0">
            <a:spAutoFit/>
          </a:bodyPr>
          <a:lstStyle/>
          <a:p>
            <a:pPr>
              <a:spcBef>
                <a:spcPts val="0"/>
              </a:spcBef>
              <a:spcAft>
                <a:spcPts val="300"/>
              </a:spcAft>
              <a:defRPr sz="1200" b="1">
                <a:solidFill>
                  <a:srgbClr val="D2181F"/>
                </a:solidFill>
                <a:latin typeface="Arial"/>
              </a:defRPr>
            </a:pPr>
            <a:r>
              <a:rPr>
                <a:solidFill>
                  <a:srgbClr val="FFFFFF"/>
                </a:solidFill>
                <a:latin typeface="Arial"/>
              </a:rPr>
              <a:t>DAY 25  •  SCHEDULED BREAK</a:t>
            </a:r>
          </a:p>
        </p:txBody>
      </p:sp>
      <p:sp>
        <p:nvSpPr>
          <p:cNvPr id="3" name="TextBox 2"/>
          <p:cNvSpPr txBox="1"/>
          <p:nvPr/>
        </p:nvSpPr>
        <p:spPr>
          <a:xfrm>
            <a:off x="612648" y="1371600"/>
            <a:ext cx="10972800" cy="914400"/>
          </a:xfrm>
          <a:prstGeom prst="rect">
            <a:avLst/>
          </a:prstGeom>
          <a:noFill/>
        </p:spPr>
        <p:txBody>
          <a:bodyPr wrap="square" lIns="0" rIns="0" tIns="0" bIns="0">
            <a:spAutoFit/>
          </a:bodyPr>
          <a:lstStyle/>
          <a:p>
            <a:pPr>
              <a:spcBef>
                <a:spcPts val="0"/>
              </a:spcBef>
              <a:spcAft>
                <a:spcPts val="300"/>
              </a:spcAft>
              <a:defRPr sz="4400" b="1">
                <a:solidFill>
                  <a:srgbClr val="1A1A1A"/>
                </a:solidFill>
                <a:latin typeface="Arial"/>
              </a:defRPr>
            </a:pPr>
            <a:r>
              <a:rPr>
                <a:solidFill>
                  <a:srgbClr val="201C19"/>
                </a:solidFill>
                <a:latin typeface="Arial"/>
              </a:rPr>
              <a:t>Break</a:t>
            </a:r>
          </a:p>
        </p:txBody>
      </p:sp>
      <p:sp>
        <p:nvSpPr>
          <p:cNvPr id="4" name="TextBox 3"/>
          <p:cNvSpPr txBox="1"/>
          <p:nvPr/>
        </p:nvSpPr>
        <p:spPr>
          <a:xfrm>
            <a:off x="612648" y="2743200"/>
            <a:ext cx="10972800" cy="548640"/>
          </a:xfrm>
          <a:prstGeom prst="rect">
            <a:avLst/>
          </a:prstGeom>
          <a:noFill/>
        </p:spPr>
        <p:txBody>
          <a:bodyPr wrap="square" lIns="0" rIns="0" tIns="0" bIns="0">
            <a:spAutoFit/>
          </a:bodyPr>
          <a:lstStyle/>
          <a:p>
            <a:pPr>
              <a:spcBef>
                <a:spcPts val="0"/>
              </a:spcBef>
              <a:spcAft>
                <a:spcPts val="300"/>
              </a:spcAft>
              <a:defRPr sz="3200" b="0">
                <a:solidFill>
                  <a:srgbClr val="D2181F"/>
                </a:solidFill>
                <a:latin typeface="Arial"/>
              </a:defRPr>
            </a:pPr>
            <a:r>
              <a:rPr>
                <a:solidFill>
                  <a:srgbClr val="FFFFFF"/>
                </a:solidFill>
                <a:latin typeface="Arial"/>
              </a:rPr>
              <a:t>10:15 AM–10:30 AM</a:t>
            </a:r>
          </a:p>
        </p:txBody>
      </p:sp>
      <p:sp>
        <p:nvSpPr>
          <p:cNvPr id="5" name="TextBox 4"/>
          <p:cNvSpPr txBox="1"/>
          <p:nvPr/>
        </p:nvSpPr>
        <p:spPr>
          <a:xfrm>
            <a:off x="612648" y="3794760"/>
            <a:ext cx="10972800" cy="548640"/>
          </a:xfrm>
          <a:prstGeom prst="rect">
            <a:avLst/>
          </a:prstGeom>
          <a:noFill/>
        </p:spPr>
        <p:txBody>
          <a:bodyPr wrap="square" lIns="0" rIns="0" tIns="0" bIns="0">
            <a:spAutoFit/>
          </a:bodyPr>
          <a:lstStyle/>
          <a:p>
            <a:pPr>
              <a:spcBef>
                <a:spcPts val="0"/>
              </a:spcBef>
              <a:spcAft>
                <a:spcPts val="300"/>
              </a:spcAft>
              <a:defRPr sz="2300" b="0">
                <a:solidFill>
                  <a:srgbClr val="1A1A1A"/>
                </a:solidFill>
                <a:latin typeface="Arial"/>
              </a:defRPr>
            </a:pPr>
            <a:r>
              <a:rPr>
                <a:solidFill>
                  <a:srgbClr val="FFFFFF"/>
                </a:solidFill>
                <a:latin typeface="Arial"/>
              </a:rPr>
              <a:t>Return ready for: Review: geometry and job problems</a:t>
            </a:r>
          </a:p>
        </p:txBody>
      </p:sp>
      <p:sp>
        <p:nvSpPr>
          <p:cNvPr id="6" name="TextBox 5"/>
          <p:cNvSpPr txBox="1"/>
          <p:nvPr/>
        </p:nvSpPr>
        <p:spPr>
          <a:xfrm>
            <a:off x="612648" y="5212080"/>
            <a:ext cx="10972800" cy="457200"/>
          </a:xfrm>
          <a:prstGeom prst="rect">
            <a:avLst/>
          </a:prstGeom>
          <a:noFill/>
        </p:spPr>
        <p:txBody>
          <a:bodyPr wrap="square" lIns="0" rIns="0" tIns="0" bIns="0">
            <a:spAutoFit/>
          </a:bodyPr>
          <a:lstStyle/>
          <a:p>
            <a:pPr>
              <a:spcBef>
                <a:spcPts val="0"/>
              </a:spcBef>
              <a:spcAft>
                <a:spcPts val="300"/>
              </a:spcAft>
              <a:defRPr sz="1800" b="0">
                <a:solidFill>
                  <a:srgbClr val="4A4E54"/>
                </a:solidFill>
                <a:latin typeface="Arial"/>
              </a:defRPr>
            </a:pPr>
            <a:r>
              <a:rPr b="1">
                <a:solidFill>
                  <a:srgbClr val="201C19"/>
                </a:solidFill>
                <a:latin typeface="Arial"/>
              </a:rPr>
              <a:t>This break is excluded from teaching minutes.</a:t>
            </a:r>
          </a:p>
        </p:txBody>
      </p:sp>
      <p:pic>
        <p:nvPicPr>
          <p:cNvPr id="7" name="Picture 6" descr="access-logo.png"/>
          <p:cNvPicPr>
            <a:picLocks noChangeAspect="1"/>
          </p:cNvPicPr>
          <p:nvPr/>
        </p:nvPicPr>
        <p:blipFill>
          <a:blip r:embed="rId3"/>
          <a:stretch>
            <a:fillRect/>
          </a:stretch>
        </p:blipFill>
        <p:spPr>
          <a:xfrm>
            <a:off x="10177272" y="146304"/>
            <a:ext cx="1371600" cy="689145"/>
          </a:xfrm>
          <a:prstGeom prst="rect">
            <a:avLst/>
          </a:prstGeom>
        </p:spPr>
      </p:pic>
      <p:sp>
        <p:nvSpPr>
          <p:cNvPr id="9" name="TextBox 8"/>
          <p:cNvSpPr txBox="1"/>
          <p:nvPr/>
        </p:nvSpPr>
        <p:spPr>
          <a:xfrm>
            <a:off x="612648" y="6620256"/>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4"/>
              </a:rPr>
              <a:t>Textbook</a:t>
            </a:r>
          </a:p>
        </p:txBody>
      </p:sp>
      <p:sp>
        <p:nvSpPr>
          <p:cNvPr id="10" name="TextBox 9"/>
          <p:cNvSpPr txBox="1"/>
          <p:nvPr/>
        </p:nvSpPr>
        <p:spPr>
          <a:xfrm>
            <a:off x="1691640" y="6620256"/>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5"/>
              </a:rPr>
              <a:t>Exercise Book</a:t>
            </a:r>
          </a:p>
        </p:txBody>
      </p:sp>
      <p:sp>
        <p:nvSpPr>
          <p:cNvPr id="11" name="TextBox 10"/>
          <p:cNvSpPr txBox="1"/>
          <p:nvPr/>
        </p:nvSpPr>
        <p:spPr>
          <a:xfrm>
            <a:off x="3136392" y="6620256"/>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6"/>
              </a:rPr>
              <a:t>Numeracy Hub</a:t>
            </a:r>
          </a:p>
        </p:txBody>
      </p:sp>
      <p:sp>
        <p:nvSpPr>
          <p:cNvPr id="12" name="TextBox 11"/>
          <p:cNvSpPr txBox="1"/>
          <p:nvPr/>
        </p:nvSpPr>
        <p:spPr>
          <a:xfrm>
            <a:off x="4736592" y="6620256"/>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7"/>
              </a:rPr>
              <a:t>Shape Canvas</a:t>
            </a:r>
          </a:p>
        </p:txBody>
      </p:sp>
      <p:sp>
        <p:nvSpPr>
          <p:cNvPr id="13" name="TextBox 12"/>
          <p:cNvSpPr txBox="1"/>
          <p:nvPr/>
        </p:nvSpPr>
        <p:spPr>
          <a:xfrm>
            <a:off x="8412480" y="6620256"/>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sz="850">
                <a:solidFill>
                  <a:srgbClr val="F7F4F1"/>
                </a:solidFill>
                <a:latin typeface="Arial"/>
              </a:rPr>
              <a:t>Day 25  •  2026-12-14  •  22</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5A1018"/>
        </a:solidFill>
        <a:effectLst/>
      </p:bgPr>
    </p:bg>
    <p:spTree>
      <p:nvGrpSpPr>
        <p:cNvPr id="1" name=""/>
        <p:cNvGrpSpPr/>
        <p:nvPr/>
      </p:nvGrpSpPr>
      <p:grpSpPr/>
      <p:sp>
        <p:nvSpPr>
          <p:cNvPr id="18" name="Rectangle 17"/>
          <p:cNvSpPr/>
          <p:nvPr/>
        </p:nvSpPr>
        <p:spPr>
          <a:xfrm>
            <a:off x="0" y="6528816"/>
            <a:ext cx="12191695" cy="329184"/>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0" y="0"/>
            <a:ext cx="12191695" cy="1645920"/>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10104120" y="114300"/>
            <a:ext cx="1517904" cy="753153"/>
          </a:xfrm>
          <a:prstGeom prst="roundRect">
            <a:avLst>
              <a:gd name="adj" fmla="val 8000"/>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spAutoFit/>
          </a:bodyPr>
          <a:lstStyle/>
          <a:p>
            <a:pPr>
              <a:spcBef>
                <a:spcPts val="0"/>
              </a:spcBef>
              <a:spcAft>
                <a:spcPts val="300"/>
              </a:spcAft>
              <a:defRPr sz="1150" b="1">
                <a:solidFill>
                  <a:srgbClr val="D2181F"/>
                </a:solidFill>
                <a:latin typeface="Arial"/>
              </a:defRPr>
            </a:pPr>
            <a:r>
              <a:rPr>
                <a:solidFill>
                  <a:srgbClr val="FFFFFF"/>
                </a:solidFill>
                <a:latin typeface="Arial"/>
              </a:rPr>
              <a:t>W08-L02  •  START  •  10:30 AM–10:35 AM  •  5 MIN TOTAL</a:t>
            </a:r>
          </a:p>
        </p:txBody>
      </p:sp>
      <p:sp>
        <p:nvSpPr>
          <p:cNvPr id="3" name="TextBox 2"/>
          <p:cNvSpPr txBox="1"/>
          <p:nvPr/>
        </p:nvSpPr>
        <p:spPr>
          <a:xfrm>
            <a:off x="612648" y="932688"/>
            <a:ext cx="10927080" cy="749808"/>
          </a:xfrm>
          <a:prstGeom prst="rect">
            <a:avLst/>
          </a:prstGeom>
          <a:noFill/>
        </p:spPr>
        <p:txBody>
          <a:bodyPr wrap="square" lIns="0" rIns="0" tIns="0" bIns="0">
            <a:spAutoFit/>
          </a:bodyPr>
          <a:lstStyle/>
          <a:p>
            <a:pPr>
              <a:spcBef>
                <a:spcPts val="0"/>
              </a:spcBef>
              <a:spcAft>
                <a:spcPts val="300"/>
              </a:spcAft>
              <a:defRPr sz="2900" b="1">
                <a:solidFill>
                  <a:srgbClr val="1A1A1A"/>
                </a:solidFill>
                <a:latin typeface="Arial"/>
              </a:defRPr>
            </a:pPr>
            <a:r>
              <a:rPr b="1">
                <a:solidFill>
                  <a:srgbClr val="FFFFFF"/>
                </a:solidFill>
                <a:latin typeface="Arial"/>
              </a:rPr>
              <a:t>Review: geometry and job problems</a:t>
            </a:r>
          </a:p>
        </p:txBody>
      </p:sp>
      <p:sp>
        <p:nvSpPr>
          <p:cNvPr id="4" name="TextBox 3"/>
          <p:cNvSpPr txBox="1"/>
          <p:nvPr/>
        </p:nvSpPr>
        <p:spPr>
          <a:xfrm>
            <a:off x="612648" y="6327648"/>
            <a:ext cx="10881360" cy="219456"/>
          </a:xfrm>
          <a:prstGeom prst="rect">
            <a:avLst/>
          </a:prstGeom>
          <a:noFill/>
        </p:spPr>
        <p:txBody>
          <a:bodyPr wrap="square" lIns="0" rIns="0" tIns="0" bIns="0">
            <a:spAutoFit/>
          </a:bodyPr>
          <a:lstStyle/>
          <a:p>
            <a:pPr>
              <a:spcBef>
                <a:spcPts val="0"/>
              </a:spcBef>
              <a:spcAft>
                <a:spcPts val="300"/>
              </a:spcAft>
              <a:defRPr sz="1050" b="0">
                <a:solidFill>
                  <a:srgbClr val="4A4E54"/>
                </a:solidFill>
                <a:latin typeface="Arial"/>
              </a:defRPr>
            </a:pPr>
            <a:r>
              <a:rPr>
                <a:solidFill>
                  <a:srgbClr val="D9CEC5"/>
                </a:solidFill>
                <a:latin typeface="Arial"/>
              </a:rPr>
              <a:t>Textbook Chapter 9–13 pp.140–214, selected; formula sheet p.219</a:t>
            </a:r>
          </a:p>
        </p:txBody>
      </p:sp>
      <p:sp>
        <p:nvSpPr>
          <p:cNvPr id="5" name="TextBox 4"/>
          <p:cNvSpPr txBox="1"/>
          <p:nvPr/>
        </p:nvSpPr>
        <p:spPr>
          <a:xfrm>
            <a:off x="612648" y="1856231"/>
            <a:ext cx="10927080" cy="1005840"/>
          </a:xfrm>
          <a:prstGeom prst="rect">
            <a:avLst/>
          </a:prstGeom>
          <a:noFill/>
        </p:spPr>
        <p:txBody>
          <a:bodyPr wrap="square" lIns="0" rIns="0" tIns="0" bIns="0">
            <a:spAutoFit/>
          </a:bodyPr>
          <a:lstStyle/>
          <a:p>
            <a:pPr>
              <a:spcBef>
                <a:spcPts val="0"/>
              </a:spcBef>
              <a:spcAft>
                <a:spcPts val="300"/>
              </a:spcAft>
              <a:defRPr sz="2400" b="1">
                <a:solidFill>
                  <a:srgbClr val="1A1A1A"/>
                </a:solidFill>
                <a:latin typeface="Arial"/>
              </a:defRPr>
            </a:pPr>
            <a:r>
              <a:rPr b="1">
                <a:solidFill>
                  <a:srgbClr val="FFFFFF"/>
                </a:solidFill>
                <a:latin typeface="Arial"/>
              </a:rPr>
              <a:t>Today’s goal: Select perimeter, area, volume or triangle methods from a drawing and report the correct unit.</a:t>
            </a:r>
          </a:p>
        </p:txBody>
      </p:sp>
      <p:sp>
        <p:nvSpPr>
          <p:cNvPr id="6" name="TextBox 5"/>
          <p:cNvSpPr txBox="1"/>
          <p:nvPr/>
        </p:nvSpPr>
        <p:spPr>
          <a:xfrm>
            <a:off x="612648" y="3154680"/>
            <a:ext cx="10927080" cy="594360"/>
          </a:xfrm>
          <a:prstGeom prst="rect">
            <a:avLst/>
          </a:prstGeom>
          <a:noFill/>
        </p:spPr>
        <p:txBody>
          <a:bodyPr wrap="square" lIns="0" rIns="0" tIns="0" bIns="0">
            <a:spAutoFit/>
          </a:bodyPr>
          <a:lstStyle/>
          <a:p>
            <a:pPr>
              <a:spcBef>
                <a:spcPts val="0"/>
              </a:spcBef>
              <a:spcAft>
                <a:spcPts val="300"/>
              </a:spcAft>
              <a:defRPr sz="2200" b="0">
                <a:solidFill>
                  <a:srgbClr val="1A1A1A"/>
                </a:solidFill>
                <a:latin typeface="Arial"/>
              </a:defRPr>
            </a:pPr>
            <a:r>
              <a:rPr>
                <a:solidFill>
                  <a:srgbClr val="FFFFFF"/>
                </a:solidFill>
                <a:latin typeface="Arial"/>
              </a:rPr>
              <a:t>Identify one target skill and the checking habit to use today.</a:t>
            </a:r>
          </a:p>
        </p:txBody>
      </p:sp>
      <p:sp>
        <p:nvSpPr>
          <p:cNvPr id="7" name="Rectangle 6"/>
          <p:cNvSpPr/>
          <p:nvPr/>
        </p:nvSpPr>
        <p:spPr>
          <a:xfrm>
            <a:off x="612648" y="4114800"/>
            <a:ext cx="10927080" cy="1371600"/>
          </a:xfrm>
          <a:prstGeom prst="rect">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A1A1A"/>
                </a:solidFill>
                <a:latin typeface="Arial"/>
              </a:defRPr>
            </a:pPr>
          </a:p>
        </p:txBody>
      </p:sp>
      <p:sp>
        <p:nvSpPr>
          <p:cNvPr id="8" name="TextBox 7"/>
          <p:cNvSpPr txBox="1"/>
          <p:nvPr/>
        </p:nvSpPr>
        <p:spPr>
          <a:xfrm>
            <a:off x="841248" y="4297680"/>
            <a:ext cx="10424160" cy="457200"/>
          </a:xfrm>
          <a:prstGeom prst="rect">
            <a:avLst/>
          </a:prstGeom>
          <a:noFill/>
        </p:spPr>
        <p:txBody>
          <a:bodyPr wrap="square" lIns="0" rIns="0" tIns="0" bIns="0">
            <a:spAutoFit/>
          </a:bodyPr>
          <a:lstStyle/>
          <a:p>
            <a:pPr>
              <a:spcBef>
                <a:spcPts val="0"/>
              </a:spcBef>
              <a:spcAft>
                <a:spcPts val="300"/>
              </a:spcAft>
              <a:defRPr sz="1700" b="0">
                <a:solidFill>
                  <a:srgbClr val="1A1A1A"/>
                </a:solidFill>
                <a:latin typeface="Arial"/>
              </a:defRPr>
            </a:pPr>
            <a:r>
              <a:rPr>
                <a:solidFill>
                  <a:srgbClr val="201C19"/>
                </a:solidFill>
                <a:latin typeface="Arial"/>
              </a:rPr>
              <a:t>Textbook Chapter 9–13 pp.140–214, selected; formula sheet p.219</a:t>
            </a:r>
          </a:p>
        </p:txBody>
      </p:sp>
      <p:sp>
        <p:nvSpPr>
          <p:cNvPr id="9" name="TextBox 8"/>
          <p:cNvSpPr txBox="1"/>
          <p:nvPr/>
        </p:nvSpPr>
        <p:spPr>
          <a:xfrm>
            <a:off x="841248" y="4901184"/>
            <a:ext cx="10424160" cy="457200"/>
          </a:xfrm>
          <a:prstGeom prst="rect">
            <a:avLst/>
          </a:prstGeom>
          <a:noFill/>
        </p:spPr>
        <p:txBody>
          <a:bodyPr wrap="square" lIns="0" rIns="0" tIns="0" bIns="0">
            <a:spAutoFit/>
          </a:bodyPr>
          <a:lstStyle/>
          <a:p>
            <a:pPr>
              <a:spcBef>
                <a:spcPts val="0"/>
              </a:spcBef>
              <a:spcAft>
                <a:spcPts val="300"/>
              </a:spcAft>
              <a:defRPr sz="1600" b="0">
                <a:solidFill>
                  <a:srgbClr val="4A4E54"/>
                </a:solidFill>
                <a:latin typeface="Arial"/>
              </a:defRPr>
            </a:pPr>
            <a:r>
              <a:rPr>
                <a:solidFill>
                  <a:srgbClr val="201C19"/>
                </a:solidFill>
                <a:latin typeface="Arial"/>
              </a:rPr>
              <a:t>Exercise Book 9A Q1,8 p.57; 10B Q1,11 pp.65–66; 11A Q7,19 pp.69–70; 12B Q3 p.77; 13A Q6,14 p.82.</a:t>
            </a:r>
          </a:p>
        </p:txBody>
      </p:sp>
      <p:sp>
        <p:nvSpPr>
          <p:cNvPr id="10" name="TextBox 9"/>
          <p:cNvSpPr txBox="1"/>
          <p:nvPr/>
        </p:nvSpPr>
        <p:spPr>
          <a:xfrm>
            <a:off x="612648" y="5806440"/>
            <a:ext cx="10927080" cy="411480"/>
          </a:xfrm>
          <a:prstGeom prst="rect">
            <a:avLst/>
          </a:prstGeom>
          <a:noFill/>
        </p:spPr>
        <p:txBody>
          <a:bodyPr wrap="square" lIns="0" rIns="0" tIns="0" bIns="0">
            <a:spAutoFit/>
          </a:bodyPr>
          <a:lstStyle/>
          <a:p>
            <a:pPr>
              <a:spcBef>
                <a:spcPts val="0"/>
              </a:spcBef>
              <a:spcAft>
                <a:spcPts val="300"/>
              </a:spcAft>
              <a:defRPr sz="1700" b="0">
                <a:solidFill>
                  <a:srgbClr val="D2181F"/>
                </a:solidFill>
                <a:latin typeface="Arial"/>
              </a:defRPr>
            </a:pPr>
            <a:r>
              <a:rPr>
                <a:solidFill>
                  <a:srgbClr val="F7F4F1"/>
                </a:solidFill>
                <a:latin typeface="Arial"/>
              </a:rPr>
              <a:t>Keep your notebook, textbook, exercise book and chosen calculator ready.</a:t>
            </a:r>
          </a:p>
        </p:txBody>
      </p:sp>
      <p:pic>
        <p:nvPicPr>
          <p:cNvPr id="11" name="Picture 10"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3" name="TextBox 12"/>
          <p:cNvSpPr txBox="1"/>
          <p:nvPr/>
        </p:nvSpPr>
        <p:spPr>
          <a:xfrm>
            <a:off x="612648" y="6620256"/>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4"/>
              </a:rPr>
              <a:t>Textbook</a:t>
            </a:r>
          </a:p>
        </p:txBody>
      </p:sp>
      <p:sp>
        <p:nvSpPr>
          <p:cNvPr id="14" name="TextBox 13"/>
          <p:cNvSpPr txBox="1"/>
          <p:nvPr/>
        </p:nvSpPr>
        <p:spPr>
          <a:xfrm>
            <a:off x="1691640" y="6620256"/>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5"/>
              </a:rPr>
              <a:t>Exercise Book</a:t>
            </a:r>
          </a:p>
        </p:txBody>
      </p:sp>
      <p:sp>
        <p:nvSpPr>
          <p:cNvPr id="15" name="TextBox 14"/>
          <p:cNvSpPr txBox="1"/>
          <p:nvPr/>
        </p:nvSpPr>
        <p:spPr>
          <a:xfrm>
            <a:off x="3136392" y="6620256"/>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6"/>
              </a:rPr>
              <a:t>Numeracy Hub</a:t>
            </a:r>
          </a:p>
        </p:txBody>
      </p:sp>
      <p:sp>
        <p:nvSpPr>
          <p:cNvPr id="16" name="TextBox 15"/>
          <p:cNvSpPr txBox="1"/>
          <p:nvPr/>
        </p:nvSpPr>
        <p:spPr>
          <a:xfrm>
            <a:off x="4736592" y="6620256"/>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7"/>
              </a:rPr>
              <a:t>Shape Canvas</a:t>
            </a:r>
          </a:p>
        </p:txBody>
      </p:sp>
      <p:sp>
        <p:nvSpPr>
          <p:cNvPr id="17" name="TextBox 16"/>
          <p:cNvSpPr txBox="1"/>
          <p:nvPr/>
        </p:nvSpPr>
        <p:spPr>
          <a:xfrm>
            <a:off x="8412480" y="6620256"/>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sz="850">
                <a:solidFill>
                  <a:srgbClr val="F7F4F1"/>
                </a:solidFill>
                <a:latin typeface="Arial"/>
              </a:rPr>
              <a:t>Day 25  •  2026-12-14  •  23</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7F4F1"/>
        </a:solidFill>
        <a:effectLst/>
      </p:bgPr>
    </p:bg>
    <p:spTree>
      <p:nvGrpSpPr>
        <p:cNvPr id="1" name=""/>
        <p:cNvGrpSpPr/>
        <p:nvPr/>
      </p:nvGrpSpPr>
      <p:grpSpPr/>
      <p:sp>
        <p:nvSpPr>
          <p:cNvPr id="16" name="Rectangle 15"/>
          <p:cNvSpPr/>
          <p:nvPr/>
        </p:nvSpPr>
        <p:spPr>
          <a:xfrm>
            <a:off x="0" y="6528816"/>
            <a:ext cx="12191695" cy="329184"/>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0" y="0"/>
            <a:ext cx="12191695" cy="1645920"/>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10104120" y="114300"/>
            <a:ext cx="1517904" cy="753153"/>
          </a:xfrm>
          <a:prstGeom prst="roundRect">
            <a:avLst>
              <a:gd name="adj" fmla="val 8000"/>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493776" y="1773936"/>
            <a:ext cx="11192256" cy="2240280"/>
          </a:xfrm>
          <a:prstGeom prst="roundRect">
            <a:avLst>
              <a:gd name="adj" fmla="val 8000"/>
            </a:avLst>
          </a:prstGeom>
          <a:solidFill>
            <a:srgbClr val="5A10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spAutoFit/>
          </a:bodyPr>
          <a:lstStyle/>
          <a:p>
            <a:pPr>
              <a:spcBef>
                <a:spcPts val="0"/>
              </a:spcBef>
              <a:spcAft>
                <a:spcPts val="300"/>
              </a:spcAft>
              <a:defRPr sz="1150" b="1">
                <a:solidFill>
                  <a:srgbClr val="D2181F"/>
                </a:solidFill>
                <a:latin typeface="Arial"/>
              </a:defRPr>
            </a:pPr>
            <a:r>
              <a:rPr>
                <a:solidFill>
                  <a:srgbClr val="FFFFFF"/>
                </a:solidFill>
                <a:latin typeface="Arial"/>
              </a:rPr>
              <a:t>W08-L02  •  RECALL  •  10:35 AM–10:40 AM  •  5 MIN TOTAL</a:t>
            </a:r>
          </a:p>
        </p:txBody>
      </p:sp>
      <p:sp>
        <p:nvSpPr>
          <p:cNvPr id="3" name="TextBox 2"/>
          <p:cNvSpPr txBox="1"/>
          <p:nvPr/>
        </p:nvSpPr>
        <p:spPr>
          <a:xfrm>
            <a:off x="612648" y="932688"/>
            <a:ext cx="10927080" cy="749808"/>
          </a:xfrm>
          <a:prstGeom prst="rect">
            <a:avLst/>
          </a:prstGeom>
          <a:noFill/>
        </p:spPr>
        <p:txBody>
          <a:bodyPr wrap="square" lIns="0" rIns="0" tIns="0" bIns="0">
            <a:spAutoFit/>
          </a:bodyPr>
          <a:lstStyle/>
          <a:p>
            <a:pPr>
              <a:spcBef>
                <a:spcPts val="0"/>
              </a:spcBef>
              <a:spcAft>
                <a:spcPts val="300"/>
              </a:spcAft>
              <a:defRPr sz="2900" b="1">
                <a:solidFill>
                  <a:srgbClr val="1A1A1A"/>
                </a:solidFill>
                <a:latin typeface="Arial"/>
              </a:defRPr>
            </a:pPr>
            <a:r>
              <a:rPr b="1">
                <a:solidFill>
                  <a:srgbClr val="FFFFFF"/>
                </a:solidFill>
                <a:latin typeface="Arial"/>
              </a:rPr>
              <a:t>Recall and reconnect</a:t>
            </a:r>
          </a:p>
        </p:txBody>
      </p:sp>
      <p:sp>
        <p:nvSpPr>
          <p:cNvPr id="4" name="TextBox 3"/>
          <p:cNvSpPr txBox="1"/>
          <p:nvPr/>
        </p:nvSpPr>
        <p:spPr>
          <a:xfrm>
            <a:off x="612648" y="6327648"/>
            <a:ext cx="10881360" cy="219456"/>
          </a:xfrm>
          <a:prstGeom prst="rect">
            <a:avLst/>
          </a:prstGeom>
          <a:noFill/>
        </p:spPr>
        <p:txBody>
          <a:bodyPr wrap="square" lIns="0" rIns="0" tIns="0" bIns="0">
            <a:spAutoFit/>
          </a:bodyPr>
          <a:lstStyle/>
          <a:p>
            <a:pPr>
              <a:spcBef>
                <a:spcPts val="0"/>
              </a:spcBef>
              <a:spcAft>
                <a:spcPts val="300"/>
              </a:spcAft>
              <a:defRPr sz="1050" b="0">
                <a:solidFill>
                  <a:srgbClr val="4A4E54"/>
                </a:solidFill>
                <a:latin typeface="Arial"/>
              </a:defRPr>
            </a:pPr>
            <a:r>
              <a:rPr>
                <a:solidFill>
                  <a:srgbClr val="62564B"/>
                </a:solidFill>
                <a:latin typeface="Arial"/>
              </a:rPr>
              <a:t>Textbook Chapter 9–13 pp.140–214, selected; formula sheet p.219</a:t>
            </a:r>
          </a:p>
        </p:txBody>
      </p:sp>
      <p:sp>
        <p:nvSpPr>
          <p:cNvPr id="5" name="TextBox 4"/>
          <p:cNvSpPr txBox="1"/>
          <p:nvPr/>
        </p:nvSpPr>
        <p:spPr>
          <a:xfrm>
            <a:off x="612648" y="1874519"/>
            <a:ext cx="10927080" cy="2103120"/>
          </a:xfrm>
          <a:prstGeom prst="rect">
            <a:avLst/>
          </a:prstGeom>
          <a:noFill/>
        </p:spPr>
        <p:txBody>
          <a:bodyPr wrap="square" lIns="0" rIns="0" tIns="0" bIns="0">
            <a:spAutoFit/>
          </a:bodyPr>
          <a:lstStyle/>
          <a:p>
            <a:pPr>
              <a:spcBef>
                <a:spcPts val="0"/>
              </a:spcBef>
              <a:spcAft>
                <a:spcPts val="300"/>
              </a:spcAft>
              <a:defRPr sz="2400" b="0">
                <a:solidFill>
                  <a:srgbClr val="1A1A1A"/>
                </a:solidFill>
                <a:latin typeface="Arial"/>
              </a:defRPr>
            </a:pPr>
            <a:r>
              <a:rPr>
                <a:solidFill>
                  <a:srgbClr val="FFFFFF"/>
                </a:solidFill>
                <a:latin typeface="Arial"/>
              </a:rPr>
              <a:t>Display three drawings and ask which result uses mm, mm² or mm³; retrieve DEG mode for trig.</a:t>
            </a:r>
          </a:p>
        </p:txBody>
      </p:sp>
      <p:sp>
        <p:nvSpPr>
          <p:cNvPr id="6" name="Rectangle 5"/>
          <p:cNvSpPr/>
          <p:nvPr/>
        </p:nvSpPr>
        <p:spPr>
          <a:xfrm>
            <a:off x="612648" y="4251960"/>
            <a:ext cx="10927080" cy="1280160"/>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A1A1A"/>
                </a:solidFill>
                <a:latin typeface="Arial"/>
              </a:defRPr>
            </a:pPr>
          </a:p>
        </p:txBody>
      </p:sp>
      <p:sp>
        <p:nvSpPr>
          <p:cNvPr id="7" name="TextBox 6"/>
          <p:cNvSpPr txBox="1"/>
          <p:nvPr/>
        </p:nvSpPr>
        <p:spPr>
          <a:xfrm>
            <a:off x="859536" y="4462272"/>
            <a:ext cx="10424160" cy="822960"/>
          </a:xfrm>
          <a:prstGeom prst="rect">
            <a:avLst/>
          </a:prstGeom>
          <a:noFill/>
        </p:spPr>
        <p:txBody>
          <a:bodyPr wrap="square" lIns="0" rIns="0" tIns="0" bIns="0">
            <a:spAutoFit/>
          </a:bodyPr>
          <a:lstStyle/>
          <a:p>
            <a:pPr>
              <a:spcBef>
                <a:spcPts val="0"/>
              </a:spcBef>
              <a:spcAft>
                <a:spcPts val="300"/>
              </a:spcAft>
              <a:defRPr sz="2100" b="1">
                <a:solidFill>
                  <a:srgbClr val="1A1A1A"/>
                </a:solidFill>
                <a:latin typeface="Arial"/>
              </a:defRPr>
            </a:pPr>
            <a:r>
              <a:rPr b="1">
                <a:solidFill>
                  <a:srgbClr val="201C19"/>
                </a:solidFill>
                <a:latin typeface="Arial"/>
              </a:rPr>
              <a:t>Review previous feedback and attempt the retrieval prompt without displayed solutions.</a:t>
            </a:r>
          </a:p>
        </p:txBody>
      </p:sp>
      <p:sp>
        <p:nvSpPr>
          <p:cNvPr id="8" name="TextBox 7"/>
          <p:cNvSpPr txBox="1"/>
          <p:nvPr/>
        </p:nvSpPr>
        <p:spPr>
          <a:xfrm>
            <a:off x="612648" y="5788152"/>
            <a:ext cx="10927080" cy="411480"/>
          </a:xfrm>
          <a:prstGeom prst="rect">
            <a:avLst/>
          </a:prstGeom>
          <a:noFill/>
        </p:spPr>
        <p:txBody>
          <a:bodyPr wrap="square" lIns="0" rIns="0" tIns="0" bIns="0">
            <a:spAutoFit/>
          </a:bodyPr>
          <a:lstStyle/>
          <a:p>
            <a:pPr>
              <a:spcBef>
                <a:spcPts val="0"/>
              </a:spcBef>
              <a:spcAft>
                <a:spcPts val="300"/>
              </a:spcAft>
              <a:defRPr sz="1250" b="0">
                <a:solidFill>
                  <a:srgbClr val="4A4E54"/>
                </a:solidFill>
                <a:latin typeface="Arial"/>
              </a:defRPr>
            </a:pPr>
            <a:r>
              <a:rPr>
                <a:solidFill>
                  <a:srgbClr val="62564B"/>
                </a:solidFill>
                <a:latin typeface="Arial"/>
              </a:rPr>
              <a:t>Resources: Exercise Book 9A Q1,8 p.57; 10B Q1,11 pp.65–66; 11A Q7,19 pp.69–70; 12B Q3 p.77; 13A Q6,14 p.82.</a:t>
            </a:r>
          </a:p>
        </p:txBody>
      </p:sp>
      <p:pic>
        <p:nvPicPr>
          <p:cNvPr id="9" name="Picture 8"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1" name="TextBox 10"/>
          <p:cNvSpPr txBox="1"/>
          <p:nvPr/>
        </p:nvSpPr>
        <p:spPr>
          <a:xfrm>
            <a:off x="612648" y="6620256"/>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4"/>
              </a:rPr>
              <a:t>Textbook</a:t>
            </a:r>
          </a:p>
        </p:txBody>
      </p:sp>
      <p:sp>
        <p:nvSpPr>
          <p:cNvPr id="12" name="TextBox 11"/>
          <p:cNvSpPr txBox="1"/>
          <p:nvPr/>
        </p:nvSpPr>
        <p:spPr>
          <a:xfrm>
            <a:off x="1691640" y="6620256"/>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5"/>
              </a:rPr>
              <a:t>Exercise Book</a:t>
            </a:r>
          </a:p>
        </p:txBody>
      </p:sp>
      <p:sp>
        <p:nvSpPr>
          <p:cNvPr id="13" name="TextBox 12"/>
          <p:cNvSpPr txBox="1"/>
          <p:nvPr/>
        </p:nvSpPr>
        <p:spPr>
          <a:xfrm>
            <a:off x="3136392" y="6620256"/>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6"/>
              </a:rPr>
              <a:t>Numeracy Hub</a:t>
            </a:r>
          </a:p>
        </p:txBody>
      </p:sp>
      <p:sp>
        <p:nvSpPr>
          <p:cNvPr id="14" name="TextBox 13"/>
          <p:cNvSpPr txBox="1"/>
          <p:nvPr/>
        </p:nvSpPr>
        <p:spPr>
          <a:xfrm>
            <a:off x="4736592" y="6620256"/>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7"/>
              </a:rPr>
              <a:t>Shape Canvas</a:t>
            </a:r>
          </a:p>
        </p:txBody>
      </p:sp>
      <p:sp>
        <p:nvSpPr>
          <p:cNvPr id="15" name="TextBox 14"/>
          <p:cNvSpPr txBox="1"/>
          <p:nvPr/>
        </p:nvSpPr>
        <p:spPr>
          <a:xfrm>
            <a:off x="8412480" y="6620256"/>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sz="850">
                <a:solidFill>
                  <a:srgbClr val="F7F4F1"/>
                </a:solidFill>
                <a:latin typeface="Arial"/>
              </a:rPr>
              <a:t>Day 25  •  2026-12-14  •  24</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7F4F1"/>
        </a:solidFill>
        <a:effectLst/>
      </p:bgPr>
    </p:bg>
    <p:spTree>
      <p:nvGrpSpPr>
        <p:cNvPr id="1" name=""/>
        <p:cNvGrpSpPr/>
        <p:nvPr/>
      </p:nvGrpSpPr>
      <p:grpSpPr/>
      <p:sp>
        <p:nvSpPr>
          <p:cNvPr id="20" name="Rectangle 19"/>
          <p:cNvSpPr/>
          <p:nvPr/>
        </p:nvSpPr>
        <p:spPr>
          <a:xfrm>
            <a:off x="0" y="6528816"/>
            <a:ext cx="12191695" cy="329184"/>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0" y="0"/>
            <a:ext cx="12191695" cy="1645920"/>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10104120" y="114300"/>
            <a:ext cx="1517904" cy="753153"/>
          </a:xfrm>
          <a:prstGeom prst="roundRect">
            <a:avLst>
              <a:gd name="adj" fmla="val 8000"/>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612648" y="1865376"/>
            <a:ext cx="5349240" cy="190195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6217920" y="1865376"/>
            <a:ext cx="5349240" cy="190195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612648" y="3895344"/>
            <a:ext cx="5349240" cy="190195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a:off x="6217920" y="3895344"/>
            <a:ext cx="5349240" cy="190195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spAutoFit/>
          </a:bodyPr>
          <a:lstStyle/>
          <a:p>
            <a:pPr>
              <a:spcBef>
                <a:spcPts val="0"/>
              </a:spcBef>
              <a:spcAft>
                <a:spcPts val="300"/>
              </a:spcAft>
              <a:defRPr sz="1150" b="1">
                <a:solidFill>
                  <a:srgbClr val="D2181F"/>
                </a:solidFill>
                <a:latin typeface="Arial"/>
              </a:defRPr>
            </a:pPr>
            <a:r>
              <a:rPr>
                <a:solidFill>
                  <a:srgbClr val="FFFFFF"/>
                </a:solidFill>
                <a:latin typeface="Arial"/>
              </a:rPr>
              <a:t>W08-L02  •  TEACH  •  10:40 AM–10:55 AM  •  15 MIN TOTAL</a:t>
            </a:r>
          </a:p>
        </p:txBody>
      </p:sp>
      <p:sp>
        <p:nvSpPr>
          <p:cNvPr id="3" name="TextBox 2"/>
          <p:cNvSpPr txBox="1"/>
          <p:nvPr/>
        </p:nvSpPr>
        <p:spPr>
          <a:xfrm>
            <a:off x="612648" y="932688"/>
            <a:ext cx="10927080" cy="749808"/>
          </a:xfrm>
          <a:prstGeom prst="rect">
            <a:avLst/>
          </a:prstGeom>
          <a:noFill/>
        </p:spPr>
        <p:txBody>
          <a:bodyPr wrap="square" lIns="0" rIns="0" tIns="0" bIns="0">
            <a:spAutoFit/>
          </a:bodyPr>
          <a:lstStyle/>
          <a:p>
            <a:pPr>
              <a:spcBef>
                <a:spcPts val="0"/>
              </a:spcBef>
              <a:spcAft>
                <a:spcPts val="300"/>
              </a:spcAft>
              <a:defRPr sz="2900" b="1">
                <a:solidFill>
                  <a:srgbClr val="1A1A1A"/>
                </a:solidFill>
                <a:latin typeface="Arial"/>
              </a:defRPr>
            </a:pPr>
            <a:r>
              <a:rPr b="1">
                <a:solidFill>
                  <a:srgbClr val="FFFFFF"/>
                </a:solidFill>
                <a:latin typeface="Arial"/>
              </a:rPr>
              <a:t>Match the drawing to the requested quantity</a:t>
            </a:r>
          </a:p>
        </p:txBody>
      </p:sp>
      <p:sp>
        <p:nvSpPr>
          <p:cNvPr id="4" name="TextBox 3"/>
          <p:cNvSpPr txBox="1"/>
          <p:nvPr/>
        </p:nvSpPr>
        <p:spPr>
          <a:xfrm>
            <a:off x="612648" y="6327648"/>
            <a:ext cx="10881360" cy="219456"/>
          </a:xfrm>
          <a:prstGeom prst="rect">
            <a:avLst/>
          </a:prstGeom>
          <a:noFill/>
        </p:spPr>
        <p:txBody>
          <a:bodyPr wrap="square" lIns="0" rIns="0" tIns="0" bIns="0">
            <a:spAutoFit/>
          </a:bodyPr>
          <a:lstStyle/>
          <a:p>
            <a:pPr>
              <a:spcBef>
                <a:spcPts val="0"/>
              </a:spcBef>
              <a:spcAft>
                <a:spcPts val="300"/>
              </a:spcAft>
              <a:defRPr sz="1050" b="0">
                <a:solidFill>
                  <a:srgbClr val="4A4E54"/>
                </a:solidFill>
                <a:latin typeface="Arial"/>
              </a:defRPr>
            </a:pPr>
            <a:r>
              <a:rPr>
                <a:solidFill>
                  <a:srgbClr val="62564B"/>
                </a:solidFill>
                <a:latin typeface="Arial"/>
              </a:rPr>
              <a:t>Textbook Chapter 9–13 pp.140–214, selected; formula sheet p.219</a:t>
            </a:r>
          </a:p>
        </p:txBody>
      </p:sp>
      <p:sp>
        <p:nvSpPr>
          <p:cNvPr id="5" name="Rectangle 4"/>
          <p:cNvSpPr/>
          <p:nvPr/>
        </p:nvSpPr>
        <p:spPr>
          <a:xfrm>
            <a:off x="795528" y="2029968"/>
            <a:ext cx="393192" cy="393192"/>
          </a:xfrm>
          <a:prstGeom prst="rect">
            <a:avLst/>
          </a:prstGeom>
          <a:solidFill>
            <a:srgbClr val="C60016"/>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500" b="1">
                <a:solidFill>
                  <a:srgbClr val="1A1A1A"/>
                </a:solidFill>
                <a:latin typeface="Arial"/>
              </a:defRPr>
            </a:pPr>
            <a:r>
              <a:rPr b="1" sz="1900">
                <a:solidFill>
                  <a:srgbClr val="FFFFFF"/>
                </a:solidFill>
                <a:latin typeface="Arial"/>
              </a:rPr>
              <a:t>1</a:t>
            </a:r>
          </a:p>
        </p:txBody>
      </p:sp>
      <p:sp>
        <p:nvSpPr>
          <p:cNvPr id="6" name="TextBox 5"/>
          <p:cNvSpPr txBox="1"/>
          <p:nvPr/>
        </p:nvSpPr>
        <p:spPr>
          <a:xfrm>
            <a:off x="1362456" y="2048256"/>
            <a:ext cx="4343400" cy="1554480"/>
          </a:xfrm>
          <a:prstGeom prst="rect">
            <a:avLst/>
          </a:prstGeom>
          <a:noFill/>
        </p:spPr>
        <p:txBody>
          <a:bodyPr wrap="square" lIns="0" rIns="0" tIns="0" bIns="0">
            <a:spAutoFit/>
          </a:bodyPr>
          <a:lstStyle/>
          <a:p>
            <a:pPr>
              <a:lnSpc>
                <a:spcPct val="105000"/>
              </a:lnSpc>
              <a:spcBef>
                <a:spcPts val="0"/>
              </a:spcBef>
              <a:spcAft>
                <a:spcPts val="300"/>
              </a:spcAft>
              <a:defRPr sz="2200" b="0">
                <a:solidFill>
                  <a:srgbClr val="1A1A1A"/>
                </a:solidFill>
                <a:latin typeface="Arial"/>
              </a:defRPr>
            </a:pPr>
            <a:r>
              <a:rPr sz="2100">
                <a:solidFill>
                  <a:srgbClr val="201C19"/>
                </a:solidFill>
                <a:latin typeface="Arial"/>
              </a:rPr>
              <a:t>Outside boundary is perimeter: add edges, or use 2(l + w) for a rectangle. Report a length unit such as mm or m.</a:t>
            </a:r>
          </a:p>
        </p:txBody>
      </p:sp>
      <p:sp>
        <p:nvSpPr>
          <p:cNvPr id="7" name="Rectangle 6"/>
          <p:cNvSpPr/>
          <p:nvPr/>
        </p:nvSpPr>
        <p:spPr>
          <a:xfrm>
            <a:off x="6400800" y="2029968"/>
            <a:ext cx="393192" cy="393192"/>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500" b="1">
                <a:solidFill>
                  <a:srgbClr val="1A1A1A"/>
                </a:solidFill>
                <a:latin typeface="Arial"/>
              </a:defRPr>
            </a:pPr>
            <a:r>
              <a:rPr b="1" sz="1900">
                <a:solidFill>
                  <a:srgbClr val="201C19"/>
                </a:solidFill>
                <a:latin typeface="Arial"/>
              </a:rPr>
              <a:t>2</a:t>
            </a:r>
          </a:p>
        </p:txBody>
      </p:sp>
      <p:sp>
        <p:nvSpPr>
          <p:cNvPr id="8" name="TextBox 7"/>
          <p:cNvSpPr txBox="1"/>
          <p:nvPr/>
        </p:nvSpPr>
        <p:spPr>
          <a:xfrm>
            <a:off x="6967728" y="2048256"/>
            <a:ext cx="4343400" cy="1554480"/>
          </a:xfrm>
          <a:prstGeom prst="rect">
            <a:avLst/>
          </a:prstGeom>
          <a:noFill/>
        </p:spPr>
        <p:txBody>
          <a:bodyPr wrap="square" lIns="0" rIns="0" tIns="0" bIns="0">
            <a:spAutoFit/>
          </a:bodyPr>
          <a:lstStyle/>
          <a:p>
            <a:pPr>
              <a:lnSpc>
                <a:spcPct val="105000"/>
              </a:lnSpc>
              <a:spcBef>
                <a:spcPts val="0"/>
              </a:spcBef>
              <a:spcAft>
                <a:spcPts val="300"/>
              </a:spcAft>
              <a:defRPr sz="2200" b="0">
                <a:solidFill>
                  <a:srgbClr val="1A1A1A"/>
                </a:solidFill>
                <a:latin typeface="Arial"/>
              </a:defRPr>
            </a:pPr>
            <a:r>
              <a:rPr sz="2100">
                <a:solidFill>
                  <a:srgbClr val="201C19"/>
                </a:solidFill>
                <a:latin typeface="Arial"/>
              </a:rPr>
              <a:t>Surface coverage is area: use the appropriate area formula and subtract openings where stated. Report square units.</a:t>
            </a:r>
          </a:p>
        </p:txBody>
      </p:sp>
      <p:sp>
        <p:nvSpPr>
          <p:cNvPr id="9" name="Rectangle 8"/>
          <p:cNvSpPr/>
          <p:nvPr/>
        </p:nvSpPr>
        <p:spPr>
          <a:xfrm>
            <a:off x="795528" y="4059935"/>
            <a:ext cx="393192" cy="393192"/>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500" b="1">
                <a:solidFill>
                  <a:srgbClr val="1A1A1A"/>
                </a:solidFill>
                <a:latin typeface="Arial"/>
              </a:defRPr>
            </a:pPr>
            <a:r>
              <a:rPr b="1" sz="1900">
                <a:solidFill>
                  <a:srgbClr val="201C19"/>
                </a:solidFill>
                <a:latin typeface="Arial"/>
              </a:rPr>
              <a:t>3</a:t>
            </a:r>
          </a:p>
        </p:txBody>
      </p:sp>
      <p:sp>
        <p:nvSpPr>
          <p:cNvPr id="10" name="TextBox 9"/>
          <p:cNvSpPr txBox="1"/>
          <p:nvPr/>
        </p:nvSpPr>
        <p:spPr>
          <a:xfrm>
            <a:off x="1362456" y="4078224"/>
            <a:ext cx="4343400" cy="1554480"/>
          </a:xfrm>
          <a:prstGeom prst="rect">
            <a:avLst/>
          </a:prstGeom>
          <a:noFill/>
        </p:spPr>
        <p:txBody>
          <a:bodyPr wrap="square" lIns="0" rIns="0" tIns="0" bIns="0">
            <a:spAutoFit/>
          </a:bodyPr>
          <a:lstStyle/>
          <a:p>
            <a:pPr>
              <a:lnSpc>
                <a:spcPct val="105000"/>
              </a:lnSpc>
              <a:spcBef>
                <a:spcPts val="0"/>
              </a:spcBef>
              <a:spcAft>
                <a:spcPts val="300"/>
              </a:spcAft>
              <a:defRPr sz="2200" b="0">
                <a:solidFill>
                  <a:srgbClr val="1A1A1A"/>
                </a:solidFill>
                <a:latin typeface="Arial"/>
              </a:defRPr>
            </a:pPr>
            <a:r>
              <a:rPr sz="2100">
                <a:solidFill>
                  <a:srgbClr val="201C19"/>
                </a:solidFill>
                <a:latin typeface="Arial"/>
              </a:rPr>
              <a:t>Space or capacity is volume: base area × height for a prism. Report the requested cubic or capacity unit.</a:t>
            </a:r>
          </a:p>
        </p:txBody>
      </p:sp>
      <p:sp>
        <p:nvSpPr>
          <p:cNvPr id="11" name="Rectangle 10"/>
          <p:cNvSpPr/>
          <p:nvPr/>
        </p:nvSpPr>
        <p:spPr>
          <a:xfrm>
            <a:off x="6400800" y="4059935"/>
            <a:ext cx="393192" cy="393192"/>
          </a:xfrm>
          <a:prstGeom prst="rect">
            <a:avLst/>
          </a:prstGeom>
          <a:solidFill>
            <a:srgbClr val="C60016"/>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500" b="1">
                <a:solidFill>
                  <a:srgbClr val="1A1A1A"/>
                </a:solidFill>
                <a:latin typeface="Arial"/>
              </a:defRPr>
            </a:pPr>
            <a:r>
              <a:rPr b="1" sz="1900">
                <a:solidFill>
                  <a:srgbClr val="FFFFFF"/>
                </a:solidFill>
                <a:latin typeface="Arial"/>
              </a:rPr>
              <a:t>4</a:t>
            </a:r>
          </a:p>
        </p:txBody>
      </p:sp>
      <p:sp>
        <p:nvSpPr>
          <p:cNvPr id="12" name="TextBox 11"/>
          <p:cNvSpPr txBox="1"/>
          <p:nvPr/>
        </p:nvSpPr>
        <p:spPr>
          <a:xfrm>
            <a:off x="6967728" y="4078224"/>
            <a:ext cx="4343400" cy="1554480"/>
          </a:xfrm>
          <a:prstGeom prst="rect">
            <a:avLst/>
          </a:prstGeom>
          <a:noFill/>
        </p:spPr>
        <p:txBody>
          <a:bodyPr wrap="square" lIns="0" rIns="0" tIns="0" bIns="0">
            <a:spAutoFit/>
          </a:bodyPr>
          <a:lstStyle/>
          <a:p>
            <a:pPr>
              <a:lnSpc>
                <a:spcPct val="105000"/>
              </a:lnSpc>
              <a:spcBef>
                <a:spcPts val="0"/>
              </a:spcBef>
              <a:spcAft>
                <a:spcPts val="300"/>
              </a:spcAft>
              <a:defRPr sz="2200" b="0">
                <a:solidFill>
                  <a:srgbClr val="1A1A1A"/>
                </a:solidFill>
                <a:latin typeface="Arial"/>
              </a:defRPr>
            </a:pPr>
            <a:r>
              <a:rPr sz="2100">
                <a:solidFill>
                  <a:srgbClr val="201C19"/>
                </a:solidFill>
                <a:latin typeface="Arial"/>
              </a:rPr>
              <a:t>A right-triangle side uses Pythagoras or the selected trig ratio. The side answer is a length; confirm DEG mode for trig.</a:t>
            </a:r>
          </a:p>
        </p:txBody>
      </p:sp>
      <p:pic>
        <p:nvPicPr>
          <p:cNvPr id="13" name="Picture 12"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5" name="TextBox 14"/>
          <p:cNvSpPr txBox="1"/>
          <p:nvPr/>
        </p:nvSpPr>
        <p:spPr>
          <a:xfrm>
            <a:off x="612648" y="6620256"/>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4"/>
              </a:rPr>
              <a:t>Textbook</a:t>
            </a:r>
          </a:p>
        </p:txBody>
      </p:sp>
      <p:sp>
        <p:nvSpPr>
          <p:cNvPr id="16" name="TextBox 15"/>
          <p:cNvSpPr txBox="1"/>
          <p:nvPr/>
        </p:nvSpPr>
        <p:spPr>
          <a:xfrm>
            <a:off x="1691640" y="6620256"/>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5"/>
              </a:rPr>
              <a:t>Exercise Book</a:t>
            </a:r>
          </a:p>
        </p:txBody>
      </p:sp>
      <p:sp>
        <p:nvSpPr>
          <p:cNvPr id="17" name="TextBox 16"/>
          <p:cNvSpPr txBox="1"/>
          <p:nvPr/>
        </p:nvSpPr>
        <p:spPr>
          <a:xfrm>
            <a:off x="3136392" y="6620256"/>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6"/>
              </a:rPr>
              <a:t>Numeracy Hub</a:t>
            </a:r>
          </a:p>
        </p:txBody>
      </p:sp>
      <p:sp>
        <p:nvSpPr>
          <p:cNvPr id="18" name="TextBox 17"/>
          <p:cNvSpPr txBox="1"/>
          <p:nvPr/>
        </p:nvSpPr>
        <p:spPr>
          <a:xfrm>
            <a:off x="4736592" y="6620256"/>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7"/>
              </a:rPr>
              <a:t>Shape Canvas</a:t>
            </a:r>
          </a:p>
        </p:txBody>
      </p:sp>
      <p:sp>
        <p:nvSpPr>
          <p:cNvPr id="19" name="TextBox 18"/>
          <p:cNvSpPr txBox="1"/>
          <p:nvPr/>
        </p:nvSpPr>
        <p:spPr>
          <a:xfrm>
            <a:off x="8412480" y="6620256"/>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sz="850">
                <a:solidFill>
                  <a:srgbClr val="F7F4F1"/>
                </a:solidFill>
                <a:latin typeface="Arial"/>
              </a:rPr>
              <a:t>Day 25  •  2026-12-14  •  25</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7F4F1"/>
        </a:solidFill>
        <a:effectLst/>
      </p:bgPr>
    </p:bg>
    <p:spTree>
      <p:nvGrpSpPr>
        <p:cNvPr id="1" name=""/>
        <p:cNvGrpSpPr/>
        <p:nvPr/>
      </p:nvGrpSpPr>
      <p:grpSpPr/>
      <p:sp>
        <p:nvSpPr>
          <p:cNvPr id="20" name="Rectangle 19"/>
          <p:cNvSpPr/>
          <p:nvPr/>
        </p:nvSpPr>
        <p:spPr>
          <a:xfrm>
            <a:off x="0" y="6528816"/>
            <a:ext cx="12191695" cy="329184"/>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0" y="0"/>
            <a:ext cx="12191695" cy="1645920"/>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10104120" y="114300"/>
            <a:ext cx="1517904" cy="753153"/>
          </a:xfrm>
          <a:prstGeom prst="roundRect">
            <a:avLst>
              <a:gd name="adj" fmla="val 8000"/>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612648" y="1865376"/>
            <a:ext cx="5349240" cy="190195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6217920" y="1865376"/>
            <a:ext cx="5349240" cy="190195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612648" y="3895344"/>
            <a:ext cx="5349240" cy="190195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a:off x="6217920" y="3895344"/>
            <a:ext cx="5349240" cy="190195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spAutoFit/>
          </a:bodyPr>
          <a:lstStyle/>
          <a:p>
            <a:pPr>
              <a:spcBef>
                <a:spcPts val="0"/>
              </a:spcBef>
              <a:spcAft>
                <a:spcPts val="300"/>
              </a:spcAft>
              <a:defRPr sz="1150" b="1">
                <a:solidFill>
                  <a:srgbClr val="D2181F"/>
                </a:solidFill>
                <a:latin typeface="Arial"/>
              </a:defRPr>
            </a:pPr>
            <a:r>
              <a:rPr>
                <a:solidFill>
                  <a:srgbClr val="FFFFFF"/>
                </a:solidFill>
                <a:latin typeface="Arial"/>
              </a:rPr>
              <a:t>W08-L02  •  TEACH  •  10:40 AM–10:55 AM  •  15 MIN TOTAL</a:t>
            </a:r>
          </a:p>
        </p:txBody>
      </p:sp>
      <p:sp>
        <p:nvSpPr>
          <p:cNvPr id="3" name="TextBox 2"/>
          <p:cNvSpPr txBox="1"/>
          <p:nvPr/>
        </p:nvSpPr>
        <p:spPr>
          <a:xfrm>
            <a:off x="612648" y="932688"/>
            <a:ext cx="10927080" cy="749808"/>
          </a:xfrm>
          <a:prstGeom prst="rect">
            <a:avLst/>
          </a:prstGeom>
          <a:noFill/>
        </p:spPr>
        <p:txBody>
          <a:bodyPr wrap="square" lIns="0" rIns="0" tIns="0" bIns="0">
            <a:spAutoFit/>
          </a:bodyPr>
          <a:lstStyle/>
          <a:p>
            <a:pPr>
              <a:spcBef>
                <a:spcPts val="0"/>
              </a:spcBef>
              <a:spcAft>
                <a:spcPts val="300"/>
              </a:spcAft>
              <a:defRPr sz="2900" b="1">
                <a:solidFill>
                  <a:srgbClr val="1A1A1A"/>
                </a:solidFill>
                <a:latin typeface="Arial"/>
              </a:defRPr>
            </a:pPr>
            <a:r>
              <a:rPr b="1">
                <a:solidFill>
                  <a:srgbClr val="FFFFFF"/>
                </a:solidFill>
                <a:latin typeface="Arial"/>
              </a:rPr>
              <a:t>Use the drawing to check the calculation</a:t>
            </a:r>
          </a:p>
        </p:txBody>
      </p:sp>
      <p:sp>
        <p:nvSpPr>
          <p:cNvPr id="4" name="TextBox 3"/>
          <p:cNvSpPr txBox="1"/>
          <p:nvPr/>
        </p:nvSpPr>
        <p:spPr>
          <a:xfrm>
            <a:off x="612648" y="6327648"/>
            <a:ext cx="10881360" cy="219456"/>
          </a:xfrm>
          <a:prstGeom prst="rect">
            <a:avLst/>
          </a:prstGeom>
          <a:noFill/>
        </p:spPr>
        <p:txBody>
          <a:bodyPr wrap="square" lIns="0" rIns="0" tIns="0" bIns="0">
            <a:spAutoFit/>
          </a:bodyPr>
          <a:lstStyle/>
          <a:p>
            <a:pPr>
              <a:spcBef>
                <a:spcPts val="0"/>
              </a:spcBef>
              <a:spcAft>
                <a:spcPts val="300"/>
              </a:spcAft>
              <a:defRPr sz="1050" b="0">
                <a:solidFill>
                  <a:srgbClr val="4A4E54"/>
                </a:solidFill>
                <a:latin typeface="Arial"/>
              </a:defRPr>
            </a:pPr>
            <a:r>
              <a:rPr>
                <a:solidFill>
                  <a:srgbClr val="62564B"/>
                </a:solidFill>
                <a:latin typeface="Arial"/>
              </a:rPr>
              <a:t>Textbook Chapter 9–13 pp.140–214, selected; formula sheet p.219</a:t>
            </a:r>
          </a:p>
        </p:txBody>
      </p:sp>
      <p:sp>
        <p:nvSpPr>
          <p:cNvPr id="5" name="Rectangle 4"/>
          <p:cNvSpPr/>
          <p:nvPr/>
        </p:nvSpPr>
        <p:spPr>
          <a:xfrm>
            <a:off x="795528" y="2029968"/>
            <a:ext cx="393192" cy="393192"/>
          </a:xfrm>
          <a:prstGeom prst="rect">
            <a:avLst/>
          </a:prstGeom>
          <a:solidFill>
            <a:srgbClr val="C60016"/>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500" b="1">
                <a:solidFill>
                  <a:srgbClr val="1A1A1A"/>
                </a:solidFill>
                <a:latin typeface="Arial"/>
              </a:defRPr>
            </a:pPr>
            <a:r>
              <a:rPr b="1" sz="1900">
                <a:solidFill>
                  <a:srgbClr val="FFFFFF"/>
                </a:solidFill>
                <a:latin typeface="Arial"/>
              </a:rPr>
              <a:t>1</a:t>
            </a:r>
          </a:p>
        </p:txBody>
      </p:sp>
      <p:sp>
        <p:nvSpPr>
          <p:cNvPr id="6" name="TextBox 5"/>
          <p:cNvSpPr txBox="1"/>
          <p:nvPr/>
        </p:nvSpPr>
        <p:spPr>
          <a:xfrm>
            <a:off x="1362456" y="2048256"/>
            <a:ext cx="4343400" cy="1554480"/>
          </a:xfrm>
          <a:prstGeom prst="rect">
            <a:avLst/>
          </a:prstGeom>
          <a:noFill/>
        </p:spPr>
        <p:txBody>
          <a:bodyPr wrap="square" lIns="0" rIns="0" tIns="0" bIns="0">
            <a:spAutoFit/>
          </a:bodyPr>
          <a:lstStyle/>
          <a:p>
            <a:pPr>
              <a:lnSpc>
                <a:spcPct val="105000"/>
              </a:lnSpc>
              <a:spcBef>
                <a:spcPts val="0"/>
              </a:spcBef>
              <a:spcAft>
                <a:spcPts val="300"/>
              </a:spcAft>
              <a:defRPr sz="2200" b="0">
                <a:solidFill>
                  <a:srgbClr val="1A1A1A"/>
                </a:solidFill>
                <a:latin typeface="Arial"/>
              </a:defRPr>
            </a:pPr>
            <a:r>
              <a:rPr sz="2100">
                <a:solidFill>
                  <a:srgbClr val="201C19"/>
                </a:solidFill>
                <a:latin typeface="Arial"/>
              </a:rPr>
              <a:t>Identify the unknown before selecting the formula, and label all given dimensions on the appropriate drawing.</a:t>
            </a:r>
          </a:p>
        </p:txBody>
      </p:sp>
      <p:sp>
        <p:nvSpPr>
          <p:cNvPr id="7" name="Rectangle 6"/>
          <p:cNvSpPr/>
          <p:nvPr/>
        </p:nvSpPr>
        <p:spPr>
          <a:xfrm>
            <a:off x="6400800" y="2029968"/>
            <a:ext cx="393192" cy="393192"/>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500" b="1">
                <a:solidFill>
                  <a:srgbClr val="1A1A1A"/>
                </a:solidFill>
                <a:latin typeface="Arial"/>
              </a:defRPr>
            </a:pPr>
            <a:r>
              <a:rPr b="1" sz="1900">
                <a:solidFill>
                  <a:srgbClr val="201C19"/>
                </a:solidFill>
                <a:latin typeface="Arial"/>
              </a:rPr>
              <a:t>2</a:t>
            </a:r>
          </a:p>
        </p:txBody>
      </p:sp>
      <p:sp>
        <p:nvSpPr>
          <p:cNvPr id="8" name="TextBox 7"/>
          <p:cNvSpPr txBox="1"/>
          <p:nvPr/>
        </p:nvSpPr>
        <p:spPr>
          <a:xfrm>
            <a:off x="6967728" y="2048256"/>
            <a:ext cx="4343400" cy="1554480"/>
          </a:xfrm>
          <a:prstGeom prst="rect">
            <a:avLst/>
          </a:prstGeom>
          <a:noFill/>
        </p:spPr>
        <p:txBody>
          <a:bodyPr wrap="square" lIns="0" rIns="0" tIns="0" bIns="0">
            <a:spAutoFit/>
          </a:bodyPr>
          <a:lstStyle/>
          <a:p>
            <a:pPr>
              <a:lnSpc>
                <a:spcPct val="105000"/>
              </a:lnSpc>
              <a:spcBef>
                <a:spcPts val="0"/>
              </a:spcBef>
              <a:spcAft>
                <a:spcPts val="300"/>
              </a:spcAft>
              <a:defRPr sz="2200" b="0">
                <a:solidFill>
                  <a:srgbClr val="1A1A1A"/>
                </a:solidFill>
                <a:latin typeface="Arial"/>
              </a:defRPr>
            </a:pPr>
            <a:r>
              <a:rPr sz="2100">
                <a:solidFill>
                  <a:srgbClr val="201C19"/>
                </a:solidFill>
                <a:latin typeface="Arial"/>
              </a:rPr>
              <a:t>Keep each stated cut and kerf with its own problem; include the stated kerf in the paired work on 12B Q3.</a:t>
            </a:r>
          </a:p>
        </p:txBody>
      </p:sp>
      <p:sp>
        <p:nvSpPr>
          <p:cNvPr id="9" name="Rectangle 8"/>
          <p:cNvSpPr/>
          <p:nvPr/>
        </p:nvSpPr>
        <p:spPr>
          <a:xfrm>
            <a:off x="795528" y="4059935"/>
            <a:ext cx="393192" cy="393192"/>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500" b="1">
                <a:solidFill>
                  <a:srgbClr val="1A1A1A"/>
                </a:solidFill>
                <a:latin typeface="Arial"/>
              </a:defRPr>
            </a:pPr>
            <a:r>
              <a:rPr b="1" sz="1900">
                <a:solidFill>
                  <a:srgbClr val="201C19"/>
                </a:solidFill>
                <a:latin typeface="Arial"/>
              </a:rPr>
              <a:t>3</a:t>
            </a:r>
          </a:p>
        </p:txBody>
      </p:sp>
      <p:sp>
        <p:nvSpPr>
          <p:cNvPr id="10" name="TextBox 9"/>
          <p:cNvSpPr txBox="1"/>
          <p:nvPr/>
        </p:nvSpPr>
        <p:spPr>
          <a:xfrm>
            <a:off x="1362456" y="4078224"/>
            <a:ext cx="4343400" cy="1554480"/>
          </a:xfrm>
          <a:prstGeom prst="rect">
            <a:avLst/>
          </a:prstGeom>
          <a:noFill/>
        </p:spPr>
        <p:txBody>
          <a:bodyPr wrap="square" lIns="0" rIns="0" tIns="0" bIns="0">
            <a:spAutoFit/>
          </a:bodyPr>
          <a:lstStyle/>
          <a:p>
            <a:pPr>
              <a:lnSpc>
                <a:spcPct val="105000"/>
              </a:lnSpc>
              <a:spcBef>
                <a:spcPts val="0"/>
              </a:spcBef>
              <a:spcAft>
                <a:spcPts val="300"/>
              </a:spcAft>
              <a:defRPr sz="2200" b="0">
                <a:solidFill>
                  <a:srgbClr val="1A1A1A"/>
                </a:solidFill>
                <a:latin typeface="Arial"/>
              </a:defRPr>
            </a:pPr>
            <a:r>
              <a:rPr sz="2100">
                <a:solidFill>
                  <a:srgbClr val="201C19"/>
                </a:solidFill>
                <a:latin typeface="Arial"/>
              </a:rPr>
              <a:t>Reject an answer whose unit does not match the quantity or whose magnitude does not fit the drawing.</a:t>
            </a:r>
          </a:p>
        </p:txBody>
      </p:sp>
      <p:sp>
        <p:nvSpPr>
          <p:cNvPr id="11" name="Rectangle 10"/>
          <p:cNvSpPr/>
          <p:nvPr/>
        </p:nvSpPr>
        <p:spPr>
          <a:xfrm>
            <a:off x="6400800" y="4059935"/>
            <a:ext cx="393192" cy="393192"/>
          </a:xfrm>
          <a:prstGeom prst="rect">
            <a:avLst/>
          </a:prstGeom>
          <a:solidFill>
            <a:srgbClr val="C60016"/>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500" b="1">
                <a:solidFill>
                  <a:srgbClr val="1A1A1A"/>
                </a:solidFill>
                <a:latin typeface="Arial"/>
              </a:defRPr>
            </a:pPr>
            <a:r>
              <a:rPr b="1" sz="1900">
                <a:solidFill>
                  <a:srgbClr val="FFFFFF"/>
                </a:solidFill>
                <a:latin typeface="Arial"/>
              </a:rPr>
              <a:t>4</a:t>
            </a:r>
          </a:p>
        </p:txBody>
      </p:sp>
      <p:sp>
        <p:nvSpPr>
          <p:cNvPr id="12" name="TextBox 11"/>
          <p:cNvSpPr txBox="1"/>
          <p:nvPr/>
        </p:nvSpPr>
        <p:spPr>
          <a:xfrm>
            <a:off x="6967728" y="4078224"/>
            <a:ext cx="4343400" cy="1554480"/>
          </a:xfrm>
          <a:prstGeom prst="rect">
            <a:avLst/>
          </a:prstGeom>
          <a:noFill/>
        </p:spPr>
        <p:txBody>
          <a:bodyPr wrap="square" lIns="0" rIns="0" tIns="0" bIns="0">
            <a:spAutoFit/>
          </a:bodyPr>
          <a:lstStyle/>
          <a:p>
            <a:pPr>
              <a:lnSpc>
                <a:spcPct val="105000"/>
              </a:lnSpc>
              <a:spcBef>
                <a:spcPts val="0"/>
              </a:spcBef>
              <a:spcAft>
                <a:spcPts val="300"/>
              </a:spcAft>
              <a:defRPr sz="2200" b="0">
                <a:solidFill>
                  <a:srgbClr val="1A1A1A"/>
                </a:solidFill>
                <a:latin typeface="Arial"/>
              </a:defRPr>
            </a:pPr>
            <a:r>
              <a:rPr sz="2100">
                <a:solidFill>
                  <a:srgbClr val="201C19"/>
                </a:solidFill>
                <a:latin typeface="Arial"/>
              </a:rPr>
              <a:t>For the scheduled fresh Hub question, explain why the formula applies and retain the question/code for checking.</a:t>
            </a:r>
          </a:p>
        </p:txBody>
      </p:sp>
      <p:pic>
        <p:nvPicPr>
          <p:cNvPr id="13" name="Picture 12"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5" name="TextBox 14"/>
          <p:cNvSpPr txBox="1"/>
          <p:nvPr/>
        </p:nvSpPr>
        <p:spPr>
          <a:xfrm>
            <a:off x="612648" y="6620256"/>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4"/>
              </a:rPr>
              <a:t>Textbook</a:t>
            </a:r>
          </a:p>
        </p:txBody>
      </p:sp>
      <p:sp>
        <p:nvSpPr>
          <p:cNvPr id="16" name="TextBox 15"/>
          <p:cNvSpPr txBox="1"/>
          <p:nvPr/>
        </p:nvSpPr>
        <p:spPr>
          <a:xfrm>
            <a:off x="1691640" y="6620256"/>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5"/>
              </a:rPr>
              <a:t>Exercise Book</a:t>
            </a:r>
          </a:p>
        </p:txBody>
      </p:sp>
      <p:sp>
        <p:nvSpPr>
          <p:cNvPr id="17" name="TextBox 16"/>
          <p:cNvSpPr txBox="1"/>
          <p:nvPr/>
        </p:nvSpPr>
        <p:spPr>
          <a:xfrm>
            <a:off x="3136392" y="6620256"/>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6"/>
              </a:rPr>
              <a:t>Numeracy Hub</a:t>
            </a:r>
          </a:p>
        </p:txBody>
      </p:sp>
      <p:sp>
        <p:nvSpPr>
          <p:cNvPr id="18" name="TextBox 17"/>
          <p:cNvSpPr txBox="1"/>
          <p:nvPr/>
        </p:nvSpPr>
        <p:spPr>
          <a:xfrm>
            <a:off x="4736592" y="6620256"/>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7"/>
              </a:rPr>
              <a:t>Shape Canvas</a:t>
            </a:r>
          </a:p>
        </p:txBody>
      </p:sp>
      <p:sp>
        <p:nvSpPr>
          <p:cNvPr id="19" name="TextBox 18"/>
          <p:cNvSpPr txBox="1"/>
          <p:nvPr/>
        </p:nvSpPr>
        <p:spPr>
          <a:xfrm>
            <a:off x="8412480" y="6620256"/>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sz="850">
                <a:solidFill>
                  <a:srgbClr val="F7F4F1"/>
                </a:solidFill>
                <a:latin typeface="Arial"/>
              </a:rPr>
              <a:t>Day 25  •  2026-12-14  •  26</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1">
    <p:bg>
      <p:bgPr>
        <a:solidFill>
          <a:srgbClr val="F7F4F1"/>
        </a:solidFill>
        <a:effectLst/>
      </p:bgPr>
    </p:bg>
    <p:spTree>
      <p:nvGrpSpPr>
        <p:cNvPr id="1" name=""/>
        <p:cNvGrpSpPr/>
        <p:nvPr/>
      </p:nvGrpSpPr>
      <p:grpSpPr>
        <a:xfrm>
          <a:off x="0" y="0"/>
          <a:ext cx="0" cy="0"/>
          <a:chOff x="0" y="0"/>
          <a:chExt cx="0" cy="0"/>
        </a:xfrm>
      </p:grpSpPr>
      <p:sp>
        <p:nvSpPr>
          <p:cNvPr id="15" name="Rectangle 14"/>
          <p:cNvSpPr/>
          <p:nvPr/>
        </p:nvSpPr>
        <p:spPr>
          <a:xfrm>
            <a:off x="0" y="6528816"/>
            <a:ext cx="12191695" cy="329184"/>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0" y="0"/>
            <a:ext cx="12191695" cy="1645920"/>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10104120" y="114300"/>
            <a:ext cx="1517904" cy="753153"/>
          </a:xfrm>
          <a:prstGeom prst="roundRect">
            <a:avLst>
              <a:gd name="adj" fmla="val 8000"/>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 1"/>
          <p:cNvSpPr/>
          <p:nvPr/>
        </p:nvSpPr>
        <p:spPr>
          <a:xfrm>
            <a:off x="609585" y="381000"/>
            <a:ext cx="9418320" cy="213271"/>
          </a:xfrm>
          <a:prstGeom prst="rect">
            <a:avLst/>
          </a:prstGeom>
          <a:noFill/>
          <a:ln/>
        </p:spPr>
        <p:txBody>
          <a:bodyPr wrap="square" lIns="0" tIns="0" rIns="0" bIns="0" rtlCol="0" anchor="t"/>
          <a:lstStyle/>
          <a:p>
            <a:pPr marL="0" indent="0" algn="l">
              <a:buNone/>
              <a:defRPr sz="1150">
                <a:solidFill>
                  <a:srgbClr val="D2181F"/>
                </a:solidFill>
                <a:latin typeface="Arial"/>
              </a:defRPr>
            </a:pPr>
            <a:r>
              <a:rPr>
                <a:solidFill>
                  <a:srgbClr val="FFFFFF"/>
                </a:solidFill>
                <a:latin typeface="Arial"/>
              </a:rPr>
              <a:t>W08-L02  •  TEACH  •  10:40 AM–10:55 AM  •  15 MIN TOTAL</a:t>
            </a:r>
            <a:endParaRPr lang="en-US" sz="1200" dirty="0"/>
          </a:p>
        </p:txBody>
      </p:sp>
      <p:sp>
        <p:nvSpPr>
          <p:cNvPr id="4" name="Text 2"/>
          <p:cNvSpPr/>
          <p:nvPr/>
        </p:nvSpPr>
        <p:spPr>
          <a:xfrm>
            <a:off x="609585" y="781050"/>
            <a:ext cx="10972526" cy="428625"/>
          </a:xfrm>
          <a:prstGeom prst="rect">
            <a:avLst/>
          </a:prstGeom>
          <a:noFill/>
          <a:ln/>
        </p:spPr>
        <p:txBody>
          <a:bodyPr wrap="square" lIns="0" tIns="0" rIns="0" bIns="0" rtlCol="0" anchor="t"/>
          <a:lstStyle/>
          <a:p>
            <a:pPr marL="0" indent="0" algn="l">
              <a:buNone/>
            </a:pPr>
            <a:r>
              <a:rPr lang="en-US" sz="3000" b="1" dirty="0">
                <a:solidFill>
                  <a:srgbClr val="FFFFFF"/>
                </a:solidFill>
                <a:latin typeface="Arial" pitchFamily="34" charset="0"/>
                <a:ea typeface="Arial" pitchFamily="34" charset="-122"/>
                <a:cs typeface="Arial" pitchFamily="34" charset="-120"/>
              </a:rPr>
              <a:t>Match the quantity, formula and unit</a:t>
            </a:r>
            <a:endParaRPr lang="en-US" sz="3000" dirty="0"/>
          </a:p>
        </p:txBody>
      </p:sp>
      <p:graphicFrame>
        <p:nvGraphicFramePr>
          <p:cNvPr id="5" name="Table 0"/>
          <p:cNvGraphicFramePr>
            <a:graphicFrameLocks noGrp="1"/>
          </p:cNvGraphicFramePr>
          <p:nvPr/>
        </p:nvGraphicFramePr>
        <p:xfrm>
          <a:off x="609585" y="1714500"/>
          <a:ext cx="10972525" cy="2714624"/>
        </p:xfrm>
        <a:graphic>
          <a:graphicData uri="http://schemas.openxmlformats.org/drawingml/2006/table">
            <a:tbl>
              <a:tblPr/>
              <a:tblGrid>
                <a:gridCol w="3237377">
                  <a:extLst>
                    <a:ext uri="{9D8B030D-6E8A-4147-A177-3AD203B41FA5}">
                      <a16:colId xmlns:a16="http://schemas.microsoft.com/office/drawing/2014/main" val="20000"/>
                    </a:ext>
                  </a:extLst>
                </a:gridCol>
                <a:gridCol w="5289219">
                  <a:extLst>
                    <a:ext uri="{9D8B030D-6E8A-4147-A177-3AD203B41FA5}">
                      <a16:colId xmlns:a16="http://schemas.microsoft.com/office/drawing/2014/main" val="20001"/>
                    </a:ext>
                  </a:extLst>
                </a:gridCol>
                <a:gridCol w="2445929">
                  <a:extLst>
                    <a:ext uri="{9D8B030D-6E8A-4147-A177-3AD203B41FA5}">
                      <a16:colId xmlns:a16="http://schemas.microsoft.com/office/drawing/2014/main" val="20002"/>
                    </a:ext>
                  </a:extLst>
                </a:gridCol>
              </a:tblGrid>
              <a:tr h="539108">
                <a:tc>
                  <a:txBody>
                    <a:bodyPr/>
                    <a:lstStyle/>
                    <a:p>
                      <a:pPr marL="0" indent="0" algn="l">
                        <a:buNone/>
                      </a:pPr>
                      <a:r>
                        <a:rPr lang="en-US" sz="1800" b="1" dirty="0">
                          <a:solidFill>
                            <a:srgbClr val="FFFFFF"/>
                          </a:solidFill>
                          <a:latin typeface="Arial" pitchFamily="34" charset="0"/>
                          <a:ea typeface="Arial" pitchFamily="34" charset="-122"/>
                          <a:cs typeface="Arial" pitchFamily="34" charset="-120"/>
                        </a:rPr>
                        <a:t>Find</a:t>
                      </a:r>
                      <a:endParaRPr lang="en-US" sz="1800" dirty="0">
                        <a:latin typeface="Arial" charset="0"/>
                        <a:ea typeface="Arial" charset="0"/>
                        <a:cs typeface="Arial" charset="0"/>
                      </a:endParaRPr>
                    </a:p>
                  </a:txBody>
                  <a:tcPr marL="36576" marR="36576" marT="36576" marB="36576" anchor="ctr">
                    <a:lnL w="0" cap="flat" cmpd="sng" algn="ctr">
                      <a:noFill/>
                    </a:lnL>
                    <a:lnR w="0" cap="flat" cmpd="sng" algn="ctr">
                      <a:noFill/>
                    </a:lnR>
                    <a:lnT w="0" cap="flat" cmpd="sng" algn="ctr">
                      <a:noFill/>
                    </a:lnT>
                    <a:lnB w="9525" cap="flat" cmpd="sng" algn="ctr">
                      <a:solidFill>
                        <a:srgbClr val="BFC3C8"/>
                      </a:solidFill>
                      <a:prstDash val="solid"/>
                      <a:round/>
                      <a:headEnd type="none" w="med" len="med"/>
                      <a:tailEnd type="none" w="med" len="med"/>
                    </a:lnB>
                    <a:solidFill>
                      <a:srgbClr val="C60016"/>
                    </a:solidFill>
                  </a:tcPr>
                </a:tc>
                <a:tc>
                  <a:txBody>
                    <a:bodyPr/>
                    <a:lstStyle/>
                    <a:p>
                      <a:pPr marL="0" indent="0" algn="l">
                        <a:buNone/>
                      </a:pPr>
                      <a:r>
                        <a:rPr lang="en-US" sz="1800" b="1" dirty="0">
                          <a:solidFill>
                            <a:srgbClr val="FFFFFF"/>
                          </a:solidFill>
                          <a:latin typeface="Arial" pitchFamily="34" charset="0"/>
                          <a:ea typeface="Arial" pitchFamily="34" charset="-122"/>
                          <a:cs typeface="Arial" pitchFamily="34" charset="-120"/>
                        </a:rPr>
                        <a:t>Method example</a:t>
                      </a:r>
                      <a:endParaRPr lang="en-US" sz="1800" dirty="0">
                        <a:latin typeface="Arial" charset="0"/>
                        <a:ea typeface="Arial" charset="0"/>
                        <a:cs typeface="Arial" charset="0"/>
                      </a:endParaRPr>
                    </a:p>
                  </a:txBody>
                  <a:tcPr marL="36576" marR="36576" marT="36576" marB="36576" anchor="ctr">
                    <a:lnL w="0" cap="flat" cmpd="sng" algn="ctr">
                      <a:noFill/>
                    </a:lnL>
                    <a:lnR w="0" cap="flat" cmpd="sng" algn="ctr">
                      <a:noFill/>
                    </a:lnR>
                    <a:lnT w="0" cap="flat" cmpd="sng" algn="ctr">
                      <a:noFill/>
                    </a:lnT>
                    <a:lnB w="9525" cap="flat" cmpd="sng" algn="ctr">
                      <a:solidFill>
                        <a:srgbClr val="BFC3C8"/>
                      </a:solidFill>
                      <a:prstDash val="solid"/>
                      <a:round/>
                      <a:headEnd type="none" w="med" len="med"/>
                      <a:tailEnd type="none" w="med" len="med"/>
                    </a:lnB>
                    <a:solidFill>
                      <a:srgbClr val="C60016"/>
                    </a:solidFill>
                  </a:tcPr>
                </a:tc>
                <a:tc>
                  <a:txBody>
                    <a:bodyPr/>
                    <a:lstStyle/>
                    <a:p>
                      <a:pPr marL="0" indent="0" algn="l">
                        <a:buNone/>
                      </a:pPr>
                      <a:r>
                        <a:rPr lang="en-US" sz="1800" b="1" dirty="0">
                          <a:solidFill>
                            <a:srgbClr val="FFFFFF"/>
                          </a:solidFill>
                          <a:latin typeface="Arial" pitchFamily="34" charset="0"/>
                          <a:ea typeface="Arial" pitchFamily="34" charset="-122"/>
                          <a:cs typeface="Arial" pitchFamily="34" charset="-120"/>
                        </a:rPr>
                        <a:t>Result unit</a:t>
                      </a:r>
                      <a:endParaRPr lang="en-US" sz="1800" dirty="0">
                        <a:latin typeface="Arial" charset="0"/>
                        <a:ea typeface="Arial" charset="0"/>
                        <a:cs typeface="Arial" charset="0"/>
                      </a:endParaRPr>
                    </a:p>
                  </a:txBody>
                  <a:tcPr marL="36576" marR="36576" marT="36576" marB="36576" anchor="ctr">
                    <a:lnL w="0" cap="flat" cmpd="sng" algn="ctr">
                      <a:noFill/>
                    </a:lnL>
                    <a:lnR w="0" cap="flat" cmpd="sng" algn="ctr">
                      <a:noFill/>
                    </a:lnR>
                    <a:lnT w="0" cap="flat" cmpd="sng" algn="ctr">
                      <a:noFill/>
                    </a:lnT>
                    <a:lnB w="9525" cap="flat" cmpd="sng" algn="ctr">
                      <a:solidFill>
                        <a:srgbClr val="BFC3C8"/>
                      </a:solidFill>
                      <a:prstDash val="solid"/>
                      <a:round/>
                      <a:headEnd type="none" w="med" len="med"/>
                      <a:tailEnd type="none" w="med" len="med"/>
                    </a:lnB>
                    <a:solidFill>
                      <a:srgbClr val="C60016"/>
                    </a:solidFill>
                  </a:tcPr>
                </a:tc>
                <a:extLst>
                  <a:ext uri="{0D108BD9-81ED-4DB2-BD59-A6C34878D82A}">
                    <a16:rowId xmlns:a16="http://schemas.microsoft.com/office/drawing/2014/main" val="10000"/>
                  </a:ext>
                </a:extLst>
              </a:tr>
              <a:tr h="543879">
                <a:tc>
                  <a:txBody>
                    <a:bodyPr/>
                    <a:lstStyle/>
                    <a:p>
                      <a:pPr marL="0" indent="0" algn="l">
                        <a:buNone/>
                      </a:pPr>
                      <a:r>
                        <a:rPr lang="en-US" sz="1800" dirty="0">
                          <a:solidFill>
                            <a:srgbClr val="181818"/>
                          </a:solidFill>
                          <a:latin typeface="Arial" pitchFamily="34" charset="0"/>
                          <a:ea typeface="Arial" pitchFamily="34" charset="-122"/>
                          <a:cs typeface="Arial" pitchFamily="34" charset="-120"/>
                        </a:rPr>
                        <a:t>Outside boundary</a:t>
                      </a:r>
                      <a:endParaRPr lang="en-US" sz="1800" dirty="0">
                        <a:latin typeface="Arial" charset="0"/>
                        <a:ea typeface="Arial" charset="0"/>
                        <a:cs typeface="Arial" charset="0"/>
                      </a:endParaRPr>
                    </a:p>
                  </a:txBody>
                  <a:tcPr marL="36576" marR="36576" marT="36576" marB="36576" anchor="ctr">
                    <a:lnL w="0" cap="flat" cmpd="sng" algn="ctr">
                      <a:noFill/>
                    </a:lnL>
                    <a:lnR w="0" cap="flat" cmpd="sng" algn="ctr">
                      <a:noFill/>
                    </a:lnR>
                    <a:lnT w="9525" cap="flat" cmpd="sng" algn="ctr">
                      <a:solidFill>
                        <a:srgbClr val="BFC3C8"/>
                      </a:solidFill>
                      <a:prstDash val="solid"/>
                      <a:round/>
                      <a:headEnd type="none" w="med" len="med"/>
                      <a:tailEnd type="none" w="med" len="med"/>
                    </a:lnT>
                    <a:lnB w="9525" cap="flat" cmpd="sng" algn="ctr">
                      <a:solidFill>
                        <a:srgbClr val="BFC3C8"/>
                      </a:solidFill>
                      <a:prstDash val="solid"/>
                      <a:round/>
                      <a:headEnd type="none" w="med" len="med"/>
                      <a:tailEnd type="none" w="med" len="med"/>
                    </a:lnB>
                    <a:solidFill>
                      <a:srgbClr val="F4F5F6"/>
                    </a:solidFill>
                  </a:tcPr>
                </a:tc>
                <a:tc>
                  <a:txBody>
                    <a:bodyPr/>
                    <a:lstStyle/>
                    <a:p>
                      <a:pPr marL="0" indent="0" algn="l">
                        <a:buNone/>
                      </a:pPr>
                      <a:r>
                        <a:rPr lang="en-US" sz="1800" dirty="0">
                          <a:solidFill>
                            <a:srgbClr val="181818"/>
                          </a:solidFill>
                          <a:latin typeface="Arial" pitchFamily="34" charset="0"/>
                          <a:ea typeface="Arial" pitchFamily="34" charset="-122"/>
                          <a:cs typeface="Arial" pitchFamily="34" charset="-120"/>
                        </a:rPr>
                        <a:t>Add edges; rectangle 2(l + w)</a:t>
                      </a:r>
                      <a:endParaRPr lang="en-US" sz="1800" dirty="0">
                        <a:latin typeface="Arial" charset="0"/>
                        <a:ea typeface="Arial" charset="0"/>
                        <a:cs typeface="Arial" charset="0"/>
                      </a:endParaRPr>
                    </a:p>
                  </a:txBody>
                  <a:tcPr marL="36576" marR="36576" marT="36576" marB="36576" anchor="ctr">
                    <a:lnL w="0" cap="flat" cmpd="sng" algn="ctr">
                      <a:noFill/>
                    </a:lnL>
                    <a:lnR w="0" cap="flat" cmpd="sng" algn="ctr">
                      <a:noFill/>
                    </a:lnR>
                    <a:lnT w="9525" cap="flat" cmpd="sng" algn="ctr">
                      <a:solidFill>
                        <a:srgbClr val="BFC3C8"/>
                      </a:solidFill>
                      <a:prstDash val="solid"/>
                      <a:round/>
                      <a:headEnd type="none" w="med" len="med"/>
                      <a:tailEnd type="none" w="med" len="med"/>
                    </a:lnT>
                    <a:lnB w="9525" cap="flat" cmpd="sng" algn="ctr">
                      <a:solidFill>
                        <a:srgbClr val="BFC3C8"/>
                      </a:solidFill>
                      <a:prstDash val="solid"/>
                      <a:round/>
                      <a:headEnd type="none" w="med" len="med"/>
                      <a:tailEnd type="none" w="med" len="med"/>
                    </a:lnB>
                    <a:solidFill>
                      <a:srgbClr val="F4F5F6"/>
                    </a:solidFill>
                  </a:tcPr>
                </a:tc>
                <a:tc>
                  <a:txBody>
                    <a:bodyPr/>
                    <a:lstStyle/>
                    <a:p>
                      <a:pPr marL="0" indent="0" algn="l">
                        <a:buNone/>
                      </a:pPr>
                      <a:r>
                        <a:rPr lang="en-US" sz="1800" dirty="0">
                          <a:solidFill>
                            <a:srgbClr val="181818"/>
                          </a:solidFill>
                          <a:latin typeface="Arial" pitchFamily="34" charset="0"/>
                          <a:ea typeface="Arial" pitchFamily="34" charset="-122"/>
                          <a:cs typeface="Arial" pitchFamily="34" charset="-120"/>
                        </a:rPr>
                        <a:t>mm or m</a:t>
                      </a:r>
                      <a:endParaRPr lang="en-US" sz="1800" dirty="0">
                        <a:latin typeface="Arial" charset="0"/>
                        <a:ea typeface="Arial" charset="0"/>
                        <a:cs typeface="Arial" charset="0"/>
                      </a:endParaRPr>
                    </a:p>
                  </a:txBody>
                  <a:tcPr marL="36576" marR="36576" marT="36576" marB="36576" anchor="ctr">
                    <a:lnL w="0" cap="flat" cmpd="sng" algn="ctr">
                      <a:noFill/>
                    </a:lnL>
                    <a:lnR w="0" cap="flat" cmpd="sng" algn="ctr">
                      <a:noFill/>
                    </a:lnR>
                    <a:lnT w="9525" cap="flat" cmpd="sng" algn="ctr">
                      <a:solidFill>
                        <a:srgbClr val="BFC3C8"/>
                      </a:solidFill>
                      <a:prstDash val="solid"/>
                      <a:round/>
                      <a:headEnd type="none" w="med" len="med"/>
                      <a:tailEnd type="none" w="med" len="med"/>
                    </a:lnT>
                    <a:lnB w="9525" cap="flat" cmpd="sng" algn="ctr">
                      <a:solidFill>
                        <a:srgbClr val="BFC3C8"/>
                      </a:solidFill>
                      <a:prstDash val="solid"/>
                      <a:round/>
                      <a:headEnd type="none" w="med" len="med"/>
                      <a:tailEnd type="none" w="med" len="med"/>
                    </a:lnB>
                    <a:solidFill>
                      <a:srgbClr val="F4F5F6"/>
                    </a:solidFill>
                  </a:tcPr>
                </a:tc>
                <a:extLst>
                  <a:ext uri="{0D108BD9-81ED-4DB2-BD59-A6C34878D82A}">
                    <a16:rowId xmlns:a16="http://schemas.microsoft.com/office/drawing/2014/main" val="10001"/>
                  </a:ext>
                </a:extLst>
              </a:tr>
              <a:tr h="543879">
                <a:tc>
                  <a:txBody>
                    <a:bodyPr/>
                    <a:lstStyle/>
                    <a:p>
                      <a:pPr marL="0" indent="0" algn="l">
                        <a:buNone/>
                      </a:pPr>
                      <a:r>
                        <a:rPr lang="en-US" sz="1800" dirty="0">
                          <a:solidFill>
                            <a:srgbClr val="181818"/>
                          </a:solidFill>
                          <a:latin typeface="Arial" pitchFamily="34" charset="0"/>
                          <a:ea typeface="Arial" pitchFamily="34" charset="-122"/>
                          <a:cs typeface="Arial" pitchFamily="34" charset="-120"/>
                        </a:rPr>
                        <a:t>Surface coverage</a:t>
                      </a:r>
                      <a:endParaRPr lang="en-US" sz="1800" dirty="0">
                        <a:latin typeface="Arial" charset="0"/>
                        <a:ea typeface="Arial" charset="0"/>
                        <a:cs typeface="Arial" charset="0"/>
                      </a:endParaRPr>
                    </a:p>
                  </a:txBody>
                  <a:tcPr marL="36576" marR="36576" marT="36576" marB="36576" anchor="ctr">
                    <a:lnL w="0" cap="flat" cmpd="sng" algn="ctr">
                      <a:noFill/>
                    </a:lnL>
                    <a:lnR w="0" cap="flat" cmpd="sng" algn="ctr">
                      <a:noFill/>
                    </a:lnR>
                    <a:lnT w="9525" cap="flat" cmpd="sng" algn="ctr">
                      <a:solidFill>
                        <a:srgbClr val="BFC3C8"/>
                      </a:solidFill>
                      <a:prstDash val="solid"/>
                      <a:round/>
                      <a:headEnd type="none" w="med" len="med"/>
                      <a:tailEnd type="none" w="med" len="med"/>
                    </a:lnT>
                    <a:lnB w="9525" cap="flat" cmpd="sng" algn="ctr">
                      <a:solidFill>
                        <a:srgbClr val="BFC3C8"/>
                      </a:solidFill>
                      <a:prstDash val="solid"/>
                      <a:round/>
                      <a:headEnd type="none" w="med" len="med"/>
                      <a:tailEnd type="none" w="med" len="med"/>
                    </a:lnB>
                    <a:solidFill>
                      <a:srgbClr val="F4F5F6"/>
                    </a:solidFill>
                  </a:tcPr>
                </a:tc>
                <a:tc>
                  <a:txBody>
                    <a:bodyPr/>
                    <a:lstStyle/>
                    <a:p>
                      <a:pPr marL="0" indent="0" algn="l">
                        <a:buNone/>
                      </a:pPr>
                      <a:r>
                        <a:rPr lang="en-US" sz="1800" dirty="0">
                          <a:solidFill>
                            <a:srgbClr val="181818"/>
                          </a:solidFill>
                          <a:latin typeface="Arial" pitchFamily="34" charset="0"/>
                          <a:ea typeface="Arial" pitchFamily="34" charset="-122"/>
                          <a:cs typeface="Arial" pitchFamily="34" charset="-120"/>
                        </a:rPr>
                        <a:t>Area; subtract openings</a:t>
                      </a:r>
                      <a:endParaRPr lang="en-US" sz="1800" dirty="0">
                        <a:latin typeface="Arial" charset="0"/>
                        <a:ea typeface="Arial" charset="0"/>
                        <a:cs typeface="Arial" charset="0"/>
                      </a:endParaRPr>
                    </a:p>
                  </a:txBody>
                  <a:tcPr marL="36576" marR="36576" marT="36576" marB="36576" anchor="ctr">
                    <a:lnL w="0" cap="flat" cmpd="sng" algn="ctr">
                      <a:noFill/>
                    </a:lnL>
                    <a:lnR w="0" cap="flat" cmpd="sng" algn="ctr">
                      <a:noFill/>
                    </a:lnR>
                    <a:lnT w="9525" cap="flat" cmpd="sng" algn="ctr">
                      <a:solidFill>
                        <a:srgbClr val="BFC3C8"/>
                      </a:solidFill>
                      <a:prstDash val="solid"/>
                      <a:round/>
                      <a:headEnd type="none" w="med" len="med"/>
                      <a:tailEnd type="none" w="med" len="med"/>
                    </a:lnT>
                    <a:lnB w="9525" cap="flat" cmpd="sng" algn="ctr">
                      <a:solidFill>
                        <a:srgbClr val="BFC3C8"/>
                      </a:solidFill>
                      <a:prstDash val="solid"/>
                      <a:round/>
                      <a:headEnd type="none" w="med" len="med"/>
                      <a:tailEnd type="none" w="med" len="med"/>
                    </a:lnB>
                    <a:solidFill>
                      <a:srgbClr val="F4F5F6"/>
                    </a:solidFill>
                  </a:tcPr>
                </a:tc>
                <a:tc>
                  <a:txBody>
                    <a:bodyPr/>
                    <a:lstStyle/>
                    <a:p>
                      <a:pPr marL="0" indent="0" algn="l">
                        <a:buNone/>
                      </a:pPr>
                      <a:r>
                        <a:rPr lang="en-US" sz="1800" dirty="0">
                          <a:solidFill>
                            <a:srgbClr val="181818"/>
                          </a:solidFill>
                          <a:latin typeface="Arial" pitchFamily="34" charset="0"/>
                          <a:ea typeface="Arial" pitchFamily="34" charset="-122"/>
                          <a:cs typeface="Arial" pitchFamily="34" charset="-120"/>
                        </a:rPr>
                        <a:t>mm² or m²</a:t>
                      </a:r>
                      <a:endParaRPr lang="en-US" sz="1800" dirty="0">
                        <a:latin typeface="Arial" charset="0"/>
                        <a:ea typeface="Arial" charset="0"/>
                        <a:cs typeface="Arial" charset="0"/>
                      </a:endParaRPr>
                    </a:p>
                  </a:txBody>
                  <a:tcPr marL="36576" marR="36576" marT="36576" marB="36576" anchor="ctr">
                    <a:lnL w="0" cap="flat" cmpd="sng" algn="ctr">
                      <a:noFill/>
                    </a:lnL>
                    <a:lnR w="0" cap="flat" cmpd="sng" algn="ctr">
                      <a:noFill/>
                    </a:lnR>
                    <a:lnT w="9525" cap="flat" cmpd="sng" algn="ctr">
                      <a:solidFill>
                        <a:srgbClr val="BFC3C8"/>
                      </a:solidFill>
                      <a:prstDash val="solid"/>
                      <a:round/>
                      <a:headEnd type="none" w="med" len="med"/>
                      <a:tailEnd type="none" w="med" len="med"/>
                    </a:lnT>
                    <a:lnB w="9525" cap="flat" cmpd="sng" algn="ctr">
                      <a:solidFill>
                        <a:srgbClr val="BFC3C8"/>
                      </a:solidFill>
                      <a:prstDash val="solid"/>
                      <a:round/>
                      <a:headEnd type="none" w="med" len="med"/>
                      <a:tailEnd type="none" w="med" len="med"/>
                    </a:lnB>
                    <a:solidFill>
                      <a:srgbClr val="F4F5F6"/>
                    </a:solidFill>
                  </a:tcPr>
                </a:tc>
                <a:extLst>
                  <a:ext uri="{0D108BD9-81ED-4DB2-BD59-A6C34878D82A}">
                    <a16:rowId xmlns:a16="http://schemas.microsoft.com/office/drawing/2014/main" val="10002"/>
                  </a:ext>
                </a:extLst>
              </a:tr>
              <a:tr h="543879">
                <a:tc>
                  <a:txBody>
                    <a:bodyPr/>
                    <a:lstStyle/>
                    <a:p>
                      <a:pPr marL="0" indent="0" algn="l">
                        <a:buNone/>
                      </a:pPr>
                      <a:r>
                        <a:rPr lang="en-US" sz="1800" dirty="0">
                          <a:solidFill>
                            <a:srgbClr val="181818"/>
                          </a:solidFill>
                          <a:latin typeface="Arial" pitchFamily="34" charset="0"/>
                          <a:ea typeface="Arial" pitchFamily="34" charset="-122"/>
                          <a:cs typeface="Arial" pitchFamily="34" charset="-120"/>
                        </a:rPr>
                        <a:t>Space / capacity</a:t>
                      </a:r>
                      <a:endParaRPr lang="en-US" sz="1800" dirty="0">
                        <a:latin typeface="Arial" charset="0"/>
                        <a:ea typeface="Arial" charset="0"/>
                        <a:cs typeface="Arial" charset="0"/>
                      </a:endParaRPr>
                    </a:p>
                  </a:txBody>
                  <a:tcPr marL="36576" marR="36576" marT="36576" marB="36576" anchor="ctr">
                    <a:lnL w="0" cap="flat" cmpd="sng" algn="ctr">
                      <a:noFill/>
                    </a:lnL>
                    <a:lnR w="0" cap="flat" cmpd="sng" algn="ctr">
                      <a:noFill/>
                    </a:lnR>
                    <a:lnT w="9525" cap="flat" cmpd="sng" algn="ctr">
                      <a:solidFill>
                        <a:srgbClr val="BFC3C8"/>
                      </a:solidFill>
                      <a:prstDash val="solid"/>
                      <a:round/>
                      <a:headEnd type="none" w="med" len="med"/>
                      <a:tailEnd type="none" w="med" len="med"/>
                    </a:lnT>
                    <a:lnB w="9525" cap="flat" cmpd="sng" algn="ctr">
                      <a:solidFill>
                        <a:srgbClr val="BFC3C8"/>
                      </a:solidFill>
                      <a:prstDash val="solid"/>
                      <a:round/>
                      <a:headEnd type="none" w="med" len="med"/>
                      <a:tailEnd type="none" w="med" len="med"/>
                    </a:lnB>
                    <a:solidFill>
                      <a:srgbClr val="F4F5F6"/>
                    </a:solidFill>
                  </a:tcPr>
                </a:tc>
                <a:tc>
                  <a:txBody>
                    <a:bodyPr/>
                    <a:lstStyle/>
                    <a:p>
                      <a:pPr marL="0" indent="0" algn="l">
                        <a:buNone/>
                      </a:pPr>
                      <a:r>
                        <a:rPr lang="en-US" sz="1800" dirty="0">
                          <a:solidFill>
                            <a:srgbClr val="181818"/>
                          </a:solidFill>
                          <a:latin typeface="Arial" pitchFamily="34" charset="0"/>
                          <a:ea typeface="Arial" pitchFamily="34" charset="-122"/>
                          <a:cs typeface="Arial" pitchFamily="34" charset="-120"/>
                        </a:rPr>
                        <a:t>Base area × height</a:t>
                      </a:r>
                      <a:endParaRPr lang="en-US" sz="1800" dirty="0">
                        <a:latin typeface="Arial" charset="0"/>
                        <a:ea typeface="Arial" charset="0"/>
                        <a:cs typeface="Arial" charset="0"/>
                      </a:endParaRPr>
                    </a:p>
                  </a:txBody>
                  <a:tcPr marL="36576" marR="36576" marT="36576" marB="36576" anchor="ctr">
                    <a:lnL w="0" cap="flat" cmpd="sng" algn="ctr">
                      <a:noFill/>
                    </a:lnL>
                    <a:lnR w="0" cap="flat" cmpd="sng" algn="ctr">
                      <a:noFill/>
                    </a:lnR>
                    <a:lnT w="9525" cap="flat" cmpd="sng" algn="ctr">
                      <a:solidFill>
                        <a:srgbClr val="BFC3C8"/>
                      </a:solidFill>
                      <a:prstDash val="solid"/>
                      <a:round/>
                      <a:headEnd type="none" w="med" len="med"/>
                      <a:tailEnd type="none" w="med" len="med"/>
                    </a:lnT>
                    <a:lnB w="9525" cap="flat" cmpd="sng" algn="ctr">
                      <a:solidFill>
                        <a:srgbClr val="BFC3C8"/>
                      </a:solidFill>
                      <a:prstDash val="solid"/>
                      <a:round/>
                      <a:headEnd type="none" w="med" len="med"/>
                      <a:tailEnd type="none" w="med" len="med"/>
                    </a:lnB>
                    <a:solidFill>
                      <a:srgbClr val="F4F5F6"/>
                    </a:solidFill>
                  </a:tcPr>
                </a:tc>
                <a:tc>
                  <a:txBody>
                    <a:bodyPr/>
                    <a:lstStyle/>
                    <a:p>
                      <a:pPr marL="0" indent="0" algn="l">
                        <a:buNone/>
                      </a:pPr>
                      <a:r>
                        <a:rPr lang="en-US" sz="1800" dirty="0">
                          <a:solidFill>
                            <a:srgbClr val="181818"/>
                          </a:solidFill>
                          <a:latin typeface="Arial" pitchFamily="34" charset="0"/>
                          <a:ea typeface="Arial" pitchFamily="34" charset="-122"/>
                          <a:cs typeface="Arial" pitchFamily="34" charset="-120"/>
                        </a:rPr>
                        <a:t>mm³, m³ or L</a:t>
                      </a:r>
                      <a:endParaRPr lang="en-US" sz="1800" dirty="0">
                        <a:latin typeface="Arial" charset="0"/>
                        <a:ea typeface="Arial" charset="0"/>
                        <a:cs typeface="Arial" charset="0"/>
                      </a:endParaRPr>
                    </a:p>
                  </a:txBody>
                  <a:tcPr marL="36576" marR="36576" marT="36576" marB="36576" anchor="ctr">
                    <a:lnL w="0" cap="flat" cmpd="sng" algn="ctr">
                      <a:noFill/>
                    </a:lnL>
                    <a:lnR w="0" cap="flat" cmpd="sng" algn="ctr">
                      <a:noFill/>
                    </a:lnR>
                    <a:lnT w="9525" cap="flat" cmpd="sng" algn="ctr">
                      <a:solidFill>
                        <a:srgbClr val="BFC3C8"/>
                      </a:solidFill>
                      <a:prstDash val="solid"/>
                      <a:round/>
                      <a:headEnd type="none" w="med" len="med"/>
                      <a:tailEnd type="none" w="med" len="med"/>
                    </a:lnT>
                    <a:lnB w="9525" cap="flat" cmpd="sng" algn="ctr">
                      <a:solidFill>
                        <a:srgbClr val="BFC3C8"/>
                      </a:solidFill>
                      <a:prstDash val="solid"/>
                      <a:round/>
                      <a:headEnd type="none" w="med" len="med"/>
                      <a:tailEnd type="none" w="med" len="med"/>
                    </a:lnB>
                    <a:solidFill>
                      <a:srgbClr val="F4F5F6"/>
                    </a:solidFill>
                  </a:tcPr>
                </a:tc>
                <a:extLst>
                  <a:ext uri="{0D108BD9-81ED-4DB2-BD59-A6C34878D82A}">
                    <a16:rowId xmlns:a16="http://schemas.microsoft.com/office/drawing/2014/main" val="10003"/>
                  </a:ext>
                </a:extLst>
              </a:tr>
              <a:tr h="543879">
                <a:tc>
                  <a:txBody>
                    <a:bodyPr/>
                    <a:lstStyle/>
                    <a:p>
                      <a:pPr marL="0" indent="0" algn="l">
                        <a:buNone/>
                      </a:pPr>
                      <a:r>
                        <a:rPr lang="en-US" sz="1800" dirty="0">
                          <a:solidFill>
                            <a:srgbClr val="181818"/>
                          </a:solidFill>
                          <a:latin typeface="Arial" pitchFamily="34" charset="0"/>
                          <a:ea typeface="Arial" pitchFamily="34" charset="-122"/>
                          <a:cs typeface="Arial" pitchFamily="34" charset="-120"/>
                        </a:rPr>
                        <a:t>Right-triangle side</a:t>
                      </a:r>
                      <a:endParaRPr lang="en-US" sz="1800" dirty="0">
                        <a:latin typeface="Arial" charset="0"/>
                        <a:ea typeface="Arial" charset="0"/>
                        <a:cs typeface="Arial" charset="0"/>
                      </a:endParaRPr>
                    </a:p>
                  </a:txBody>
                  <a:tcPr marL="36576" marR="36576" marT="36576" marB="36576" anchor="ctr">
                    <a:lnL w="0" cap="flat" cmpd="sng" algn="ctr">
                      <a:noFill/>
                    </a:lnL>
                    <a:lnR w="0" cap="flat" cmpd="sng" algn="ctr">
                      <a:noFill/>
                    </a:lnR>
                    <a:lnT w="9525" cap="flat" cmpd="sng" algn="ctr">
                      <a:solidFill>
                        <a:srgbClr val="BFC3C8"/>
                      </a:solidFill>
                      <a:prstDash val="solid"/>
                      <a:round/>
                      <a:headEnd type="none" w="med" len="med"/>
                      <a:tailEnd type="none" w="med" len="med"/>
                    </a:lnT>
                    <a:lnB w="9525" cap="flat" cmpd="sng" algn="ctr">
                      <a:solidFill>
                        <a:srgbClr val="BFC3C8"/>
                      </a:solidFill>
                      <a:prstDash val="solid"/>
                      <a:round/>
                      <a:headEnd type="none" w="med" len="med"/>
                      <a:tailEnd type="none" w="med" len="med"/>
                    </a:lnB>
                    <a:solidFill>
                      <a:srgbClr val="F4F5F6"/>
                    </a:solidFill>
                  </a:tcPr>
                </a:tc>
                <a:tc>
                  <a:txBody>
                    <a:bodyPr/>
                    <a:lstStyle/>
                    <a:p>
                      <a:pPr marL="0" indent="0" algn="l">
                        <a:buNone/>
                      </a:pPr>
                      <a:r>
                        <a:rPr lang="en-US" sz="1800" dirty="0">
                          <a:solidFill>
                            <a:srgbClr val="181818"/>
                          </a:solidFill>
                          <a:latin typeface="Arial" pitchFamily="34" charset="0"/>
                          <a:ea typeface="Arial" pitchFamily="34" charset="-122"/>
                          <a:cs typeface="Arial" pitchFamily="34" charset="-120"/>
                        </a:rPr>
                        <a:t>Pythagoras or selected trig ratio</a:t>
                      </a:r>
                      <a:endParaRPr lang="en-US" sz="1800" dirty="0">
                        <a:latin typeface="Arial" charset="0"/>
                        <a:ea typeface="Arial" charset="0"/>
                        <a:cs typeface="Arial" charset="0"/>
                      </a:endParaRPr>
                    </a:p>
                  </a:txBody>
                  <a:tcPr marL="36576" marR="36576" marT="36576" marB="36576" anchor="ctr">
                    <a:lnL w="0" cap="flat" cmpd="sng" algn="ctr">
                      <a:noFill/>
                    </a:lnL>
                    <a:lnR w="0" cap="flat" cmpd="sng" algn="ctr">
                      <a:noFill/>
                    </a:lnR>
                    <a:lnT w="9525" cap="flat" cmpd="sng" algn="ctr">
                      <a:solidFill>
                        <a:srgbClr val="BFC3C8"/>
                      </a:solidFill>
                      <a:prstDash val="solid"/>
                      <a:round/>
                      <a:headEnd type="none" w="med" len="med"/>
                      <a:tailEnd type="none" w="med" len="med"/>
                    </a:lnT>
                    <a:lnB w="9525" cap="flat" cmpd="sng" algn="ctr">
                      <a:solidFill>
                        <a:srgbClr val="BFC3C8"/>
                      </a:solidFill>
                      <a:prstDash val="solid"/>
                      <a:round/>
                      <a:headEnd type="none" w="med" len="med"/>
                      <a:tailEnd type="none" w="med" len="med"/>
                    </a:lnB>
                    <a:solidFill>
                      <a:srgbClr val="F4F5F6"/>
                    </a:solidFill>
                  </a:tcPr>
                </a:tc>
                <a:tc>
                  <a:txBody>
                    <a:bodyPr/>
                    <a:lstStyle/>
                    <a:p>
                      <a:pPr marL="0" indent="0" algn="l">
                        <a:buNone/>
                      </a:pPr>
                      <a:r>
                        <a:rPr lang="en-US" sz="1800" dirty="0">
                          <a:solidFill>
                            <a:srgbClr val="181818"/>
                          </a:solidFill>
                          <a:latin typeface="Arial" pitchFamily="34" charset="0"/>
                          <a:ea typeface="Arial" pitchFamily="34" charset="-122"/>
                          <a:cs typeface="Arial" pitchFamily="34" charset="-120"/>
                        </a:rPr>
                        <a:t>mm or m</a:t>
                      </a:r>
                      <a:endParaRPr lang="en-US" sz="1800" dirty="0">
                        <a:latin typeface="Arial" charset="0"/>
                        <a:ea typeface="Arial" charset="0"/>
                        <a:cs typeface="Arial" charset="0"/>
                      </a:endParaRPr>
                    </a:p>
                  </a:txBody>
                  <a:tcPr marL="36576" marR="36576" marT="36576" marB="36576" anchor="ctr">
                    <a:lnL w="0" cap="flat" cmpd="sng" algn="ctr">
                      <a:noFill/>
                    </a:lnL>
                    <a:lnR w="0" cap="flat" cmpd="sng" algn="ctr">
                      <a:noFill/>
                    </a:lnR>
                    <a:lnT w="9525" cap="flat" cmpd="sng" algn="ctr">
                      <a:solidFill>
                        <a:srgbClr val="BFC3C8"/>
                      </a:solidFill>
                      <a:prstDash val="solid"/>
                      <a:round/>
                      <a:headEnd type="none" w="med" len="med"/>
                      <a:tailEnd type="none" w="med" len="med"/>
                    </a:lnT>
                    <a:lnB w="9525" cap="flat" cmpd="sng" algn="ctr">
                      <a:solidFill>
                        <a:srgbClr val="BFC3C8"/>
                      </a:solidFill>
                      <a:prstDash val="solid"/>
                      <a:round/>
                      <a:headEnd type="none" w="med" len="med"/>
                      <a:tailEnd type="none" w="med" len="med"/>
                    </a:lnB>
                    <a:solidFill>
                      <a:srgbClr val="F4F5F6"/>
                    </a:solidFill>
                  </a:tcPr>
                </a:tc>
                <a:extLst>
                  <a:ext uri="{0D108BD9-81ED-4DB2-BD59-A6C34878D82A}">
                    <a16:rowId xmlns:a16="http://schemas.microsoft.com/office/drawing/2014/main" val="10004"/>
                  </a:ext>
                </a:extLst>
              </a:tr>
            </a:tbl>
          </a:graphicData>
        </a:graphic>
      </p:graphicFrame>
      <p:sp>
        <p:nvSpPr>
          <p:cNvPr id="6" name="Text 3"/>
          <p:cNvSpPr/>
          <p:nvPr/>
        </p:nvSpPr>
        <p:spPr>
          <a:xfrm>
            <a:off x="609585" y="5095875"/>
            <a:ext cx="10972526" cy="959941"/>
          </a:xfrm>
          <a:prstGeom prst="rect">
            <a:avLst/>
          </a:prstGeom>
          <a:noFill/>
          <a:ln/>
        </p:spPr>
        <p:txBody>
          <a:bodyPr wrap="square" lIns="0" tIns="0" rIns="0" bIns="0" rtlCol="0" anchor="t"/>
          <a:lstStyle/>
          <a:p>
            <a:pPr marL="0" indent="0" algn="l">
              <a:buNone/>
            </a:pPr>
            <a:r>
              <a:rPr lang="en-US" sz="1800" dirty="0">
                <a:solidFill>
                  <a:srgbClr val="201C19"/>
                </a:solidFill>
                <a:latin typeface="Arial" pitchFamily="34" charset="0"/>
                <a:ea typeface="Arial" pitchFamily="34" charset="-122"/>
                <a:cs typeface="Arial" pitchFamily="34" charset="-120"/>
              </a:rPr>
              <a:t>Together • Work 10B Q1 and 12B Q3 in pairs.</a:t>
            </a:r>
            <a:endParaRPr lang="en-US" sz="1800" dirty="0"/>
          </a:p>
          <a:p>
            <a:pPr marL="0" indent="0" algn="l">
              <a:buNone/>
            </a:pPr>
            <a:r>
              <a:rPr lang="en-US" sz="1800" dirty="0">
                <a:solidFill>
                  <a:srgbClr val="201C19"/>
                </a:solidFill>
                <a:latin typeface="Arial" pitchFamily="34" charset="0"/>
                <a:ea typeface="Arial" pitchFamily="34" charset="-122"/>
                <a:cs typeface="Arial" pitchFamily="34" charset="-120"/>
              </a:rPr>
              <a:t>Annotate every dimension and include stated kerf. Explain why the method</a:t>
            </a:r>
            <a:endParaRPr lang="en-US" sz="1800" dirty="0"/>
          </a:p>
          <a:p>
            <a:pPr marL="0" indent="0" algn="l">
              <a:buNone/>
            </a:pPr>
            <a:r>
              <a:rPr lang="en-US" sz="1800" dirty="0">
                <a:solidFill>
                  <a:srgbClr val="201C19"/>
                </a:solidFill>
                <a:latin typeface="Arial" pitchFamily="34" charset="0"/>
                <a:ea typeface="Arial" pitchFamily="34" charset="-122"/>
                <a:cs typeface="Arial" pitchFamily="34" charset="-120"/>
              </a:rPr>
              <a:t>matches the unknown; reject an unreasonable unit or magnitude.</a:t>
            </a:r>
            <a:endParaRPr lang="en-US" sz="1800" dirty="0"/>
          </a:p>
        </p:txBody>
      </p:sp>
      <p:sp>
        <p:nvSpPr>
          <p:cNvPr id="7" name="Text 4"/>
          <p:cNvSpPr/>
          <p:nvPr/>
        </p:nvSpPr>
        <p:spPr>
          <a:xfrm>
            <a:off x="609585" y="6345936"/>
            <a:ext cx="10881360" cy="186630"/>
          </a:xfrm>
          <a:prstGeom prst="rect">
            <a:avLst/>
          </a:prstGeom>
          <a:noFill/>
          <a:ln/>
        </p:spPr>
        <p:txBody>
          <a:bodyPr wrap="square" lIns="0" tIns="0" rIns="0" bIns="0" rtlCol="0" anchor="t"/>
          <a:lstStyle/>
          <a:p>
            <a:pPr marL="0" indent="0" algn="l">
              <a:buNone/>
            </a:pPr>
            <a:r>
              <a:rPr lang="en-US" sz="1050" dirty="0">
                <a:solidFill>
                  <a:srgbClr val="62564B"/>
                </a:solidFill>
                <a:latin typeface="Arial" pitchFamily="34" charset="0"/>
                <a:ea typeface="Arial" pitchFamily="34" charset="-122"/>
                <a:cs typeface="Arial" pitchFamily="34" charset="-120"/>
              </a:rPr>
              <a:t>Exercise Book pp.65,77 • Shape Canvas rectangle, prism and right triangle • Formula sheet p.219</a:t>
            </a:r>
            <a:endParaRPr lang="en-US" sz="1050" dirty="0"/>
          </a:p>
        </p:txBody>
      </p:sp>
      <p:pic>
        <p:nvPicPr>
          <p:cNvPr id="8" name="Picture 7"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0" name="TextBox 9"/>
          <p:cNvSpPr txBox="1"/>
          <p:nvPr/>
        </p:nvSpPr>
        <p:spPr>
          <a:xfrm>
            <a:off x="612648" y="6620256"/>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4"/>
              </a:rPr>
              <a:t>Textbook</a:t>
            </a:r>
          </a:p>
        </p:txBody>
      </p:sp>
      <p:sp>
        <p:nvSpPr>
          <p:cNvPr id="11" name="TextBox 10"/>
          <p:cNvSpPr txBox="1"/>
          <p:nvPr/>
        </p:nvSpPr>
        <p:spPr>
          <a:xfrm>
            <a:off x="1691640" y="6620256"/>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5"/>
              </a:rPr>
              <a:t>Exercise Book</a:t>
            </a:r>
          </a:p>
        </p:txBody>
      </p:sp>
      <p:sp>
        <p:nvSpPr>
          <p:cNvPr id="12" name="TextBox 11"/>
          <p:cNvSpPr txBox="1"/>
          <p:nvPr/>
        </p:nvSpPr>
        <p:spPr>
          <a:xfrm>
            <a:off x="3136392" y="6620256"/>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6"/>
              </a:rPr>
              <a:t>Numeracy Hub</a:t>
            </a:r>
          </a:p>
        </p:txBody>
      </p:sp>
      <p:sp>
        <p:nvSpPr>
          <p:cNvPr id="13" name="TextBox 12"/>
          <p:cNvSpPr txBox="1"/>
          <p:nvPr/>
        </p:nvSpPr>
        <p:spPr>
          <a:xfrm>
            <a:off x="4736592" y="6620256"/>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7"/>
              </a:rPr>
              <a:t>Shape Canvas</a:t>
            </a:r>
          </a:p>
        </p:txBody>
      </p:sp>
      <p:sp>
        <p:nvSpPr>
          <p:cNvPr id="14" name="TextBox 13"/>
          <p:cNvSpPr txBox="1"/>
          <p:nvPr/>
        </p:nvSpPr>
        <p:spPr>
          <a:xfrm>
            <a:off x="8412480" y="6620256"/>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sz="850">
                <a:solidFill>
                  <a:srgbClr val="F7F4F1"/>
                </a:solidFill>
                <a:latin typeface="Arial"/>
              </a:rPr>
              <a:t>Day 25  •  2026-12-14  •  27</a:t>
            </a:r>
          </a:p>
        </p:txBody>
      </p:sp>
    </p:spTree>
    <p:extLst>
      <p:ext uri="{BB962C8B-B14F-4D97-AF65-F5344CB8AC3E}">
        <p14:creationId xmlns:p14="http://schemas.microsoft.com/office/powerpoint/2010/main" val="4000820979"/>
      </p:ext>
    </p:extLst>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1A1512"/>
        </a:solidFill>
        <a:effectLst/>
      </p:bgPr>
    </p:bg>
    <p:spTree>
      <p:nvGrpSpPr>
        <p:cNvPr id="1" name=""/>
        <p:cNvGrpSpPr/>
        <p:nvPr/>
      </p:nvGrpSpPr>
      <p:grpSpPr/>
      <p:sp>
        <p:nvSpPr>
          <p:cNvPr id="14" name="Rectangle 13"/>
          <p:cNvSpPr/>
          <p:nvPr/>
        </p:nvSpPr>
        <p:spPr>
          <a:xfrm>
            <a:off x="0" y="6528816"/>
            <a:ext cx="12191695" cy="329184"/>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0"/>
            <a:ext cx="12191695" cy="1645920"/>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104120" y="114300"/>
            <a:ext cx="1517904" cy="753153"/>
          </a:xfrm>
          <a:prstGeom prst="roundRect">
            <a:avLst>
              <a:gd name="adj" fmla="val 8000"/>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12064" y="1700784"/>
            <a:ext cx="11173968" cy="414223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spAutoFit/>
          </a:bodyPr>
          <a:lstStyle/>
          <a:p>
            <a:pPr>
              <a:spcBef>
                <a:spcPts val="0"/>
              </a:spcBef>
              <a:spcAft>
                <a:spcPts val="300"/>
              </a:spcAft>
              <a:defRPr sz="1150" b="1">
                <a:solidFill>
                  <a:srgbClr val="D2181F"/>
                </a:solidFill>
                <a:latin typeface="Arial"/>
              </a:defRPr>
            </a:pPr>
            <a:r>
              <a:rPr>
                <a:solidFill>
                  <a:srgbClr val="FFFFFF"/>
                </a:solidFill>
                <a:latin typeface="Arial"/>
              </a:rPr>
              <a:t>W08-L02  •  TEACH  •  10:40 AM–10:55 AM  •  15 MIN TOTAL</a:t>
            </a:r>
          </a:p>
        </p:txBody>
      </p:sp>
      <p:sp>
        <p:nvSpPr>
          <p:cNvPr id="3" name="TextBox 2"/>
          <p:cNvSpPr txBox="1"/>
          <p:nvPr/>
        </p:nvSpPr>
        <p:spPr>
          <a:xfrm>
            <a:off x="612648" y="932688"/>
            <a:ext cx="10927080" cy="749808"/>
          </a:xfrm>
          <a:prstGeom prst="rect">
            <a:avLst/>
          </a:prstGeom>
          <a:noFill/>
        </p:spPr>
        <p:txBody>
          <a:bodyPr wrap="square" lIns="0" rIns="0" tIns="0" bIns="0">
            <a:spAutoFit/>
          </a:bodyPr>
          <a:lstStyle/>
          <a:p>
            <a:pPr>
              <a:spcBef>
                <a:spcPts val="0"/>
              </a:spcBef>
              <a:spcAft>
                <a:spcPts val="300"/>
              </a:spcAft>
              <a:defRPr sz="2900" b="1">
                <a:solidFill>
                  <a:srgbClr val="1A1A1A"/>
                </a:solidFill>
                <a:latin typeface="Arial"/>
              </a:defRPr>
            </a:pPr>
            <a:r>
              <a:rPr b="1">
                <a:solidFill>
                  <a:srgbClr val="FFFFFF"/>
                </a:solidFill>
                <a:latin typeface="Arial"/>
              </a:rPr>
              <a:t>Textbook  |  page 172</a:t>
            </a:r>
          </a:p>
        </p:txBody>
      </p:sp>
      <p:sp>
        <p:nvSpPr>
          <p:cNvPr id="4" name="TextBox 3"/>
          <p:cNvSpPr txBox="1"/>
          <p:nvPr/>
        </p:nvSpPr>
        <p:spPr>
          <a:xfrm>
            <a:off x="612648" y="6327648"/>
            <a:ext cx="10881360" cy="219456"/>
          </a:xfrm>
          <a:prstGeom prst="rect">
            <a:avLst/>
          </a:prstGeom>
          <a:noFill/>
        </p:spPr>
        <p:txBody>
          <a:bodyPr wrap="square" lIns="0" rIns="0" tIns="0" bIns="0">
            <a:spAutoFit/>
          </a:bodyPr>
          <a:lstStyle/>
          <a:p>
            <a:pPr>
              <a:spcBef>
                <a:spcPts val="0"/>
              </a:spcBef>
              <a:spcAft>
                <a:spcPts val="300"/>
              </a:spcAft>
              <a:defRPr sz="1050" b="0">
                <a:solidFill>
                  <a:srgbClr val="4A4E54"/>
                </a:solidFill>
                <a:latin typeface="Arial"/>
              </a:defRPr>
            </a:pPr>
            <a:r>
              <a:rPr>
                <a:solidFill>
                  <a:srgbClr val="D9CEC5"/>
                </a:solidFill>
                <a:latin typeface="Arial"/>
              </a:rPr>
              <a:t>Textbook Chapter 9–13 pp.140–214, selected; formula sheet p.219</a:t>
            </a:r>
          </a:p>
        </p:txBody>
      </p:sp>
      <p:pic>
        <p:nvPicPr>
          <p:cNvPr id="5" name="Picture 4" descr="W08-L02-1.png"/>
          <p:cNvPicPr>
            <a:picLocks noChangeAspect="1"/>
          </p:cNvPicPr>
          <p:nvPr/>
        </p:nvPicPr>
        <p:blipFill>
          <a:blip r:embed="rId3"/>
          <a:stretch>
            <a:fillRect/>
          </a:stretch>
        </p:blipFill>
        <p:spPr>
          <a:xfrm>
            <a:off x="841339" y="1691640"/>
            <a:ext cx="10387400" cy="4069080"/>
          </a:xfrm>
          <a:prstGeom prst="rect">
            <a:avLst/>
          </a:prstGeom>
        </p:spPr>
      </p:pic>
      <p:sp>
        <p:nvSpPr>
          <p:cNvPr id="6" name="TextBox 5"/>
          <p:cNvSpPr txBox="1"/>
          <p:nvPr/>
        </p:nvSpPr>
        <p:spPr>
          <a:xfrm>
            <a:off x="685800" y="5852160"/>
            <a:ext cx="10698480" cy="393192"/>
          </a:xfrm>
          <a:prstGeom prst="rect">
            <a:avLst/>
          </a:prstGeom>
          <a:noFill/>
        </p:spPr>
        <p:txBody>
          <a:bodyPr wrap="square" lIns="0" rIns="0" tIns="0" bIns="0">
            <a:spAutoFit/>
          </a:bodyPr>
          <a:lstStyle/>
          <a:p>
            <a:pPr>
              <a:spcBef>
                <a:spcPts val="0"/>
              </a:spcBef>
              <a:spcAft>
                <a:spcPts val="300"/>
              </a:spcAft>
              <a:defRPr sz="1400" b="0">
                <a:solidFill>
                  <a:srgbClr val="4A4E54"/>
                </a:solidFill>
                <a:latin typeface="Arial"/>
              </a:defRPr>
            </a:pPr>
            <a:r>
              <a:rPr>
                <a:solidFill>
                  <a:srgbClr val="F7F4F1"/>
                </a:solidFill>
                <a:latin typeface="Arial"/>
              </a:rPr>
              <a:t>Figure 11.1: volume counts unit cubes in three directions.</a:t>
            </a:r>
          </a:p>
        </p:txBody>
      </p:sp>
      <p:pic>
        <p:nvPicPr>
          <p:cNvPr id="7" name="Picture 6" descr="access-logo.png"/>
          <p:cNvPicPr>
            <a:picLocks noChangeAspect="1"/>
          </p:cNvPicPr>
          <p:nvPr/>
        </p:nvPicPr>
        <p:blipFill>
          <a:blip r:embed="rId4"/>
          <a:stretch>
            <a:fillRect/>
          </a:stretch>
        </p:blipFill>
        <p:spPr>
          <a:xfrm>
            <a:off x="10177272" y="146304"/>
            <a:ext cx="1371600" cy="689145"/>
          </a:xfrm>
          <a:prstGeom prst="rect">
            <a:avLst/>
          </a:prstGeom>
        </p:spPr>
      </p:pic>
      <p:sp>
        <p:nvSpPr>
          <p:cNvPr id="9" name="TextBox 8"/>
          <p:cNvSpPr txBox="1"/>
          <p:nvPr/>
        </p:nvSpPr>
        <p:spPr>
          <a:xfrm>
            <a:off x="612648" y="6620256"/>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5"/>
              </a:rPr>
              <a:t>Textbook</a:t>
            </a:r>
          </a:p>
        </p:txBody>
      </p:sp>
      <p:sp>
        <p:nvSpPr>
          <p:cNvPr id="10" name="TextBox 9"/>
          <p:cNvSpPr txBox="1"/>
          <p:nvPr/>
        </p:nvSpPr>
        <p:spPr>
          <a:xfrm>
            <a:off x="1691640" y="6620256"/>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6"/>
              </a:rPr>
              <a:t>Exercise Book</a:t>
            </a:r>
          </a:p>
        </p:txBody>
      </p:sp>
      <p:sp>
        <p:nvSpPr>
          <p:cNvPr id="11" name="TextBox 10"/>
          <p:cNvSpPr txBox="1"/>
          <p:nvPr/>
        </p:nvSpPr>
        <p:spPr>
          <a:xfrm>
            <a:off x="3136392" y="6620256"/>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7"/>
              </a:rPr>
              <a:t>Numeracy Hub</a:t>
            </a:r>
          </a:p>
        </p:txBody>
      </p:sp>
      <p:sp>
        <p:nvSpPr>
          <p:cNvPr id="12" name="TextBox 11"/>
          <p:cNvSpPr txBox="1"/>
          <p:nvPr/>
        </p:nvSpPr>
        <p:spPr>
          <a:xfrm>
            <a:off x="4736592" y="6620256"/>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8"/>
              </a:rPr>
              <a:t>Shape Canvas</a:t>
            </a:r>
          </a:p>
        </p:txBody>
      </p:sp>
      <p:sp>
        <p:nvSpPr>
          <p:cNvPr id="13" name="TextBox 12"/>
          <p:cNvSpPr txBox="1"/>
          <p:nvPr/>
        </p:nvSpPr>
        <p:spPr>
          <a:xfrm>
            <a:off x="8412480" y="6620256"/>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sz="850">
                <a:solidFill>
                  <a:srgbClr val="F7F4F1"/>
                </a:solidFill>
                <a:latin typeface="Arial"/>
              </a:rPr>
              <a:t>Day 25  •  2026-12-14  •  28</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1A1512"/>
        </a:solidFill>
        <a:effectLst/>
      </p:bgPr>
    </p:bg>
    <p:spTree>
      <p:nvGrpSpPr>
        <p:cNvPr id="1" name=""/>
        <p:cNvGrpSpPr/>
        <p:nvPr/>
      </p:nvGrpSpPr>
      <p:grpSpPr/>
      <p:sp>
        <p:nvSpPr>
          <p:cNvPr id="14" name="Rectangle 13"/>
          <p:cNvSpPr/>
          <p:nvPr/>
        </p:nvSpPr>
        <p:spPr>
          <a:xfrm>
            <a:off x="0" y="6528816"/>
            <a:ext cx="12191695" cy="329184"/>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0"/>
            <a:ext cx="12191695" cy="1645920"/>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104120" y="114300"/>
            <a:ext cx="1517904" cy="753153"/>
          </a:xfrm>
          <a:prstGeom prst="roundRect">
            <a:avLst>
              <a:gd name="adj" fmla="val 8000"/>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12064" y="1700784"/>
            <a:ext cx="11173968" cy="414223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spAutoFit/>
          </a:bodyPr>
          <a:lstStyle/>
          <a:p>
            <a:pPr>
              <a:spcBef>
                <a:spcPts val="0"/>
              </a:spcBef>
              <a:spcAft>
                <a:spcPts val="300"/>
              </a:spcAft>
              <a:defRPr sz="1150" b="1">
                <a:solidFill>
                  <a:srgbClr val="D2181F"/>
                </a:solidFill>
                <a:latin typeface="Arial"/>
              </a:defRPr>
            </a:pPr>
            <a:r>
              <a:rPr>
                <a:solidFill>
                  <a:srgbClr val="FFFFFF"/>
                </a:solidFill>
                <a:latin typeface="Arial"/>
              </a:rPr>
              <a:t>W08-L02  •  TEACH  •  10:40 AM–10:55 AM  •  15 MIN TOTAL</a:t>
            </a:r>
          </a:p>
        </p:txBody>
      </p:sp>
      <p:sp>
        <p:nvSpPr>
          <p:cNvPr id="3" name="TextBox 2"/>
          <p:cNvSpPr txBox="1"/>
          <p:nvPr/>
        </p:nvSpPr>
        <p:spPr>
          <a:xfrm>
            <a:off x="612648" y="932688"/>
            <a:ext cx="10927080" cy="749808"/>
          </a:xfrm>
          <a:prstGeom prst="rect">
            <a:avLst/>
          </a:prstGeom>
          <a:noFill/>
        </p:spPr>
        <p:txBody>
          <a:bodyPr wrap="square" lIns="0" rIns="0" tIns="0" bIns="0">
            <a:spAutoFit/>
          </a:bodyPr>
          <a:lstStyle/>
          <a:p>
            <a:pPr>
              <a:spcBef>
                <a:spcPts val="0"/>
              </a:spcBef>
              <a:spcAft>
                <a:spcPts val="300"/>
              </a:spcAft>
              <a:defRPr sz="2900" b="1">
                <a:solidFill>
                  <a:srgbClr val="1A1A1A"/>
                </a:solidFill>
                <a:latin typeface="Arial"/>
              </a:defRPr>
            </a:pPr>
            <a:r>
              <a:rPr b="1">
                <a:solidFill>
                  <a:srgbClr val="FFFFFF"/>
                </a:solidFill>
                <a:latin typeface="Arial"/>
              </a:rPr>
              <a:t>Textbook  |  page 172</a:t>
            </a:r>
          </a:p>
        </p:txBody>
      </p:sp>
      <p:sp>
        <p:nvSpPr>
          <p:cNvPr id="4" name="TextBox 3"/>
          <p:cNvSpPr txBox="1"/>
          <p:nvPr/>
        </p:nvSpPr>
        <p:spPr>
          <a:xfrm>
            <a:off x="612648" y="6327648"/>
            <a:ext cx="10881360" cy="219456"/>
          </a:xfrm>
          <a:prstGeom prst="rect">
            <a:avLst/>
          </a:prstGeom>
          <a:noFill/>
        </p:spPr>
        <p:txBody>
          <a:bodyPr wrap="square" lIns="0" rIns="0" tIns="0" bIns="0">
            <a:spAutoFit/>
          </a:bodyPr>
          <a:lstStyle/>
          <a:p>
            <a:pPr>
              <a:spcBef>
                <a:spcPts val="0"/>
              </a:spcBef>
              <a:spcAft>
                <a:spcPts val="300"/>
              </a:spcAft>
              <a:defRPr sz="1050" b="0">
                <a:solidFill>
                  <a:srgbClr val="4A4E54"/>
                </a:solidFill>
                <a:latin typeface="Arial"/>
              </a:defRPr>
            </a:pPr>
            <a:r>
              <a:rPr>
                <a:solidFill>
                  <a:srgbClr val="D9CEC5"/>
                </a:solidFill>
                <a:latin typeface="Arial"/>
              </a:rPr>
              <a:t>Textbook Chapter 9–13 pp.140–214, selected; formula sheet p.219</a:t>
            </a:r>
          </a:p>
        </p:txBody>
      </p:sp>
      <p:pic>
        <p:nvPicPr>
          <p:cNvPr id="5" name="Picture 4" descr="W08-L02-2.png"/>
          <p:cNvPicPr>
            <a:picLocks noChangeAspect="1"/>
          </p:cNvPicPr>
          <p:nvPr/>
        </p:nvPicPr>
        <p:blipFill>
          <a:blip r:embed="rId3"/>
          <a:stretch>
            <a:fillRect/>
          </a:stretch>
        </p:blipFill>
        <p:spPr>
          <a:xfrm>
            <a:off x="685800" y="2542158"/>
            <a:ext cx="10698480" cy="2368043"/>
          </a:xfrm>
          <a:prstGeom prst="rect">
            <a:avLst/>
          </a:prstGeom>
        </p:spPr>
      </p:pic>
      <p:sp>
        <p:nvSpPr>
          <p:cNvPr id="6" name="TextBox 5"/>
          <p:cNvSpPr txBox="1"/>
          <p:nvPr/>
        </p:nvSpPr>
        <p:spPr>
          <a:xfrm>
            <a:off x="685800" y="5852160"/>
            <a:ext cx="10698480" cy="393192"/>
          </a:xfrm>
          <a:prstGeom prst="rect">
            <a:avLst/>
          </a:prstGeom>
          <a:noFill/>
        </p:spPr>
        <p:txBody>
          <a:bodyPr wrap="square" lIns="0" rIns="0" tIns="0" bIns="0">
            <a:spAutoFit/>
          </a:bodyPr>
          <a:lstStyle/>
          <a:p>
            <a:pPr>
              <a:spcBef>
                <a:spcPts val="0"/>
              </a:spcBef>
              <a:spcAft>
                <a:spcPts val="300"/>
              </a:spcAft>
              <a:defRPr sz="1400" b="0">
                <a:solidFill>
                  <a:srgbClr val="4A4E54"/>
                </a:solidFill>
                <a:latin typeface="Arial"/>
              </a:defRPr>
            </a:pPr>
            <a:r>
              <a:rPr>
                <a:solidFill>
                  <a:srgbClr val="F7F4F1"/>
                </a:solidFill>
                <a:latin typeface="Arial"/>
              </a:rPr>
              <a:t>Cubic conversions use the length factor three times.</a:t>
            </a:r>
          </a:p>
        </p:txBody>
      </p:sp>
      <p:pic>
        <p:nvPicPr>
          <p:cNvPr id="7" name="Picture 6" descr="access-logo.png"/>
          <p:cNvPicPr>
            <a:picLocks noChangeAspect="1"/>
          </p:cNvPicPr>
          <p:nvPr/>
        </p:nvPicPr>
        <p:blipFill>
          <a:blip r:embed="rId4"/>
          <a:stretch>
            <a:fillRect/>
          </a:stretch>
        </p:blipFill>
        <p:spPr>
          <a:xfrm>
            <a:off x="10177272" y="146304"/>
            <a:ext cx="1371600" cy="689145"/>
          </a:xfrm>
          <a:prstGeom prst="rect">
            <a:avLst/>
          </a:prstGeom>
        </p:spPr>
      </p:pic>
      <p:sp>
        <p:nvSpPr>
          <p:cNvPr id="9" name="TextBox 8"/>
          <p:cNvSpPr txBox="1"/>
          <p:nvPr/>
        </p:nvSpPr>
        <p:spPr>
          <a:xfrm>
            <a:off x="612648" y="6620256"/>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5"/>
              </a:rPr>
              <a:t>Textbook</a:t>
            </a:r>
          </a:p>
        </p:txBody>
      </p:sp>
      <p:sp>
        <p:nvSpPr>
          <p:cNvPr id="10" name="TextBox 9"/>
          <p:cNvSpPr txBox="1"/>
          <p:nvPr/>
        </p:nvSpPr>
        <p:spPr>
          <a:xfrm>
            <a:off x="1691640" y="6620256"/>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6"/>
              </a:rPr>
              <a:t>Exercise Book</a:t>
            </a:r>
          </a:p>
        </p:txBody>
      </p:sp>
      <p:sp>
        <p:nvSpPr>
          <p:cNvPr id="11" name="TextBox 10"/>
          <p:cNvSpPr txBox="1"/>
          <p:nvPr/>
        </p:nvSpPr>
        <p:spPr>
          <a:xfrm>
            <a:off x="3136392" y="6620256"/>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7"/>
              </a:rPr>
              <a:t>Numeracy Hub</a:t>
            </a:r>
          </a:p>
        </p:txBody>
      </p:sp>
      <p:sp>
        <p:nvSpPr>
          <p:cNvPr id="12" name="TextBox 11"/>
          <p:cNvSpPr txBox="1"/>
          <p:nvPr/>
        </p:nvSpPr>
        <p:spPr>
          <a:xfrm>
            <a:off x="4736592" y="6620256"/>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8"/>
              </a:rPr>
              <a:t>Shape Canvas</a:t>
            </a:r>
          </a:p>
        </p:txBody>
      </p:sp>
      <p:sp>
        <p:nvSpPr>
          <p:cNvPr id="13" name="TextBox 12"/>
          <p:cNvSpPr txBox="1"/>
          <p:nvPr/>
        </p:nvSpPr>
        <p:spPr>
          <a:xfrm>
            <a:off x="8412480" y="6620256"/>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sz="850">
                <a:solidFill>
                  <a:srgbClr val="F7F4F1"/>
                </a:solidFill>
                <a:latin typeface="Arial"/>
              </a:rPr>
              <a:t>Day 25  •  2026-12-14  •  29</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5A1018"/>
        </a:solidFill>
        <a:effectLst/>
      </p:bgPr>
    </p:bg>
    <p:spTree>
      <p:nvGrpSpPr>
        <p:cNvPr id="1" name=""/>
        <p:cNvGrpSpPr/>
        <p:nvPr/>
      </p:nvGrpSpPr>
      <p:grpSpPr/>
      <p:sp>
        <p:nvSpPr>
          <p:cNvPr id="15" name="Rectangle 14"/>
          <p:cNvSpPr/>
          <p:nvPr/>
        </p:nvSpPr>
        <p:spPr>
          <a:xfrm>
            <a:off x="0" y="6528816"/>
            <a:ext cx="12191695" cy="329184"/>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0" y="0"/>
            <a:ext cx="12191695" cy="1645920"/>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10104120" y="114300"/>
            <a:ext cx="1517904" cy="753153"/>
          </a:xfrm>
          <a:prstGeom prst="roundRect">
            <a:avLst>
              <a:gd name="adj" fmla="val 8000"/>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493776" y="4453128"/>
            <a:ext cx="11192256" cy="1481328"/>
          </a:xfrm>
          <a:prstGeom prst="roundRect">
            <a:avLst>
              <a:gd name="adj" fmla="val 8000"/>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spAutoFit/>
          </a:bodyPr>
          <a:lstStyle/>
          <a:p>
            <a:pPr>
              <a:spcBef>
                <a:spcPts val="0"/>
              </a:spcBef>
              <a:spcAft>
                <a:spcPts val="300"/>
              </a:spcAft>
              <a:defRPr sz="1150" b="1">
                <a:solidFill>
                  <a:srgbClr val="D2181F"/>
                </a:solidFill>
                <a:latin typeface="Arial"/>
              </a:defRPr>
            </a:pPr>
            <a:r>
              <a:rPr>
                <a:solidFill>
                  <a:srgbClr val="FFFFFF"/>
                </a:solidFill>
                <a:latin typeface="Arial"/>
              </a:rPr>
              <a:t>W08-L02  •  TEACH  •  10:40 AM–10:55 AM  •  15 MIN TOTAL</a:t>
            </a:r>
          </a:p>
        </p:txBody>
      </p:sp>
      <p:sp>
        <p:nvSpPr>
          <p:cNvPr id="3" name="TextBox 2"/>
          <p:cNvSpPr txBox="1"/>
          <p:nvPr/>
        </p:nvSpPr>
        <p:spPr>
          <a:xfrm>
            <a:off x="612648" y="932688"/>
            <a:ext cx="10927080" cy="749808"/>
          </a:xfrm>
          <a:prstGeom prst="rect">
            <a:avLst/>
          </a:prstGeom>
          <a:noFill/>
        </p:spPr>
        <p:txBody>
          <a:bodyPr wrap="square" lIns="0" rIns="0" tIns="0" bIns="0">
            <a:spAutoFit/>
          </a:bodyPr>
          <a:lstStyle/>
          <a:p>
            <a:pPr>
              <a:spcBef>
                <a:spcPts val="0"/>
              </a:spcBef>
              <a:spcAft>
                <a:spcPts val="300"/>
              </a:spcAft>
              <a:defRPr sz="2900" b="1">
                <a:solidFill>
                  <a:srgbClr val="1A1A1A"/>
                </a:solidFill>
                <a:latin typeface="Arial"/>
              </a:defRPr>
            </a:pPr>
            <a:r>
              <a:rPr b="1">
                <a:solidFill>
                  <a:srgbClr val="FFFFFF"/>
                </a:solidFill>
                <a:latin typeface="Arial"/>
              </a:rPr>
              <a:t>Spot the mistake. Explain the correction.</a:t>
            </a:r>
          </a:p>
        </p:txBody>
      </p:sp>
      <p:sp>
        <p:nvSpPr>
          <p:cNvPr id="4" name="TextBox 3"/>
          <p:cNvSpPr txBox="1"/>
          <p:nvPr/>
        </p:nvSpPr>
        <p:spPr>
          <a:xfrm>
            <a:off x="612648" y="6327648"/>
            <a:ext cx="10881360" cy="219456"/>
          </a:xfrm>
          <a:prstGeom prst="rect">
            <a:avLst/>
          </a:prstGeom>
          <a:noFill/>
        </p:spPr>
        <p:txBody>
          <a:bodyPr wrap="square" lIns="0" rIns="0" tIns="0" bIns="0">
            <a:spAutoFit/>
          </a:bodyPr>
          <a:lstStyle/>
          <a:p>
            <a:pPr>
              <a:spcBef>
                <a:spcPts val="0"/>
              </a:spcBef>
              <a:spcAft>
                <a:spcPts val="300"/>
              </a:spcAft>
              <a:defRPr sz="1050" b="0">
                <a:solidFill>
                  <a:srgbClr val="4A4E54"/>
                </a:solidFill>
                <a:latin typeface="Arial"/>
              </a:defRPr>
            </a:pPr>
            <a:r>
              <a:rPr>
                <a:solidFill>
                  <a:srgbClr val="D9CEC5"/>
                </a:solidFill>
                <a:latin typeface="Arial"/>
              </a:rPr>
              <a:t>Textbook Chapter 9–13 pp.140–214, selected; formula sheet p.219</a:t>
            </a:r>
          </a:p>
        </p:txBody>
      </p:sp>
      <p:sp>
        <p:nvSpPr>
          <p:cNvPr id="5" name="TextBox 4"/>
          <p:cNvSpPr txBox="1"/>
          <p:nvPr/>
        </p:nvSpPr>
        <p:spPr>
          <a:xfrm>
            <a:off x="612648" y="1847088"/>
            <a:ext cx="10927080" cy="1554480"/>
          </a:xfrm>
          <a:prstGeom prst="rect">
            <a:avLst/>
          </a:prstGeom>
          <a:noFill/>
        </p:spPr>
        <p:txBody>
          <a:bodyPr wrap="square" lIns="0" rIns="0" tIns="0" bIns="0">
            <a:spAutoFit/>
          </a:bodyPr>
          <a:lstStyle/>
          <a:p>
            <a:pPr>
              <a:spcBef>
                <a:spcPts val="0"/>
              </a:spcBef>
              <a:spcAft>
                <a:spcPts val="300"/>
              </a:spcAft>
              <a:defRPr sz="2600" b="1">
                <a:solidFill>
                  <a:srgbClr val="1A1A1A"/>
                </a:solidFill>
                <a:latin typeface="Arial"/>
              </a:defRPr>
            </a:pPr>
            <a:r>
              <a:rPr>
                <a:solidFill>
                  <a:srgbClr val="FFFFFF"/>
                </a:solidFill>
                <a:latin typeface="Arial"/>
              </a:rPr>
              <a:t>A surface-coverage calculation is labelled mm³. What does that unit suggest, and what should you recheck?</a:t>
            </a:r>
          </a:p>
        </p:txBody>
      </p:sp>
      <p:sp>
        <p:nvSpPr>
          <p:cNvPr id="6" name="TextBox 5"/>
          <p:cNvSpPr txBox="1"/>
          <p:nvPr/>
        </p:nvSpPr>
        <p:spPr>
          <a:xfrm>
            <a:off x="612648" y="3703320"/>
            <a:ext cx="10927080" cy="411480"/>
          </a:xfrm>
          <a:prstGeom prst="rect">
            <a:avLst/>
          </a:prstGeom>
          <a:noFill/>
        </p:spPr>
        <p:txBody>
          <a:bodyPr wrap="square" lIns="0" rIns="0" tIns="0" bIns="0">
            <a:spAutoFit/>
          </a:bodyPr>
          <a:lstStyle/>
          <a:p>
            <a:pPr>
              <a:spcBef>
                <a:spcPts val="0"/>
              </a:spcBef>
              <a:spcAft>
                <a:spcPts val="300"/>
              </a:spcAft>
              <a:defRPr sz="2000" b="0">
                <a:solidFill>
                  <a:srgbClr val="D2181F"/>
                </a:solidFill>
                <a:latin typeface="Arial"/>
              </a:defRPr>
            </a:pPr>
            <a:r>
              <a:rPr>
                <a:solidFill>
                  <a:srgbClr val="FFFFFF"/>
                </a:solidFill>
                <a:latin typeface="Arial"/>
              </a:rPr>
              <a:t>Discuss the method before checking the answer.</a:t>
            </a:r>
          </a:p>
        </p:txBody>
      </p:sp>
      <p:sp>
        <p:nvSpPr>
          <p:cNvPr id="7" name="TextBox 6"/>
          <p:cNvSpPr txBox="1"/>
          <p:nvPr/>
        </p:nvSpPr>
        <p:spPr>
          <a:xfrm>
            <a:off x="612648" y="4617720"/>
            <a:ext cx="10927080" cy="1188720"/>
          </a:xfrm>
          <a:prstGeom prst="rect">
            <a:avLst/>
          </a:prstGeom>
          <a:noFill/>
        </p:spPr>
        <p:txBody>
          <a:bodyPr wrap="square" lIns="0" rIns="0" tIns="0" bIns="0">
            <a:spAutoFit/>
          </a:bodyPr>
          <a:lstStyle/>
          <a:p>
            <a:pPr>
              <a:spcBef>
                <a:spcPts val="0"/>
              </a:spcBef>
              <a:spcAft>
                <a:spcPts val="300"/>
              </a:spcAft>
              <a:defRPr sz="2200" b="0">
                <a:solidFill>
                  <a:srgbClr val="4A4E54"/>
                </a:solidFill>
                <a:latin typeface="Arial"/>
              </a:defRPr>
            </a:pPr>
            <a:r>
              <a:rPr b="1">
                <a:solidFill>
                  <a:srgbClr val="201C19"/>
                </a:solidFill>
                <a:latin typeface="Arial"/>
              </a:rPr>
              <a:t>Cubic units describe volume. Recheck the requested quantity and formula: surface coverage needs an area calculation and square units; a correct-looking number with the wrong unit is not a complete result.</a:t>
            </a:r>
          </a:p>
        </p:txBody>
      </p:sp>
      <p:pic>
        <p:nvPicPr>
          <p:cNvPr id="8" name="Picture 7"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0" name="TextBox 9"/>
          <p:cNvSpPr txBox="1"/>
          <p:nvPr/>
        </p:nvSpPr>
        <p:spPr>
          <a:xfrm>
            <a:off x="612648" y="6620256"/>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4"/>
              </a:rPr>
              <a:t>Textbook</a:t>
            </a:r>
          </a:p>
        </p:txBody>
      </p:sp>
      <p:sp>
        <p:nvSpPr>
          <p:cNvPr id="11" name="TextBox 10"/>
          <p:cNvSpPr txBox="1"/>
          <p:nvPr/>
        </p:nvSpPr>
        <p:spPr>
          <a:xfrm>
            <a:off x="1691640" y="6620256"/>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5"/>
              </a:rPr>
              <a:t>Exercise Book</a:t>
            </a:r>
          </a:p>
        </p:txBody>
      </p:sp>
      <p:sp>
        <p:nvSpPr>
          <p:cNvPr id="12" name="TextBox 11"/>
          <p:cNvSpPr txBox="1"/>
          <p:nvPr/>
        </p:nvSpPr>
        <p:spPr>
          <a:xfrm>
            <a:off x="3136392" y="6620256"/>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6"/>
              </a:rPr>
              <a:t>Numeracy Hub</a:t>
            </a:r>
          </a:p>
        </p:txBody>
      </p:sp>
      <p:sp>
        <p:nvSpPr>
          <p:cNvPr id="13" name="TextBox 12"/>
          <p:cNvSpPr txBox="1"/>
          <p:nvPr/>
        </p:nvSpPr>
        <p:spPr>
          <a:xfrm>
            <a:off x="4736592" y="6620256"/>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7"/>
              </a:rPr>
              <a:t>Shape Canvas</a:t>
            </a:r>
          </a:p>
        </p:txBody>
      </p:sp>
      <p:sp>
        <p:nvSpPr>
          <p:cNvPr id="14" name="TextBox 13"/>
          <p:cNvSpPr txBox="1"/>
          <p:nvPr/>
        </p:nvSpPr>
        <p:spPr>
          <a:xfrm>
            <a:off x="8412480" y="6620256"/>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sz="850">
                <a:solidFill>
                  <a:srgbClr val="F7F4F1"/>
                </a:solidFill>
                <a:latin typeface="Arial"/>
              </a:rPr>
              <a:t>Day 25  •  2026-12-14  •  30</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7F4F1"/>
        </a:solidFill>
        <a:effectLst/>
      </p:bgPr>
    </p:bg>
    <p:spTree>
      <p:nvGrpSpPr>
        <p:cNvPr id="1" name=""/>
        <p:cNvGrpSpPr/>
        <p:nvPr/>
      </p:nvGrpSpPr>
      <p:grpSpPr/>
      <p:sp>
        <p:nvSpPr>
          <p:cNvPr id="16" name="Rectangle 15"/>
          <p:cNvSpPr/>
          <p:nvPr/>
        </p:nvSpPr>
        <p:spPr>
          <a:xfrm>
            <a:off x="0" y="6528816"/>
            <a:ext cx="12191695" cy="329184"/>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0" y="0"/>
            <a:ext cx="12191695" cy="1645920"/>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10104120" y="114300"/>
            <a:ext cx="1517904" cy="753153"/>
          </a:xfrm>
          <a:prstGeom prst="roundRect">
            <a:avLst>
              <a:gd name="adj" fmla="val 8000"/>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493776" y="1773936"/>
            <a:ext cx="11192256" cy="2240280"/>
          </a:xfrm>
          <a:prstGeom prst="roundRect">
            <a:avLst>
              <a:gd name="adj" fmla="val 8000"/>
            </a:avLst>
          </a:prstGeom>
          <a:solidFill>
            <a:srgbClr val="5A10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spAutoFit/>
          </a:bodyPr>
          <a:lstStyle/>
          <a:p>
            <a:pPr>
              <a:spcBef>
                <a:spcPts val="0"/>
              </a:spcBef>
              <a:spcAft>
                <a:spcPts val="300"/>
              </a:spcAft>
              <a:defRPr sz="1150" b="1">
                <a:solidFill>
                  <a:srgbClr val="D2181F"/>
                </a:solidFill>
                <a:latin typeface="Arial"/>
              </a:defRPr>
            </a:pPr>
            <a:r>
              <a:rPr>
                <a:solidFill>
                  <a:srgbClr val="FFFFFF"/>
                </a:solidFill>
                <a:latin typeface="Arial"/>
              </a:rPr>
              <a:t>W08-L02  •  TOGETHER  •  10:55 AM–11:10 AM  •  15 MIN TOTAL</a:t>
            </a:r>
          </a:p>
        </p:txBody>
      </p:sp>
      <p:sp>
        <p:nvSpPr>
          <p:cNvPr id="3" name="TextBox 2"/>
          <p:cNvSpPr txBox="1"/>
          <p:nvPr/>
        </p:nvSpPr>
        <p:spPr>
          <a:xfrm>
            <a:off x="612648" y="932688"/>
            <a:ext cx="10927080" cy="749808"/>
          </a:xfrm>
          <a:prstGeom prst="rect">
            <a:avLst/>
          </a:prstGeom>
          <a:noFill/>
        </p:spPr>
        <p:txBody>
          <a:bodyPr wrap="square" lIns="0" rIns="0" tIns="0" bIns="0">
            <a:spAutoFit/>
          </a:bodyPr>
          <a:lstStyle/>
          <a:p>
            <a:pPr>
              <a:spcBef>
                <a:spcPts val="0"/>
              </a:spcBef>
              <a:spcAft>
                <a:spcPts val="300"/>
              </a:spcAft>
              <a:defRPr sz="2900" b="1">
                <a:solidFill>
                  <a:srgbClr val="1A1A1A"/>
                </a:solidFill>
                <a:latin typeface="Arial"/>
              </a:defRPr>
            </a:pPr>
            <a:r>
              <a:rPr b="1">
                <a:solidFill>
                  <a:srgbClr val="FFFFFF"/>
                </a:solidFill>
                <a:latin typeface="Arial"/>
              </a:rPr>
              <a:t>Work together</a:t>
            </a:r>
          </a:p>
        </p:txBody>
      </p:sp>
      <p:sp>
        <p:nvSpPr>
          <p:cNvPr id="4" name="TextBox 3"/>
          <p:cNvSpPr txBox="1"/>
          <p:nvPr/>
        </p:nvSpPr>
        <p:spPr>
          <a:xfrm>
            <a:off x="612648" y="6327648"/>
            <a:ext cx="10881360" cy="219456"/>
          </a:xfrm>
          <a:prstGeom prst="rect">
            <a:avLst/>
          </a:prstGeom>
          <a:noFill/>
        </p:spPr>
        <p:txBody>
          <a:bodyPr wrap="square" lIns="0" rIns="0" tIns="0" bIns="0">
            <a:spAutoFit/>
          </a:bodyPr>
          <a:lstStyle/>
          <a:p>
            <a:pPr>
              <a:spcBef>
                <a:spcPts val="0"/>
              </a:spcBef>
              <a:spcAft>
                <a:spcPts val="300"/>
              </a:spcAft>
              <a:defRPr sz="1050" b="0">
                <a:solidFill>
                  <a:srgbClr val="4A4E54"/>
                </a:solidFill>
                <a:latin typeface="Arial"/>
              </a:defRPr>
            </a:pPr>
            <a:r>
              <a:rPr>
                <a:solidFill>
                  <a:srgbClr val="62564B"/>
                </a:solidFill>
                <a:latin typeface="Arial"/>
              </a:rPr>
              <a:t>Textbook Chapter 9–13 pp.140–214, selected; formula sheet p.219</a:t>
            </a:r>
          </a:p>
        </p:txBody>
      </p:sp>
      <p:sp>
        <p:nvSpPr>
          <p:cNvPr id="5" name="TextBox 4"/>
          <p:cNvSpPr txBox="1"/>
          <p:nvPr/>
        </p:nvSpPr>
        <p:spPr>
          <a:xfrm>
            <a:off x="612648" y="1874519"/>
            <a:ext cx="10927080" cy="2103120"/>
          </a:xfrm>
          <a:prstGeom prst="rect">
            <a:avLst/>
          </a:prstGeom>
          <a:noFill/>
        </p:spPr>
        <p:txBody>
          <a:bodyPr wrap="square" lIns="0" rIns="0" tIns="0" bIns="0">
            <a:spAutoFit/>
          </a:bodyPr>
          <a:lstStyle/>
          <a:p>
            <a:pPr>
              <a:spcBef>
                <a:spcPts val="0"/>
              </a:spcBef>
              <a:spcAft>
                <a:spcPts val="300"/>
              </a:spcAft>
              <a:defRPr sz="2400" b="0">
                <a:solidFill>
                  <a:srgbClr val="1A1A1A"/>
                </a:solidFill>
                <a:latin typeface="Arial"/>
              </a:defRPr>
            </a:pPr>
            <a:r>
              <a:rPr>
                <a:solidFill>
                  <a:srgbClr val="FFFFFF"/>
                </a:solidFill>
                <a:latin typeface="Arial"/>
              </a:rPr>
              <a:t>Work Exercise Book 10B Q1 and 12B Q3 in pairs. Annotate all dimensions and explicitly include stated kerf.</a:t>
            </a:r>
          </a:p>
        </p:txBody>
      </p:sp>
      <p:sp>
        <p:nvSpPr>
          <p:cNvPr id="6" name="Rectangle 5"/>
          <p:cNvSpPr/>
          <p:nvPr/>
        </p:nvSpPr>
        <p:spPr>
          <a:xfrm>
            <a:off x="612648" y="4251960"/>
            <a:ext cx="10927080" cy="1280160"/>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A1A1A"/>
                </a:solidFill>
                <a:latin typeface="Arial"/>
              </a:defRPr>
            </a:pPr>
          </a:p>
        </p:txBody>
      </p:sp>
      <p:sp>
        <p:nvSpPr>
          <p:cNvPr id="7" name="TextBox 6"/>
          <p:cNvSpPr txBox="1"/>
          <p:nvPr/>
        </p:nvSpPr>
        <p:spPr>
          <a:xfrm>
            <a:off x="859536" y="4462272"/>
            <a:ext cx="10424160" cy="822960"/>
          </a:xfrm>
          <a:prstGeom prst="rect">
            <a:avLst/>
          </a:prstGeom>
          <a:noFill/>
        </p:spPr>
        <p:txBody>
          <a:bodyPr wrap="square" lIns="0" rIns="0" tIns="0" bIns="0">
            <a:spAutoFit/>
          </a:bodyPr>
          <a:lstStyle/>
          <a:p>
            <a:pPr>
              <a:spcBef>
                <a:spcPts val="0"/>
              </a:spcBef>
              <a:spcAft>
                <a:spcPts val="300"/>
              </a:spcAft>
              <a:defRPr sz="2100" b="1">
                <a:solidFill>
                  <a:srgbClr val="1A1A1A"/>
                </a:solidFill>
                <a:latin typeface="Arial"/>
              </a:defRPr>
            </a:pPr>
            <a:r>
              <a:rPr b="1">
                <a:solidFill>
                  <a:srgbClr val="201C19"/>
                </a:solidFill>
                <a:latin typeface="Arial"/>
              </a:rPr>
              <a:t>Explain the method and check directions; work with a partner only where permitted.</a:t>
            </a:r>
          </a:p>
        </p:txBody>
      </p:sp>
      <p:sp>
        <p:nvSpPr>
          <p:cNvPr id="8" name="TextBox 7"/>
          <p:cNvSpPr txBox="1"/>
          <p:nvPr/>
        </p:nvSpPr>
        <p:spPr>
          <a:xfrm>
            <a:off x="612648" y="5788152"/>
            <a:ext cx="10927080" cy="411480"/>
          </a:xfrm>
          <a:prstGeom prst="rect">
            <a:avLst/>
          </a:prstGeom>
          <a:noFill/>
        </p:spPr>
        <p:txBody>
          <a:bodyPr wrap="square" lIns="0" rIns="0" tIns="0" bIns="0">
            <a:spAutoFit/>
          </a:bodyPr>
          <a:lstStyle/>
          <a:p>
            <a:pPr>
              <a:spcBef>
                <a:spcPts val="0"/>
              </a:spcBef>
              <a:spcAft>
                <a:spcPts val="300"/>
              </a:spcAft>
              <a:defRPr sz="1250" b="0">
                <a:solidFill>
                  <a:srgbClr val="4A4E54"/>
                </a:solidFill>
                <a:latin typeface="Arial"/>
              </a:defRPr>
            </a:pPr>
            <a:r>
              <a:rPr>
                <a:solidFill>
                  <a:srgbClr val="62564B"/>
                </a:solidFill>
                <a:latin typeface="Arial"/>
              </a:rPr>
              <a:t>Resources: Exercise Book 9A Q1,8 p.57; 10B Q1,11 pp.65–66; 11A Q7,19 pp.69–70; 12B Q3 p.77; 13A Q6,14 p.82.</a:t>
            </a:r>
          </a:p>
        </p:txBody>
      </p:sp>
      <p:pic>
        <p:nvPicPr>
          <p:cNvPr id="9" name="Picture 8"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1" name="TextBox 10"/>
          <p:cNvSpPr txBox="1"/>
          <p:nvPr/>
        </p:nvSpPr>
        <p:spPr>
          <a:xfrm>
            <a:off x="612648" y="6620256"/>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4"/>
              </a:rPr>
              <a:t>Textbook</a:t>
            </a:r>
          </a:p>
        </p:txBody>
      </p:sp>
      <p:sp>
        <p:nvSpPr>
          <p:cNvPr id="12" name="TextBox 11"/>
          <p:cNvSpPr txBox="1"/>
          <p:nvPr/>
        </p:nvSpPr>
        <p:spPr>
          <a:xfrm>
            <a:off x="1691640" y="6620256"/>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5"/>
              </a:rPr>
              <a:t>Exercise Book</a:t>
            </a:r>
          </a:p>
        </p:txBody>
      </p:sp>
      <p:sp>
        <p:nvSpPr>
          <p:cNvPr id="13" name="TextBox 12"/>
          <p:cNvSpPr txBox="1"/>
          <p:nvPr/>
        </p:nvSpPr>
        <p:spPr>
          <a:xfrm>
            <a:off x="3136392" y="6620256"/>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6"/>
              </a:rPr>
              <a:t>Numeracy Hub</a:t>
            </a:r>
          </a:p>
        </p:txBody>
      </p:sp>
      <p:sp>
        <p:nvSpPr>
          <p:cNvPr id="14" name="TextBox 13"/>
          <p:cNvSpPr txBox="1"/>
          <p:nvPr/>
        </p:nvSpPr>
        <p:spPr>
          <a:xfrm>
            <a:off x="4736592" y="6620256"/>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7"/>
              </a:rPr>
              <a:t>Shape Canvas</a:t>
            </a:r>
          </a:p>
        </p:txBody>
      </p:sp>
      <p:sp>
        <p:nvSpPr>
          <p:cNvPr id="15" name="TextBox 14"/>
          <p:cNvSpPr txBox="1"/>
          <p:nvPr/>
        </p:nvSpPr>
        <p:spPr>
          <a:xfrm>
            <a:off x="8412480" y="6620256"/>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sz="850">
                <a:solidFill>
                  <a:srgbClr val="F7F4F1"/>
                </a:solidFill>
                <a:latin typeface="Arial"/>
              </a:rPr>
              <a:t>Day 25  •  2026-12-14  •  31</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1A1512"/>
        </a:solidFill>
        <a:effectLst/>
      </p:bgPr>
    </p:bg>
    <p:spTree>
      <p:nvGrpSpPr>
        <p:cNvPr id="1" name=""/>
        <p:cNvGrpSpPr/>
        <p:nvPr/>
      </p:nvGrpSpPr>
      <p:grpSpPr/>
      <p:sp>
        <p:nvSpPr>
          <p:cNvPr id="14" name="Rectangle 13"/>
          <p:cNvSpPr/>
          <p:nvPr/>
        </p:nvSpPr>
        <p:spPr>
          <a:xfrm>
            <a:off x="0" y="6528816"/>
            <a:ext cx="12191695" cy="329184"/>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0"/>
            <a:ext cx="12191695" cy="1645920"/>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104120" y="114300"/>
            <a:ext cx="1517904" cy="753153"/>
          </a:xfrm>
          <a:prstGeom prst="roundRect">
            <a:avLst>
              <a:gd name="adj" fmla="val 8000"/>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12064" y="1773936"/>
            <a:ext cx="11173968" cy="377647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spAutoFit/>
          </a:bodyPr>
          <a:lstStyle/>
          <a:p>
            <a:pPr>
              <a:spcBef>
                <a:spcPts val="0"/>
              </a:spcBef>
              <a:spcAft>
                <a:spcPts val="300"/>
              </a:spcAft>
              <a:defRPr sz="1150" b="1">
                <a:solidFill>
                  <a:srgbClr val="D2181F"/>
                </a:solidFill>
                <a:latin typeface="Arial"/>
              </a:defRPr>
            </a:pPr>
            <a:r>
              <a:rPr>
                <a:solidFill>
                  <a:srgbClr val="FFFFFF"/>
                </a:solidFill>
                <a:latin typeface="Arial"/>
              </a:rPr>
              <a:t>W08-L02  •  TOGETHER  •  10:55 AM–11:10 AM  •  15 MIN TOTAL</a:t>
            </a:r>
          </a:p>
        </p:txBody>
      </p:sp>
      <p:sp>
        <p:nvSpPr>
          <p:cNvPr id="3" name="TextBox 2"/>
          <p:cNvSpPr txBox="1"/>
          <p:nvPr/>
        </p:nvSpPr>
        <p:spPr>
          <a:xfrm>
            <a:off x="612648" y="932688"/>
            <a:ext cx="10927080" cy="749808"/>
          </a:xfrm>
          <a:prstGeom prst="rect">
            <a:avLst/>
          </a:prstGeom>
          <a:noFill/>
        </p:spPr>
        <p:txBody>
          <a:bodyPr wrap="square" lIns="0" rIns="0" tIns="0" bIns="0">
            <a:spAutoFit/>
          </a:bodyPr>
          <a:lstStyle/>
          <a:p>
            <a:pPr>
              <a:spcBef>
                <a:spcPts val="0"/>
              </a:spcBef>
              <a:spcAft>
                <a:spcPts val="300"/>
              </a:spcAft>
              <a:defRPr sz="2900" b="1">
                <a:solidFill>
                  <a:srgbClr val="1A1A1A"/>
                </a:solidFill>
                <a:latin typeface="Arial"/>
              </a:defRPr>
            </a:pPr>
            <a:r>
              <a:rPr b="1">
                <a:solidFill>
                  <a:srgbClr val="FFFFFF"/>
                </a:solidFill>
                <a:latin typeface="Arial"/>
              </a:rPr>
              <a:t>Guided practice  |  10B Q1</a:t>
            </a:r>
          </a:p>
        </p:txBody>
      </p:sp>
      <p:sp>
        <p:nvSpPr>
          <p:cNvPr id="4" name="TextBox 3"/>
          <p:cNvSpPr txBox="1"/>
          <p:nvPr/>
        </p:nvSpPr>
        <p:spPr>
          <a:xfrm>
            <a:off x="612648" y="6327648"/>
            <a:ext cx="10881360" cy="219456"/>
          </a:xfrm>
          <a:prstGeom prst="rect">
            <a:avLst/>
          </a:prstGeom>
          <a:noFill/>
        </p:spPr>
        <p:txBody>
          <a:bodyPr wrap="square" lIns="0" rIns="0" tIns="0" bIns="0">
            <a:spAutoFit/>
          </a:bodyPr>
          <a:lstStyle/>
          <a:p>
            <a:pPr>
              <a:spcBef>
                <a:spcPts val="0"/>
              </a:spcBef>
              <a:spcAft>
                <a:spcPts val="300"/>
              </a:spcAft>
              <a:defRPr sz="1050" b="0">
                <a:solidFill>
                  <a:srgbClr val="4A4E54"/>
                </a:solidFill>
                <a:latin typeface="Arial"/>
              </a:defRPr>
            </a:pPr>
            <a:r>
              <a:rPr>
                <a:solidFill>
                  <a:srgbClr val="D9CEC5"/>
                </a:solidFill>
                <a:latin typeface="Arial"/>
              </a:rPr>
              <a:t>Textbook Chapter 9–13 pp.140–214, selected; formula sheet p.219</a:t>
            </a:r>
          </a:p>
        </p:txBody>
      </p:sp>
      <p:pic>
        <p:nvPicPr>
          <p:cNvPr id="5" name="Picture 4" descr="10B-Q1.png"/>
          <p:cNvPicPr>
            <a:picLocks noChangeAspect="1"/>
          </p:cNvPicPr>
          <p:nvPr/>
        </p:nvPicPr>
        <p:blipFill>
          <a:blip r:embed="rId3"/>
          <a:stretch>
            <a:fillRect/>
          </a:stretch>
        </p:blipFill>
        <p:spPr>
          <a:xfrm>
            <a:off x="685800" y="2658618"/>
            <a:ext cx="10698480" cy="1842516"/>
          </a:xfrm>
          <a:prstGeom prst="rect">
            <a:avLst/>
          </a:prstGeom>
        </p:spPr>
      </p:pic>
      <p:sp>
        <p:nvSpPr>
          <p:cNvPr id="6" name="TextBox 5"/>
          <p:cNvSpPr txBox="1"/>
          <p:nvPr/>
        </p:nvSpPr>
        <p:spPr>
          <a:xfrm>
            <a:off x="685800" y="5596128"/>
            <a:ext cx="10698480" cy="457200"/>
          </a:xfrm>
          <a:prstGeom prst="rect">
            <a:avLst/>
          </a:prstGeom>
          <a:noFill/>
        </p:spPr>
        <p:txBody>
          <a:bodyPr wrap="square" lIns="0" rIns="0" tIns="0" bIns="0">
            <a:spAutoFit/>
          </a:bodyPr>
          <a:lstStyle/>
          <a:p>
            <a:pPr>
              <a:spcBef>
                <a:spcPts val="0"/>
              </a:spcBef>
              <a:spcAft>
                <a:spcPts val="300"/>
              </a:spcAft>
              <a:defRPr sz="1700" b="0">
                <a:solidFill>
                  <a:srgbClr val="4A4E54"/>
                </a:solidFill>
                <a:latin typeface="Arial"/>
              </a:defRPr>
            </a:pPr>
            <a:r>
              <a:rPr>
                <a:solidFill>
                  <a:srgbClr val="F7F4F1"/>
                </a:solidFill>
                <a:latin typeface="Arial"/>
              </a:rPr>
              <a:t>Work with a partner. Take turns explaining the next step.</a:t>
            </a:r>
          </a:p>
        </p:txBody>
      </p:sp>
      <p:pic>
        <p:nvPicPr>
          <p:cNvPr id="7" name="Picture 6" descr="access-logo.png"/>
          <p:cNvPicPr>
            <a:picLocks noChangeAspect="1"/>
          </p:cNvPicPr>
          <p:nvPr/>
        </p:nvPicPr>
        <p:blipFill>
          <a:blip r:embed="rId4"/>
          <a:stretch>
            <a:fillRect/>
          </a:stretch>
        </p:blipFill>
        <p:spPr>
          <a:xfrm>
            <a:off x="10177272" y="146304"/>
            <a:ext cx="1371600" cy="689145"/>
          </a:xfrm>
          <a:prstGeom prst="rect">
            <a:avLst/>
          </a:prstGeom>
        </p:spPr>
      </p:pic>
      <p:sp>
        <p:nvSpPr>
          <p:cNvPr id="9" name="TextBox 8"/>
          <p:cNvSpPr txBox="1"/>
          <p:nvPr/>
        </p:nvSpPr>
        <p:spPr>
          <a:xfrm>
            <a:off x="612648" y="6620256"/>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5"/>
              </a:rPr>
              <a:t>Textbook</a:t>
            </a:r>
          </a:p>
        </p:txBody>
      </p:sp>
      <p:sp>
        <p:nvSpPr>
          <p:cNvPr id="10" name="TextBox 9"/>
          <p:cNvSpPr txBox="1"/>
          <p:nvPr/>
        </p:nvSpPr>
        <p:spPr>
          <a:xfrm>
            <a:off x="1691640" y="6620256"/>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6"/>
              </a:rPr>
              <a:t>Exercise Book</a:t>
            </a:r>
          </a:p>
        </p:txBody>
      </p:sp>
      <p:sp>
        <p:nvSpPr>
          <p:cNvPr id="11" name="TextBox 10"/>
          <p:cNvSpPr txBox="1"/>
          <p:nvPr/>
        </p:nvSpPr>
        <p:spPr>
          <a:xfrm>
            <a:off x="3136392" y="6620256"/>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7"/>
              </a:rPr>
              <a:t>Numeracy Hub</a:t>
            </a:r>
          </a:p>
        </p:txBody>
      </p:sp>
      <p:sp>
        <p:nvSpPr>
          <p:cNvPr id="12" name="TextBox 11"/>
          <p:cNvSpPr txBox="1"/>
          <p:nvPr/>
        </p:nvSpPr>
        <p:spPr>
          <a:xfrm>
            <a:off x="4736592" y="6620256"/>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8"/>
              </a:rPr>
              <a:t>Shape Canvas</a:t>
            </a:r>
          </a:p>
        </p:txBody>
      </p:sp>
      <p:sp>
        <p:nvSpPr>
          <p:cNvPr id="13" name="TextBox 12"/>
          <p:cNvSpPr txBox="1"/>
          <p:nvPr/>
        </p:nvSpPr>
        <p:spPr>
          <a:xfrm>
            <a:off x="8412480" y="6620256"/>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sz="850">
                <a:solidFill>
                  <a:srgbClr val="F7F4F1"/>
                </a:solidFill>
                <a:latin typeface="Arial"/>
              </a:rPr>
              <a:t>Day 25  •  2026-12-14  •  32</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1A1512"/>
        </a:solidFill>
        <a:effectLst/>
      </p:bgPr>
    </p:bg>
    <p:spTree>
      <p:nvGrpSpPr>
        <p:cNvPr id="1" name=""/>
        <p:cNvGrpSpPr/>
        <p:nvPr/>
      </p:nvGrpSpPr>
      <p:grpSpPr/>
      <p:sp>
        <p:nvSpPr>
          <p:cNvPr id="16" name="Rectangle 15"/>
          <p:cNvSpPr/>
          <p:nvPr/>
        </p:nvSpPr>
        <p:spPr>
          <a:xfrm>
            <a:off x="0" y="6528816"/>
            <a:ext cx="12191695" cy="329184"/>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0" y="0"/>
            <a:ext cx="12191695" cy="1645920"/>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10104120" y="114300"/>
            <a:ext cx="1517904" cy="753153"/>
          </a:xfrm>
          <a:prstGeom prst="roundRect">
            <a:avLst>
              <a:gd name="adj" fmla="val 8000"/>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512064" y="1764792"/>
            <a:ext cx="11173968" cy="164592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512064" y="3511296"/>
            <a:ext cx="11173968" cy="2331720"/>
          </a:xfrm>
          <a:prstGeom prst="roundRect">
            <a:avLst>
              <a:gd name="adj" fmla="val 8000"/>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spAutoFit/>
          </a:bodyPr>
          <a:lstStyle/>
          <a:p>
            <a:pPr>
              <a:spcBef>
                <a:spcPts val="0"/>
              </a:spcBef>
              <a:spcAft>
                <a:spcPts val="300"/>
              </a:spcAft>
              <a:defRPr sz="1150" b="1">
                <a:solidFill>
                  <a:srgbClr val="D2181F"/>
                </a:solidFill>
                <a:latin typeface="Arial"/>
              </a:defRPr>
            </a:pPr>
            <a:r>
              <a:rPr>
                <a:solidFill>
                  <a:srgbClr val="FFFFFF"/>
                </a:solidFill>
                <a:latin typeface="Arial"/>
              </a:rPr>
              <a:t>W08-L02  •  TOGETHER  •  10:55 AM–11:10 AM  •  15 MIN TOTAL</a:t>
            </a:r>
          </a:p>
        </p:txBody>
      </p:sp>
      <p:sp>
        <p:nvSpPr>
          <p:cNvPr id="3" name="TextBox 2"/>
          <p:cNvSpPr txBox="1"/>
          <p:nvPr/>
        </p:nvSpPr>
        <p:spPr>
          <a:xfrm>
            <a:off x="612648" y="932688"/>
            <a:ext cx="10927080" cy="749808"/>
          </a:xfrm>
          <a:prstGeom prst="rect">
            <a:avLst/>
          </a:prstGeom>
          <a:noFill/>
        </p:spPr>
        <p:txBody>
          <a:bodyPr wrap="square" lIns="0" rIns="0" tIns="0" bIns="0">
            <a:spAutoFit/>
          </a:bodyPr>
          <a:lstStyle/>
          <a:p>
            <a:pPr>
              <a:spcBef>
                <a:spcPts val="0"/>
              </a:spcBef>
              <a:spcAft>
                <a:spcPts val="300"/>
              </a:spcAft>
              <a:defRPr sz="2900" b="1">
                <a:solidFill>
                  <a:srgbClr val="1A1A1A"/>
                </a:solidFill>
                <a:latin typeface="Arial"/>
              </a:defRPr>
            </a:pPr>
            <a:r>
              <a:rPr b="1">
                <a:solidFill>
                  <a:srgbClr val="FFFFFF"/>
                </a:solidFill>
                <a:latin typeface="Arial"/>
              </a:rPr>
              <a:t>Compare your method  |  10B Q1</a:t>
            </a:r>
          </a:p>
        </p:txBody>
      </p:sp>
      <p:sp>
        <p:nvSpPr>
          <p:cNvPr id="4" name="TextBox 3"/>
          <p:cNvSpPr txBox="1"/>
          <p:nvPr/>
        </p:nvSpPr>
        <p:spPr>
          <a:xfrm>
            <a:off x="612648" y="6327648"/>
            <a:ext cx="10881360" cy="219456"/>
          </a:xfrm>
          <a:prstGeom prst="rect">
            <a:avLst/>
          </a:prstGeom>
          <a:noFill/>
        </p:spPr>
        <p:txBody>
          <a:bodyPr wrap="square" lIns="0" rIns="0" tIns="0" bIns="0">
            <a:spAutoFit/>
          </a:bodyPr>
          <a:lstStyle/>
          <a:p>
            <a:pPr>
              <a:spcBef>
                <a:spcPts val="0"/>
              </a:spcBef>
              <a:spcAft>
                <a:spcPts val="300"/>
              </a:spcAft>
              <a:defRPr sz="1050" b="0">
                <a:solidFill>
                  <a:srgbClr val="4A4E54"/>
                </a:solidFill>
                <a:latin typeface="Arial"/>
              </a:defRPr>
            </a:pPr>
            <a:r>
              <a:rPr>
                <a:solidFill>
                  <a:srgbClr val="D9CEC5"/>
                </a:solidFill>
                <a:latin typeface="Arial"/>
              </a:rPr>
              <a:t>Textbook Chapter 9–13 pp.140–214, selected; formula sheet p.219</a:t>
            </a:r>
          </a:p>
        </p:txBody>
      </p:sp>
      <p:pic>
        <p:nvPicPr>
          <p:cNvPr id="5" name="Picture 4" descr="10B-Q1.png"/>
          <p:cNvPicPr>
            <a:picLocks noChangeAspect="1"/>
          </p:cNvPicPr>
          <p:nvPr/>
        </p:nvPicPr>
        <p:blipFill>
          <a:blip r:embed="rId3"/>
          <a:stretch>
            <a:fillRect/>
          </a:stretch>
        </p:blipFill>
        <p:spPr>
          <a:xfrm>
            <a:off x="1654769" y="1783080"/>
            <a:ext cx="8760541" cy="1508760"/>
          </a:xfrm>
          <a:prstGeom prst="rect">
            <a:avLst/>
          </a:prstGeom>
        </p:spPr>
      </p:pic>
      <p:sp>
        <p:nvSpPr>
          <p:cNvPr id="6" name="TextBox 5"/>
          <p:cNvSpPr txBox="1"/>
          <p:nvPr/>
        </p:nvSpPr>
        <p:spPr>
          <a:xfrm>
            <a:off x="685800" y="3611880"/>
            <a:ext cx="2743200" cy="320040"/>
          </a:xfrm>
          <a:prstGeom prst="rect">
            <a:avLst/>
          </a:prstGeom>
          <a:noFill/>
        </p:spPr>
        <p:txBody>
          <a:bodyPr wrap="square" lIns="0" rIns="0" tIns="0" bIns="0">
            <a:spAutoFit/>
          </a:bodyPr>
          <a:lstStyle/>
          <a:p>
            <a:pPr>
              <a:spcBef>
                <a:spcPts val="0"/>
              </a:spcBef>
              <a:spcAft>
                <a:spcPts val="300"/>
              </a:spcAft>
              <a:defRPr sz="1400" b="1">
                <a:solidFill>
                  <a:srgbClr val="D2181F"/>
                </a:solidFill>
                <a:latin typeface="Arial"/>
              </a:defRPr>
            </a:pPr>
            <a:r>
              <a:rPr b="1" sz="1300">
                <a:solidFill>
                  <a:srgbClr val="201C19"/>
                </a:solidFill>
                <a:latin typeface="Arial"/>
              </a:rPr>
              <a:t>CHECK TOGETHER</a:t>
            </a:r>
          </a:p>
        </p:txBody>
      </p:sp>
      <p:sp>
        <p:nvSpPr>
          <p:cNvPr id="7" name="TextBox 6"/>
          <p:cNvSpPr txBox="1"/>
          <p:nvPr/>
        </p:nvSpPr>
        <p:spPr>
          <a:xfrm>
            <a:off x="685800" y="4114800"/>
            <a:ext cx="10698480" cy="868680"/>
          </a:xfrm>
          <a:prstGeom prst="rect">
            <a:avLst/>
          </a:prstGeom>
          <a:noFill/>
        </p:spPr>
        <p:txBody>
          <a:bodyPr wrap="square" lIns="0" rIns="0" tIns="0" bIns="0">
            <a:spAutoFit/>
          </a:bodyPr>
          <a:lstStyle/>
          <a:p>
            <a:pPr>
              <a:spcBef>
                <a:spcPts val="0"/>
              </a:spcBef>
              <a:spcAft>
                <a:spcPts val="300"/>
              </a:spcAft>
              <a:defRPr sz="2700" b="1">
                <a:solidFill>
                  <a:srgbClr val="1A1A1A"/>
                </a:solidFill>
                <a:latin typeface="Arial"/>
              </a:defRPr>
            </a:pPr>
            <a:r>
              <a:rPr b="1" sz="3400">
                <a:solidFill>
                  <a:srgbClr val="201C19"/>
                </a:solidFill>
                <a:latin typeface="Arial"/>
              </a:rPr>
              <a:t>25.92 m², 9 sheets</a:t>
            </a:r>
          </a:p>
        </p:txBody>
      </p:sp>
      <p:sp>
        <p:nvSpPr>
          <p:cNvPr id="8" name="TextBox 7"/>
          <p:cNvSpPr txBox="1"/>
          <p:nvPr/>
        </p:nvSpPr>
        <p:spPr>
          <a:xfrm>
            <a:off x="685800" y="5166360"/>
            <a:ext cx="10698480" cy="685800"/>
          </a:xfrm>
          <a:prstGeom prst="rect">
            <a:avLst/>
          </a:prstGeom>
          <a:noFill/>
        </p:spPr>
        <p:txBody>
          <a:bodyPr wrap="square" lIns="0" rIns="0" tIns="0" bIns="0">
            <a:spAutoFit/>
          </a:bodyPr>
          <a:lstStyle/>
          <a:p>
            <a:pPr>
              <a:spcBef>
                <a:spcPts val="0"/>
              </a:spcBef>
              <a:spcAft>
                <a:spcPts val="300"/>
              </a:spcAft>
              <a:defRPr sz="1900" b="0">
                <a:solidFill>
                  <a:srgbClr val="4A4E54"/>
                </a:solidFill>
                <a:latin typeface="Arial"/>
              </a:defRPr>
            </a:pPr>
            <a:r>
              <a:rPr>
                <a:solidFill>
                  <a:srgbClr val="201C19"/>
                </a:solidFill>
                <a:latin typeface="Arial"/>
              </a:rPr>
              <a:t>7.2 × 3.6 = 25.92 m², one sheet = 2.88 m², 25.92 ÷ 2.88 = 9</a:t>
            </a:r>
          </a:p>
        </p:txBody>
      </p:sp>
      <p:pic>
        <p:nvPicPr>
          <p:cNvPr id="9" name="Picture 8" descr="access-logo.png"/>
          <p:cNvPicPr>
            <a:picLocks noChangeAspect="1"/>
          </p:cNvPicPr>
          <p:nvPr/>
        </p:nvPicPr>
        <p:blipFill>
          <a:blip r:embed="rId4"/>
          <a:stretch>
            <a:fillRect/>
          </a:stretch>
        </p:blipFill>
        <p:spPr>
          <a:xfrm>
            <a:off x="10177272" y="146304"/>
            <a:ext cx="1371600" cy="689145"/>
          </a:xfrm>
          <a:prstGeom prst="rect">
            <a:avLst/>
          </a:prstGeom>
        </p:spPr>
      </p:pic>
      <p:sp>
        <p:nvSpPr>
          <p:cNvPr id="11" name="TextBox 10"/>
          <p:cNvSpPr txBox="1"/>
          <p:nvPr/>
        </p:nvSpPr>
        <p:spPr>
          <a:xfrm>
            <a:off x="612648" y="6620256"/>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5"/>
              </a:rPr>
              <a:t>Textbook</a:t>
            </a:r>
          </a:p>
        </p:txBody>
      </p:sp>
      <p:sp>
        <p:nvSpPr>
          <p:cNvPr id="12" name="TextBox 11"/>
          <p:cNvSpPr txBox="1"/>
          <p:nvPr/>
        </p:nvSpPr>
        <p:spPr>
          <a:xfrm>
            <a:off x="1691640" y="6620256"/>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6"/>
              </a:rPr>
              <a:t>Exercise Book</a:t>
            </a:r>
          </a:p>
        </p:txBody>
      </p:sp>
      <p:sp>
        <p:nvSpPr>
          <p:cNvPr id="13" name="TextBox 12"/>
          <p:cNvSpPr txBox="1"/>
          <p:nvPr/>
        </p:nvSpPr>
        <p:spPr>
          <a:xfrm>
            <a:off x="3136392" y="6620256"/>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7"/>
              </a:rPr>
              <a:t>Numeracy Hub</a:t>
            </a:r>
          </a:p>
        </p:txBody>
      </p:sp>
      <p:sp>
        <p:nvSpPr>
          <p:cNvPr id="14" name="TextBox 13"/>
          <p:cNvSpPr txBox="1"/>
          <p:nvPr/>
        </p:nvSpPr>
        <p:spPr>
          <a:xfrm>
            <a:off x="4736592" y="6620256"/>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8"/>
              </a:rPr>
              <a:t>Shape Canvas</a:t>
            </a:r>
          </a:p>
        </p:txBody>
      </p:sp>
      <p:sp>
        <p:nvSpPr>
          <p:cNvPr id="15" name="TextBox 14"/>
          <p:cNvSpPr txBox="1"/>
          <p:nvPr/>
        </p:nvSpPr>
        <p:spPr>
          <a:xfrm>
            <a:off x="8412480" y="6620256"/>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sz="850">
                <a:solidFill>
                  <a:srgbClr val="F7F4F1"/>
                </a:solidFill>
                <a:latin typeface="Arial"/>
              </a:rPr>
              <a:t>Day 25  •  2026-12-14  •  33</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7F4F1"/>
        </a:solidFill>
        <a:effectLst/>
      </p:bgPr>
    </p:bg>
    <p:spTree>
      <p:nvGrpSpPr>
        <p:cNvPr id="1" name=""/>
        <p:cNvGrpSpPr/>
        <p:nvPr/>
      </p:nvGrpSpPr>
      <p:grpSpPr/>
      <p:sp>
        <p:nvSpPr>
          <p:cNvPr id="16" name="Rectangle 15"/>
          <p:cNvSpPr/>
          <p:nvPr/>
        </p:nvSpPr>
        <p:spPr>
          <a:xfrm>
            <a:off x="0" y="6528816"/>
            <a:ext cx="12191695" cy="329184"/>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0" y="0"/>
            <a:ext cx="12191695" cy="1645920"/>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10104120" y="114300"/>
            <a:ext cx="1517904" cy="753153"/>
          </a:xfrm>
          <a:prstGeom prst="roundRect">
            <a:avLst>
              <a:gd name="adj" fmla="val 8000"/>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493776" y="1773936"/>
            <a:ext cx="11192256" cy="2240280"/>
          </a:xfrm>
          <a:prstGeom prst="roundRect">
            <a:avLst>
              <a:gd name="adj" fmla="val 8000"/>
            </a:avLst>
          </a:prstGeom>
          <a:solidFill>
            <a:srgbClr val="5A10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spAutoFit/>
          </a:bodyPr>
          <a:lstStyle/>
          <a:p>
            <a:pPr>
              <a:spcBef>
                <a:spcPts val="0"/>
              </a:spcBef>
              <a:spcAft>
                <a:spcPts val="300"/>
              </a:spcAft>
              <a:defRPr sz="1150" b="1">
                <a:solidFill>
                  <a:srgbClr val="D2181F"/>
                </a:solidFill>
                <a:latin typeface="Arial"/>
              </a:defRPr>
            </a:pPr>
            <a:r>
              <a:rPr>
                <a:solidFill>
                  <a:srgbClr val="FFFFFF"/>
                </a:solidFill>
                <a:latin typeface="Arial"/>
              </a:rPr>
              <a:t>W08-L02  •  PRACTISE  •  11:10 AM–11:45 AM  •  35 MIN TOTAL</a:t>
            </a:r>
          </a:p>
        </p:txBody>
      </p:sp>
      <p:sp>
        <p:nvSpPr>
          <p:cNvPr id="3" name="TextBox 2"/>
          <p:cNvSpPr txBox="1"/>
          <p:nvPr/>
        </p:nvSpPr>
        <p:spPr>
          <a:xfrm>
            <a:off x="612648" y="932688"/>
            <a:ext cx="10927080" cy="749808"/>
          </a:xfrm>
          <a:prstGeom prst="rect">
            <a:avLst/>
          </a:prstGeom>
          <a:noFill/>
        </p:spPr>
        <p:txBody>
          <a:bodyPr wrap="square" lIns="0" rIns="0" tIns="0" bIns="0">
            <a:spAutoFit/>
          </a:bodyPr>
          <a:lstStyle/>
          <a:p>
            <a:pPr>
              <a:spcBef>
                <a:spcPts val="0"/>
              </a:spcBef>
              <a:spcAft>
                <a:spcPts val="300"/>
              </a:spcAft>
              <a:defRPr sz="2900" b="1">
                <a:solidFill>
                  <a:srgbClr val="1A1A1A"/>
                </a:solidFill>
                <a:latin typeface="Arial"/>
              </a:defRPr>
            </a:pPr>
            <a:r>
              <a:rPr b="1">
                <a:solidFill>
                  <a:srgbClr val="FFFFFF"/>
                </a:solidFill>
                <a:latin typeface="Arial"/>
              </a:rPr>
              <a:t>Your scheduled practice</a:t>
            </a:r>
          </a:p>
        </p:txBody>
      </p:sp>
      <p:sp>
        <p:nvSpPr>
          <p:cNvPr id="4" name="TextBox 3"/>
          <p:cNvSpPr txBox="1"/>
          <p:nvPr/>
        </p:nvSpPr>
        <p:spPr>
          <a:xfrm>
            <a:off x="612648" y="6327648"/>
            <a:ext cx="10881360" cy="219456"/>
          </a:xfrm>
          <a:prstGeom prst="rect">
            <a:avLst/>
          </a:prstGeom>
          <a:noFill/>
        </p:spPr>
        <p:txBody>
          <a:bodyPr wrap="square" lIns="0" rIns="0" tIns="0" bIns="0">
            <a:spAutoFit/>
          </a:bodyPr>
          <a:lstStyle/>
          <a:p>
            <a:pPr>
              <a:spcBef>
                <a:spcPts val="0"/>
              </a:spcBef>
              <a:spcAft>
                <a:spcPts val="300"/>
              </a:spcAft>
              <a:defRPr sz="1050" b="0">
                <a:solidFill>
                  <a:srgbClr val="4A4E54"/>
                </a:solidFill>
                <a:latin typeface="Arial"/>
              </a:defRPr>
            </a:pPr>
            <a:r>
              <a:rPr>
                <a:solidFill>
                  <a:srgbClr val="62564B"/>
                </a:solidFill>
                <a:latin typeface="Arial"/>
              </a:rPr>
              <a:t>Textbook Chapter 9–13 pp.140–214, selected; formula sheet p.219</a:t>
            </a:r>
          </a:p>
        </p:txBody>
      </p:sp>
      <p:sp>
        <p:nvSpPr>
          <p:cNvPr id="5" name="TextBox 4"/>
          <p:cNvSpPr txBox="1"/>
          <p:nvPr/>
        </p:nvSpPr>
        <p:spPr>
          <a:xfrm>
            <a:off x="612648" y="1874519"/>
            <a:ext cx="10927080" cy="2103120"/>
          </a:xfrm>
          <a:prstGeom prst="rect">
            <a:avLst/>
          </a:prstGeom>
          <a:noFill/>
        </p:spPr>
        <p:txBody>
          <a:bodyPr wrap="square" lIns="0" rIns="0" tIns="0" bIns="0">
            <a:spAutoFit/>
          </a:bodyPr>
          <a:lstStyle/>
          <a:p>
            <a:pPr>
              <a:spcBef>
                <a:spcPts val="0"/>
              </a:spcBef>
              <a:spcAft>
                <a:spcPts val="300"/>
              </a:spcAft>
              <a:defRPr sz="2400" b="0">
                <a:solidFill>
                  <a:srgbClr val="1A1A1A"/>
                </a:solidFill>
                <a:latin typeface="Arial"/>
              </a:defRPr>
            </a:pPr>
            <a:r>
              <a:rPr>
                <a:solidFill>
                  <a:srgbClr val="FFFFFF"/>
                </a:solidFill>
                <a:latin typeface="Arial"/>
              </a:rPr>
              <a:t>Solve the remaining listed exercises, prioritizing documented needs. Finish with one fresh Numeracy Hub question; explain why that formula applies and keep its question/code for checking.</a:t>
            </a:r>
          </a:p>
        </p:txBody>
      </p:sp>
      <p:sp>
        <p:nvSpPr>
          <p:cNvPr id="6" name="Rectangle 5"/>
          <p:cNvSpPr/>
          <p:nvPr/>
        </p:nvSpPr>
        <p:spPr>
          <a:xfrm>
            <a:off x="612648" y="4251960"/>
            <a:ext cx="10927080" cy="1280160"/>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A1A1A"/>
                </a:solidFill>
                <a:latin typeface="Arial"/>
              </a:defRPr>
            </a:pPr>
          </a:p>
        </p:txBody>
      </p:sp>
      <p:sp>
        <p:nvSpPr>
          <p:cNvPr id="7" name="TextBox 6"/>
          <p:cNvSpPr txBox="1"/>
          <p:nvPr/>
        </p:nvSpPr>
        <p:spPr>
          <a:xfrm>
            <a:off x="859536" y="4462272"/>
            <a:ext cx="10424160" cy="822960"/>
          </a:xfrm>
          <a:prstGeom prst="rect">
            <a:avLst/>
          </a:prstGeom>
          <a:noFill/>
        </p:spPr>
        <p:txBody>
          <a:bodyPr wrap="square" lIns="0" rIns="0" tIns="0" bIns="0">
            <a:spAutoFit/>
          </a:bodyPr>
          <a:lstStyle/>
          <a:p>
            <a:pPr>
              <a:spcBef>
                <a:spcPts val="0"/>
              </a:spcBef>
              <a:spcAft>
                <a:spcPts val="300"/>
              </a:spcAft>
              <a:defRPr sz="2100" b="1">
                <a:solidFill>
                  <a:srgbClr val="1A1A1A"/>
                </a:solidFill>
                <a:latin typeface="Arial"/>
              </a:defRPr>
            </a:pPr>
            <a:r>
              <a:rPr b="1">
                <a:solidFill>
                  <a:srgbClr val="201C19"/>
                </a:solidFill>
                <a:latin typeface="Arial"/>
              </a:rPr>
              <a:t>Keep numbered written solutions and units. Use tools only under the conditions stated for this block.</a:t>
            </a:r>
          </a:p>
        </p:txBody>
      </p:sp>
      <p:sp>
        <p:nvSpPr>
          <p:cNvPr id="8" name="TextBox 7"/>
          <p:cNvSpPr txBox="1"/>
          <p:nvPr/>
        </p:nvSpPr>
        <p:spPr>
          <a:xfrm>
            <a:off x="612648" y="5788152"/>
            <a:ext cx="10927080" cy="411480"/>
          </a:xfrm>
          <a:prstGeom prst="rect">
            <a:avLst/>
          </a:prstGeom>
          <a:noFill/>
        </p:spPr>
        <p:txBody>
          <a:bodyPr wrap="square" lIns="0" rIns="0" tIns="0" bIns="0">
            <a:spAutoFit/>
          </a:bodyPr>
          <a:lstStyle/>
          <a:p>
            <a:pPr>
              <a:spcBef>
                <a:spcPts val="0"/>
              </a:spcBef>
              <a:spcAft>
                <a:spcPts val="300"/>
              </a:spcAft>
              <a:defRPr sz="1250" b="0">
                <a:solidFill>
                  <a:srgbClr val="4A4E54"/>
                </a:solidFill>
                <a:latin typeface="Arial"/>
              </a:defRPr>
            </a:pPr>
            <a:r>
              <a:rPr>
                <a:solidFill>
                  <a:srgbClr val="62564B"/>
                </a:solidFill>
                <a:latin typeface="Arial"/>
              </a:rPr>
              <a:t>Resources: Exercise Book 9A Q1,8 p.57; 10B Q1,11 pp.65–66; 11A Q7,19 pp.69–70; 12B Q3 p.77; 13A Q6,14 p.82.</a:t>
            </a:r>
          </a:p>
        </p:txBody>
      </p:sp>
      <p:pic>
        <p:nvPicPr>
          <p:cNvPr id="9" name="Picture 8"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1" name="TextBox 10"/>
          <p:cNvSpPr txBox="1"/>
          <p:nvPr/>
        </p:nvSpPr>
        <p:spPr>
          <a:xfrm>
            <a:off x="612648" y="6620256"/>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4"/>
              </a:rPr>
              <a:t>Textbook</a:t>
            </a:r>
          </a:p>
        </p:txBody>
      </p:sp>
      <p:sp>
        <p:nvSpPr>
          <p:cNvPr id="12" name="TextBox 11"/>
          <p:cNvSpPr txBox="1"/>
          <p:nvPr/>
        </p:nvSpPr>
        <p:spPr>
          <a:xfrm>
            <a:off x="1691640" y="6620256"/>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5"/>
              </a:rPr>
              <a:t>Exercise Book</a:t>
            </a:r>
          </a:p>
        </p:txBody>
      </p:sp>
      <p:sp>
        <p:nvSpPr>
          <p:cNvPr id="13" name="TextBox 12"/>
          <p:cNvSpPr txBox="1"/>
          <p:nvPr/>
        </p:nvSpPr>
        <p:spPr>
          <a:xfrm>
            <a:off x="3136392" y="6620256"/>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6"/>
              </a:rPr>
              <a:t>Numeracy Hub</a:t>
            </a:r>
          </a:p>
        </p:txBody>
      </p:sp>
      <p:sp>
        <p:nvSpPr>
          <p:cNvPr id="14" name="TextBox 13"/>
          <p:cNvSpPr txBox="1"/>
          <p:nvPr/>
        </p:nvSpPr>
        <p:spPr>
          <a:xfrm>
            <a:off x="4736592" y="6620256"/>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7"/>
              </a:rPr>
              <a:t>Shape Canvas</a:t>
            </a:r>
          </a:p>
        </p:txBody>
      </p:sp>
      <p:sp>
        <p:nvSpPr>
          <p:cNvPr id="15" name="TextBox 14"/>
          <p:cNvSpPr txBox="1"/>
          <p:nvPr/>
        </p:nvSpPr>
        <p:spPr>
          <a:xfrm>
            <a:off x="8412480" y="6620256"/>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sz="850">
                <a:solidFill>
                  <a:srgbClr val="F7F4F1"/>
                </a:solidFill>
                <a:latin typeface="Arial"/>
              </a:rPr>
              <a:t>Day 25  •  2026-12-14  •  34</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1A1512"/>
        </a:solidFill>
        <a:effectLst/>
      </p:bgPr>
    </p:bg>
    <p:spTree>
      <p:nvGrpSpPr>
        <p:cNvPr id="1" name=""/>
        <p:cNvGrpSpPr/>
        <p:nvPr/>
      </p:nvGrpSpPr>
      <p:grpSpPr/>
      <p:sp>
        <p:nvSpPr>
          <p:cNvPr id="14" name="Rectangle 13"/>
          <p:cNvSpPr/>
          <p:nvPr/>
        </p:nvSpPr>
        <p:spPr>
          <a:xfrm>
            <a:off x="0" y="6528816"/>
            <a:ext cx="12191695" cy="329184"/>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0"/>
            <a:ext cx="12191695" cy="1645920"/>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104120" y="114300"/>
            <a:ext cx="1517904" cy="753153"/>
          </a:xfrm>
          <a:prstGeom prst="roundRect">
            <a:avLst>
              <a:gd name="adj" fmla="val 8000"/>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12064" y="1664208"/>
            <a:ext cx="11173968" cy="427939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spAutoFit/>
          </a:bodyPr>
          <a:lstStyle/>
          <a:p>
            <a:pPr>
              <a:spcBef>
                <a:spcPts val="0"/>
              </a:spcBef>
              <a:spcAft>
                <a:spcPts val="300"/>
              </a:spcAft>
              <a:defRPr sz="1150" b="1">
                <a:solidFill>
                  <a:srgbClr val="D2181F"/>
                </a:solidFill>
                <a:latin typeface="Arial"/>
              </a:defRPr>
            </a:pPr>
            <a:r>
              <a:rPr>
                <a:solidFill>
                  <a:srgbClr val="FFFFFF"/>
                </a:solidFill>
                <a:latin typeface="Arial"/>
              </a:rPr>
              <a:t>W08-L02  •  PRACTISE  •  11:10 AM–11:45 AM  •  35 MIN TOTAL</a:t>
            </a:r>
          </a:p>
        </p:txBody>
      </p:sp>
      <p:sp>
        <p:nvSpPr>
          <p:cNvPr id="3" name="TextBox 2"/>
          <p:cNvSpPr txBox="1"/>
          <p:nvPr/>
        </p:nvSpPr>
        <p:spPr>
          <a:xfrm>
            <a:off x="612648" y="932688"/>
            <a:ext cx="10927080" cy="749808"/>
          </a:xfrm>
          <a:prstGeom prst="rect">
            <a:avLst/>
          </a:prstGeom>
          <a:noFill/>
        </p:spPr>
        <p:txBody>
          <a:bodyPr wrap="square" lIns="0" rIns="0" tIns="0" bIns="0">
            <a:spAutoFit/>
          </a:bodyPr>
          <a:lstStyle/>
          <a:p>
            <a:pPr>
              <a:spcBef>
                <a:spcPts val="0"/>
              </a:spcBef>
              <a:spcAft>
                <a:spcPts val="300"/>
              </a:spcAft>
              <a:defRPr sz="2900" b="1">
                <a:solidFill>
                  <a:srgbClr val="1A1A1A"/>
                </a:solidFill>
                <a:latin typeface="Arial"/>
              </a:defRPr>
            </a:pPr>
            <a:r>
              <a:rPr b="1">
                <a:solidFill>
                  <a:srgbClr val="FFFFFF"/>
                </a:solidFill>
                <a:latin typeface="Arial"/>
              </a:rPr>
              <a:t>Open Numeracy Hub</a:t>
            </a:r>
          </a:p>
        </p:txBody>
      </p:sp>
      <p:sp>
        <p:nvSpPr>
          <p:cNvPr id="4" name="TextBox 3"/>
          <p:cNvSpPr txBox="1"/>
          <p:nvPr/>
        </p:nvSpPr>
        <p:spPr>
          <a:xfrm>
            <a:off x="612648" y="6327648"/>
            <a:ext cx="10881360" cy="219456"/>
          </a:xfrm>
          <a:prstGeom prst="rect">
            <a:avLst/>
          </a:prstGeom>
          <a:noFill/>
        </p:spPr>
        <p:txBody>
          <a:bodyPr wrap="square" lIns="0" rIns="0" tIns="0" bIns="0">
            <a:spAutoFit/>
          </a:bodyPr>
          <a:lstStyle/>
          <a:p>
            <a:pPr>
              <a:spcBef>
                <a:spcPts val="0"/>
              </a:spcBef>
              <a:spcAft>
                <a:spcPts val="300"/>
              </a:spcAft>
              <a:defRPr sz="1050" b="0">
                <a:solidFill>
                  <a:srgbClr val="4A4E54"/>
                </a:solidFill>
                <a:latin typeface="Arial"/>
              </a:defRPr>
            </a:pPr>
            <a:r>
              <a:rPr>
                <a:solidFill>
                  <a:srgbClr val="D9CEC5"/>
                </a:solidFill>
                <a:latin typeface="Arial"/>
              </a:rPr>
              <a:t>Textbook Chapter 9–13 pp.140–214, selected; formula sheet p.219</a:t>
            </a:r>
          </a:p>
        </p:txBody>
      </p:sp>
      <p:pic>
        <p:nvPicPr>
          <p:cNvPr id="5" name="Picture 4" descr="hub-angles.png"/>
          <p:cNvPicPr>
            <a:picLocks noChangeAspect="1"/>
          </p:cNvPicPr>
          <p:nvPr/>
        </p:nvPicPr>
        <p:blipFill>
          <a:blip r:embed="rId3"/>
          <a:stretch>
            <a:fillRect/>
          </a:stretch>
        </p:blipFill>
        <p:spPr>
          <a:xfrm>
            <a:off x="3014776" y="1664208"/>
            <a:ext cx="6122822" cy="4251960"/>
          </a:xfrm>
          <a:prstGeom prst="rect">
            <a:avLst/>
          </a:prstGeom>
        </p:spPr>
      </p:pic>
      <p:sp>
        <p:nvSpPr>
          <p:cNvPr id="6" name="TextBox 5"/>
          <p:cNvSpPr txBox="1"/>
          <p:nvPr/>
        </p:nvSpPr>
        <p:spPr>
          <a:xfrm>
            <a:off x="612648" y="5998464"/>
            <a:ext cx="10927080" cy="256032"/>
          </a:xfrm>
          <a:prstGeom prst="rect">
            <a:avLst/>
          </a:prstGeom>
          <a:noFill/>
        </p:spPr>
        <p:txBody>
          <a:bodyPr wrap="square" lIns="0" rIns="0" tIns="0" bIns="0">
            <a:spAutoFit/>
          </a:bodyPr>
          <a:lstStyle/>
          <a:p>
            <a:pPr>
              <a:spcBef>
                <a:spcPts val="0"/>
              </a:spcBef>
              <a:spcAft>
                <a:spcPts val="300"/>
              </a:spcAft>
              <a:defRPr sz="1350" b="0">
                <a:solidFill>
                  <a:srgbClr val="4A4E54"/>
                </a:solidFill>
                <a:latin typeface="Arial"/>
              </a:defRPr>
            </a:pPr>
            <a:r>
              <a:rPr>
                <a:solidFill>
                  <a:srgbClr val="F7F4F1"/>
                </a:solidFill>
                <a:latin typeface="Arial"/>
              </a:rPr>
              <a:t>Navigation example. Use the values and units in the assigned task.</a:t>
            </a:r>
          </a:p>
        </p:txBody>
      </p:sp>
      <p:pic>
        <p:nvPicPr>
          <p:cNvPr id="7" name="Picture 6" descr="access-logo.png"/>
          <p:cNvPicPr>
            <a:picLocks noChangeAspect="1"/>
          </p:cNvPicPr>
          <p:nvPr/>
        </p:nvPicPr>
        <p:blipFill>
          <a:blip r:embed="rId4"/>
          <a:stretch>
            <a:fillRect/>
          </a:stretch>
        </p:blipFill>
        <p:spPr>
          <a:xfrm>
            <a:off x="10177272" y="146304"/>
            <a:ext cx="1371600" cy="689145"/>
          </a:xfrm>
          <a:prstGeom prst="rect">
            <a:avLst/>
          </a:prstGeom>
        </p:spPr>
      </p:pic>
      <p:sp>
        <p:nvSpPr>
          <p:cNvPr id="9" name="TextBox 8"/>
          <p:cNvSpPr txBox="1"/>
          <p:nvPr/>
        </p:nvSpPr>
        <p:spPr>
          <a:xfrm>
            <a:off x="612648" y="6620256"/>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5"/>
              </a:rPr>
              <a:t>Textbook</a:t>
            </a:r>
          </a:p>
        </p:txBody>
      </p:sp>
      <p:sp>
        <p:nvSpPr>
          <p:cNvPr id="10" name="TextBox 9"/>
          <p:cNvSpPr txBox="1"/>
          <p:nvPr/>
        </p:nvSpPr>
        <p:spPr>
          <a:xfrm>
            <a:off x="1691640" y="6620256"/>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6"/>
              </a:rPr>
              <a:t>Exercise Book</a:t>
            </a:r>
          </a:p>
        </p:txBody>
      </p:sp>
      <p:sp>
        <p:nvSpPr>
          <p:cNvPr id="11" name="TextBox 10"/>
          <p:cNvSpPr txBox="1"/>
          <p:nvPr/>
        </p:nvSpPr>
        <p:spPr>
          <a:xfrm>
            <a:off x="3136392" y="6620256"/>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7"/>
              </a:rPr>
              <a:t>Numeracy Hub</a:t>
            </a:r>
          </a:p>
        </p:txBody>
      </p:sp>
      <p:sp>
        <p:nvSpPr>
          <p:cNvPr id="12" name="TextBox 11"/>
          <p:cNvSpPr txBox="1"/>
          <p:nvPr/>
        </p:nvSpPr>
        <p:spPr>
          <a:xfrm>
            <a:off x="4736592" y="6620256"/>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8"/>
              </a:rPr>
              <a:t>Shape Canvas</a:t>
            </a:r>
          </a:p>
        </p:txBody>
      </p:sp>
      <p:sp>
        <p:nvSpPr>
          <p:cNvPr id="13" name="TextBox 12"/>
          <p:cNvSpPr txBox="1"/>
          <p:nvPr/>
        </p:nvSpPr>
        <p:spPr>
          <a:xfrm>
            <a:off x="8412480" y="6620256"/>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sz="850">
                <a:solidFill>
                  <a:srgbClr val="F7F4F1"/>
                </a:solidFill>
                <a:latin typeface="Arial"/>
              </a:rPr>
              <a:t>Day 25  •  2026-12-14  •  35</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1A1512"/>
        </a:solidFill>
        <a:effectLst/>
      </p:bgPr>
    </p:bg>
    <p:spTree>
      <p:nvGrpSpPr>
        <p:cNvPr id="1" name=""/>
        <p:cNvGrpSpPr/>
        <p:nvPr/>
      </p:nvGrpSpPr>
      <p:grpSpPr/>
      <p:sp>
        <p:nvSpPr>
          <p:cNvPr id="18" name="Rectangle 17"/>
          <p:cNvSpPr/>
          <p:nvPr/>
        </p:nvSpPr>
        <p:spPr>
          <a:xfrm>
            <a:off x="0" y="6528816"/>
            <a:ext cx="12191695" cy="329184"/>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0" y="0"/>
            <a:ext cx="12191695" cy="1645920"/>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10104120" y="114300"/>
            <a:ext cx="1517904" cy="753153"/>
          </a:xfrm>
          <a:prstGeom prst="roundRect">
            <a:avLst>
              <a:gd name="adj" fmla="val 8000"/>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502920" y="1737360"/>
            <a:ext cx="11183112" cy="1197864"/>
          </a:xfrm>
          <a:prstGeom prst="roundRect">
            <a:avLst>
              <a:gd name="adj" fmla="val 8000"/>
            </a:avLst>
          </a:prstGeom>
          <a:solidFill>
            <a:srgbClr val="302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502920" y="3035808"/>
            <a:ext cx="11183112" cy="1197864"/>
          </a:xfrm>
          <a:prstGeom prst="roundRect">
            <a:avLst>
              <a:gd name="adj" fmla="val 8000"/>
            </a:avLst>
          </a:prstGeom>
          <a:solidFill>
            <a:srgbClr val="302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502920" y="4334256"/>
            <a:ext cx="11183112" cy="1197864"/>
          </a:xfrm>
          <a:prstGeom prst="roundRect">
            <a:avLst>
              <a:gd name="adj" fmla="val 8000"/>
            </a:avLst>
          </a:prstGeom>
          <a:solidFill>
            <a:srgbClr val="302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spAutoFit/>
          </a:bodyPr>
          <a:lstStyle/>
          <a:p>
            <a:pPr>
              <a:spcBef>
                <a:spcPts val="0"/>
              </a:spcBef>
              <a:spcAft>
                <a:spcPts val="300"/>
              </a:spcAft>
              <a:defRPr sz="1150" b="1">
                <a:solidFill>
                  <a:srgbClr val="D2181F"/>
                </a:solidFill>
                <a:latin typeface="Arial"/>
              </a:defRPr>
            </a:pPr>
            <a:r>
              <a:rPr>
                <a:solidFill>
                  <a:srgbClr val="FFFFFF"/>
                </a:solidFill>
                <a:latin typeface="Arial"/>
              </a:rPr>
              <a:t>W08-L02  •  PRACTISE  •  11:10 AM–11:45 AM  •  35 MIN TOTAL</a:t>
            </a:r>
          </a:p>
        </p:txBody>
      </p:sp>
      <p:sp>
        <p:nvSpPr>
          <p:cNvPr id="3" name="TextBox 2"/>
          <p:cNvSpPr txBox="1"/>
          <p:nvPr/>
        </p:nvSpPr>
        <p:spPr>
          <a:xfrm>
            <a:off x="612648" y="932688"/>
            <a:ext cx="10927080" cy="749808"/>
          </a:xfrm>
          <a:prstGeom prst="rect">
            <a:avLst/>
          </a:prstGeom>
          <a:noFill/>
        </p:spPr>
        <p:txBody>
          <a:bodyPr wrap="square" lIns="0" rIns="0" tIns="0" bIns="0">
            <a:spAutoFit/>
          </a:bodyPr>
          <a:lstStyle/>
          <a:p>
            <a:pPr>
              <a:spcBef>
                <a:spcPts val="0"/>
              </a:spcBef>
              <a:spcAft>
                <a:spcPts val="300"/>
              </a:spcAft>
              <a:defRPr sz="2900" b="1">
                <a:solidFill>
                  <a:srgbClr val="1A1A1A"/>
                </a:solidFill>
                <a:latin typeface="Arial"/>
              </a:defRPr>
            </a:pPr>
            <a:r>
              <a:rPr b="1">
                <a:solidFill>
                  <a:srgbClr val="FFFFFF"/>
                </a:solidFill>
                <a:latin typeface="Arial"/>
              </a:rPr>
              <a:t>Practise in Numeracy Hub and Shape Canvas</a:t>
            </a:r>
          </a:p>
        </p:txBody>
      </p:sp>
      <p:sp>
        <p:nvSpPr>
          <p:cNvPr id="4" name="TextBox 3"/>
          <p:cNvSpPr txBox="1"/>
          <p:nvPr/>
        </p:nvSpPr>
        <p:spPr>
          <a:xfrm>
            <a:off x="612648" y="6327648"/>
            <a:ext cx="10881360" cy="219456"/>
          </a:xfrm>
          <a:prstGeom prst="rect">
            <a:avLst/>
          </a:prstGeom>
          <a:noFill/>
        </p:spPr>
        <p:txBody>
          <a:bodyPr wrap="square" lIns="0" rIns="0" tIns="0" bIns="0">
            <a:spAutoFit/>
          </a:bodyPr>
          <a:lstStyle/>
          <a:p>
            <a:pPr>
              <a:spcBef>
                <a:spcPts val="0"/>
              </a:spcBef>
              <a:spcAft>
                <a:spcPts val="300"/>
              </a:spcAft>
              <a:defRPr sz="1050" b="0">
                <a:solidFill>
                  <a:srgbClr val="4A4E54"/>
                </a:solidFill>
                <a:latin typeface="Arial"/>
              </a:defRPr>
            </a:pPr>
            <a:r>
              <a:rPr>
                <a:solidFill>
                  <a:srgbClr val="D9CEC5"/>
                </a:solidFill>
                <a:latin typeface="Arial"/>
              </a:rPr>
              <a:t>Textbook Chapter 9–13 pp.140–214, selected; formula sheet p.219</a:t>
            </a:r>
          </a:p>
        </p:txBody>
      </p:sp>
      <p:sp>
        <p:nvSpPr>
          <p:cNvPr id="5" name="Rectangle 4"/>
          <p:cNvSpPr/>
          <p:nvPr/>
        </p:nvSpPr>
        <p:spPr>
          <a:xfrm>
            <a:off x="658368" y="1828800"/>
            <a:ext cx="365760" cy="365760"/>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1">
                <a:solidFill>
                  <a:srgbClr val="1A1A1A"/>
                </a:solidFill>
                <a:latin typeface="Arial"/>
              </a:defRPr>
            </a:pPr>
            <a:r>
              <a:rPr b="1" sz="2000">
                <a:solidFill>
                  <a:srgbClr val="201C19"/>
                </a:solidFill>
                <a:latin typeface="Arial"/>
              </a:rPr>
              <a:t>1</a:t>
            </a:r>
          </a:p>
        </p:txBody>
      </p:sp>
      <p:sp>
        <p:nvSpPr>
          <p:cNvPr id="6" name="TextBox 5"/>
          <p:cNvSpPr txBox="1"/>
          <p:nvPr/>
        </p:nvSpPr>
        <p:spPr>
          <a:xfrm>
            <a:off x="1234440" y="1828800"/>
            <a:ext cx="10149840" cy="1097280"/>
          </a:xfrm>
          <a:prstGeom prst="rect">
            <a:avLst/>
          </a:prstGeom>
          <a:noFill/>
        </p:spPr>
        <p:txBody>
          <a:bodyPr wrap="square" lIns="0" rIns="0" tIns="0" bIns="0">
            <a:spAutoFit/>
          </a:bodyPr>
          <a:lstStyle/>
          <a:p>
            <a:pPr>
              <a:spcBef>
                <a:spcPts val="0"/>
              </a:spcBef>
              <a:spcAft>
                <a:spcPts val="300"/>
              </a:spcAft>
              <a:defRPr sz="2000" b="0">
                <a:solidFill>
                  <a:srgbClr val="1A1A1A"/>
                </a:solidFill>
                <a:latin typeface="Arial"/>
              </a:defRPr>
            </a:pPr>
            <a:r>
              <a:rPr>
                <a:solidFill>
                  <a:srgbClr val="FFFFFF"/>
                </a:solidFill>
                <a:latin typeface="Arial"/>
              </a:rPr>
              <a:t>In Shape Canvas, compare the scheduled rectangle, rectangular prism and right triangle. Label the given dimensions and identify the unknown for the relevant written problem.</a:t>
            </a:r>
          </a:p>
        </p:txBody>
      </p:sp>
      <p:sp>
        <p:nvSpPr>
          <p:cNvPr id="7" name="Rectangle 6"/>
          <p:cNvSpPr/>
          <p:nvPr/>
        </p:nvSpPr>
        <p:spPr>
          <a:xfrm>
            <a:off x="658368" y="3127248"/>
            <a:ext cx="365760" cy="365760"/>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1">
                <a:solidFill>
                  <a:srgbClr val="1A1A1A"/>
                </a:solidFill>
                <a:latin typeface="Arial"/>
              </a:defRPr>
            </a:pPr>
            <a:r>
              <a:rPr b="1" sz="2000">
                <a:solidFill>
                  <a:srgbClr val="201C19"/>
                </a:solidFill>
                <a:latin typeface="Arial"/>
              </a:rPr>
              <a:t>2</a:t>
            </a:r>
          </a:p>
        </p:txBody>
      </p:sp>
      <p:sp>
        <p:nvSpPr>
          <p:cNvPr id="8" name="TextBox 7"/>
          <p:cNvSpPr txBox="1"/>
          <p:nvPr/>
        </p:nvSpPr>
        <p:spPr>
          <a:xfrm>
            <a:off x="1234440" y="3127248"/>
            <a:ext cx="10149840" cy="1097280"/>
          </a:xfrm>
          <a:prstGeom prst="rect">
            <a:avLst/>
          </a:prstGeom>
          <a:noFill/>
        </p:spPr>
        <p:txBody>
          <a:bodyPr wrap="square" lIns="0" rIns="0" tIns="0" bIns="0">
            <a:spAutoFit/>
          </a:bodyPr>
          <a:lstStyle/>
          <a:p>
            <a:pPr>
              <a:spcBef>
                <a:spcPts val="0"/>
              </a:spcBef>
              <a:spcAft>
                <a:spcPts val="300"/>
              </a:spcAft>
              <a:defRPr sz="2200" b="0">
                <a:solidFill>
                  <a:srgbClr val="1A1A1A"/>
                </a:solidFill>
                <a:latin typeface="Arial"/>
              </a:defRPr>
            </a:pPr>
            <a:r>
              <a:rPr>
                <a:solidFill>
                  <a:srgbClr val="FFFFFF"/>
                </a:solidFill>
                <a:latin typeface="Arial"/>
              </a:rPr>
              <a:t>After the listed paper work, use Numeracy Hub Volume and Layout or Angles and Trig for one Easy task in a taught topic, chosen to match the documented need.</a:t>
            </a:r>
          </a:p>
        </p:txBody>
      </p:sp>
      <p:sp>
        <p:nvSpPr>
          <p:cNvPr id="9" name="Rectangle 8"/>
          <p:cNvSpPr/>
          <p:nvPr/>
        </p:nvSpPr>
        <p:spPr>
          <a:xfrm>
            <a:off x="658368" y="4425696"/>
            <a:ext cx="365760" cy="365760"/>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1">
                <a:solidFill>
                  <a:srgbClr val="1A1A1A"/>
                </a:solidFill>
                <a:latin typeface="Arial"/>
              </a:defRPr>
            </a:pPr>
            <a:r>
              <a:rPr b="1" sz="2000">
                <a:solidFill>
                  <a:srgbClr val="201C19"/>
                </a:solidFill>
                <a:latin typeface="Arial"/>
              </a:rPr>
              <a:t>3</a:t>
            </a:r>
          </a:p>
        </p:txBody>
      </p:sp>
      <p:sp>
        <p:nvSpPr>
          <p:cNvPr id="10" name="TextBox 9"/>
          <p:cNvSpPr txBox="1"/>
          <p:nvPr/>
        </p:nvSpPr>
        <p:spPr>
          <a:xfrm>
            <a:off x="1234440" y="4425696"/>
            <a:ext cx="10149840" cy="1097280"/>
          </a:xfrm>
          <a:prstGeom prst="rect">
            <a:avLst/>
          </a:prstGeom>
          <a:noFill/>
        </p:spPr>
        <p:txBody>
          <a:bodyPr wrap="square" lIns="0" rIns="0" tIns="0" bIns="0">
            <a:spAutoFit/>
          </a:bodyPr>
          <a:lstStyle/>
          <a:p>
            <a:pPr>
              <a:spcBef>
                <a:spcPts val="0"/>
              </a:spcBef>
              <a:spcAft>
                <a:spcPts val="300"/>
              </a:spcAft>
              <a:defRPr sz="2200" b="0">
                <a:solidFill>
                  <a:srgbClr val="1A1A1A"/>
                </a:solidFill>
                <a:latin typeface="Arial"/>
              </a:defRPr>
            </a:pPr>
            <a:r>
              <a:rPr>
                <a:solidFill>
                  <a:srgbClr val="FFFFFF"/>
                </a:solidFill>
                <a:latin typeface="Arial"/>
              </a:rPr>
              <a:t>Keep the question/code, written formula, diagram and units. Explain why the method applies and use the drawing to reject an unreasonable unit or magnitude.</a:t>
            </a:r>
          </a:p>
        </p:txBody>
      </p:sp>
      <p:pic>
        <p:nvPicPr>
          <p:cNvPr id="11" name="Picture 10"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3" name="TextBox 12"/>
          <p:cNvSpPr txBox="1"/>
          <p:nvPr/>
        </p:nvSpPr>
        <p:spPr>
          <a:xfrm>
            <a:off x="612648" y="6620256"/>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4"/>
              </a:rPr>
              <a:t>Textbook</a:t>
            </a:r>
          </a:p>
        </p:txBody>
      </p:sp>
      <p:sp>
        <p:nvSpPr>
          <p:cNvPr id="14" name="TextBox 13"/>
          <p:cNvSpPr txBox="1"/>
          <p:nvPr/>
        </p:nvSpPr>
        <p:spPr>
          <a:xfrm>
            <a:off x="1691640" y="6620256"/>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5"/>
              </a:rPr>
              <a:t>Exercise Book</a:t>
            </a:r>
          </a:p>
        </p:txBody>
      </p:sp>
      <p:sp>
        <p:nvSpPr>
          <p:cNvPr id="15" name="TextBox 14"/>
          <p:cNvSpPr txBox="1"/>
          <p:nvPr/>
        </p:nvSpPr>
        <p:spPr>
          <a:xfrm>
            <a:off x="3136392" y="6620256"/>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6"/>
              </a:rPr>
              <a:t>Numeracy Hub</a:t>
            </a:r>
          </a:p>
        </p:txBody>
      </p:sp>
      <p:sp>
        <p:nvSpPr>
          <p:cNvPr id="16" name="TextBox 15"/>
          <p:cNvSpPr txBox="1"/>
          <p:nvPr/>
        </p:nvSpPr>
        <p:spPr>
          <a:xfrm>
            <a:off x="4736592" y="6620256"/>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7"/>
              </a:rPr>
              <a:t>Shape Canvas</a:t>
            </a:r>
          </a:p>
        </p:txBody>
      </p:sp>
      <p:sp>
        <p:nvSpPr>
          <p:cNvPr id="17" name="TextBox 16"/>
          <p:cNvSpPr txBox="1"/>
          <p:nvPr/>
        </p:nvSpPr>
        <p:spPr>
          <a:xfrm>
            <a:off x="8412480" y="6620256"/>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sz="850">
                <a:solidFill>
                  <a:srgbClr val="F7F4F1"/>
                </a:solidFill>
                <a:latin typeface="Arial"/>
              </a:rPr>
              <a:t>Day 25  •  2026-12-14  •  36</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1A1512"/>
        </a:solidFill>
        <a:effectLst/>
      </p:bgPr>
    </p:bg>
    <p:spTree>
      <p:nvGrpSpPr>
        <p:cNvPr id="1" name=""/>
        <p:cNvGrpSpPr/>
        <p:nvPr/>
      </p:nvGrpSpPr>
      <p:grpSpPr/>
      <p:sp>
        <p:nvSpPr>
          <p:cNvPr id="14" name="Rectangle 13"/>
          <p:cNvSpPr/>
          <p:nvPr/>
        </p:nvSpPr>
        <p:spPr>
          <a:xfrm>
            <a:off x="0" y="6528816"/>
            <a:ext cx="12191695" cy="329184"/>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0"/>
            <a:ext cx="12191695" cy="1645920"/>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104120" y="114300"/>
            <a:ext cx="1517904" cy="753153"/>
          </a:xfrm>
          <a:prstGeom prst="roundRect">
            <a:avLst>
              <a:gd name="adj" fmla="val 8000"/>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12064" y="1773936"/>
            <a:ext cx="11173968" cy="377647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spAutoFit/>
          </a:bodyPr>
          <a:lstStyle/>
          <a:p>
            <a:pPr>
              <a:spcBef>
                <a:spcPts val="0"/>
              </a:spcBef>
              <a:spcAft>
                <a:spcPts val="300"/>
              </a:spcAft>
              <a:defRPr sz="1150" b="1">
                <a:solidFill>
                  <a:srgbClr val="D2181F"/>
                </a:solidFill>
                <a:latin typeface="Arial"/>
              </a:defRPr>
            </a:pPr>
            <a:r>
              <a:rPr>
                <a:solidFill>
                  <a:srgbClr val="FFFFFF"/>
                </a:solidFill>
                <a:latin typeface="Arial"/>
              </a:rPr>
              <a:t>W08-L02  •  PRACTISE  •  11:10 AM–11:45 AM  •  35 MIN TOTAL</a:t>
            </a:r>
          </a:p>
        </p:txBody>
      </p:sp>
      <p:sp>
        <p:nvSpPr>
          <p:cNvPr id="3" name="TextBox 2"/>
          <p:cNvSpPr txBox="1"/>
          <p:nvPr/>
        </p:nvSpPr>
        <p:spPr>
          <a:xfrm>
            <a:off x="612648" y="932688"/>
            <a:ext cx="10927080" cy="749808"/>
          </a:xfrm>
          <a:prstGeom prst="rect">
            <a:avLst/>
          </a:prstGeom>
          <a:noFill/>
        </p:spPr>
        <p:txBody>
          <a:bodyPr wrap="square" lIns="0" rIns="0" tIns="0" bIns="0">
            <a:spAutoFit/>
          </a:bodyPr>
          <a:lstStyle/>
          <a:p>
            <a:pPr>
              <a:spcBef>
                <a:spcPts val="0"/>
              </a:spcBef>
              <a:spcAft>
                <a:spcPts val="300"/>
              </a:spcAft>
              <a:defRPr sz="2900" b="1">
                <a:solidFill>
                  <a:srgbClr val="1A1A1A"/>
                </a:solidFill>
                <a:latin typeface="Arial"/>
              </a:defRPr>
            </a:pPr>
            <a:r>
              <a:rPr b="1">
                <a:solidFill>
                  <a:srgbClr val="FFFFFF"/>
                </a:solidFill>
                <a:latin typeface="Arial"/>
              </a:rPr>
              <a:t>Practise from the Exercise Book  |  9A Q1</a:t>
            </a:r>
          </a:p>
        </p:txBody>
      </p:sp>
      <p:sp>
        <p:nvSpPr>
          <p:cNvPr id="4" name="TextBox 3"/>
          <p:cNvSpPr txBox="1"/>
          <p:nvPr/>
        </p:nvSpPr>
        <p:spPr>
          <a:xfrm>
            <a:off x="612648" y="6327648"/>
            <a:ext cx="10881360" cy="219456"/>
          </a:xfrm>
          <a:prstGeom prst="rect">
            <a:avLst/>
          </a:prstGeom>
          <a:noFill/>
        </p:spPr>
        <p:txBody>
          <a:bodyPr wrap="square" lIns="0" rIns="0" tIns="0" bIns="0">
            <a:spAutoFit/>
          </a:bodyPr>
          <a:lstStyle/>
          <a:p>
            <a:pPr>
              <a:spcBef>
                <a:spcPts val="0"/>
              </a:spcBef>
              <a:spcAft>
                <a:spcPts val="300"/>
              </a:spcAft>
              <a:defRPr sz="1050" b="0">
                <a:solidFill>
                  <a:srgbClr val="4A4E54"/>
                </a:solidFill>
                <a:latin typeface="Arial"/>
              </a:defRPr>
            </a:pPr>
            <a:r>
              <a:rPr>
                <a:solidFill>
                  <a:srgbClr val="D9CEC5"/>
                </a:solidFill>
                <a:latin typeface="Arial"/>
              </a:rPr>
              <a:t>Textbook Chapter 9–13 pp.140–214, selected; formula sheet p.219</a:t>
            </a:r>
          </a:p>
        </p:txBody>
      </p:sp>
      <p:pic>
        <p:nvPicPr>
          <p:cNvPr id="5" name="Picture 4" descr="9A-Q1.png"/>
          <p:cNvPicPr>
            <a:picLocks noChangeAspect="1"/>
          </p:cNvPicPr>
          <p:nvPr/>
        </p:nvPicPr>
        <p:blipFill>
          <a:blip r:embed="rId3"/>
          <a:stretch>
            <a:fillRect/>
          </a:stretch>
        </p:blipFill>
        <p:spPr>
          <a:xfrm>
            <a:off x="685800" y="3134106"/>
            <a:ext cx="10698480" cy="891540"/>
          </a:xfrm>
          <a:prstGeom prst="rect">
            <a:avLst/>
          </a:prstGeom>
        </p:spPr>
      </p:pic>
      <p:sp>
        <p:nvSpPr>
          <p:cNvPr id="6" name="TextBox 5"/>
          <p:cNvSpPr txBox="1"/>
          <p:nvPr/>
        </p:nvSpPr>
        <p:spPr>
          <a:xfrm>
            <a:off x="685800" y="5596128"/>
            <a:ext cx="10698480" cy="457200"/>
          </a:xfrm>
          <a:prstGeom prst="rect">
            <a:avLst/>
          </a:prstGeom>
          <a:noFill/>
        </p:spPr>
        <p:txBody>
          <a:bodyPr wrap="square" lIns="0" rIns="0" tIns="0" bIns="0">
            <a:spAutoFit/>
          </a:bodyPr>
          <a:lstStyle/>
          <a:p>
            <a:pPr>
              <a:spcBef>
                <a:spcPts val="0"/>
              </a:spcBef>
              <a:spcAft>
                <a:spcPts val="300"/>
              </a:spcAft>
              <a:defRPr sz="1700" b="0">
                <a:solidFill>
                  <a:srgbClr val="4A4E54"/>
                </a:solidFill>
                <a:latin typeface="Arial"/>
              </a:defRPr>
            </a:pPr>
            <a:r>
              <a:rPr>
                <a:solidFill>
                  <a:srgbClr val="F7F4F1"/>
                </a:solidFill>
                <a:latin typeface="Arial"/>
              </a:rPr>
              <a:t>Write the operation, working and units before checking.</a:t>
            </a:r>
          </a:p>
        </p:txBody>
      </p:sp>
      <p:pic>
        <p:nvPicPr>
          <p:cNvPr id="7" name="Picture 6" descr="access-logo.png"/>
          <p:cNvPicPr>
            <a:picLocks noChangeAspect="1"/>
          </p:cNvPicPr>
          <p:nvPr/>
        </p:nvPicPr>
        <p:blipFill>
          <a:blip r:embed="rId4"/>
          <a:stretch>
            <a:fillRect/>
          </a:stretch>
        </p:blipFill>
        <p:spPr>
          <a:xfrm>
            <a:off x="10177272" y="146304"/>
            <a:ext cx="1371600" cy="689145"/>
          </a:xfrm>
          <a:prstGeom prst="rect">
            <a:avLst/>
          </a:prstGeom>
        </p:spPr>
      </p:pic>
      <p:sp>
        <p:nvSpPr>
          <p:cNvPr id="9" name="TextBox 8"/>
          <p:cNvSpPr txBox="1"/>
          <p:nvPr/>
        </p:nvSpPr>
        <p:spPr>
          <a:xfrm>
            <a:off x="612648" y="6620256"/>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5"/>
              </a:rPr>
              <a:t>Textbook</a:t>
            </a:r>
          </a:p>
        </p:txBody>
      </p:sp>
      <p:sp>
        <p:nvSpPr>
          <p:cNvPr id="10" name="TextBox 9"/>
          <p:cNvSpPr txBox="1"/>
          <p:nvPr/>
        </p:nvSpPr>
        <p:spPr>
          <a:xfrm>
            <a:off x="1691640" y="6620256"/>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6"/>
              </a:rPr>
              <a:t>Exercise Book</a:t>
            </a:r>
          </a:p>
        </p:txBody>
      </p:sp>
      <p:sp>
        <p:nvSpPr>
          <p:cNvPr id="11" name="TextBox 10"/>
          <p:cNvSpPr txBox="1"/>
          <p:nvPr/>
        </p:nvSpPr>
        <p:spPr>
          <a:xfrm>
            <a:off x="3136392" y="6620256"/>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7"/>
              </a:rPr>
              <a:t>Numeracy Hub</a:t>
            </a:r>
          </a:p>
        </p:txBody>
      </p:sp>
      <p:sp>
        <p:nvSpPr>
          <p:cNvPr id="12" name="TextBox 11"/>
          <p:cNvSpPr txBox="1"/>
          <p:nvPr/>
        </p:nvSpPr>
        <p:spPr>
          <a:xfrm>
            <a:off x="4736592" y="6620256"/>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8"/>
              </a:rPr>
              <a:t>Shape Canvas</a:t>
            </a:r>
          </a:p>
        </p:txBody>
      </p:sp>
      <p:sp>
        <p:nvSpPr>
          <p:cNvPr id="13" name="TextBox 12"/>
          <p:cNvSpPr txBox="1"/>
          <p:nvPr/>
        </p:nvSpPr>
        <p:spPr>
          <a:xfrm>
            <a:off x="8412480" y="6620256"/>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sz="850">
                <a:solidFill>
                  <a:srgbClr val="F7F4F1"/>
                </a:solidFill>
                <a:latin typeface="Arial"/>
              </a:rPr>
              <a:t>Day 25  •  2026-12-14  •  37</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1A1512"/>
        </a:solidFill>
        <a:effectLst/>
      </p:bgPr>
    </p:bg>
    <p:spTree>
      <p:nvGrpSpPr>
        <p:cNvPr id="1" name=""/>
        <p:cNvGrpSpPr/>
        <p:nvPr/>
      </p:nvGrpSpPr>
      <p:grpSpPr/>
      <p:sp>
        <p:nvSpPr>
          <p:cNvPr id="14" name="Rectangle 13"/>
          <p:cNvSpPr/>
          <p:nvPr/>
        </p:nvSpPr>
        <p:spPr>
          <a:xfrm>
            <a:off x="0" y="6528816"/>
            <a:ext cx="12191695" cy="329184"/>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0"/>
            <a:ext cx="12191695" cy="1645920"/>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104120" y="114300"/>
            <a:ext cx="1517904" cy="753153"/>
          </a:xfrm>
          <a:prstGeom prst="roundRect">
            <a:avLst>
              <a:gd name="adj" fmla="val 8000"/>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12064" y="1773936"/>
            <a:ext cx="11173968" cy="377647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spAutoFit/>
          </a:bodyPr>
          <a:lstStyle/>
          <a:p>
            <a:pPr>
              <a:spcBef>
                <a:spcPts val="0"/>
              </a:spcBef>
              <a:spcAft>
                <a:spcPts val="300"/>
              </a:spcAft>
              <a:defRPr sz="1150" b="1">
                <a:solidFill>
                  <a:srgbClr val="D2181F"/>
                </a:solidFill>
                <a:latin typeface="Arial"/>
              </a:defRPr>
            </a:pPr>
            <a:r>
              <a:rPr>
                <a:solidFill>
                  <a:srgbClr val="FFFFFF"/>
                </a:solidFill>
                <a:latin typeface="Arial"/>
              </a:rPr>
              <a:t>W08-L02  •  PRACTISE  •  11:10 AM–11:45 AM  •  35 MIN TOTAL</a:t>
            </a:r>
          </a:p>
        </p:txBody>
      </p:sp>
      <p:sp>
        <p:nvSpPr>
          <p:cNvPr id="3" name="TextBox 2"/>
          <p:cNvSpPr txBox="1"/>
          <p:nvPr/>
        </p:nvSpPr>
        <p:spPr>
          <a:xfrm>
            <a:off x="612648" y="932688"/>
            <a:ext cx="10927080" cy="749808"/>
          </a:xfrm>
          <a:prstGeom prst="rect">
            <a:avLst/>
          </a:prstGeom>
          <a:noFill/>
        </p:spPr>
        <p:txBody>
          <a:bodyPr wrap="square" lIns="0" rIns="0" tIns="0" bIns="0">
            <a:spAutoFit/>
          </a:bodyPr>
          <a:lstStyle/>
          <a:p>
            <a:pPr>
              <a:spcBef>
                <a:spcPts val="0"/>
              </a:spcBef>
              <a:spcAft>
                <a:spcPts val="300"/>
              </a:spcAft>
              <a:defRPr sz="2900" b="1">
                <a:solidFill>
                  <a:srgbClr val="1A1A1A"/>
                </a:solidFill>
                <a:latin typeface="Arial"/>
              </a:defRPr>
            </a:pPr>
            <a:r>
              <a:rPr b="1">
                <a:solidFill>
                  <a:srgbClr val="FFFFFF"/>
                </a:solidFill>
                <a:latin typeface="Arial"/>
              </a:rPr>
              <a:t>Practise from the Exercise Book  |  9A Q8</a:t>
            </a:r>
          </a:p>
        </p:txBody>
      </p:sp>
      <p:sp>
        <p:nvSpPr>
          <p:cNvPr id="4" name="TextBox 3"/>
          <p:cNvSpPr txBox="1"/>
          <p:nvPr/>
        </p:nvSpPr>
        <p:spPr>
          <a:xfrm>
            <a:off x="612648" y="6327648"/>
            <a:ext cx="10881360" cy="219456"/>
          </a:xfrm>
          <a:prstGeom prst="rect">
            <a:avLst/>
          </a:prstGeom>
          <a:noFill/>
        </p:spPr>
        <p:txBody>
          <a:bodyPr wrap="square" lIns="0" rIns="0" tIns="0" bIns="0">
            <a:spAutoFit/>
          </a:bodyPr>
          <a:lstStyle/>
          <a:p>
            <a:pPr>
              <a:spcBef>
                <a:spcPts val="0"/>
              </a:spcBef>
              <a:spcAft>
                <a:spcPts val="300"/>
              </a:spcAft>
              <a:defRPr sz="1050" b="0">
                <a:solidFill>
                  <a:srgbClr val="4A4E54"/>
                </a:solidFill>
                <a:latin typeface="Arial"/>
              </a:defRPr>
            </a:pPr>
            <a:r>
              <a:rPr>
                <a:solidFill>
                  <a:srgbClr val="D9CEC5"/>
                </a:solidFill>
                <a:latin typeface="Arial"/>
              </a:rPr>
              <a:t>Textbook Chapter 9–13 pp.140–214, selected; formula sheet p.219</a:t>
            </a:r>
          </a:p>
        </p:txBody>
      </p:sp>
      <p:pic>
        <p:nvPicPr>
          <p:cNvPr id="5" name="Picture 4" descr="9A-Q8.png"/>
          <p:cNvPicPr>
            <a:picLocks noChangeAspect="1"/>
          </p:cNvPicPr>
          <p:nvPr/>
        </p:nvPicPr>
        <p:blipFill>
          <a:blip r:embed="rId3"/>
          <a:stretch>
            <a:fillRect/>
          </a:stretch>
        </p:blipFill>
        <p:spPr>
          <a:xfrm>
            <a:off x="685800" y="2896362"/>
            <a:ext cx="10698480" cy="1367028"/>
          </a:xfrm>
          <a:prstGeom prst="rect">
            <a:avLst/>
          </a:prstGeom>
        </p:spPr>
      </p:pic>
      <p:sp>
        <p:nvSpPr>
          <p:cNvPr id="6" name="TextBox 5"/>
          <p:cNvSpPr txBox="1"/>
          <p:nvPr/>
        </p:nvSpPr>
        <p:spPr>
          <a:xfrm>
            <a:off x="685800" y="5596128"/>
            <a:ext cx="10698480" cy="457200"/>
          </a:xfrm>
          <a:prstGeom prst="rect">
            <a:avLst/>
          </a:prstGeom>
          <a:noFill/>
        </p:spPr>
        <p:txBody>
          <a:bodyPr wrap="square" lIns="0" rIns="0" tIns="0" bIns="0">
            <a:spAutoFit/>
          </a:bodyPr>
          <a:lstStyle/>
          <a:p>
            <a:pPr>
              <a:spcBef>
                <a:spcPts val="0"/>
              </a:spcBef>
              <a:spcAft>
                <a:spcPts val="300"/>
              </a:spcAft>
              <a:defRPr sz="1700" b="0">
                <a:solidFill>
                  <a:srgbClr val="4A4E54"/>
                </a:solidFill>
                <a:latin typeface="Arial"/>
              </a:defRPr>
            </a:pPr>
            <a:r>
              <a:rPr>
                <a:solidFill>
                  <a:srgbClr val="F7F4F1"/>
                </a:solidFill>
                <a:latin typeface="Arial"/>
              </a:rPr>
              <a:t>Write the operation, working and units before checking.</a:t>
            </a:r>
          </a:p>
        </p:txBody>
      </p:sp>
      <p:pic>
        <p:nvPicPr>
          <p:cNvPr id="7" name="Picture 6" descr="access-logo.png"/>
          <p:cNvPicPr>
            <a:picLocks noChangeAspect="1"/>
          </p:cNvPicPr>
          <p:nvPr/>
        </p:nvPicPr>
        <p:blipFill>
          <a:blip r:embed="rId4"/>
          <a:stretch>
            <a:fillRect/>
          </a:stretch>
        </p:blipFill>
        <p:spPr>
          <a:xfrm>
            <a:off x="10177272" y="146304"/>
            <a:ext cx="1371600" cy="689145"/>
          </a:xfrm>
          <a:prstGeom prst="rect">
            <a:avLst/>
          </a:prstGeom>
        </p:spPr>
      </p:pic>
      <p:sp>
        <p:nvSpPr>
          <p:cNvPr id="9" name="TextBox 8"/>
          <p:cNvSpPr txBox="1"/>
          <p:nvPr/>
        </p:nvSpPr>
        <p:spPr>
          <a:xfrm>
            <a:off x="612648" y="6620256"/>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5"/>
              </a:rPr>
              <a:t>Textbook</a:t>
            </a:r>
          </a:p>
        </p:txBody>
      </p:sp>
      <p:sp>
        <p:nvSpPr>
          <p:cNvPr id="10" name="TextBox 9"/>
          <p:cNvSpPr txBox="1"/>
          <p:nvPr/>
        </p:nvSpPr>
        <p:spPr>
          <a:xfrm>
            <a:off x="1691640" y="6620256"/>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6"/>
              </a:rPr>
              <a:t>Exercise Book</a:t>
            </a:r>
          </a:p>
        </p:txBody>
      </p:sp>
      <p:sp>
        <p:nvSpPr>
          <p:cNvPr id="11" name="TextBox 10"/>
          <p:cNvSpPr txBox="1"/>
          <p:nvPr/>
        </p:nvSpPr>
        <p:spPr>
          <a:xfrm>
            <a:off x="3136392" y="6620256"/>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7"/>
              </a:rPr>
              <a:t>Numeracy Hub</a:t>
            </a:r>
          </a:p>
        </p:txBody>
      </p:sp>
      <p:sp>
        <p:nvSpPr>
          <p:cNvPr id="12" name="TextBox 11"/>
          <p:cNvSpPr txBox="1"/>
          <p:nvPr/>
        </p:nvSpPr>
        <p:spPr>
          <a:xfrm>
            <a:off x="4736592" y="6620256"/>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8"/>
              </a:rPr>
              <a:t>Shape Canvas</a:t>
            </a:r>
          </a:p>
        </p:txBody>
      </p:sp>
      <p:sp>
        <p:nvSpPr>
          <p:cNvPr id="13" name="TextBox 12"/>
          <p:cNvSpPr txBox="1"/>
          <p:nvPr/>
        </p:nvSpPr>
        <p:spPr>
          <a:xfrm>
            <a:off x="8412480" y="6620256"/>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sz="850">
                <a:solidFill>
                  <a:srgbClr val="F7F4F1"/>
                </a:solidFill>
                <a:latin typeface="Arial"/>
              </a:rPr>
              <a:t>Day 25  •  2026-12-14  •  38</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5A1018"/>
        </a:solidFill>
        <a:effectLst/>
      </p:bgPr>
    </p:bg>
    <p:spTree>
      <p:nvGrpSpPr>
        <p:cNvPr id="1" name=""/>
        <p:cNvGrpSpPr/>
        <p:nvPr/>
      </p:nvGrpSpPr>
      <p:grpSpPr/>
      <p:sp>
        <p:nvSpPr>
          <p:cNvPr id="16" name="Rectangle 15"/>
          <p:cNvSpPr/>
          <p:nvPr/>
        </p:nvSpPr>
        <p:spPr>
          <a:xfrm>
            <a:off x="0" y="6528816"/>
            <a:ext cx="12191695" cy="329184"/>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0" y="0"/>
            <a:ext cx="12191695" cy="1645920"/>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10104120" y="114300"/>
            <a:ext cx="1517904" cy="753153"/>
          </a:xfrm>
          <a:prstGeom prst="roundRect">
            <a:avLst>
              <a:gd name="adj" fmla="val 8000"/>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493776" y="1773936"/>
            <a:ext cx="11192256" cy="2240280"/>
          </a:xfrm>
          <a:prstGeom prst="roundRect">
            <a:avLst>
              <a:gd name="adj" fmla="val 8000"/>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spAutoFit/>
          </a:bodyPr>
          <a:lstStyle/>
          <a:p>
            <a:pPr>
              <a:spcBef>
                <a:spcPts val="0"/>
              </a:spcBef>
              <a:spcAft>
                <a:spcPts val="300"/>
              </a:spcAft>
              <a:defRPr sz="1150" b="1">
                <a:solidFill>
                  <a:srgbClr val="D2181F"/>
                </a:solidFill>
                <a:latin typeface="Arial"/>
              </a:defRPr>
            </a:pPr>
            <a:r>
              <a:rPr>
                <a:solidFill>
                  <a:srgbClr val="FFFFFF"/>
                </a:solidFill>
                <a:latin typeface="Arial"/>
              </a:rPr>
              <a:t>W08-L02  •  CHECK  •  11:45 AM–11:55 AM  •  10 MIN TOTAL</a:t>
            </a:r>
          </a:p>
        </p:txBody>
      </p:sp>
      <p:sp>
        <p:nvSpPr>
          <p:cNvPr id="3" name="TextBox 2"/>
          <p:cNvSpPr txBox="1"/>
          <p:nvPr/>
        </p:nvSpPr>
        <p:spPr>
          <a:xfrm>
            <a:off x="612648" y="932688"/>
            <a:ext cx="10927080" cy="749808"/>
          </a:xfrm>
          <a:prstGeom prst="rect">
            <a:avLst/>
          </a:prstGeom>
          <a:noFill/>
        </p:spPr>
        <p:txBody>
          <a:bodyPr wrap="square" lIns="0" rIns="0" tIns="0" bIns="0">
            <a:spAutoFit/>
          </a:bodyPr>
          <a:lstStyle/>
          <a:p>
            <a:pPr>
              <a:spcBef>
                <a:spcPts val="0"/>
              </a:spcBef>
              <a:spcAft>
                <a:spcPts val="300"/>
              </a:spcAft>
              <a:defRPr sz="2900" b="1">
                <a:solidFill>
                  <a:srgbClr val="1A1A1A"/>
                </a:solidFill>
                <a:latin typeface="Arial"/>
              </a:defRPr>
            </a:pPr>
            <a:r>
              <a:rPr b="1">
                <a:solidFill>
                  <a:srgbClr val="FFFFFF"/>
                </a:solidFill>
                <a:latin typeface="Arial"/>
              </a:rPr>
              <a:t>Check independently</a:t>
            </a:r>
          </a:p>
        </p:txBody>
      </p:sp>
      <p:sp>
        <p:nvSpPr>
          <p:cNvPr id="4" name="TextBox 3"/>
          <p:cNvSpPr txBox="1"/>
          <p:nvPr/>
        </p:nvSpPr>
        <p:spPr>
          <a:xfrm>
            <a:off x="612648" y="6327648"/>
            <a:ext cx="10881360" cy="219456"/>
          </a:xfrm>
          <a:prstGeom prst="rect">
            <a:avLst/>
          </a:prstGeom>
          <a:noFill/>
        </p:spPr>
        <p:txBody>
          <a:bodyPr wrap="square" lIns="0" rIns="0" tIns="0" bIns="0">
            <a:spAutoFit/>
          </a:bodyPr>
          <a:lstStyle/>
          <a:p>
            <a:pPr>
              <a:spcBef>
                <a:spcPts val="0"/>
              </a:spcBef>
              <a:spcAft>
                <a:spcPts val="300"/>
              </a:spcAft>
              <a:defRPr sz="1050" b="0">
                <a:solidFill>
                  <a:srgbClr val="4A4E54"/>
                </a:solidFill>
                <a:latin typeface="Arial"/>
              </a:defRPr>
            </a:pPr>
            <a:r>
              <a:rPr>
                <a:solidFill>
                  <a:srgbClr val="D9CEC5"/>
                </a:solidFill>
                <a:latin typeface="Arial"/>
              </a:rPr>
              <a:t>Textbook Chapter 9–13 pp.140–214, selected; formula sheet p.219</a:t>
            </a:r>
          </a:p>
        </p:txBody>
      </p:sp>
      <p:sp>
        <p:nvSpPr>
          <p:cNvPr id="5" name="TextBox 4"/>
          <p:cNvSpPr txBox="1"/>
          <p:nvPr/>
        </p:nvSpPr>
        <p:spPr>
          <a:xfrm>
            <a:off x="612648" y="1874519"/>
            <a:ext cx="10927080" cy="2103120"/>
          </a:xfrm>
          <a:prstGeom prst="rect">
            <a:avLst/>
          </a:prstGeom>
          <a:noFill/>
        </p:spPr>
        <p:txBody>
          <a:bodyPr wrap="square" lIns="0" rIns="0" tIns="0" bIns="0">
            <a:spAutoFit/>
          </a:bodyPr>
          <a:lstStyle/>
          <a:p>
            <a:pPr>
              <a:spcBef>
                <a:spcPts val="0"/>
              </a:spcBef>
              <a:spcAft>
                <a:spcPts val="300"/>
              </a:spcAft>
              <a:defRPr sz="2400" b="0">
                <a:solidFill>
                  <a:srgbClr val="1A1A1A"/>
                </a:solidFill>
                <a:latin typeface="Arial"/>
              </a:defRPr>
            </a:pPr>
            <a:r>
              <a:rPr>
                <a:solidFill>
                  <a:srgbClr val="FFFFFF"/>
                </a:solidFill>
                <a:latin typeface="Arial"/>
              </a:rPr>
              <a:t>Exercise Book 10B Q11, 11A Q19 and 13A Q14, with diagrams and units.</a:t>
            </a:r>
          </a:p>
        </p:txBody>
      </p:sp>
      <p:sp>
        <p:nvSpPr>
          <p:cNvPr id="6" name="Rectangle 5"/>
          <p:cNvSpPr/>
          <p:nvPr/>
        </p:nvSpPr>
        <p:spPr>
          <a:xfrm>
            <a:off x="612648" y="4251960"/>
            <a:ext cx="10927080" cy="1280160"/>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A1A1A"/>
                </a:solidFill>
                <a:latin typeface="Arial"/>
              </a:defRPr>
            </a:pPr>
          </a:p>
        </p:txBody>
      </p:sp>
      <p:sp>
        <p:nvSpPr>
          <p:cNvPr id="7" name="TextBox 6"/>
          <p:cNvSpPr txBox="1"/>
          <p:nvPr/>
        </p:nvSpPr>
        <p:spPr>
          <a:xfrm>
            <a:off x="859536" y="4462272"/>
            <a:ext cx="10424160" cy="822960"/>
          </a:xfrm>
          <a:prstGeom prst="rect">
            <a:avLst/>
          </a:prstGeom>
          <a:noFill/>
        </p:spPr>
        <p:txBody>
          <a:bodyPr wrap="square" lIns="0" rIns="0" tIns="0" bIns="0">
            <a:spAutoFit/>
          </a:bodyPr>
          <a:lstStyle/>
          <a:p>
            <a:pPr>
              <a:spcBef>
                <a:spcPts val="0"/>
              </a:spcBef>
              <a:spcAft>
                <a:spcPts val="300"/>
              </a:spcAft>
              <a:defRPr sz="2100" b="1">
                <a:solidFill>
                  <a:srgbClr val="1A1A1A"/>
                </a:solidFill>
                <a:latin typeface="Arial"/>
              </a:defRPr>
            </a:pPr>
            <a:r>
              <a:rPr b="1">
                <a:solidFill>
                  <a:srgbClr val="201C19"/>
                </a:solidFill>
                <a:latin typeface="Arial"/>
              </a:rPr>
              <a:t>Submit work and demonstrate the checking strategy; identify a remaining difficulty.</a:t>
            </a:r>
          </a:p>
        </p:txBody>
      </p:sp>
      <p:sp>
        <p:nvSpPr>
          <p:cNvPr id="8" name="TextBox 7"/>
          <p:cNvSpPr txBox="1"/>
          <p:nvPr/>
        </p:nvSpPr>
        <p:spPr>
          <a:xfrm>
            <a:off x="612648" y="5788152"/>
            <a:ext cx="10927080" cy="411480"/>
          </a:xfrm>
          <a:prstGeom prst="rect">
            <a:avLst/>
          </a:prstGeom>
          <a:noFill/>
        </p:spPr>
        <p:txBody>
          <a:bodyPr wrap="square" lIns="0" rIns="0" tIns="0" bIns="0">
            <a:spAutoFit/>
          </a:bodyPr>
          <a:lstStyle/>
          <a:p>
            <a:pPr>
              <a:spcBef>
                <a:spcPts val="0"/>
              </a:spcBef>
              <a:spcAft>
                <a:spcPts val="300"/>
              </a:spcAft>
              <a:defRPr sz="1250" b="0">
                <a:solidFill>
                  <a:srgbClr val="4A4E54"/>
                </a:solidFill>
                <a:latin typeface="Arial"/>
              </a:defRPr>
            </a:pPr>
            <a:r>
              <a:rPr>
                <a:solidFill>
                  <a:srgbClr val="F7F4F1"/>
                </a:solidFill>
                <a:latin typeface="Arial"/>
              </a:rPr>
              <a:t>Resources: Exercise Book 9A Q1,8 p.57; 10B Q1,11 pp.65–66; 11A Q7,19 pp.69–70; 12B Q3 p.77; 13A Q6,14 p.82.</a:t>
            </a:r>
          </a:p>
        </p:txBody>
      </p:sp>
      <p:pic>
        <p:nvPicPr>
          <p:cNvPr id="9" name="Picture 8"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1" name="TextBox 10"/>
          <p:cNvSpPr txBox="1"/>
          <p:nvPr/>
        </p:nvSpPr>
        <p:spPr>
          <a:xfrm>
            <a:off x="612648" y="6620256"/>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4"/>
              </a:rPr>
              <a:t>Textbook</a:t>
            </a:r>
          </a:p>
        </p:txBody>
      </p:sp>
      <p:sp>
        <p:nvSpPr>
          <p:cNvPr id="12" name="TextBox 11"/>
          <p:cNvSpPr txBox="1"/>
          <p:nvPr/>
        </p:nvSpPr>
        <p:spPr>
          <a:xfrm>
            <a:off x="1691640" y="6620256"/>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5"/>
              </a:rPr>
              <a:t>Exercise Book</a:t>
            </a:r>
          </a:p>
        </p:txBody>
      </p:sp>
      <p:sp>
        <p:nvSpPr>
          <p:cNvPr id="13" name="TextBox 12"/>
          <p:cNvSpPr txBox="1"/>
          <p:nvPr/>
        </p:nvSpPr>
        <p:spPr>
          <a:xfrm>
            <a:off x="3136392" y="6620256"/>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6"/>
              </a:rPr>
              <a:t>Numeracy Hub</a:t>
            </a:r>
          </a:p>
        </p:txBody>
      </p:sp>
      <p:sp>
        <p:nvSpPr>
          <p:cNvPr id="14" name="TextBox 13"/>
          <p:cNvSpPr txBox="1"/>
          <p:nvPr/>
        </p:nvSpPr>
        <p:spPr>
          <a:xfrm>
            <a:off x="4736592" y="6620256"/>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7"/>
              </a:rPr>
              <a:t>Shape Canvas</a:t>
            </a:r>
          </a:p>
        </p:txBody>
      </p:sp>
      <p:sp>
        <p:nvSpPr>
          <p:cNvPr id="15" name="TextBox 14"/>
          <p:cNvSpPr txBox="1"/>
          <p:nvPr/>
        </p:nvSpPr>
        <p:spPr>
          <a:xfrm>
            <a:off x="8412480" y="6620256"/>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sz="850">
                <a:solidFill>
                  <a:srgbClr val="F7F4F1"/>
                </a:solidFill>
                <a:latin typeface="Arial"/>
              </a:rPr>
              <a:t>Day 25  •  2026-12-14  •  39</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1A1512"/>
        </a:solidFill>
        <a:effectLst/>
      </p:bgPr>
    </p:bg>
    <p:spTree>
      <p:nvGrpSpPr>
        <p:cNvPr id="1" name=""/>
        <p:cNvGrpSpPr/>
        <p:nvPr/>
      </p:nvGrpSpPr>
      <p:grpSpPr/>
      <p:sp>
        <p:nvSpPr>
          <p:cNvPr id="14" name="Rectangle 13"/>
          <p:cNvSpPr/>
          <p:nvPr/>
        </p:nvSpPr>
        <p:spPr>
          <a:xfrm>
            <a:off x="0" y="6528816"/>
            <a:ext cx="12191695" cy="329184"/>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0"/>
            <a:ext cx="12191695" cy="1645920"/>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104120" y="114300"/>
            <a:ext cx="1517904" cy="753153"/>
          </a:xfrm>
          <a:prstGeom prst="roundRect">
            <a:avLst>
              <a:gd name="adj" fmla="val 8000"/>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12064" y="1773936"/>
            <a:ext cx="11173968" cy="377647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spAutoFit/>
          </a:bodyPr>
          <a:lstStyle/>
          <a:p>
            <a:pPr>
              <a:spcBef>
                <a:spcPts val="0"/>
              </a:spcBef>
              <a:spcAft>
                <a:spcPts val="300"/>
              </a:spcAft>
              <a:defRPr sz="1150" b="1">
                <a:solidFill>
                  <a:srgbClr val="D2181F"/>
                </a:solidFill>
                <a:latin typeface="Arial"/>
              </a:defRPr>
            </a:pPr>
            <a:r>
              <a:rPr>
                <a:solidFill>
                  <a:srgbClr val="FFFFFF"/>
                </a:solidFill>
                <a:latin typeface="Arial"/>
              </a:rPr>
              <a:t>W08-L02  •  CHECK  •  11:45 AM–11:55 AM  •  10 MIN TOTAL</a:t>
            </a:r>
          </a:p>
        </p:txBody>
      </p:sp>
      <p:sp>
        <p:nvSpPr>
          <p:cNvPr id="3" name="TextBox 2"/>
          <p:cNvSpPr txBox="1"/>
          <p:nvPr/>
        </p:nvSpPr>
        <p:spPr>
          <a:xfrm>
            <a:off x="612648" y="932688"/>
            <a:ext cx="10927080" cy="749808"/>
          </a:xfrm>
          <a:prstGeom prst="rect">
            <a:avLst/>
          </a:prstGeom>
          <a:noFill/>
        </p:spPr>
        <p:txBody>
          <a:bodyPr wrap="square" lIns="0" rIns="0" tIns="0" bIns="0">
            <a:spAutoFit/>
          </a:bodyPr>
          <a:lstStyle/>
          <a:p>
            <a:pPr>
              <a:spcBef>
                <a:spcPts val="0"/>
              </a:spcBef>
              <a:spcAft>
                <a:spcPts val="300"/>
              </a:spcAft>
              <a:defRPr sz="2900" b="1">
                <a:solidFill>
                  <a:srgbClr val="1A1A1A"/>
                </a:solidFill>
                <a:latin typeface="Arial"/>
              </a:defRPr>
            </a:pPr>
            <a:r>
              <a:rPr b="1">
                <a:solidFill>
                  <a:srgbClr val="FFFFFF"/>
                </a:solidFill>
                <a:latin typeface="Arial"/>
              </a:rPr>
              <a:t>Independent check  |  10B Q11</a:t>
            </a:r>
          </a:p>
        </p:txBody>
      </p:sp>
      <p:sp>
        <p:nvSpPr>
          <p:cNvPr id="4" name="TextBox 3"/>
          <p:cNvSpPr txBox="1"/>
          <p:nvPr/>
        </p:nvSpPr>
        <p:spPr>
          <a:xfrm>
            <a:off x="612648" y="6327648"/>
            <a:ext cx="10881360" cy="219456"/>
          </a:xfrm>
          <a:prstGeom prst="rect">
            <a:avLst/>
          </a:prstGeom>
          <a:noFill/>
        </p:spPr>
        <p:txBody>
          <a:bodyPr wrap="square" lIns="0" rIns="0" tIns="0" bIns="0">
            <a:spAutoFit/>
          </a:bodyPr>
          <a:lstStyle/>
          <a:p>
            <a:pPr>
              <a:spcBef>
                <a:spcPts val="0"/>
              </a:spcBef>
              <a:spcAft>
                <a:spcPts val="300"/>
              </a:spcAft>
              <a:defRPr sz="1050" b="0">
                <a:solidFill>
                  <a:srgbClr val="4A4E54"/>
                </a:solidFill>
                <a:latin typeface="Arial"/>
              </a:defRPr>
            </a:pPr>
            <a:r>
              <a:rPr>
                <a:solidFill>
                  <a:srgbClr val="D9CEC5"/>
                </a:solidFill>
                <a:latin typeface="Arial"/>
              </a:rPr>
              <a:t>Textbook Chapter 9–13 pp.140–214, selected; formula sheet p.219</a:t>
            </a:r>
          </a:p>
        </p:txBody>
      </p:sp>
      <p:pic>
        <p:nvPicPr>
          <p:cNvPr id="5" name="Picture 4" descr="10B-Q11.png"/>
          <p:cNvPicPr>
            <a:picLocks noChangeAspect="1"/>
          </p:cNvPicPr>
          <p:nvPr/>
        </p:nvPicPr>
        <p:blipFill>
          <a:blip r:embed="rId3"/>
          <a:stretch>
            <a:fillRect/>
          </a:stretch>
        </p:blipFill>
        <p:spPr>
          <a:xfrm>
            <a:off x="685800" y="2896362"/>
            <a:ext cx="10698480" cy="1367028"/>
          </a:xfrm>
          <a:prstGeom prst="rect">
            <a:avLst/>
          </a:prstGeom>
        </p:spPr>
      </p:pic>
      <p:sp>
        <p:nvSpPr>
          <p:cNvPr id="6" name="TextBox 5"/>
          <p:cNvSpPr txBox="1"/>
          <p:nvPr/>
        </p:nvSpPr>
        <p:spPr>
          <a:xfrm>
            <a:off x="685800" y="5596128"/>
            <a:ext cx="10698480" cy="457200"/>
          </a:xfrm>
          <a:prstGeom prst="rect">
            <a:avLst/>
          </a:prstGeom>
          <a:noFill/>
        </p:spPr>
        <p:txBody>
          <a:bodyPr wrap="square" lIns="0" rIns="0" tIns="0" bIns="0">
            <a:spAutoFit/>
          </a:bodyPr>
          <a:lstStyle/>
          <a:p>
            <a:pPr>
              <a:spcBef>
                <a:spcPts val="0"/>
              </a:spcBef>
              <a:spcAft>
                <a:spcPts val="300"/>
              </a:spcAft>
              <a:defRPr sz="1700" b="0">
                <a:solidFill>
                  <a:srgbClr val="4A4E54"/>
                </a:solidFill>
                <a:latin typeface="Arial"/>
              </a:defRPr>
            </a:pPr>
            <a:r>
              <a:rPr>
                <a:solidFill>
                  <a:srgbClr val="F7F4F1"/>
                </a:solidFill>
                <a:latin typeface="Arial"/>
              </a:rPr>
              <a:t>Answer independently. Keep worked solutions closed.</a:t>
            </a:r>
          </a:p>
        </p:txBody>
      </p:sp>
      <p:pic>
        <p:nvPicPr>
          <p:cNvPr id="7" name="Picture 6" descr="access-logo.png"/>
          <p:cNvPicPr>
            <a:picLocks noChangeAspect="1"/>
          </p:cNvPicPr>
          <p:nvPr/>
        </p:nvPicPr>
        <p:blipFill>
          <a:blip r:embed="rId4"/>
          <a:stretch>
            <a:fillRect/>
          </a:stretch>
        </p:blipFill>
        <p:spPr>
          <a:xfrm>
            <a:off x="10177272" y="146304"/>
            <a:ext cx="1371600" cy="689145"/>
          </a:xfrm>
          <a:prstGeom prst="rect">
            <a:avLst/>
          </a:prstGeom>
        </p:spPr>
      </p:pic>
      <p:sp>
        <p:nvSpPr>
          <p:cNvPr id="9" name="TextBox 8"/>
          <p:cNvSpPr txBox="1"/>
          <p:nvPr/>
        </p:nvSpPr>
        <p:spPr>
          <a:xfrm>
            <a:off x="612648" y="6620256"/>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5"/>
              </a:rPr>
              <a:t>Textbook</a:t>
            </a:r>
          </a:p>
        </p:txBody>
      </p:sp>
      <p:sp>
        <p:nvSpPr>
          <p:cNvPr id="10" name="TextBox 9"/>
          <p:cNvSpPr txBox="1"/>
          <p:nvPr/>
        </p:nvSpPr>
        <p:spPr>
          <a:xfrm>
            <a:off x="1691640" y="6620256"/>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6"/>
              </a:rPr>
              <a:t>Exercise Book</a:t>
            </a:r>
          </a:p>
        </p:txBody>
      </p:sp>
      <p:sp>
        <p:nvSpPr>
          <p:cNvPr id="11" name="TextBox 10"/>
          <p:cNvSpPr txBox="1"/>
          <p:nvPr/>
        </p:nvSpPr>
        <p:spPr>
          <a:xfrm>
            <a:off x="3136392" y="6620256"/>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7"/>
              </a:rPr>
              <a:t>Numeracy Hub</a:t>
            </a:r>
          </a:p>
        </p:txBody>
      </p:sp>
      <p:sp>
        <p:nvSpPr>
          <p:cNvPr id="12" name="TextBox 11"/>
          <p:cNvSpPr txBox="1"/>
          <p:nvPr/>
        </p:nvSpPr>
        <p:spPr>
          <a:xfrm>
            <a:off x="4736592" y="6620256"/>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8"/>
              </a:rPr>
              <a:t>Shape Canvas</a:t>
            </a:r>
          </a:p>
        </p:txBody>
      </p:sp>
      <p:sp>
        <p:nvSpPr>
          <p:cNvPr id="13" name="TextBox 12"/>
          <p:cNvSpPr txBox="1"/>
          <p:nvPr/>
        </p:nvSpPr>
        <p:spPr>
          <a:xfrm>
            <a:off x="8412480" y="6620256"/>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sz="850">
                <a:solidFill>
                  <a:srgbClr val="F7F4F1"/>
                </a:solidFill>
                <a:latin typeface="Arial"/>
              </a:rPr>
              <a:t>Day 25  •  2026-12-14  •  40</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1A1512"/>
        </a:solidFill>
        <a:effectLst/>
      </p:bgPr>
    </p:bg>
    <p:spTree>
      <p:nvGrpSpPr>
        <p:cNvPr id="1" name=""/>
        <p:cNvGrpSpPr/>
        <p:nvPr/>
      </p:nvGrpSpPr>
      <p:grpSpPr/>
      <p:sp>
        <p:nvSpPr>
          <p:cNvPr id="14" name="Rectangle 13"/>
          <p:cNvSpPr/>
          <p:nvPr/>
        </p:nvSpPr>
        <p:spPr>
          <a:xfrm>
            <a:off x="0" y="6528816"/>
            <a:ext cx="12191695" cy="329184"/>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0"/>
            <a:ext cx="12191695" cy="1645920"/>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104120" y="114300"/>
            <a:ext cx="1517904" cy="753153"/>
          </a:xfrm>
          <a:prstGeom prst="roundRect">
            <a:avLst>
              <a:gd name="adj" fmla="val 8000"/>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12064" y="1773936"/>
            <a:ext cx="11173968" cy="377647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spAutoFit/>
          </a:bodyPr>
          <a:lstStyle/>
          <a:p>
            <a:pPr>
              <a:spcBef>
                <a:spcPts val="0"/>
              </a:spcBef>
              <a:spcAft>
                <a:spcPts val="300"/>
              </a:spcAft>
              <a:defRPr sz="1150" b="1">
                <a:solidFill>
                  <a:srgbClr val="D2181F"/>
                </a:solidFill>
                <a:latin typeface="Arial"/>
              </a:defRPr>
            </a:pPr>
            <a:r>
              <a:rPr>
                <a:solidFill>
                  <a:srgbClr val="FFFFFF"/>
                </a:solidFill>
                <a:latin typeface="Arial"/>
              </a:rPr>
              <a:t>W08-L02  •  CHECK  •  11:45 AM–11:55 AM  •  10 MIN TOTAL</a:t>
            </a:r>
          </a:p>
        </p:txBody>
      </p:sp>
      <p:sp>
        <p:nvSpPr>
          <p:cNvPr id="3" name="TextBox 2"/>
          <p:cNvSpPr txBox="1"/>
          <p:nvPr/>
        </p:nvSpPr>
        <p:spPr>
          <a:xfrm>
            <a:off x="612648" y="932688"/>
            <a:ext cx="10927080" cy="749808"/>
          </a:xfrm>
          <a:prstGeom prst="rect">
            <a:avLst/>
          </a:prstGeom>
          <a:noFill/>
        </p:spPr>
        <p:txBody>
          <a:bodyPr wrap="square" lIns="0" rIns="0" tIns="0" bIns="0">
            <a:spAutoFit/>
          </a:bodyPr>
          <a:lstStyle/>
          <a:p>
            <a:pPr>
              <a:spcBef>
                <a:spcPts val="0"/>
              </a:spcBef>
              <a:spcAft>
                <a:spcPts val="300"/>
              </a:spcAft>
              <a:defRPr sz="2900" b="1">
                <a:solidFill>
                  <a:srgbClr val="1A1A1A"/>
                </a:solidFill>
                <a:latin typeface="Arial"/>
              </a:defRPr>
            </a:pPr>
            <a:r>
              <a:rPr b="1">
                <a:solidFill>
                  <a:srgbClr val="FFFFFF"/>
                </a:solidFill>
                <a:latin typeface="Arial"/>
              </a:rPr>
              <a:t>Independent check  |  11A Q19</a:t>
            </a:r>
          </a:p>
        </p:txBody>
      </p:sp>
      <p:sp>
        <p:nvSpPr>
          <p:cNvPr id="4" name="TextBox 3"/>
          <p:cNvSpPr txBox="1"/>
          <p:nvPr/>
        </p:nvSpPr>
        <p:spPr>
          <a:xfrm>
            <a:off x="612648" y="6327648"/>
            <a:ext cx="10881360" cy="219456"/>
          </a:xfrm>
          <a:prstGeom prst="rect">
            <a:avLst/>
          </a:prstGeom>
          <a:noFill/>
        </p:spPr>
        <p:txBody>
          <a:bodyPr wrap="square" lIns="0" rIns="0" tIns="0" bIns="0">
            <a:spAutoFit/>
          </a:bodyPr>
          <a:lstStyle/>
          <a:p>
            <a:pPr>
              <a:spcBef>
                <a:spcPts val="0"/>
              </a:spcBef>
              <a:spcAft>
                <a:spcPts val="300"/>
              </a:spcAft>
              <a:defRPr sz="1050" b="0">
                <a:solidFill>
                  <a:srgbClr val="4A4E54"/>
                </a:solidFill>
                <a:latin typeface="Arial"/>
              </a:defRPr>
            </a:pPr>
            <a:r>
              <a:rPr>
                <a:solidFill>
                  <a:srgbClr val="D9CEC5"/>
                </a:solidFill>
                <a:latin typeface="Arial"/>
              </a:rPr>
              <a:t>Textbook Chapter 9–13 pp.140–214, selected; formula sheet p.219</a:t>
            </a:r>
          </a:p>
        </p:txBody>
      </p:sp>
      <p:pic>
        <p:nvPicPr>
          <p:cNvPr id="5" name="Picture 4" descr="11A-Q19.png"/>
          <p:cNvPicPr>
            <a:picLocks noChangeAspect="1"/>
          </p:cNvPicPr>
          <p:nvPr/>
        </p:nvPicPr>
        <p:blipFill>
          <a:blip r:embed="rId3"/>
          <a:stretch>
            <a:fillRect/>
          </a:stretch>
        </p:blipFill>
        <p:spPr>
          <a:xfrm>
            <a:off x="685800" y="3134106"/>
            <a:ext cx="10698480" cy="891540"/>
          </a:xfrm>
          <a:prstGeom prst="rect">
            <a:avLst/>
          </a:prstGeom>
        </p:spPr>
      </p:pic>
      <p:sp>
        <p:nvSpPr>
          <p:cNvPr id="6" name="TextBox 5"/>
          <p:cNvSpPr txBox="1"/>
          <p:nvPr/>
        </p:nvSpPr>
        <p:spPr>
          <a:xfrm>
            <a:off x="685800" y="5596128"/>
            <a:ext cx="10698480" cy="457200"/>
          </a:xfrm>
          <a:prstGeom prst="rect">
            <a:avLst/>
          </a:prstGeom>
          <a:noFill/>
        </p:spPr>
        <p:txBody>
          <a:bodyPr wrap="square" lIns="0" rIns="0" tIns="0" bIns="0">
            <a:spAutoFit/>
          </a:bodyPr>
          <a:lstStyle/>
          <a:p>
            <a:pPr>
              <a:spcBef>
                <a:spcPts val="0"/>
              </a:spcBef>
              <a:spcAft>
                <a:spcPts val="300"/>
              </a:spcAft>
              <a:defRPr sz="1700" b="0">
                <a:solidFill>
                  <a:srgbClr val="4A4E54"/>
                </a:solidFill>
                <a:latin typeface="Arial"/>
              </a:defRPr>
            </a:pPr>
            <a:r>
              <a:rPr>
                <a:solidFill>
                  <a:srgbClr val="F7F4F1"/>
                </a:solidFill>
                <a:latin typeface="Arial"/>
              </a:rPr>
              <a:t>Answer independently. Keep worked solutions closed.</a:t>
            </a:r>
          </a:p>
        </p:txBody>
      </p:sp>
      <p:pic>
        <p:nvPicPr>
          <p:cNvPr id="7" name="Picture 6" descr="access-logo.png"/>
          <p:cNvPicPr>
            <a:picLocks noChangeAspect="1"/>
          </p:cNvPicPr>
          <p:nvPr/>
        </p:nvPicPr>
        <p:blipFill>
          <a:blip r:embed="rId4"/>
          <a:stretch>
            <a:fillRect/>
          </a:stretch>
        </p:blipFill>
        <p:spPr>
          <a:xfrm>
            <a:off x="10177272" y="146304"/>
            <a:ext cx="1371600" cy="689145"/>
          </a:xfrm>
          <a:prstGeom prst="rect">
            <a:avLst/>
          </a:prstGeom>
        </p:spPr>
      </p:pic>
      <p:sp>
        <p:nvSpPr>
          <p:cNvPr id="9" name="TextBox 8"/>
          <p:cNvSpPr txBox="1"/>
          <p:nvPr/>
        </p:nvSpPr>
        <p:spPr>
          <a:xfrm>
            <a:off x="612648" y="6620256"/>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5"/>
              </a:rPr>
              <a:t>Textbook</a:t>
            </a:r>
          </a:p>
        </p:txBody>
      </p:sp>
      <p:sp>
        <p:nvSpPr>
          <p:cNvPr id="10" name="TextBox 9"/>
          <p:cNvSpPr txBox="1"/>
          <p:nvPr/>
        </p:nvSpPr>
        <p:spPr>
          <a:xfrm>
            <a:off x="1691640" y="6620256"/>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6"/>
              </a:rPr>
              <a:t>Exercise Book</a:t>
            </a:r>
          </a:p>
        </p:txBody>
      </p:sp>
      <p:sp>
        <p:nvSpPr>
          <p:cNvPr id="11" name="TextBox 10"/>
          <p:cNvSpPr txBox="1"/>
          <p:nvPr/>
        </p:nvSpPr>
        <p:spPr>
          <a:xfrm>
            <a:off x="3136392" y="6620256"/>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7"/>
              </a:rPr>
              <a:t>Numeracy Hub</a:t>
            </a:r>
          </a:p>
        </p:txBody>
      </p:sp>
      <p:sp>
        <p:nvSpPr>
          <p:cNvPr id="12" name="TextBox 11"/>
          <p:cNvSpPr txBox="1"/>
          <p:nvPr/>
        </p:nvSpPr>
        <p:spPr>
          <a:xfrm>
            <a:off x="4736592" y="6620256"/>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8"/>
              </a:rPr>
              <a:t>Shape Canvas</a:t>
            </a:r>
          </a:p>
        </p:txBody>
      </p:sp>
      <p:sp>
        <p:nvSpPr>
          <p:cNvPr id="13" name="TextBox 12"/>
          <p:cNvSpPr txBox="1"/>
          <p:nvPr/>
        </p:nvSpPr>
        <p:spPr>
          <a:xfrm>
            <a:off x="8412480" y="6620256"/>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sz="850">
                <a:solidFill>
                  <a:srgbClr val="F7F4F1"/>
                </a:solidFill>
                <a:latin typeface="Arial"/>
              </a:rPr>
              <a:t>Day 25  •  2026-12-14  •  41</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1A1512"/>
        </a:solidFill>
        <a:effectLst/>
      </p:bgPr>
    </p:bg>
    <p:spTree>
      <p:nvGrpSpPr>
        <p:cNvPr id="1" name=""/>
        <p:cNvGrpSpPr/>
        <p:nvPr/>
      </p:nvGrpSpPr>
      <p:grpSpPr/>
      <p:sp>
        <p:nvSpPr>
          <p:cNvPr id="14" name="Rectangle 13"/>
          <p:cNvSpPr/>
          <p:nvPr/>
        </p:nvSpPr>
        <p:spPr>
          <a:xfrm>
            <a:off x="0" y="6528816"/>
            <a:ext cx="12191695" cy="329184"/>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0"/>
            <a:ext cx="12191695" cy="1645920"/>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104120" y="114300"/>
            <a:ext cx="1517904" cy="753153"/>
          </a:xfrm>
          <a:prstGeom prst="roundRect">
            <a:avLst>
              <a:gd name="adj" fmla="val 8000"/>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12064" y="1773936"/>
            <a:ext cx="11173968" cy="377647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spAutoFit/>
          </a:bodyPr>
          <a:lstStyle/>
          <a:p>
            <a:pPr>
              <a:spcBef>
                <a:spcPts val="0"/>
              </a:spcBef>
              <a:spcAft>
                <a:spcPts val="300"/>
              </a:spcAft>
              <a:defRPr sz="1150" b="1">
                <a:solidFill>
                  <a:srgbClr val="D2181F"/>
                </a:solidFill>
                <a:latin typeface="Arial"/>
              </a:defRPr>
            </a:pPr>
            <a:r>
              <a:rPr>
                <a:solidFill>
                  <a:srgbClr val="FFFFFF"/>
                </a:solidFill>
                <a:latin typeface="Arial"/>
              </a:rPr>
              <a:t>W08-L02  •  CHECK  •  11:45 AM–11:55 AM  •  10 MIN TOTAL</a:t>
            </a:r>
          </a:p>
        </p:txBody>
      </p:sp>
      <p:sp>
        <p:nvSpPr>
          <p:cNvPr id="3" name="TextBox 2"/>
          <p:cNvSpPr txBox="1"/>
          <p:nvPr/>
        </p:nvSpPr>
        <p:spPr>
          <a:xfrm>
            <a:off x="612648" y="932688"/>
            <a:ext cx="10927080" cy="749808"/>
          </a:xfrm>
          <a:prstGeom prst="rect">
            <a:avLst/>
          </a:prstGeom>
          <a:noFill/>
        </p:spPr>
        <p:txBody>
          <a:bodyPr wrap="square" lIns="0" rIns="0" tIns="0" bIns="0">
            <a:spAutoFit/>
          </a:bodyPr>
          <a:lstStyle/>
          <a:p>
            <a:pPr>
              <a:spcBef>
                <a:spcPts val="0"/>
              </a:spcBef>
              <a:spcAft>
                <a:spcPts val="300"/>
              </a:spcAft>
              <a:defRPr sz="2900" b="1">
                <a:solidFill>
                  <a:srgbClr val="1A1A1A"/>
                </a:solidFill>
                <a:latin typeface="Arial"/>
              </a:defRPr>
            </a:pPr>
            <a:r>
              <a:rPr b="1">
                <a:solidFill>
                  <a:srgbClr val="FFFFFF"/>
                </a:solidFill>
                <a:latin typeface="Arial"/>
              </a:rPr>
              <a:t>Independent check  |  13A Q14</a:t>
            </a:r>
          </a:p>
        </p:txBody>
      </p:sp>
      <p:sp>
        <p:nvSpPr>
          <p:cNvPr id="4" name="TextBox 3"/>
          <p:cNvSpPr txBox="1"/>
          <p:nvPr/>
        </p:nvSpPr>
        <p:spPr>
          <a:xfrm>
            <a:off x="612648" y="6327648"/>
            <a:ext cx="10881360" cy="219456"/>
          </a:xfrm>
          <a:prstGeom prst="rect">
            <a:avLst/>
          </a:prstGeom>
          <a:noFill/>
        </p:spPr>
        <p:txBody>
          <a:bodyPr wrap="square" lIns="0" rIns="0" tIns="0" bIns="0">
            <a:spAutoFit/>
          </a:bodyPr>
          <a:lstStyle/>
          <a:p>
            <a:pPr>
              <a:spcBef>
                <a:spcPts val="0"/>
              </a:spcBef>
              <a:spcAft>
                <a:spcPts val="300"/>
              </a:spcAft>
              <a:defRPr sz="1050" b="0">
                <a:solidFill>
                  <a:srgbClr val="4A4E54"/>
                </a:solidFill>
                <a:latin typeface="Arial"/>
              </a:defRPr>
            </a:pPr>
            <a:r>
              <a:rPr>
                <a:solidFill>
                  <a:srgbClr val="D9CEC5"/>
                </a:solidFill>
                <a:latin typeface="Arial"/>
              </a:rPr>
              <a:t>Textbook Chapter 9–13 pp.140–214, selected; formula sheet p.219</a:t>
            </a:r>
          </a:p>
        </p:txBody>
      </p:sp>
      <p:pic>
        <p:nvPicPr>
          <p:cNvPr id="5" name="Picture 4" descr="13A-Q14.png"/>
          <p:cNvPicPr>
            <a:picLocks noChangeAspect="1"/>
          </p:cNvPicPr>
          <p:nvPr/>
        </p:nvPicPr>
        <p:blipFill>
          <a:blip r:embed="rId3"/>
          <a:stretch>
            <a:fillRect/>
          </a:stretch>
        </p:blipFill>
        <p:spPr>
          <a:xfrm>
            <a:off x="685800" y="2896362"/>
            <a:ext cx="10698480" cy="1367028"/>
          </a:xfrm>
          <a:prstGeom prst="rect">
            <a:avLst/>
          </a:prstGeom>
        </p:spPr>
      </p:pic>
      <p:sp>
        <p:nvSpPr>
          <p:cNvPr id="6" name="TextBox 5"/>
          <p:cNvSpPr txBox="1"/>
          <p:nvPr/>
        </p:nvSpPr>
        <p:spPr>
          <a:xfrm>
            <a:off x="685800" y="5596128"/>
            <a:ext cx="10698480" cy="457200"/>
          </a:xfrm>
          <a:prstGeom prst="rect">
            <a:avLst/>
          </a:prstGeom>
          <a:noFill/>
        </p:spPr>
        <p:txBody>
          <a:bodyPr wrap="square" lIns="0" rIns="0" tIns="0" bIns="0">
            <a:spAutoFit/>
          </a:bodyPr>
          <a:lstStyle/>
          <a:p>
            <a:pPr>
              <a:spcBef>
                <a:spcPts val="0"/>
              </a:spcBef>
              <a:spcAft>
                <a:spcPts val="300"/>
              </a:spcAft>
              <a:defRPr sz="1700" b="0">
                <a:solidFill>
                  <a:srgbClr val="4A4E54"/>
                </a:solidFill>
                <a:latin typeface="Arial"/>
              </a:defRPr>
            </a:pPr>
            <a:r>
              <a:rPr>
                <a:solidFill>
                  <a:srgbClr val="F7F4F1"/>
                </a:solidFill>
                <a:latin typeface="Arial"/>
              </a:rPr>
              <a:t>Answer independently. Keep worked solutions closed.</a:t>
            </a:r>
          </a:p>
        </p:txBody>
      </p:sp>
      <p:pic>
        <p:nvPicPr>
          <p:cNvPr id="7" name="Picture 6" descr="access-logo.png"/>
          <p:cNvPicPr>
            <a:picLocks noChangeAspect="1"/>
          </p:cNvPicPr>
          <p:nvPr/>
        </p:nvPicPr>
        <p:blipFill>
          <a:blip r:embed="rId4"/>
          <a:stretch>
            <a:fillRect/>
          </a:stretch>
        </p:blipFill>
        <p:spPr>
          <a:xfrm>
            <a:off x="10177272" y="146304"/>
            <a:ext cx="1371600" cy="689145"/>
          </a:xfrm>
          <a:prstGeom prst="rect">
            <a:avLst/>
          </a:prstGeom>
        </p:spPr>
      </p:pic>
      <p:sp>
        <p:nvSpPr>
          <p:cNvPr id="9" name="TextBox 8"/>
          <p:cNvSpPr txBox="1"/>
          <p:nvPr/>
        </p:nvSpPr>
        <p:spPr>
          <a:xfrm>
            <a:off x="612648" y="6620256"/>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5"/>
              </a:rPr>
              <a:t>Textbook</a:t>
            </a:r>
          </a:p>
        </p:txBody>
      </p:sp>
      <p:sp>
        <p:nvSpPr>
          <p:cNvPr id="10" name="TextBox 9"/>
          <p:cNvSpPr txBox="1"/>
          <p:nvPr/>
        </p:nvSpPr>
        <p:spPr>
          <a:xfrm>
            <a:off x="1691640" y="6620256"/>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6"/>
              </a:rPr>
              <a:t>Exercise Book</a:t>
            </a:r>
          </a:p>
        </p:txBody>
      </p:sp>
      <p:sp>
        <p:nvSpPr>
          <p:cNvPr id="11" name="TextBox 10"/>
          <p:cNvSpPr txBox="1"/>
          <p:nvPr/>
        </p:nvSpPr>
        <p:spPr>
          <a:xfrm>
            <a:off x="3136392" y="6620256"/>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7"/>
              </a:rPr>
              <a:t>Numeracy Hub</a:t>
            </a:r>
          </a:p>
        </p:txBody>
      </p:sp>
      <p:sp>
        <p:nvSpPr>
          <p:cNvPr id="12" name="TextBox 11"/>
          <p:cNvSpPr txBox="1"/>
          <p:nvPr/>
        </p:nvSpPr>
        <p:spPr>
          <a:xfrm>
            <a:off x="4736592" y="6620256"/>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8"/>
              </a:rPr>
              <a:t>Shape Canvas</a:t>
            </a:r>
          </a:p>
        </p:txBody>
      </p:sp>
      <p:sp>
        <p:nvSpPr>
          <p:cNvPr id="13" name="TextBox 12"/>
          <p:cNvSpPr txBox="1"/>
          <p:nvPr/>
        </p:nvSpPr>
        <p:spPr>
          <a:xfrm>
            <a:off x="8412480" y="6620256"/>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sz="850">
                <a:solidFill>
                  <a:srgbClr val="F7F4F1"/>
                </a:solidFill>
                <a:latin typeface="Arial"/>
              </a:rPr>
              <a:t>Day 25  •  2026-12-14  •  42</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1A1512"/>
        </a:solidFill>
        <a:effectLst/>
      </p:bgPr>
    </p:bg>
    <p:spTree>
      <p:nvGrpSpPr>
        <p:cNvPr id="1" name=""/>
        <p:cNvGrpSpPr/>
        <p:nvPr/>
      </p:nvGrpSpPr>
      <p:grpSpPr/>
      <p:sp>
        <p:nvSpPr>
          <p:cNvPr id="16" name="Rectangle 15"/>
          <p:cNvSpPr/>
          <p:nvPr/>
        </p:nvSpPr>
        <p:spPr>
          <a:xfrm>
            <a:off x="0" y="6528816"/>
            <a:ext cx="12191695" cy="329184"/>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0" y="0"/>
            <a:ext cx="12191695" cy="1645920"/>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10104120" y="114300"/>
            <a:ext cx="1517904" cy="753153"/>
          </a:xfrm>
          <a:prstGeom prst="roundRect">
            <a:avLst>
              <a:gd name="adj" fmla="val 8000"/>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493776" y="1773936"/>
            <a:ext cx="11192256" cy="2240280"/>
          </a:xfrm>
          <a:prstGeom prst="roundRect">
            <a:avLst>
              <a:gd name="adj" fmla="val 8000"/>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spAutoFit/>
          </a:bodyPr>
          <a:lstStyle/>
          <a:p>
            <a:pPr>
              <a:spcBef>
                <a:spcPts val="0"/>
              </a:spcBef>
              <a:spcAft>
                <a:spcPts val="300"/>
              </a:spcAft>
              <a:defRPr sz="1150" b="1">
                <a:solidFill>
                  <a:srgbClr val="D2181F"/>
                </a:solidFill>
                <a:latin typeface="Arial"/>
              </a:defRPr>
            </a:pPr>
            <a:r>
              <a:rPr>
                <a:solidFill>
                  <a:srgbClr val="FFFFFF"/>
                </a:solidFill>
                <a:latin typeface="Arial"/>
              </a:rPr>
              <a:t>W08-L02  •  WRAP UP  •  11:55 AM–12:00 PM  •  5 MIN TOTAL</a:t>
            </a:r>
          </a:p>
        </p:txBody>
      </p:sp>
      <p:sp>
        <p:nvSpPr>
          <p:cNvPr id="3" name="TextBox 2"/>
          <p:cNvSpPr txBox="1"/>
          <p:nvPr/>
        </p:nvSpPr>
        <p:spPr>
          <a:xfrm>
            <a:off x="612648" y="932688"/>
            <a:ext cx="10927080" cy="749808"/>
          </a:xfrm>
          <a:prstGeom prst="rect">
            <a:avLst/>
          </a:prstGeom>
          <a:noFill/>
        </p:spPr>
        <p:txBody>
          <a:bodyPr wrap="square" lIns="0" rIns="0" tIns="0" bIns="0">
            <a:spAutoFit/>
          </a:bodyPr>
          <a:lstStyle/>
          <a:p>
            <a:pPr>
              <a:spcBef>
                <a:spcPts val="0"/>
              </a:spcBef>
              <a:spcAft>
                <a:spcPts val="300"/>
              </a:spcAft>
              <a:defRPr sz="2900" b="1">
                <a:solidFill>
                  <a:srgbClr val="1A1A1A"/>
                </a:solidFill>
                <a:latin typeface="Arial"/>
              </a:defRPr>
            </a:pPr>
            <a:r>
              <a:rPr b="1">
                <a:solidFill>
                  <a:srgbClr val="FFFFFF"/>
                </a:solidFill>
                <a:latin typeface="Arial"/>
              </a:rPr>
              <a:t>Wrap up and choose the next step</a:t>
            </a:r>
          </a:p>
        </p:txBody>
      </p:sp>
      <p:sp>
        <p:nvSpPr>
          <p:cNvPr id="4" name="TextBox 3"/>
          <p:cNvSpPr txBox="1"/>
          <p:nvPr/>
        </p:nvSpPr>
        <p:spPr>
          <a:xfrm>
            <a:off x="612648" y="6327648"/>
            <a:ext cx="10881360" cy="219456"/>
          </a:xfrm>
          <a:prstGeom prst="rect">
            <a:avLst/>
          </a:prstGeom>
          <a:noFill/>
        </p:spPr>
        <p:txBody>
          <a:bodyPr wrap="square" lIns="0" rIns="0" tIns="0" bIns="0">
            <a:spAutoFit/>
          </a:bodyPr>
          <a:lstStyle/>
          <a:p>
            <a:pPr>
              <a:spcBef>
                <a:spcPts val="0"/>
              </a:spcBef>
              <a:spcAft>
                <a:spcPts val="300"/>
              </a:spcAft>
              <a:defRPr sz="1050" b="0">
                <a:solidFill>
                  <a:srgbClr val="4A4E54"/>
                </a:solidFill>
                <a:latin typeface="Arial"/>
              </a:defRPr>
            </a:pPr>
            <a:r>
              <a:rPr>
                <a:solidFill>
                  <a:srgbClr val="D9CEC5"/>
                </a:solidFill>
                <a:latin typeface="Arial"/>
              </a:rPr>
              <a:t>Textbook Chapter 9–13 pp.140–214, selected; formula sheet p.219</a:t>
            </a:r>
          </a:p>
        </p:txBody>
      </p:sp>
      <p:sp>
        <p:nvSpPr>
          <p:cNvPr id="5" name="TextBox 4"/>
          <p:cNvSpPr txBox="1"/>
          <p:nvPr/>
        </p:nvSpPr>
        <p:spPr>
          <a:xfrm>
            <a:off x="612648" y="1874519"/>
            <a:ext cx="10927080" cy="2103120"/>
          </a:xfrm>
          <a:prstGeom prst="rect">
            <a:avLst/>
          </a:prstGeom>
          <a:noFill/>
        </p:spPr>
        <p:txBody>
          <a:bodyPr wrap="square" lIns="0" rIns="0" tIns="0" bIns="0">
            <a:spAutoFit/>
          </a:bodyPr>
          <a:lstStyle/>
          <a:p>
            <a:pPr>
              <a:spcBef>
                <a:spcPts val="0"/>
              </a:spcBef>
              <a:spcAft>
                <a:spcPts val="300"/>
              </a:spcAft>
              <a:defRPr sz="2400" b="0">
                <a:solidFill>
                  <a:srgbClr val="1A1A1A"/>
                </a:solidFill>
                <a:latin typeface="Arial"/>
              </a:defRPr>
            </a:pPr>
            <a:r>
              <a:rPr>
                <a:solidFill>
                  <a:srgbClr val="FFFFFF"/>
                </a:solidFill>
                <a:latin typeface="Arial"/>
              </a:rPr>
              <a:t>Identify what improved, what needs another attempt and which resource will support the next step.</a:t>
            </a:r>
          </a:p>
        </p:txBody>
      </p:sp>
      <p:sp>
        <p:nvSpPr>
          <p:cNvPr id="6" name="Rectangle 5"/>
          <p:cNvSpPr/>
          <p:nvPr/>
        </p:nvSpPr>
        <p:spPr>
          <a:xfrm>
            <a:off x="612648" y="4251960"/>
            <a:ext cx="10927080" cy="1280160"/>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A1A1A"/>
                </a:solidFill>
                <a:latin typeface="Arial"/>
              </a:defRPr>
            </a:pPr>
          </a:p>
        </p:txBody>
      </p:sp>
      <p:sp>
        <p:nvSpPr>
          <p:cNvPr id="7" name="TextBox 6"/>
          <p:cNvSpPr txBox="1"/>
          <p:nvPr/>
        </p:nvSpPr>
        <p:spPr>
          <a:xfrm>
            <a:off x="859536" y="4462272"/>
            <a:ext cx="10424160" cy="822960"/>
          </a:xfrm>
          <a:prstGeom prst="rect">
            <a:avLst/>
          </a:prstGeom>
          <a:noFill/>
        </p:spPr>
        <p:txBody>
          <a:bodyPr wrap="square" lIns="0" rIns="0" tIns="0" bIns="0">
            <a:spAutoFit/>
          </a:bodyPr>
          <a:lstStyle/>
          <a:p>
            <a:pPr>
              <a:spcBef>
                <a:spcPts val="0"/>
              </a:spcBef>
              <a:spcAft>
                <a:spcPts val="300"/>
              </a:spcAft>
              <a:defRPr sz="2100" b="1">
                <a:solidFill>
                  <a:srgbClr val="1A1A1A"/>
                </a:solidFill>
                <a:latin typeface="Arial"/>
              </a:defRPr>
            </a:pPr>
            <a:r>
              <a:rPr b="1">
                <a:solidFill>
                  <a:srgbClr val="201C19"/>
                </a:solidFill>
                <a:latin typeface="Arial"/>
              </a:rPr>
              <a:t>Name the math and another essential skill used; record a concrete follow-up action.</a:t>
            </a:r>
          </a:p>
        </p:txBody>
      </p:sp>
      <p:sp>
        <p:nvSpPr>
          <p:cNvPr id="8" name="TextBox 7"/>
          <p:cNvSpPr txBox="1"/>
          <p:nvPr/>
        </p:nvSpPr>
        <p:spPr>
          <a:xfrm>
            <a:off x="612648" y="5788152"/>
            <a:ext cx="10927080" cy="411480"/>
          </a:xfrm>
          <a:prstGeom prst="rect">
            <a:avLst/>
          </a:prstGeom>
          <a:noFill/>
        </p:spPr>
        <p:txBody>
          <a:bodyPr wrap="square" lIns="0" rIns="0" tIns="0" bIns="0">
            <a:spAutoFit/>
          </a:bodyPr>
          <a:lstStyle/>
          <a:p>
            <a:pPr>
              <a:spcBef>
                <a:spcPts val="0"/>
              </a:spcBef>
              <a:spcAft>
                <a:spcPts val="300"/>
              </a:spcAft>
              <a:defRPr sz="1250" b="0">
                <a:solidFill>
                  <a:srgbClr val="4A4E54"/>
                </a:solidFill>
                <a:latin typeface="Arial"/>
              </a:defRPr>
            </a:pPr>
            <a:r>
              <a:rPr>
                <a:solidFill>
                  <a:srgbClr val="F7F4F1"/>
                </a:solidFill>
                <a:latin typeface="Arial"/>
              </a:rPr>
              <a:t>Resources: Exercise Book 9A Q1,8 p.57; 10B Q1,11 pp.65–66; 11A Q7,19 pp.69–70; 12B Q3 p.77; 13A Q6,14 p.82.</a:t>
            </a:r>
          </a:p>
        </p:txBody>
      </p:sp>
      <p:pic>
        <p:nvPicPr>
          <p:cNvPr id="9" name="Picture 8"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1" name="TextBox 10"/>
          <p:cNvSpPr txBox="1"/>
          <p:nvPr/>
        </p:nvSpPr>
        <p:spPr>
          <a:xfrm>
            <a:off x="612648" y="6620256"/>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4"/>
              </a:rPr>
              <a:t>Textbook</a:t>
            </a:r>
          </a:p>
        </p:txBody>
      </p:sp>
      <p:sp>
        <p:nvSpPr>
          <p:cNvPr id="12" name="TextBox 11"/>
          <p:cNvSpPr txBox="1"/>
          <p:nvPr/>
        </p:nvSpPr>
        <p:spPr>
          <a:xfrm>
            <a:off x="1691640" y="6620256"/>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5"/>
              </a:rPr>
              <a:t>Exercise Book</a:t>
            </a:r>
          </a:p>
        </p:txBody>
      </p:sp>
      <p:sp>
        <p:nvSpPr>
          <p:cNvPr id="13" name="TextBox 12"/>
          <p:cNvSpPr txBox="1"/>
          <p:nvPr/>
        </p:nvSpPr>
        <p:spPr>
          <a:xfrm>
            <a:off x="3136392" y="6620256"/>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6"/>
              </a:rPr>
              <a:t>Numeracy Hub</a:t>
            </a:r>
          </a:p>
        </p:txBody>
      </p:sp>
      <p:sp>
        <p:nvSpPr>
          <p:cNvPr id="14" name="TextBox 13"/>
          <p:cNvSpPr txBox="1"/>
          <p:nvPr/>
        </p:nvSpPr>
        <p:spPr>
          <a:xfrm>
            <a:off x="4736592" y="6620256"/>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7"/>
              </a:rPr>
              <a:t>Shape Canvas</a:t>
            </a:r>
          </a:p>
        </p:txBody>
      </p:sp>
      <p:sp>
        <p:nvSpPr>
          <p:cNvPr id="15" name="TextBox 14"/>
          <p:cNvSpPr txBox="1"/>
          <p:nvPr/>
        </p:nvSpPr>
        <p:spPr>
          <a:xfrm>
            <a:off x="8412480" y="6620256"/>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sz="850">
                <a:solidFill>
                  <a:srgbClr val="F7F4F1"/>
                </a:solidFill>
                <a:latin typeface="Arial"/>
              </a:rPr>
              <a:t>Day 25  •  2026-12-14  •  43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F7F4F1"/>
      </a:hlink>
      <a:folHlink>
        <a:srgbClr val="F7F4F1"/>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F7F4F1"/>
      </a:hlink>
      <a:folHlink>
        <a:srgbClr val="F7F4F1"/>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 Id="rId2" Type="http://schemas.microsoft.com/office/2011/relationships/webextension" Target="webextension2.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 dockstate="right" visibility="0" width="334" row="1">
    <wetp:webextensionref xmlns:r="http://schemas.openxmlformats.org/officeDocument/2006/relationships" r:id="rId2"/>
  </wetp:taskpane>
</wetp:taskpanes>
</file>

<file path=ppt/webextensions/webextension1.xml><?xml version="1.0" encoding="utf-8"?>
<we:webextension xmlns:we="http://schemas.microsoft.com/office/webextensions/webextension/2010/11" id="{60FB143F-4C5F-4CFA-83D4-CE599B274CB0}">
  <we:reference id="wa200010725" version="1.0.0.1" store="en-US" storeType="OMEX"/>
  <we:alternateReferences>
    <we:reference id="WA200010725" version="1.0.0.1" store="" storeType="OMEX"/>
  </we:alternateReferences>
  <we:properties>
    <we:property name="claude.fileId" value="&quot;e15ce61c-59d5-4165-9b38-ae3aa70e2273&quot;"/>
  </we:properties>
  <we:bindings/>
  <we:snapshot xmlns:r="http://schemas.openxmlformats.org/officeDocument/2006/relationships"/>
</we:webextension>
</file>

<file path=ppt/webextensions/webextension2.xml><?xml version="1.0" encoding="utf-8"?>
<we:webextension xmlns:we="http://schemas.microsoft.com/office/webextensions/webextension/2010/11" id="{696CE026-134B-41F5-918B-2FB126868299}">
  <we:reference id="wa200010215" version="2.0.0.1" store="en-US" storeType="OMEX"/>
  <we:alternateReferences>
    <we:reference id="WA200010215" version="2.0.0.1" store="" storeType="OMEX"/>
  </we:alternateReferences>
  <we:properties>
    <we:property name="bps.codex_control.document_id" value="&quot;fd5b780e-6113-4733-b1f1-d8726169f489&quot;"/>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Application>Microsoft Office PowerPoint</Application>
  <PresentationFormat>Widescreen</PresentationFormat>
  <Slides>43</Slides>
  <Notes>43</Notes>
  <HiddenSlides>0</HiddenSlides>
  <ScaleCrop>false</ScaleCrop>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Carpentry Math | Full Day 25 | 2026-12-14</dc:title>
  <dc:creator>ACCESS Trades</dc:creator>
  <dc:subject>Review: numbers, units and formulas; Review: geometry and job problems</dc:subject>
</cp:coreProperties>
</file>