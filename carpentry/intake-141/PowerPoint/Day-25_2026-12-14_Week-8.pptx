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53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7"/>
  </p:notesMasterIdLst>
  <p:sldIdLst>
    <p:sldId id="435" r:id="rId172"/>
    <p:sldId id="436" r:id="rId173"/>
    <p:sldId id="437" r:id="rId174"/>
    <p:sldId id="438" r:id="rId175"/>
    <p:sldId id="439" r:id="rId176"/>
    <p:sldId id="440" r:id="rId177"/>
    <p:sldId id="422" r:id="rId154"/>
    <p:sldId id="441" r:id="rId178"/>
    <p:sldId id="442" r:id="rId179"/>
    <p:sldId id="443" r:id="rId180"/>
    <p:sldId id="444" r:id="rId181"/>
    <p:sldId id="445" r:id="rId182"/>
    <p:sldId id="446" r:id="rId183"/>
    <p:sldId id="447" r:id="rId184"/>
    <p:sldId id="448" r:id="rId185"/>
    <p:sldId id="449" r:id="rId186"/>
    <p:sldId id="450" r:id="rId187"/>
    <p:sldId id="451" r:id="rId188"/>
    <p:sldId id="452" r:id="rId189"/>
    <p:sldId id="453" r:id="rId190"/>
    <p:sldId id="454" r:id="rId191"/>
    <p:sldId id="455" r:id="rId192"/>
    <p:sldId id="456" r:id="rId193"/>
    <p:sldId id="457" r:id="rId194"/>
    <p:sldId id="458" r:id="rId195"/>
    <p:sldId id="459" r:id="rId196"/>
    <p:sldId id="425" r:id="rId157"/>
    <p:sldId id="460" r:id="rId197"/>
    <p:sldId id="461" r:id="rId198"/>
    <p:sldId id="462" r:id="rId199"/>
    <p:sldId id="463" r:id="rId200"/>
    <p:sldId id="464" r:id="rId201"/>
    <p:sldId id="465" r:id="rId202"/>
    <p:sldId id="466" r:id="rId203"/>
    <p:sldId id="467" r:id="rId204"/>
    <p:sldId id="468" r:id="rId205"/>
    <p:sldId id="469" r:id="rId206"/>
    <p:sldId id="470" r:id="rId207"/>
    <p:sldId id="471" r:id="rId208"/>
    <p:sldId id="472" r:id="rId209"/>
    <p:sldId id="473" r:id="rId210"/>
    <p:sldId id="474" r:id="rId211"/>
    <p:sldId id="475" r:id="rId2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0520" autoAdjust="0"/>
  </p:normalViewPr>
  <p:slideViewPr>
    <p:cSldViewPr snapToGrid="0">
      <p:cViewPr varScale="1">
        <p:scale>
          <a:sx n="65" d="100"/>
          <a:sy n="65" d="100"/>
        </p:scale>
        <p:origin x="2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54" Type="http://schemas.openxmlformats.org/officeDocument/2006/relationships/slide" Target="slides/slide7.xml"/><Relationship Id="rId157" Type="http://schemas.openxmlformats.org/officeDocument/2006/relationships/slide" Target="slides/slide27.xml"/><Relationship Id="rId167" Type="http://schemas.openxmlformats.org/officeDocument/2006/relationships/notesMaster" Target="notesMasters/notesMaster1.xml"/><Relationship Id="rId168" Type="http://schemas.openxmlformats.org/officeDocument/2006/relationships/presProps" Target="presProps.xml"/><Relationship Id="rId169" Type="http://schemas.openxmlformats.org/officeDocument/2006/relationships/viewProps" Target="viewProps.xml"/><Relationship Id="rId170" Type="http://schemas.openxmlformats.org/officeDocument/2006/relationships/theme" Target="theme/theme1.xml"/><Relationship Id="rId171" Type="http://schemas.openxmlformats.org/officeDocument/2006/relationships/tableStyles" Target="tableStyles.xml"/><Relationship Id="rId172" Type="http://schemas.openxmlformats.org/officeDocument/2006/relationships/slide" Target="slides/slide1.xml"/><Relationship Id="rId173" Type="http://schemas.openxmlformats.org/officeDocument/2006/relationships/slide" Target="slides/slide2.xml"/><Relationship Id="rId174" Type="http://schemas.openxmlformats.org/officeDocument/2006/relationships/slide" Target="slides/slide3.xml"/><Relationship Id="rId175" Type="http://schemas.openxmlformats.org/officeDocument/2006/relationships/slide" Target="slides/slide4.xml"/><Relationship Id="rId176" Type="http://schemas.openxmlformats.org/officeDocument/2006/relationships/slide" Target="slides/slide5.xml"/><Relationship Id="rId177" Type="http://schemas.openxmlformats.org/officeDocument/2006/relationships/slide" Target="slides/slide6.xml"/><Relationship Id="rId178" Type="http://schemas.openxmlformats.org/officeDocument/2006/relationships/slide" Target="slides/slide8.xml"/><Relationship Id="rId179" Type="http://schemas.openxmlformats.org/officeDocument/2006/relationships/slide" Target="slides/slide9.xml"/><Relationship Id="rId180" Type="http://schemas.openxmlformats.org/officeDocument/2006/relationships/slide" Target="slides/slide10.xml"/><Relationship Id="rId181" Type="http://schemas.openxmlformats.org/officeDocument/2006/relationships/slide" Target="slides/slide11.xml"/><Relationship Id="rId182" Type="http://schemas.openxmlformats.org/officeDocument/2006/relationships/slide" Target="slides/slide12.xml"/><Relationship Id="rId183" Type="http://schemas.openxmlformats.org/officeDocument/2006/relationships/slide" Target="slides/slide13.xml"/><Relationship Id="rId184" Type="http://schemas.openxmlformats.org/officeDocument/2006/relationships/slide" Target="slides/slide14.xml"/><Relationship Id="rId185" Type="http://schemas.openxmlformats.org/officeDocument/2006/relationships/slide" Target="slides/slide15.xml"/><Relationship Id="rId186" Type="http://schemas.openxmlformats.org/officeDocument/2006/relationships/slide" Target="slides/slide16.xml"/><Relationship Id="rId187" Type="http://schemas.openxmlformats.org/officeDocument/2006/relationships/slide" Target="slides/slide17.xml"/><Relationship Id="rId188" Type="http://schemas.openxmlformats.org/officeDocument/2006/relationships/slide" Target="slides/slide18.xml"/><Relationship Id="rId189" Type="http://schemas.openxmlformats.org/officeDocument/2006/relationships/slide" Target="slides/slide19.xml"/><Relationship Id="rId190" Type="http://schemas.openxmlformats.org/officeDocument/2006/relationships/slide" Target="slides/slide20.xml"/><Relationship Id="rId191" Type="http://schemas.openxmlformats.org/officeDocument/2006/relationships/slide" Target="slides/slide21.xml"/><Relationship Id="rId192" Type="http://schemas.openxmlformats.org/officeDocument/2006/relationships/slide" Target="slides/slide22.xml"/><Relationship Id="rId193" Type="http://schemas.openxmlformats.org/officeDocument/2006/relationships/slide" Target="slides/slide23.xml"/><Relationship Id="rId194" Type="http://schemas.openxmlformats.org/officeDocument/2006/relationships/slide" Target="slides/slide24.xml"/><Relationship Id="rId195" Type="http://schemas.openxmlformats.org/officeDocument/2006/relationships/slide" Target="slides/slide25.xml"/><Relationship Id="rId196" Type="http://schemas.openxmlformats.org/officeDocument/2006/relationships/slide" Target="slides/slide26.xml"/><Relationship Id="rId197" Type="http://schemas.openxmlformats.org/officeDocument/2006/relationships/slide" Target="slides/slide28.xml"/><Relationship Id="rId198" Type="http://schemas.openxmlformats.org/officeDocument/2006/relationships/slide" Target="slides/slide29.xml"/><Relationship Id="rId199" Type="http://schemas.openxmlformats.org/officeDocument/2006/relationships/slide" Target="slides/slide30.xml"/><Relationship Id="rId200" Type="http://schemas.openxmlformats.org/officeDocument/2006/relationships/slide" Target="slides/slide31.xml"/><Relationship Id="rId201" Type="http://schemas.openxmlformats.org/officeDocument/2006/relationships/slide" Target="slides/slide32.xml"/><Relationship Id="rId202" Type="http://schemas.openxmlformats.org/officeDocument/2006/relationships/slide" Target="slides/slide33.xml"/><Relationship Id="rId203" Type="http://schemas.openxmlformats.org/officeDocument/2006/relationships/slide" Target="slides/slide34.xml"/><Relationship Id="rId204" Type="http://schemas.openxmlformats.org/officeDocument/2006/relationships/slide" Target="slides/slide35.xml"/><Relationship Id="rId205" Type="http://schemas.openxmlformats.org/officeDocument/2006/relationships/slide" Target="slides/slide36.xml"/><Relationship Id="rId206" Type="http://schemas.openxmlformats.org/officeDocument/2006/relationships/slide" Target="slides/slide37.xml"/><Relationship Id="rId207" Type="http://schemas.openxmlformats.org/officeDocument/2006/relationships/slide" Target="slides/slide38.xml"/><Relationship Id="rId208" Type="http://schemas.openxmlformats.org/officeDocument/2006/relationships/slide" Target="slides/slide39.xml"/><Relationship Id="rId209" Type="http://schemas.openxmlformats.org/officeDocument/2006/relationships/slide" Target="slides/slide40.xml"/><Relationship Id="rId210" Type="http://schemas.openxmlformats.org/officeDocument/2006/relationships/slide" Target="slides/slide41.xml"/><Relationship Id="rId211" Type="http://schemas.openxmlformats.org/officeDocument/2006/relationships/slide" Target="slides/slide42.xml"/><Relationship Id="rId212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2A43CA-EE69-4B9A-80F8-91B7489D0DD8}" type="datetimeFigureOut">
              <a:rPr lang="en-CA" smtClean="0"/>
              <a:t>2026-10-19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99165C-7370-4B52-8859-B50CCB89355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613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Use this worked example within the scheduled Teach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today’s math topics and review the timetable.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9:00 AM–9:05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9:05 AM–9:10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1–8, selected; formula sheet p.219; conversion factors pp.220–221</a:t>
            </a:r>
          </a:p>
          <a:p>
            <a:r>
              <a:t>ACCESS Trades Numeracy Textbook p.127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1–8, selected; formula sheet p.219; conversion factors pp.220–221</a:t>
            </a:r>
          </a:p>
          <a:p>
            <a:r>
              <a:t>ACCESS Trades Numeracy Textbook p.127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Figure 8.1: inverse operations preserve equality.</a:t>
            </a:r>
          </a:p>
          <a:p>
            <a:r>
              <a:t>Exact PDF/printed page: 127. ACCESS Textbook excerpt.</a:t>
            </a:r>
          </a:p>
          <a:p>
            <a:r>
              <a:t>Figure 8.1: balance diagrams show the same operation on both sides; the labelled unknown bar in Example 8.4 supports the formulas station. Focus on the relevant diagram, not the Try it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Textbook visual: Example 8.4: name the operation, undo it, then substitute back.</a:t>
            </a:r>
          </a:p>
          <a:p>
            <a:r>
              <a:t>Exact PDF/printed page: 127. ACCESS Textbook excerpt.</a:t>
            </a:r>
          </a:p>
          <a:p>
            <a:r>
              <a:t>Figure 8.1: balance diagrams show the same operation on both sides; the labelled unknown bar in Example 8.4 supports the formulas station. Focus on the relevant diagram, not the Try it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9:10 AM–9:25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9:25 AM–9:40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Exact scheduled tool activity: Numeracy Hub Calculator for number checks; Unit Conversions for length practice. Shape Canvas: one rectangle with a missing dimension for the formulas station.</a:t>
            </a:r>
          </a:p>
          <a:p>
            <a:r>
              <a:t>At the relevant stations, write the selected book solution first and state the method and units.</a:t>
            </a:r>
          </a:p>
          <a:p>
            <a:r>
              <a:t>Use Numeracy Hub Calculator for number checks or Unit Conversions for length practice; at the formulas station, use the scheduled Shape Canvas rectangle with one missing dimension.</a:t>
            </a:r>
          </a:p>
          <a:p>
            <a:r>
              <a:t>Compare the tool check with your working, and substitute the missing dimension back where relevant. Mark whether each solution was independent, tool-checked or prompted.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1B-Q3</a:t>
            </a:r>
          </a:p>
          <a:p>
            <a:r>
              <a:t>Exact question: A millwright sets 14 baseplates. Each baseplate takes 8 anchor bolts. Anchor bolts come in boxes of 25. How many bolts are needed, and how many boxes?</a:t>
            </a:r>
          </a:p>
          <a:p>
            <a:r>
              <a:t>Instructor answer: 112 bolts, 5 boxes</a:t>
            </a:r>
          </a:p>
          <a:p>
            <a:r>
              <a:t>Working: 14 × 8 = 112. 112 ÷ 25 = 4.48, round up to 5 boxes.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9:40 AM–10:00 AM. All slides with this phase share these 20 minutes; do not restart the time allocation for each slide.</a:t>
            </a:r>
          </a:p>
          <a:p/>
          <a:p>
            <a:r>
              <a:t>ACCESS EXERCISE BOOK: 8C-Q1</a:t>
            </a:r>
          </a:p>
          <a:p>
            <a:r>
              <a:t>Exact question: The rectangle has an area of 4,800 cm². Find the width.</a:t>
            </a:r>
          </a:p>
          <a:p>
            <a:r>
              <a:t>Instructor answer: 60 cm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  <a:p/>
          <a:p>
            <a:r>
              <a:t>ACCESS EXERCISE BOOK: 6A-Q19</a:t>
            </a:r>
          </a:p>
          <a:p>
            <a:r>
              <a:t>Exact question: At a scale of 1 : 40, a line measures 85 mm. How long is the real length?</a:t>
            </a:r>
          </a:p>
          <a:p>
            <a:r>
              <a:t>Instructor answer: 3,400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  <a:p/>
          <a:p>
            <a:r>
              <a:t>ACCESS EXERCISE BOOK: 7A-Q11</a:t>
            </a:r>
          </a:p>
          <a:p>
            <a:r>
              <a:t>Exact question: Convert 5/8 in to mm.</a:t>
            </a:r>
          </a:p>
          <a:p>
            <a:r>
              <a:t>Instructor answer: 15.875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10:00 AM–10:10 AM. All slides with this phase share these 10 minutes; do not restart the time allocation for each slide.</a:t>
            </a:r>
          </a:p>
          <a:p/>
          <a:p>
            <a:r>
              <a:t>ACCESS EXERCISE BOOK: 8C-Q2</a:t>
            </a:r>
          </a:p>
          <a:p>
            <a:r>
              <a:t>Exact question: The square has an area of 3,136 mm². Find the side.</a:t>
            </a:r>
          </a:p>
          <a:p>
            <a:r>
              <a:t>Instructor answer: 56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W08-L01 | 2026-12-14 | 9:00 AM–10:15 AM | 75 minutes</a:t>
            </a:r>
          </a:p>
          <a:p>
            <a:r>
              <a:t>Review: numbers, units and formulas</a:t>
            </a:r>
          </a:p>
          <a:p>
            <a:r>
              <a:t>Mode: Math Review</a:t>
            </a:r>
          </a:p>
          <a:p>
            <a:r>
              <a:t>Goal: Retrieve core methods across the course and explain when each method is appropriate.</a:t>
            </a:r>
          </a:p>
          <a:p>
            <a:r>
              <a:t>Read: Textbook Chapter 1–8, selected; formula sheet p.219; conversion factors pp.220–221</a:t>
            </a:r>
          </a:p>
          <a:p>
            <a:r>
              <a:t>Practise: Stations: 1B Q3 p.8; 4A Q14(a),15(a) p.26; 5A Q12–13 p.33; 6A Q19 p.40; 7A Q11–12 p.45; 8C Q1–2 p.55.</a:t>
            </a:r>
          </a:p>
          <a:p>
            <a:r>
              <a:t>Tool: Numeracy Hub Calculator for number checks; Unit Conversions for length practice. Shape Canvas: one rectangle with a missing dimension for the formulas station.</a:t>
            </a:r>
          </a:p>
          <a:p/>
          <a:p>
            <a:r>
              <a:t>EXACT SCHEDULED STEPS</a:t>
            </a:r>
          </a:p>
          <a:p>
            <a:r>
              <a:t>9:00 AM–9:05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9:05 AM–9:10 AM | 2 Recall | 5 min</a:t>
            </a:r>
          </a:p>
          <a:p>
            <a:r>
              <a:t>Instructor: Use learners’ two priorities from Week 7. Ask each to identify a useful checking strategy.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9:10 AM–9:25 AM | 3 Teach | 15 min</a:t>
            </a:r>
          </a:p>
          <a:p>
            <a:r>
              <a:t>Instructor: Model one representative error from the error logs: regrouping, wrong factor, wrong denominator or missing brackets.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9:25 AM–9:40 AM | 4 Together | 15 min</a:t>
            </a:r>
          </a:p>
          <a:p>
            <a:r>
              <a:t>Instructor: Pairs rotate through number, fraction/decimal, conversion and formula stations; explain one solution aloud at each stop.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9:40 AM–10:00 AM | 5 Practise | 20 min</a:t>
            </a:r>
          </a:p>
          <a:p>
            <a:r>
              <a:t>Instructor: Complete the listed station questions; start with the two highest-need topics. Keep written working and note whether a tool or prompt was required.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10:00 AM–10:10 AM | 6 Check | 10 min</a:t>
            </a:r>
          </a:p>
          <a:p>
            <a:r>
              <a:t>Instructor: Exercise Book 6A Q19, 7A Q11 and 8C Q2; identify the appropriate method for each.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10:10 AM–10:15 AM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6A Q19 = 3,400 mm; 7A Q11 = 15.875 mm; 8C Q2 = 56 mm. Answer Key pp.19,21,24. Answer Key pp.6,13,16,19,21,24</a:t>
            </a:r>
          </a:p>
          <a:p/>
          <a:p>
            <a:r>
              <a:t>Choose the geometry and application questions in the next block from the weakest demonstrated areas.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10:10 AM–10:15 AM. All slides with this phase share these 5 minutes; do not restart the time allocation for each slide.</a:t>
            </a:r>
          </a:p>
          <a:p/>
          <a:p>
            <a:r>
              <a:t>Next scheduled learning: Choose the geometry and application questions in the next block from the weakest demonstrated areas.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Scheduled break, 15 minutes. Resume at 10:30 AM. Do not move the following math block into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Start, 10:30 AM–10:35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Recall, 10:35 AM–10:40 AM. All slides with this phase share these 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9–13 pp.140–214, selected; formula sheet p.219</a:t>
            </a:r>
          </a:p>
          <a:p>
            <a:r>
              <a:t>ACCESS Trades Numeracy Textbook p.172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Teaching references:</a:t>
            </a:r>
          </a:p>
          <a:p>
            <a:r>
              <a:t>Textbook Chapter 9–13 pp.140–214, selected; formula sheet p.219</a:t>
            </a:r>
          </a:p>
          <a:p>
            <a:r>
              <a:t>ACCESS Trades Numeracy Textbook p.172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Figure 11.1: volume counts unit cubes in three directions.</a:t>
            </a:r>
          </a:p>
          <a:p>
            <a:r>
              <a:t>Exact PDF/printed page: 172. ACCESS Textbook excerpt.</a:t>
            </a:r>
          </a:p>
          <a:p>
            <a:r>
              <a:t>Figure 11.1: 4 cm × 3 cm × 2 cm prism built from unit cubes. Use the labelled three-dimensional visual to distinguish a volume from length and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Textbook visual: Cubic conversions use the length factor three times.</a:t>
            </a:r>
          </a:p>
          <a:p>
            <a:r>
              <a:t>Exact PDF/printed page: 172. ACCESS Textbook excerpt.</a:t>
            </a:r>
          </a:p>
          <a:p>
            <a:r>
              <a:t>Figure 11.1: 4 cm × 3 cm × 2 cm prism built from unit cubes. Use the labelled three-dimensional visual to distinguish a volume from length and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Teach, 10:40 AM–10:55 AM. All slides with this phase share these 15 minutes; do not restart the time allocation for each slide.</a:t>
            </a:r>
          </a:p>
          <a:p/>
          <a:p>
            <a:r>
              <a:t>Pause on the prompt before discussing the correction. This is included within the scheduled Teach block, not an additional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  <a:p/>
          <a:p>
            <a:r>
              <a:t>ACCESS EXERCISE BOOK: 10B-Q1</a:t>
            </a:r>
          </a:p>
          <a:p>
            <a:r>
              <a:t>Exact question: A mezzanine floor is 7.2 m by 3.6 m. It is covered with checker plate sheets that are 1.2 m by 2.4 m, laid edge to edge with no waste. Find the floor area and the number of sheets.</a:t>
            </a:r>
          </a:p>
          <a:p>
            <a:r>
              <a:t>Instructor answer: 25.92 m², 9 sheets</a:t>
            </a:r>
          </a:p>
          <a:p>
            <a:r>
              <a:t>Working: 7.2 × 3.6 = 25.92 m², one sheet = 2.88 m², 25.92 ÷ 2.88 = 9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Together, 10:55 AM–11:10 AM. All slides with this phase share these 15 minutes; do not restart the time allocation for each slide.</a:t>
            </a:r>
          </a:p>
          <a:p/>
          <a:p>
            <a:r>
              <a:t>ACCESS EXERCISE BOOK: 10B-Q1</a:t>
            </a:r>
          </a:p>
          <a:p>
            <a:r>
              <a:t>Exact question: A mezzanine floor is 7.2 m by 3.6 m. It is covered with checker plate sheets that are 1.2 m by 2.4 m, laid edge to edge with no waste. Find the floor area and the number of sheets.</a:t>
            </a:r>
          </a:p>
          <a:p>
            <a:r>
              <a:t>Instructor answer: 25.92 m², 9 sheets</a:t>
            </a:r>
          </a:p>
          <a:p>
            <a:r>
              <a:t>Working: 7.2 × 3.6 = 25.92 m², one sheet = 2.88 m², 25.92 ÷ 2.88 = 9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Demonstrate navigation, then open the tool and use the assigned values. Keep worked answers hidden until learners attempt the task. Include this activity within the allocated practice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Exact scheduled tool activity: Shape Canvas: compare rectangle, rectangular prism and right triangle. Numeracy Hub: Volume and Layout / Angles and Trig: one Easy practice task in a taught topic.</a:t>
            </a:r>
          </a:p>
          <a:p>
            <a:r>
              <a:t>In Shape Canvas, compare the scheduled rectangle, rectangular prism and right triangle. Label the given dimensions and identify the unknown for the relevant written problem.</a:t>
            </a:r>
          </a:p>
          <a:p>
            <a:r>
              <a:t>After the listed paper work, use Numeracy Hub Volume and Layout or Angles and Trig for one Easy task in a taught topic, chosen to match the documented need.</a:t>
            </a:r>
          </a:p>
          <a:p>
            <a:r>
              <a:t>Keep the question/code, written formula, diagram and units. Explain why the method applies and use the drawing to reject an unreasonable unit or magnitude.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9A-Q1</a:t>
            </a:r>
          </a:p>
          <a:p>
            <a:r>
              <a:t>Exact question: Find the perimeter of a rectangle 2,400 mm by 1,150 mm.</a:t>
            </a:r>
          </a:p>
          <a:p>
            <a:r>
              <a:t>Instructor answer: 7,100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Practise, 11:10 AM–11:45 AM. All slides with this phase share these 35 minutes; do not restart the time allocation for each slide.</a:t>
            </a:r>
          </a:p>
          <a:p/>
          <a:p>
            <a:r>
              <a:t>ACCESS EXERCISE BOOK: 9A-Q8</a:t>
            </a:r>
          </a:p>
          <a:p>
            <a:r>
              <a:t>Exact question: A rectangle has a perimeter of 3,800 mm and a length of 1,200 mm. Find the width.</a:t>
            </a:r>
          </a:p>
          <a:p>
            <a:r>
              <a:t>Instructor answer: 700 mm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  <a:p/>
          <a:p>
            <a:r>
              <a:t>ACCESS EXERCISE BOOK: 10B-Q11</a:t>
            </a:r>
          </a:p>
          <a:p>
            <a:r>
              <a:t>Exact question: A 300 mm by 200 mm access hole is cut in a 1,200 mm by 800 mm cover plate. Find the area of plate left in mm² and in m².</a:t>
            </a:r>
          </a:p>
          <a:p>
            <a:r>
              <a:t>Instructor answer: 900,000 mm² = 0.9 m²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  <a:p/>
          <a:p>
            <a:r>
              <a:t>ACCESS EXERCISE BOOK: 11A-Q19</a:t>
            </a:r>
          </a:p>
          <a:p>
            <a:r>
              <a:t>Exact question: A box holds 0.24 m³. Its base is 0.8 m by 0.5 m. Find its height.</a:t>
            </a:r>
          </a:p>
          <a:p>
            <a:r>
              <a:t>Instructor answer: 0.6 m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Check, 11:45 AM–11:55 AM. All slides with this phase share these 10 minutes; do not restart the time allocation for each slide.</a:t>
            </a:r>
          </a:p>
          <a:p/>
          <a:p>
            <a:r>
              <a:t>ACCESS EXERCISE BOOK: 13A-Q14</a:t>
            </a:r>
          </a:p>
          <a:p>
            <a:r>
              <a:t>Exact question: A slope rises 120 mm over a run of 6,000 mm. Find the percent grade and the angle to two decimal places.</a:t>
            </a:r>
          </a:p>
          <a:p>
            <a:r>
              <a:t>Instructor answer: Grade 2%, angle 1.15°</a:t>
            </a:r>
          </a:p>
          <a:p>
            <a:r>
              <a:t>Working: </a:t>
            </a:r>
          </a:p>
          <a:p>
            <a:r>
              <a:t>The projected item is part of the full scheduled assignment shown in this block. All other assigned questions remain in the Exercise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W08-L02 | 2026-12-14 | 10:30 AM–12:00 PM | 90 minutes</a:t>
            </a:r>
          </a:p>
          <a:p>
            <a:r>
              <a:t>Review: geometry and job problems</a:t>
            </a:r>
          </a:p>
          <a:p>
            <a:r>
              <a:t>Mode: Math Review</a:t>
            </a:r>
          </a:p>
          <a:p>
            <a:r>
              <a:t>Goal: Select perimeter, area, volume or triangle methods from a drawing and report the correct unit.</a:t>
            </a:r>
          </a:p>
          <a:p>
            <a:r>
              <a:t>Read: Textbook Chapter 9–13 pp.140–214, selected; formula sheet p.219</a:t>
            </a:r>
          </a:p>
          <a:p>
            <a:r>
              <a:t>Practise: Exercise Book 9A Q1,8 p.57; 10B Q1,11 pp.65–66; 11A Q7,19 pp.69–70; 12B Q3 p.77; 13A Q6,14 p.82.</a:t>
            </a:r>
          </a:p>
          <a:p>
            <a:r>
              <a:t>Tool: Shape Canvas: compare rectangle, rectangular prism and right triangle. Numeracy Hub: Volume and Layout / Angles and Trig: one Easy practice task in a taught topic.</a:t>
            </a:r>
          </a:p>
          <a:p/>
          <a:p>
            <a:r>
              <a:t>EXACT SCHEDULED STEPS</a:t>
            </a:r>
          </a:p>
          <a:p>
            <a:r>
              <a:t>10:30 AM–10:35 AM | 1 Start | 5 min</a:t>
            </a:r>
          </a:p>
          <a:p>
            <a:r>
              <a:t>Instructor: State the objective and connect this block to the previous work. Confirm the role of paper working and tool checking.</a:t>
            </a:r>
          </a:p>
          <a:p>
            <a:r>
              <a:t>Learners: Identify one target skill and the checking habit to use today.</a:t>
            </a:r>
          </a:p>
          <a:p>
            <a:r>
              <a:t>Materials/check: Notebook; calculator</a:t>
            </a:r>
          </a:p>
          <a:p/>
          <a:p>
            <a:r>
              <a:t>10:35 AM–10:40 AM | 2 Recall | 5 min</a:t>
            </a:r>
          </a:p>
          <a:p>
            <a:r>
              <a:t>Instructor: Display three drawings and ask which result uses mm, mm² or mm³; retrieve DEG mode for trig.</a:t>
            </a:r>
          </a:p>
          <a:p>
            <a:r>
              <a:t>Learners: Review previous feedback and attempt the retrieval prompt without displayed solutions.</a:t>
            </a:r>
          </a:p>
          <a:p>
            <a:r>
              <a:t>Materials/check: Identify support needs</a:t>
            </a:r>
          </a:p>
          <a:p/>
          <a:p>
            <a:r>
              <a:t>10:40 AM–10:55 AM | 3 Teach | 15 min</a:t>
            </a:r>
          </a:p>
          <a:p>
            <a:r>
              <a:t>Instructor: Compare geometry formulas and the unknowns they solve. Show how to reject an unreasonable unit or magnitude.</a:t>
            </a:r>
          </a:p>
          <a:p>
            <a:r>
              <a:t>Learners: Annotate the example or response expectations; ask about unclear steps.</a:t>
            </a:r>
          </a:p>
          <a:p>
            <a:r>
              <a:t>Materials/check: Textbook; worked example</a:t>
            </a:r>
          </a:p>
          <a:p/>
          <a:p>
            <a:r>
              <a:t>10:55 AM–11:10 AM | 4 Together | 15 min</a:t>
            </a:r>
          </a:p>
          <a:p>
            <a:r>
              <a:t>Instructor: Work Exercise Book 10B Q1 and 12B Q3 in pairs. Annotate all dimensions and explicitly include stated kerf.</a:t>
            </a:r>
          </a:p>
          <a:p>
            <a:r>
              <a:t>Learners: Explain the method and check directions; work with a partner only where permitted.</a:t>
            </a:r>
          </a:p>
          <a:p>
            <a:r>
              <a:t>Materials/check: Exercise Book; tool above</a:t>
            </a:r>
          </a:p>
          <a:p/>
          <a:p>
            <a:r>
              <a:t>11:10 AM–11:45 AM | 5 Practise | 35 min</a:t>
            </a:r>
          </a:p>
          <a:p>
            <a:r>
              <a:t>Instructor: Solve the remaining listed exercises, prioritizing documented needs. Finish with one fresh Numeracy Hub question; explain why that formula applies and keep its question/code for checking.</a:t>
            </a:r>
          </a:p>
          <a:p>
            <a:r>
              <a:t>Learners: Keep numbered written solutions and units. Use tools only under the conditions stated for this block.</a:t>
            </a:r>
          </a:p>
          <a:p>
            <a:r>
              <a:t>Materials/check: Paper first; tool second</a:t>
            </a:r>
          </a:p>
          <a:p/>
          <a:p>
            <a:r>
              <a:t>11:45 AM–11:55 AM | 6 Check | 10 min</a:t>
            </a:r>
          </a:p>
          <a:p>
            <a:r>
              <a:t>Instructor: Exercise Book 10B Q11, 11A Q19 and 13A Q14, with diagrams and units.</a:t>
            </a:r>
          </a:p>
          <a:p>
            <a:r>
              <a:t>Learners: Submit work and demonstrate the checking strategy; identify a remaining difficulty.</a:t>
            </a:r>
          </a:p>
          <a:p>
            <a:r>
              <a:t>Materials/check: Teacher answers below</a:t>
            </a:r>
          </a:p>
          <a:p/>
          <a:p>
            <a:r>
              <a:t>11:55 AM–12:00 PM | 7 Wrap up | 5 min</a:t>
            </a:r>
          </a:p>
          <a:p>
            <a:r>
              <a:t>Instructor: Ask what improved, what needs another attempt and which resource will support the next step.</a:t>
            </a:r>
          </a:p>
          <a:p>
            <a:r>
              <a:t>Learners: Name the math and another essential skill used; record a concrete follow-up action.</a:t>
            </a:r>
          </a:p>
          <a:p>
            <a:r>
              <a:t>Materials/check: Notebook / error log</a:t>
            </a:r>
          </a:p>
          <a:p/>
          <a:p>
            <a:r>
              <a:t>INSTRUCTOR ONLY: REVEAL ASSESSMENT ANSWERS AFTER THE ATTEMPT</a:t>
            </a:r>
          </a:p>
          <a:p>
            <a:r>
              <a:t>10B Q11 = 0.9 m²; 11A Q19 = 0.6 m; 13A Q14 = 2% grade and 1.15°. Answer Key pp.28,30,34. Answer Key pp.26,28,30,32,34</a:t>
            </a:r>
          </a:p>
          <a:p/>
          <a:p>
            <a:r>
              <a:t>Prepare Wednesday’s formative readiness set; allow the agreed formula sheet and calculator, not worked answers.</a:t>
            </a:r>
          </a:p>
          <a:p/>
          <a:p>
            <a:r>
              <a:t>Keep activities within the allocated phase time.</a:t>
            </a:r>
          </a:p>
          <a:p>
            <a:r>
              <a:t>PHASE TIMING: Wrap up, 11:55 AM–12:00 PM. All slides with this phase share these 5 minutes; do not restart the time allocation for each slide.</a:t>
            </a:r>
          </a:p>
          <a:p/>
          <a:p>
            <a:r>
              <a:t>Next scheduled learning: Prepare Wednesday’s formative readiness set; allow the agreed formula sheet and calculator, not worked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1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27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27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3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4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8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5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5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6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3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4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8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219" TargetMode="External"/><Relationship Id="rId6" Type="http://schemas.openxmlformats.org/officeDocument/2006/relationships/hyperlink" Target="../../../books/ACCESS-Trades-Numeracy-Exercise-Book.pdf#page=5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219" TargetMode="External"/><Relationship Id="rId5" Type="http://schemas.openxmlformats.org/officeDocument/2006/relationships/hyperlink" Target="../../../books/ACCESS-Trades-Numeracy-Exercise-Book.pdf#page=8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" TargetMode="External"/><Relationship Id="rId5" Type="http://schemas.openxmlformats.org/officeDocument/2006/relationships/hyperlink" Target="../../../books/ACCESS-Trades-Numeracy-Exercise-Book.pdf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9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72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10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72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6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6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13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4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57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15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65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69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../../../books/ACCESS-Trades-Numeracy-Textbook.pdf#page=140" TargetMode="External"/><Relationship Id="rId6" Type="http://schemas.openxmlformats.org/officeDocument/2006/relationships/hyperlink" Target="../../../books/ACCESS-Trades-Numeracy-Exercise-Book.pdf#page=81" TargetMode="External"/><Relationship Id="rId7" Type="http://schemas.openxmlformats.org/officeDocument/2006/relationships/hyperlink" Target="../../../numeracy-hub/index.html" TargetMode="External"/><Relationship Id="rId8" Type="http://schemas.openxmlformats.org/officeDocument/2006/relationships/hyperlink" Target="../../../shape-canvas/index.htm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18.png"/><Relationship Id="rId4" Type="http://schemas.openxmlformats.org/officeDocument/2006/relationships/hyperlink" Target="../../../books/ACCESS-Trades-Numeracy-Textbook.pdf#page=140" TargetMode="External"/><Relationship Id="rId5" Type="http://schemas.openxmlformats.org/officeDocument/2006/relationships/hyperlink" Target="../../../books/ACCESS-Trades-Numeracy-Exercise-Book.pdf#page=57" TargetMode="External"/><Relationship Id="rId6" Type="http://schemas.openxmlformats.org/officeDocument/2006/relationships/hyperlink" Target="../../../numeracy-hub/index.html" TargetMode="External"/><Relationship Id="rId7" Type="http://schemas.openxmlformats.org/officeDocument/2006/relationships/hyperlink" Target="../../../shape-canvas/index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38912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ACCESS  /  CARPENTRY FOUNDATION  /  INTAKE 141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14300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600" b="1">
                <a:solidFill>
                  <a:srgbClr val="1A1A1A"/>
                </a:solidFill>
                <a:latin typeface="Arial"/>
              </a:defRPr>
            </a:pPr>
            <a:r>
              <a:t>Day 25  |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88366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0">
                <a:solidFill>
                  <a:srgbClr val="4A4E54"/>
                </a:solidFill>
                <a:latin typeface="Arial"/>
              </a:defRPr>
            </a:pPr>
            <a:r>
              <a:t>December 14,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" y="2633472"/>
            <a:ext cx="109728" cy="2194560"/>
          </a:xfrm>
          <a:prstGeom prst="rect">
            <a:avLst/>
          </a:prstGeom>
          <a:solidFill>
            <a:srgbClr val="D218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32688" y="274320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Review: numbers, units and formulas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320040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9:00 AM–10:15 AM  •  Math Review  •  75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3840480"/>
            <a:ext cx="10287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t>Review: geometry and job problems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297680"/>
            <a:ext cx="10058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t>10:30 AM–12:00 PM  •  Math Review  •  90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4406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D2181F"/>
                </a:solidFill>
                <a:latin typeface="Arial"/>
              </a:defRPr>
            </a:pPr>
            <a:r>
              <a:t>Week 8  •  2 scheduled blocks  •  165 teaching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t>Estimate. Show the method. Label units. Check the result.</a:t>
            </a:r>
          </a:p>
        </p:txBody>
      </p:sp>
      <p:pic>
        <p:nvPicPr>
          <p:cNvPr id="12" name="Picture 11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25  •  2026-12-14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rPr/>
              <a:t>DAY 25  /  WEEK 8  /  CLASS TIMETABLE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77824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000" b="1">
                <a:solidFill>
                  <a:srgbClr val="1A1A1A"/>
                </a:solidFill>
                <a:latin typeface="Arial"/>
              </a:defRPr>
            </a:pPr>
            <a:r>
              <a:rPr/>
              <a:t>Today’s exact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9:00 AM–10:15 AM  • 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Review: numbers, units and formulas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9:00 AM–9:05 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752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9:05 AM–9:10 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864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6752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9:10 AM–9:25 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9:25 AM–9:40 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864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9:40 AM–10:00 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10:00 AM–10:10 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9864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6752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10:10 AM–10:15 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Review  •  Math Week 8, Lesson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1627632"/>
            <a:ext cx="5349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D2181F"/>
                </a:solidFill>
                <a:latin typeface="Arial"/>
              </a:defRPr>
            </a:pPr>
            <a:r>
              <a:rPr/>
              <a:t>10:30 AM–12:00 PM  •  90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2048256"/>
            <a:ext cx="5349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1">
                <a:solidFill>
                  <a:srgbClr val="1A1A1A"/>
                </a:solidFill>
                <a:latin typeface="Arial"/>
              </a:defRPr>
            </a:pPr>
            <a:r>
              <a:rPr/>
              <a:t>Review: geometry and job problems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285292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10:30 AM–10:35 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2208" y="2852928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Start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91088" y="285292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8" y="320954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10:35 AM–10:40 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2208" y="3209544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Recall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91088" y="320954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6208" y="356616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10:40 AM–10:55 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35661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Teach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1088" y="3566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92277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10:55 AM–11:10 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392277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Together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91088" y="392277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27939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11:10 AM–11:45 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4279392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Practise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91088" y="427939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4636007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11:45 AM–11:55 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636007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Check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91088" y="4636007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36208" y="4992623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11:55 AM–12:00 PM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499262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Wrap 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91088" y="4992623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D2181F"/>
                </a:solidFill>
                <a:latin typeface="Arial"/>
              </a:defRPr>
            </a:pPr>
            <a:r>
              <a:rPr/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36208" y="5522976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4A4E54"/>
                </a:solidFill>
                <a:latin typeface="Arial"/>
              </a:defRPr>
            </a:pPr>
            <a:r>
              <a:rPr/>
              <a:t>Math Review  •  Math Week 8, Lesson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" y="6053328"/>
            <a:ext cx="10927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500" b="0">
                <a:solidFill>
                  <a:srgbClr val="1A1A1A"/>
                </a:solidFill>
                <a:latin typeface="Arial"/>
              </a:defRPr>
            </a:pPr>
            <a:r>
              <a:rPr/>
              <a:t>Break: 10:15 AM–10:30 AM  •  15 minutes  •  excluded from teaching time</a:t>
            </a:r>
          </a:p>
        </p:txBody>
      </p:sp>
      <p:pic>
        <p:nvPicPr>
          <p:cNvPr id="53" name="Picture 5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START  •  9:00 AM–9:05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Review: numbers, units and formulas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Retrieve core methods across the course and explain when each method is appropriate.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Identify one target skill and the checking habit to use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Stations: 1B Q3 p.8; 4A Q14(a),15(a) p.26; 5A Q12–13 p.33; 6A Q19 p.40; 7A Q11–12 p.45; 8C Q1–2 p.55.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RECALL  •  9:05 AM–9:10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Use learners’ two priorities from Week 7. Ask each to identify a useful checking strategy.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Review previous feedback and attempt the retrieval prompt without displayed solutions.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Stations: 1B Q3 p.8; 4A Q14(a),15(a) p.26; 5A Q12–13 p.33; 6A Q19 p.40; 7A Q11–12 p.45; 8C Q1–2 p.55.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Choose the method before the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At the number station, explain the operation choice and any rounding needed for a whole purchase unit.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At the fraction/decimal station, show the regrouping or conversion that keeps the quantity unchanged.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At the conversion/scale station, record the factor, its direction and both units.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At the formulas station, find the missing dimension and substitute it back into the original relationship.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Let your error log guide the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Begin with the two revision priorities from Week 7 and select a checking strategy for each.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Look for the step behind the error: regrouping, a wrong factor, a wrong denominator or missing brackets.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Use the selected Textbook chapters, formula sheet p.219 and conversion factors pp.220–221 to explain why the method applies.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written working and record whether the solution was independent, tool-checked or completed with a prompt.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W08-L01  •  TEACH  •  9:10 AM–9:25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Rotate through four method stations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09585" y="1714500"/>
            <a:ext cx="5048124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• NUMBER DECISIONS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1B Q3 p.8.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operation choice and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whole-purchase-unit rounding.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76838" y="1714500"/>
            <a:ext cx="5048124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• FRACTIONS / DECIMALS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4A Q14(a),15(a) p.26;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5A Q12–13 p.33.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regrouping or conversion.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09585" y="3571875"/>
            <a:ext cx="5048124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• CONVERSION / SCALE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6A Q19 p.40;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7A Q11–12 p.45.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factor, direction and units.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76838" y="3571875"/>
            <a:ext cx="5048124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• FORMULAS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8C Q1–2 p.55.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missing dimension,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substitute it back.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585" y="5381625"/>
            <a:ext cx="1097252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Instructor: model one error from the logs. Partners explain one method at each stop.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after paper: Calculator, Unit Conversions, or a Shape Canvas missing-dimension rectangle.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Book practice stations • No displayed answers during first attempts</a:t>
            </a:r>
            <a:endParaRPr lang="en-US" sz="1050" dirty="0"/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07</a:t>
            </a:r>
          </a:p>
        </p:txBody>
      </p:sp>
    </p:spTree>
    <p:extLst>
      <p:ext uri="{BB962C8B-B14F-4D97-AF65-F5344CB8AC3E}">
        <p14:creationId xmlns:p14="http://schemas.microsoft.com/office/powerpoint/2010/main" val="460526846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pic>
        <p:nvPicPr>
          <p:cNvPr id="5" name="Picture 4" descr="W08-L0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38986"/>
            <a:ext cx="10698480" cy="25743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Figure 8.1: inverse operations preserve equality.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pic>
        <p:nvPicPr>
          <p:cNvPr id="5" name="Picture 4" descr="W08-L0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9046" y="1691640"/>
            <a:ext cx="9831987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Example 8.4: name the operation, undo it, then substitute back.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TEACH  •  9:10 AM–9:25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conversion response says “multiply by the factor” but omits the starting and target units. What still needs to be justified?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Name both units and show why the chosen factor and direction produce the requested unit. Check the result with Unit Conversions after the paper attempt; retain the factor and working.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TOGETHER  •  9:25 AM–9:40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Pairs rotate through number, fraction/decimal, conversion and formula stations; explain one solution aloud at each stop.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Explain the method and check directions; work with a partner only where permitted.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Stations: 1B Q3 p.8; 4A Q14(a),15(a) p.26; 5A Q12–13 p.33; 6A Q19 p.40; 7A Q11–12 p.45; 8C Q1–2 p.55.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Complete the listed station questions; start with the two highest-need topics. Keep written working and note whether a tool or prompt was required.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Keep numbered written solutions and units. Use tools only under the conditions stated for this block.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Stations: 1B Q3 p.8; 4A Q14(a),15(a) p.26; 5A Q12–13 p.33; 6A Q19 p.40; 7A Q11–12 p.45; 8C Q1–2 p.55.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pic>
        <p:nvPicPr>
          <p:cNvPr id="5" name="Picture 4" descr="hub-un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At the relevant stations, write the selected book solution first and state the method and units.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1A1A1A"/>
                </a:solidFill>
                <a:latin typeface="Arial"/>
              </a:defRPr>
            </a:pPr>
            <a:r>
              <a:rPr/>
              <a:t>Use Numeracy Hub Calculator for number checks or Unit Conversions for length practice; at the formulas station, use the scheduled Shape Canvas rectangle with one missing dimension.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1A1A1A"/>
                </a:solidFill>
                <a:latin typeface="Arial"/>
              </a:defRPr>
            </a:pPr>
            <a:r>
              <a:rPr/>
              <a:t>Compare the tool check with your working, and substitute the missing dimension back where relevant. Mark whether each solution was independent, tool-checked or prompted.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1B Q3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pic>
        <p:nvPicPr>
          <p:cNvPr id="5" name="Picture 4" descr="1B-Q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58618"/>
            <a:ext cx="10698480" cy="18425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PRACTISE  •  9:40 AM–10:00 AM  •  20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8C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pic>
        <p:nvPicPr>
          <p:cNvPr id="5" name="Picture 4" descr="8C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278" y="1773936"/>
            <a:ext cx="8865523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6A Q19, 7A Q11 and 8C Q2; identify the appropriate method for each.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Submit work and demonstrate the checking strategy; identify a remaining difficulty.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Stations: 1B Q3 p.8; 4A Q14(a),15(a) p.26; 5A Q12–13 p.33; 6A Q19 p.40; 7A Q11–12 p.45; 8C Q1–2 p.55.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6A Q19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pic>
        <p:nvPicPr>
          <p:cNvPr id="5" name="Picture 4" descr="6A-Q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7A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pic>
        <p:nvPicPr>
          <p:cNvPr id="5" name="Picture 4" descr="7A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CHECK  •  10:00 AM–10:10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8C Q2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pic>
        <p:nvPicPr>
          <p:cNvPr id="5" name="Picture 4" descr="8C-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2278" y="1773936"/>
            <a:ext cx="8865523" cy="3611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W08-L01  •  WRAP UP  •  10:10 AM–10:15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1–8, selected; formula sheet p.219; conversion factors pp.220–221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Identify what improved, what needs another attempt and which resource will support the next step.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another essential skill used; record a concrete follow-up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Stations: 1B Q3 p.8; 4A Q14(a),15(a) p.26; 5A Q12–13 p.33; 6A Q19 p.40; 7A Q11–12 p.45; 8C Q1–2 p.55.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57200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00" b="1">
                <a:solidFill>
                  <a:srgbClr val="D2181F"/>
                </a:solidFill>
                <a:latin typeface="Arial"/>
              </a:defRPr>
            </a:pPr>
            <a:r>
              <a:t>DAY 25  •  SCHEDULED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3716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4400" b="1">
                <a:solidFill>
                  <a:srgbClr val="1A1A1A"/>
                </a:solidFill>
                <a:latin typeface="Arial"/>
              </a:defRPr>
            </a:pPr>
            <a: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3200" b="0">
                <a:solidFill>
                  <a:srgbClr val="D2181F"/>
                </a:solidFill>
                <a:latin typeface="Arial"/>
              </a:defRPr>
            </a:pPr>
            <a:r>
              <a:t>10:15 AM–10:30 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3794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300" b="0">
                <a:solidFill>
                  <a:srgbClr val="1A1A1A"/>
                </a:solidFill>
                <a:latin typeface="Arial"/>
              </a:defRPr>
            </a:pPr>
            <a:r>
              <a:t>Return ready for: Review: geometry and job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5212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4A4E54"/>
                </a:solidFill>
                <a:latin typeface="Arial"/>
              </a:defRPr>
            </a:pPr>
            <a:r>
              <a:t>This break is excluded from teaching minutes.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t>Day 25  •  2026-12-14  •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START  •  10:30 AM–10:35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Review: geometry and job problems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56231"/>
            <a:ext cx="10927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1">
                <a:solidFill>
                  <a:srgbClr val="1A1A1A"/>
                </a:solidFill>
                <a:latin typeface="Arial"/>
              </a:defRPr>
            </a:pPr>
            <a:r>
              <a:rPr/>
              <a:t>Today’s goal: Select perimeter, area, volume or triangle methods from a drawing and report the correct unit.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154680"/>
            <a:ext cx="109270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Identify one target skill and the checking habit to use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4114800"/>
            <a:ext cx="10927080" cy="137160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41248" y="4297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1A1A1A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90118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600" b="0">
                <a:solidFill>
                  <a:srgbClr val="4A4E54"/>
                </a:solidFill>
                <a:latin typeface="Arial"/>
              </a:defRPr>
            </a:pPr>
            <a:r>
              <a:rPr/>
              <a:t>Exercise Book 9A Q1,8 p.57; 10B Q1,11 pp.65–66; 11A Q7,19 pp.69–70; 12B Q3 p.77; 13A Q6,14 p.82.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580644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D2181F"/>
                </a:solidFill>
                <a:latin typeface="Arial"/>
              </a:defRPr>
            </a:pPr>
            <a:r>
              <a:rPr/>
              <a:t>Keep your notebook, assigned ACCESS books and chosen calculator ready.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RECALL  •  10:35 AM–10:40 AM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Recall and reconnect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Display three drawings and ask which result uses mm, mm² or mm³; retrieve DEG mode for trig.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Review previous feedback and attempt the retrieval prompt without displayed solutions.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Q1,8 p.57; 10B Q1,11 pp.65–66; 11A Q7,19 pp.69–70; 12B Q3 p.77; 13A Q6,14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Match the drawing to the requested quantity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Outside boundary is perimeter: add edges, or use 2(l + w) for a rectangle. Report a length unit such as mm or 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Surface coverage is area: use the appropriate area formula and subtract openings where stated. Report square units.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Space or capacity is volume: base area × height for a prism. Report the requested cubic or capacity unit.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 right-triangle side uses Pythagoras or the selected trig ratio. The side answer is a length; confirm DEG mode for trig.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Use the drawing to check the 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0195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7451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Identify the unknown before selecting the formula, and label all given dimensions on the appropriate drawing.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6207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83463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each stated cut and kerf with its own problem; include the stated kerf in the paired work on 12B Q3.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22191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9475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Reject an answer whose unit does not match the quantity or whose magnitude does not fit the drawing.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82312"/>
            <a:ext cx="329184" cy="329184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500" b="1">
                <a:solidFill>
                  <a:srgbClr val="1A1A1A"/>
                </a:solidFill>
                <a:latin typeface="Arial"/>
              </a:defRPr>
            </a:pPr>
            <a:r>
              <a:rPr/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54879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For the scheduled fresh Hub question, explain why the formula applies and retain the question/code for checking.</a:t>
            </a:r>
          </a:p>
        </p:txBody>
      </p:sp>
      <p:pic>
        <p:nvPicPr>
          <p:cNvPr id="13" name="Picture 12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609585" y="381000"/>
            <a:ext cx="9418320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150">
                <a:solidFill>
                  <a:srgbClr val="D2181F"/>
                </a:solidFill>
                <a:latin typeface="Arial"/>
              </a:defRPr>
            </a:pPr>
            <a:r>
              <a:rPr/>
              <a:t>W08-L02  •  TEACH  •  10:40 AM–10:55 AM  •  15 MIN TOTAL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9585" y="781050"/>
            <a:ext cx="1097252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quantity, formula and unit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/>
        </p:nvGraphicFramePr>
        <p:xfrm>
          <a:off x="609585" y="1714500"/>
          <a:ext cx="10972525" cy="2714624"/>
        </p:xfrm>
        <a:graphic>
          <a:graphicData uri="http://schemas.openxmlformats.org/drawingml/2006/table">
            <a:tbl>
              <a:tblPr/>
              <a:tblGrid>
                <a:gridCol w="32373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892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59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91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00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 example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00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 unit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00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387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818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Outside boundary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818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 edges; rectangle 2(l + w)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818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mm or m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387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818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Surface coverage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818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Area; subtract openings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818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mm² or m²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387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818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Space / capacity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818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area × height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818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mm³, m³ or 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387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818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Right-triangle side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818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Pythagoras or selected trig ratio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818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mm or m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09585" y="5095875"/>
            <a:ext cx="10972526" cy="959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• Work 10B Q1 and 12B Q3 in pairs.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 every dimension and include stated kerf. Explain why the method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 the unknown; reject an unreasonable unit or magnitude.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09585" y="6345936"/>
            <a:ext cx="10881360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818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Book pp.65,77 • Shape Canvas rectangle, prism and right triangle • Formula sheet p.219</a:t>
            </a:r>
            <a:endParaRPr lang="en-US" sz="1050" dirty="0"/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27</a:t>
            </a:r>
          </a:p>
        </p:txBody>
      </p:sp>
    </p:spTree>
    <p:extLst>
      <p:ext uri="{BB962C8B-B14F-4D97-AF65-F5344CB8AC3E}">
        <p14:creationId xmlns:p14="http://schemas.microsoft.com/office/powerpoint/2010/main" val="4000820979"/>
      </p:ext>
    </p:extLst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pic>
        <p:nvPicPr>
          <p:cNvPr id="5" name="Picture 4" descr="W08-L0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339" y="1691640"/>
            <a:ext cx="10387400" cy="4069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Figure 11.1: volume counts unit cubes in three directions.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ACCESS Textbook  |  page 172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pic>
        <p:nvPicPr>
          <p:cNvPr id="5" name="Picture 4" descr="W08-L02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42158"/>
            <a:ext cx="10698480" cy="23680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852160"/>
            <a:ext cx="1069848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0">
                <a:solidFill>
                  <a:srgbClr val="4A4E54"/>
                </a:solidFill>
                <a:latin typeface="Arial"/>
              </a:defRPr>
            </a:pPr>
            <a:r>
              <a:rPr/>
              <a:t>Cubic conversions use the length factor three times.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TEACH  •  10:40 AM–10:55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Spot the mistake. Explain the correction.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47088"/>
            <a:ext cx="109270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600" b="1">
                <a:solidFill>
                  <a:srgbClr val="1A1A1A"/>
                </a:solidFill>
                <a:latin typeface="Arial"/>
              </a:defRPr>
            </a:pPr>
            <a:r>
              <a:rPr/>
              <a:t>A surface-coverage calculation is labelled mm³. What does that unit suggest, and what should you recheck?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370332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D2181F"/>
                </a:solidFill>
                <a:latin typeface="Arial"/>
              </a:defRPr>
            </a:pPr>
            <a:r>
              <a:rPr/>
              <a:t>Discuss the method before checking the answer.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4617720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4A4E54"/>
                </a:solidFill>
                <a:latin typeface="Arial"/>
              </a:defRPr>
            </a:pPr>
            <a:r>
              <a:rPr/>
              <a:t>Cubic units describe volume. Recheck the requested quantity and formula: surface coverage needs an area calculation and square units; a correct-looking number with the wrong unit is not a complete result.</a:t>
            </a:r>
          </a:p>
        </p:txBody>
      </p:sp>
      <p:pic>
        <p:nvPicPr>
          <p:cNvPr id="8" name="Picture 7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Work Exercise Book 10B Q1 and 12B Q3 in pairs. Annotate all dimensions and explicitly include stated kerf.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Explain the method and check directions; work with a partner only where permitted.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Q1,8 p.57; 10B Q1,11 pp.65–66; 11A Q7,19 pp.69–70; 12B Q3 p.77; 13A Q6,14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Guided practice  |  10B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pic>
        <p:nvPicPr>
          <p:cNvPr id="5" name="Picture 4" descr="10B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658618"/>
            <a:ext cx="10698480" cy="18425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Work with a partner. Take turns explaining the next step.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TOGETHER  •  10:55 AM–11:10 AM  •  15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Compare your method  |  10B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pic>
        <p:nvPicPr>
          <p:cNvPr id="5" name="Picture 4" descr="10B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769" y="1783080"/>
            <a:ext cx="8760541" cy="1508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6118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400" b="1">
                <a:solidFill>
                  <a:srgbClr val="D2181F"/>
                </a:solidFill>
                <a:latin typeface="Arial"/>
              </a:defRPr>
            </a:pPr>
            <a:r>
              <a:rPr/>
              <a:t>CHECK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106984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700" b="1">
                <a:solidFill>
                  <a:srgbClr val="1A1A1A"/>
                </a:solidFill>
                <a:latin typeface="Arial"/>
              </a:defRPr>
            </a:pPr>
            <a:r>
              <a:rPr/>
              <a:t>25.92 m², 9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6636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900" b="0">
                <a:solidFill>
                  <a:srgbClr val="4A4E54"/>
                </a:solidFill>
                <a:latin typeface="Arial"/>
              </a:defRPr>
            </a:pPr>
            <a:r>
              <a:rPr/>
              <a:t>7.2 × 3.6 = 25.92 m², one sheet = 2.88 m², 25.92 ÷ 2.88 = 9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scheduled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Solve the remaining listed exercises, prioritizing documented needs. Finish with one fresh Numeracy Hub question; explain why that formula applies and keep its question/code for checking.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Keep numbered written solutions and units. Use tools only under the conditions stated for this block.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Q1,8 p.57; 10B Q1,11 pp.65–66; 11A Q7,19 pp.69–70; 12B Q3 p.77; 13A Q6,14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Open the ACCESS tool for this 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pic>
        <p:nvPicPr>
          <p:cNvPr id="5" name="Picture 4" descr="hub-ang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776" y="1664208"/>
            <a:ext cx="6122822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648" y="5998464"/>
            <a:ext cx="10927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350" b="0">
                <a:solidFill>
                  <a:srgbClr val="4A4E54"/>
                </a:solidFill>
                <a:latin typeface="Arial"/>
              </a:defRPr>
            </a:pPr>
            <a:r>
              <a:rPr/>
              <a:t>Navigation example. Use the values and units in the assigned task.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Your tool activity: try, compare and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828800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82880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000" b="0">
                <a:solidFill>
                  <a:srgbClr val="1A1A1A"/>
                </a:solidFill>
                <a:latin typeface="Arial"/>
              </a:defRPr>
            </a:pPr>
            <a:r>
              <a:rPr/>
              <a:t>In Shape Canvas, compare the scheduled rectangle, rectangular prism and right triangle. Label the given dimensions and identify the unknown for the relevant written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127248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127248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After the listed paper work, use Numeracy Hub Volume and Layout or Angles and Trig for one Easy task in a taught topic, chosen to match the documented need.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25696"/>
            <a:ext cx="365760" cy="365760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1">
                <a:solidFill>
                  <a:srgbClr val="1A1A1A"/>
                </a:solidFill>
                <a:latin typeface="Arial"/>
              </a:defRPr>
            </a:pPr>
            <a:r>
              <a:rPr/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425696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200" b="0">
                <a:solidFill>
                  <a:srgbClr val="1A1A1A"/>
                </a:solidFill>
                <a:latin typeface="Arial"/>
              </a:defRPr>
            </a:pPr>
            <a:r>
              <a:rPr/>
              <a:t>Keep the question/code, written formula, diagram and units. Explain why the method applies and use the drawing to reject an unreasonable unit or magnitude.</a:t>
            </a:r>
          </a:p>
        </p:txBody>
      </p:sp>
      <p:pic>
        <p:nvPicPr>
          <p:cNvPr id="11" name="Picture 10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9A Q1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pic>
        <p:nvPicPr>
          <p:cNvPr id="5" name="Picture 4" descr="9A-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PRACTISE  •  11:10 AM–11:45 AM  •  35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Practise from the Exercise Book  |  9A Q8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pic>
        <p:nvPicPr>
          <p:cNvPr id="5" name="Picture 4" descr="9A-Q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Write the operation, working and units before checking.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Check independently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Exercise Book 10B Q11, 11A Q19 and 13A Q14, with diagrams and units.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Submit work and demonstrate the checking strategy; identify a remaining difficulty.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Q1,8 p.57; 10B Q1,11 pp.65–66; 11A Q7,19 pp.69–70; 12B Q3 p.77; 13A Q6,14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10B Q11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pic>
        <p:nvPicPr>
          <p:cNvPr id="5" name="Picture 4" descr="10B-Q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11A Q19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pic>
        <p:nvPicPr>
          <p:cNvPr id="5" name="Picture 4" descr="11A-Q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134106"/>
            <a:ext cx="10698480" cy="891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CHECK  •  11:45 AM–11:55 AM  •  10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Independent check  |  13A Q14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pic>
        <p:nvPicPr>
          <p:cNvPr id="5" name="Picture 4" descr="13A-Q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96362"/>
            <a:ext cx="10698480" cy="1367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596128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4A4E54"/>
                </a:solidFill>
                <a:latin typeface="Arial"/>
              </a:defRPr>
            </a:pPr>
            <a:r>
              <a:rPr/>
              <a:t>Answer independently. Keep worked solutions closed.</a:t>
            </a:r>
          </a:p>
        </p:txBody>
      </p:sp>
      <p:pic>
        <p:nvPicPr>
          <p:cNvPr id="7" name="Picture 6" descr="access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Textbook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Exercise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Numeracy 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8"/>
              </a:rPr>
              <a:t>Shape Canvas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402336"/>
            <a:ext cx="9418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150" b="1">
                <a:solidFill>
                  <a:srgbClr val="D2181F"/>
                </a:solidFill>
                <a:latin typeface="Arial"/>
              </a:defRPr>
            </a:pPr>
            <a:r>
              <a:rPr/>
              <a:t>W08-L02  •  WRAP UP  •  11:55 AM–12:00 PM  •  5 MIN TOTAL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932688"/>
            <a:ext cx="1092708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900" b="1">
                <a:solidFill>
                  <a:srgbClr val="1A1A1A"/>
                </a:solidFill>
                <a:latin typeface="Arial"/>
              </a:defRPr>
            </a:pPr>
            <a:r>
              <a:rPr/>
              <a:t>Wrap up and choose the 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6327648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4A4E54"/>
                </a:solidFill>
                <a:latin typeface="Arial"/>
              </a:defRPr>
            </a:pPr>
            <a:r>
              <a:rPr/>
              <a:t>Textbook Chapter 9–13 pp.140–214, selected; formula sheet p.219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874519"/>
            <a:ext cx="1092708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400" b="0">
                <a:solidFill>
                  <a:srgbClr val="1A1A1A"/>
                </a:solidFill>
                <a:latin typeface="Arial"/>
              </a:defRPr>
            </a:pPr>
            <a:r>
              <a:rPr/>
              <a:t>Identify what improved, what needs another attempt and which resource will support the next step.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2648" y="4251960"/>
            <a:ext cx="10927080" cy="1280160"/>
          </a:xfrm>
          <a:prstGeom prst="rect">
            <a:avLst/>
          </a:prstGeom>
          <a:solidFill>
            <a:srgbClr val="F4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859536" y="446227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2100" b="1">
                <a:solidFill>
                  <a:srgbClr val="1A1A1A"/>
                </a:solidFill>
                <a:latin typeface="Arial"/>
              </a:defRPr>
            </a:pPr>
            <a:r>
              <a:rPr/>
              <a:t>Name the math and another essential skill used; record a concrete follow-up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5788152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250" b="0">
                <a:solidFill>
                  <a:srgbClr val="4A4E54"/>
                </a:solidFill>
                <a:latin typeface="Arial"/>
              </a:defRPr>
            </a:pPr>
            <a:r>
              <a:rPr/>
              <a:t>Resources: Exercise Book 9A Q1,8 p.57; 10B Q1,11 pp.65–66; 11A Q7,19 pp.69–70; 12B Q3 p.77; 13A Q6,14 p.82.</a:t>
            </a:r>
          </a:p>
        </p:txBody>
      </p:sp>
      <p:pic>
        <p:nvPicPr>
          <p:cNvPr id="9" name="Picture 8" descr="acces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272" y="146304"/>
            <a:ext cx="1371600" cy="689145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" y="6601968"/>
            <a:ext cx="10972800" cy="16459"/>
          </a:xfrm>
          <a:prstGeom prst="rect">
            <a:avLst/>
          </a:prstGeom>
          <a:solidFill>
            <a:srgbClr val="FFB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1A1A1A"/>
                </a:solidFill>
                <a:latin typeface="Arial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12648" y="6656832"/>
            <a:ext cx="1005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4"/>
              </a:rPr>
              <a:t>Textbook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66568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5"/>
              </a:rPr>
              <a:t>Exercise 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6656832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6"/>
              </a:rPr>
              <a:t>Numeracy 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6656832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1050" b="0">
                <a:solidFill>
                  <a:srgbClr val="C60016"/>
                </a:solidFill>
                <a:latin typeface="Arial"/>
              </a:defRPr>
            </a:pPr>
            <a:r>
              <a:rPr>
                <a:hlinkClick r:id="rId7"/>
              </a:rPr>
              <a:t>Shape 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6656832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  <a:defRPr sz="950" b="0">
                <a:solidFill>
                  <a:srgbClr val="4A4E54"/>
                </a:solidFill>
                <a:latin typeface="Arial"/>
              </a:defRPr>
            </a:pPr>
            <a:r>
              <a:rPr/>
              <a:t>Day 25  •  2026-12-14  • 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34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60FB143F-4C5F-4CFA-83D4-CE599B274CB0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e15ce61c-59d5-4165-9b38-ae3aa70e2273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696CE026-134B-41F5-918B-2FB126868299}">
  <we:reference id="wa200010215" version="2.0.0.1" store="en-US" storeType="OMEX"/>
  <we:alternateReferences>
    <we:reference id="WA200010215" version="2.0.0.1" store="" storeType="OMEX"/>
  </we:alternateReferences>
  <we:properties>
    <we:property name="bps.codex_control.document_id" value="&quot;fd5b780e-6113-4733-b1f1-d8726169f48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43</Slides>
  <Notes>43</Notes>
  <HiddenSlides>0</HiddenSlides>
  <ScaleCrop>false</ScaleCrop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 Carpentry Math | Full Day 25 | 2026-12-14</dc:title>
  <dc:creator>ACCESS Trades</dc:creator>
  <dc:subject>Review: numbers, units and formulas; Review: geometry and job problems</dc:subject>
</cp:coreProperties>
</file>