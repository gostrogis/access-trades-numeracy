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53.xml" ContentType="application/vnd.openxmlformats-officedocument.presentationml.notesSlide+xml"/>
  <Override PartName="/ppt/notesSlides/notesSlide15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22" r:id="rId15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25" r:id="rId157"/>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4" Type="http://schemas.openxmlformats.org/officeDocument/2006/relationships/slide" Target="slides/slide7.xml"/><Relationship Id="rId157"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Worked teaching example retained from original slide 153.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Worked teaching example retained from original slide 156.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Schedule'!B76 | 'Math Week 8'!A19</a:t>
            </a:r>
          </a:p>
          <a:p>
            <a:r>
              <a:t>'Carpentry Schedule'!B78 | 'Math Week 8'!A36</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Start, 9:00 AM–9:05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Recall, 9:05 AM–9:10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schedule_math_audit.json: 'Math Week 8'!A19</a:t>
            </a:r>
          </a:p>
          <a:p>
            <a:r>
              <a:t>schedule_math_audit.json: 'Math Week 8'!B21; 'Math Week 8'!B22; 'Math Week 8'!B23</a:t>
            </a:r>
          </a:p>
          <a:p>
            <a:r>
              <a:t>schedule_math_audit.json: 'Math Week 8'!A26:F26, 'Math Week 8'!A27:F27, 'Math Week 8'!A28:F28, 'Math Week 8'!A29:F29, 'Math Week 8'!A30:F30</a:t>
            </a:r>
          </a:p>
          <a:p>
            <a:r>
              <a:t>source_deck_audit.json: ACCESS CARPENTRY SLIDES.pptx slides 152, 153, 154</a:t>
            </a:r>
          </a:p>
          <a:p>
            <a:r>
              <a:t>Textbook Chapter 1–8, selected; formula sheet p.219; conversion factors pp.220–221</a:t>
            </a:r>
          </a:p>
          <a:p>
            <a:r>
              <a:t>ACCESS-Trades-Numeracy-Textbook.pdf printed/PDF p.127;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schedule_math_audit.json: 'Math Week 8'!A19</a:t>
            </a:r>
          </a:p>
          <a:p>
            <a:r>
              <a:t>schedule_math_audit.json: 'Math Week 8'!B21; 'Math Week 8'!B22; 'Math Week 8'!B23</a:t>
            </a:r>
          </a:p>
          <a:p>
            <a:r>
              <a:t>schedule_math_audit.json: 'Math Week 8'!A26:F26, 'Math Week 8'!A27:F27, 'Math Week 8'!A28:F28, 'Math Week 8'!A29:F29, 'Math Week 8'!A30:F30</a:t>
            </a:r>
          </a:p>
          <a:p>
            <a:r>
              <a:t>source_deck_audit.json: ACCESS CARPENTRY SLIDES.pptx slides 152, 153, 154</a:t>
            </a:r>
          </a:p>
          <a:p>
            <a:r>
              <a:t>Textbook Chapter 1–8, selected; formula sheet p.219; conversion factors pp.220–221</a:t>
            </a:r>
          </a:p>
          <a:p>
            <a:r>
              <a:t>ACCESS-Trades-Numeracy-Textbook.pdf printed/PDF p.127;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Figure 8.1: inverse operations preserve equality.</a:t>
            </a:r>
          </a:p>
          <a:p>
            <a:r>
              <a:t>Exact PDF/printed page: 127. Excerpt reproduced from the supplied ACCESS Textbook.</a:t>
            </a:r>
          </a:p>
          <a:p>
            <a:r>
              <a:t>Figure 8.1: balance diagrams show the same operation on both sides; the labelled unknown bar in Example 8.4 supports the formulas station. Crop to the relevant diagram, not the Try it set.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Example 8.4: name the operation, undo it, then substitute back.</a:t>
            </a:r>
          </a:p>
          <a:p>
            <a:r>
              <a:t>Exact PDF/printed page: 127. Excerpt reproduced from the supplied ACCESS Textbook.</a:t>
            </a:r>
          </a:p>
          <a:p>
            <a:r>
              <a:t>Figure 8.1: balance diagrams show the same operation on both sides; the labelled unknown bar in Example 8.4 supports the formulas station. Crop to the relevant diagram, not the Try it set.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Teach, 9:10 AM–9:25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Together, 9:25 AM–9:40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Practise, 9:40 AM–10:00 AM.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Exact scheduled tool activity: Numeracy Hub Calculator for number checks; Unit Conversions for length practice. Shape Canvas: one rectangle with a missing dimension for the formulas station.</a:t>
            </a:r>
          </a:p>
          <a:p>
            <a:r>
              <a:t>At the relevant stations, write the selected book solution first and state the method and units.</a:t>
            </a:r>
          </a:p>
          <a:p>
            <a:r>
              <a:t>Use Numeracy Hub Calculator for number checks or Unit Conversions for length practice; at the formulas station, use the scheduled Shape Canvas rectangle with one missing dimension.</a:t>
            </a:r>
          </a:p>
          <a:p>
            <a:r>
              <a:t>Compare the tool check with your working, and substitute the missing dimension back where relevant. Mark whether each solution was independent, tool-checked or prompted.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1B-Q3</a:t>
            </a:r>
          </a:p>
          <a:p>
            <a:r>
              <a:t>Exact question: A millwright sets 14 baseplates. Each baseplate takes 8 anchor bolts. Anchor bolts come in boxes of 25. How many bolts are needed, and how many boxes?</a:t>
            </a:r>
          </a:p>
          <a:p>
            <a:r>
              <a:t>Instructor answer: 112 bolts, 5 boxes</a:t>
            </a:r>
          </a:p>
          <a:p>
            <a:r>
              <a:t>Working: 14 × 8 = 112. 112 ÷ 25 = 4.48, round up to 5 boxes.</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8C-Q1</a:t>
            </a:r>
          </a:p>
          <a:p>
            <a:r>
              <a:t>Exact question: The rectangle has an area of 4,800 cm². Find the width.</a:t>
            </a:r>
          </a:p>
          <a:p>
            <a:r>
              <a:t>Instructor answer: 60 cm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Check, 10:00 AM–10:10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6A-Q19</a:t>
            </a:r>
          </a:p>
          <a:p>
            <a:r>
              <a:t>Exact question: At a scale of 1 : 40, a line measures 85 mm. How long is the real length?</a:t>
            </a:r>
          </a:p>
          <a:p>
            <a:r>
              <a:t>Instructor answer: 3,400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7A-Q11</a:t>
            </a:r>
          </a:p>
          <a:p>
            <a:r>
              <a:t>Exact question: Convert 5/8 in to mm.</a:t>
            </a:r>
          </a:p>
          <a:p>
            <a:r>
              <a:t>Instructor answer: 15.875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8C-Q2</a:t>
            </a:r>
          </a:p>
          <a:p>
            <a:r>
              <a:t>Exact question: The square has an area of 3,136 mm². Find the side.</a:t>
            </a:r>
          </a:p>
          <a:p>
            <a:r>
              <a:t>Instructor answer: 56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W08-L01 | 2026-12-14 | 9:00 AM–10:15 AM | 75 minutes</a:t>
            </a:r>
          </a:p>
          <a:p>
            <a:r>
              <a:t>Review: numbers, units and formulas</a:t>
            </a:r>
          </a:p>
          <a:p>
            <a:r>
              <a:t>Mode: Math Review</a:t>
            </a:r>
          </a:p>
          <a:p>
            <a:r>
              <a:t>Goal: Retrieve core methods across the course and explain when each method is appropriate.</a:t>
            </a:r>
          </a:p>
          <a:p>
            <a:r>
              <a:t>Read: Textbook Chapter 1–8, selected; formula sheet p.219; conversion factors pp.220–221</a:t>
            </a:r>
          </a:p>
          <a:p>
            <a:r>
              <a:t>Practise: Stations: 1B Q3 p.8; 4A Q14(a),15(a) p.26; 5A Q12–13 p.33; 6A Q19 p.40; 7A Q11–12 p.45; 8C Q1–2 p.55.</a:t>
            </a:r>
          </a:p>
          <a:p>
            <a:r>
              <a:t>Tool: Numeracy Hub Calculator for number checks; Unit Conversions for length practice. Shape Canvas: one rectangle with a missing dimension for the formulas station.</a:t>
            </a:r>
          </a:p>
          <a:p/>
          <a:p>
            <a:r>
              <a:t>EXACT SCHEDULED STEPS</a:t>
            </a:r>
          </a:p>
          <a:p>
            <a:r>
              <a:t>9:00 AM–9:05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8'!A25:F25</a:t>
            </a:r>
          </a:p>
          <a:p/>
          <a:p>
            <a:r>
              <a:t>9:05 AM–9:10 AM | 2 Recall | 5 min</a:t>
            </a:r>
          </a:p>
          <a:p>
            <a:r>
              <a:t>Instructor: Use learners’ two priorities from Week 7. Ask each to identify a useful checking strategy.</a:t>
            </a:r>
          </a:p>
          <a:p>
            <a:r>
              <a:t>Learners: Review previous feedback and attempt the retrieval prompt without displayed solutions.</a:t>
            </a:r>
          </a:p>
          <a:p>
            <a:r>
              <a:t>Materials/check: Identify support needs</a:t>
            </a:r>
          </a:p>
          <a:p>
            <a:r>
              <a:t>Source: 'Math Week 8'!A26:F26</a:t>
            </a:r>
          </a:p>
          <a:p/>
          <a:p>
            <a:r>
              <a:t>9:10 AM–9:25 AM | 3 Teach | 15 min</a:t>
            </a:r>
          </a:p>
          <a:p>
            <a:r>
              <a:t>Instructor: Model one representative error from the error logs: regrouping, wrong factor, wrong denominator or missing brackets.</a:t>
            </a:r>
          </a:p>
          <a:p>
            <a:r>
              <a:t>Learners: Annotate the example or response expectations; ask about unclear steps.</a:t>
            </a:r>
          </a:p>
          <a:p>
            <a:r>
              <a:t>Materials/check: Textbook; worked example</a:t>
            </a:r>
          </a:p>
          <a:p>
            <a:r>
              <a:t>Source: 'Math Week 8'!A27:F27</a:t>
            </a:r>
          </a:p>
          <a:p/>
          <a:p>
            <a:r>
              <a:t>9:25 AM–9:40 AM | 4 Together | 15 min</a:t>
            </a:r>
          </a:p>
          <a:p>
            <a:r>
              <a:t>Instructor: Pairs rotate through number, fraction/decimal, conversion and formula stations; explain one solution aloud at each stop.</a:t>
            </a:r>
          </a:p>
          <a:p>
            <a:r>
              <a:t>Learners: Explain the method and check directions; work with a partner only where permitted.</a:t>
            </a:r>
          </a:p>
          <a:p>
            <a:r>
              <a:t>Materials/check: Exercise Book; tool above</a:t>
            </a:r>
          </a:p>
          <a:p>
            <a:r>
              <a:t>Source: 'Math Week 8'!A28:F28</a:t>
            </a:r>
          </a:p>
          <a:p/>
          <a:p>
            <a:r>
              <a:t>9:40 AM–10:00 AM | 5 Practise | 20 min</a:t>
            </a:r>
          </a:p>
          <a:p>
            <a:r>
              <a:t>Instructor: Complete the listed station questions; start with the two highest-need topics. Keep written working and note whether a tool or prompt was required.</a:t>
            </a:r>
          </a:p>
          <a:p>
            <a:r>
              <a:t>Learners: Keep numbered written solutions and units. Use tools only under the conditions stated for this block.</a:t>
            </a:r>
          </a:p>
          <a:p>
            <a:r>
              <a:t>Materials/check: Paper first; tool second</a:t>
            </a:r>
          </a:p>
          <a:p>
            <a:r>
              <a:t>Source: 'Math Week 8'!A29:F29</a:t>
            </a:r>
          </a:p>
          <a:p/>
          <a:p>
            <a:r>
              <a:t>10:00 AM–10:10 AM | 6 Check | 10 min</a:t>
            </a:r>
          </a:p>
          <a:p>
            <a:r>
              <a:t>Instructor: Exercise Book 6A Q19, 7A Q11 and 8C Q2; identify the appropriate method for each.</a:t>
            </a:r>
          </a:p>
          <a:p>
            <a:r>
              <a:t>Learners: Submit work and demonstrate the checking strategy; identify a remaining difficulty.</a:t>
            </a:r>
          </a:p>
          <a:p>
            <a:r>
              <a:t>Materials/check: Teacher answers below</a:t>
            </a:r>
          </a:p>
          <a:p>
            <a:r>
              <a:t>Source: 'Math Week 8'!A30:F30</a:t>
            </a:r>
          </a:p>
          <a:p/>
          <a:p>
            <a:r>
              <a:t>10:10 AM–10:15 AM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8'!A31:F31</a:t>
            </a:r>
          </a:p>
          <a:p/>
          <a:p>
            <a:r>
              <a:t>INSTRUCTOR ONLY: REVEAL ASSESSMENT ANSWERS AFTER THE ATTEMPT</a:t>
            </a:r>
          </a:p>
          <a:p>
            <a:r>
              <a:t>6A Q19 = 3,400 mm; 7A Q11 = 15.875 mm; 8C Q2 = 56 mm. Answer Key pp.19,21,24. Answer Key pp.6,13,16,19,21,24</a:t>
            </a:r>
          </a:p>
          <a:p/>
          <a:p>
            <a:r>
              <a:t>Choose the geometry and application questions in the next block from the weakest demonstrated areas.</a:t>
            </a:r>
          </a:p>
          <a:p/>
          <a:p>
            <a:r>
              <a:t>Sources: 'Math Week 8'!A10:E10; 'Carpentry Schedule'!B76; 'Math Week 8'!A19</a:t>
            </a:r>
          </a:p>
          <a:p>
            <a:r>
              <a:t>Navigation/resource slides support these scheduled steps and do not add instructional time.</a:t>
            </a:r>
          </a:p>
          <a:p>
            <a:r>
              <a:t>SLIDE PLACEMENT: Wrap up, 10:10 AM–10:15 AM. All slides with this phase share these 5 minutes; do not restart the time allocation for each slide.</a:t>
            </a:r>
          </a:p>
          <a:p/>
          <a:p>
            <a:r>
              <a:t>Next scheduled learning: Choose the geometry and application questions in the next block from the weakest demonstrated areas.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10:30 AM.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Start, 10:30 AM–10:35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Recall, 10:35 AM–10:40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schedule_math_audit.json: 'Math Week 8'!A36</a:t>
            </a:r>
          </a:p>
          <a:p>
            <a:r>
              <a:t>schedule_math_audit.json: 'Math Week 8'!B38; 'Math Week 8'!B39; 'Math Week 8'!B40</a:t>
            </a:r>
          </a:p>
          <a:p>
            <a:r>
              <a:t>schedule_math_audit.json: 'Math Week 8'!A43:F43, 'Math Week 8'!A44:F44, 'Math Week 8'!A45:F45, 'Math Week 8'!A46:F46, 'Math Week 8'!A47:F47</a:t>
            </a:r>
          </a:p>
          <a:p>
            <a:r>
              <a:t>source_deck_audit.json: ACCESS CARPENTRY SLIDES.pptx slides 155, 156, 157</a:t>
            </a:r>
          </a:p>
          <a:p>
            <a:r>
              <a:t>Textbook Chapter 9–13 pp.140–214, selected; formula sheet p.219</a:t>
            </a:r>
          </a:p>
          <a:p>
            <a:r>
              <a:t>ACCESS-Trades-Numeracy-Textbook.pdf printed/PDF p.172;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schedule_math_audit.json: 'Math Week 8'!A36</a:t>
            </a:r>
          </a:p>
          <a:p>
            <a:r>
              <a:t>schedule_math_audit.json: 'Math Week 8'!B38; 'Math Week 8'!B39; 'Math Week 8'!B40</a:t>
            </a:r>
          </a:p>
          <a:p>
            <a:r>
              <a:t>schedule_math_audit.json: 'Math Week 8'!A43:F43, 'Math Week 8'!A44:F44, 'Math Week 8'!A45:F45, 'Math Week 8'!A46:F46, 'Math Week 8'!A47:F47</a:t>
            </a:r>
          </a:p>
          <a:p>
            <a:r>
              <a:t>source_deck_audit.json: ACCESS CARPENTRY SLIDES.pptx slides 155, 156, 157</a:t>
            </a:r>
          </a:p>
          <a:p>
            <a:r>
              <a:t>Textbook Chapter 9–13 pp.140–214, selected; formula sheet p.219</a:t>
            </a:r>
          </a:p>
          <a:p>
            <a:r>
              <a:t>ACCESS-Trades-Numeracy-Textbook.pdf printed/PDF p.172;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Figure 11.1: volume counts unit cubes in three directions.</a:t>
            </a:r>
          </a:p>
          <a:p>
            <a:r>
              <a:t>Exact PDF/printed page: 172. Excerpt reproduced from the supplied ACCESS Textbook.</a:t>
            </a:r>
          </a:p>
          <a:p>
            <a:r>
              <a:t>Figure 11.1: 4 cm × 3 cm × 2 cm prism built from unit cubes. Use the labelled three-dimensional visual to distinguish a volume from length and area.</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Cubic conversions use the length factor three times.</a:t>
            </a:r>
          </a:p>
          <a:p>
            <a:r>
              <a:t>Exact PDF/printed page: 172. Excerpt reproduced from the supplied ACCESS Textbook.</a:t>
            </a:r>
          </a:p>
          <a:p>
            <a:r>
              <a:t>Figure 11.1: 4 cm × 3 cm × 2 cm prism built from unit cubes. Use the labelled three-dimensional visual to distinguish a volume from length and area.</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Teach, 10:40 AM–10:55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Together, 10:55 AM–11:10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10B-Q1</a:t>
            </a:r>
          </a:p>
          <a:p>
            <a:r>
              <a:t>Exact question: A mezzanine floor is 7.2 m by 3.6 m. It is covered with checker plate sheets that are 1.2 m by 2.4 m, laid edge to edge with no waste. Find the floor area and the number of sheets.</a:t>
            </a:r>
          </a:p>
          <a:p>
            <a:r>
              <a:t>Instructor answer: 25.92 m², 9 sheets</a:t>
            </a:r>
          </a:p>
          <a:p>
            <a:r>
              <a:t>Working: 7.2 × 3.6 = 25.92 m², one sheet = 2.88 m², 25.92 ÷ 2.88 = 9</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10B-Q1</a:t>
            </a:r>
          </a:p>
          <a:p>
            <a:r>
              <a:t>Exact question: A mezzanine floor is 7.2 m by 3.6 m. It is covered with checker plate sheets that are 1.2 m by 2.4 m, laid edge to edge with no waste. Find the floor area and the number of sheets.</a:t>
            </a:r>
          </a:p>
          <a:p>
            <a:r>
              <a:t>Instructor answer: 25.92 m², 9 sheets</a:t>
            </a:r>
          </a:p>
          <a:p>
            <a:r>
              <a:t>Working: 7.2 × 3.6 = 25.92 m², one sheet = 2.88 m², 25.92 ÷ 2.88 = 9</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Practise, 11:10 AM–11:45 AM. All slides with this phase share these 35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Exact scheduled tool activity: Shape Canvas: compare rectangle, rectangular prism and right triangle. Numeracy Hub: Volume and Layout / Angles and Trig: one Easy practice task in a taught topic.</a:t>
            </a:r>
          </a:p>
          <a:p>
            <a:r>
              <a:t>In Shape Canvas, compare the scheduled rectangle, rectangular prism and right triangle. Label the given dimensions and identify the unknown for the relevant written problem.</a:t>
            </a:r>
          </a:p>
          <a:p>
            <a:r>
              <a:t>After the listed paper work, use Numeracy Hub Volume and Layout or Angles and Trig for one Easy task in a taught topic, chosen to match the documented need.</a:t>
            </a:r>
          </a:p>
          <a:p>
            <a:r>
              <a:t>Keep the question/code, written formula, diagram and units. Explain why the method applies and use the drawing to reject an unreasonable unit or magnitude.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9A-Q1</a:t>
            </a:r>
          </a:p>
          <a:p>
            <a:r>
              <a:t>Exact question: Find the perimeter of a rectangle 2,400 mm by 1,150 mm.</a:t>
            </a:r>
          </a:p>
          <a:p>
            <a:r>
              <a:t>Instructor answer: 7,100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9A-Q8</a:t>
            </a:r>
          </a:p>
          <a:p>
            <a:r>
              <a:t>Exact question: A rectangle has a perimeter of 3,800 mm and a length of 1,200 mm. Find the width.</a:t>
            </a:r>
          </a:p>
          <a:p>
            <a:r>
              <a:t>Instructor answer: 700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Check, 11:45 AM–11:55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10B-Q11</a:t>
            </a:r>
          </a:p>
          <a:p>
            <a:r>
              <a:t>Exact question: A 300 mm by 200 mm access hole is cut in a 1,200 mm by 800 mm cover plate. Find the area of plate left in mm² and in m².</a:t>
            </a:r>
          </a:p>
          <a:p>
            <a:r>
              <a:t>Instructor answer: 900,000 mm² = 0.9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11A-Q19</a:t>
            </a:r>
          </a:p>
          <a:p>
            <a:r>
              <a:t>Exact question: A box holds 0.24 m³. Its base is 0.8 m by 0.5 m. Find its height.</a:t>
            </a:r>
          </a:p>
          <a:p>
            <a:r>
              <a:t>Instructor answer: 0.6 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13A-Q14</a:t>
            </a:r>
          </a:p>
          <a:p>
            <a:r>
              <a:t>Exact question: A slope rises 120 mm over a run of 6,000 mm. Find the percent grade and the angle to two decimal places.</a:t>
            </a:r>
          </a:p>
          <a:p>
            <a:r>
              <a:t>Instructor answer: Grade 2%, angle 1.15°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W08-L02 | 2026-12-14 | 10:30 AM–12:00 PM | 90 minutes</a:t>
            </a:r>
          </a:p>
          <a:p>
            <a:r>
              <a:t>Review: geometry and job problems</a:t>
            </a:r>
          </a:p>
          <a:p>
            <a:r>
              <a:t>Mode: Math Review</a:t>
            </a:r>
          </a:p>
          <a:p>
            <a:r>
              <a:t>Goal: Select perimeter, area, volume or triangle methods from a drawing and report the correct unit.</a:t>
            </a:r>
          </a:p>
          <a:p>
            <a:r>
              <a:t>Read: Textbook Chapter 9–13 pp.140–214, selected; formula sheet p.219</a:t>
            </a:r>
          </a:p>
          <a:p>
            <a:r>
              <a:t>Practise: Exercise Book 9A Q1,8 p.57; 10B Q1,11 pp.65–66; 11A Q7,19 pp.69–70; 12B Q3 p.77; 13A Q6,14 p.82.</a:t>
            </a:r>
          </a:p>
          <a:p>
            <a:r>
              <a:t>Tool: Shape Canvas: compare rectangle, rectangular prism and right triangle. Numeracy Hub: Volume and Layout / Angles and Trig: one Easy practice task in a taught topic.</a:t>
            </a:r>
          </a:p>
          <a:p/>
          <a:p>
            <a:r>
              <a:t>EXACT SCHEDULED STEPS</a:t>
            </a:r>
          </a:p>
          <a:p>
            <a:r>
              <a:t>10:30 AM–10:35 AM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8'!A42:F42</a:t>
            </a:r>
          </a:p>
          <a:p/>
          <a:p>
            <a:r>
              <a:t>10:35 AM–10:40 AM | 2 Recall | 5 min</a:t>
            </a:r>
          </a:p>
          <a:p>
            <a:r>
              <a:t>Instructor: Display three drawings and ask which result uses mm, mm² or mm³; retrieve DEG mode for trig.</a:t>
            </a:r>
          </a:p>
          <a:p>
            <a:r>
              <a:t>Learners: Review previous feedback and attempt the retrieval prompt without displayed solutions.</a:t>
            </a:r>
          </a:p>
          <a:p>
            <a:r>
              <a:t>Materials/check: Identify support needs</a:t>
            </a:r>
          </a:p>
          <a:p>
            <a:r>
              <a:t>Source: 'Math Week 8'!A43:F43</a:t>
            </a:r>
          </a:p>
          <a:p/>
          <a:p>
            <a:r>
              <a:t>10:40 AM–10:55 AM | 3 Teach | 15 min</a:t>
            </a:r>
          </a:p>
          <a:p>
            <a:r>
              <a:t>Instructor: Compare geometry formulas and the unknowns they solve. Show how to reject an unreasonable unit or magnitude.</a:t>
            </a:r>
          </a:p>
          <a:p>
            <a:r>
              <a:t>Learners: Annotate the example or response expectations; ask about unclear steps.</a:t>
            </a:r>
          </a:p>
          <a:p>
            <a:r>
              <a:t>Materials/check: Textbook; worked example</a:t>
            </a:r>
          </a:p>
          <a:p>
            <a:r>
              <a:t>Source: 'Math Week 8'!A44:F44</a:t>
            </a:r>
          </a:p>
          <a:p/>
          <a:p>
            <a:r>
              <a:t>10:55 AM–11:10 AM | 4 Together | 15 min</a:t>
            </a:r>
          </a:p>
          <a:p>
            <a:r>
              <a:t>Instructor: Work Exercise Book 10B Q1 and 12B Q3 in pairs. Annotate all dimensions and explicitly include stated kerf.</a:t>
            </a:r>
          </a:p>
          <a:p>
            <a:r>
              <a:t>Learners: Explain the method and check directions; work with a partner only where permitted.</a:t>
            </a:r>
          </a:p>
          <a:p>
            <a:r>
              <a:t>Materials/check: Exercise Book; tool above</a:t>
            </a:r>
          </a:p>
          <a:p>
            <a:r>
              <a:t>Source: 'Math Week 8'!A45:F45</a:t>
            </a:r>
          </a:p>
          <a:p/>
          <a:p>
            <a:r>
              <a:t>11:10 AM–11:45 AM | 5 Practise | 35 min</a:t>
            </a:r>
          </a:p>
          <a:p>
            <a:r>
              <a:t>Instructor: Solve the remaining listed exercises, prioritizing documented needs. Finish with one fresh Numeracy Hub question; explain why that formula applies and keep its question/code for checking.</a:t>
            </a:r>
          </a:p>
          <a:p>
            <a:r>
              <a:t>Learners: Keep numbered written solutions and units. Use tools only under the conditions stated for this block.</a:t>
            </a:r>
          </a:p>
          <a:p>
            <a:r>
              <a:t>Materials/check: Paper first; tool second</a:t>
            </a:r>
          </a:p>
          <a:p>
            <a:r>
              <a:t>Source: 'Math Week 8'!A46:F46</a:t>
            </a:r>
          </a:p>
          <a:p/>
          <a:p>
            <a:r>
              <a:t>11:45 AM–11:55 AM | 6 Check | 10 min</a:t>
            </a:r>
          </a:p>
          <a:p>
            <a:r>
              <a:t>Instructor: Exercise Book 10B Q11, 11A Q19 and 13A Q14, with diagrams and units.</a:t>
            </a:r>
          </a:p>
          <a:p>
            <a:r>
              <a:t>Learners: Submit work and demonstrate the checking strategy; identify a remaining difficulty.</a:t>
            </a:r>
          </a:p>
          <a:p>
            <a:r>
              <a:t>Materials/check: Teacher answers below</a:t>
            </a:r>
          </a:p>
          <a:p>
            <a:r>
              <a:t>Source: 'Math Week 8'!A47:F47</a:t>
            </a:r>
          </a:p>
          <a:p/>
          <a:p>
            <a:r>
              <a:t>11:55 AM–12:00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8'!A48:F48</a:t>
            </a:r>
          </a:p>
          <a:p/>
          <a:p>
            <a:r>
              <a:t>INSTRUCTOR ONLY: REVEAL ASSESSMENT ANSWERS AFTER THE ATTEMPT</a:t>
            </a:r>
          </a:p>
          <a:p>
            <a:r>
              <a:t>10B Q11 = 0.9 m²; 11A Q19 = 0.6 m; 13A Q14 = 2% grade and 1.15°. Answer Key pp.28,30,34. Answer Key pp.26,28,30,32,34</a:t>
            </a:r>
          </a:p>
          <a:p/>
          <a:p>
            <a:r>
              <a:t>Prepare Wednesday’s formative readiness set; allow the agreed formula sheet and calculator, not worked answers.</a:t>
            </a:r>
          </a:p>
          <a:p/>
          <a:p>
            <a:r>
              <a:t>Sources: 'Math Week 8'!A11:E11; 'Carpentry Schedule'!B78; 'Math Week 8'!A36</a:t>
            </a:r>
          </a:p>
          <a:p>
            <a:r>
              <a:t>Navigation/resource slides support these scheduled steps and do not add instructional time.</a:t>
            </a:r>
          </a:p>
          <a:p>
            <a:r>
              <a:t>SLIDE PLACEMENT: Wrap up, 11:55 AM–12:00 PM. All slides with this phase share these 5 minutes; do not restart the time allocation for each slide.</a:t>
            </a:r>
          </a:p>
          <a:p/>
          <a:p>
            <a:r>
              <a:t>Next scheduled learning: Prepare Wednesday’s formative readiness set; allow the agreed formula sheet and calculator, not worked answers.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Resources/ACCESS-Tools/books/ACCESS-Trades-Numeracy-Textbook.pdf#page=127"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Resources/ACCESS-Tools/books/ACCESS-Trades-Numeracy-Textbook.pdf#page=127"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3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4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Resources/ACCESS-Tools/books/ACCESS-Trades-Numeracy-Textbook.pdf#page=219" TargetMode="External"/><Relationship Id="rId6" Type="http://schemas.openxmlformats.org/officeDocument/2006/relationships/hyperlink" Target="../Resources/ACCESS-Tools/books/ACCESS-Trades-Numeracy-Exercise-Book.pdf#page=5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8.png"/><Relationship Id="rId4" Type="http://schemas.openxmlformats.org/officeDocument/2006/relationships/hyperlink" Target="../Resources/ACCESS-Tools/books/ACCESS-Trades-Numeracy-Textbook.pdf#page=219" TargetMode="External"/><Relationship Id="rId5" Type="http://schemas.openxmlformats.org/officeDocument/2006/relationships/hyperlink" Target="../Resources/ACCESS-Tools/books/ACCESS-Trades-Numeracy-Exercise-Book.pdf#page=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8.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Resources/ACCESS-Tools/books/ACCESS-Trades-Numeracy-Textbook.pdf#page=172"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6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8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8.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25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14,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Review: numbers, units and formulas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Review: geometry and job problems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25  •  2026-12-14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25  /  WEEK 8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Review: numbers, units and formulas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Review  •  Math Week 8,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Review: geometry and job problems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Review  •  Math Week 8,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Review: numbers, units and formulas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Retrieve core methods across the course and explain when each method is appropriate.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one target skill and the checking habit to use today.</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1–8, selected; formula sheet p.219;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Stations: 1B Q3 p.8; 4A Q14(a),15(a) p.26; 5A Q12–13 p.33; 6A Q19 p.40; 7A Q11–12 p.45; 8C Q1–2 p.55.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learners’ two priorities from Week 7. Ask each to identify a useful checking strategy.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the method before the keys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At the number station, explain the operation choice and any rounding needed for a whole purchase unit.</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At the fraction/decimal station, show the regrouping or conversion that keeps the quantity unchanged.</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At the conversion/scale station, record the factor, its direction and both units.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At the formulas station, find the missing dimension and substitute it back into the original relationship.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Let your error log guide the review</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Begin with the two revision priorities from Week 7 and select a checking strategy for each.</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Look for the step behind the error: regrouping, a wrong factor, a wrong denominator or missing brackets.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selected Textbook chapters, formula sheet p.219 and conversion factors pp.220–221 to explain why the method applies.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written working and record whether the solution was independent, tool-checked or completed with a prompt.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W08-L01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Rotate through four method stations</a:t>
            </a:r>
            <a:endParaRPr lang="en-US" sz="3000" dirty="0"/>
          </a:p>
        </p:txBody>
      </p:sp>
      <p:sp>
        <p:nvSpPr>
          <p:cNvPr id="5" name="Text 3"/>
          <p:cNvSpPr/>
          <p:nvPr/>
        </p:nvSpPr>
        <p:spPr>
          <a:xfrm>
            <a:off x="609585" y="1714500"/>
            <a:ext cx="5048124"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1 • NUMBER DECISIONS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1B Q3 p.8.</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Explain operation choice and</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whole-purchase-unit rounding.</a:t>
            </a:r>
            <a:endParaRPr lang="en-US" sz="1800" dirty="0"/>
          </a:p>
        </p:txBody>
      </p:sp>
      <p:sp>
        <p:nvSpPr>
          <p:cNvPr id="6" name="Text 4"/>
          <p:cNvSpPr/>
          <p:nvPr/>
        </p:nvSpPr>
        <p:spPr>
          <a:xfrm>
            <a:off x="6476838" y="1714500"/>
            <a:ext cx="5048124"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2 • FRACTIONS / DECIMALS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4A Q14(a),15(a) p.26;</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5A Q12–13 p.33.</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Explain regrouping or conversion.</a:t>
            </a:r>
            <a:endParaRPr lang="en-US" sz="1800" dirty="0"/>
          </a:p>
        </p:txBody>
      </p:sp>
      <p:sp>
        <p:nvSpPr>
          <p:cNvPr id="7" name="Text 5"/>
          <p:cNvSpPr/>
          <p:nvPr/>
        </p:nvSpPr>
        <p:spPr>
          <a:xfrm>
            <a:off x="609585" y="3571875"/>
            <a:ext cx="5048124"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3 • CONVERSION / SCALE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6A Q19 p.40;</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7A Q11–12 p.45.</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Show factor, direction and units.</a:t>
            </a:r>
            <a:endParaRPr lang="en-US" sz="1800" dirty="0"/>
          </a:p>
        </p:txBody>
      </p:sp>
      <p:sp>
        <p:nvSpPr>
          <p:cNvPr id="8" name="Text 6"/>
          <p:cNvSpPr/>
          <p:nvPr/>
        </p:nvSpPr>
        <p:spPr>
          <a:xfrm>
            <a:off x="6476838" y="3571875"/>
            <a:ext cx="5048124"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4 • FORMULAS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8C Q1–2 p.55.</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Find the missing dimension,</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then substitute it back.</a:t>
            </a:r>
            <a:endParaRPr lang="en-US" sz="1800" dirty="0"/>
          </a:p>
        </p:txBody>
      </p:sp>
      <p:sp>
        <p:nvSpPr>
          <p:cNvPr id="9" name="Text 7"/>
          <p:cNvSpPr/>
          <p:nvPr/>
        </p:nvSpPr>
        <p:spPr>
          <a:xfrm>
            <a:off x="609585" y="5381625"/>
            <a:ext cx="10972526" cy="533400"/>
          </a:xfrm>
          <a:prstGeom prst="rect">
            <a:avLst/>
          </a:prstGeom>
          <a:noFill/>
          <a:ln/>
        </p:spPr>
        <p:txBody>
          <a:bodyPr wrap="square" lIns="0" tIns="0" rIns="0" bIns="0" rtlCol="0" anchor="t"/>
          <a:lstStyle/>
          <a:p>
            <a:pPr marL="0" indent="0" algn="l">
              <a:buNone/>
            </a:pPr>
            <a:r>
              <a:rPr lang="en-US" sz="1500" dirty="0">
                <a:solidFill>
                  <a:srgbClr val="181818"/>
                </a:solidFill>
                <a:latin typeface="Arial" pitchFamily="34" charset="0"/>
                <a:ea typeface="Arial" pitchFamily="34" charset="-122"/>
                <a:cs typeface="Arial" pitchFamily="34" charset="-120"/>
              </a:rPr>
              <a:t>Instructor: model one error from the logs. Partners explain one method at each stop.</a:t>
            </a:r>
            <a:endParaRPr lang="en-US" sz="1500" dirty="0"/>
          </a:p>
          <a:p>
            <a:pPr marL="0" indent="0" algn="l">
              <a:buNone/>
            </a:pPr>
            <a:r>
              <a:rPr lang="en-US" sz="1500" dirty="0">
                <a:solidFill>
                  <a:srgbClr val="181818"/>
                </a:solidFill>
                <a:latin typeface="Arial" pitchFamily="34" charset="0"/>
                <a:ea typeface="Arial" pitchFamily="34" charset="-122"/>
                <a:cs typeface="Arial" pitchFamily="34" charset="-120"/>
              </a:rPr>
              <a:t>Tools after paper: Calculator, Unit Conversions, or a Shape Canvas missing-dimension rectangle.</a:t>
            </a:r>
            <a:endParaRPr lang="en-US" sz="1500" dirty="0"/>
          </a:p>
        </p:txBody>
      </p:sp>
      <p:sp>
        <p:nvSpPr>
          <p:cNvPr id="10" name="Text 8"/>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station references retained from Math Week 8 • No displayed answers during first attempts</a:t>
            </a:r>
            <a:endParaRPr lang="en-US" sz="1050" dirty="0"/>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07</a:t>
            </a:r>
          </a:p>
        </p:txBody>
      </p:sp>
    </p:spTree>
    <p:extLst>
      <p:ext uri="{BB962C8B-B14F-4D97-AF65-F5344CB8AC3E}">
        <p14:creationId xmlns:p14="http://schemas.microsoft.com/office/powerpoint/2010/main" val="4605268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W08-L01-1.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Figure 8.1: inverse operations preserve equality.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W08-L01-2.png"/>
          <p:cNvPicPr>
            <a:picLocks noChangeAspect="1"/>
          </p:cNvPicPr>
          <p:nvPr/>
        </p:nvPicPr>
        <p:blipFill>
          <a:blip r:embed="rId3"/>
          <a:stretch>
            <a:fillRect/>
          </a:stretch>
        </p:blipFill>
        <p:spPr>
          <a:xfrm>
            <a:off x="1119046" y="1691640"/>
            <a:ext cx="983198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Example 8.4: name the operation, undo it, then substitute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conversion response says “multiply by the factor” but omits the starting and target units. What still needs to be justified?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Name both units and show why the chosen factor and direction produce the requested unit. Check the result with Unit Conversions after the paper attempt; retain the factor and working.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Pairs rotate through number, fraction/decimal, conversion and formula stations; explain one solution aloud at each stop.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the listed station questions; start with the two highest-need topics. Keep written working and note whether a tool or prompt was required.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At the relevant stations, write the selected book solution first and state the method and units.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Use Numeracy Hub Calculator for number checks or Unit Conversions for length practice; at the formulas station, use the scheduled Shape Canvas rectangle with one missing dimension.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Compare the tool check with your working, and substitute the missing dimension back where relevant. Mark whether each solution was independent, tool-checked or prompted.</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6A Q19, 7A Q11 and 8C Q2; identify the appropriate method for each.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W08-L01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25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Review: geometry and job problems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25  •  2026-12-14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Review: geometry and job problems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Select perimeter, area, volume or triangle methods from a drawing and report the correct unit.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one target skill and the checking habit to use today.</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9–13 pp.140–214, selected; formula sheet p.219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9A Q1,8 p.57; 10B Q1,11 pp.65–66; 11A Q7,19 pp.69–70; 12B Q3 p.77; 13A Q6,14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Display three drawings and ask which result uses mm, mm² or mm³; retrieve DEG mode for trig.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Match the drawing to the requested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Outside boundary is perimeter: add edges, or use 2(l + w) for a rectangle. Report a length unit such as mm or m.</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Surface coverage is area: use the appropriate area formula and subtract openings where stated. Report square units.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Space or capacity is volume: base area × height for a prism. Report the requested cubic or capacity unit.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right-triangle side uses Pythagoras or the selected trig ratio. The side answer is a length; confirm DEG mode for trig.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Use the drawing to check the calculation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the unknown before selecting the formula, and label all given dimensions on the appropriate drawing.</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each stated cut and kerf with its own problem; include the stated kerf in the paired work on 12B Q3.</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Reject an answer whose unit does not match the quantity or whose magnitude does not fit the drawing.</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the scheduled fresh Hub question, explain why the formula applies and retain the question/code for checking.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W08-L02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Match the quantity, formula and unit</a:t>
            </a:r>
            <a:endParaRPr lang="en-US" sz="3000" dirty="0"/>
          </a:p>
        </p:txBody>
      </p:sp>
      <p:graphicFrame>
        <p:nvGraphicFramePr>
          <p:cNvPr id="5" name="Table 0"/>
          <p:cNvGraphicFramePr>
            <a:graphicFrameLocks noGrp="1"/>
          </p:cNvGraphicFramePr>
          <p:nvPr/>
        </p:nvGraphicFramePr>
        <p:xfrm>
          <a:off x="609585" y="1714500"/>
          <a:ext cx="10972525" cy="2714624"/>
        </p:xfrm>
        <a:graphic>
          <a:graphicData uri="http://schemas.openxmlformats.org/drawingml/2006/table">
            <a:tbl>
              <a:tblPr/>
              <a:tblGrid>
                <a:gridCol w="3237377">
                  <a:extLst>
                    <a:ext uri="{9D8B030D-6E8A-4147-A177-3AD203B41FA5}">
                      <a16:colId xmlns:a16="http://schemas.microsoft.com/office/drawing/2014/main" val="20000"/>
                    </a:ext>
                  </a:extLst>
                </a:gridCol>
                <a:gridCol w="5289219">
                  <a:extLst>
                    <a:ext uri="{9D8B030D-6E8A-4147-A177-3AD203B41FA5}">
                      <a16:colId xmlns:a16="http://schemas.microsoft.com/office/drawing/2014/main" val="20001"/>
                    </a:ext>
                  </a:extLst>
                </a:gridCol>
                <a:gridCol w="2445929">
                  <a:extLst>
                    <a:ext uri="{9D8B030D-6E8A-4147-A177-3AD203B41FA5}">
                      <a16:colId xmlns:a16="http://schemas.microsoft.com/office/drawing/2014/main" val="20002"/>
                    </a:ext>
                  </a:extLst>
                </a:gridCol>
              </a:tblGrid>
              <a:tr h="539108">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Find</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C60016"/>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Method example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C60016"/>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Result unit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C60016"/>
                    </a:solidFill>
                  </a:tcPr>
                </a:tc>
                <a:extLst>
                  <a:ext uri="{0D108BD9-81ED-4DB2-BD59-A6C34878D82A}">
                    <a16:rowId xmlns:a16="http://schemas.microsoft.com/office/drawing/2014/main" val="10000"/>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Outside boundary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Add edges; rectangle 2(l + w)</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1"/>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Surface coverage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Area; subtract openings</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mm² or m²</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2"/>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Space / capacity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Base area × height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mm³, m³ or L</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3"/>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Right-triangle side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Pythagoras or selected trig ratio</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4"/>
                  </a:ext>
                </a:extLst>
              </a:tr>
            </a:tbl>
          </a:graphicData>
        </a:graphic>
      </p:graphicFrame>
      <p:sp>
        <p:nvSpPr>
          <p:cNvPr id="6" name="Text 3"/>
          <p:cNvSpPr/>
          <p:nvPr/>
        </p:nvSpPr>
        <p:spPr>
          <a:xfrm>
            <a:off x="609585" y="5095875"/>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10B Q1 and 12B Q3 in pairs.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Annotate every dimension and include stated kerf. Explain why the method</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matches the unknown; reject an unreasonable unit or magnitude.</a:t>
            </a:r>
            <a:endParaRPr lang="en-US" sz="1800" dirty="0"/>
          </a:p>
        </p:txBody>
      </p:sp>
      <p:sp>
        <p:nvSpPr>
          <p:cNvPr id="7" name="Text 4"/>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pp.65,77 • Shape Canvas rectangle, prism and right triangle • Formula sheet p.219</a:t>
            </a:r>
            <a:endParaRPr lang="en-US" sz="1050" dirty="0"/>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27</a:t>
            </a:r>
          </a:p>
        </p:txBody>
      </p:sp>
    </p:spTree>
    <p:extLst>
      <p:ext uri="{BB962C8B-B14F-4D97-AF65-F5344CB8AC3E}">
        <p14:creationId xmlns:p14="http://schemas.microsoft.com/office/powerpoint/2010/main" val="4000820979"/>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172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W08-L02-1.png"/>
          <p:cNvPicPr>
            <a:picLocks noChangeAspect="1"/>
          </p:cNvPicPr>
          <p:nvPr/>
        </p:nvPicPr>
        <p:blipFill>
          <a:blip r:embed="rId3"/>
          <a:stretch>
            <a:fillRect/>
          </a:stretch>
        </p:blipFill>
        <p:spPr>
          <a:xfrm>
            <a:off x="841339" y="1691640"/>
            <a:ext cx="1038740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Figure 11.1: volume counts unit cubes in three directions.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172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W08-L02-2.png"/>
          <p:cNvPicPr>
            <a:picLocks noChangeAspect="1"/>
          </p:cNvPicPr>
          <p:nvPr/>
        </p:nvPicPr>
        <p:blipFill>
          <a:blip r:embed="rId3"/>
          <a:stretch>
            <a:fillRect/>
          </a:stretch>
        </p:blipFill>
        <p:spPr>
          <a:xfrm>
            <a:off x="685800" y="2542158"/>
            <a:ext cx="10698480" cy="236804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Cubic conversions use the length factor three times.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surface-coverage calculation is labelled mm³. What does that unit suggest, and what should you recheck?</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Cubic units describe volume. Recheck the requested quantity and formula: surface coverage needs an area calculation and square units; a correct-looking number with the wrong unit is not a complete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10B Q1 and 12B Q3 in pairs. Annotate all dimensions and explicitly include stated kerf.</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10B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10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10B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10B-Q1.png"/>
          <p:cNvPicPr>
            <a:picLocks noChangeAspect="1"/>
          </p:cNvPicPr>
          <p:nvPr/>
        </p:nvPicPr>
        <p:blipFill>
          <a:blip r:embed="rId3"/>
          <a:stretch>
            <a:fillRect/>
          </a:stretch>
        </p:blipFill>
        <p:spPr>
          <a:xfrm>
            <a:off x="1654769" y="1783080"/>
            <a:ext cx="8760541"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25.92 m², 9 sheets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t>7.2 × 3.6 = 25.92 m², one sheet = 2.88 m², 25.92 ÷ 2.88 = 9</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the remaining listed exercises, prioritizing documented needs. Finish with one fresh Numeracy Hub question; explain why that formula applies and keep its question/code for checking.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In Shape Canvas, compare the scheduled rectangle, rectangular prism and right triangle. Label the given dimensions and identify the unknown for the relevant written problem.</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After the listed paper work, use Numeracy Hub Volume and Layout or Angles and Trig for one Easy task in a taught topic, chosen to match the documented need.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question/code, written formula, diagram and units. Explain why the method applies and use the drawing to reject an unreasonable unit or magnitude.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9A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9A-Q8.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10B Q11, 11A Q19 and 13A Q14, with diagrams and units.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11A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11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13A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W08-L02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25  •  2026-12-14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25 | 2026-12-14</dc:title>
  <dc:creator>ACCESS Trades</dc:creator>
  <cp:lastModifiedBy>Gabriel Ostrowidzki</cp:lastModifiedBy>
  <cp:revision>3</cp:revision>
  <dcterms:created xsi:type="dcterms:W3CDTF">2026-10-19T18:44:52Z</dcterms:created>
  <dcterms:modified xsi:type="dcterms:W3CDTF">2026-10-19T19:22:04Z</dcterms:modified>
  <dc:subject>Review: numbers, units and formulas; Review: geometry and job problems</dc:subject>
</cp:coreProperties>
</file>