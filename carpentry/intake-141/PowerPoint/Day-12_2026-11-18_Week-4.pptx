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441" r:id="rId178"/>
    <p:sldId id="342" r:id="rId75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461" r:id="rId198"/>
    <p:sldId id="345" r:id="rId78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  <p:sldId id="476" r:id="rId2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5" Type="http://schemas.openxmlformats.org/officeDocument/2006/relationships/slide" Target="slides/slide8.xml"/><Relationship Id="rId78" Type="http://schemas.openxmlformats.org/officeDocument/2006/relationships/slide" Target="slides/slide29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7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8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Relationship Id="rId213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  <a:p/>
          <a:p>
            <a:r>
              <a:t>ACCESS EXERCISE BOOK: 6A-Q1</a:t>
            </a:r>
          </a:p>
          <a:p>
            <a:r>
              <a:t>Exact question: Write 64% as a decimal.</a:t>
            </a:r>
          </a:p>
          <a:p>
            <a:r>
              <a:t>Instructor answer: 0.64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6.1–6.3 pp.92–95; calculator percent p.35</a:t>
            </a:r>
          </a:p>
          <a:p>
            <a:r>
              <a:t>ACCESS Trades Numeracy Textbook p.94 — Example 6.3 — Brackets for a second job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6.1–6.3 pp.92–95; calculator percent p.35</a:t>
            </a:r>
          </a:p>
          <a:p>
            <a:r>
              <a:t>ACCESS Trades Numeracy Textbook p.94 — Example 6.3 — Brackets for a second job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p.94 • Example 6.3 — Find a percent of a quantity</a:t>
            </a:r>
          </a:p>
          <a:p>
            <a:r>
              <a:t>Exact PDF/printed page: 94. ACCESS Textbook excerpt.</a:t>
            </a:r>
          </a:p>
          <a:p>
            <a:r>
              <a:t>Label the whole, percent and part; compare decimal multiplication with percent-key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p.94 • Example 6.3 — Compare the two calculator models</a:t>
            </a:r>
          </a:p>
          <a:p>
            <a:r>
              <a:t>Exact PDF/printed page: 94. ACCESS Textbook excerpt.</a:t>
            </a:r>
          </a:p>
          <a:p>
            <a:r>
              <a:t>Label the whole, percent and part; compare decimal multiplication with percent-key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6A-Q5</a:t>
            </a:r>
          </a:p>
          <a:p>
            <a:r>
              <a:t>Exact question: Write 45% as a fraction in lowest terms.</a:t>
            </a:r>
          </a:p>
          <a:p>
            <a:r>
              <a:t>Instructor answer: 9/20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6A-Q5</a:t>
            </a:r>
          </a:p>
          <a:p>
            <a:r>
              <a:t>Exact question: Write 45% as a fraction in lowest terms.</a:t>
            </a:r>
          </a:p>
          <a:p>
            <a:r>
              <a:t>Instructor answer: 9/20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Numeracy Hub Calculator: choose the matching calculator model for percent entry. Shape Canvas: rectangle with width equal to a stated percentage of length.</a:t>
            </a:r>
          </a:p>
          <a:p>
            <a:r>
              <a:t>Label the part, whole and rate in the assigned book question before using a tool.</a:t>
            </a:r>
          </a:p>
          <a:p>
            <a:r>
              <a:t>Calculate the missing width for 6C Q2, then create its rectangle in Shape Canvas.</a:t>
            </a:r>
          </a:p>
          <a:p>
            <a:r>
              <a:t>Check with the matching Numeracy Hub calculator model and compare the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6A-Q2</a:t>
            </a:r>
          </a:p>
          <a:p>
            <a:r>
              <a:t>Exact question: Write 3.5% as a decimal.</a:t>
            </a:r>
          </a:p>
          <a:p>
            <a:r>
              <a:t>Instructor answer: 0.035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6C-Q1</a:t>
            </a:r>
          </a:p>
          <a:p>
            <a:r>
              <a:t>Exact question: Write the shaded part as a percent, a decimal and a fraction in lowest terms.</a:t>
            </a:r>
          </a:p>
          <a:p>
            <a:r>
              <a:t>Instructor answer: 62%, 0.62,  31/50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6A-Q8</a:t>
            </a:r>
          </a:p>
          <a:p>
            <a:r>
              <a:t>Exact question: Find 6.5% of 4,200.</a:t>
            </a:r>
          </a:p>
          <a:p>
            <a:r>
              <a:t>Instructor answer: 273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6A-Q9</a:t>
            </a:r>
          </a:p>
          <a:p>
            <a:r>
              <a:t>Exact question: 27 is what percent of 360?</a:t>
            </a:r>
          </a:p>
          <a:p>
            <a:r>
              <a:t>Instructor answer: 7.5%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W04-L05 | 2026-11-18 | 12:45 PM–2:00 PM | 75 minutes</a:t>
            </a:r>
          </a:p>
          <a:p>
            <a:r>
              <a:t>Percent: part of a whole</a:t>
            </a:r>
          </a:p>
          <a:p>
            <a:r>
              <a:t>Mode: Math</a:t>
            </a:r>
          </a:p>
          <a:p>
            <a:r>
              <a:t>Goal: Convert percentages, decimals and fractions; find a percentage of a quantity.</a:t>
            </a:r>
          </a:p>
          <a:p>
            <a:r>
              <a:t>Read: Textbook sections 6.1–6.3 pp.92–95; calculator percent p.35</a:t>
            </a:r>
          </a:p>
          <a:p>
            <a:r>
              <a:t>Practise: Exercise Book 6A Q1–10 (p.39); 6C Q1–2 (p.43)</a:t>
            </a:r>
          </a:p>
          <a:p>
            <a:r>
              <a:t>Tool: Numeracy Hub Calculator: choose the matching calculator model for percent entry. Shape Canvas: rectangle with width equal to a stated percentage of length.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percent as part of a whole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Retrieve 0.5 = 1/2 and ask for the matching percent. Use Exercise Book 6A Q1 and Q3.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percent ÷ 100, then multiply by the whole. Compare this with the book’s calculator-specific percent keys.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6A Q5–8 and 6C Q2. Learners label the part, whole and rate.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6A Q2,4,9–10 and 6C Q1. Create the 6C Q2 rectangle in Shape Canvas after calculating its missing width.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6A Q8–9 with a labelled part/whole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Q8 = 273; Q9 = 7.5%. 6C Q2 = 560 mm. Answer Key p.19. Answer Key pp.18–19</a:t>
            </a:r>
          </a:p>
          <a:p/>
          <a:p>
            <a:r>
              <a:t>Apply percentage reasoning to waste allowances and whole-unit orders.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Apply percentage reasoning to waste allowances and whole-unit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2:15 PM.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Start, 2:15 PM–2:20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6.4 pp.96–97; review sections 5.7 pp.86–87</a:t>
            </a:r>
          </a:p>
          <a:p>
            <a:r>
              <a:t>ACCESS Trades Numeracy Textbook p.96 — Example 6.5 — Ordering pipe with a waste allowance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6.4 pp.96–97; review sections 5.7 pp.86–87</a:t>
            </a:r>
          </a:p>
          <a:p>
            <a:r>
              <a:t>ACCESS Trades Numeracy Textbook p.96 — Example 6.5 — Ordering pipe with a waste allowance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p.96 • Example 6.5 — Allowance and whole purchase lengths</a:t>
            </a:r>
          </a:p>
          <a:p>
            <a:r>
              <a:t>Exact PDF/printed page: 96. ACCESS Textbook excerpt.</a:t>
            </a:r>
          </a:p>
          <a:p>
            <a:r>
              <a:t>Locate the unrounded requirement before the final rounding to full purchase lengths.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p.96 • Example 6.5 — Calculator check and final order</a:t>
            </a:r>
          </a:p>
          <a:p>
            <a:r>
              <a:t>Exact PDF/printed page: 96. ACCESS Textbook excerpt.</a:t>
            </a:r>
          </a:p>
          <a:p>
            <a:r>
              <a:t>Locate the unrounded requirement before the final rounding to full purchase lengths.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6A-Q11</a:t>
            </a:r>
          </a:p>
          <a:p>
            <a:r>
              <a:t>Exact question: Increase 340 by 15%.</a:t>
            </a:r>
          </a:p>
          <a:p>
            <a:r>
              <a:t>Instructor answer: 391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6A-Q11</a:t>
            </a:r>
          </a:p>
          <a:p>
            <a:r>
              <a:t>Exact question: Increase 340 by 15%.</a:t>
            </a:r>
          </a:p>
          <a:p>
            <a:r>
              <a:t>Instructor answer: 391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Exact scheduled tool activity: Numeracy Hub Calculator: compare percent-key and decimal-multiplier methods. Shape Canvas: label a rectangle as net material versus order quantity.</a:t>
            </a:r>
          </a:p>
          <a:p>
            <a:r>
              <a:t>Label a Shape Canvas rectangle with the net amount and its allowance from the exercise.</a:t>
            </a:r>
          </a:p>
          <a:p>
            <a:r>
              <a:t>Compare the percent-key and decimal-multiplier methods in Numeracy Hub Calculator.</a:t>
            </a:r>
          </a:p>
          <a:p>
            <a:r>
              <a:t>Record the unrounded amount, then the whole-unit order with your rounding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6B-Q1</a:t>
            </a:r>
          </a:p>
          <a:p>
            <a:r>
              <a:t>Exact question: A pipe run needs 64 m of pipe. Add a 12% waste allowance. The pipe on this job comes in 6.4 m lengths. How many metres do you need, and how many lengths do you order?</a:t>
            </a:r>
          </a:p>
          <a:p>
            <a:r>
              <a:t>Instructor answer: 71.68 m, 12 lengths</a:t>
            </a:r>
          </a:p>
          <a:p>
            <a:r>
              <a:t>Working: 64 × 1.12 = 71.68, ÷ 6.4 = 11.2, round up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6B-Q5</a:t>
            </a:r>
          </a:p>
          <a:p>
            <a:r>
              <a:t>Exact question: Of 85 welds tested, 6 are rejected. What percent are rejected, to two decimal places?</a:t>
            </a:r>
          </a:p>
          <a:p>
            <a:r>
              <a:t>Instructor answer: 7.06%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6B-Q2</a:t>
            </a:r>
          </a:p>
          <a:p>
            <a:r>
              <a:t>Exact question: A fabrication job needs 18 sheets of 4 ft × 8 ft plate. Add a 15% allowance and round up to whole sheets.</a:t>
            </a:r>
          </a:p>
          <a:p>
            <a:r>
              <a:t>Instructor answer: 21 sheets (20.7 rounded up)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6B-Q3</a:t>
            </a:r>
          </a:p>
          <a:p>
            <a:r>
              <a:t>Exact question: A bearing lists at $86.50. Your shop gets a 12% trade discount. What does one bearing cost? What do 6 cost? Round to the cent.</a:t>
            </a:r>
          </a:p>
          <a:p>
            <a:r>
              <a:t>Instructor answer: $76.12 each, $456.72 for 6</a:t>
            </a:r>
          </a:p>
          <a:p>
            <a:r>
              <a:t>Working: 86.5 − 12% = 76.12, × 6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W04-L06 | 2026-11-18 | 2:15 PM–3:30 PM | 75 minutes</a:t>
            </a:r>
          </a:p>
          <a:p>
            <a:r>
              <a:t>Waste allowance and purchase quantities</a:t>
            </a:r>
          </a:p>
          <a:p>
            <a:r>
              <a:t>Mode: Math</a:t>
            </a:r>
          </a:p>
          <a:p>
            <a:r>
              <a:t>Goal: Apply an allowance or discount once, then round an order to whole purchase units.</a:t>
            </a:r>
          </a:p>
          <a:p>
            <a:r>
              <a:t>Read: Textbook sections 6.4 pp.96–97; review sections 5.7 pp.86–87</a:t>
            </a:r>
          </a:p>
          <a:p>
            <a:r>
              <a:t>Practise: Exercise Book 6A Q11–13 (pp.39–40); 6B Q1–3,5 (p.41)</a:t>
            </a:r>
          </a:p>
          <a:p>
            <a:r>
              <a:t>Tool: Numeracy Hub Calculator: compare percent-key and decimal-multiplier methods. Shape Canvas: label a rectangle as net material versus order quantity.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waste allowance, discounts and purchase quantities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whether a 15% allowance means ordering 15% or 115% of the original quantity.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6B Q2, keep the unrounded allowance quantity, then round up to full sheets. Contrast increase with discount.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6A Q11–13 and 6B Q3; learners identify the original base before calculating.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6B Q1,5 and rework Q2 with a written order explanation. Label all practice allowances as problem data, not a standard job allowance.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6B Q2 and Q3, showing the unrounded order and discount calculation.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6B Q2 = 20.7, rounded up to 21 sheets; Q3 = $76.12 each, $456.72 for six. Answer Key p.19. Answer Key pp.18–19</a:t>
            </a:r>
          </a:p>
          <a:p/>
          <a:p>
            <a:r>
              <a:t>Use the difference between a fraction of the total and a ratio of parts as the next bridge.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3:25 PM–3:30 PM. All slides with this phase share these 5 minutes; do not restart the time allocation for each slide.</a:t>
            </a:r>
          </a:p>
          <a:p/>
          <a:p>
            <a:r>
              <a:t>Next scheduled learning: Use the difference between a fraction of the total and a ratio of parts as the next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2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4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4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2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2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5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2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2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2" TargetMode="External"/><Relationship Id="rId6" Type="http://schemas.openxmlformats.org/officeDocument/2006/relationships/hyperlink" Target="../../../books/ACCESS-Trades-Numeracy-Exercise-Book.pdf#page=4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2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9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2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2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6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6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6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6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6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0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6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1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6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6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6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6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6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6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5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6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6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6" TargetMode="External"/><Relationship Id="rId6" Type="http://schemas.openxmlformats.org/officeDocument/2006/relationships/hyperlink" Target="../../../books/ACCESS-Trades-Numeracy-Exercise-Book.pdf#page=4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6" TargetMode="External"/><Relationship Id="rId6" Type="http://schemas.openxmlformats.org/officeDocument/2006/relationships/hyperlink" Target="../../../books/ACCESS-Trades-Numeracy-Exercise-Book.pdf#page=4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6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6" TargetMode="External"/><Relationship Id="rId6" Type="http://schemas.openxmlformats.org/officeDocument/2006/relationships/hyperlink" Target="../../../books/ACCESS-Trades-Numeracy-Exercise-Book.pdf#page=4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hyperlink" Target="../../../books/ACCESS-Trades-Numeracy-Textbook.pdf#page=96" TargetMode="External"/><Relationship Id="rId6" Type="http://schemas.openxmlformats.org/officeDocument/2006/relationships/hyperlink" Target="../../../books/ACCESS-Trades-Numeracy-Exercise-Book.pdf#page=4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17.png"/><Relationship Id="rId4" Type="http://schemas.openxmlformats.org/officeDocument/2006/relationships/hyperlink" Target="../../../books/ACCESS-Trades-Numeracy-Textbook.pdf#page=96" TargetMode="External"/><Relationship Id="rId5" Type="http://schemas.openxmlformats.org/officeDocument/2006/relationships/hyperlink" Target="../../../books/ACCESS-Trades-Numeracy-Exercise-Book.pdf#page=3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12  |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18,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Percent: part of a whole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Waste allowance and purchase quantities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2:15 PM–3:30 PM  •  Math  •  75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4  •  2 scheduled blocks  •  150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12  •  2026-11-18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12  /  WEEK 4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Percent: part of a whole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4, Lesson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2:15 PM–3:30 PM  •  75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Waste allowance and purchase quantities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2:15 PM–2:20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2:20 PM–2:25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2:25 PM–2:40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2:40 PM–2:55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2:55 PM–3:15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3:15 PM–3:25 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3:25 PM–3:30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4, Lesson 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2:00 PM–2:15 PM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Percent: part of a whole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Convert percentages, decimals and fractions; find a percentage of a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Share a prior use of this skill; identify the quantity and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6A Q1–10 (p.39); 6C Q1–2 (p.43)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Retrieve 0.5 = 1/2 and ask for the matching percent. Use Exercise Book 6A Q1 and Q3.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short retrieval task independently; explain the method before seeing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6A Q1–10 (p.39); 6C Q1–2 (p.43)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from the Exercise Book  |  6A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pic>
        <p:nvPicPr>
          <p:cNvPr id="5" name="Picture 4" descr="6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Percent means parts per hundred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percent compares a part with a whole using 100 equal parts.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Convert percent to decimal by dividing by 100.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Convert decimal to percent by multiplying by 100.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the whole before you calculate the part.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Find a percentage of a quantity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the rate as a decimal.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Part = decimal rate × whole quantity.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part keeps the same measurement unit as the whole.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If the rate is below 100%, the part should be smaller than the whole.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W04-L05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whole and rate before multiplying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 of 250 mm = 0.12 × 250 = 30 mm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out of 300 = 24 ÷ 300 × 100 = 8%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319087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first result: 10% is 25 mm, so 12% should be slightly larger.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multiply by 12 when you mean 12%.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66725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6A Q5–8 and 6C Q2. Label part, whole and rate.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decimal multiplication with the model-specific percent key. Calculate the 6C Q2 rectangle width before drawing it.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 L5 • Numeracy Hub Calculator and Shape Canvas • Classroom examples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08</a:t>
            </a:r>
          </a:p>
        </p:txBody>
      </p:sp>
    </p:spTree>
    <p:extLst>
      <p:ext uri="{BB962C8B-B14F-4D97-AF65-F5344CB8AC3E}">
        <p14:creationId xmlns:p14="http://schemas.microsoft.com/office/powerpoint/2010/main" val="113774940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94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pic>
        <p:nvPicPr>
          <p:cNvPr id="5" name="Picture 4" descr="W04-L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41141"/>
            <a:ext cx="10698480" cy="21700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p.94 • Example 6.3 — Find a percent of a quantity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94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pic>
        <p:nvPicPr>
          <p:cNvPr id="5" name="Picture 4" descr="W04-L05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17523"/>
            <a:ext cx="10698480" cy="36173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p.94 • Example 6.3 — Compare the two calculator models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learner enters 25 × the whole to find 25% of it. What is missing?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The percent must become a decimal: 25 ÷ 100. Multiply the whole by 0.25.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6A Q5–8 and 6C Q2. Label the part, whole and 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calculator operator and checker. Show units and an estimated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6A Q1–10 (p.39); 6C Q1–2 (p.43)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6A 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pic>
        <p:nvPicPr>
          <p:cNvPr id="5" name="Picture 4" descr="6A-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6A 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pic>
        <p:nvPicPr>
          <p:cNvPr id="5" name="Picture 4" descr="6A-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9/20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6A Q2,4,9–10 and 6C Q1. Create the 6C Q2 rectangle in Shape Canvas after calculating its missing width.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use the tool to check; correct one error with a written reason.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6A Q1–10 (p.39); 6C Q1–2 (p.43)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pic>
        <p:nvPicPr>
          <p:cNvPr id="5" name="Picture 4" descr="shape-rect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Label the part, whole and rate in the assigned book question before using a tool.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Calculate the missing width for 6C Q2, then create its rectangle in Shape Canvas.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with the matching Numeracy Hub calculator model and compare the methods.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6A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pic>
        <p:nvPicPr>
          <p:cNvPr id="5" name="Picture 4" descr="6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6C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pic>
        <p:nvPicPr>
          <p:cNvPr id="5" name="Picture 4" descr="6C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287" y="1773936"/>
            <a:ext cx="7993504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6A Q8–9 with a labelled part/whole calculation.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the requested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6A Q1–10 (p.39); 6C Q1–2 (p.43)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6A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pic>
        <p:nvPicPr>
          <p:cNvPr id="5" name="Picture 4" descr="6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6A Q9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pic>
        <p:nvPicPr>
          <p:cNvPr id="5" name="Picture 4" descr="6A-Q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W04-L05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6.1–6.3 pp.92–95; calculator percent p.35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did you learn? Where will you use it? What will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write the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6A Q1–10 (p.39); 6C Q1–2 (p.43)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12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2:00 PM–2:15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Waste allowance and purchase quantities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12  •  2026-11-18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START  •  2:15 PM–2:20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Waste allowance and purchase quantities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Apply an allowance or discount once, then round an order to whole purchase units.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Share a prior use of this skill; identify the quantity and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6A Q11–13 (pp.39–40); 6B Q1–3,5 (p.41)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Discuss whether a 15% allowance means ordering 15% or 115% of the original quantity.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short retrieval task independently; explain the method before seeing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6A Q11–13 (pp.39–40); 6B Q1–3,5 (p.41)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Apply an allowance to the original amount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First identify the net quantity before any allowance.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An increase of r% gives net quantity × (1 + r/100).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discount of r% gives original amount × (1 − r/100).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the percentage stated in the exercise; it is problem data.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Turn a calculation into an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unrounded quantity after applying the allowance.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Divide by the quantity supplied in one purchase unit if needed.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Round up once at the final step to buy enough whole units.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Show net quantity, allowance and final order separately.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W04-L06  •  TEACH  •  2:25 PM–2:40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Allowance first; whole-unit order last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666875"/>
            <a:ext cx="10972526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6B Q2: 18 sheets × 1.15 = 20.7 sheets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sheets to purchase = 21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300037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another way: allowance = 18 × 0.15 = 2.7 sheets;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+ 2.7 = 20.7. Do not add another 15% to this result.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23862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6A Q11–13 and 6B Q3.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original base before calculating a discount. Compare percent-key and decimal-multiplier methods.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5381625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allowances here are problem data—not standard job allowances.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 L6 • Shape Canvas labels: net material versus order quantity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29</a:t>
            </a:r>
          </a:p>
        </p:txBody>
      </p:sp>
    </p:spTree>
    <p:extLst>
      <p:ext uri="{BB962C8B-B14F-4D97-AF65-F5344CB8AC3E}">
        <p14:creationId xmlns:p14="http://schemas.microsoft.com/office/powerpoint/2010/main" val="1102541640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96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pic>
        <p:nvPicPr>
          <p:cNvPr id="5" name="Picture 4" descr="W04-L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8622"/>
            <a:ext cx="10698480" cy="32551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p.96 • Example 6.5 — Allowance and whole purchase lengths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96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pic>
        <p:nvPicPr>
          <p:cNvPr id="5" name="Picture 4" descr="W04-L0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06561"/>
            <a:ext cx="10698480" cy="36392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p.96 • Example 6.5 — Calculator check and final order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Does a 15% allowance mean ordering 15% of the original quantity?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The original 100% plus 15% gives 115% of the net quantity. Apply the allowance once.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6A Q11–13 and 6B Q3; learners identify the original base before calculating.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calculator operator and checker. Show units and an estimated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6A Q11–13 (pp.39–40); 6B Q1–3,5 (p.41)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6A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pic>
        <p:nvPicPr>
          <p:cNvPr id="5" name="Picture 4" descr="6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6A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pic>
        <p:nvPicPr>
          <p:cNvPr id="5" name="Picture 4" descr="6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391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Exercise Book 6B Q1,5 and rework Q2 with a written order explanation. Label all practice allowances as problem data, not a standard job allowance.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use the tool to check; correct one error with a written reason.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6A Q11–13 (pp.39–40); 6B Q1–3,5 (p.41)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pic>
        <p:nvPicPr>
          <p:cNvPr id="5" name="Picture 4" descr="shape-rect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Label a Shape Canvas rectangle with the net amount and its allowance from the exercise.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Compare the percent-key and decimal-multiplier methods in Numeracy Hub Calculator.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Record the unrounded amount, then the whole-unit order with your rounding reason.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6B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pic>
        <p:nvPicPr>
          <p:cNvPr id="5" name="Picture 4" descr="6B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8618"/>
            <a:ext cx="10698480" cy="18425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6B 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pic>
        <p:nvPicPr>
          <p:cNvPr id="5" name="Picture 4" descr="6B-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6B Q2 and Q3, showing the unrounded order and discount calculation.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the requested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6A Q11–13 (pp.39–40); 6B Q1–3,5 (p.41)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6B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pic>
        <p:nvPicPr>
          <p:cNvPr id="5" name="Picture 4" descr="6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6B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pic>
        <p:nvPicPr>
          <p:cNvPr id="5" name="Picture 4" descr="6B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W04-L06  •  WRAP UP  •  3:25 PM–3:30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6.4 pp.96–97; review sections 5.7 pp.86–87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did you learn? Where will you use it? What will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write the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6A Q11–13 (pp.39–40); 6B Q1–3,5 (p.41)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12  •  2026-11-18  • 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44</Slides>
  <Notes>44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12 | 2026-11-18</dc:title>
  <dc:creator>ACCESS Trades</dc:creator>
  <dc:subject>Percent: part of a whole; Waste allowance and purchase quantities</dc:subject>
</cp:coreProperties>
</file>