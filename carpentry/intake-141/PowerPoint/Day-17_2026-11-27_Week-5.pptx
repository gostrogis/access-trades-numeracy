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3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371" r:id="rId104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374" r:id="rId107"/>
    <p:sldId id="461" r:id="rId19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4" Type="http://schemas.openxmlformats.org/officeDocument/2006/relationships/slide" Target="slides/slide7.xml"/><Relationship Id="rId107" Type="http://schemas.openxmlformats.org/officeDocument/2006/relationships/slide" Target="slides/slide28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9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9:00 AM–9:05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9:05 AM–9:10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9.1 p.140; sections 9.6 pp.147–148</a:t>
            </a:r>
          </a:p>
          <a:p>
            <a:r>
              <a:t>ACCESS Trades Numeracy Textbook p.140 — Example 9.1 — A rectangular guard frame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9.1 p.140; sections 9.6 pp.147–148</a:t>
            </a:r>
          </a:p>
          <a:p>
            <a:r>
              <a:t>ACCESS Trades Numeracy Textbook p.140 — Example 9.1 — A rectangular guard frame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ACCESS Textbook p.140 • Perimeter — Outside boundary and formulas</a:t>
            </a:r>
          </a:p>
          <a:p>
            <a:r>
              <a:t>Exact PDF/printed page: 140. ACCESS Textbook excerpt.</a:t>
            </a:r>
          </a:p>
          <a:p>
            <a:r>
              <a:t>Trace all four outside edges, then connect the drawing to twice length plus width.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ACCESS Textbook p.140 • Example 9.1 — A rectangular guard frame</a:t>
            </a:r>
          </a:p>
          <a:p>
            <a:r>
              <a:t>Exact PDF/printed page: 140. ACCESS Textbook excerpt.</a:t>
            </a:r>
          </a:p>
          <a:p>
            <a:r>
              <a:t>Trace all four outside edges, then connect the drawing to twice length plus width.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9A-Q1</a:t>
            </a:r>
          </a:p>
          <a:p>
            <a:r>
              <a:t>Exact question: Find the perimeter of a rectangle 2,400 mm by 1,150 mm.</a:t>
            </a:r>
          </a:p>
          <a:p>
            <a:r>
              <a:t>Instructor answer: 7,100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9A-Q1</a:t>
            </a:r>
          </a:p>
          <a:p>
            <a:r>
              <a:t>Exact question: Find the perimeter of a rectangle 2,400 mm by 1,150 mm.</a:t>
            </a:r>
          </a:p>
          <a:p>
            <a:r>
              <a:t>Instructor answer: 7,100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Exact scheduled tool activity: Shape Canvas: rectangle and triangle; distinguish outside boundary from height lines. Numeracy Hub: Volume and Layout, then Module 2 Area and perimeter.</a:t>
            </a:r>
          </a:p>
          <a:p>
            <a:r>
              <a:t>Use Shape Canvas to inspect a rectangle and triangle; trace only their outside edges.</a:t>
            </a:r>
          </a:p>
          <a:p>
            <a:r>
              <a:t>Create the assigned frame and calculate its perimeter by addition and formula.</a:t>
            </a:r>
          </a:p>
          <a:p>
            <a:r>
              <a:t>Check the method in Numeracy Hub Volume and Layout → Area and perimeter.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9A-Q2</a:t>
            </a:r>
          </a:p>
          <a:p>
            <a:r>
              <a:t>Exact question: Find the perimeter of a square with sides of 75 cm.</a:t>
            </a:r>
          </a:p>
          <a:p>
            <a:r>
              <a:t>Instructor answer: 300 cm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9C-Q1</a:t>
            </a:r>
          </a:p>
          <a:p>
            <a:r>
              <a:t>Exact question: The perimeter is 5,600 mm. Find the length.</a:t>
            </a:r>
          </a:p>
          <a:p>
            <a:r>
              <a:t>Instructor answer: 1,900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9A-Q8</a:t>
            </a:r>
          </a:p>
          <a:p>
            <a:r>
              <a:t>Exact question: A rectangle has a perimeter of 3,800 mm and a length of 1,200 mm. Find the width.</a:t>
            </a:r>
          </a:p>
          <a:p>
            <a:r>
              <a:t>Instructor answer: 700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9B-Q1</a:t>
            </a:r>
          </a:p>
          <a:p>
            <a:r>
              <a:t>Exact question: A frame of angle iron is 2 ft 6 in by 1 ft 9 in. How much angle iron goes around it? Give feet and inches.</a:t>
            </a:r>
          </a:p>
          <a:p>
            <a:r>
              <a:t>Instructor answer: 2 × (30 + 21) = 102 in = 8′ 6″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W05-L06 | 2026-11-27 | 9:00 AM–10:15 AM | 75 minutes</a:t>
            </a:r>
          </a:p>
          <a:p>
            <a:r>
              <a:t>Perimeter, frame lengths and material totals</a:t>
            </a:r>
          </a:p>
          <a:p>
            <a:r>
              <a:t>Mode: Math</a:t>
            </a:r>
          </a:p>
          <a:p>
            <a:r>
              <a:t>Goal: Calculate a straight-sided perimeter and identify missing dimensions without counting internal lines.</a:t>
            </a:r>
          </a:p>
          <a:p>
            <a:r>
              <a:t>Read: Textbook sections 9.1 p.140; sections 9.6 pp.147–148</a:t>
            </a:r>
          </a:p>
          <a:p>
            <a:r>
              <a:t>Practise: Exercise Book 9A Q1–8 (p.57); 9B Q1 (p.59); 9C Q1–2 (p.61)</a:t>
            </a:r>
          </a:p>
          <a:p>
            <a:r>
              <a:t>Tool: Shape Canvas: rectangle and triangle; distinguish outside boundary from height lines. Numeracy Hub: Volume and Layout, then Module 2 Area and perimeter.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Connect perimeter, frame lengths and material totals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trace the outside of a sketch; contrast perimeter with area.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a rectangle’s boundary and conversion of mixed feet/inches. Demonstrate why a dashed height is not an edge.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9A Q1,6–8 and Exercise Book 9C Q2. Learners mark every boundary segment used.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9A Q2–5, 9B Q1 and 9C Q1. Create a dimensioned frame on Shape Canvas; calculate by both addition and formula.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9A Q8 and 9B Q1; explain the units and show the boundary calculation.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Q8 = 700 mm; 9B Q1 = 8 ft 6 in. Answer Key p.26. Answer Key pp.25–26</a:t>
            </a:r>
          </a:p>
          <a:p/>
          <a:p>
            <a:r>
              <a:t>Transfer boundary reasoning to circles; distinguish diameter from radius.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10:10 AM–10:15 AM. All slides with this phase share these 5 minutes; do not restart the time allocation for each slide.</a:t>
            </a:r>
          </a:p>
          <a:p/>
          <a:p>
            <a:r>
              <a:t>Next scheduled learning: Transfer boundary reasoning to circles; distinguish diameter from radius.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10:30 AM.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10:30 AM–10:35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10:35 AM–10:40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9.2–9.6 pp.141–148</a:t>
            </a:r>
          </a:p>
          <a:p>
            <a:r>
              <a:t>ACCESS Trades Numeracy Textbook p.146 — Figure 9.3 and Example 9.9 — A curved handrail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9.2–9.6 pp.141–148</a:t>
            </a:r>
          </a:p>
          <a:p>
            <a:r>
              <a:t>ACCESS Trades Numeracy Textbook p.146 — Figure 9.3 and Example 9.9 — A curved handrail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ACCESS Textbook p.142 • Figure 9.1 — Radius, diameter and circumference</a:t>
            </a:r>
          </a:p>
          <a:p>
            <a:r>
              <a:t>Exact PDF/printed page: 142. ACCESS Textbook excerpt.</a:t>
            </a:r>
          </a:p>
          <a:p>
            <a:r>
              <a:t>Identify the radius, diameter and fraction of a full circumference used for the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ACCESS Textbook p.146 • Example 9.9 — A curved handrail as a fraction of a circumference</a:t>
            </a:r>
          </a:p>
          <a:p>
            <a:r>
              <a:t>Exact PDF/printed page: 146. ACCESS Textbook excerpt.</a:t>
            </a:r>
          </a:p>
          <a:p>
            <a:r>
              <a:t>Identify the radius, diameter and fraction of a full circumference used for the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9A-Q11</a:t>
            </a:r>
          </a:p>
          <a:p>
            <a:r>
              <a:t>Exact question: D = 380 mm. Find C to two decimal places.</a:t>
            </a:r>
          </a:p>
          <a:p>
            <a:r>
              <a:t>Instructor answer: 1,193.81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9A-Q11</a:t>
            </a:r>
          </a:p>
          <a:p>
            <a:r>
              <a:t>Exact question: D = 380 mm. Find C to two decimal places.</a:t>
            </a:r>
          </a:p>
          <a:p>
            <a:r>
              <a:t>Instructor answer: 1,193.81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Exact scheduled tool activity: Shape Canvas: circle, change radius and compare circumference. Numeracy Hub: Volume and Layout, then Area and perimeter; use Easy examples first.</a:t>
            </a:r>
          </a:p>
          <a:p>
            <a:r>
              <a:t>In Shape Canvas, change a circle’s radius and predict how its circumference changes.</a:t>
            </a:r>
          </a:p>
          <a:p>
            <a:r>
              <a:t>Sketch and calculate the assigned circle or arc on paper with r and D labelled.</a:t>
            </a:r>
          </a:p>
          <a:p>
            <a:r>
              <a:t>Check an Easy Area and perimeter example in Numeracy Hub after the paper attempt.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9B-Q2</a:t>
            </a:r>
          </a:p>
          <a:p>
            <a:r>
              <a:t>Exact question: A steel band goes once around a tank 1,850 mm in diameter, with 150 mm extra for the overlap. Find the band length to the nearest millimetre.</a:t>
            </a:r>
          </a:p>
          <a:p>
            <a:r>
              <a:t>Instructor answer: 5,962 mm</a:t>
            </a:r>
          </a:p>
          <a:p>
            <a:r>
              <a:t>Working: π × 1,850 + 150 = 5,961.95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9C-Q3</a:t>
            </a:r>
          </a:p>
          <a:p>
            <a:r>
              <a:t>Exact question: Unfold it. Find the stretch-out marked ?.</a:t>
            </a:r>
          </a:p>
          <a:p>
            <a:r>
              <a:t>Instructor answer: π × 500 = 1,570.80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9A-Q11</a:t>
            </a:r>
          </a:p>
          <a:p>
            <a:r>
              <a:t>Exact question: D = 380 mm. Find C to two decimal places.</a:t>
            </a:r>
          </a:p>
          <a:p>
            <a:r>
              <a:t>Instructor answer: 1,193.81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9A-Q15</a:t>
            </a:r>
          </a:p>
          <a:p>
            <a:r>
              <a:t>Exact question: Find the length of a 45° arc of a circle with D = 800 mm. Round to two decimal places.</a:t>
            </a:r>
          </a:p>
          <a:p>
            <a:r>
              <a:t>Instructor answer: 314.16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W05-L07 | 2026-11-27 | 10:30 AM–12:00 PM | 90 minutes</a:t>
            </a:r>
          </a:p>
          <a:p>
            <a:r>
              <a:t>Circumference, arcs and perimeter consolidation</a:t>
            </a:r>
          </a:p>
          <a:p>
            <a:r>
              <a:t>Mode: Math</a:t>
            </a:r>
          </a:p>
          <a:p>
            <a:r>
              <a:t>Goal: Find circumference or an arc length and combine curved and straight boundary segments.</a:t>
            </a:r>
          </a:p>
          <a:p>
            <a:r>
              <a:t>Read: Textbook sections 9.2–9.6 pp.141–148</a:t>
            </a:r>
          </a:p>
          <a:p>
            <a:r>
              <a:t>Practise: Exercise Book 9A Q9–17 (p.58), selected; 9B Q2,8 (p.59); 9C Q3–5 (pp.61–62)</a:t>
            </a:r>
          </a:p>
          <a:p>
            <a:r>
              <a:t>Tool: Shape Canvas: circle, change radius and compare circumference. Numeracy Hub: Volume and Layout, then Area and perimeter; use Easy examples first.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Connect circumference, arcs and perimeter consolidation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label r and D on a circle and explain their relationship.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 = πD, then the fraction of a full circumference for an arc. Use the π key and round at the final step.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9A Q11–13,15 together; sketch each circle or arc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Exercise Book 9B Q2,8 and 9C Q3–5. Use extra time to compare two methods and correct radius/diameter errors. Tool answers stay hidden until a paper attempt.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9A Q11 and Q15; label diameter and identify the arc fraction.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9A Q11 = 1,193.81 mm; Q15 = 314.16 mm. Answer Key p.26. Answer Key pp.25–26</a:t>
            </a:r>
          </a:p>
          <a:p/>
          <a:p>
            <a:r>
              <a:t>Next week distinguish perimeter from square-unit area before using material coverage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11:55 AM–12:00 PM. All slides with this phase share these 5 minutes; do not restart the time allocation for each slide.</a:t>
            </a:r>
          </a:p>
          <a:p/>
          <a:p>
            <a:r>
              <a:t>Next scheduled learning: Next week distinguish perimeter from square-unit area before using material coverage calculations.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5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6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2" TargetMode="External"/><Relationship Id="rId6" Type="http://schemas.openxmlformats.org/officeDocument/2006/relationships/hyperlink" Target="../../../books/ACCESS-Trades-Numeracy-Exercise-Book.pdf#page=5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6" TargetMode="External"/><Relationship Id="rId6" Type="http://schemas.openxmlformats.org/officeDocument/2006/relationships/hyperlink" Target="../../../books/ACCESS-Trades-Numeracy-Exercise-Book.pdf#page=5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1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1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1" TargetMode="External"/><Relationship Id="rId6" Type="http://schemas.openxmlformats.org/officeDocument/2006/relationships/hyperlink" Target="../../../books/ACCESS-Trades-Numeracy-Exercise-Book.pdf#page=5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1" TargetMode="External"/><Relationship Id="rId6" Type="http://schemas.openxmlformats.org/officeDocument/2006/relationships/hyperlink" Target="../../../books/ACCESS-Trades-Numeracy-Exercise-Book.pdf#page=5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1" TargetMode="External"/><Relationship Id="rId6" Type="http://schemas.openxmlformats.org/officeDocument/2006/relationships/hyperlink" Target="../../../books/ACCESS-Trades-Numeracy-Exercise-Book.pdf#page=6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1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141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141" TargetMode="External"/><Relationship Id="rId5" Type="http://schemas.openxmlformats.org/officeDocument/2006/relationships/hyperlink" Target="../../../books/ACCESS-Trades-Numeracy-Exercise-Book.pdf#page=5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17  |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27,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Perimeter, frame lengths and material totals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9:00 AM–10:15 AM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Circumference, arcs and perimeter consolidation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10:30 AM–12:00 PM  •  Math  •  90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5  •  2 scheduled blocks  •  165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17  •  2026-11-27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17  /  WEEK 5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9:00 AM–10:15 AM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Perimeter, frame lengths and material totals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9:00 AM–9:05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9:05 AM–9:10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9:10 AM–9:25 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9:25 AM–9:40 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9:40 AM–10:00 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10:00 AM–10:10 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10:10 AM–10:15 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5, Lesson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10:30 AM–12:00 PM  •  90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Circumference, arcs and perimeter consolidation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10:30 AM–10:35 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10:35 AM–10:40 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10:40 AM–10:55 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10:55 AM–11:10 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11:10 AM–11:45 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11:45 AM–11:55 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11:55 AM–12:00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5, Lesson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10:15 AM–10:30 AM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START  •  9:00 AM–9:05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Perimeter, frame lengths and material totals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Calculate a straight-sided perimeter and identify missing dimensions without counting internal lines.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9A Q1–8 (p.57); 9B Q1 (p.59); 9C Q1–2 (p.61)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RECALL  •  9:05 AM–9:10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Try to trace the outside of a sketch; contrast perimeter with area.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Q1–8 (p.57); 9B Q1 (p.59); 9C Q1–2 (p.61)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Trace the outside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Perimeter is the total length around the outside of a shape.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Mark each boundary segment once before adding lengths.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An internal line or dashed height is not part of the boundary.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one length unit throughout and report a linear unit.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Find missing sides before adding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a rectangle, opposite sides match.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P = 2(l + w) or add all four sides as a 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Convert mixed feet and inches to one unit before calculating.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other shapes, use only side relationships supported by the drawing.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W05-L06  •  TEACH  •  9:10 AM–9:25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the boundary before calculating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47724" y="2286000"/>
            <a:ext cx="3238419" cy="1809750"/>
          </a:xfrm>
          <a:prstGeom prst="rect">
            <a:avLst/>
          </a:prstGeom>
          <a:solidFill>
            <a:srgbClr val="F6F6F6"/>
          </a:solidFill>
          <a:ln w="47625">
            <a:solidFill>
              <a:srgbClr val="C6001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1523962" y="1809750"/>
            <a:ext cx="295267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ft 6 in = 30 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1886" y="2905125"/>
            <a:ext cx="190495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ft 9 in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21 in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7829" y="1952625"/>
            <a:ext cx="4476638" cy="1119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2(30 + 21)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102 in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8 ft 6 in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857829" y="3476625"/>
            <a:ext cx="4476638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by adding: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+ 21 + 30 + 21 = 102 in.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9585" y="485775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9A Q1,6–8 and 9C Q2.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each boundary segment used. Compare addition with a formula.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Canvas: rectangle and triangle; distinguish edges from height lines.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Textbook p.140 • Exercise Book 9B Q1 p.59 • Diagram is schematic; read labels, not screen size</a:t>
            </a:r>
            <a:endParaRPr lang="en-US" sz="1050" dirty="0"/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07</a:t>
            </a:r>
          </a:p>
        </p:txBody>
      </p:sp>
    </p:spTree>
    <p:extLst>
      <p:ext uri="{BB962C8B-B14F-4D97-AF65-F5344CB8AC3E}">
        <p14:creationId xmlns:p14="http://schemas.microsoft.com/office/powerpoint/2010/main" val="402055960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pic>
        <p:nvPicPr>
          <p:cNvPr id="5" name="Picture 4" descr="W05-L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88870"/>
            <a:ext cx="10698480" cy="2674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p.140 • Perimeter — Outside boundary and formulas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pic>
        <p:nvPicPr>
          <p:cNvPr id="5" name="Picture 4" descr="W05-L0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31173"/>
            <a:ext cx="10698480" cy="31900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p.140 • Example 9.1 — A rectangular guard frame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triangle shows a dashed height. Should it be added to the three sides for perimeter?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The height is an internal measuring line; trace and total the three outside edges.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9A Q1,6–8 and Exercise Book 9C Q2. Mark every boundary segment used.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Q1–8 (p.57); 9B Q1 (p.59); 9C Q1–2 (p.61)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9A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pic>
        <p:nvPicPr>
          <p:cNvPr id="5" name="Picture 4" descr="9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9A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pic>
        <p:nvPicPr>
          <p:cNvPr id="5" name="Picture 4" descr="9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7,100 mm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9A Q2–5, 9B Q1 and 9C Q1. Create a dimensioned frame on Shape Canvas; calculate by both addition and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Q1–8 (p.57); 9B Q1 (p.59); 9C Q1–2 (p.61)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pic>
        <p:nvPicPr>
          <p:cNvPr id="5" name="Picture 4" descr="hub-v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Shape Canvas to inspect a rectangle and triangle; trace only their outside edges.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Create the assigned frame and calculate its perimeter by addition and formula.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the method in Numeracy Hub Volume and Layout → Area and perimeter.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9A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pic>
        <p:nvPicPr>
          <p:cNvPr id="5" name="Picture 4" descr="9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9C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pic>
        <p:nvPicPr>
          <p:cNvPr id="5" name="Picture 4" descr="9C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278" y="1773936"/>
            <a:ext cx="886552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9A Q8 and 9B Q1; explain the units and show the boundary calculation.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Q1–8 (p.57); 9B Q1 (p.59); 9C Q1–2 (p.61)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9A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pic>
        <p:nvPicPr>
          <p:cNvPr id="5" name="Picture 4" descr="9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9B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pic>
        <p:nvPicPr>
          <p:cNvPr id="5" name="Picture 4" descr="9B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W05-L06  •  WRAP UP  •  10:10 AM–10:15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9.1 p.140; sections 9.6 pp.147–148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Q1–8 (p.57); 9B Q1 (p.59); 9C Q1–2 (p.61)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17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10:15 AM–10:30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Circumference, arcs and perimeter consolidation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17  •  2026-11-27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START  •  10:30 AM–10:35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Circumference, arcs and perimeter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Find circumference or an arc length and combine curved and straight boundary segments.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9A Q9–17 (p.58), selected; 9B Q2,8 (p.59); 9C Q3–5 (pp.61–62)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RECALL  •  10:35 AM–10:40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Try to label r and D on a circle and explain their relationship.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Q9–17 (p.58), selected; 9B Q2,8 (p.59); 9C Q3–5 (pp.61–62)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Distinguish radius from diameter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Radius runs from the centre to the circle; diameter runs across through the centre.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 = 2r, so C = πD and C = 2πr describe the same circumference.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the π key and retain precision until the final answer.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Circumference is a length, so it uses a linear unit.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Combine curved and straight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full circumference represents 360°.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Arc length = angle/360 × full circumference.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Add the straight boundary segments shown in the problem.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Draw the complete boundary first so no required edge is omitted or counted twice.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W05-L07  •  TEACH  •  10:40 AM–10:55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arc is not always the whole perimeter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example • A circle has diameter 200 mm.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= π × 200 ≈ 628.32 mm.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2714625"/>
            <a:ext cx="10972526" cy="1119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90° arc = ¼ × 200π ≈ 157.08 mm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Semicircular arc = ½ × 200π ≈ 314.16 mm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Semicircle perimeter = 100π + 200 ≈ 514.16 mm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09585" y="41910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difference? The semicircle’s complete boundary includes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diameter. The curved arc alone does not.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51911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Work 9A Q11–13,15. Sketch before calculating.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Canvas: change a circle’s radius and predict its circumference.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example, not a reproduction of an unseen book question • Numeracy Hub: Area and perimeter, Easy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28</a:t>
            </a:r>
          </a:p>
        </p:txBody>
      </p:sp>
    </p:spTree>
    <p:extLst>
      <p:ext uri="{BB962C8B-B14F-4D97-AF65-F5344CB8AC3E}">
        <p14:creationId xmlns:p14="http://schemas.microsoft.com/office/powerpoint/2010/main" val="638611346"/>
      </p:ext>
    </p:extLst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pic>
        <p:nvPicPr>
          <p:cNvPr id="5" name="Picture 4" descr="W05-L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62005"/>
            <a:ext cx="10698480" cy="3928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p.142 • Figure 9.1 — Radius, diameter and circumference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pic>
        <p:nvPicPr>
          <p:cNvPr id="5" name="Picture 4" descr="W05-L07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45834"/>
            <a:ext cx="10698480" cy="25606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p.146 • Example 9.9 — A curved handrail as a fraction of a circumference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semicircle’s perimeter is entered as half its circumference. What boundary is missing?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The straight diameter must also be included when the full semicircular boundary is required.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9A Q11–13,15 together; sketch each circle or arc before calculating.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Q9–17 (p.58), selected; 9B Q2,8 (p.59); 9C Q3–5 (pp.61–62)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9A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pic>
        <p:nvPicPr>
          <p:cNvPr id="5" name="Picture 4" descr="9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9A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pic>
        <p:nvPicPr>
          <p:cNvPr id="5" name="Picture 4" descr="9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1,193.81 mm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9B Q2,8 and 9C Q3–5. Use extra time to compare two methods and correct radius/diameter errors. Tool answers stay hidden until a paper attempt.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Q9–17 (p.58), selected; 9B Q2,8 (p.59); 9C Q3–5 (pp.61–62)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pic>
        <p:nvPicPr>
          <p:cNvPr id="5" name="Picture 4" descr="hub-v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 Shape Canvas, change a circle’s radius and predict how its circumference changes.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Sketch and calculate the assigned circle or arc on paper with r and D labelled.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an Easy Area and perimeter example in Numeracy Hub after the paper attempt.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9B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pic>
        <p:nvPicPr>
          <p:cNvPr id="5" name="Picture 4" descr="9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9C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pic>
        <p:nvPicPr>
          <p:cNvPr id="5" name="Picture 4" descr="9C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278" y="1773936"/>
            <a:ext cx="886552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9A Q11 and Q15; label diameter and identify the arc fraction.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Q9–17 (p.58), selected; 9B Q2,8 (p.59); 9C Q3–5 (pp.61–62)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9A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pic>
        <p:nvPicPr>
          <p:cNvPr id="5" name="Picture 4" descr="9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9A Q15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pic>
        <p:nvPicPr>
          <p:cNvPr id="5" name="Picture 4" descr="9A-Q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W05-L07  •  WRAP UP  •  11:55 AM–12:00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9.2–9.6 pp.141–148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Q9–17 (p.58), selected; 9B Q2,8 (p.59); 9C Q3–5 (pp.61–62)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17  •  2026-11-27  • 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43</Slides>
  <Notes>43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17 | 2026-11-27</dc:title>
  <dc:creator>ACCESS Trades</dc:creator>
  <dc:subject>Perimeter, frame lengths and material totals; Circumference, arcs and perimeter consolidation</dc:subject>
</cp:coreProperties>
</file>