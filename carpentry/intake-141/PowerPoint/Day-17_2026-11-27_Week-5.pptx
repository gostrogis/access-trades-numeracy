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3.xml" ContentType="application/vnd.openxmlformats-officedocument.presentationml.notesSlide+xml"/>
  <Override PartName="/ppt/notesSlides/notesSlide10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1" r:id="rId10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74" r:id="rId10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4" Type="http://schemas.openxmlformats.org/officeDocument/2006/relationships/slide" Target="slides/slide7.xml"/><Relationship Id="rId10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Worked teaching example retained from original slide 103.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Worked teaching example retained from original slide 106.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Schedule'!F46 | 'Math Week 5'!A110</a:t>
            </a:r>
          </a:p>
          <a:p>
            <a:r>
              <a:t>'Carpentry Schedule'!F48 | 'Math Week 5'!A127</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Start, 9:00 AM–9:05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Recall, 9:05 AM–9:10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Textbook sections 9.1 p.140; sections 9.6 pp.147–148</a:t>
            </a:r>
          </a:p>
          <a:p>
            <a:r>
              <a:t>'Math Week 5'!B114</a:t>
            </a:r>
          </a:p>
          <a:p>
            <a:r>
              <a:t>'Math Week 5'!A118:F118</a:t>
            </a:r>
          </a:p>
          <a:p>
            <a:r>
              <a:t>ACCESS CARPENTRY SLIDES.pptx slides 102, 103, 104</a:t>
            </a:r>
          </a:p>
          <a:p>
            <a:r>
              <a:t>ACCESS Trades Numeracy Textbook p.140 — Example 9.1 — A rectangular guard frame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Teaching content sources:</a:t>
            </a:r>
          </a:p>
          <a:p>
            <a:r>
              <a:t>Textbook sections 9.1 p.140; sections 9.6 pp.147–148</a:t>
            </a:r>
          </a:p>
          <a:p>
            <a:r>
              <a:t>'Math Week 5'!B114</a:t>
            </a:r>
          </a:p>
          <a:p>
            <a:r>
              <a:t>'Math Week 5'!A118:F118</a:t>
            </a:r>
          </a:p>
          <a:p>
            <a:r>
              <a:t>ACCESS CARPENTRY SLIDES.pptx slides 102, 103, 104</a:t>
            </a:r>
          </a:p>
          <a:p>
            <a:r>
              <a:t>ACCESS Trades Numeracy Textbook p.140 — Example 9.1 — A rectangular guard frame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ACCESS Textbook p.140 • Perimeter — Outside boundary and formulas</a:t>
            </a:r>
          </a:p>
          <a:p>
            <a:r>
              <a:t>Exact PDF/printed page: 140. Excerpt reproduced from the supplied ACCESS Textbook.</a:t>
            </a:r>
          </a:p>
          <a:p>
            <a:r>
              <a:t>Trace all four outside edges, then connect the drawing to twice length plus width.</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Teach, 9:10 AM–9:25 AM. All slides with this phase share these 15 minutes; do not restart the time allocation for each slide.</a:t>
            </a:r>
          </a:p>
          <a:p/>
          <a:p>
            <a:r>
              <a:t>Textbook visual: ACCESS Textbook p.140 • Example 9.1 — A rectangular guard frame</a:t>
            </a:r>
          </a:p>
          <a:p>
            <a:r>
              <a:t>Exact PDF/printed page: 140. Excerpt reproduced from the supplied ACCESS Textbook.</a:t>
            </a:r>
          </a:p>
          <a:p>
            <a:r>
              <a:t>Trace all four outside edges, then connect the drawing to twice length plus width.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Teach, 9:10 AM–9:25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Together, 9:25 AM–9:40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9A-Q1</a:t>
            </a:r>
          </a:p>
          <a:p>
            <a:r>
              <a:t>Exact question: Find the perimeter of a rectangle 2,400 mm by 1,150 mm.</a:t>
            </a:r>
          </a:p>
          <a:p>
            <a:r>
              <a:t>Instructor answer: 7,100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Together, 9:25 AM–9:40 AM. All slides with this phase share these 15 minutes; do not restart the time allocation for each slide.</a:t>
            </a:r>
          </a:p>
          <a:p/>
          <a:p>
            <a:r>
              <a:t>ACCESS EXERCISE BOOK: 9A-Q1</a:t>
            </a:r>
          </a:p>
          <a:p>
            <a:r>
              <a:t>Exact question: Find the perimeter of a rectangle 2,400 mm by 1,150 mm.</a:t>
            </a:r>
          </a:p>
          <a:p>
            <a:r>
              <a:t>Instructor answer: 7,100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Practise, 9:40 AM–10:00 AM.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Exact scheduled tool activity: Shape Canvas: rectangle and triangle; distinguish outside boundary from height lines. Numeracy Hub: Volume and Layout, then Module 2 Area and perimeter.</a:t>
            </a:r>
          </a:p>
          <a:p>
            <a:r>
              <a:t>Use Shape Canvas to inspect a rectangle and triangle; trace only their outside edges.</a:t>
            </a:r>
          </a:p>
          <a:p>
            <a:r>
              <a:t>Create the assigned frame and calculate its perimeter by addition and formula.</a:t>
            </a:r>
          </a:p>
          <a:p>
            <a:r>
              <a:t>Check the method in Numeracy Hub Volume and Layout → Area and perimeter.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9A-Q2</a:t>
            </a:r>
          </a:p>
          <a:p>
            <a:r>
              <a:t>Exact question: Find the perimeter of a square with sides of 75 cm.</a:t>
            </a:r>
          </a:p>
          <a:p>
            <a:r>
              <a:t>Instructor answer: 300 cm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Practise, 9:40 AM–10:00 AM. All slides with this phase share these 20 minutes; do not restart the time allocation for each slide.</a:t>
            </a:r>
          </a:p>
          <a:p/>
          <a:p>
            <a:r>
              <a:t>ACCESS EXERCISE BOOK: 9C-Q1</a:t>
            </a:r>
          </a:p>
          <a:p>
            <a:r>
              <a:t>Exact question: The perimeter is 5,600 mm. Find the length.</a:t>
            </a:r>
          </a:p>
          <a:p>
            <a:r>
              <a:t>Instructor answer: 1,900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Check, 10:00 AM–10:10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9A-Q8</a:t>
            </a:r>
          </a:p>
          <a:p>
            <a:r>
              <a:t>Exact question: A rectangle has a perimeter of 3,800 mm and a length of 1,200 mm. Find the width.</a:t>
            </a:r>
          </a:p>
          <a:p>
            <a:r>
              <a:t>Instructor answer: 700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Check, 10:00 AM–10:10 AM. All slides with this phase share these 10 minutes; do not restart the time allocation for each slide.</a:t>
            </a:r>
          </a:p>
          <a:p/>
          <a:p>
            <a:r>
              <a:t>ACCESS EXERCISE BOOK: 9B-Q1</a:t>
            </a:r>
          </a:p>
          <a:p>
            <a:r>
              <a:t>Exact question: A frame of angle iron is 2 ft 6 in by 1 ft 9 in. How much angle iron goes around it? Give feet and inches.</a:t>
            </a:r>
          </a:p>
          <a:p>
            <a:r>
              <a:t>Instructor answer: 2 × (30 + 21) = 102 in = 8′ 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W05-L06 | 2026-11-27 | 9:00 AM–10:15 AM | 75 minutes</a:t>
            </a:r>
          </a:p>
          <a:p>
            <a:r>
              <a:t>Perimeter, frame lengths and material totals</a:t>
            </a:r>
          </a:p>
          <a:p>
            <a:r>
              <a:t>Mode: Math</a:t>
            </a:r>
          </a:p>
          <a:p>
            <a:r>
              <a:t>Goal: Calculate a straight-sided perimeter and identify missing dimensions without counting internal lines.</a:t>
            </a:r>
          </a:p>
          <a:p>
            <a:r>
              <a:t>Read: Textbook sections 9.1 p.140; sections 9.6 pp.147–148</a:t>
            </a:r>
          </a:p>
          <a:p>
            <a:r>
              <a:t>Practise: Exercise Book 9A Q1–8 (p.57); 9B Q1 (p.59); 9C Q1–2 (p.61)</a:t>
            </a:r>
          </a:p>
          <a:p>
            <a:r>
              <a:t>Tool: Shape Canvas: rectangle and triangle; distinguish outside boundary from height lines. Numeracy Hub: Volume and Layout, then Module 2 Area and perimeter.</a:t>
            </a:r>
          </a:p>
          <a:p/>
          <a:p>
            <a:r>
              <a:t>EXACT SCHEDULED STEPS</a:t>
            </a:r>
          </a:p>
          <a:p>
            <a:r>
              <a:t>9:00 AM–9:05 AM | 1 Start | 5 min</a:t>
            </a:r>
          </a:p>
          <a:p>
            <a:r>
              <a:t>Instructor: Connect perimeter, frame lengths and material totals to a dimensioned carpentry drawing. State the objective.</a:t>
            </a:r>
          </a:p>
          <a:p>
            <a:r>
              <a:t>Learners: Describe a prior use of the skill; identify the given and unknown quantities.</a:t>
            </a:r>
          </a:p>
          <a:p>
            <a:r>
              <a:t>Materials/check: Notebook; calculator</a:t>
            </a:r>
          </a:p>
          <a:p>
            <a:r>
              <a:t>Source: 'Math Week 5'!A116:F116</a:t>
            </a:r>
          </a:p>
          <a:p/>
          <a:p>
            <a:r>
              <a:t>9:05 AM–9:10 AM | 2 Recall | 5 min</a:t>
            </a:r>
          </a:p>
          <a:p>
            <a:r>
              <a:t>Instructor: Ask learners to trace the outside of a sketch; contrast perimeter with area.</a:t>
            </a:r>
          </a:p>
          <a:p>
            <a:r>
              <a:t>Learners: Attempt the retrieval task independently; explain the method before checking.</a:t>
            </a:r>
          </a:p>
          <a:p>
            <a:r>
              <a:t>Materials/check: Identify support needs</a:t>
            </a:r>
          </a:p>
          <a:p>
            <a:r>
              <a:t>Source: 'Math Week 5'!A117:F117</a:t>
            </a:r>
          </a:p>
          <a:p/>
          <a:p>
            <a:r>
              <a:t>9:10 AM–9:25 AM | 3 Teach | 15 min</a:t>
            </a:r>
          </a:p>
          <a:p>
            <a:r>
              <a:t>Instructor: Model a rectangle’s boundary and conversion of mixed feet/inches. Demonstrate why a dashed height is not an edge.</a:t>
            </a:r>
          </a:p>
          <a:p>
            <a:r>
              <a:t>Learners: Annotate the example and predict the next step; ask about unclear units or symbols.</a:t>
            </a:r>
          </a:p>
          <a:p>
            <a:r>
              <a:t>Materials/check: Textbook; worked example</a:t>
            </a:r>
          </a:p>
          <a:p>
            <a:r>
              <a:t>Source: 'Math Week 5'!A118:F118</a:t>
            </a:r>
          </a:p>
          <a:p/>
          <a:p>
            <a:r>
              <a:t>9:25 AM–9:40 AM | 4 Together | 15 min</a:t>
            </a:r>
          </a:p>
          <a:p>
            <a:r>
              <a:t>Instructor: Work Exercise Book 9A Q1,6–8 and Exercise Book 9C Q2. Learners mark every boundary segment used.</a:t>
            </a:r>
          </a:p>
          <a:p>
            <a:r>
              <a:t>Learners: Work in pairs, alternating solver and checker. Write a diagram, formula, units and estimate.</a:t>
            </a:r>
          </a:p>
          <a:p>
            <a:r>
              <a:t>Materials/check: Exercise Book; tool above</a:t>
            </a:r>
          </a:p>
          <a:p>
            <a:r>
              <a:t>Source: 'Math Week 5'!A119:F119</a:t>
            </a:r>
          </a:p>
          <a:p/>
          <a:p>
            <a:r>
              <a:t>9:40 AM–10:00 AM | 5 Practise | 20 min</a:t>
            </a:r>
          </a:p>
          <a:p>
            <a:r>
              <a:t>Instructor: Complete Exercise Book 9A Q2–5, 9B Q1 and 9C Q1. Create a dimensioned frame on Shape Canvas; calculate by both addition and formula.</a:t>
            </a:r>
          </a:p>
          <a:p>
            <a:r>
              <a:t>Learners: Solve on paper first; check with tools; correct one error and explain the change.</a:t>
            </a:r>
          </a:p>
          <a:p>
            <a:r>
              <a:t>Materials/check: Paper first; tool second</a:t>
            </a:r>
          </a:p>
          <a:p>
            <a:r>
              <a:t>Source: 'Math Week 5'!A120:F120</a:t>
            </a:r>
          </a:p>
          <a:p/>
          <a:p>
            <a:r>
              <a:t>10:00 AM–10:10 AM | 6 Check | 10 min</a:t>
            </a:r>
          </a:p>
          <a:p>
            <a:r>
              <a:t>Instructor: Exercise Book 9A Q8 and 9B Q1; explain the units and show the boundary calculation.</a:t>
            </a:r>
          </a:p>
          <a:p>
            <a:r>
              <a:t>Learners: Solve without displayed answers; include working, units and final rounding.</a:t>
            </a:r>
          </a:p>
          <a:p>
            <a:r>
              <a:t>Materials/check: Teacher answers below</a:t>
            </a:r>
          </a:p>
          <a:p>
            <a:r>
              <a:t>Source: 'Math Week 5'!A121:F121</a:t>
            </a:r>
          </a:p>
          <a:p/>
          <a:p>
            <a:r>
              <a:t>10:10 AM–10:15 AM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5'!A122:F122</a:t>
            </a:r>
          </a:p>
          <a:p/>
          <a:p>
            <a:r>
              <a:t>INSTRUCTOR ONLY: REVEAL ASSESSMENT ANSWERS AFTER THE ATTEMPT</a:t>
            </a:r>
          </a:p>
          <a:p>
            <a:r>
              <a:t>9A Q8 = 700 mm; 9B Q1 = 8 ft 6 in. Answer Key p.26. Answer Key pp.25–26</a:t>
            </a:r>
          </a:p>
          <a:p/>
          <a:p>
            <a:r>
              <a:t>Transfer boundary reasoning to circles; distinguish diameter from radius.</a:t>
            </a:r>
          </a:p>
          <a:p/>
          <a:p>
            <a:r>
              <a:t>Sources: 'Math Week 5'!A15:E15; 'Carpentry Schedule'!F46; 'Math Week 5'!A110</a:t>
            </a:r>
          </a:p>
          <a:p>
            <a:r>
              <a:t>Navigation/resource slides support these scheduled steps and do not add instructional time.</a:t>
            </a:r>
          </a:p>
          <a:p>
            <a:r>
              <a:t>SLIDE PLACEMENT: Wrap up, 10:10 AM–10:15 AM. All slides with this phase share these 5 minutes; do not restart the time allocation for each slide.</a:t>
            </a:r>
          </a:p>
          <a:p/>
          <a:p>
            <a:r>
              <a:t>Next scheduled learning: Transfer boundary reasoning to circles; distinguish diameter from radius.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10:30 AM.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Start, 10:30 AM–10:35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Recall, 10:35 AM–10:40 AM.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Textbook sections 9.2–9.6 pp.141–148</a:t>
            </a:r>
          </a:p>
          <a:p>
            <a:r>
              <a:t>'Math Week 5'!B131</a:t>
            </a:r>
          </a:p>
          <a:p>
            <a:r>
              <a:t>'Math Week 5'!A135:F135</a:t>
            </a:r>
          </a:p>
          <a:p>
            <a:r>
              <a:t>ACCESS CARPENTRY SLIDES.pptx slides 105, 106, 107</a:t>
            </a:r>
          </a:p>
          <a:p>
            <a:r>
              <a:t>ACCESS Trades Numeracy Textbook p.146 — Figure 9.3 and Example 9.9 — A curved handrail</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Teaching content sources:</a:t>
            </a:r>
          </a:p>
          <a:p>
            <a:r>
              <a:t>Textbook sections 9.2–9.6 pp.141–148</a:t>
            </a:r>
          </a:p>
          <a:p>
            <a:r>
              <a:t>'Math Week 5'!B131</a:t>
            </a:r>
          </a:p>
          <a:p>
            <a:r>
              <a:t>'Math Week 5'!A135:F135</a:t>
            </a:r>
          </a:p>
          <a:p>
            <a:r>
              <a:t>ACCESS CARPENTRY SLIDES.pptx slides 105, 106, 107</a:t>
            </a:r>
          </a:p>
          <a:p>
            <a:r>
              <a:t>ACCESS Trades Numeracy Textbook p.146 — Figure 9.3 and Example 9.9 — A curved handrail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ACCESS Textbook p.142 • Figure 9.1 — Radius, diameter and circumference</a:t>
            </a:r>
          </a:p>
          <a:p>
            <a:r>
              <a:t>Exact PDF/printed page: 142. Excerpt reproduced from the supplied ACCESS Textbook.</a:t>
            </a:r>
          </a:p>
          <a:p>
            <a:r>
              <a:t>Identify the radius, diameter and fraction of a full circumference used for the arc.</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Textbook visual: ACCESS Textbook p.146 • Example 9.9 — A curved handrail as a fraction of a circumference</a:t>
            </a:r>
          </a:p>
          <a:p>
            <a:r>
              <a:t>Exact PDF/printed page: 146. Excerpt reproduced from the supplied ACCESS Textbook.</a:t>
            </a:r>
          </a:p>
          <a:p>
            <a:r>
              <a:t>Identify the radius, diameter and fraction of a full circumference used for the arc.</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Teach, 10:40 AM–10:55 AM.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Together, 10:55 AM–11:10 AM.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9A-Q11</a:t>
            </a:r>
          </a:p>
          <a:p>
            <a:r>
              <a:t>Exact question: D = 380 mm. Find C to two decimal places.</a:t>
            </a:r>
          </a:p>
          <a:p>
            <a:r>
              <a:t>Instructor answer: 1,193.81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Together, 10:55 AM–11:10 AM. All slides with this phase share these 15 minutes; do not restart the time allocation for each slide.</a:t>
            </a:r>
          </a:p>
          <a:p/>
          <a:p>
            <a:r>
              <a:t>ACCESS EXERCISE BOOK: 9A-Q11</a:t>
            </a:r>
          </a:p>
          <a:p>
            <a:r>
              <a:t>Exact question: D = 380 mm. Find C to two decimal places.</a:t>
            </a:r>
          </a:p>
          <a:p>
            <a:r>
              <a:t>Instructor answer: 1,193.81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Practise, 11:10 AM–11:45 AM. All slides with this phase share these 35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Exact scheduled tool activity: Shape Canvas: circle, change radius and compare circumference. Numeracy Hub: Volume and Layout, then Area and perimeter; use Easy examples first.</a:t>
            </a:r>
          </a:p>
          <a:p>
            <a:r>
              <a:t>In Shape Canvas, change a circle’s radius and predict how its circumference changes.</a:t>
            </a:r>
          </a:p>
          <a:p>
            <a:r>
              <a:t>Sketch and calculate the assigned circle or arc on paper with r and D labelled.</a:t>
            </a:r>
          </a:p>
          <a:p>
            <a:r>
              <a:t>Check an Easy Area and perimeter example in Numeracy Hub after the paper attempt.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9B-Q2</a:t>
            </a:r>
          </a:p>
          <a:p>
            <a:r>
              <a:t>Exact question: A steel band goes once around a tank 1,850 mm in diameter, with 150 mm extra for the overlap. Find the band length to the nearest millimetre.</a:t>
            </a:r>
          </a:p>
          <a:p>
            <a:r>
              <a:t>Instructor answer: 5,962 mm</a:t>
            </a:r>
          </a:p>
          <a:p>
            <a:r>
              <a:t>Working: π × 1,850 + 150 = 5,961.95</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Practise, 11:10 AM–11:45 AM. All slides with this phase share these 35 minutes; do not restart the time allocation for each slide.</a:t>
            </a:r>
          </a:p>
          <a:p/>
          <a:p>
            <a:r>
              <a:t>ACCESS EXERCISE BOOK: 9C-Q3</a:t>
            </a:r>
          </a:p>
          <a:p>
            <a:r>
              <a:t>Exact question: Unfold it. Find the stretch-out marked ?.</a:t>
            </a:r>
          </a:p>
          <a:p>
            <a:r>
              <a:t>Instructor answer: π × 500 = 1,570.80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Check, 11:45 AM–11:55 AM.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9A-Q11</a:t>
            </a:r>
          </a:p>
          <a:p>
            <a:r>
              <a:t>Exact question: D = 380 mm. Find C to two decimal places.</a:t>
            </a:r>
          </a:p>
          <a:p>
            <a:r>
              <a:t>Instructor answer: 1,193.81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Check, 11:45 AM–11:55 AM. All slides with this phase share these 10 minutes; do not restart the time allocation for each slide.</a:t>
            </a:r>
          </a:p>
          <a:p/>
          <a:p>
            <a:r>
              <a:t>ACCESS EXERCISE BOOK: 9A-Q15</a:t>
            </a:r>
          </a:p>
          <a:p>
            <a:r>
              <a:t>Exact question: Find the length of a 45° arc of a circle with D = 800 mm. Round to two decimal places.</a:t>
            </a:r>
          </a:p>
          <a:p>
            <a:r>
              <a:t>Instructor answer: 314.16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W05-L07 | 2026-11-27 | 10:30 AM–12:00 PM | 90 minutes</a:t>
            </a:r>
          </a:p>
          <a:p>
            <a:r>
              <a:t>Circumference, arcs and perimeter consolidation</a:t>
            </a:r>
          </a:p>
          <a:p>
            <a:r>
              <a:t>Mode: Math</a:t>
            </a:r>
          </a:p>
          <a:p>
            <a:r>
              <a:t>Goal: Find circumference or an arc length and combine curved and straight boundary segments.</a:t>
            </a:r>
          </a:p>
          <a:p>
            <a:r>
              <a:t>Read: Textbook sections 9.2–9.6 pp.141–148</a:t>
            </a:r>
          </a:p>
          <a:p>
            <a:r>
              <a:t>Practise: Exercise Book 9A Q9–17 (p.58), selected; 9B Q2,8 (p.59); 9C Q3–5 (pp.61–62)</a:t>
            </a:r>
          </a:p>
          <a:p>
            <a:r>
              <a:t>Tool: Shape Canvas: circle, change radius and compare circumference. Numeracy Hub: Volume and Layout, then Area and perimeter; use Easy examples first.</a:t>
            </a:r>
          </a:p>
          <a:p/>
          <a:p>
            <a:r>
              <a:t>EXACT SCHEDULED STEPS</a:t>
            </a:r>
          </a:p>
          <a:p>
            <a:r>
              <a:t>10:30 AM–10:35 AM | 1 Start | 5 min</a:t>
            </a:r>
          </a:p>
          <a:p>
            <a:r>
              <a:t>Instructor: Connect circumference, arcs and perimeter consolidation to a dimensioned carpentry drawing. State the objective.</a:t>
            </a:r>
          </a:p>
          <a:p>
            <a:r>
              <a:t>Learners: Describe a prior use of the skill; identify the given and unknown quantities.</a:t>
            </a:r>
          </a:p>
          <a:p>
            <a:r>
              <a:t>Materials/check: Notebook; calculator</a:t>
            </a:r>
          </a:p>
          <a:p>
            <a:r>
              <a:t>Source: 'Math Week 5'!A133:F133</a:t>
            </a:r>
          </a:p>
          <a:p/>
          <a:p>
            <a:r>
              <a:t>10:35 AM–10:40 AM | 2 Recall | 5 min</a:t>
            </a:r>
          </a:p>
          <a:p>
            <a:r>
              <a:t>Instructor: Ask learners to label r and D on a circle and explain their relationship.</a:t>
            </a:r>
          </a:p>
          <a:p>
            <a:r>
              <a:t>Learners: Attempt the retrieval task independently; explain the method before checking.</a:t>
            </a:r>
          </a:p>
          <a:p>
            <a:r>
              <a:t>Materials/check: Identify support needs</a:t>
            </a:r>
          </a:p>
          <a:p>
            <a:r>
              <a:t>Source: 'Math Week 5'!A134:F134</a:t>
            </a:r>
          </a:p>
          <a:p/>
          <a:p>
            <a:r>
              <a:t>10:40 AM–10:55 AM | 3 Teach | 15 min</a:t>
            </a:r>
          </a:p>
          <a:p>
            <a:r>
              <a:t>Instructor: Model C = πD, then the fraction of a full circumference for an arc. Use the π key and round at the final step.</a:t>
            </a:r>
          </a:p>
          <a:p>
            <a:r>
              <a:t>Learners: Annotate the example and predict the next step; ask about unclear units or symbols.</a:t>
            </a:r>
          </a:p>
          <a:p>
            <a:r>
              <a:t>Materials/check: Textbook; worked example</a:t>
            </a:r>
          </a:p>
          <a:p>
            <a:r>
              <a:t>Source: 'Math Week 5'!A135:F135</a:t>
            </a:r>
          </a:p>
          <a:p/>
          <a:p>
            <a:r>
              <a:t>10:55 AM–11:10 AM | 4 Together | 15 min</a:t>
            </a:r>
          </a:p>
          <a:p>
            <a:r>
              <a:t>Instructor: Work Exercise Book 9A Q11–13,15 together; sketch each circle or arc before calculating.</a:t>
            </a:r>
          </a:p>
          <a:p>
            <a:r>
              <a:t>Learners: Work in pairs, alternating solver and checker. Write a diagram, formula, units and estimate.</a:t>
            </a:r>
          </a:p>
          <a:p>
            <a:r>
              <a:t>Materials/check: Exercise Book; tool above</a:t>
            </a:r>
          </a:p>
          <a:p>
            <a:r>
              <a:t>Source: 'Math Week 5'!A136:F136</a:t>
            </a:r>
          </a:p>
          <a:p/>
          <a:p>
            <a:r>
              <a:t>11:10 AM–11:45 AM | 5 Practise | 35 min</a:t>
            </a:r>
          </a:p>
          <a:p>
            <a:r>
              <a:t>Instructor: Solve Exercise Book 9B Q2,8 and 9C Q3–5. Use extra time to compare two methods and correct radius/diameter errors. Tool answers stay hidden until a paper attempt.</a:t>
            </a:r>
          </a:p>
          <a:p>
            <a:r>
              <a:t>Learners: Solve on paper first; check with tools; correct one error and explain the change.</a:t>
            </a:r>
          </a:p>
          <a:p>
            <a:r>
              <a:t>Materials/check: Paper first; tool second</a:t>
            </a:r>
          </a:p>
          <a:p>
            <a:r>
              <a:t>Source: 'Math Week 5'!A137:F137</a:t>
            </a:r>
          </a:p>
          <a:p/>
          <a:p>
            <a:r>
              <a:t>11:45 AM–11:55 AM | 6 Check | 10 min</a:t>
            </a:r>
          </a:p>
          <a:p>
            <a:r>
              <a:t>Instructor: Exercise Book 9A Q11 and Q15; label diameter and identify the arc fraction.</a:t>
            </a:r>
          </a:p>
          <a:p>
            <a:r>
              <a:t>Learners: Solve without displayed answers; include working, units and final rounding.</a:t>
            </a:r>
          </a:p>
          <a:p>
            <a:r>
              <a:t>Materials/check: Teacher answers below</a:t>
            </a:r>
          </a:p>
          <a:p>
            <a:r>
              <a:t>Source: 'Math Week 5'!A138:F138</a:t>
            </a:r>
          </a:p>
          <a:p/>
          <a:p>
            <a:r>
              <a:t>11:55 AM–12:00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5'!A139:F139</a:t>
            </a:r>
          </a:p>
          <a:p/>
          <a:p>
            <a:r>
              <a:t>INSTRUCTOR ONLY: REVEAL ASSESSMENT ANSWERS AFTER THE ATTEMPT</a:t>
            </a:r>
          </a:p>
          <a:p>
            <a:r>
              <a:t>9A Q11 = 1,193.81 mm; Q15 = 314.16 mm. Answer Key p.26. Answer Key pp.25–26</a:t>
            </a:r>
          </a:p>
          <a:p/>
          <a:p>
            <a:r>
              <a:t>Next week distinguish perimeter from square-unit area before using material coverage calculations.</a:t>
            </a:r>
          </a:p>
          <a:p/>
          <a:p>
            <a:r>
              <a:t>Sources: 'Math Week 5'!A16:E16; 'Carpentry Schedule'!F48; 'Math Week 5'!A127</a:t>
            </a:r>
          </a:p>
          <a:p>
            <a:r>
              <a:t>Navigation/resource slides support these scheduled steps and do not add instructional time.</a:t>
            </a:r>
          </a:p>
          <a:p>
            <a:r>
              <a:t>SLIDE PLACEMENT: Wrap up, 11:55 AM–12:00 PM. All slides with this phase share these 5 minutes; do not restart the time allocation for each slide.</a:t>
            </a:r>
          </a:p>
          <a:p/>
          <a:p>
            <a:r>
              <a:t>Next scheduled learning: Next week distinguish perimeter from square-unit area before using material coverage calculations.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6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5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Resources/ACCESS-Tools/books/ACCESS-Trades-Numeracy-Textbook.pdf#page=140" TargetMode="External"/><Relationship Id="rId5" Type="http://schemas.openxmlformats.org/officeDocument/2006/relationships/hyperlink" Target="../Resources/ACCESS-Tools/books/ACCESS-Trades-Numeracy-Exercise-Book.pdf#page=57"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Resources/ACCESS-Tools/books/ACCESS-Trades-Numeracy-Textbook.pdf#page=142" TargetMode="External"/><Relationship Id="rId6" Type="http://schemas.openxmlformats.org/officeDocument/2006/relationships/hyperlink" Target="../Resources/ACCESS-Tools/books/ACCESS-Trades-Numeracy-Exercise-Book.pdf#page=5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Resources/ACCESS-Tools/books/ACCESS-Trades-Numeracy-Textbook.pdf#page=146" TargetMode="External"/><Relationship Id="rId6" Type="http://schemas.openxmlformats.org/officeDocument/2006/relationships/hyperlink" Target="../Resources/ACCESS-Tools/books/ACCESS-Trades-Numeracy-Exercise-Book.pdf#page=5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Resources/ACCESS-Tools/books/ACCESS-Trades-Numeracy-Textbook.pdf#page=141"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Resources/ACCESS-Tools/books/ACCESS-Trades-Numeracy-Textbook.pdf#page=141"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Resources/ACCESS-Tools/books/ACCESS-Trades-Numeracy-Textbook.pdf#page=141" TargetMode="External"/><Relationship Id="rId6" Type="http://schemas.openxmlformats.org/officeDocument/2006/relationships/hyperlink" Target="../Resources/ACCESS-Tools/books/ACCESS-Trades-Numeracy-Exercise-Book.pdf#page=58"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Resources/ACCESS-Tools/books/ACCESS-Trades-Numeracy-Textbook.pdf#page=141" TargetMode="External"/><Relationship Id="rId6" Type="http://schemas.openxmlformats.org/officeDocument/2006/relationships/hyperlink" Target="../Resources/ACCESS-Tools/books/ACCESS-Trades-Numeracy-Exercise-Book.pdf#page=5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Resources/ACCESS-Tools/books/ACCESS-Trades-Numeracy-Textbook.pdf#page=141" TargetMode="External"/><Relationship Id="rId6" Type="http://schemas.openxmlformats.org/officeDocument/2006/relationships/hyperlink" Target="../Resources/ACCESS-Tools/books/ACCESS-Trades-Numeracy-Exercise-Book.pdf#page=6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Resources/ACCESS-Tools/books/ACCESS-Trades-Numeracy-Textbook.pdf#page=141"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Resources/ACCESS-Tools/books/ACCESS-Trades-Numeracy-Textbook.pdf#page=141" TargetMode="External"/><Relationship Id="rId6" Type="http://schemas.openxmlformats.org/officeDocument/2006/relationships/hyperlink" Target="../Resources/ACCESS-Tools/books/ACCESS-Trades-Numeracy-Exercise-Book.pdf#page=5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hyperlink" Target="../Resources/ACCESS-Tools/books/ACCESS-Trades-Numeracy-Textbook.pdf#page=141" TargetMode="External"/><Relationship Id="rId5" Type="http://schemas.openxmlformats.org/officeDocument/2006/relationships/hyperlink" Target="../Resources/ACCESS-Tools/books/ACCESS-Trades-Numeracy-Exercise-Book.pdf#page=58"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17  |  Friday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27,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Perimeter, frame lengths and material totals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Circumference, arcs and perimeter consolidation</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5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17  •  2026-11-27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17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Perimeter, frame lengths and material totals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5, Lesson 6</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Circumference, arcs and perimeter consolidation</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5, Lesson 7</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Perimeter, frame lengths and material totals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Calculate a straight-sided perimeter and identify missing dimensions without counting internal lines.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9.1 p.140; sections 9.6 pp.147–148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9A Q1–8 (p.57); 9B Q1 (p.59); 9C Q1–2 (p.61)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Try to trace the outside of a sketch; contrast perimeter with area.</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Trace the outside boundary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Perimeter is the total length around the outside of a shape.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Mark each boundary segment once before adding lengths.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An internal line or dashed height is not part of the boundary.</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one length unit throughout and report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Find missing sides before adding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rectangle, opposite sides match.</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P = 2(l + w) or add all four sides as a check.</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mixed feet and inches to one unit before calculating.</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other shapes, use only side relationships supported by the drawing.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W05-L06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Trace the boundary before calculating</a:t>
            </a:r>
            <a:endParaRPr lang="en-US" sz="3000" dirty="0"/>
          </a:p>
        </p:txBody>
      </p:sp>
      <p:sp>
        <p:nvSpPr>
          <p:cNvPr id="5" name="Shape 3"/>
          <p:cNvSpPr/>
          <p:nvPr/>
        </p:nvSpPr>
        <p:spPr>
          <a:xfrm>
            <a:off x="1047724" y="2286000"/>
            <a:ext cx="3238419" cy="1809750"/>
          </a:xfrm>
          <a:prstGeom prst="rect">
            <a:avLst/>
          </a:prstGeom>
          <a:solidFill>
            <a:srgbClr val="F6F6F6"/>
          </a:solidFill>
          <a:ln w="47625">
            <a:solidFill>
              <a:srgbClr val="C60016"/>
            </a:solidFill>
            <a:prstDash val="solid"/>
          </a:ln>
        </p:spPr>
        <p:txBody>
          <a:bodyPr/>
          <a:lstStyle/>
          <a:p>
            <a:endParaRPr lang="en-CA"/>
          </a:p>
        </p:txBody>
      </p:sp>
      <p:sp>
        <p:nvSpPr>
          <p:cNvPr id="6" name="Text 4"/>
          <p:cNvSpPr/>
          <p:nvPr/>
        </p:nvSpPr>
        <p:spPr>
          <a:xfrm>
            <a:off x="1523962" y="1809750"/>
            <a:ext cx="2952676"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2 ft 6 in = 30 in</a:t>
            </a:r>
            <a:endParaRPr lang="en-US" sz="1800" dirty="0"/>
          </a:p>
        </p:txBody>
      </p:sp>
      <p:sp>
        <p:nvSpPr>
          <p:cNvPr id="7" name="Text 5"/>
          <p:cNvSpPr/>
          <p:nvPr/>
        </p:nvSpPr>
        <p:spPr>
          <a:xfrm>
            <a:off x="4571886" y="2905125"/>
            <a:ext cx="1904952"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1 ft 9 in</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 21 in</a:t>
            </a:r>
            <a:endParaRPr lang="en-US" sz="1800" dirty="0"/>
          </a:p>
        </p:txBody>
      </p:sp>
      <p:sp>
        <p:nvSpPr>
          <p:cNvPr id="8" name="Text 6"/>
          <p:cNvSpPr/>
          <p:nvPr/>
        </p:nvSpPr>
        <p:spPr>
          <a:xfrm>
            <a:off x="6857829" y="1952625"/>
            <a:ext cx="4476638" cy="1119783"/>
          </a:xfrm>
          <a:prstGeom prst="rect">
            <a:avLst/>
          </a:prstGeom>
          <a:noFill/>
          <a:ln/>
        </p:spPr>
        <p:txBody>
          <a:bodyPr wrap="square" lIns="0" tIns="0" rIns="0" bIns="0" rtlCol="0" anchor="t"/>
          <a:lstStyle/>
          <a:p>
            <a:pPr marL="0" indent="0" algn="l">
              <a:buNone/>
            </a:pPr>
            <a:r>
              <a:rPr lang="en-US" sz="2100" dirty="0">
                <a:solidFill>
                  <a:srgbClr val="181818"/>
                </a:solidFill>
                <a:latin typeface="Arial" pitchFamily="34" charset="0"/>
                <a:ea typeface="Arial" pitchFamily="34" charset="-122"/>
                <a:cs typeface="Arial" pitchFamily="34" charset="-120"/>
              </a:rPr>
              <a:t>P = 2(30 + 21)</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 102 in</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 8 ft 6 in</a:t>
            </a:r>
            <a:endParaRPr lang="en-US" sz="2100" dirty="0"/>
          </a:p>
        </p:txBody>
      </p:sp>
      <p:sp>
        <p:nvSpPr>
          <p:cNvPr id="9" name="Text 7"/>
          <p:cNvSpPr/>
          <p:nvPr/>
        </p:nvSpPr>
        <p:spPr>
          <a:xfrm>
            <a:off x="6857829" y="3476625"/>
            <a:ext cx="4476638"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Check by adding:</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30 + 21 + 30 + 21 = 102 in.</a:t>
            </a:r>
            <a:endParaRPr lang="en-US" sz="1800" dirty="0"/>
          </a:p>
        </p:txBody>
      </p:sp>
      <p:sp>
        <p:nvSpPr>
          <p:cNvPr id="10" name="Text 8"/>
          <p:cNvSpPr/>
          <p:nvPr/>
        </p:nvSpPr>
        <p:spPr>
          <a:xfrm>
            <a:off x="609585" y="485775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9A Q1,6–8 and 9C Q2.</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Mark each boundary segment used. Compare addition with a formula.</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Shape Canvas: rectangle and triangle; distinguish edges from height lines.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Textbook p.140 • Exercise Book 9B Q1 p.59 • Diagram is schematic; read labels, not screen size</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07</a:t>
            </a:r>
          </a:p>
        </p:txBody>
      </p:sp>
    </p:spTree>
    <p:extLst>
      <p:ext uri="{BB962C8B-B14F-4D97-AF65-F5344CB8AC3E}">
        <p14:creationId xmlns:p14="http://schemas.microsoft.com/office/powerpoint/2010/main" val="402055960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W05-L06.png"/>
          <p:cNvPicPr>
            <a:picLocks noChangeAspect="1"/>
          </p:cNvPicPr>
          <p:nvPr/>
        </p:nvPicPr>
        <p:blipFill>
          <a:blip r:embed="rId3"/>
          <a:stretch>
            <a:fillRect/>
          </a:stretch>
        </p:blipFill>
        <p:spPr>
          <a:xfrm>
            <a:off x="685800" y="2388870"/>
            <a:ext cx="10698480" cy="267462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p.140 • Perimeter — Outside boundary and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W05-L06-2.png"/>
          <p:cNvPicPr>
            <a:picLocks noChangeAspect="1"/>
          </p:cNvPicPr>
          <p:nvPr/>
        </p:nvPicPr>
        <p:blipFill>
          <a:blip r:embed="rId3"/>
          <a:stretch>
            <a:fillRect/>
          </a:stretch>
        </p:blipFill>
        <p:spPr>
          <a:xfrm>
            <a:off x="685800" y="2131173"/>
            <a:ext cx="10698480" cy="31900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p.140 • Example 9.1 — A rectangular guard frame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triangle shows a dashed height. Should it be added to the three sides for perimeter?</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The height is an internal measuring line; trace and total the three outside edges.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9A Q1,6–8 and Exercise Book 9C Q2. Mark every boundary segment used.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9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7,100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9A Q2–5, 9B Q1 and 9C Q1. Create a dimensioned frame on Shape Canvas; calculate by both addition and formula.</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Shape Canvas to inspect a rectangle and triangle; trace only their outside edges.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Create the assigned frame and calculate its perimeter by addition and formula.</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the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9A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9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9C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9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9A Q8 and 9B Q1; explain the units and show the boundary calculation.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9A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9A-Q8.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9B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pic>
        <p:nvPicPr>
          <p:cNvPr id="5" name="Picture 4" descr="9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W05-L06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9.1 p.140; sections 9.6 pp.147–148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Q1–8 (p.57); 9B Q1 (p.59); 9C Q1–2 (p.61)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17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Circumference, arcs and perimeter consolidation</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17  •  2026-11-27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Circumference, arcs and perimeter consolidation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Find circumference or an arc length and combine curved and straight boundary segments.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9.2–9.6 pp.141–148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9A Q9–17 (p.58), selected; 9B Q2,8 (p.59); 9C Q3–5 (pp.61–62)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Try to label r and D on a circle and explain their relationship.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Distinguish radius from diameter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Radius runs from the centre to the circle; diameter runs across through the centre.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 = 2r, so C = πD and C = 2πr describe the same circumference.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the π key and retain precision until the final answer.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Circumference is a length, so it uses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Combine curved and straight boundaries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full circumference represents 360°.</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Arc length = angle/360 × full circumference.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the straight boundary segments shown in the problem.</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Draw the complete boundary first so no required edge is omitted or counted twice.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W05-L07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An arc is not always the whole perimeter</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Classroom example • A circle has diameter 200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 = π × 200 ≈ 628.32 mm.</a:t>
            </a:r>
            <a:endParaRPr lang="en-US" sz="1800" dirty="0"/>
          </a:p>
        </p:txBody>
      </p:sp>
      <p:sp>
        <p:nvSpPr>
          <p:cNvPr id="6" name="Text 4"/>
          <p:cNvSpPr/>
          <p:nvPr/>
        </p:nvSpPr>
        <p:spPr>
          <a:xfrm>
            <a:off x="609585" y="2714625"/>
            <a:ext cx="10972526" cy="1119783"/>
          </a:xfrm>
          <a:prstGeom prst="rect">
            <a:avLst/>
          </a:prstGeom>
          <a:noFill/>
          <a:ln/>
        </p:spPr>
        <p:txBody>
          <a:bodyPr wrap="square" lIns="0" tIns="0" rIns="0" bIns="0" rtlCol="0" anchor="t"/>
          <a:lstStyle/>
          <a:p>
            <a:pPr marL="0" indent="0" algn="l">
              <a:buNone/>
            </a:pPr>
            <a:r>
              <a:rPr lang="en-US" sz="2100" dirty="0">
                <a:solidFill>
                  <a:srgbClr val="181818"/>
                </a:solidFill>
                <a:latin typeface="Arial" pitchFamily="34" charset="0"/>
                <a:ea typeface="Arial" pitchFamily="34" charset="-122"/>
                <a:cs typeface="Arial" pitchFamily="34" charset="-120"/>
              </a:rPr>
              <a:t>90° arc = ¼ × 200π ≈ 157.08 mm</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Semicircular arc = ½ × 200π ≈ 314.16 mm</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Semicircle perimeter = 100π + 200 ≈ 514.16 mm</a:t>
            </a:r>
            <a:endParaRPr lang="en-US" sz="2100" dirty="0"/>
          </a:p>
        </p:txBody>
      </p:sp>
      <p:sp>
        <p:nvSpPr>
          <p:cNvPr id="7" name="Text 5"/>
          <p:cNvSpPr/>
          <p:nvPr/>
        </p:nvSpPr>
        <p:spPr>
          <a:xfrm>
            <a:off x="609585" y="41910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Why the difference? The semicircle’s complete boundary includes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the diameter. The curved arc alone does not.</a:t>
            </a:r>
            <a:endParaRPr lang="en-US" sz="1800" dirty="0"/>
          </a:p>
        </p:txBody>
      </p:sp>
      <p:sp>
        <p:nvSpPr>
          <p:cNvPr id="8" name="Text 6"/>
          <p:cNvSpPr/>
          <p:nvPr/>
        </p:nvSpPr>
        <p:spPr>
          <a:xfrm>
            <a:off x="609585" y="51911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9A Q11–13,15. Sketch before calculating.</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Shape Canvas: change a circle’s radius and predict its circumference.</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Classroom example, not a reproduction of an unseen book question • Numeracy Hub: Area and perimeter, Easy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28</a:t>
            </a:r>
          </a:p>
        </p:txBody>
      </p:sp>
    </p:spTree>
    <p:extLst>
      <p:ext uri="{BB962C8B-B14F-4D97-AF65-F5344CB8AC3E}">
        <p14:creationId xmlns:p14="http://schemas.microsoft.com/office/powerpoint/2010/main" val="638611346"/>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142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W05-L07.png"/>
          <p:cNvPicPr>
            <a:picLocks noChangeAspect="1"/>
          </p:cNvPicPr>
          <p:nvPr/>
        </p:nvPicPr>
        <p:blipFill>
          <a:blip r:embed="rId3"/>
          <a:stretch>
            <a:fillRect/>
          </a:stretch>
        </p:blipFill>
        <p:spPr>
          <a:xfrm>
            <a:off x="685800" y="1762005"/>
            <a:ext cx="10698480" cy="392834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p.142 • Figure 9.1 — Radius, diameter and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146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W05-L07-2.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p.146 • Example 9.9 — A curved handrail as a fraction of a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semicircle’s perimeter is entered as half its circumference. What boundary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straight diameter must also be included when the full semicircular boundary is required.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9A Q11–13,15 together; sketch each circle or arc before calculating.</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9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9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1,193.81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Exercise Book 9B Q2,8 and 9C Q3–5. Use extra time to compare two methods and correct radius/diameter errors. Tool answers stay hidden until a paper attempt.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Shape Canvas, change a circle’s radius and predict how its circumference changes.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Sketch and calculate the assigned circle or arc on paper with r and D labelled.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an Easy Area and perimeter example in Numeracy Hub after the paper attempt.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9B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9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9C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9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9A Q11 and Q15; label diameter and identify the arc fraction.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9A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9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9A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pic>
        <p:nvPicPr>
          <p:cNvPr id="5" name="Picture 4" descr="9A-Q1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W05-L07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9.2–9.6 pp.141–148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9A Q9–17 (p.58), selected; 9B Q2,8 (p.59); 9C Q3–5 (pp.61–62)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17  •  2026-11-27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17 | 2026-11-27</dc:title>
  <dc:creator>ACCESS Trades</dc:creator>
  <cp:lastModifiedBy>Gabriel Ostrowidzki</cp:lastModifiedBy>
  <cp:revision>3</cp:revision>
  <dcterms:created xsi:type="dcterms:W3CDTF">2026-10-19T18:44:52Z</dcterms:created>
  <dcterms:modified xsi:type="dcterms:W3CDTF">2026-10-19T19:22:04Z</dcterms:modified>
  <dc:subject>Perimeter, frame lengths and material totals; Circumference, arcs and perimeter consolidation</dc:subject>
</cp:coreProperties>
</file>