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55.xml" ContentType="application/vnd.openxmlformats-officedocument.presentationml.notesSlide+xml"/>
  <Override PartName="/ppt/notesSlides/notesSlide5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23" r:id="rId56"/>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326" r:id="rId59"/>
    <p:sldId id="461" r:id="rId19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 id="477" r:id="rId2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6" Type="http://schemas.openxmlformats.org/officeDocument/2006/relationships/slide" Target="slides/slide7.xml"/><Relationship Id="rId59" Type="http://schemas.openxmlformats.org/officeDocument/2006/relationships/slide" Target="slides/slide28.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 Id="rId214"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r>
              <a:t>Worked teaching example retained from original slide 55.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Worked teaching example retained from original slide 58. Use within the scheduled Teach block.</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Daily deck uses only this date’s math blocks from the current visible Carpentry Schedule and Math Week sheets.</a:t>
            </a:r>
          </a:p>
          <a:p>
            <a:r>
              <a:t>'Carpentry Schedule'!C27 | 'Math Week 3'!A54</a:t>
            </a:r>
          </a:p>
          <a:p>
            <a:r>
              <a:t>'Carpentry Schedule'!C29 | 'Math Week 3'!A71</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r>
              <a:t>SLIDE PLACEMENT: Start, 12:45 PM–12:50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r>
              <a:t>SLIDE PLACEMENT: Recall, 12:50 PM–12:55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'Math Week 3'!A54</a:t>
            </a:r>
          </a:p>
          <a:p>
            <a:r>
              <a:t>'Math Week 3'!B56</a:t>
            </a:r>
          </a:p>
          <a:p>
            <a:r>
              <a:t>'Math Week 3'!B58</a:t>
            </a:r>
          </a:p>
          <a:p>
            <a:r>
              <a:t>Textbook Chapter 4 pp.67–70</a:t>
            </a:r>
          </a:p>
          <a:p>
            <a:r>
              <a:t>ACCESS CARPENTRY SLIDES.pptx slides 54–56</a:t>
            </a:r>
          </a:p>
          <a:p>
            <a:r>
              <a:t>ACCESS Trades Numeracy Textbook, PDF/printed p.68</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Teaching content sources:</a:t>
            </a:r>
          </a:p>
          <a:p>
            <a:r>
              <a:t>'Math Week 3'!A54</a:t>
            </a:r>
          </a:p>
          <a:p>
            <a:r>
              <a:t>'Math Week 3'!B56</a:t>
            </a:r>
          </a:p>
          <a:p>
            <a:r>
              <a:t>'Math Week 3'!B58</a:t>
            </a:r>
          </a:p>
          <a:p>
            <a:r>
              <a:t>Textbook Chapter 4 pp.67–70</a:t>
            </a:r>
          </a:p>
          <a:p>
            <a:r>
              <a:t>ACCESS CARPENTRY SLIDES.pptx slides 54–56</a:t>
            </a:r>
          </a:p>
          <a:p>
            <a:r>
              <a:t>ACCESS Trades Numeracy Textbook, PDF/printed p.68</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Textbook p.68 · Example 4.12: divide fractional lengths and count complete pieces.</a:t>
            </a:r>
          </a:p>
          <a:p>
            <a:r>
              <a:t>Exact PDF/printed page: 68. Excerpt reproduced from the supplied ACCESS Textbook.</a:t>
            </a:r>
          </a:p>
          <a:p>
            <a:r>
              <a:t>Example 4.12 uses exact fraction division to count full pieces and recover the offcut.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r>
              <a:t>SLIDE PLACEMENT: Teach, 12:55 PM–1:10 PM. All slides with this phase share these 15 minutes; do not restart the time allocation for each slide.</a:t>
            </a:r>
          </a:p>
          <a:p/>
          <a:p>
            <a:r>
              <a:t>Textbook visual: Textbook p.68 · Exact fraction calculator entry for the pieces and offcut.</a:t>
            </a:r>
          </a:p>
          <a:p>
            <a:r>
              <a:t>Exact PDF/printed page: 68. Excerpt reproduced from the supplied ACCESS Textbook.</a:t>
            </a:r>
          </a:p>
          <a:p>
            <a:r>
              <a:t>Example 4.12 uses exact fraction division to count full pieces and recover the offcut.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r>
              <a:t>SLIDE PLACEMENT: Teach, 12:55 PM–1:10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r>
              <a:t>SLIDE PLACEMENT: Together, 1:10 PM–1:25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4A-Q16a</a:t>
            </a:r>
          </a:p>
          <a:p>
            <a:r>
              <a:t>Exact question: Multiply. (a)   5/8 × 12</a:t>
            </a:r>
          </a:p>
          <a:p>
            <a:r>
              <a:t>Instructor answer: (a)  7 1/2</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r>
              <a:t>SLIDE PLACEMENT: Together, 1:10 PM–1:25 PM. All slides with this phase share these 15 minutes; do not restart the time allocation for each slide.</a:t>
            </a:r>
          </a:p>
          <a:p/>
          <a:p>
            <a:r>
              <a:t>ACCESS EXERCISE BOOK: 4A-Q16a</a:t>
            </a:r>
          </a:p>
          <a:p>
            <a:r>
              <a:t>Exact question: Multiply. (a)   5/8 × 12</a:t>
            </a:r>
          </a:p>
          <a:p>
            <a:r>
              <a:t>Instructor answer: (a)  7 1/2</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r>
              <a:t>SLIDE PLACEMENT: Practise, 1:25 PM–1:45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Exact scheduled tool activity: Shape Canvas: repeat a labelled rectangle and compare total lengths. Numeracy Hub Calculator: check the exact fractions.</a:t>
            </a:r>
          </a:p>
          <a:p>
            <a:r>
              <a:t>Supported: Repeat a labelled Shape Canvas rectangle to show multiplication as equal pieces.</a:t>
            </a:r>
          </a:p>
          <a:p>
            <a:r>
              <a:t>Independent practice: Write exact fraction calculations for the assigned 4A, 4B and 4C items.</a:t>
            </a:r>
          </a:p>
          <a:p>
            <a:r>
              <a:t>Independent checking: Use Numeracy Hub Calculator; label each answer as a length or a piece count.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4A-Q16b</a:t>
            </a:r>
          </a:p>
          <a:p>
            <a:r>
              <a:t>Exact question: Multiply. (b)  2 1/2 × 1 3/4</a:t>
            </a:r>
          </a:p>
          <a:p>
            <a:r>
              <a:t>Instructor answer: (b)  4 3/8</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r>
              <a:t>SLIDE PLACEMENT: Practise, 1:25 PM–1:45 PM. All slides with this phase share these 20 minutes; do not restart the time allocation for each slide.</a:t>
            </a:r>
          </a:p>
          <a:p/>
          <a:p>
            <a:r>
              <a:t>ACCESS EXERCISE BOOK: 4C-Q5</a:t>
            </a:r>
          </a:p>
          <a:p>
            <a:r>
              <a:t>Exact question: Change one value: four equal pieces of 8 3/8 in make up the bar. Find the overall length. If each piece is made  1/16 in longer, what is the new overall length?</a:t>
            </a:r>
          </a:p>
          <a:p>
            <a:r>
              <a:t>Instructor answer: 33 1/2 in, then 33 3/4 in</a:t>
            </a:r>
          </a:p>
          <a:p>
            <a:r>
              <a:t>Working: 4 × 8 3/8 = 33 1/2. 4 ×  1/16 =  1/4 more.</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r>
              <a:t>SLIDE PLACEMENT: Check, 1:45 PM–1:55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4A-Q17b</a:t>
            </a:r>
          </a:p>
          <a:p>
            <a:r>
              <a:t>Exact question: Divide. (b)  15 3/4 ÷ 3</a:t>
            </a:r>
          </a:p>
          <a:p>
            <a:r>
              <a:t>Instructor answer: (b)  5 1/4</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r>
              <a:t>SLIDE PLACEMENT: Check, 1:45 PM–1:55 PM. All slides with this phase share these 10 minutes; do not restart the time allocation for each slide.</a:t>
            </a:r>
          </a:p>
          <a:p/>
          <a:p>
            <a:r>
              <a:t>ACCESS EXERCISE BOOK: 4B-Q5</a:t>
            </a:r>
          </a:p>
          <a:p>
            <a:r>
              <a:t>Exact question: A plate is 15 5/8 in wide. How far from the edge is the centre line?</a:t>
            </a:r>
          </a:p>
          <a:p>
            <a:r>
              <a:t>Instructor answer: 7 13/16 in</a:t>
            </a:r>
          </a:p>
          <a:p>
            <a:r>
              <a:t>Working: 15 5/8 ÷ 2 =  125/8 ×  1/2 =  125/16</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W03-L03 | 2026-11-10 | 12:45 PM–2:00 PM | 75 minutes</a:t>
            </a:r>
          </a:p>
          <a:p>
            <a:r>
              <a:t>Repeated pieces and equal groups</a:t>
            </a:r>
          </a:p>
          <a:p>
            <a:r>
              <a:t>Mode: Math</a:t>
            </a:r>
          </a:p>
          <a:p>
            <a:r>
              <a:t>Goal: Use multiplication and division to find repeated fractional lengths and centre lines.</a:t>
            </a:r>
          </a:p>
          <a:p>
            <a:r>
              <a:t>Read: Textbook Chapter 4 pp.67–70</a:t>
            </a:r>
          </a:p>
          <a:p>
            <a:r>
              <a:t>Practise: Exercise Book 4A Q16–17 (p.26); 4B Q4–5 (p.27); 4C Q5 (p.30)</a:t>
            </a:r>
          </a:p>
          <a:p>
            <a:r>
              <a:t>Tool: Shape Canvas: repeat a labelled rectangle and compare total lengths. Numeracy Hub Calculator: check the exact fractions.</a:t>
            </a:r>
          </a:p>
          <a:p/>
          <a:p>
            <a:r>
              <a:t>EXACT SCHEDULED STEPS</a:t>
            </a:r>
          </a:p>
          <a:p>
            <a:r>
              <a:t>12:45 PM–12:50 PM | 1 Start | 5 min</a:t>
            </a:r>
          </a:p>
          <a:p>
            <a:r>
              <a:t>Instructor: State the goal and connect it to a carpentry drawing or job quantity.</a:t>
            </a:r>
          </a:p>
          <a:p>
            <a:r>
              <a:t>Learners: Name one use for today’s skill.</a:t>
            </a:r>
          </a:p>
          <a:p>
            <a:r>
              <a:t>Materials/check: Notebook; calculator</a:t>
            </a:r>
          </a:p>
          <a:p>
            <a:r>
              <a:t>Source: 'Math Week 3'!A60:F60</a:t>
            </a:r>
          </a:p>
          <a:p/>
          <a:p>
            <a:r>
              <a:t>12:50 PM–12:55 PM | 2 Recall | 5 min</a:t>
            </a:r>
          </a:p>
          <a:p>
            <a:r>
              <a:t>Instructor: Ask how repeated addition connects to multiplication and how dividing by two finds a centre.</a:t>
            </a:r>
          </a:p>
          <a:p>
            <a:r>
              <a:t>Learners: Try first without displayed answers.</a:t>
            </a:r>
          </a:p>
          <a:p>
            <a:r>
              <a:t>Materials/check: Identify support needs</a:t>
            </a:r>
          </a:p>
          <a:p>
            <a:r>
              <a:t>Source: 'Math Week 3'!A61:F61</a:t>
            </a:r>
          </a:p>
          <a:p/>
          <a:p>
            <a:r>
              <a:t>12:55 PM–1:10 PM | 3 Teach | 15 min</a:t>
            </a:r>
          </a:p>
          <a:p>
            <a:r>
              <a:t>Instructor: Model multiplying an improper fraction and using a reciprocal for division. Check against a strip drawing.</a:t>
            </a:r>
          </a:p>
          <a:p>
            <a:r>
              <a:t>Learners: Follow the example; explain the next step.</a:t>
            </a:r>
          </a:p>
          <a:p>
            <a:r>
              <a:t>Materials/check: Textbook; worked example</a:t>
            </a:r>
          </a:p>
          <a:p>
            <a:r>
              <a:t>Source: 'Math Week 3'!A62:F62</a:t>
            </a:r>
          </a:p>
          <a:p/>
          <a:p>
            <a:r>
              <a:t>1:10 PM–1:25 PM | 4 Together | 15 min</a:t>
            </a:r>
          </a:p>
          <a:p>
            <a:r>
              <a:t>Instructor: Work 4A questions 16(a) and 17(a), then 4B question 5 with a centre-line sketch.</a:t>
            </a:r>
          </a:p>
          <a:p>
            <a:r>
              <a:t>Learners: Work in pairs; alternate solver and checker.</a:t>
            </a:r>
          </a:p>
          <a:p>
            <a:r>
              <a:t>Materials/check: Exercise Book; tool above</a:t>
            </a:r>
          </a:p>
          <a:p>
            <a:r>
              <a:t>Source: 'Math Week 3'!A63:F63</a:t>
            </a:r>
          </a:p>
          <a:p/>
          <a:p>
            <a:r>
              <a:t>1:25 PM–1:45 PM | 5 Practise | 20 min</a:t>
            </a:r>
          </a:p>
          <a:p>
            <a:r>
              <a:t>Instructor: Complete remaining parts of 4A questions 16–17, 4B question 4 and 4C question 5. Explain what the division result counts or measures.</a:t>
            </a:r>
          </a:p>
          <a:p>
            <a:r>
              <a:t>Learners: Show working and units; estimate, then check.</a:t>
            </a:r>
          </a:p>
          <a:p>
            <a:r>
              <a:t>Materials/check: Paper first; tool second</a:t>
            </a:r>
          </a:p>
          <a:p>
            <a:r>
              <a:t>Source: 'Math Week 3'!A64:F64</a:t>
            </a:r>
          </a:p>
          <a:p/>
          <a:p>
            <a:r>
              <a:t>1:45 PM–1:55 PM | 6 Check | 10 min</a:t>
            </a:r>
          </a:p>
          <a:p>
            <a:r>
              <a:t>Instructor: Complete 4A question 17(b) and 4B question 5.</a:t>
            </a:r>
          </a:p>
          <a:p>
            <a:r>
              <a:t>Learners: Answer independently and show the method.</a:t>
            </a:r>
          </a:p>
          <a:p>
            <a:r>
              <a:t>Materials/check: Teacher answers below</a:t>
            </a:r>
          </a:p>
          <a:p>
            <a:r>
              <a:t>Source: 'Math Week 3'!A65:F65</a:t>
            </a:r>
          </a:p>
          <a:p/>
          <a:p>
            <a:r>
              <a:t>1:55 PM–2:00 PM | 7 Wrap up | 5 min</a:t>
            </a:r>
          </a:p>
          <a:p>
            <a:r>
              <a:t>Instructor: Ask for one learning point and one skill to practise next.</a:t>
            </a:r>
          </a:p>
          <a:p>
            <a:r>
              <a:t>Learners: Record a takeaway and next action.</a:t>
            </a:r>
          </a:p>
          <a:p>
            <a:r>
              <a:t>Materials/check: Notebook / error log</a:t>
            </a:r>
          </a:p>
          <a:p>
            <a:r>
              <a:t>Source: 'Math Week 3'!A66:F66</a:t>
            </a:r>
          </a:p>
          <a:p/>
          <a:p>
            <a:r>
              <a:t>INSTRUCTOR ONLY: REVEAL ASSESSMENT ANSWERS AFTER THE ATTEMPT</a:t>
            </a:r>
          </a:p>
          <a:p>
            <a:r>
              <a:t>4A question 17(b) = 5 1/4. 4B question 5 = 7 13/16 in. Answer Key page 13. Answer Key pp.13–14</a:t>
            </a:r>
          </a:p>
          <a:p/>
          <a:p>
            <a:r>
              <a:t>Next: check all four fraction operations and correct weak areas.</a:t>
            </a:r>
          </a:p>
          <a:p/>
          <a:p>
            <a:r>
              <a:t>Sources: 'Math Week 3'!A12:E12; 'Carpentry Schedule'!C27; 'Math Week 3'!A54</a:t>
            </a:r>
          </a:p>
          <a:p>
            <a:r>
              <a:t>Navigation/resource slides support these scheduled steps and do not add instructional time.</a:t>
            </a:r>
          </a:p>
          <a:p>
            <a:r>
              <a:t>SLIDE PLACEMENT: Wrap up, 1:55 PM–2:00 PM. All slides with this phase share these 5 minutes; do not restart the time allocation for each slide.</a:t>
            </a:r>
          </a:p>
          <a:p/>
          <a:p>
            <a:r>
              <a:t>Next scheduled learning: Next: check all four fraction operations and correct weak areas.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15 minutes. Resume at 2:15 PM. Do not move the following math block into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Start, 2:15 PM–2:20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Recall, 2:20 PM–2:25 PM. All slides with this phase share these 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'Math Week 3'!A71</a:t>
            </a:r>
          </a:p>
          <a:p>
            <a:r>
              <a:t>'Math Week 3'!B73</a:t>
            </a:r>
          </a:p>
          <a:p>
            <a:r>
              <a:t>'Math Week 3'!B75</a:t>
            </a:r>
          </a:p>
          <a:p>
            <a:r>
              <a:t>Textbook Chapter 4 pp.64–70</a:t>
            </a:r>
          </a:p>
          <a:p>
            <a:r>
              <a:t>ACCESS CARPENTRY SLIDES.pptx slides 57–59</a:t>
            </a:r>
          </a:p>
          <a:p>
            <a:r>
              <a:t>ACCESS Trades Numeracy Textbook, PDF/printed p.64</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Teach, 2:25 PM–2:40 PM. All slides with this phase share these 15 minutes; do not restart the time allocation for each slide.</a:t>
            </a:r>
          </a:p>
          <a:p/>
          <a:p>
            <a:r>
              <a:t>Teaching content sources:</a:t>
            </a:r>
          </a:p>
          <a:p>
            <a:r>
              <a:t>'Math Week 3'!A71</a:t>
            </a:r>
          </a:p>
          <a:p>
            <a:r>
              <a:t>'Math Week 3'!B73</a:t>
            </a:r>
          </a:p>
          <a:p>
            <a:r>
              <a:t>'Math Week 3'!B75</a:t>
            </a:r>
          </a:p>
          <a:p>
            <a:r>
              <a:t>Textbook Chapter 4 pp.64–70</a:t>
            </a:r>
          </a:p>
          <a:p>
            <a:r>
              <a:t>ACCESS CARPENTRY SLIDES.pptx slides 57–59</a:t>
            </a:r>
          </a:p>
          <a:p>
            <a:r>
              <a:t>ACCESS Trades Numeracy Textbook, PDF/printed p.64</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Textbook p.64 · Example 4.8: use equal-sized fractions to add a stack.</a:t>
            </a:r>
          </a:p>
          <a:p>
            <a:r>
              <a:t>Exact PDF/printed page: 64. Excerpt reproduced from the supplied ACCESS Textbook.</a:t>
            </a:r>
          </a:p>
          <a:p>
            <a:r>
              <a:t>Example 4.8 shows a labelled plate stack and a common-denominator addition to diagnose operation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Teach, 2:25 PM–2:40 PM. All slides with this phase share these 15 minutes; do not restart the time allocation for each slide.</a:t>
            </a:r>
          </a:p>
          <a:p/>
          <a:p>
            <a:r>
              <a:t>Textbook visual: Textbook p.64 · Check the written fraction method on the chosen calculator.</a:t>
            </a:r>
          </a:p>
          <a:p>
            <a:r>
              <a:t>Exact PDF/printed page: 64. Excerpt reproduced from the supplied ACCESS Textbook.</a:t>
            </a:r>
          </a:p>
          <a:p>
            <a:r>
              <a:t>Example 4.8 shows a labelled plate stack and a common-denominator addition to diagnose operation errors.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Teach, 2:25 PM–2:40 PM. All slides with this phase share these 15 minutes; do not restart the time allocation for each slide.</a:t>
            </a:r>
          </a:p>
          <a:p/>
          <a:p>
            <a:r>
              <a:t>Pause on the prompt before discussing the correction. This is included within the scheduled Teach block, not an additional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Together, 2:40 PM–2:55 PM. All slides with this phase share these 15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4A-Q14</a:t>
            </a:r>
          </a:p>
          <a:p>
            <a:r>
              <a:t>Exact question: Add. (a)  5/16 +  3/4  (b) 7 3/8 + 2 15/16</a:t>
            </a:r>
          </a:p>
          <a:p>
            <a:r>
              <a:t>Instructor answer: (a) 1 1/16  (b) 10 5/16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Together, 2:40 PM–2:55 PM. All slides with this phase share these 15 minutes; do not restart the time allocation for each slide.</a:t>
            </a:r>
          </a:p>
          <a:p/>
          <a:p>
            <a:r>
              <a:t>ACCESS EXERCISE BOOK: 4A-Q14</a:t>
            </a:r>
          </a:p>
          <a:p>
            <a:r>
              <a:t>Exact question: Add. (a)  5/16 +  3/4  (b) 7 3/8 + 2 15/16</a:t>
            </a:r>
          </a:p>
          <a:p>
            <a:r>
              <a:t>Instructor answer: (a) 1 1/16  (b) 10 5/16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Practise, 2:55 PM–3:15 PM. All slides with this phase share these 20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Live-tool screenshot, not an answer to the scheduled task. Open the resource link and follow the exact values in the assignment. Keep worked answers hidden until learners attempt the task. Screenshot illustrates navigation and occupies time within the same scheduled practice phase.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Exact scheduled tool activity: Use paper for the first attempt; check with the chosen calculator. Rebuild one missing-length sketch in Shape Canvas.</a:t>
            </a:r>
          </a:p>
          <a:p>
            <a:r>
              <a:t>Independent first attempt: Complete one part of 4A Q14–17 and the assigned 4C drawings on paper.</a:t>
            </a:r>
          </a:p>
          <a:p>
            <a:r>
              <a:t>Checking after completion: Use the chosen calculator and explain one difference from your result.</a:t>
            </a:r>
          </a:p>
          <a:p>
            <a:r>
              <a:t>Independent retry: Rebuild one missing-length sketch in Shape Canvas and solve a fresh missed type.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4A-Q14a</a:t>
            </a:r>
          </a:p>
          <a:p>
            <a:r>
              <a:t>Exact question: Add. (a)   5/16 +  3/4</a:t>
            </a:r>
          </a:p>
          <a:p>
            <a:r>
              <a:t>Instructor answer: (a)  1 1/16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Practise, 2:55 PM–3:15 PM. All slides with this phase share these 20 minutes; do not restart the time allocation for each slide.</a:t>
            </a:r>
          </a:p>
          <a:p/>
          <a:p>
            <a:r>
              <a:t>ACCESS EXERCISE BOOK: 4C-Q1</a:t>
            </a:r>
          </a:p>
          <a:p>
            <a:r>
              <a:t>Exact question: Find the hidden width.</a:t>
            </a:r>
          </a:p>
          <a:p>
            <a:r>
              <a:t>Instructor answer: 8 7/8 in</a:t>
            </a:r>
          </a:p>
          <a:p>
            <a:r>
              <a:t>Working: 12 1/4 − 3 3/8</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Check, 3:15 PM–3:25 PM. All slides with this phase share these 10 minutes; do not restart the time allocation for each slide.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4A-Q14a</a:t>
            </a:r>
          </a:p>
          <a:p>
            <a:r>
              <a:t>Exact question: Add. (a)   5/16 +  3/4</a:t>
            </a:r>
          </a:p>
          <a:p>
            <a:r>
              <a:t>Instructor answer: (a)  1 1/16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4A-Q15a</a:t>
            </a:r>
          </a:p>
          <a:p>
            <a:r>
              <a:t>Exact question: Subtract. (a)  5 − 1 11/16</a:t>
            </a:r>
          </a:p>
          <a:p>
            <a:r>
              <a:t>Instructor answer: (a)  3 5/16</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4A-Q16b</a:t>
            </a:r>
          </a:p>
          <a:p>
            <a:r>
              <a:t>Exact question: Multiply. (b)  2 1/2 × 1 3/4</a:t>
            </a:r>
          </a:p>
          <a:p>
            <a:r>
              <a:t>Instructor answer: (b)  4 3/8</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Check, 3:15 PM–3:25 PM. All slides with this phase share these 10 minutes; do not restart the time allocation for each slide.</a:t>
            </a:r>
          </a:p>
          <a:p/>
          <a:p>
            <a:r>
              <a:t>ACCESS EXERCISE BOOK: 4A-Q17b</a:t>
            </a:r>
          </a:p>
          <a:p>
            <a:r>
              <a:t>Exact question: Divide. (b)  15 3/4 ÷ 3</a:t>
            </a:r>
          </a:p>
          <a:p>
            <a:r>
              <a:t>Instructor answer: (b)  5 1/4</a:t>
            </a:r>
          </a:p>
          <a:p>
            <a:r>
              <a:t>Working: </a:t>
            </a:r>
          </a:p>
          <a:p>
            <a:r>
              <a:t>The projected item is part of the full scheduled assignment shown in this block. All other assigned questions remain in the Exercise Book.</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W03-L04 | 2026-11-10 | 2:15 PM–3:30 PM | 75 minutes</a:t>
            </a:r>
          </a:p>
          <a:p>
            <a:r>
              <a:t>Fraction operations: check and retry</a:t>
            </a:r>
          </a:p>
          <a:p>
            <a:r>
              <a:t>Mode: Math</a:t>
            </a:r>
          </a:p>
          <a:p>
            <a:r>
              <a:t>Goal: Choose the correct fraction operation, show the working and correct a documented error.</a:t>
            </a:r>
          </a:p>
          <a:p>
            <a:r>
              <a:t>Read: Textbook Chapter 4 pp.64–70</a:t>
            </a:r>
          </a:p>
          <a:p>
            <a:r>
              <a:t>Practise: Exercise Book 4A Q14–17 (p.26); 4C Q1–3 (p.29)</a:t>
            </a:r>
          </a:p>
          <a:p>
            <a:r>
              <a:t>Tool: Use paper for the first attempt; check with the chosen calculator. Rebuild one missing-length sketch in Shape Canvas.</a:t>
            </a:r>
          </a:p>
          <a:p/>
          <a:p>
            <a:r>
              <a:t>EXACT SCHEDULED STEPS</a:t>
            </a:r>
          </a:p>
          <a:p>
            <a:r>
              <a:t>2:15 PM–2:20 PM | 1 Start | 5 min</a:t>
            </a:r>
          </a:p>
          <a:p>
            <a:r>
              <a:t>Instructor: State the goal and connect it to a carpentry drawing or job quantity.</a:t>
            </a:r>
          </a:p>
          <a:p>
            <a:r>
              <a:t>Learners: Name one use for today’s skill.</a:t>
            </a:r>
          </a:p>
          <a:p>
            <a:r>
              <a:t>Materials/check: Notebook; calculator</a:t>
            </a:r>
          </a:p>
          <a:p>
            <a:r>
              <a:t>Source: 'Math Week 3'!A77:F77</a:t>
            </a:r>
          </a:p>
          <a:p/>
          <a:p>
            <a:r>
              <a:t>2:20 PM–2:25 PM | 2 Recall | 5 min</a:t>
            </a:r>
          </a:p>
          <a:p>
            <a:r>
              <a:t>Instructor: Present four short situations: total, remainder, repeated pieces and equal sharing. Learners name the operation.</a:t>
            </a:r>
          </a:p>
          <a:p>
            <a:r>
              <a:t>Learners: Try first without displayed answers.</a:t>
            </a:r>
          </a:p>
          <a:p>
            <a:r>
              <a:t>Materials/check: Identify support needs</a:t>
            </a:r>
          </a:p>
          <a:p>
            <a:r>
              <a:t>Source: 'Math Week 3'!A78:F78</a:t>
            </a:r>
          </a:p>
          <a:p/>
          <a:p>
            <a:r>
              <a:t>2:25 PM–2:40 PM | 3 Teach | 15 min</a:t>
            </a:r>
          </a:p>
          <a:p>
            <a:r>
              <a:t>Instructor: Model the most common error from Monday’s work. Emphasize common denominators for addition/subtraction, not for every operation.</a:t>
            </a:r>
          </a:p>
          <a:p>
            <a:r>
              <a:t>Learners: Follow the example; explain the next step.</a:t>
            </a:r>
          </a:p>
          <a:p>
            <a:r>
              <a:t>Materials/check: Textbook; worked example</a:t>
            </a:r>
          </a:p>
          <a:p>
            <a:r>
              <a:t>Source: 'Math Week 3'!A79:F79</a:t>
            </a:r>
          </a:p>
          <a:p/>
          <a:p>
            <a:r>
              <a:t>2:40 PM–2:55 PM | 4 Together | 15 min</a:t>
            </a:r>
          </a:p>
          <a:p>
            <a:r>
              <a:t>Instructor: Pairs explain a method from 4A questions 14–17 without copying the partner’s calculation.</a:t>
            </a:r>
          </a:p>
          <a:p>
            <a:r>
              <a:t>Learners: Work in pairs; alternate solver and checker.</a:t>
            </a:r>
          </a:p>
          <a:p>
            <a:r>
              <a:t>Materials/check: Exercise Book; tool above</a:t>
            </a:r>
          </a:p>
          <a:p>
            <a:r>
              <a:t>Source: 'Math Week 3'!A80:F80</a:t>
            </a:r>
          </a:p>
          <a:p/>
          <a:p>
            <a:r>
              <a:t>2:55 PM–3:15 PM | 5 Practise | 20 min</a:t>
            </a:r>
          </a:p>
          <a:p>
            <a:r>
              <a:t>Instructor: Complete one part of each question 14–17 independently, then 4C questions 1–3. Mark, explain and retry one error with a fresh partner-created value.</a:t>
            </a:r>
          </a:p>
          <a:p>
            <a:r>
              <a:t>Learners: Show working and units; estimate, then check.</a:t>
            </a:r>
          </a:p>
          <a:p>
            <a:r>
              <a:t>Materials/check: Paper first; tool second</a:t>
            </a:r>
          </a:p>
          <a:p>
            <a:r>
              <a:t>Source: 'Math Week 3'!A81:F81</a:t>
            </a:r>
          </a:p>
          <a:p/>
          <a:p>
            <a:r>
              <a:t>3:15 PM–3:25 PM | 6 Check | 10 min</a:t>
            </a:r>
          </a:p>
          <a:p>
            <a:r>
              <a:t>Instructor: Redo 4A questions 14(a),15(a),16(b),17(b). Give simplest forms.</a:t>
            </a:r>
          </a:p>
          <a:p>
            <a:r>
              <a:t>Learners: Answer independently and show the method.</a:t>
            </a:r>
          </a:p>
          <a:p>
            <a:r>
              <a:t>Materials/check: Teacher answers below</a:t>
            </a:r>
          </a:p>
          <a:p>
            <a:r>
              <a:t>Source: 'Math Week 3'!A82:F82</a:t>
            </a:r>
          </a:p>
          <a:p/>
          <a:p>
            <a:r>
              <a:t>3:25 PM–3:30 PM | 7 Wrap up | 5 min</a:t>
            </a:r>
          </a:p>
          <a:p>
            <a:r>
              <a:t>Instructor: Ask for one learning point and one skill to practise next.</a:t>
            </a:r>
          </a:p>
          <a:p>
            <a:r>
              <a:t>Learners: Record a takeaway and next action.</a:t>
            </a:r>
          </a:p>
          <a:p>
            <a:r>
              <a:t>Materials/check: Notebook / error log</a:t>
            </a:r>
          </a:p>
          <a:p>
            <a:r>
              <a:t>Source: 'Math Week 3'!A83:F83</a:t>
            </a:r>
          </a:p>
          <a:p/>
          <a:p>
            <a:r>
              <a:t>INSTRUCTOR ONLY: REVEAL ASSESSMENT ANSWERS AFTER THE ATTEMPT</a:t>
            </a:r>
          </a:p>
          <a:p>
            <a:r>
              <a:t>In order: 1 1/16; 3 5/16; 4 3/8; 5 1/4. Answer Key page 13. Answer Key pp.13–14</a:t>
            </a:r>
          </a:p>
          <a:p/>
          <a:p>
            <a:r>
              <a:t>Week 4 applies these skills to cut lists and centre lines, then progresses to decimals, percent, ratio and scale.</a:t>
            </a:r>
          </a:p>
          <a:p/>
          <a:p>
            <a:r>
              <a:t>Sources: 'Math Week 3'!A13:E13; 'Carpentry Schedule'!C29; 'Math Week 3'!A71</a:t>
            </a:r>
          </a:p>
          <a:p>
            <a:r>
              <a:t>Navigation/resource slides support these scheduled steps and do not add instructional time.</a:t>
            </a:r>
          </a:p>
          <a:p>
            <a:r>
              <a:t>SLIDE PLACEMENT: Wrap up, 3:25 PM–3:30 PM. All slides with this phase share these 5 minutes; do not restart the time allocation for each slide.</a:t>
            </a:r>
          </a:p>
          <a:p/>
          <a:p>
            <a:r>
              <a:t>Next scheduled learning: Week 4 applies these skills to cut lists and centre lines, then progresses to decimals, percent, ratio and scale.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5.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hyperlink" Target="../Resources/ACCESS-Tools/books/ACCESS-Trades-Numeracy-Textbook.pdf#page=68"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hyperlink" Target="../Resources/ACCESS-Tools/books/ACCESS-Trades-Numeracy-Textbook.pdf#page=68"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Resources/ACCESS-Tools/books/ACCESS-Trades-Numeracy-Textbook.pdf#page=67"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hyperlink" Target="../Resources/ACCESS-Tools/books/ACCESS-Trades-Numeracy-Textbook.pdf#page=67"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Resources/ACCESS-Tools/books/ACCESS-Trades-Numeracy-Textbook.pdf#page=67"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Resources/ACCESS-Tools/books/ACCESS-Trades-Numeracy-Textbook.pdf#page=67"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hyperlink" Target="../Resources/ACCESS-Tools/books/ACCESS-Trades-Numeracy-Textbook.pdf#page=67" TargetMode="External"/><Relationship Id="rId6" Type="http://schemas.openxmlformats.org/officeDocument/2006/relationships/hyperlink" Target="../Resources/ACCESS-Tools/books/ACCESS-Trades-Numeracy-Exercise-Book.pdf#page=2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Resources/ACCESS-Tools/books/ACCESS-Trades-Numeracy-Textbook.pdf#page=67"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hyperlink" Target="../Resources/ACCESS-Tools/books/ACCESS-Trades-Numeracy-Textbook.pdf#page=67" TargetMode="External"/><Relationship Id="rId6" Type="http://schemas.openxmlformats.org/officeDocument/2006/relationships/hyperlink" Target="../Resources/ACCESS-Tools/books/ACCESS-Trades-Numeracy-Exercise-Book.pdf#page=27"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5.png"/><Relationship Id="rId4" Type="http://schemas.openxmlformats.org/officeDocument/2006/relationships/hyperlink" Target="../Resources/ACCESS-Tools/books/ACCESS-Trades-Numeracy-Textbook.pdf#page=67"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5.png"/><Relationship Id="rId4" Type="http://schemas.openxmlformats.org/officeDocument/2006/relationships/hyperlink" Target="../Resources/ACCESS-Tools/books/ACCESS-Trades-Numeracy-Textbook.pdf" TargetMode="External"/><Relationship Id="rId5" Type="http://schemas.openxmlformats.org/officeDocument/2006/relationships/hyperlink" Target="../Resources/ACCESS-Tools/books/ACCESS-Trades-Numeracy-Exercise-Book.pdf"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5.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5.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5.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5.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5.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hyperlink" Target="../Resources/ACCESS-Tools/books/ACCESS-Trades-Numeracy-Textbook.pdf#page=64"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hyperlink" Target="../Resources/ACCESS-Tools/books/ACCESS-Trades-Numeracy-Textbook.pdf#page=64"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5.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5.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Resources/ACCESS-Tools/books/ACCESS-Trades-Numeracy-Textbook.pdf#page=64"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hyperlink" Target="../Resources/ACCESS-Tools/books/ACCESS-Trades-Numeracy-Textbook.pdf#page=64"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5.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hyperlink" Target="../Resources/ACCESS-Tools/books/ACCESS-Trades-Numeracy-Textbook.pdf#page=64" TargetMode="External"/><Relationship Id="rId6" Type="http://schemas.openxmlformats.org/officeDocument/2006/relationships/hyperlink" Target="../Resources/ACCESS-Tools/books/ACCESS-Trades-Numeracy-Exercise-Book.pdf#page=26"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5.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hyperlink" Target="../Resources/ACCESS-Tools/books/ACCESS-Trades-Numeracy-Textbook.pdf#page=64"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hyperlink" Target="../Resources/ACCESS-Tools/books/ACCESS-Trades-Numeracy-Textbook.pdf#page=64" TargetMode="External"/><Relationship Id="rId6" Type="http://schemas.openxmlformats.org/officeDocument/2006/relationships/hyperlink" Target="../Resources/ACCESS-Tools/books/ACCESS-Trades-Numeracy-Exercise-Book.pdf#page=29"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2.png"/><Relationship Id="rId4" Type="http://schemas.openxmlformats.org/officeDocument/2006/relationships/image" Target="../media/image15.png"/><Relationship Id="rId5" Type="http://schemas.openxmlformats.org/officeDocument/2006/relationships/hyperlink" Target="../Resources/ACCESS-Tools/books/ACCESS-Trades-Numeracy-Textbook.pdf#page=64"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hyperlink" Target="../Resources/ACCESS-Tools/books/ACCESS-Trades-Numeracy-Textbook.pdf#page=64"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hyperlink" Target="../Resources/ACCESS-Tools/books/ACCESS-Trades-Numeracy-Textbook.pdf#page=64"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hyperlink" Target="../Resources/ACCESS-Tools/books/ACCESS-Trades-Numeracy-Textbook.pdf#page=64" TargetMode="External"/><Relationship Id="rId6" Type="http://schemas.openxmlformats.org/officeDocument/2006/relationships/hyperlink" Target="../Resources/ACCESS-Tools/books/ACCESS-Trades-Numeracy-Exercise-Book.pdf#page=25" TargetMode="External"/><Relationship Id="rId7" Type="http://schemas.openxmlformats.org/officeDocument/2006/relationships/hyperlink" Target="../Resources/ACCESS-Tools/numeracy-hub/index.html" TargetMode="External"/><Relationship Id="rId8" Type="http://schemas.openxmlformats.org/officeDocument/2006/relationships/hyperlink" Target="../Resources/ACCESS-Tools/shape-canvas/index.htm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5.png"/><Relationship Id="rId4" Type="http://schemas.openxmlformats.org/officeDocument/2006/relationships/hyperlink" Target="../Resources/ACCESS-Tools/books/ACCESS-Trades-Numeracy-Textbook.pdf#page=64" TargetMode="External"/><Relationship Id="rId5" Type="http://schemas.openxmlformats.org/officeDocument/2006/relationships/hyperlink" Target="../Resources/ACCESS-Tools/books/ACCESS-Trades-Numeracy-Exercise-Book.pdf#page=26" TargetMode="External"/><Relationship Id="rId6" Type="http://schemas.openxmlformats.org/officeDocument/2006/relationships/hyperlink" Target="../Resources/ACCESS-Tools/numeracy-hub/index.html" TargetMode="External"/><Relationship Id="rId7" Type="http://schemas.openxmlformats.org/officeDocument/2006/relationships/hyperlink" Target="../Resources/ACCESS-Tools/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ACCESS  /  CARPENTRY FOUNDATION  /  INTAKE 141</a:t>
            </a:r>
          </a:p>
        </p:txBody>
      </p:sp>
      <p:sp>
        <p:nvSpPr>
          <p:cNvPr id="3" name="TextBox 2"/>
          <p:cNvSpPr txBox="1"/>
          <p:nvPr/>
        </p:nvSpPr>
        <p:spPr>
          <a:xfrm>
            <a:off x="612648" y="1143000"/>
            <a:ext cx="10789920" cy="64008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t>Day 09  |  Tuesday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t>November 10, 2026</a:t>
            </a:r>
          </a:p>
        </p:txBody>
      </p:sp>
      <p:sp>
        <p:nvSpPr>
          <p:cNvPr id="5" name="Rectangle 4"/>
          <p:cNvSpPr/>
          <p:nvPr/>
        </p:nvSpPr>
        <p:spPr>
          <a:xfrm>
            <a:off x="612648" y="2633472"/>
            <a:ext cx="109728" cy="2194560"/>
          </a:xfrm>
          <a:prstGeom prst="rect">
            <a:avLst/>
          </a:prstGeom>
          <a:solidFill>
            <a:srgbClr val="D2181F"/>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Repeated pieces and equal groups</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t>Fraction operations: check and retry</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t>Week 3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Rectangle 12"/>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4" name="TextBox 13"/>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5" name="TextBox 14"/>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6" name="TextBox 15"/>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7" name="TextBox 16"/>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8" name="TextBox 17"/>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09  •  2026-11-10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t>DAY 09  /  WEEK 3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Repeated pieces and equal groups</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3, Lesson 3</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a:t>Fraction operations: check and retry</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t>Math  •  Math Week 3, Lesson 4</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4" name="Rectangle 5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55" name="TextBox 5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56" name="TextBox 5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57" name="TextBox 5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58" name="TextBox 5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59" name="TextBox 5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W03-L03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Repeated pieces and equal groups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pp.67–70</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Use multiplication and division to find repeated fractional lengths and centre lines.</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Name one use for today’s skill.</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Chapter 4 pp.67–70</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4A Q16–17 (p.26); 4B Q4–5 (p.27); 4C Q5 (p.30)</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W03-L03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pp.67–70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Explain how repeated addition connects to multiplication and how dividing by two finds a centre.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Q16–17 (p.26); 4B Q4–5 (p.27);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Multiply to find repeated fractional lengths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pp.67–70</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Convert a mixed number to an improper fraction when useful.</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Multiply the numerators and multiply the denominators.</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Simplify and convert back to a mixed number when needed.</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 repeated-strip drawing checks whether the total fits the number of pieces.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Explain what division counts or measures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pp.67–70</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Dividing a length by a piece length gives a count of pieces.</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Dividing a length by a number of equal parts gives a length per part.</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To divide by a fraction, multiply by the reciprocal of the divisor.</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 a centre line by doubling its distance from the starting edge.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W03-L03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Ask what the result measures or counts</a:t>
            </a:r>
            <a:endParaRPr lang="en-US" sz="3000" dirty="0"/>
          </a:p>
        </p:txBody>
      </p:sp>
      <p:sp>
        <p:nvSpPr>
          <p:cNvPr id="5" name="Text 3"/>
          <p:cNvSpPr/>
          <p:nvPr/>
        </p:nvSpPr>
        <p:spPr>
          <a:xfrm>
            <a:off x="609585" y="1666875"/>
            <a:ext cx="10972526" cy="426690"/>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3 × 2 3/8 in = 3 × 19/8 = 57/8 = 7 1/8 in</a:t>
            </a:r>
            <a:endParaRPr lang="en-US" sz="2400" dirty="0"/>
          </a:p>
        </p:txBody>
      </p:sp>
      <p:sp>
        <p:nvSpPr>
          <p:cNvPr id="6" name="Text 4"/>
          <p:cNvSpPr/>
          <p:nvPr/>
        </p:nvSpPr>
        <p:spPr>
          <a:xfrm>
            <a:off x="609585" y="2571750"/>
            <a:ext cx="10972526" cy="426690"/>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3/4 in ÷ 1/8 in = 3/4 × 8/1 = 6 pieces</a:t>
            </a:r>
            <a:endParaRPr lang="en-US" sz="2400" dirty="0"/>
          </a:p>
        </p:txBody>
      </p:sp>
      <p:sp>
        <p:nvSpPr>
          <p:cNvPr id="7" name="Text 5"/>
          <p:cNvSpPr/>
          <p:nvPr/>
        </p:nvSpPr>
        <p:spPr>
          <a:xfrm>
            <a:off x="609585" y="3476625"/>
            <a:ext cx="10972526" cy="95994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The reciprocal changes division to multiplication.</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Check the second result: six eighth-inch pieces total 3/4 in.</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These classroom examples ignore kerf.</a:t>
            </a:r>
            <a:endParaRPr lang="en-US" sz="1800" dirty="0"/>
          </a:p>
        </p:txBody>
      </p:sp>
      <p:sp>
        <p:nvSpPr>
          <p:cNvPr id="8" name="Text 6"/>
          <p:cNvSpPr/>
          <p:nvPr/>
        </p:nvSpPr>
        <p:spPr>
          <a:xfrm>
            <a:off x="609585" y="4905375"/>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4A Q16(a), Q17(a), then 4B Q5 with a centre-line sketch. Repeat a labelled Shape Canvas rectangle and compare totals.</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W3 L3 • Explain the meaning before using Numeracy Hub Calculator to check</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07</a:t>
            </a:r>
          </a:p>
        </p:txBody>
      </p:sp>
    </p:spTree>
    <p:extLst>
      <p:ext uri="{BB962C8B-B14F-4D97-AF65-F5344CB8AC3E}">
        <p14:creationId xmlns:p14="http://schemas.microsoft.com/office/powerpoint/2010/main" val="389105800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68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pp.67–70</a:t>
            </a:r>
          </a:p>
        </p:txBody>
      </p:sp>
      <p:pic>
        <p:nvPicPr>
          <p:cNvPr id="5" name="Picture 4" descr="W03-L03.png"/>
          <p:cNvPicPr>
            <a:picLocks noChangeAspect="1"/>
          </p:cNvPicPr>
          <p:nvPr/>
        </p:nvPicPr>
        <p:blipFill>
          <a:blip r:embed="rId3"/>
          <a:stretch>
            <a:fillRect/>
          </a:stretch>
        </p:blipFill>
        <p:spPr>
          <a:xfrm>
            <a:off x="685800" y="2078570"/>
            <a:ext cx="10698480" cy="329521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p.68 · Example 4.12: divide fractional lengths and count complete pieces.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68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pp.67–70</a:t>
            </a:r>
          </a:p>
        </p:txBody>
      </p:sp>
      <p:pic>
        <p:nvPicPr>
          <p:cNvPr id="5" name="Picture 4" descr="W03-L03-2.png"/>
          <p:cNvPicPr>
            <a:picLocks noChangeAspect="1"/>
          </p:cNvPicPr>
          <p:nvPr/>
        </p:nvPicPr>
        <p:blipFill>
          <a:blip r:embed="rId3"/>
          <a:stretch>
            <a:fillRect/>
          </a:stretch>
        </p:blipFill>
        <p:spPr>
          <a:xfrm>
            <a:off x="1732641" y="1691640"/>
            <a:ext cx="8604797"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p.68 · Exact fraction calculator entry for the pieces and offcut.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W03-L03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pp.67–70</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For 3/4 in ÷ 1/8 in, should the answer be labelled inches?</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The quotient counts eighth-inch pieces: 6 pieces. Check that 6 × 1/8 in restores 3/4 in.</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pp.67–70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Work 4A questions 16(a) and 17(a), then 4B question 5 with a centre-line sketch.</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Q16–17 (p.26); 4B Q4–5 (p.27);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4A Q16a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pp.67–70</a:t>
            </a:r>
          </a:p>
        </p:txBody>
      </p:sp>
      <p:pic>
        <p:nvPicPr>
          <p:cNvPr id="5" name="Picture 4" descr="4A-Q16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W03-L03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4A Q16a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pp.67–70</a:t>
            </a:r>
          </a:p>
        </p:txBody>
      </p:sp>
      <p:pic>
        <p:nvPicPr>
          <p:cNvPr id="5" name="Picture 4" descr="4A-Q16a.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(a)  7 1/2</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pp.67–70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remaining parts of 4A questions 16–17, 4B question 4 and 4C question 5. Explain what the division result counts or measures.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Q16–17 (p.26); 4B Q4–5 (p.27);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pp.67–70</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pp.67–70</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Supported: Repeat a labelled Shape Canvas rectangle to show multiplication as equal pieces.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practice: Write exact fraction calculations for the assigned 4A, 4B and 4C items.</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checking: Use Numeracy Hub Calculator; label each answer as a length or a piece count.</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4A Q16b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pp.67–70</a:t>
            </a:r>
          </a:p>
        </p:txBody>
      </p:sp>
      <p:pic>
        <p:nvPicPr>
          <p:cNvPr id="5" name="Picture 4" descr="4A-Q16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W03-L03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4C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pp.67–70</a:t>
            </a:r>
          </a:p>
        </p:txBody>
      </p:sp>
      <p:pic>
        <p:nvPicPr>
          <p:cNvPr id="5" name="Picture 4" descr="4C-Q5.png"/>
          <p:cNvPicPr>
            <a:picLocks noChangeAspect="1"/>
          </p:cNvPicPr>
          <p:nvPr/>
        </p:nvPicPr>
        <p:blipFill>
          <a:blip r:embed="rId3"/>
          <a:stretch>
            <a:fillRect/>
          </a:stretch>
        </p:blipFill>
        <p:spPr>
          <a:xfrm>
            <a:off x="1813362" y="1773935"/>
            <a:ext cx="8443355"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pp.67–70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4A question 17(b) and 4B question 5.</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Q16–17 (p.26); 4B Q4–5 (p.27);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4A Q17b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pp.67–70</a:t>
            </a:r>
          </a:p>
        </p:txBody>
      </p:sp>
      <p:pic>
        <p:nvPicPr>
          <p:cNvPr id="5" name="Picture 4" descr="4A-Q17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W03-L03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4B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pp.67–70</a:t>
            </a:r>
          </a:p>
        </p:txBody>
      </p:sp>
      <p:pic>
        <p:nvPicPr>
          <p:cNvPr id="5" name="Picture 4" descr="4B-Q5.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W03-L03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pp.67–70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Share one learning point and one skill to practise next.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Q16–17 (p.26); 4B Q4–5 (p.27); 4C Q5 (p.30)</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t>DAY 09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t>Return ready for: Fraction operations: check and retry</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t>Day 09  •  2026-11-10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Fraction operations: check and retry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a:t>Today’s goal: Choose the correct fraction operation, show the working and correct a documented error.</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Name one use for today’s skill.</a:t>
            </a:r>
          </a:p>
        </p:txBody>
      </p:sp>
      <p:sp>
        <p:nvSpPr>
          <p:cNvPr id="7" name="Rectangle 6"/>
          <p:cNvSpPr/>
          <p:nvPr/>
        </p:nvSpPr>
        <p:spPr>
          <a:xfrm>
            <a:off x="612648" y="4114800"/>
            <a:ext cx="10927080" cy="137160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t>Textbook Chapter 4 pp.64–70</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t>Exercise Book 4A Q14–17 (p.26); 4C Q1–3 (p.29)</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t>Keep your notebook, assigned ACCESS books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Present four short situations: total, remainder, repeated pieces and equal sharing. Name the operation.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Q14–17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Choose the method from the operation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Addition and subtraction need common denominators.</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Multiplication multiplies numerators and denominators.</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Division multiplies by the reciprocal of the divisor.</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Choose the operation from the situation before applying a procedure.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Make the correction explain the error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sp>
        <p:nvSpPr>
          <p:cNvPr id="5" name="Rectangle 4"/>
          <p:cNvSpPr/>
          <p:nvPr/>
        </p:nvSpPr>
        <p:spPr>
          <a:xfrm>
            <a:off x="640080" y="190195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1</a:t>
            </a:r>
          </a:p>
        </p:txBody>
      </p:sp>
      <p:sp>
        <p:nvSpPr>
          <p:cNvPr id="6" name="TextBox 5"/>
          <p:cNvSpPr txBox="1"/>
          <p:nvPr/>
        </p:nvSpPr>
        <p:spPr>
          <a:xfrm>
            <a:off x="1188720" y="187451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Keep the original working so the incorrect step can be identified.</a:t>
            </a:r>
          </a:p>
        </p:txBody>
      </p:sp>
      <p:sp>
        <p:nvSpPr>
          <p:cNvPr id="7" name="Rectangle 6"/>
          <p:cNvSpPr/>
          <p:nvPr/>
        </p:nvSpPr>
        <p:spPr>
          <a:xfrm>
            <a:off x="640080" y="286207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2</a:t>
            </a:r>
          </a:p>
        </p:txBody>
      </p:sp>
      <p:sp>
        <p:nvSpPr>
          <p:cNvPr id="8" name="TextBox 7"/>
          <p:cNvSpPr txBox="1"/>
          <p:nvPr/>
        </p:nvSpPr>
        <p:spPr>
          <a:xfrm>
            <a:off x="1188720" y="283463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State whether the error is in the operation, denominator, regrouping or reciprocal.</a:t>
            </a:r>
          </a:p>
        </p:txBody>
      </p:sp>
      <p:sp>
        <p:nvSpPr>
          <p:cNvPr id="9" name="Rectangle 8"/>
          <p:cNvSpPr/>
          <p:nvPr/>
        </p:nvSpPr>
        <p:spPr>
          <a:xfrm>
            <a:off x="640080" y="3822191"/>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3</a:t>
            </a:r>
          </a:p>
        </p:txBody>
      </p:sp>
      <p:sp>
        <p:nvSpPr>
          <p:cNvPr id="10" name="TextBox 9"/>
          <p:cNvSpPr txBox="1"/>
          <p:nvPr/>
        </p:nvSpPr>
        <p:spPr>
          <a:xfrm>
            <a:off x="1188720" y="379475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Write a corrected method and explain why it preserves the quantities.</a:t>
            </a:r>
          </a:p>
        </p:txBody>
      </p:sp>
      <p:sp>
        <p:nvSpPr>
          <p:cNvPr id="11" name="Rectangle 10"/>
          <p:cNvSpPr/>
          <p:nvPr/>
        </p:nvSpPr>
        <p:spPr>
          <a:xfrm>
            <a:off x="640080" y="4782312"/>
            <a:ext cx="329184" cy="329184"/>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a:t>4</a:t>
            </a:r>
          </a:p>
        </p:txBody>
      </p:sp>
      <p:sp>
        <p:nvSpPr>
          <p:cNvPr id="12" name="TextBox 11"/>
          <p:cNvSpPr txBox="1"/>
          <p:nvPr/>
        </p:nvSpPr>
        <p:spPr>
          <a:xfrm>
            <a:off x="1188720" y="4754879"/>
            <a:ext cx="10058400" cy="77724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Use a fresh partner-created value to check the same skill without copying.</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Rectangle 13"/>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5" name="TextBox 14"/>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6" name="TextBox 15"/>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7" name="TextBox 16"/>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8" name="TextBox 17"/>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9" name="TextBox 18"/>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CA"/>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t>W03-L04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000000"/>
                </a:solidFill>
                <a:latin typeface="Arial" pitchFamily="34" charset="0"/>
                <a:ea typeface="Arial" pitchFamily="34" charset="-122"/>
                <a:cs typeface="Arial" pitchFamily="34" charset="-120"/>
              </a:rPr>
              <a:t>Explain why the first method failed</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Incorrect: 1/2 + 1/4 = 2/6.</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The denominators were added even though the pieces differ in size.</a:t>
            </a:r>
            <a:endParaRPr lang="en-US" sz="1800" dirty="0"/>
          </a:p>
        </p:txBody>
      </p:sp>
      <p:sp>
        <p:nvSpPr>
          <p:cNvPr id="6" name="Text 4"/>
          <p:cNvSpPr/>
          <p:nvPr/>
        </p:nvSpPr>
        <p:spPr>
          <a:xfrm>
            <a:off x="609585" y="2762250"/>
            <a:ext cx="10972526" cy="426690"/>
          </a:xfrm>
          <a:prstGeom prst="rect">
            <a:avLst/>
          </a:prstGeom>
          <a:noFill/>
          <a:ln/>
        </p:spPr>
        <p:txBody>
          <a:bodyPr wrap="square" lIns="0" tIns="0" rIns="0" bIns="0" rtlCol="0" anchor="t"/>
          <a:lstStyle/>
          <a:p>
            <a:pPr marL="0" indent="0" algn="l">
              <a:buNone/>
            </a:pPr>
            <a:r>
              <a:rPr lang="en-US" sz="2400" dirty="0">
                <a:solidFill>
                  <a:srgbClr val="000000"/>
                </a:solidFill>
                <a:latin typeface="Arial" pitchFamily="34" charset="0"/>
                <a:ea typeface="Arial" pitchFamily="34" charset="-122"/>
                <a:cs typeface="Arial" pitchFamily="34" charset="-120"/>
              </a:rPr>
              <a:t>Correct: 2/4 + 1/4 = 3/4</a:t>
            </a:r>
            <a:endParaRPr lang="en-US" sz="2400" dirty="0"/>
          </a:p>
        </p:txBody>
      </p:sp>
      <p:sp>
        <p:nvSpPr>
          <p:cNvPr id="7" name="Text 5"/>
          <p:cNvSpPr/>
          <p:nvPr/>
        </p:nvSpPr>
        <p:spPr>
          <a:xfrm>
            <a:off x="609585" y="3619500"/>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Contrast multiplication: 1/2 × 1/4 = 1/8.</a:t>
            </a:r>
            <a:endParaRPr lang="en-US" sz="1800" dirty="0"/>
          </a:p>
          <a:p>
            <a:pPr marL="0" indent="0" algn="l">
              <a:buNone/>
            </a:pPr>
            <a:r>
              <a:rPr lang="en-US" sz="1800" dirty="0">
                <a:solidFill>
                  <a:srgbClr val="000000"/>
                </a:solidFill>
                <a:latin typeface="Arial" pitchFamily="34" charset="0"/>
                <a:ea typeface="Arial" pitchFamily="34" charset="-122"/>
                <a:cs typeface="Arial" pitchFamily="34" charset="-120"/>
              </a:rPr>
              <a:t>Here the question asks for half of a quarter, not a combined length.</a:t>
            </a:r>
            <a:endParaRPr lang="en-US" sz="1800" dirty="0"/>
          </a:p>
        </p:txBody>
      </p:sp>
      <p:sp>
        <p:nvSpPr>
          <p:cNvPr id="8" name="Text 6"/>
          <p:cNvSpPr/>
          <p:nvPr/>
        </p:nvSpPr>
        <p:spPr>
          <a:xfrm>
            <a:off x="609585" y="4810125"/>
            <a:ext cx="10972526" cy="639961"/>
          </a:xfrm>
          <a:prstGeom prst="rect">
            <a:avLst/>
          </a:prstGeom>
          <a:noFill/>
          <a:ln/>
        </p:spPr>
        <p:txBody>
          <a:bodyPr wrap="square" lIns="0" tIns="0" rIns="0" bIns="0" rtlCol="0" anchor="t"/>
          <a:lstStyle/>
          <a:p>
            <a:pPr marL="0" indent="0" algn="l">
              <a:buNone/>
            </a:pPr>
            <a:r>
              <a:rPr lang="en-US" sz="1800" dirty="0">
                <a:solidFill>
                  <a:srgbClr val="000000"/>
                </a:solidFill>
                <a:latin typeface="Arial" pitchFamily="34" charset="0"/>
                <a:ea typeface="Arial" pitchFamily="34" charset="-122"/>
                <a:cs typeface="Arial" pitchFamily="34" charset="-120"/>
              </a:rPr>
              <a:t>Together: explain one method from 4A Q14–17 without copying a partner. Instructor models the most common error from Monday’s work.</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000000"/>
                </a:solidFill>
                <a:latin typeface="Arial" pitchFamily="34" charset="0"/>
                <a:ea typeface="Arial" pitchFamily="34" charset="-122"/>
                <a:cs typeface="Arial" pitchFamily="34" charset="-120"/>
              </a:rPr>
              <a:t>W3 L4 • Use paper first; rebuild one missing-length sketch in Shape Canvas</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Rectangle 10"/>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2" name="TextBox 11"/>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3" name="TextBox 12"/>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4" name="TextBox 13"/>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5" name="TextBox 14"/>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6" name="TextBox 15"/>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28</a:t>
            </a:r>
          </a:p>
        </p:txBody>
      </p:sp>
    </p:spTree>
    <p:extLst>
      <p:ext uri="{BB962C8B-B14F-4D97-AF65-F5344CB8AC3E}">
        <p14:creationId xmlns:p14="http://schemas.microsoft.com/office/powerpoint/2010/main" val="768516818"/>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64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pic>
        <p:nvPicPr>
          <p:cNvPr id="5" name="Picture 4" descr="W03-L04.png"/>
          <p:cNvPicPr>
            <a:picLocks noChangeAspect="1"/>
          </p:cNvPicPr>
          <p:nvPr/>
        </p:nvPicPr>
        <p:blipFill>
          <a:blip r:embed="rId3"/>
          <a:stretch>
            <a:fillRect/>
          </a:stretch>
        </p:blipFill>
        <p:spPr>
          <a:xfrm>
            <a:off x="685800" y="2038100"/>
            <a:ext cx="10698480" cy="337615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p.64 · Example 4.8: use equal-sized fractions to add a stack.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ACCESS Textbook  |  page 64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pic>
        <p:nvPicPr>
          <p:cNvPr id="5" name="Picture 4" descr="W03-L04-2.png"/>
          <p:cNvPicPr>
            <a:picLocks noChangeAspect="1"/>
          </p:cNvPicPr>
          <p:nvPr/>
        </p:nvPicPr>
        <p:blipFill>
          <a:blip r:embed="rId3"/>
          <a:stretch>
            <a:fillRect/>
          </a:stretch>
        </p:blipFill>
        <p:spPr>
          <a:xfrm>
            <a:off x="685800" y="2058884"/>
            <a:ext cx="10698480" cy="333459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t>Textbook p.64 · Check the written fraction method on the chosen calculator.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t>Must you find a common denominator before every fraction multiplication?</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a:t>No. Common denominators support addition and subtraction. Multiply numerators and denominators directly.</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Pairs explain a method from 4A questions 14–17 without copying the partner’s calculation.</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Q14–17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Guided practice  |  4A Q14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pic>
        <p:nvPicPr>
          <p:cNvPr id="5" name="Picture 4" descr="4A-Q14.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Compare your method  |  4A Q14</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pic>
        <p:nvPicPr>
          <p:cNvPr id="5" name="Picture 4" descr="4A-Q14.png"/>
          <p:cNvPicPr>
            <a:picLocks noChangeAspect="1"/>
          </p:cNvPicPr>
          <p:nvPr/>
        </p:nvPicPr>
        <p:blipFill>
          <a:blip r:embed="rId3"/>
          <a:stretch>
            <a:fillRect/>
          </a:stretch>
        </p:blipFill>
        <p:spPr>
          <a:xfrm>
            <a:off x="685800" y="2015744"/>
            <a:ext cx="10698480" cy="1043431"/>
          </a:xfrm>
          <a:prstGeom prst="rect">
            <a:avLst/>
          </a:prstGeom>
        </p:spPr>
      </p:pic>
      <p:sp>
        <p:nvSpPr>
          <p:cNvPr id="6" name="TextBox 5"/>
          <p:cNvSpPr txBox="1"/>
          <p:nvPr/>
        </p:nvSpPr>
        <p:spPr>
          <a:xfrm>
            <a:off x="685800" y="3611880"/>
            <a:ext cx="164592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a:t>(a) 1 1/16  (b) 10 5/16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Rectangle 8"/>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0" name="TextBox 9"/>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1" name="TextBox 10"/>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2" name="TextBox 11"/>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3" name="TextBox 12"/>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4" name="TextBox 13"/>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Complete one part of each question 14–17 independently, then 4C questions 1–3. Mark, explain and retry one error with a fresh partner-created value.</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Q14–17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Open the ACCESS tool for this activity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Your tool activity: try, compare and record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first attempt: Complete one part of 4A Q14–17 and the assigned 4C drawings on paper.</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Checking after completion: Use the chosen calculator and explain one difference from your result.</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t>Independent retry: Rebuild one missing-length sketch in Shape Canvas and solve a fresh missed type.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Rectangle 11"/>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3" name="TextBox 12"/>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4" name="TextBox 13"/>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5" name="TextBox 14"/>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6" name="TextBox 15"/>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7" name="TextBox 16"/>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4A Q14a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Practise from the Exercise Book  |  4C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pic>
        <p:nvPicPr>
          <p:cNvPr id="5" name="Picture 4" descr="4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Redo 4A questions 14(a),15(a),16(b),17(b). Give simplest forms.</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Q14–17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4A Q14a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4A Q15a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pic>
        <p:nvPicPr>
          <p:cNvPr id="5" name="Picture 4" descr="4A-Q15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4A Q16b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pic>
        <p:nvPicPr>
          <p:cNvPr id="5" name="Picture 4" descr="4A-Q16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Independent check  |  4A Q17b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pic>
        <p:nvPicPr>
          <p:cNvPr id="5" name="Picture 4" descr="4A-Q17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8" name="Rectangle 7"/>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9" name="TextBox 8"/>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Textbook</a:t>
            </a:r>
          </a:p>
        </p:txBody>
      </p:sp>
      <p:sp>
        <p:nvSpPr>
          <p:cNvPr id="10" name="TextBox 9"/>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Exercise Book</a:t>
            </a:r>
          </a:p>
        </p:txBody>
      </p:sp>
      <p:sp>
        <p:nvSpPr>
          <p:cNvPr id="11" name="TextBox 10"/>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Numeracy Hub</a:t>
            </a:r>
          </a:p>
        </p:txBody>
      </p:sp>
      <p:sp>
        <p:nvSpPr>
          <p:cNvPr id="12" name="TextBox 11"/>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8"/>
              </a:rPr>
              <a:t>Shape Canvas</a:t>
            </a:r>
          </a:p>
        </p:txBody>
      </p:sp>
      <p:sp>
        <p:nvSpPr>
          <p:cNvPr id="13" name="TextBox 12"/>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t>W03-L04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t>Textbook Chapter 4 pp.64–70</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t>Share one learning point and one skill to practise next.</a:t>
            </a:r>
          </a:p>
        </p:txBody>
      </p:sp>
      <p:sp>
        <p:nvSpPr>
          <p:cNvPr id="6" name="Rectangle 5"/>
          <p:cNvSpPr/>
          <p:nvPr/>
        </p:nvSpPr>
        <p:spPr>
          <a:xfrm>
            <a:off x="612648" y="4251960"/>
            <a:ext cx="10927080" cy="1280160"/>
          </a:xfrm>
          <a:prstGeom prst="rect">
            <a:avLst/>
          </a:prstGeom>
          <a:solidFill>
            <a:srgbClr val="F4F5F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t>Resources: Exercise Book 4A Q14–17 (p.26); 4C Q1–3 (p.29)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Rectangle 9"/>
          <p:cNvSpPr/>
          <p:nvPr/>
        </p:nvSpPr>
        <p:spPr>
          <a:xfrm>
            <a:off x="612648" y="6601968"/>
            <a:ext cx="10972800" cy="16459"/>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11" name="TextBox 10"/>
          <p:cNvSpPr txBox="1"/>
          <p:nvPr/>
        </p:nvSpPr>
        <p:spPr>
          <a:xfrm>
            <a:off x="612648" y="6656832"/>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4"/>
              </a:rPr>
              <a:t>Textbook</a:t>
            </a:r>
          </a:p>
        </p:txBody>
      </p:sp>
      <p:sp>
        <p:nvSpPr>
          <p:cNvPr id="12" name="TextBox 11"/>
          <p:cNvSpPr txBox="1"/>
          <p:nvPr/>
        </p:nvSpPr>
        <p:spPr>
          <a:xfrm>
            <a:off x="1691640" y="6656832"/>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5"/>
              </a:rPr>
              <a:t>Exercise Book</a:t>
            </a:r>
          </a:p>
        </p:txBody>
      </p:sp>
      <p:sp>
        <p:nvSpPr>
          <p:cNvPr id="13" name="TextBox 12"/>
          <p:cNvSpPr txBox="1"/>
          <p:nvPr/>
        </p:nvSpPr>
        <p:spPr>
          <a:xfrm>
            <a:off x="3136392" y="6656832"/>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6"/>
              </a:rPr>
              <a:t>Numeracy Hub</a:t>
            </a:r>
          </a:p>
        </p:txBody>
      </p:sp>
      <p:sp>
        <p:nvSpPr>
          <p:cNvPr id="14" name="TextBox 13"/>
          <p:cNvSpPr txBox="1"/>
          <p:nvPr/>
        </p:nvSpPr>
        <p:spPr>
          <a:xfrm>
            <a:off x="4736592" y="6656832"/>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a:hlinkClick r:id="rId7"/>
              </a:rPr>
              <a:t>Shape Canvas</a:t>
            </a:r>
          </a:p>
        </p:txBody>
      </p:sp>
      <p:sp>
        <p:nvSpPr>
          <p:cNvPr id="15" name="TextBox 14"/>
          <p:cNvSpPr txBox="1"/>
          <p:nvPr/>
        </p:nvSpPr>
        <p:spPr>
          <a:xfrm>
            <a:off x="8412480" y="6656832"/>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a:t>Day 09  •  2026-11-10  •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37</TotalTime>
  <Words>19960</Words>
  <Application>Microsoft Office PowerPoint</Application>
  <PresentationFormat>Widescreen</PresentationFormat>
  <Paragraphs>2040</Paragraphs>
  <Slides>165</Slides>
  <Notes>165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165</vt:i4>
      </vt:variant>
    </vt:vector>
  </HeadingPairs>
  <TitlesOfParts>
    <vt:vector size="168"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Carpentry Math | Full Day 09 | 2026-11-10</dc:title>
  <dc:creator>ACCESS Trades</dc:creator>
  <cp:lastModifiedBy>Gabriel Ostrowidzki</cp:lastModifiedBy>
  <cp:revision>3</cp:revision>
  <dcterms:created xsi:type="dcterms:W3CDTF">2026-10-19T18:44:52Z</dcterms:created>
  <dcterms:modified xsi:type="dcterms:W3CDTF">2026-10-19T19:22:04Z</dcterms:modified>
  <dc:subject>Repeated pieces and equal groups; Fraction operations: check and retry</dc:subject>
</cp:coreProperties>
</file>