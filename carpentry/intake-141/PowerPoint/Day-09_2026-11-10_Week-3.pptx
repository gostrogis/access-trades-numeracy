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55.xml" ContentType="application/vnd.openxmlformats-officedocument.presentationml.notesSlide+xml"/>
  <Override PartName="/ppt/notesSlides/notesSlide5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7"/>
  </p:notesMasterIdLst>
  <p:sldIdLst>
    <p:sldId id="435" r:id="rId172"/>
    <p:sldId id="436" r:id="rId173"/>
    <p:sldId id="437" r:id="rId174"/>
    <p:sldId id="438" r:id="rId175"/>
    <p:sldId id="439" r:id="rId176"/>
    <p:sldId id="440" r:id="rId177"/>
    <p:sldId id="323" r:id="rId56"/>
    <p:sldId id="441" r:id="rId178"/>
    <p:sldId id="442" r:id="rId179"/>
    <p:sldId id="443" r:id="rId180"/>
    <p:sldId id="444" r:id="rId181"/>
    <p:sldId id="445" r:id="rId182"/>
    <p:sldId id="446" r:id="rId183"/>
    <p:sldId id="447" r:id="rId184"/>
    <p:sldId id="448" r:id="rId185"/>
    <p:sldId id="449" r:id="rId186"/>
    <p:sldId id="450" r:id="rId187"/>
    <p:sldId id="451" r:id="rId188"/>
    <p:sldId id="452" r:id="rId189"/>
    <p:sldId id="453" r:id="rId190"/>
    <p:sldId id="454" r:id="rId191"/>
    <p:sldId id="455" r:id="rId192"/>
    <p:sldId id="456" r:id="rId193"/>
    <p:sldId id="457" r:id="rId194"/>
    <p:sldId id="458" r:id="rId195"/>
    <p:sldId id="459" r:id="rId196"/>
    <p:sldId id="460" r:id="rId197"/>
    <p:sldId id="326" r:id="rId59"/>
    <p:sldId id="461" r:id="rId198"/>
    <p:sldId id="462" r:id="rId199"/>
    <p:sldId id="463" r:id="rId200"/>
    <p:sldId id="464" r:id="rId201"/>
    <p:sldId id="465" r:id="rId202"/>
    <p:sldId id="466" r:id="rId203"/>
    <p:sldId id="467" r:id="rId204"/>
    <p:sldId id="468" r:id="rId205"/>
    <p:sldId id="469" r:id="rId206"/>
    <p:sldId id="470" r:id="rId207"/>
    <p:sldId id="471" r:id="rId208"/>
    <p:sldId id="472" r:id="rId209"/>
    <p:sldId id="473" r:id="rId210"/>
    <p:sldId id="474" r:id="rId211"/>
    <p:sldId id="475" r:id="rId212"/>
    <p:sldId id="476" r:id="rId213"/>
    <p:sldId id="477" r:id="rId2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0520" autoAdjust="0"/>
  </p:normalViewPr>
  <p:slideViewPr>
    <p:cSldViewPr snapToGrid="0">
      <p:cViewPr varScale="1">
        <p:scale>
          <a:sx n="65" d="100"/>
          <a:sy n="65" d="100"/>
        </p:scale>
        <p:origin x="23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56" Type="http://schemas.openxmlformats.org/officeDocument/2006/relationships/slide" Target="slides/slide7.xml"/><Relationship Id="rId59" Type="http://schemas.openxmlformats.org/officeDocument/2006/relationships/slide" Target="slides/slide28.xml"/><Relationship Id="rId167" Type="http://schemas.openxmlformats.org/officeDocument/2006/relationships/notesMaster" Target="notesMasters/notesMaster1.xml"/><Relationship Id="rId168" Type="http://schemas.openxmlformats.org/officeDocument/2006/relationships/presProps" Target="presProps.xml"/><Relationship Id="rId169" Type="http://schemas.openxmlformats.org/officeDocument/2006/relationships/viewProps" Target="viewProps.xml"/><Relationship Id="rId170" Type="http://schemas.openxmlformats.org/officeDocument/2006/relationships/theme" Target="theme/theme1.xml"/><Relationship Id="rId171" Type="http://schemas.openxmlformats.org/officeDocument/2006/relationships/tableStyles" Target="tableStyles.xml"/><Relationship Id="rId172" Type="http://schemas.openxmlformats.org/officeDocument/2006/relationships/slide" Target="slides/slide1.xml"/><Relationship Id="rId173" Type="http://schemas.openxmlformats.org/officeDocument/2006/relationships/slide" Target="slides/slide2.xml"/><Relationship Id="rId174" Type="http://schemas.openxmlformats.org/officeDocument/2006/relationships/slide" Target="slides/slide3.xml"/><Relationship Id="rId175" Type="http://schemas.openxmlformats.org/officeDocument/2006/relationships/slide" Target="slides/slide4.xml"/><Relationship Id="rId176" Type="http://schemas.openxmlformats.org/officeDocument/2006/relationships/slide" Target="slides/slide5.xml"/><Relationship Id="rId177" Type="http://schemas.openxmlformats.org/officeDocument/2006/relationships/slide" Target="slides/slide6.xml"/><Relationship Id="rId178" Type="http://schemas.openxmlformats.org/officeDocument/2006/relationships/slide" Target="slides/slide8.xml"/><Relationship Id="rId179" Type="http://schemas.openxmlformats.org/officeDocument/2006/relationships/slide" Target="slides/slide9.xml"/><Relationship Id="rId180" Type="http://schemas.openxmlformats.org/officeDocument/2006/relationships/slide" Target="slides/slide10.xml"/><Relationship Id="rId181" Type="http://schemas.openxmlformats.org/officeDocument/2006/relationships/slide" Target="slides/slide11.xml"/><Relationship Id="rId182" Type="http://schemas.openxmlformats.org/officeDocument/2006/relationships/slide" Target="slides/slide12.xml"/><Relationship Id="rId183" Type="http://schemas.openxmlformats.org/officeDocument/2006/relationships/slide" Target="slides/slide13.xml"/><Relationship Id="rId184" Type="http://schemas.openxmlformats.org/officeDocument/2006/relationships/slide" Target="slides/slide14.xml"/><Relationship Id="rId185" Type="http://schemas.openxmlformats.org/officeDocument/2006/relationships/slide" Target="slides/slide15.xml"/><Relationship Id="rId186" Type="http://schemas.openxmlformats.org/officeDocument/2006/relationships/slide" Target="slides/slide16.xml"/><Relationship Id="rId187" Type="http://schemas.openxmlformats.org/officeDocument/2006/relationships/slide" Target="slides/slide17.xml"/><Relationship Id="rId188" Type="http://schemas.openxmlformats.org/officeDocument/2006/relationships/slide" Target="slides/slide18.xml"/><Relationship Id="rId189" Type="http://schemas.openxmlformats.org/officeDocument/2006/relationships/slide" Target="slides/slide19.xml"/><Relationship Id="rId190" Type="http://schemas.openxmlformats.org/officeDocument/2006/relationships/slide" Target="slides/slide20.xml"/><Relationship Id="rId191" Type="http://schemas.openxmlformats.org/officeDocument/2006/relationships/slide" Target="slides/slide21.xml"/><Relationship Id="rId192" Type="http://schemas.openxmlformats.org/officeDocument/2006/relationships/slide" Target="slides/slide22.xml"/><Relationship Id="rId193" Type="http://schemas.openxmlformats.org/officeDocument/2006/relationships/slide" Target="slides/slide23.xml"/><Relationship Id="rId194" Type="http://schemas.openxmlformats.org/officeDocument/2006/relationships/slide" Target="slides/slide24.xml"/><Relationship Id="rId195" Type="http://schemas.openxmlformats.org/officeDocument/2006/relationships/slide" Target="slides/slide25.xml"/><Relationship Id="rId196" Type="http://schemas.openxmlformats.org/officeDocument/2006/relationships/slide" Target="slides/slide26.xml"/><Relationship Id="rId197" Type="http://schemas.openxmlformats.org/officeDocument/2006/relationships/slide" Target="slides/slide27.xml"/><Relationship Id="rId198" Type="http://schemas.openxmlformats.org/officeDocument/2006/relationships/slide" Target="slides/slide29.xml"/><Relationship Id="rId199" Type="http://schemas.openxmlformats.org/officeDocument/2006/relationships/slide" Target="slides/slide30.xml"/><Relationship Id="rId200" Type="http://schemas.openxmlformats.org/officeDocument/2006/relationships/slide" Target="slides/slide31.xml"/><Relationship Id="rId201" Type="http://schemas.openxmlformats.org/officeDocument/2006/relationships/slide" Target="slides/slide32.xml"/><Relationship Id="rId202" Type="http://schemas.openxmlformats.org/officeDocument/2006/relationships/slide" Target="slides/slide33.xml"/><Relationship Id="rId203" Type="http://schemas.openxmlformats.org/officeDocument/2006/relationships/slide" Target="slides/slide34.xml"/><Relationship Id="rId204" Type="http://schemas.openxmlformats.org/officeDocument/2006/relationships/slide" Target="slides/slide35.xml"/><Relationship Id="rId205" Type="http://schemas.openxmlformats.org/officeDocument/2006/relationships/slide" Target="slides/slide36.xml"/><Relationship Id="rId206" Type="http://schemas.openxmlformats.org/officeDocument/2006/relationships/slide" Target="slides/slide37.xml"/><Relationship Id="rId207" Type="http://schemas.openxmlformats.org/officeDocument/2006/relationships/slide" Target="slides/slide38.xml"/><Relationship Id="rId208" Type="http://schemas.openxmlformats.org/officeDocument/2006/relationships/slide" Target="slides/slide39.xml"/><Relationship Id="rId209" Type="http://schemas.openxmlformats.org/officeDocument/2006/relationships/slide" Target="slides/slide40.xml"/><Relationship Id="rId210" Type="http://schemas.openxmlformats.org/officeDocument/2006/relationships/slide" Target="slides/slide41.xml"/><Relationship Id="rId211" Type="http://schemas.openxmlformats.org/officeDocument/2006/relationships/slide" Target="slides/slide42.xml"/><Relationship Id="rId212" Type="http://schemas.openxmlformats.org/officeDocument/2006/relationships/slide" Target="slides/slide43.xml"/><Relationship Id="rId213" Type="http://schemas.openxmlformats.org/officeDocument/2006/relationships/slide" Target="slides/slide44.xml"/><Relationship Id="rId214"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2A43CA-EE69-4B9A-80F8-91B7489D0DD8}" type="datetimeFigureOut">
              <a:rPr lang="en-CA" smtClean="0"/>
              <a:t>2026-10-19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99165C-7370-4B52-8859-B50CCB89355C}" type="slidenum">
              <a:rPr lang="en-CA" smtClean="0"/>
              <a:t>‹#›</a:t>
            </a:fld>
            <a:endParaRPr lang="en-CA"/>
          </a:p>
        </p:txBody>
      </p:sp>
    </p:spTree>
    <p:extLst>
      <p:ext uri="{BB962C8B-B14F-4D97-AF65-F5344CB8AC3E}">
        <p14:creationId xmlns:p14="http://schemas.microsoft.com/office/powerpoint/2010/main" val="2368613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12:55 PM–1:10 PM  •  15 MIN TOTAL — shared across this phase.</a:t>
            </a:r>
          </a:p>
          <a:p/>
          <a:p>
            <a:r>
              <a:t>Three pieces of two and three eighths inches give three times nineteen eighths: fifty-seven eighths. Seven complete groups of eight use fifty-six eighths, leaving one, so the total is seven and one eighth inches. Now the second example asks how many one-eighth-inch pieces fit into three quarters of an inch. Three quarters is six eighths, so the answer is six pieces. The reciprocal calculation, 3/4 × 8/1, confirms six. Why are the final labels different? The first operation combines lengths; the second counts pieces. These examples ignore kerf, so no cutting allowance is included.</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  •  2:25 PM–2:40 PM  •  15 MIN TOTAL — shared across this phase.</a:t>
            </a:r>
          </a:p>
          <a:p/>
          <a:p>
            <a:r>
              <a:t>Compare the two operations on this slide. One half plus one quarter means a combined amount. Rename the half as two quarters, then add one quarter to obtain three quarters. Adding the denominators would incorrectly change the piece size. One half times one quarter means half of a quarter. Splitting a quarter into two equal pieces gives one eighth, so multiplication produces a smaller amount here. What decides which answer is appropriate? The operation and the situation, not simply the presence of fractions. Explain that difference before applying either rule to today's exercises.</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find totals made from repeated pieces, divide lengths into equal parts, and locate centre lines. Then we bring all four fraction operations together and use checking to repair specific errors. Before calculating, ask what the answer represents. Is it a length, or a count of pieces? That distinction will guide both the operation and the final label. A calculator can confirm arithmetic, but we must decide what the arithmetic means.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work from 12:45 to 2:00 on repeated pieces and equal groups. The scheduled break is 2:00–2:15. From 2:15 to 3:30, we check and retry fraction operations. In each block, the teaching and shared work prepare you for an independent attempt. The final check in the second block includes one item for each operation. Keep your original working visible during corrections so you can explain which step changed and why the new method works.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12:45 PM–12:50 PM  •  5 MIN TOTAL — shared across this phase.</a:t>
            </a:r>
          </a:p>
          <a:p/>
          <a:p>
            <a:r>
              <a:t>Open the textbook to pages 67–70. Repeated pieces suggest multiplication: we want several copies of the same length. Equal sharing suggests division: we want the length of one share. Dividing a total length by a specified piece length asks a different question: how many such pieces fit? Which situation describes a centre line? Equal sharing into two halves. We will connect these meanings to 4A questions 16–17, 4B questions 4–5, and 4C question 5.</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12:50 PM–12:55 PM  •  5 MIN TOTAL — shared across this phase.</a:t>
            </a:r>
          </a:p>
          <a:p/>
          <a:p>
            <a:r>
              <a:t>How does repeated addition connect to multiplication? Adding the same length three times gives three times that length. If a plate has a centre line, how much width lies on each side? Half the full width, so divide the width by two. The result remains a length. Now imagine dividing a total length by the length of one piece. What does that result tell us? The number of pieces. Same operation, different meaning; read what is being divided by what.</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To multiply mixed numbers, convert each complete value to an improper fraction first. That keeps the whole and fractional parts together as one count. Multiply numerators to count the selected parts and multiply denominators to describe their resulting subdivision; then simplify and convert back if needed. A whole-number repeat count can be written over one. For repeated lengths, the result should match a drawing of equal labelled strips placed end to end. What must stay equal in that drawing? Every repeated piece length. If one rectangle has a different labelled length, it no longer represents a simple repeated-piece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Division can find a piece count or a length per part. A length divided by a piece length counts how many equal pieces fit, so the final answer is a count. A length divided by a number of equal shares gives the length of each share. For a fraction divisor, multiply by its reciprocal; convert a mixed divisor to an improper fraction before taking that reciprocal. How can we check a centre-line distance? Double it and recover the full width. That check keeps the calculation tied to the physical meaning: the centre has two equal distances to opposite edges.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Example 4.12 on page 68 divides a stock length by a piece length. Follow which value is the total and which is the size of one piece. The quotient tells us how many piece lengths fit. If it is not a whole number, what can we actually make? Only the complete pieces allowed by the whole-number part; a partial quotient is not another complete piece. To find the offcut, multiply the number of complete pieces by the piece length, then subtract from the stock length. This keeps the piece count distinct from the remaining length.</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Page 68 shows how exact fraction entry supports the piece-count and offcut calculation. Enter the stock and piece dimensions as written, using the documented fraction sequence for your calculator. Avoid rounding them to short decimals before division, because that could shift a result near a whole-piece boundary. What value goes into the offcut calculation? The number of complete pieces multiplied by the exact piece length. Then subtract that used length from the stock. Read the final display as a length and compare it with one full piece: an offcut smaller than a piece cannot supply another complete piece.</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12:55 PM–1:10 PM  •  15 MIN TOTAL — shared across this phase.</a:t>
            </a:r>
          </a:p>
          <a:p/>
          <a:p>
            <a:r>
              <a:t>Three quarters of an inch divided by one eighth of an inch gives six, but six what? Six pieces of the specified size. Calling it six inches would describe a length much larger than the stock and would contradict the question. Check the meaning by multiplying: six pieces times one eighth of an inch per piece equals six eighths of an inch, or three quarters. The length units in the division cancel because we are counting how many equal lengths fit. Always attach the label that matches the question being answered.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Work through 4A questions 16(a) and 17(a), then 4B question 5. Explain the operation before calculating. For multiplication, state what repeats or what fraction of a quantity is taken. For division, say whether the answer is a count or a length. Sketch the plate in question 5 with a centre line splitting it into two equal widths. What must the two distances add to? The full plate width. Use that relationship as your check after the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Multiply five eighths by twelve. Think of twelve equal groups, each containing five eighth-sized parts. Write twelve as twelve over one if that helps organize the multiplication. Predict whether the result lies between seven and eight.</a:t>
            </a:r>
          </a:p>
          <a:p/>
          <a:p>
            <a:r>
              <a:t>Instructor only, after the attempt: (5/8) × (12/1) = 60/8 = 7 4/8 = 7 1/2. Alternatively, simplify 12/8 to 3/2 first, then obtain 15/2. Both routes count the same total and must reach the same value.</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1:10 PM–1:25 PM  •  15 MIN TOTAL — shared across this phase.</a:t>
            </a:r>
          </a:p>
          <a:p/>
          <a:p>
            <a:r>
              <a:t>The result is seven and one half. Twelve groups of five eighths contain sixty eighths altogether. Fifty-six eighths make seven wholes, leaving four eighths, which simplifies to one half. Why did the denominator remain eight in this whole-number multiplication? Multiplying by twelve repeated the number of eighth-sized parts; the whole-number multiplier has denominator one. If you simplified before multiplying, explain which common factor you cancelled and why it preserved the fraction's value. Compare the reasoning, not just the final display.</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Complete the remaining parts of 4A questions 16–17, then 4B question 4 and 4C question 5. Convert mixed numbers before multiplication or fraction division, and keep the exact fractions through the calculation. For each word problem, finish by explaining what the answer counts or measures. If it is a centre-line or equal-share problem, multiplying your answer by the number of shares should recover the original length. For repeated pieces, dividing the total by the repeat count should recover one piece.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Open Shape Canvas and repeat a labelled rectangle to represent equal pieces. Use the assigned value for one piece and make sure every repeated label matches it. Before finding the total, state how many copies you have. What equation matches the drawing? Number of pieces times length per piece equals total length. We are using the visual arrangement to explain multiplication; the written labels provide the exact fractional values. Keep any calculated total hidden until the paper attempt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Use a repeated Shape Canvas rectangle to show why multiplication fits the assigned repeated-piece question. Then write the exact fraction calculation on paper. For the division questions, say aloud whether you are finding how many pieces fit or how long each equal part will be. Use Numeracy Hub's calculator after that reasoning to check arithmetic. What final label belongs on a centre-line answer? Inches, because it measures a distance. A complete-piece answer should instead say how many pieces.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Multiply two and one half by one and three quarters. Convert both complete mixed numbers to improper fractions first; do not multiply the whole parts and fractional parts separately. Then multiply and simplify.</a:t>
            </a:r>
          </a:p>
          <a:p/>
          <a:p>
            <a:r>
              <a:t>Instructor only, after the attempt: 2 1/2 = 5/2 and 1 3/4 = 7/4. Their product is 35/8 = 4 3/8. The result exceeds 2 1/2 because the multiplier 1 3/4 is greater than one. This pure-number exercise does not supply length units.</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1:25 PM–1:45 PM  •  20 MIN TOTAL — shared across this phase.</a:t>
            </a:r>
          </a:p>
          <a:p/>
          <a:p>
            <a:r>
              <a:t>Four equal pieces are each eight and three eighths inches long. Find their total, then consider increasing every piece by one sixteenth of an inch. How many increases must the new total include?</a:t>
            </a:r>
          </a:p>
          <a:p/>
          <a:p>
            <a:r>
              <a:t>Instructor only, after the attempt: 4 × 8 3/8 = 4 × 67/8 = 268/8 = 33 1/2 in. Four increases of 1/16 in total 4/16 = 1/4 in, so the new overall length is 33 3/4 in. Adding only one sixteenth would overlook three changed pieces.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Complete 4A question 17(b) and 4B question 5 independently. Show the division and keep fraction forms exact. In the plate question, label the answer as a distance from one edge to the centre line. How can you check the two answers? Multiply each equal share by the number of shares to recover the original quantity. The arithmetic should support the physical interpretation, and the centre-line sketch should show two equal halves rather than two unequal remainder pieces.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Divide fifteen and three quarters by three. Convert the mixed number to one fraction, then multiply by the reciprocal of three. Show the simplified result and use multiplication to check it.</a:t>
            </a:r>
          </a:p>
          <a:p/>
          <a:p>
            <a:r>
              <a:t>Instructor only, after the attempt: 15 3/4 = 63/4. Then (63/4) ÷ 3 = (63/4) × (1/3) = 63/12 = 21/4 = 5 1/4. Check: 3 × 5 1/4 = 15 3/4. This question supplies no physical unit, so do not invent one.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1:45 PM–1:55 PM  •  10 MIN TOTAL — shared across this phase.</a:t>
            </a:r>
          </a:p>
          <a:p/>
          <a:p>
            <a:r>
              <a:t>A plate is fifteen and five eighths inches wide. Find the centre-line distance from one edge. The centre splits the full width into two equal lengths, so write the division by two and check by doubling your answer.</a:t>
            </a:r>
          </a:p>
          <a:p/>
          <a:p>
            <a:r>
              <a:t>Instructor only, after the attempt: 15 5/8 = 125/8; (125/8) × (1/2) = 125/16 = 7 13/16 in. Doubling 7 13/16 gives 15 10/16 = 15 5/8 in. The denominator changes to sixteenths because halving an eighth creates sixteenths.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1:55 PM–2:00 PM  •  5 MIN TOTAL — shared across this phase.</a:t>
            </a:r>
          </a:p>
          <a:p/>
          <a:p>
            <a:r>
              <a:t>Give one example of a division answer that is a length and one that is a count. A centre-line distance is a length; the number of equal pieces fitting into stock is a count. Explain why doubling a centre-line distance checks it. Then identify whether your next practice should focus on converting mixed numbers, using the reciprocal, or interpreting the answer's unit. After the break, we will check all four fraction operations and use corrected reasoning on a fresh example.</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the scheduled break from 2:00 to 2:15. We return at 2:15 to check and retry fraction operations. Keep today's written calculations available so a correction can point to the exact step that needs attention.</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  2:15 PM–2:20 PM  •  5 MIN TOTAL — shared across this phase.</a:t>
            </a:r>
          </a:p>
          <a:p/>
          <a:p>
            <a:r>
              <a:t>This block brings addition, subtraction, multiplication, and division together. The first decision is choosing the operation that fits the situation; the second is using the correct fraction procedure. What makes a correction useful? It identifies the original error and explains why the revised method works. We will use the textbook on pages 64–70, questions 14–17 in 4A, and the missing-dimension drawings in 4C questions 1–3. Your final answers should be in simplest form, with working that another person can follow.</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  2:20 PM–2:25 PM  •  5 MIN TOTAL — shared across this phase.</a:t>
            </a:r>
          </a:p>
          <a:p/>
          <a:p>
            <a:r>
              <a:t>Name the operation for each situation. Combining two adjoining lengths asks for addition. Finding an offcut after removing a known piece asks for subtraction. Finding the total of several equal pieces asks for multiplication. Sharing a length equally asks for division. What should come before choosing a fraction rule? Understanding which of those relationships the question describes. A correctly executed procedure for the wrong operation still answers a different question, so read the situation before touching the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Addition and subtraction require equal-sized parts, so use common denominators. Multiplication combines fractions by multiplying numerators and denominators; common denominators are not a prerequisite. Division uses multiplication by the reciprocal of the divisor. Convert mixed numbers before applying those multiplication or division rules. How do we decide which procedure applies? First identify the operation from the situation. Combining a half-inch layer and a quarter-inch layer is addition, while taking half of a quarter-inch amount is multiplication. The same two fractions can therefore lead to different answers because they describe different relationships.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Keep the original working when you correct an error. Point to the first step where the reasoning went wrong: was it the chosen operation, an equivalent fraction, a regrouped whole, or the reciprocal? Write a corrected line and explain why it follows from the quantities. For example, 'I changed only the numerator' identifies why a simplification changed the value. Why try a fresh partner-created value next? It shows whether you understand the method beyond remembering one answer. The final evidence is a new solution with a valid check, not a neatly copied correction.</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Example 4.8 on page 64 shows a stack of labelled plates. Each layer contributes its thickness to the total, so addition is the appropriate operation. Read the labels, then follow the common-denominator calculation. Why are equal-sized fractional units needed? We must count the thicknesses together in one consistent unit. The drawing helps diagnose an operation error: multiplying the layer thicknesses would not represent adding layers to a stack. Before evaluating any numbers, describe in words how the physical arrangement creates the total being asked for.</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Use the calculator sequence on page 64 to check a written fraction method after the paper attempt. Enter the same values and operation that appear in your equation. If the calculator result differs, do not immediately replace your work. Compare the chosen operation, the fraction entry, and any mixed-number display conversion. What can a calculator verify reliably? The arithmetic of what you entered. It cannot decide whether a stack requires addition or whether you copied the correct dimension from a drawing; those decisions still come from your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  •  2:25 PM–2:40 PM  •  15 MIN TOTAL — shared across this phase.</a:t>
            </a:r>
          </a:p>
          <a:p/>
          <a:p>
            <a:r>
              <a:t>Must every fraction multiplication begin with common denominators? No. That preparation is essential for addition and subtraction because we are combining or removing equal-sized pieces. In multiplication, multiply numerators and denominators directly, after converting mixed numbers if present. For example, one half times one quarter becomes one eighth. Why is the denominator eight? The quarter is divided into two equal parts. Using a common denominator first is possible but unnecessary and does not turn the multiplication into an addition rule. Read the operation symbol carefully before choosing the procedure.</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Choose a method from 4A questions 14–17 and explain it to your partner without copying their calculation. One person talks through why each step is valid while the other listens for the key rule. For addition or subtraction, ask about equal-sized parts and regrouping. For multiplication or division, ask about improper fractions and the divisor's reciprocal. Then switch roles. Which explanation is stronger: naming a rule or connecting it to the actual values? Connecting it to the values shows you understand the calculation in front of you.</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Work through both parts of 4A question 14. Explain the common denominator and identify any complete whole formed by the fractional sum. Let each partner finish a written attempt before comparing.</a:t>
            </a:r>
          </a:p>
          <a:p/>
          <a:p>
            <a:r>
              <a:t>Instructor only, after the attempt: (a) 5/16 + 3/4 = 5/16 + 12/16 = 17/16 = 1 1/16. (b) 7 3/8 + 2 15/16 = 9 21/16 = 10 5/16. Both additions produce a whole from their fractional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  2:40 PM–2:55 PM  •  15 MIN TOTAL — shared across this phase.</a:t>
            </a:r>
          </a:p>
          <a:p/>
          <a:p>
            <a:r>
              <a:t>Both answers require carrying a whole. In part (a), seventeen sixteenths becomes one whole and one sixteenth. In part (b), the original wholes total nine, and the fractions total twenty-one sixteenths. Sixteen of those pieces form an extra whole, so the result is ten and five sixteenths. What shared error could make both answers one whole too small? Reducing the leftover numerator without carrying the complete set into the whole part. State where that extra whole came from in each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Complete one part of each question 14–17 independently, then work through 4C questions 1–3. After checking, select one error to explain and retry with a fresh partner-created value. Classify the error precisely: operation, denominator, regrouping, or reciprocal. For the hidden dimensions, write overall minus known parts and use addition to reconstruct the overall length. What should remain in your notes after correction? The original mistaken step, a corrected method, and a check showing why the new result fits.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Open Shape Canvas to rebuild one missing-length sketch from the assigned 4C work. Label the overall dimension and the known part or parts, leaving the missing value hidden while you calculate. Say the relationship aloud: known lengths plus missing length equal the overall length. Which operation isolates the missing length? Subtraction of the known parts from the overall dimension. The diagram should make that relationship clear while your paper records the exact fraction method and the add-back check.</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Make the first attempt on paper for one part of 4A questions 14–17 and the assigned 4C drawings. Use the chosen calculator only after completing the calculation. If it differs, explain whether the problem lies in your method or the entered expression. Rebuild one missing-length sketch in Shape Canvas, then solve a fresh example of your missed type independently. What should transfer to the new numbers? The correct operation, the fraction procedure, and a check suited to the situation.</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For 4A question 14(a), add five sixteenths and three quarters. Write the equivalent fraction that makes the denominators match, then handle any whole contained in the sum. Explain why the denominator is not added.</a:t>
            </a:r>
          </a:p>
          <a:p/>
          <a:p>
            <a:r>
              <a:t>Instructor only, after the attempt: Three quarters is twelve sixteenths. Five plus twelve gives seventeen sixteenths, which is 1 1/16. The denominator stays sixteen because we are counting sixteenth-sized pieces throughout the addition; regrouping sixteen pieces creates one whole.</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PRACTISE  •  2:55 PM–3:15 PM  •  20 MIN TOTAL — shared across this phase.</a:t>
            </a:r>
          </a:p>
          <a:p/>
          <a:p>
            <a:r>
              <a:t>Find the hidden width in 4C question 1. Read twelve and one quarter inches as the overall width and three and three eighths inches as the known part. Write the subtraction and check by addition.</a:t>
            </a:r>
          </a:p>
          <a:p/>
          <a:p>
            <a:r>
              <a:t>Instructor only, after the attempt: 12 1/4 − 3 3/8 = 12 2/8 − 3 3/8 = 11 10/8 − 3 3/8 = 8 7/8 in. Add 3 3/8 back: 8 7/8 + 3 3/8 = 12 1/4 in.</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Independently redo 4A questions 14(a), 15(a), 16(b), and 17(b). These cover addition, subtraction, multiplication, and division. Before each calculation, identify its operation and the rule that belongs to it. Give simplest forms and leave enough working to show the method. Which two operations need a common denominator? Addition and subtraction. For division, identify the divisor before taking its reciprocal. Keep the solutions closed until you have completed all four attempts so the check reflects your own reasoning.</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Add five sixteenths and three quarters independently. Show the common denominator and convert any improper fractional total to simplest mixed form. Explain why the result should exceed one whole.</a:t>
            </a:r>
          </a:p>
          <a:p/>
          <a:p>
            <a:r>
              <a:t>Instructor only, after the attempt: 3/4 = 12/16, so the total is 17/16 = 1 1/16. The quarter needed to complete three quarters is four sixteenths, and the added five sixteenths exceeds it by one sixteenth. That confirms the size of the result.</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Subtract one and eleven sixteenths from five. Show how you rename a whole before subtracting the fractional part, then add your result back to check it.</a:t>
            </a:r>
          </a:p>
          <a:p/>
          <a:p>
            <a:r>
              <a:t>Instructor only, after the attempt: 5 = 4 16/16. Subtracting 1 11/16 gives 3 5/16. The check is 3 5/16 + 1 11/16 = 4 16/16 = 5. The starting whole-number part must decrease from five to four when that whole is converted into sixteen sixteenths.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Multiply two and one half by one and three quarters. Convert both mixed numbers fully, multiply the fractions, and give the result in simplest form. Keep your paper attempt independent.</a:t>
            </a:r>
          </a:p>
          <a:p/>
          <a:p>
            <a:r>
              <a:t>Instructor only, after the attempt: (5/2) × (7/4) = 35/8 = 4 3/8. Multiplying the whole parts separately from the fractions would omit the interactions between them; converting each complete mixed number avoids that error. No measurement unit is supplied in this numerical question.</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  3:15 PM–3:25 PM  •  10 MIN TOTAL — shared across this phase.</a:t>
            </a:r>
          </a:p>
          <a:p/>
          <a:p>
            <a:r>
              <a:t>Divide fifteen and three quarters by three. Identify the divisor, convert the mixed number, and show the reciprocal multiplication. What multiplication should restore the original value after you finish?</a:t>
            </a:r>
          </a:p>
          <a:p/>
          <a:p>
            <a:r>
              <a:t>Instructor only, after the attempt: (63/4) × (1/3) = 63/12 = 21/4 = 5 1/4. Multiplying 5 1/4 by three returns 15 3/4. Only the divisor, three, is replaced by its reciprocal when division becomes multiplication; the starting fraction remains 63/4.</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  3:25 PM–3:30 PM  •  5 MIN TOTAL — shared across this phase.</a:t>
            </a:r>
          </a:p>
          <a:p/>
          <a:p>
            <a:r>
              <a:t>Name the operation that felt most secure and the exact step that still needs attention. Explain one correction using the original error and the reason your revised method works. What is your best independent check for subtraction? Add the remainder back to the known part. For equal sharing, multiply the share by the number of shares. Week 4 applies these skills to cut lists and centre lines before moving into decimals, percent, ratio, and scale, so keep these checks available as the contexts change.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6.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7.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8.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9.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0.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1.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2.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hyperlink" Target="../../../books/ACCESS-Trades-Numeracy-Textbook.pdf#page=68"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3.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hyperlink" Target="../../../books/ACCESS-Trades-Numeracy-Textbook.pdf#page=68"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4.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5.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7.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8.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0.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1.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2.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3.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5.xml"/><Relationship Id="rId3" Type="http://schemas.openxmlformats.org/officeDocument/2006/relationships/image" Target="../media/image8.png"/><Relationship Id="rId4" Type="http://schemas.openxmlformats.org/officeDocument/2006/relationships/image" Target="../media/image15.png"/><Relationship Id="rId5" Type="http://schemas.openxmlformats.org/officeDocument/2006/relationships/hyperlink" Target="../../../books/ACCESS-Trades-Numeracy-Textbook.pdf#page=67" TargetMode="External"/><Relationship Id="rId6" Type="http://schemas.openxmlformats.org/officeDocument/2006/relationships/hyperlink" Target="../../../books/ACCESS-Trades-Numeracy-Exercise-Book.pdf#page=27"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6.xml"/><Relationship Id="rId3" Type="http://schemas.openxmlformats.org/officeDocument/2006/relationships/image" Target="../media/image15.png"/><Relationship Id="rId4" Type="http://schemas.openxmlformats.org/officeDocument/2006/relationships/hyperlink" Target="../../../books/ACCESS-Trades-Numeracy-Textbook.pdf#page=67"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7.xml"/><Relationship Id="rId3" Type="http://schemas.openxmlformats.org/officeDocument/2006/relationships/image" Target="../media/image15.png"/><Relationship Id="rId4" Type="http://schemas.openxmlformats.org/officeDocument/2006/relationships/hyperlink" Target="../../../books/ACCESS-Trades-Numeracy-Textbook.pdf" TargetMode="External"/><Relationship Id="rId5" Type="http://schemas.openxmlformats.org/officeDocument/2006/relationships/hyperlink" Target="../../../books/ACCESS-Trades-Numeracy-Exercise-Book.pdf"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8.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9.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0.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1.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2.xml"/><Relationship Id="rId3" Type="http://schemas.openxmlformats.org/officeDocument/2006/relationships/image" Target="../media/image9.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3.xml"/><Relationship Id="rId3" Type="http://schemas.openxmlformats.org/officeDocument/2006/relationships/image" Target="../media/image10.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4.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5.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6.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7.xml"/><Relationship Id="rId3" Type="http://schemas.openxmlformats.org/officeDocument/2006/relationships/image" Target="../media/image11.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8.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9.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6"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0.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1.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2.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9"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3.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4.xml"/><Relationship Id="rId3" Type="http://schemas.openxmlformats.org/officeDocument/2006/relationships/image" Target="../media/image12.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5.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6.xml"/><Relationship Id="rId3" Type="http://schemas.openxmlformats.org/officeDocument/2006/relationships/image" Target="../media/image5.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7.png"/><Relationship Id="rId4" Type="http://schemas.openxmlformats.org/officeDocument/2006/relationships/image" Target="../media/image15.png"/><Relationship Id="rId5" Type="http://schemas.openxmlformats.org/officeDocument/2006/relationships/hyperlink" Target="../../../books/ACCESS-Trades-Numeracy-Textbook.pdf#page=64" TargetMode="External"/><Relationship Id="rId6" Type="http://schemas.openxmlformats.org/officeDocument/2006/relationships/hyperlink" Target="../../../books/ACCESS-Trades-Numeracy-Exercise-Book.pdf#page=25" TargetMode="External"/><Relationship Id="rId7" Type="http://schemas.openxmlformats.org/officeDocument/2006/relationships/hyperlink" Target="../../../numeracy-hub/index.html" TargetMode="External"/><Relationship Id="rId8" Type="http://schemas.openxmlformats.org/officeDocument/2006/relationships/hyperlink" Target="../../../shape-canvas/index.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8.xml"/><Relationship Id="rId3" Type="http://schemas.openxmlformats.org/officeDocument/2006/relationships/image" Target="../media/image15.png"/><Relationship Id="rId4" Type="http://schemas.openxmlformats.org/officeDocument/2006/relationships/hyperlink" Target="../../../books/ACCESS-Trades-Numeracy-Textbook.pdf#page=64" TargetMode="External"/><Relationship Id="rId5" Type="http://schemas.openxmlformats.org/officeDocument/2006/relationships/hyperlink" Target="../../../books/ACCESS-Trades-Numeracy-Exercise-Book.pdf#page=26" TargetMode="External"/><Relationship Id="rId6" Type="http://schemas.openxmlformats.org/officeDocument/2006/relationships/hyperlink" Target="../../../numeracy-hub/index.html" TargetMode="External"/><Relationship Id="rId7" Type="http://schemas.openxmlformats.org/officeDocument/2006/relationships/hyperlink" Target="../../../shape-canvas/index.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9" name="Rectangle 18"/>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08592" y="868680"/>
            <a:ext cx="2889504" cy="5413248"/>
          </a:xfrm>
          <a:prstGeom prst="rect">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308592" y="969264"/>
            <a:ext cx="100584" cy="425196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692640" y="12801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9692640" y="17830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692640" y="22860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692640" y="27889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692640" y="329184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9692640" y="379476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692640" y="429768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692640" y="480060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692640" y="5303520"/>
            <a:ext cx="2066544" cy="0"/>
          </a:xfrm>
          <a:prstGeom prst="line">
            <a:avLst/>
          </a:prstGeom>
          <a:ln w="7620">
            <a:solidFill>
              <a:srgbClr val="7E2630"/>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 y="258775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5216" y="2587752"/>
            <a:ext cx="82296" cy="9784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85216" y="3685032"/>
            <a:ext cx="10991088" cy="978408"/>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85216" y="3685032"/>
            <a:ext cx="82296" cy="978408"/>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38912"/>
            <a:ext cx="914400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CARPENTRY FOUNDATION  /  INTAKE 141</a:t>
            </a:r>
          </a:p>
        </p:txBody>
      </p:sp>
      <p:sp>
        <p:nvSpPr>
          <p:cNvPr id="3" name="TextBox 2"/>
          <p:cNvSpPr txBox="1"/>
          <p:nvPr/>
        </p:nvSpPr>
        <p:spPr>
          <a:xfrm>
            <a:off x="612648" y="1143000"/>
            <a:ext cx="10789920" cy="822960"/>
          </a:xfrm>
          <a:prstGeom prst="rect">
            <a:avLst/>
          </a:prstGeom>
          <a:noFill/>
        </p:spPr>
        <p:txBody>
          <a:bodyPr wrap="square" lIns="0" rIns="0" tIns="0" bIns="0">
            <a:spAutoFit/>
          </a:bodyPr>
          <a:lstStyle/>
          <a:p>
            <a:pPr>
              <a:spcBef>
                <a:spcPts val="0"/>
              </a:spcBef>
              <a:spcAft>
                <a:spcPts val="300"/>
              </a:spcAft>
              <a:defRPr sz="3600" b="1">
                <a:solidFill>
                  <a:srgbClr val="1A1A1A"/>
                </a:solidFill>
                <a:latin typeface="Arial"/>
              </a:defRPr>
            </a:pPr>
            <a:r>
              <a:rPr b="1" sz="4300">
                <a:solidFill>
                  <a:srgbClr val="FFFFFF"/>
                </a:solidFill>
                <a:latin typeface="Arial"/>
              </a:rPr>
              <a:t>Day 09  |  Tuesday</a:t>
            </a:r>
          </a:p>
        </p:txBody>
      </p:sp>
      <p:sp>
        <p:nvSpPr>
          <p:cNvPr id="4" name="TextBox 3"/>
          <p:cNvSpPr txBox="1"/>
          <p:nvPr/>
        </p:nvSpPr>
        <p:spPr>
          <a:xfrm>
            <a:off x="612648" y="1883664"/>
            <a:ext cx="10789920" cy="457200"/>
          </a:xfrm>
          <a:prstGeom prst="rect">
            <a:avLst/>
          </a:prstGeom>
          <a:noFill/>
        </p:spPr>
        <p:txBody>
          <a:bodyPr wrap="square" lIns="0" rIns="0" tIns="0" bIns="0">
            <a:spAutoFit/>
          </a:bodyPr>
          <a:lstStyle/>
          <a:p>
            <a:pPr>
              <a:spcBef>
                <a:spcPts val="0"/>
              </a:spcBef>
              <a:spcAft>
                <a:spcPts val="300"/>
              </a:spcAft>
              <a:defRPr sz="2600" b="0">
                <a:solidFill>
                  <a:srgbClr val="4A4E54"/>
                </a:solidFill>
                <a:latin typeface="Arial"/>
              </a:defRPr>
            </a:pPr>
            <a:r>
              <a:rPr b="0" sz="2500">
                <a:solidFill>
                  <a:srgbClr val="F7F4F1"/>
                </a:solidFill>
                <a:latin typeface="Arial"/>
              </a:rPr>
              <a:t>November 10, 2026</a:t>
            </a:r>
          </a:p>
        </p:txBody>
      </p:sp>
      <p:sp>
        <p:nvSpPr>
          <p:cNvPr id="5" name="Rectangle 4"/>
          <p:cNvSpPr/>
          <p:nvPr/>
        </p:nvSpPr>
        <p:spPr>
          <a:xfrm>
            <a:off x="612648" y="2633472"/>
            <a:ext cx="109728" cy="2194560"/>
          </a:xfrm>
          <a:prstGeom prst="rect">
            <a:avLst/>
          </a:prstGeom>
          <a:solidFill>
            <a:srgbClr val="D2181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6" name="TextBox 5"/>
          <p:cNvSpPr txBox="1"/>
          <p:nvPr/>
        </p:nvSpPr>
        <p:spPr>
          <a:xfrm>
            <a:off x="932688" y="274320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Repeated pieces and equal groups</a:t>
            </a:r>
          </a:p>
        </p:txBody>
      </p:sp>
      <p:sp>
        <p:nvSpPr>
          <p:cNvPr id="7" name="TextBox 6"/>
          <p:cNvSpPr txBox="1"/>
          <p:nvPr/>
        </p:nvSpPr>
        <p:spPr>
          <a:xfrm>
            <a:off x="932688" y="320040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12:45 PM–2:00 PM  •  Math  •  75 min</a:t>
            </a:r>
          </a:p>
        </p:txBody>
      </p:sp>
      <p:sp>
        <p:nvSpPr>
          <p:cNvPr id="8" name="TextBox 7"/>
          <p:cNvSpPr txBox="1"/>
          <p:nvPr/>
        </p:nvSpPr>
        <p:spPr>
          <a:xfrm>
            <a:off x="932688" y="3840480"/>
            <a:ext cx="10287000" cy="384048"/>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Fraction operations: check and retry</a:t>
            </a:r>
          </a:p>
        </p:txBody>
      </p:sp>
      <p:sp>
        <p:nvSpPr>
          <p:cNvPr id="9" name="TextBox 8"/>
          <p:cNvSpPr txBox="1"/>
          <p:nvPr/>
        </p:nvSpPr>
        <p:spPr>
          <a:xfrm>
            <a:off x="932688" y="4297680"/>
            <a:ext cx="10058400" cy="292608"/>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b="0">
                <a:solidFill>
                  <a:srgbClr val="D9CEC5"/>
                </a:solidFill>
                <a:latin typeface="Arial"/>
              </a:rPr>
              <a:t>2:15 PM–3:30 PM  •  Math  •  75 min</a:t>
            </a:r>
          </a:p>
        </p:txBody>
      </p:sp>
      <p:sp>
        <p:nvSpPr>
          <p:cNvPr id="10" name="TextBox 9"/>
          <p:cNvSpPr txBox="1"/>
          <p:nvPr/>
        </p:nvSpPr>
        <p:spPr>
          <a:xfrm>
            <a:off x="612648" y="5440680"/>
            <a:ext cx="10881360" cy="411480"/>
          </a:xfrm>
          <a:prstGeom prst="rect">
            <a:avLst/>
          </a:prstGeom>
          <a:noFill/>
        </p:spPr>
        <p:txBody>
          <a:bodyPr wrap="square" lIns="0" rIns="0" tIns="0" bIns="0">
            <a:spAutoFit/>
          </a:bodyPr>
          <a:lstStyle/>
          <a:p>
            <a:pPr>
              <a:spcBef>
                <a:spcPts val="0"/>
              </a:spcBef>
              <a:spcAft>
                <a:spcPts val="300"/>
              </a:spcAft>
              <a:defRPr sz="1800" b="1">
                <a:solidFill>
                  <a:srgbClr val="D2181F"/>
                </a:solidFill>
                <a:latin typeface="Arial"/>
              </a:defRPr>
            </a:pPr>
            <a:r>
              <a:rPr>
                <a:solidFill>
                  <a:srgbClr val="F7F4F1"/>
                </a:solidFill>
                <a:latin typeface="Arial"/>
              </a:rPr>
              <a:t>Week 3  •  2 scheduled blocks  •  150 teaching minutes</a:t>
            </a:r>
          </a:p>
        </p:txBody>
      </p:sp>
      <p:sp>
        <p:nvSpPr>
          <p:cNvPr id="11" name="TextBox 10"/>
          <p:cNvSpPr txBox="1"/>
          <p:nvPr/>
        </p:nvSpPr>
        <p:spPr>
          <a:xfrm>
            <a:off x="612648" y="5943600"/>
            <a:ext cx="10881360" cy="27432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Estimate. Show the method. Label units. Check the result.</a:t>
            </a:r>
          </a:p>
        </p:txBody>
      </p:sp>
      <p:pic>
        <p:nvPicPr>
          <p:cNvPr id="12" name="Picture 11"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3" name="Rectangle 12"/>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4" name="TextBox 13"/>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5" name="TextBox 14"/>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6" name="TextBox 15"/>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7" name="TextBox 16"/>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8" name="TextBox 17"/>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01</a:t>
            </a:r>
          </a:p>
        </p:txBody>
      </p:sp>
      <p:sp>
        <p:nvSpPr>
          <p:cNvPr id="36" name="TextBox 35"/>
          <p:cNvSpPr txBox="1"/>
          <p:nvPr/>
        </p:nvSpPr>
        <p:spPr>
          <a:xfrm>
            <a:off x="9491472" y="1033271"/>
            <a:ext cx="2423160" cy="1481328"/>
          </a:xfrm>
          <a:prstGeom prst="rect">
            <a:avLst/>
          </a:prstGeom>
          <a:noFill/>
        </p:spPr>
        <p:txBody>
          <a:bodyPr wrap="none">
            <a:spAutoFit/>
          </a:bodyPr>
          <a:lstStyle/>
          <a:p>
            <a:r>
              <a:rPr b="1" sz="10000">
                <a:solidFill>
                  <a:srgbClr val="FFFFFF"/>
                </a:solidFill>
                <a:latin typeface="Arial"/>
              </a:rPr>
              <a:t>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60" name="Rectangle 5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46634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46634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9436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9436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9436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9436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ounded Rectangle 70"/>
          <p:cNvSpPr/>
          <p:nvPr/>
        </p:nvSpPr>
        <p:spPr>
          <a:xfrm>
            <a:off x="6089904" y="1773936"/>
            <a:ext cx="5486400" cy="4169663"/>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089904" y="1773936"/>
            <a:ext cx="59436" cy="4169663"/>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6217920" y="2788920"/>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217920" y="3502152"/>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17920" y="4215383"/>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6217920" y="4928616"/>
            <a:ext cx="5230368" cy="338328"/>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521208" y="5993892"/>
            <a:ext cx="11109959" cy="438912"/>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2860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09  /  WEEK 3  /  CLASS TIMETABLE</a:t>
            </a:r>
          </a:p>
        </p:txBody>
      </p:sp>
      <p:sp>
        <p:nvSpPr>
          <p:cNvPr id="3" name="TextBox 2"/>
          <p:cNvSpPr txBox="1"/>
          <p:nvPr/>
        </p:nvSpPr>
        <p:spPr>
          <a:xfrm>
            <a:off x="612648" y="877824"/>
            <a:ext cx="10972800" cy="502920"/>
          </a:xfrm>
          <a:prstGeom prst="rect">
            <a:avLst/>
          </a:prstGeom>
          <a:noFill/>
        </p:spPr>
        <p:txBody>
          <a:bodyPr wrap="square" lIns="0" rIns="0" tIns="0" bIns="0">
            <a:spAutoFit/>
          </a:bodyPr>
          <a:lstStyle/>
          <a:p>
            <a:pPr>
              <a:spcBef>
                <a:spcPts val="0"/>
              </a:spcBef>
              <a:spcAft>
                <a:spcPts val="300"/>
              </a:spcAft>
              <a:defRPr sz="3000" b="1">
                <a:solidFill>
                  <a:srgbClr val="1A1A1A"/>
                </a:solidFill>
                <a:latin typeface="Arial"/>
              </a:defRPr>
            </a:pPr>
            <a:r>
              <a:rPr b="1">
                <a:solidFill>
                  <a:srgbClr val="FFFFFF"/>
                </a:solidFill>
                <a:latin typeface="Arial"/>
              </a:rPr>
              <a:t>Today’s exact schedule</a:t>
            </a:r>
          </a:p>
        </p:txBody>
      </p:sp>
      <p:sp>
        <p:nvSpPr>
          <p:cNvPr id="4" name="TextBox 3"/>
          <p:cNvSpPr txBox="1"/>
          <p:nvPr/>
        </p:nvSpPr>
        <p:spPr>
          <a:xfrm>
            <a:off x="61264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12:45 PM–2:00 PM  •  75 min</a:t>
            </a:r>
          </a:p>
        </p:txBody>
      </p:sp>
      <p:sp>
        <p:nvSpPr>
          <p:cNvPr id="5" name="TextBox 4"/>
          <p:cNvSpPr txBox="1"/>
          <p:nvPr/>
        </p:nvSpPr>
        <p:spPr>
          <a:xfrm>
            <a:off x="61264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Repeated pieces and equal groups</a:t>
            </a:r>
          </a:p>
        </p:txBody>
      </p:sp>
      <p:sp>
        <p:nvSpPr>
          <p:cNvPr id="6" name="TextBox 5"/>
          <p:cNvSpPr txBox="1"/>
          <p:nvPr/>
        </p:nvSpPr>
        <p:spPr>
          <a:xfrm>
            <a:off x="61264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12:45 PM–12:50 PM</a:t>
            </a:r>
          </a:p>
        </p:txBody>
      </p:sp>
      <p:sp>
        <p:nvSpPr>
          <p:cNvPr id="7" name="TextBox 6"/>
          <p:cNvSpPr txBox="1"/>
          <p:nvPr/>
        </p:nvSpPr>
        <p:spPr>
          <a:xfrm>
            <a:off x="289864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8" name="TextBox 7"/>
          <p:cNvSpPr txBox="1"/>
          <p:nvPr/>
        </p:nvSpPr>
        <p:spPr>
          <a:xfrm>
            <a:off x="536752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9" name="TextBox 8"/>
          <p:cNvSpPr txBox="1"/>
          <p:nvPr/>
        </p:nvSpPr>
        <p:spPr>
          <a:xfrm>
            <a:off x="61264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12:50 PM–12:55 PM</a:t>
            </a:r>
          </a:p>
        </p:txBody>
      </p:sp>
      <p:sp>
        <p:nvSpPr>
          <p:cNvPr id="10" name="TextBox 9"/>
          <p:cNvSpPr txBox="1"/>
          <p:nvPr/>
        </p:nvSpPr>
        <p:spPr>
          <a:xfrm>
            <a:off x="289864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11" name="TextBox 10"/>
          <p:cNvSpPr txBox="1"/>
          <p:nvPr/>
        </p:nvSpPr>
        <p:spPr>
          <a:xfrm>
            <a:off x="536752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12" name="TextBox 11"/>
          <p:cNvSpPr txBox="1"/>
          <p:nvPr/>
        </p:nvSpPr>
        <p:spPr>
          <a:xfrm>
            <a:off x="61264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12:55 PM–1:10 PM</a:t>
            </a:r>
          </a:p>
        </p:txBody>
      </p:sp>
      <p:sp>
        <p:nvSpPr>
          <p:cNvPr id="13" name="TextBox 12"/>
          <p:cNvSpPr txBox="1"/>
          <p:nvPr/>
        </p:nvSpPr>
        <p:spPr>
          <a:xfrm>
            <a:off x="289864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14" name="TextBox 13"/>
          <p:cNvSpPr txBox="1"/>
          <p:nvPr/>
        </p:nvSpPr>
        <p:spPr>
          <a:xfrm>
            <a:off x="536752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5" name="TextBox 14"/>
          <p:cNvSpPr txBox="1"/>
          <p:nvPr/>
        </p:nvSpPr>
        <p:spPr>
          <a:xfrm>
            <a:off x="61264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1:10 PM–1:25 PM</a:t>
            </a:r>
          </a:p>
        </p:txBody>
      </p:sp>
      <p:sp>
        <p:nvSpPr>
          <p:cNvPr id="16" name="TextBox 15"/>
          <p:cNvSpPr txBox="1"/>
          <p:nvPr/>
        </p:nvSpPr>
        <p:spPr>
          <a:xfrm>
            <a:off x="289864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17" name="TextBox 16"/>
          <p:cNvSpPr txBox="1"/>
          <p:nvPr/>
        </p:nvSpPr>
        <p:spPr>
          <a:xfrm>
            <a:off x="536752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18" name="TextBox 17"/>
          <p:cNvSpPr txBox="1"/>
          <p:nvPr/>
        </p:nvSpPr>
        <p:spPr>
          <a:xfrm>
            <a:off x="61264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1:25 PM–1:45 PM</a:t>
            </a:r>
          </a:p>
        </p:txBody>
      </p:sp>
      <p:sp>
        <p:nvSpPr>
          <p:cNvPr id="19" name="TextBox 18"/>
          <p:cNvSpPr txBox="1"/>
          <p:nvPr/>
        </p:nvSpPr>
        <p:spPr>
          <a:xfrm>
            <a:off x="289864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20" name="TextBox 19"/>
          <p:cNvSpPr txBox="1"/>
          <p:nvPr/>
        </p:nvSpPr>
        <p:spPr>
          <a:xfrm>
            <a:off x="536752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21" name="TextBox 20"/>
          <p:cNvSpPr txBox="1"/>
          <p:nvPr/>
        </p:nvSpPr>
        <p:spPr>
          <a:xfrm>
            <a:off x="61264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1:45 PM–1:55 PM</a:t>
            </a:r>
          </a:p>
        </p:txBody>
      </p:sp>
      <p:sp>
        <p:nvSpPr>
          <p:cNvPr id="22" name="TextBox 21"/>
          <p:cNvSpPr txBox="1"/>
          <p:nvPr/>
        </p:nvSpPr>
        <p:spPr>
          <a:xfrm>
            <a:off x="289864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23" name="TextBox 22"/>
          <p:cNvSpPr txBox="1"/>
          <p:nvPr/>
        </p:nvSpPr>
        <p:spPr>
          <a:xfrm>
            <a:off x="536752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24" name="TextBox 23"/>
          <p:cNvSpPr txBox="1"/>
          <p:nvPr/>
        </p:nvSpPr>
        <p:spPr>
          <a:xfrm>
            <a:off x="61264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1:55 PM–2:00 PM</a:t>
            </a:r>
          </a:p>
        </p:txBody>
      </p:sp>
      <p:sp>
        <p:nvSpPr>
          <p:cNvPr id="25" name="TextBox 24"/>
          <p:cNvSpPr txBox="1"/>
          <p:nvPr/>
        </p:nvSpPr>
        <p:spPr>
          <a:xfrm>
            <a:off x="289864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26" name="TextBox 25"/>
          <p:cNvSpPr txBox="1"/>
          <p:nvPr/>
        </p:nvSpPr>
        <p:spPr>
          <a:xfrm>
            <a:off x="536752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27" name="TextBox 26"/>
          <p:cNvSpPr txBox="1"/>
          <p:nvPr/>
        </p:nvSpPr>
        <p:spPr>
          <a:xfrm>
            <a:off x="61264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3, Lesson 3</a:t>
            </a:r>
          </a:p>
        </p:txBody>
      </p:sp>
      <p:sp>
        <p:nvSpPr>
          <p:cNvPr id="28" name="TextBox 27"/>
          <p:cNvSpPr txBox="1"/>
          <p:nvPr/>
        </p:nvSpPr>
        <p:spPr>
          <a:xfrm>
            <a:off x="6236208" y="1627632"/>
            <a:ext cx="5349240" cy="320040"/>
          </a:xfrm>
          <a:prstGeom prst="rect">
            <a:avLst/>
          </a:prstGeom>
          <a:noFill/>
        </p:spPr>
        <p:txBody>
          <a:bodyPr wrap="square" lIns="0" rIns="0" tIns="0" bIns="0">
            <a:spAutoFit/>
          </a:bodyPr>
          <a:lstStyle/>
          <a:p>
            <a:pPr>
              <a:spcBef>
                <a:spcPts val="0"/>
              </a:spcBef>
              <a:spcAft>
                <a:spcPts val="300"/>
              </a:spcAft>
              <a:defRPr sz="2100" b="1">
                <a:solidFill>
                  <a:srgbClr val="D2181F"/>
                </a:solidFill>
                <a:latin typeface="Arial"/>
              </a:defRPr>
            </a:pPr>
            <a:r>
              <a:rPr b="1">
                <a:solidFill>
                  <a:srgbClr val="5A1018"/>
                </a:solidFill>
                <a:latin typeface="Arial"/>
              </a:rPr>
              <a:t>2:15 PM–3:30 PM  •  75 min</a:t>
            </a:r>
          </a:p>
        </p:txBody>
      </p:sp>
      <p:sp>
        <p:nvSpPr>
          <p:cNvPr id="29" name="TextBox 28"/>
          <p:cNvSpPr txBox="1"/>
          <p:nvPr/>
        </p:nvSpPr>
        <p:spPr>
          <a:xfrm>
            <a:off x="6236208" y="2048256"/>
            <a:ext cx="5349240" cy="640080"/>
          </a:xfrm>
          <a:prstGeom prst="rect">
            <a:avLst/>
          </a:prstGeom>
          <a:noFill/>
        </p:spPr>
        <p:txBody>
          <a:bodyPr wrap="square" lIns="0" rIns="0" tIns="0" bIns="0">
            <a:spAutoFit/>
          </a:bodyPr>
          <a:lstStyle/>
          <a:p>
            <a:pPr>
              <a:spcBef>
                <a:spcPts val="0"/>
              </a:spcBef>
              <a:spcAft>
                <a:spcPts val="300"/>
              </a:spcAft>
              <a:defRPr sz="1900" b="1">
                <a:solidFill>
                  <a:srgbClr val="1A1A1A"/>
                </a:solidFill>
                <a:latin typeface="Arial"/>
              </a:defRPr>
            </a:pPr>
            <a:r>
              <a:rPr b="1">
                <a:solidFill>
                  <a:srgbClr val="5A1018"/>
                </a:solidFill>
                <a:latin typeface="Arial"/>
              </a:rPr>
              <a:t>Fraction operations: check and retry</a:t>
            </a:r>
          </a:p>
        </p:txBody>
      </p:sp>
      <p:sp>
        <p:nvSpPr>
          <p:cNvPr id="30" name="TextBox 29"/>
          <p:cNvSpPr txBox="1"/>
          <p:nvPr/>
        </p:nvSpPr>
        <p:spPr>
          <a:xfrm>
            <a:off x="6236208" y="2852928"/>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2:15 PM–2:20 PM</a:t>
            </a:r>
          </a:p>
        </p:txBody>
      </p:sp>
      <p:sp>
        <p:nvSpPr>
          <p:cNvPr id="31" name="TextBox 30"/>
          <p:cNvSpPr txBox="1"/>
          <p:nvPr/>
        </p:nvSpPr>
        <p:spPr>
          <a:xfrm>
            <a:off x="8522208" y="2852928"/>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Start</a:t>
            </a:r>
          </a:p>
        </p:txBody>
      </p:sp>
      <p:sp>
        <p:nvSpPr>
          <p:cNvPr id="32" name="TextBox 31"/>
          <p:cNvSpPr txBox="1"/>
          <p:nvPr/>
        </p:nvSpPr>
        <p:spPr>
          <a:xfrm>
            <a:off x="10991088" y="2852928"/>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3" name="TextBox 32"/>
          <p:cNvSpPr txBox="1"/>
          <p:nvPr/>
        </p:nvSpPr>
        <p:spPr>
          <a:xfrm>
            <a:off x="6236208" y="3209544"/>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2:20 PM–2:25 PM</a:t>
            </a:r>
          </a:p>
        </p:txBody>
      </p:sp>
      <p:sp>
        <p:nvSpPr>
          <p:cNvPr id="34" name="TextBox 33"/>
          <p:cNvSpPr txBox="1"/>
          <p:nvPr/>
        </p:nvSpPr>
        <p:spPr>
          <a:xfrm>
            <a:off x="8522208" y="3209544"/>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Recall</a:t>
            </a:r>
          </a:p>
        </p:txBody>
      </p:sp>
      <p:sp>
        <p:nvSpPr>
          <p:cNvPr id="35" name="TextBox 34"/>
          <p:cNvSpPr txBox="1"/>
          <p:nvPr/>
        </p:nvSpPr>
        <p:spPr>
          <a:xfrm>
            <a:off x="10991088" y="3209544"/>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36" name="TextBox 35"/>
          <p:cNvSpPr txBox="1"/>
          <p:nvPr/>
        </p:nvSpPr>
        <p:spPr>
          <a:xfrm>
            <a:off x="6236208" y="3566160"/>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2:25 PM–2:40 PM</a:t>
            </a:r>
          </a:p>
        </p:txBody>
      </p:sp>
      <p:sp>
        <p:nvSpPr>
          <p:cNvPr id="37" name="TextBox 36"/>
          <p:cNvSpPr txBox="1"/>
          <p:nvPr/>
        </p:nvSpPr>
        <p:spPr>
          <a:xfrm>
            <a:off x="8522208" y="3566160"/>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Teach</a:t>
            </a:r>
          </a:p>
        </p:txBody>
      </p:sp>
      <p:sp>
        <p:nvSpPr>
          <p:cNvPr id="38" name="TextBox 37"/>
          <p:cNvSpPr txBox="1"/>
          <p:nvPr/>
        </p:nvSpPr>
        <p:spPr>
          <a:xfrm>
            <a:off x="10991088" y="3566160"/>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39" name="TextBox 38"/>
          <p:cNvSpPr txBox="1"/>
          <p:nvPr/>
        </p:nvSpPr>
        <p:spPr>
          <a:xfrm>
            <a:off x="6236208" y="3922776"/>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2:40 PM–2:55 PM</a:t>
            </a:r>
          </a:p>
        </p:txBody>
      </p:sp>
      <p:sp>
        <p:nvSpPr>
          <p:cNvPr id="40" name="TextBox 39"/>
          <p:cNvSpPr txBox="1"/>
          <p:nvPr/>
        </p:nvSpPr>
        <p:spPr>
          <a:xfrm>
            <a:off x="8522208" y="3922776"/>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Together</a:t>
            </a:r>
          </a:p>
        </p:txBody>
      </p:sp>
      <p:sp>
        <p:nvSpPr>
          <p:cNvPr id="41" name="TextBox 40"/>
          <p:cNvSpPr txBox="1"/>
          <p:nvPr/>
        </p:nvSpPr>
        <p:spPr>
          <a:xfrm>
            <a:off x="10991088" y="3922776"/>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15</a:t>
            </a:r>
          </a:p>
        </p:txBody>
      </p:sp>
      <p:sp>
        <p:nvSpPr>
          <p:cNvPr id="42" name="TextBox 41"/>
          <p:cNvSpPr txBox="1"/>
          <p:nvPr/>
        </p:nvSpPr>
        <p:spPr>
          <a:xfrm>
            <a:off x="6236208" y="4279392"/>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2:55 PM–3:15 PM</a:t>
            </a:r>
          </a:p>
        </p:txBody>
      </p:sp>
      <p:sp>
        <p:nvSpPr>
          <p:cNvPr id="43" name="TextBox 42"/>
          <p:cNvSpPr txBox="1"/>
          <p:nvPr/>
        </p:nvSpPr>
        <p:spPr>
          <a:xfrm>
            <a:off x="8522208" y="4279392"/>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Practise</a:t>
            </a:r>
          </a:p>
        </p:txBody>
      </p:sp>
      <p:sp>
        <p:nvSpPr>
          <p:cNvPr id="44" name="TextBox 43"/>
          <p:cNvSpPr txBox="1"/>
          <p:nvPr/>
        </p:nvSpPr>
        <p:spPr>
          <a:xfrm>
            <a:off x="10991088" y="4279392"/>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20</a:t>
            </a:r>
          </a:p>
        </p:txBody>
      </p:sp>
      <p:sp>
        <p:nvSpPr>
          <p:cNvPr id="45" name="TextBox 44"/>
          <p:cNvSpPr txBox="1"/>
          <p:nvPr/>
        </p:nvSpPr>
        <p:spPr>
          <a:xfrm>
            <a:off x="6236208" y="4636007"/>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3:15 PM–3:25 PM</a:t>
            </a:r>
          </a:p>
        </p:txBody>
      </p:sp>
      <p:sp>
        <p:nvSpPr>
          <p:cNvPr id="46" name="TextBox 45"/>
          <p:cNvSpPr txBox="1"/>
          <p:nvPr/>
        </p:nvSpPr>
        <p:spPr>
          <a:xfrm>
            <a:off x="8522208" y="4636007"/>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Check</a:t>
            </a:r>
          </a:p>
        </p:txBody>
      </p:sp>
      <p:sp>
        <p:nvSpPr>
          <p:cNvPr id="47" name="TextBox 46"/>
          <p:cNvSpPr txBox="1"/>
          <p:nvPr/>
        </p:nvSpPr>
        <p:spPr>
          <a:xfrm>
            <a:off x="10991088" y="4636007"/>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10</a:t>
            </a:r>
          </a:p>
        </p:txBody>
      </p:sp>
      <p:sp>
        <p:nvSpPr>
          <p:cNvPr id="48" name="TextBox 47"/>
          <p:cNvSpPr txBox="1"/>
          <p:nvPr/>
        </p:nvSpPr>
        <p:spPr>
          <a:xfrm>
            <a:off x="6236208" y="4992623"/>
            <a:ext cx="2194560" cy="256032"/>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3:25 PM–3:30 PM</a:t>
            </a:r>
          </a:p>
        </p:txBody>
      </p:sp>
      <p:sp>
        <p:nvSpPr>
          <p:cNvPr id="49" name="TextBox 48"/>
          <p:cNvSpPr txBox="1"/>
          <p:nvPr/>
        </p:nvSpPr>
        <p:spPr>
          <a:xfrm>
            <a:off x="8522208" y="4992623"/>
            <a:ext cx="2514600" cy="274320"/>
          </a:xfrm>
          <a:prstGeom prst="rect">
            <a:avLst/>
          </a:prstGeom>
          <a:noFill/>
        </p:spPr>
        <p:txBody>
          <a:bodyPr wrap="square" lIns="0" rIns="0" tIns="0" bIns="0">
            <a:spAutoFit/>
          </a:bodyPr>
          <a:lstStyle/>
          <a:p>
            <a:pPr>
              <a:spcBef>
                <a:spcPts val="0"/>
              </a:spcBef>
              <a:spcAft>
                <a:spcPts val="300"/>
              </a:spcAft>
              <a:defRPr sz="1500" b="1">
                <a:solidFill>
                  <a:srgbClr val="1A1A1A"/>
                </a:solidFill>
                <a:latin typeface="Arial"/>
              </a:defRPr>
            </a:pPr>
            <a:r>
              <a:rPr>
                <a:solidFill>
                  <a:srgbClr val="201C19"/>
                </a:solidFill>
                <a:latin typeface="Arial"/>
              </a:rPr>
              <a:t>Wrap up</a:t>
            </a:r>
          </a:p>
        </p:txBody>
      </p:sp>
      <p:sp>
        <p:nvSpPr>
          <p:cNvPr id="50" name="TextBox 49"/>
          <p:cNvSpPr txBox="1"/>
          <p:nvPr/>
        </p:nvSpPr>
        <p:spPr>
          <a:xfrm>
            <a:off x="10991088" y="4992623"/>
            <a:ext cx="548640" cy="274320"/>
          </a:xfrm>
          <a:prstGeom prst="rect">
            <a:avLst/>
          </a:prstGeom>
          <a:noFill/>
        </p:spPr>
        <p:txBody>
          <a:bodyPr wrap="square" lIns="0" rIns="0" tIns="0" bIns="0">
            <a:spAutoFit/>
          </a:bodyPr>
          <a:lstStyle/>
          <a:p>
            <a:pPr>
              <a:spcBef>
                <a:spcPts val="0"/>
              </a:spcBef>
              <a:spcAft>
                <a:spcPts val="300"/>
              </a:spcAft>
              <a:defRPr sz="1400" b="0">
                <a:solidFill>
                  <a:srgbClr val="D2181F"/>
                </a:solidFill>
                <a:latin typeface="Arial"/>
              </a:defRPr>
            </a:pPr>
            <a:r>
              <a:rPr>
                <a:solidFill>
                  <a:srgbClr val="201C19"/>
                </a:solidFill>
                <a:latin typeface="Arial"/>
              </a:rPr>
              <a:t>5</a:t>
            </a:r>
          </a:p>
        </p:txBody>
      </p:sp>
      <p:sp>
        <p:nvSpPr>
          <p:cNvPr id="51" name="TextBox 50"/>
          <p:cNvSpPr txBox="1"/>
          <p:nvPr/>
        </p:nvSpPr>
        <p:spPr>
          <a:xfrm>
            <a:off x="6236208" y="5522976"/>
            <a:ext cx="5349240" cy="457200"/>
          </a:xfrm>
          <a:prstGeom prst="rect">
            <a:avLst/>
          </a:prstGeom>
          <a:noFill/>
        </p:spPr>
        <p:txBody>
          <a:bodyPr wrap="square" lIns="0" rIns="0" tIns="0" bIns="0">
            <a:spAutoFit/>
          </a:bodyPr>
          <a:lstStyle/>
          <a:p>
            <a:pPr>
              <a:spcBef>
                <a:spcPts val="0"/>
              </a:spcBef>
              <a:spcAft>
                <a:spcPts val="300"/>
              </a:spcAft>
              <a:defRPr sz="1300" b="0">
                <a:solidFill>
                  <a:srgbClr val="4A4E54"/>
                </a:solidFill>
                <a:latin typeface="Arial"/>
              </a:defRPr>
            </a:pPr>
            <a:r>
              <a:rPr>
                <a:solidFill>
                  <a:srgbClr val="201C19"/>
                </a:solidFill>
                <a:latin typeface="Arial"/>
              </a:rPr>
              <a:t>Math  •  Math Week 3, Lesson 4</a:t>
            </a:r>
          </a:p>
        </p:txBody>
      </p:sp>
      <p:sp>
        <p:nvSpPr>
          <p:cNvPr id="52" name="TextBox 51"/>
          <p:cNvSpPr txBox="1"/>
          <p:nvPr/>
        </p:nvSpPr>
        <p:spPr>
          <a:xfrm>
            <a:off x="612648" y="6053328"/>
            <a:ext cx="10927080" cy="320040"/>
          </a:xfrm>
          <a:prstGeom prst="rect">
            <a:avLst/>
          </a:prstGeom>
          <a:noFill/>
        </p:spPr>
        <p:txBody>
          <a:bodyPr wrap="square" lIns="0" rIns="0" tIns="0" bIns="0">
            <a:spAutoFit/>
          </a:bodyPr>
          <a:lstStyle/>
          <a:p>
            <a:pPr>
              <a:spcBef>
                <a:spcPts val="0"/>
              </a:spcBef>
              <a:spcAft>
                <a:spcPts val="300"/>
              </a:spcAft>
              <a:defRPr sz="1500" b="0">
                <a:solidFill>
                  <a:srgbClr val="1A1A1A"/>
                </a:solidFill>
                <a:latin typeface="Arial"/>
              </a:defRPr>
            </a:pPr>
            <a:r>
              <a:rPr b="1">
                <a:solidFill>
                  <a:srgbClr val="201C19"/>
                </a:solidFill>
                <a:latin typeface="Arial"/>
              </a:rPr>
              <a:t>Break: 2:00 PM–2:15 PM  •  15 minutes  •  excluded from teaching time</a:t>
            </a:r>
          </a:p>
        </p:txBody>
      </p:sp>
      <p:pic>
        <p:nvPicPr>
          <p:cNvPr id="53" name="Picture 5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54" name="Rectangle 5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55" name="TextBox 5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56" name="TextBox 5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57" name="TextBox 5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58" name="TextBox 5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59" name="TextBox 5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START  •  12:45 PM–12:50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Repeated pieces and equal groups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Use multiplication and division to find repeated fractional lengths and centre lines.</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4 pp.67–70</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Q16–17 (p.26); 4B Q4–5 (p.27); 4C Q5 (p.30)</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RECALL  •  12:50 PM–12:55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pp.67–70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Explain how repeated addition connects to multiplication and how dividing by two finds a centre.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Q16–17 (p.26); 4B Q4–5 (p.27);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Multiply to find repeated fractional lengths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pp.67–70</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Convert a mixed number to an improper fraction when useful.</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Multiply the numerators and multiply the denominators.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Simplify and convert back to a mixed number when needed.</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 repeated-strip drawing checks whether the total fits the number of pieces.</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Explain what division counts or measures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pp.67–70</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Dividing a length by a piece length gives a count of pieces.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Dividing a length by a number of equal parts gives a length per part.</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To divide by a fraction, multiply by the reciprocal of the divisor.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Check a centre line by doubling its distance from the starting edge.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434590"/>
            <a:ext cx="11191982" cy="70101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W03-L03  •  TEACH  •  12:55 PM–1:10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Ask what the result measures or counts</a:t>
            </a:r>
            <a:endParaRPr lang="en-US" sz="3000" dirty="0"/>
          </a:p>
        </p:txBody>
      </p:sp>
      <p:sp>
        <p:nvSpPr>
          <p:cNvPr id="5" name="Text 3"/>
          <p:cNvSpPr/>
          <p:nvPr/>
        </p:nvSpPr>
        <p:spPr>
          <a:xfrm>
            <a:off x="609585" y="1666875"/>
            <a:ext cx="10972526" cy="426690"/>
          </a:xfrm>
          <a:prstGeom prst="rect">
            <a:avLst/>
          </a:prstGeom>
          <a:noFill/>
          <a:ln/>
        </p:spPr>
        <p:txBody>
          <a:bodyPr wrap="square" lIns="0" tIns="0" rIns="0" bIns="0" rtlCol="0" anchor="t"/>
          <a:lstStyle/>
          <a:p>
            <a:pPr marL="0" indent="0" algn="l">
              <a:buNone/>
            </a:pPr>
            <a:r>
              <a:rPr lang="en-US" sz="2400" dirty="0">
                <a:solidFill>
                  <a:srgbClr val="201C19"/>
                </a:solidFill>
                <a:latin typeface="Arial" pitchFamily="34" charset="0"/>
                <a:ea typeface="Arial" pitchFamily="34" charset="-122"/>
                <a:cs typeface="Arial" pitchFamily="34" charset="-120"/>
              </a:rPr>
              <a:t>3 × 2 3/8 in = 3 × 19/8 = 57/8 = 7 1/8 in</a:t>
            </a:r>
            <a:endParaRPr lang="en-US" sz="2400" dirty="0"/>
          </a:p>
        </p:txBody>
      </p:sp>
      <p:sp>
        <p:nvSpPr>
          <p:cNvPr id="6" name="Text 4"/>
          <p:cNvSpPr/>
          <p:nvPr/>
        </p:nvSpPr>
        <p:spPr>
          <a:xfrm>
            <a:off x="609585" y="2571750"/>
            <a:ext cx="10972526" cy="42669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3/4 in ÷ 1/8 in = 3/4 × 8/1 = 6 pieces</a:t>
            </a:r>
            <a:endParaRPr lang="en-US" sz="2400" dirty="0"/>
          </a:p>
        </p:txBody>
      </p:sp>
      <p:sp>
        <p:nvSpPr>
          <p:cNvPr id="7" name="Text 5"/>
          <p:cNvSpPr/>
          <p:nvPr/>
        </p:nvSpPr>
        <p:spPr>
          <a:xfrm>
            <a:off x="609585" y="3476625"/>
            <a:ext cx="10972526" cy="95994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The reciprocal changes division to multiplication.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Check the second result: six eighth-inch pieces total 3/4 in.</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These classroom examples ignore kerf.</a:t>
            </a:r>
            <a:endParaRPr lang="en-US" sz="1800" dirty="0"/>
          </a:p>
        </p:txBody>
      </p:sp>
      <p:sp>
        <p:nvSpPr>
          <p:cNvPr id="8" name="Text 6"/>
          <p:cNvSpPr/>
          <p:nvPr/>
        </p:nvSpPr>
        <p:spPr>
          <a:xfrm>
            <a:off x="609585" y="490537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4A Q16(a), Q17(a), then 4B Q5 with a centre-line sketch. Repeat a labelled Shape Canvas rectangle and compare totals.</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W3 L3 • Explain the meaning before using Numeracy Hub Calculator to check</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07</a:t>
            </a:r>
          </a:p>
        </p:txBody>
      </p:sp>
    </p:spTree>
    <p:extLst>
      <p:ext uri="{BB962C8B-B14F-4D97-AF65-F5344CB8AC3E}">
        <p14:creationId xmlns:p14="http://schemas.microsoft.com/office/powerpoint/2010/main" val="3891058005"/>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W03-L03.png"/>
          <p:cNvPicPr>
            <a:picLocks noChangeAspect="1"/>
          </p:cNvPicPr>
          <p:nvPr/>
        </p:nvPicPr>
        <p:blipFill>
          <a:blip r:embed="rId3"/>
          <a:stretch>
            <a:fillRect/>
          </a:stretch>
        </p:blipFill>
        <p:spPr>
          <a:xfrm>
            <a:off x="685800" y="2078570"/>
            <a:ext cx="10698480" cy="329521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p.68 · Example 4.12: divide fractional lengths and count complete pieces.</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68</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W03-L03-2.png"/>
          <p:cNvPicPr>
            <a:picLocks noChangeAspect="1"/>
          </p:cNvPicPr>
          <p:nvPr/>
        </p:nvPicPr>
        <p:blipFill>
          <a:blip r:embed="rId3"/>
          <a:stretch>
            <a:fillRect/>
          </a:stretch>
        </p:blipFill>
        <p:spPr>
          <a:xfrm>
            <a:off x="1732641" y="1691640"/>
            <a:ext cx="8604797" cy="4069080"/>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p.68 · Exact fraction calculator entry for the pieces and offcut.</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TEACH  •  12:55 PM–1:10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For 3/4 in ÷ 1/8 in, should the answer be labelled inches?</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The quotient counts eighth-inch pieces: 6 pieces. Check that 6 × 1/8 in restores 3/4 in.</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pp.67–70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Work 4A questions 16(a) and 17(a), then 4B question 5 with a centre-line sketch.</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Q16–17 (p.26); 4B Q4–5 (p.27);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Q16a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4A-Q16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TOGETHER  •  1:10 PM–1:25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Q16a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4A-Q16a.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(a)  7 1/2</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pp.67–70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remaining parts of 4A questions 16–17, 4B question 4 and 4C question 5. Explain what the division result counts or measures.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Q16–17 (p.26); 4B Q4–5 (p.27);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Numeracy Hub and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Supported: Repeat a labelled Shape Canvas rectangle to show multiplication as equal pieces.</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practice: Write exact fraction calculations for the assigned 4A, 4B and 4C items.</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checking: Use Numeracy Hub Calculator; label each answer as a length or a piece count.</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Q16b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4A-Q16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PRACTISE  •  1:25 PM–1:45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4C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4C-Q5.png"/>
          <p:cNvPicPr>
            <a:picLocks noChangeAspect="1"/>
          </p:cNvPicPr>
          <p:nvPr/>
        </p:nvPicPr>
        <p:blipFill>
          <a:blip r:embed="rId3"/>
          <a:stretch>
            <a:fillRect/>
          </a:stretch>
        </p:blipFill>
        <p:spPr>
          <a:xfrm>
            <a:off x="1813362" y="1773935"/>
            <a:ext cx="8443355"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4A question 17(b) and 4B question 5.</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Q16–17 (p.26); 4B Q4–5 (p.27);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Q17b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4A-Q17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CHECK  •  1:45 PM–1:55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4B Q5</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pic>
        <p:nvPicPr>
          <p:cNvPr id="5" name="Picture 4" descr="4B-Q5.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W03-L03  •  WRAP UP  •  1:55 PM–2:00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pp.67–70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Q16–17 (p.26); 4B Q4–5 (p.27); 4C Q5 (p.30)</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57200"/>
            <a:ext cx="9418320" cy="274320"/>
          </a:xfrm>
          <a:prstGeom prst="rect">
            <a:avLst/>
          </a:prstGeom>
          <a:noFill/>
        </p:spPr>
        <p:txBody>
          <a:bodyPr wrap="square" lIns="0" rIns="0" tIns="0" bIns="0">
            <a:spAutoFit/>
          </a:bodyPr>
          <a:lstStyle/>
          <a:p>
            <a:pPr>
              <a:spcBef>
                <a:spcPts val="0"/>
              </a:spcBef>
              <a:spcAft>
                <a:spcPts val="300"/>
              </a:spcAft>
              <a:defRPr sz="1200" b="1">
                <a:solidFill>
                  <a:srgbClr val="D2181F"/>
                </a:solidFill>
                <a:latin typeface="Arial"/>
              </a:defRPr>
            </a:pPr>
            <a:r>
              <a:rPr>
                <a:solidFill>
                  <a:srgbClr val="FFFFFF"/>
                </a:solidFill>
                <a:latin typeface="Arial"/>
              </a:rPr>
              <a:t>DAY 09  •  SCHEDULED BREAK</a:t>
            </a:r>
          </a:p>
        </p:txBody>
      </p:sp>
      <p:sp>
        <p:nvSpPr>
          <p:cNvPr id="3" name="TextBox 2"/>
          <p:cNvSpPr txBox="1"/>
          <p:nvPr/>
        </p:nvSpPr>
        <p:spPr>
          <a:xfrm>
            <a:off x="612648" y="1371600"/>
            <a:ext cx="10972800" cy="914400"/>
          </a:xfrm>
          <a:prstGeom prst="rect">
            <a:avLst/>
          </a:prstGeom>
          <a:noFill/>
        </p:spPr>
        <p:txBody>
          <a:bodyPr wrap="square" lIns="0" rIns="0" tIns="0" bIns="0">
            <a:spAutoFit/>
          </a:bodyPr>
          <a:lstStyle/>
          <a:p>
            <a:pPr>
              <a:spcBef>
                <a:spcPts val="0"/>
              </a:spcBef>
              <a:spcAft>
                <a:spcPts val="300"/>
              </a:spcAft>
              <a:defRPr sz="4400" b="1">
                <a:solidFill>
                  <a:srgbClr val="1A1A1A"/>
                </a:solidFill>
                <a:latin typeface="Arial"/>
              </a:defRPr>
            </a:pPr>
            <a:r>
              <a:rPr>
                <a:solidFill>
                  <a:srgbClr val="201C19"/>
                </a:solidFill>
                <a:latin typeface="Arial"/>
              </a:rPr>
              <a:t>Break</a:t>
            </a:r>
          </a:p>
        </p:txBody>
      </p:sp>
      <p:sp>
        <p:nvSpPr>
          <p:cNvPr id="4" name="TextBox 3"/>
          <p:cNvSpPr txBox="1"/>
          <p:nvPr/>
        </p:nvSpPr>
        <p:spPr>
          <a:xfrm>
            <a:off x="612648" y="2743200"/>
            <a:ext cx="10972800" cy="548640"/>
          </a:xfrm>
          <a:prstGeom prst="rect">
            <a:avLst/>
          </a:prstGeom>
          <a:noFill/>
        </p:spPr>
        <p:txBody>
          <a:bodyPr wrap="square" lIns="0" rIns="0" tIns="0" bIns="0">
            <a:spAutoFit/>
          </a:bodyPr>
          <a:lstStyle/>
          <a:p>
            <a:pPr>
              <a:spcBef>
                <a:spcPts val="0"/>
              </a:spcBef>
              <a:spcAft>
                <a:spcPts val="300"/>
              </a:spcAft>
              <a:defRPr sz="3200" b="0">
                <a:solidFill>
                  <a:srgbClr val="D2181F"/>
                </a:solidFill>
                <a:latin typeface="Arial"/>
              </a:defRPr>
            </a:pPr>
            <a:r>
              <a:rPr>
                <a:solidFill>
                  <a:srgbClr val="FFFFFF"/>
                </a:solidFill>
                <a:latin typeface="Arial"/>
              </a:rPr>
              <a:t>2:00 PM–2:15 PM</a:t>
            </a:r>
          </a:p>
        </p:txBody>
      </p:sp>
      <p:sp>
        <p:nvSpPr>
          <p:cNvPr id="5" name="TextBox 4"/>
          <p:cNvSpPr txBox="1"/>
          <p:nvPr/>
        </p:nvSpPr>
        <p:spPr>
          <a:xfrm>
            <a:off x="612648" y="3794760"/>
            <a:ext cx="10972800" cy="548640"/>
          </a:xfrm>
          <a:prstGeom prst="rect">
            <a:avLst/>
          </a:prstGeom>
          <a:noFill/>
        </p:spPr>
        <p:txBody>
          <a:bodyPr wrap="square" lIns="0" rIns="0" tIns="0" bIns="0">
            <a:spAutoFit/>
          </a:bodyPr>
          <a:lstStyle/>
          <a:p>
            <a:pPr>
              <a:spcBef>
                <a:spcPts val="0"/>
              </a:spcBef>
              <a:spcAft>
                <a:spcPts val="300"/>
              </a:spcAft>
              <a:defRPr sz="2300" b="0">
                <a:solidFill>
                  <a:srgbClr val="1A1A1A"/>
                </a:solidFill>
                <a:latin typeface="Arial"/>
              </a:defRPr>
            </a:pPr>
            <a:r>
              <a:rPr>
                <a:solidFill>
                  <a:srgbClr val="FFFFFF"/>
                </a:solidFill>
                <a:latin typeface="Arial"/>
              </a:rPr>
              <a:t>Return ready for: Fraction operations: check and retry</a:t>
            </a:r>
          </a:p>
        </p:txBody>
      </p:sp>
      <p:sp>
        <p:nvSpPr>
          <p:cNvPr id="6" name="TextBox 5"/>
          <p:cNvSpPr txBox="1"/>
          <p:nvPr/>
        </p:nvSpPr>
        <p:spPr>
          <a:xfrm>
            <a:off x="612648" y="5212080"/>
            <a:ext cx="10972800" cy="457200"/>
          </a:xfrm>
          <a:prstGeom prst="rect">
            <a:avLst/>
          </a:prstGeom>
          <a:noFill/>
        </p:spPr>
        <p:txBody>
          <a:bodyPr wrap="square" lIns="0" rIns="0" tIns="0" bIns="0">
            <a:spAutoFit/>
          </a:bodyPr>
          <a:lstStyle/>
          <a:p>
            <a:pPr>
              <a:spcBef>
                <a:spcPts val="0"/>
              </a:spcBef>
              <a:spcAft>
                <a:spcPts val="300"/>
              </a:spcAft>
              <a:defRPr sz="1800" b="0">
                <a:solidFill>
                  <a:srgbClr val="4A4E54"/>
                </a:solidFill>
                <a:latin typeface="Arial"/>
              </a:defRPr>
            </a:pPr>
            <a:r>
              <a:rPr b="1">
                <a:solidFill>
                  <a:srgbClr val="201C19"/>
                </a:solidFill>
                <a:latin typeface="Arial"/>
              </a:rPr>
              <a:t>This break is excluded from teaching minutes.</a:t>
            </a:r>
          </a:p>
        </p:txBody>
      </p:sp>
      <p:pic>
        <p:nvPicPr>
          <p:cNvPr id="7" name="Picture 6" descr="access-logo.png"/>
          <p:cNvPicPr>
            <a:picLocks noChangeAspect="1"/>
          </p:cNvPicPr>
          <p:nvPr/>
        </p:nvPicPr>
        <p:blipFill>
          <a:blip r:embed="rId3"/>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7" y="1801368"/>
            <a:ext cx="50292" cy="120700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START  •  2:15 PM–2:20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Fraction operations: check and retry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sp>
        <p:nvSpPr>
          <p:cNvPr id="5" name="TextBox 4"/>
          <p:cNvSpPr txBox="1"/>
          <p:nvPr/>
        </p:nvSpPr>
        <p:spPr>
          <a:xfrm>
            <a:off x="612648" y="1856231"/>
            <a:ext cx="10927080" cy="1005840"/>
          </a:xfrm>
          <a:prstGeom prst="rect">
            <a:avLst/>
          </a:prstGeom>
          <a:noFill/>
        </p:spPr>
        <p:txBody>
          <a:bodyPr wrap="square" lIns="0" rIns="0" tIns="0" bIns="0">
            <a:spAutoFit/>
          </a:bodyPr>
          <a:lstStyle/>
          <a:p>
            <a:pPr>
              <a:spcBef>
                <a:spcPts val="0"/>
              </a:spcBef>
              <a:spcAft>
                <a:spcPts val="300"/>
              </a:spcAft>
              <a:defRPr sz="2400" b="1">
                <a:solidFill>
                  <a:srgbClr val="1A1A1A"/>
                </a:solidFill>
                <a:latin typeface="Arial"/>
              </a:defRPr>
            </a:pPr>
            <a:r>
              <a:rPr b="1">
                <a:solidFill>
                  <a:srgbClr val="FFFFFF"/>
                </a:solidFill>
                <a:latin typeface="Arial"/>
              </a:rPr>
              <a:t>Today’s goal: Choose the correct fraction operation, show the working and correct a documented error.</a:t>
            </a:r>
          </a:p>
        </p:txBody>
      </p:sp>
      <p:sp>
        <p:nvSpPr>
          <p:cNvPr id="6" name="TextBox 5"/>
          <p:cNvSpPr txBox="1"/>
          <p:nvPr/>
        </p:nvSpPr>
        <p:spPr>
          <a:xfrm>
            <a:off x="612648" y="3154680"/>
            <a:ext cx="10927080" cy="59436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Name one use for today’s skill.</a:t>
            </a:r>
          </a:p>
        </p:txBody>
      </p:sp>
      <p:sp>
        <p:nvSpPr>
          <p:cNvPr id="7" name="Rectangle 6"/>
          <p:cNvSpPr/>
          <p:nvPr/>
        </p:nvSpPr>
        <p:spPr>
          <a:xfrm>
            <a:off x="612648" y="4114800"/>
            <a:ext cx="10927080" cy="1371600"/>
          </a:xfrm>
          <a:prstGeom prst="rect">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8" name="TextBox 7"/>
          <p:cNvSpPr txBox="1"/>
          <p:nvPr/>
        </p:nvSpPr>
        <p:spPr>
          <a:xfrm>
            <a:off x="841248" y="4297680"/>
            <a:ext cx="10424160" cy="457200"/>
          </a:xfrm>
          <a:prstGeom prst="rect">
            <a:avLst/>
          </a:prstGeom>
          <a:noFill/>
        </p:spPr>
        <p:txBody>
          <a:bodyPr wrap="square" lIns="0" rIns="0" tIns="0" bIns="0">
            <a:spAutoFit/>
          </a:bodyPr>
          <a:lstStyle/>
          <a:p>
            <a:pPr>
              <a:spcBef>
                <a:spcPts val="0"/>
              </a:spcBef>
              <a:spcAft>
                <a:spcPts val="300"/>
              </a:spcAft>
              <a:defRPr sz="1700" b="0">
                <a:solidFill>
                  <a:srgbClr val="1A1A1A"/>
                </a:solidFill>
                <a:latin typeface="Arial"/>
              </a:defRPr>
            </a:pPr>
            <a:r>
              <a:rPr>
                <a:solidFill>
                  <a:srgbClr val="201C19"/>
                </a:solidFill>
                <a:latin typeface="Arial"/>
              </a:rPr>
              <a:t>Textbook Chapter 4 pp.64–70</a:t>
            </a:r>
          </a:p>
        </p:txBody>
      </p:sp>
      <p:sp>
        <p:nvSpPr>
          <p:cNvPr id="9" name="TextBox 8"/>
          <p:cNvSpPr txBox="1"/>
          <p:nvPr/>
        </p:nvSpPr>
        <p:spPr>
          <a:xfrm>
            <a:off x="841248" y="4901184"/>
            <a:ext cx="10424160" cy="457200"/>
          </a:xfrm>
          <a:prstGeom prst="rect">
            <a:avLst/>
          </a:prstGeom>
          <a:noFill/>
        </p:spPr>
        <p:txBody>
          <a:bodyPr wrap="square" lIns="0" rIns="0" tIns="0" bIns="0">
            <a:spAutoFit/>
          </a:bodyPr>
          <a:lstStyle/>
          <a:p>
            <a:pPr>
              <a:spcBef>
                <a:spcPts val="0"/>
              </a:spcBef>
              <a:spcAft>
                <a:spcPts val="300"/>
              </a:spcAft>
              <a:defRPr sz="1600" b="0">
                <a:solidFill>
                  <a:srgbClr val="4A4E54"/>
                </a:solidFill>
                <a:latin typeface="Arial"/>
              </a:defRPr>
            </a:pPr>
            <a:r>
              <a:rPr>
                <a:solidFill>
                  <a:srgbClr val="201C19"/>
                </a:solidFill>
                <a:latin typeface="Arial"/>
              </a:rPr>
              <a:t>Exercise Book 4A Q14–17 (p.26); 4C Q1–3 (p.29)</a:t>
            </a:r>
          </a:p>
        </p:txBody>
      </p:sp>
      <p:sp>
        <p:nvSpPr>
          <p:cNvPr id="10" name="TextBox 9"/>
          <p:cNvSpPr txBox="1"/>
          <p:nvPr/>
        </p:nvSpPr>
        <p:spPr>
          <a:xfrm>
            <a:off x="612648" y="5806440"/>
            <a:ext cx="10927080" cy="411480"/>
          </a:xfrm>
          <a:prstGeom prst="rect">
            <a:avLst/>
          </a:prstGeom>
          <a:noFill/>
        </p:spPr>
        <p:txBody>
          <a:bodyPr wrap="square" lIns="0" rIns="0" tIns="0" bIns="0">
            <a:spAutoFit/>
          </a:bodyPr>
          <a:lstStyle/>
          <a:p>
            <a:pPr>
              <a:spcBef>
                <a:spcPts val="0"/>
              </a:spcBef>
              <a:spcAft>
                <a:spcPts val="300"/>
              </a:spcAft>
              <a:defRPr sz="1700" b="0">
                <a:solidFill>
                  <a:srgbClr val="D2181F"/>
                </a:solidFill>
                <a:latin typeface="Arial"/>
              </a:defRPr>
            </a:pPr>
            <a:r>
              <a:rPr>
                <a:solidFill>
                  <a:srgbClr val="F7F4F1"/>
                </a:solidFill>
                <a:latin typeface="Arial"/>
              </a:rPr>
              <a:t>Keep your notebook, textbook, exercise book and chosen calculator ready.</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RECALL  •  2:20 PM–2:25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Recall and reconnect</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pp.64–70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Present four short situations: total, remainder, repeated pieces and equal sharing. Name the operation.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Try first without displayed answers.</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Q14–17 (p.26); 4C Q1–3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Choose the method from the operation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pp.64–70</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Addition and subtraction need common denominators.</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Multiplication multiplies numerators and denominators.</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Division multiplies by the reciprocal of the divisor.</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Choose the operation from the situation before applying a procedure.</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20" name="Rectangle 19"/>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2648"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2648" y="1865376"/>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217920" y="1865376"/>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17920" y="1865376"/>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12648"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 y="3895344"/>
            <a:ext cx="50292" cy="190195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6217920" y="3895344"/>
            <a:ext cx="5349240" cy="190195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17920" y="3895344"/>
            <a:ext cx="50292" cy="190195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Make the correction explain the error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pp.64–70</a:t>
            </a:r>
          </a:p>
        </p:txBody>
      </p:sp>
      <p:sp>
        <p:nvSpPr>
          <p:cNvPr id="5" name="Rectangle 4"/>
          <p:cNvSpPr/>
          <p:nvPr/>
        </p:nvSpPr>
        <p:spPr>
          <a:xfrm>
            <a:off x="795528" y="2029968"/>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1</a:t>
            </a:r>
          </a:p>
        </p:txBody>
      </p:sp>
      <p:sp>
        <p:nvSpPr>
          <p:cNvPr id="6" name="TextBox 5"/>
          <p:cNvSpPr txBox="1"/>
          <p:nvPr/>
        </p:nvSpPr>
        <p:spPr>
          <a:xfrm>
            <a:off x="1362456"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Keep the original working so the incorrect step can be identified.</a:t>
            </a:r>
          </a:p>
        </p:txBody>
      </p:sp>
      <p:sp>
        <p:nvSpPr>
          <p:cNvPr id="7" name="Rectangle 6"/>
          <p:cNvSpPr/>
          <p:nvPr/>
        </p:nvSpPr>
        <p:spPr>
          <a:xfrm>
            <a:off x="6400800" y="2029968"/>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2</a:t>
            </a:r>
          </a:p>
        </p:txBody>
      </p:sp>
      <p:sp>
        <p:nvSpPr>
          <p:cNvPr id="8" name="TextBox 7"/>
          <p:cNvSpPr txBox="1"/>
          <p:nvPr/>
        </p:nvSpPr>
        <p:spPr>
          <a:xfrm>
            <a:off x="6967728" y="2048256"/>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State whether the error is in the operation, denominator, regrouping or reciprocal.</a:t>
            </a:r>
          </a:p>
        </p:txBody>
      </p:sp>
      <p:sp>
        <p:nvSpPr>
          <p:cNvPr id="9" name="Rectangle 8"/>
          <p:cNvSpPr/>
          <p:nvPr/>
        </p:nvSpPr>
        <p:spPr>
          <a:xfrm>
            <a:off x="795528" y="4059935"/>
            <a:ext cx="393192" cy="3931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201C19"/>
                </a:solidFill>
                <a:latin typeface="Arial"/>
              </a:rPr>
              <a:t>3</a:t>
            </a:r>
          </a:p>
        </p:txBody>
      </p:sp>
      <p:sp>
        <p:nvSpPr>
          <p:cNvPr id="10" name="TextBox 9"/>
          <p:cNvSpPr txBox="1"/>
          <p:nvPr/>
        </p:nvSpPr>
        <p:spPr>
          <a:xfrm>
            <a:off x="1362456"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Write a corrected method and explain why it preserves the quantities.</a:t>
            </a:r>
          </a:p>
        </p:txBody>
      </p:sp>
      <p:sp>
        <p:nvSpPr>
          <p:cNvPr id="11" name="Rectangle 10"/>
          <p:cNvSpPr/>
          <p:nvPr/>
        </p:nvSpPr>
        <p:spPr>
          <a:xfrm>
            <a:off x="6400800" y="4059935"/>
            <a:ext cx="393192" cy="3931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500" b="1">
                <a:solidFill>
                  <a:srgbClr val="1A1A1A"/>
                </a:solidFill>
                <a:latin typeface="Arial"/>
              </a:defRPr>
            </a:pPr>
            <a:r>
              <a:rPr b="1" sz="1900">
                <a:solidFill>
                  <a:srgbClr val="FFFFFF"/>
                </a:solidFill>
                <a:latin typeface="Arial"/>
              </a:rPr>
              <a:t>4</a:t>
            </a:r>
          </a:p>
        </p:txBody>
      </p:sp>
      <p:sp>
        <p:nvSpPr>
          <p:cNvPr id="12" name="TextBox 11"/>
          <p:cNvSpPr txBox="1"/>
          <p:nvPr/>
        </p:nvSpPr>
        <p:spPr>
          <a:xfrm>
            <a:off x="6967728" y="4078224"/>
            <a:ext cx="4343400" cy="1554480"/>
          </a:xfrm>
          <a:prstGeom prst="rect">
            <a:avLst/>
          </a:prstGeom>
          <a:noFill/>
        </p:spPr>
        <p:txBody>
          <a:bodyPr wrap="square" lIns="0" rIns="0" tIns="0" bIns="0">
            <a:spAutoFit/>
          </a:bodyPr>
          <a:lstStyle/>
          <a:p>
            <a:pPr>
              <a:lnSpc>
                <a:spcPct val="105000"/>
              </a:lnSpc>
              <a:spcBef>
                <a:spcPts val="0"/>
              </a:spcBef>
              <a:spcAft>
                <a:spcPts val="300"/>
              </a:spcAft>
              <a:defRPr sz="2200" b="0">
                <a:solidFill>
                  <a:srgbClr val="1A1A1A"/>
                </a:solidFill>
                <a:latin typeface="Arial"/>
              </a:defRPr>
            </a:pPr>
            <a:r>
              <a:rPr sz="2100">
                <a:solidFill>
                  <a:srgbClr val="201C19"/>
                </a:solidFill>
                <a:latin typeface="Arial"/>
              </a:rPr>
              <a:t>Use a fresh partner-created value to check the same skill without copying.</a:t>
            </a:r>
          </a:p>
        </p:txBody>
      </p:sp>
      <p:pic>
        <p:nvPicPr>
          <p:cNvPr id="13" name="Picture 12"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4" name="Rectangle 13"/>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5" name="TextBox 14"/>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6" name="TextBox 15"/>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7" name="TextBox 16"/>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8" name="TextBox 17"/>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9" name="TextBox 18"/>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
    <p:bg>
      <p:bgPr>
        <a:solidFill>
          <a:srgbClr val="F7F4F1"/>
        </a:solidFill>
        <a:effectLst/>
      </p:bgPr>
    </p:bg>
    <p:spTree>
      <p:nvGrpSpPr>
        <p:cNvPr id="1" name=""/>
        <p:cNvGrpSpPr/>
        <p:nvPr/>
      </p:nvGrpSpPr>
      <p:grpSpPr>
        <a:xfrm>
          <a:off x="0" y="0"/>
          <a:ext cx="0" cy="0"/>
          <a:chOff x="0" y="0"/>
          <a:chExt cx="0" cy="0"/>
        </a:xfrm>
      </p:grpSpPr>
      <p:sp>
        <p:nvSpPr>
          <p:cNvPr id="17" name="Rectangle 16"/>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99857" y="2625090"/>
            <a:ext cx="11191982" cy="70101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1"/>
          <p:cNvSpPr/>
          <p:nvPr/>
        </p:nvSpPr>
        <p:spPr>
          <a:xfrm>
            <a:off x="609585" y="381000"/>
            <a:ext cx="9418320" cy="213271"/>
          </a:xfrm>
          <a:prstGeom prst="rect">
            <a:avLst/>
          </a:prstGeom>
          <a:noFill/>
          <a:ln/>
        </p:spPr>
        <p:txBody>
          <a:bodyPr wrap="square" lIns="0" tIns="0" rIns="0" bIns="0" rtlCol="0" anchor="t"/>
          <a:lstStyle/>
          <a:p>
            <a:pPr marL="0" indent="0" algn="l">
              <a:buNone/>
              <a:defRPr sz="1150">
                <a:solidFill>
                  <a:srgbClr val="D2181F"/>
                </a:solidFill>
                <a:latin typeface="Arial"/>
              </a:defRPr>
            </a:pPr>
            <a:r>
              <a:rPr>
                <a:solidFill>
                  <a:srgbClr val="FFFFFF"/>
                </a:solidFill>
                <a:latin typeface="Arial"/>
              </a:rPr>
              <a:t>W03-L04  •  TEACH  •  2:25 PM–2:40 PM  •  15 MIN TOTAL</a:t>
            </a:r>
            <a:endParaRPr lang="en-US" sz="1200" dirty="0"/>
          </a:p>
        </p:txBody>
      </p:sp>
      <p:sp>
        <p:nvSpPr>
          <p:cNvPr id="4" name="Text 2"/>
          <p:cNvSpPr/>
          <p:nvPr/>
        </p:nvSpPr>
        <p:spPr>
          <a:xfrm>
            <a:off x="609585" y="781050"/>
            <a:ext cx="10972526" cy="428625"/>
          </a:xfrm>
          <a:prstGeom prst="rect">
            <a:avLst/>
          </a:prstGeom>
          <a:noFill/>
          <a:ln/>
        </p:spPr>
        <p:txBody>
          <a:bodyPr wrap="square" lIns="0" tIns="0" rIns="0" bIns="0" rtlCol="0" anchor="t"/>
          <a:lstStyle/>
          <a:p>
            <a:pPr marL="0" indent="0" algn="l">
              <a:buNone/>
            </a:pPr>
            <a:r>
              <a:rPr lang="en-US" sz="3000" b="1" dirty="0">
                <a:solidFill>
                  <a:srgbClr val="FFFFFF"/>
                </a:solidFill>
                <a:latin typeface="Arial" pitchFamily="34" charset="0"/>
                <a:ea typeface="Arial" pitchFamily="34" charset="-122"/>
                <a:cs typeface="Arial" pitchFamily="34" charset="-120"/>
              </a:rPr>
              <a:t>Explain why the first method failed</a:t>
            </a:r>
            <a:endParaRPr lang="en-US" sz="3000" dirty="0"/>
          </a:p>
        </p:txBody>
      </p:sp>
      <p:sp>
        <p:nvSpPr>
          <p:cNvPr id="5" name="Text 3"/>
          <p:cNvSpPr/>
          <p:nvPr/>
        </p:nvSpPr>
        <p:spPr>
          <a:xfrm>
            <a:off x="609585" y="17145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Incorrect: 1/2 + 1/4 = 2/6.</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The denominators were added even though the pieces differ in size.</a:t>
            </a:r>
            <a:endParaRPr lang="en-US" sz="1800" dirty="0"/>
          </a:p>
        </p:txBody>
      </p:sp>
      <p:sp>
        <p:nvSpPr>
          <p:cNvPr id="6" name="Text 4"/>
          <p:cNvSpPr/>
          <p:nvPr/>
        </p:nvSpPr>
        <p:spPr>
          <a:xfrm>
            <a:off x="609585" y="2762250"/>
            <a:ext cx="10972526" cy="426690"/>
          </a:xfrm>
          <a:prstGeom prst="rect">
            <a:avLst/>
          </a:prstGeom>
          <a:noFill/>
          <a:ln/>
        </p:spPr>
        <p:txBody>
          <a:bodyPr wrap="square" lIns="0" tIns="0" rIns="0" bIns="0" rtlCol="0" anchor="t"/>
          <a:lstStyle/>
          <a:p>
            <a:pPr marL="0" indent="0" algn="l">
              <a:buNone/>
            </a:pPr>
            <a:r>
              <a:rPr lang="en-US" sz="2400" dirty="0" b="1">
                <a:solidFill>
                  <a:srgbClr val="201C19"/>
                </a:solidFill>
                <a:latin typeface="Arial" pitchFamily="34" charset="0"/>
                <a:ea typeface="Arial" pitchFamily="34" charset="-122"/>
                <a:cs typeface="Arial" pitchFamily="34" charset="-120"/>
              </a:rPr>
              <a:t>Correct: 2/4 + 1/4 = 3/4</a:t>
            </a:r>
            <a:endParaRPr lang="en-US" sz="2400" dirty="0"/>
          </a:p>
        </p:txBody>
      </p:sp>
      <p:sp>
        <p:nvSpPr>
          <p:cNvPr id="7" name="Text 5"/>
          <p:cNvSpPr/>
          <p:nvPr/>
        </p:nvSpPr>
        <p:spPr>
          <a:xfrm>
            <a:off x="609585" y="3619500"/>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Contrast multiplication: 1/2 × 1/4 = 1/8.</a:t>
            </a:r>
            <a:endParaRPr lang="en-US" sz="1800" dirty="0"/>
          </a:p>
          <a:p>
            <a:pPr marL="0" indent="0" algn="l">
              <a:buNone/>
            </a:pPr>
            <a:r>
              <a:rPr lang="en-US" sz="1800" dirty="0">
                <a:solidFill>
                  <a:srgbClr val="201C19"/>
                </a:solidFill>
                <a:latin typeface="Arial" pitchFamily="34" charset="0"/>
                <a:ea typeface="Arial" pitchFamily="34" charset="-122"/>
                <a:cs typeface="Arial" pitchFamily="34" charset="-120"/>
              </a:rPr>
              <a:t>Here the question asks for half of a quarter, not a combined length.</a:t>
            </a:r>
            <a:endParaRPr lang="en-US" sz="1800" dirty="0"/>
          </a:p>
        </p:txBody>
      </p:sp>
      <p:sp>
        <p:nvSpPr>
          <p:cNvPr id="8" name="Text 6"/>
          <p:cNvSpPr/>
          <p:nvPr/>
        </p:nvSpPr>
        <p:spPr>
          <a:xfrm>
            <a:off x="609585" y="4810125"/>
            <a:ext cx="10972526" cy="639961"/>
          </a:xfrm>
          <a:prstGeom prst="rect">
            <a:avLst/>
          </a:prstGeom>
          <a:noFill/>
          <a:ln/>
        </p:spPr>
        <p:txBody>
          <a:bodyPr wrap="square" lIns="0" tIns="0" rIns="0" bIns="0" rtlCol="0" anchor="t"/>
          <a:lstStyle/>
          <a:p>
            <a:pPr marL="0" indent="0" algn="l">
              <a:buNone/>
            </a:pPr>
            <a:r>
              <a:rPr lang="en-US" sz="1800" dirty="0">
                <a:solidFill>
                  <a:srgbClr val="201C19"/>
                </a:solidFill>
                <a:latin typeface="Arial" pitchFamily="34" charset="0"/>
                <a:ea typeface="Arial" pitchFamily="34" charset="-122"/>
                <a:cs typeface="Arial" pitchFamily="34" charset="-120"/>
              </a:rPr>
              <a:t>Together: explain one method from 4A Q14–17 without copying a partner. Instructor models the most common error from Monday’s work.</a:t>
            </a:r>
            <a:endParaRPr lang="en-US" sz="1800" dirty="0"/>
          </a:p>
        </p:txBody>
      </p:sp>
      <p:sp>
        <p:nvSpPr>
          <p:cNvPr id="9" name="Text 7"/>
          <p:cNvSpPr/>
          <p:nvPr/>
        </p:nvSpPr>
        <p:spPr>
          <a:xfrm>
            <a:off x="609585" y="6345936"/>
            <a:ext cx="10881360" cy="186630"/>
          </a:xfrm>
          <a:prstGeom prst="rect">
            <a:avLst/>
          </a:prstGeom>
          <a:noFill/>
          <a:ln/>
        </p:spPr>
        <p:txBody>
          <a:bodyPr wrap="square" lIns="0" tIns="0" rIns="0" bIns="0" rtlCol="0" anchor="t"/>
          <a:lstStyle/>
          <a:p>
            <a:pPr marL="0" indent="0" algn="l">
              <a:buNone/>
            </a:pPr>
            <a:r>
              <a:rPr lang="en-US" sz="1050" dirty="0">
                <a:solidFill>
                  <a:srgbClr val="62564B"/>
                </a:solidFill>
                <a:latin typeface="Arial" pitchFamily="34" charset="0"/>
                <a:ea typeface="Arial" pitchFamily="34" charset="-122"/>
                <a:cs typeface="Arial" pitchFamily="34" charset="-120"/>
              </a:rPr>
              <a:t>W3 L4 • Use paper first; rebuild one missing-length sketch in Shape Canvas</a:t>
            </a:r>
            <a:endParaRPr lang="en-US" sz="1050" dirty="0"/>
          </a:p>
        </p:txBody>
      </p:sp>
      <p:pic>
        <p:nvPicPr>
          <p:cNvPr id="10" name="Picture 9"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1" name="Rectangle 10"/>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2" name="TextBox 11"/>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3" name="TextBox 12"/>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4" name="TextBox 13"/>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5" name="TextBox 14"/>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6" name="TextBox 15"/>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28</a:t>
            </a:r>
          </a:p>
        </p:txBody>
      </p:sp>
    </p:spTree>
    <p:extLst>
      <p:ext uri="{BB962C8B-B14F-4D97-AF65-F5344CB8AC3E}">
        <p14:creationId xmlns:p14="http://schemas.microsoft.com/office/powerpoint/2010/main" val="768516818"/>
      </p:ext>
    </p:extLst>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W03-L04.png"/>
          <p:cNvPicPr>
            <a:picLocks noChangeAspect="1"/>
          </p:cNvPicPr>
          <p:nvPr/>
        </p:nvPicPr>
        <p:blipFill>
          <a:blip r:embed="rId3"/>
          <a:stretch>
            <a:fillRect/>
          </a:stretch>
        </p:blipFill>
        <p:spPr>
          <a:xfrm>
            <a:off x="685800" y="2038100"/>
            <a:ext cx="10698480" cy="3376159"/>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p.64 · Example 4.8: use equal-sized fractions to add a stack.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00784"/>
            <a:ext cx="11173968" cy="414223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00784"/>
            <a:ext cx="50292" cy="414223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Textbook  |  page 64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W03-L04-2.png"/>
          <p:cNvPicPr>
            <a:picLocks noChangeAspect="1"/>
          </p:cNvPicPr>
          <p:nvPr/>
        </p:nvPicPr>
        <p:blipFill>
          <a:blip r:embed="rId3"/>
          <a:stretch>
            <a:fillRect/>
          </a:stretch>
        </p:blipFill>
        <p:spPr>
          <a:xfrm>
            <a:off x="685800" y="2058884"/>
            <a:ext cx="10698480" cy="3334591"/>
          </a:xfrm>
          <a:prstGeom prst="rect">
            <a:avLst/>
          </a:prstGeom>
        </p:spPr>
      </p:pic>
      <p:sp>
        <p:nvSpPr>
          <p:cNvPr id="6" name="TextBox 5"/>
          <p:cNvSpPr txBox="1"/>
          <p:nvPr/>
        </p:nvSpPr>
        <p:spPr>
          <a:xfrm>
            <a:off x="685800" y="5852160"/>
            <a:ext cx="10698480" cy="393192"/>
          </a:xfrm>
          <a:prstGeom prst="rect">
            <a:avLst/>
          </a:prstGeom>
          <a:noFill/>
        </p:spPr>
        <p:txBody>
          <a:bodyPr wrap="square" lIns="0" rIns="0" tIns="0" bIns="0">
            <a:spAutoFit/>
          </a:bodyPr>
          <a:lstStyle/>
          <a:p>
            <a:pPr>
              <a:spcBef>
                <a:spcPts val="0"/>
              </a:spcBef>
              <a:spcAft>
                <a:spcPts val="300"/>
              </a:spcAft>
              <a:defRPr sz="1400" b="0">
                <a:solidFill>
                  <a:srgbClr val="4A4E54"/>
                </a:solidFill>
                <a:latin typeface="Arial"/>
              </a:defRPr>
            </a:pPr>
            <a:r>
              <a:rPr>
                <a:solidFill>
                  <a:srgbClr val="F7F4F1"/>
                </a:solidFill>
                <a:latin typeface="Arial"/>
              </a:rPr>
              <a:t>Textbook p.64 · Check the written fraction method on the chosen calculator.</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93776" y="4453128"/>
            <a:ext cx="11192256" cy="1481328"/>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93776" y="4453128"/>
            <a:ext cx="64008" cy="1481328"/>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TEACH  •  2:25 PM–2:40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Spot the mistake. Explain the correction.</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sp>
        <p:nvSpPr>
          <p:cNvPr id="5" name="TextBox 4"/>
          <p:cNvSpPr txBox="1"/>
          <p:nvPr/>
        </p:nvSpPr>
        <p:spPr>
          <a:xfrm>
            <a:off x="612648" y="1847088"/>
            <a:ext cx="10927080" cy="1554480"/>
          </a:xfrm>
          <a:prstGeom prst="rect">
            <a:avLst/>
          </a:prstGeom>
          <a:noFill/>
        </p:spPr>
        <p:txBody>
          <a:bodyPr wrap="square" lIns="0" rIns="0" tIns="0" bIns="0">
            <a:spAutoFit/>
          </a:bodyPr>
          <a:lstStyle/>
          <a:p>
            <a:pPr>
              <a:spcBef>
                <a:spcPts val="0"/>
              </a:spcBef>
              <a:spcAft>
                <a:spcPts val="300"/>
              </a:spcAft>
              <a:defRPr sz="2600" b="1">
                <a:solidFill>
                  <a:srgbClr val="1A1A1A"/>
                </a:solidFill>
                <a:latin typeface="Arial"/>
              </a:defRPr>
            </a:pPr>
            <a:r>
              <a:rPr>
                <a:solidFill>
                  <a:srgbClr val="FFFFFF"/>
                </a:solidFill>
                <a:latin typeface="Arial"/>
              </a:rPr>
              <a:t>Must you find a common denominator before every fraction multiplication?</a:t>
            </a:r>
          </a:p>
        </p:txBody>
      </p:sp>
      <p:sp>
        <p:nvSpPr>
          <p:cNvPr id="6" name="TextBox 5"/>
          <p:cNvSpPr txBox="1"/>
          <p:nvPr/>
        </p:nvSpPr>
        <p:spPr>
          <a:xfrm>
            <a:off x="612648" y="3703320"/>
            <a:ext cx="10927080" cy="411480"/>
          </a:xfrm>
          <a:prstGeom prst="rect">
            <a:avLst/>
          </a:prstGeom>
          <a:noFill/>
        </p:spPr>
        <p:txBody>
          <a:bodyPr wrap="square" lIns="0" rIns="0" tIns="0" bIns="0">
            <a:spAutoFit/>
          </a:bodyPr>
          <a:lstStyle/>
          <a:p>
            <a:pPr>
              <a:spcBef>
                <a:spcPts val="0"/>
              </a:spcBef>
              <a:spcAft>
                <a:spcPts val="300"/>
              </a:spcAft>
              <a:defRPr sz="2000" b="0">
                <a:solidFill>
                  <a:srgbClr val="D2181F"/>
                </a:solidFill>
                <a:latin typeface="Arial"/>
              </a:defRPr>
            </a:pPr>
            <a:r>
              <a:rPr>
                <a:solidFill>
                  <a:srgbClr val="FFFFFF"/>
                </a:solidFill>
                <a:latin typeface="Arial"/>
              </a:rPr>
              <a:t>Discuss the method before checking the answer.</a:t>
            </a:r>
          </a:p>
        </p:txBody>
      </p:sp>
      <p:sp>
        <p:nvSpPr>
          <p:cNvPr id="7" name="TextBox 6"/>
          <p:cNvSpPr txBox="1"/>
          <p:nvPr/>
        </p:nvSpPr>
        <p:spPr>
          <a:xfrm>
            <a:off x="612648" y="4617720"/>
            <a:ext cx="10927080" cy="1188720"/>
          </a:xfrm>
          <a:prstGeom prst="rect">
            <a:avLst/>
          </a:prstGeom>
          <a:noFill/>
        </p:spPr>
        <p:txBody>
          <a:bodyPr wrap="square" lIns="0" rIns="0" tIns="0" bIns="0">
            <a:spAutoFit/>
          </a:bodyPr>
          <a:lstStyle/>
          <a:p>
            <a:pPr>
              <a:spcBef>
                <a:spcPts val="0"/>
              </a:spcBef>
              <a:spcAft>
                <a:spcPts val="300"/>
              </a:spcAft>
              <a:defRPr sz="2200" b="0">
                <a:solidFill>
                  <a:srgbClr val="4A4E54"/>
                </a:solidFill>
                <a:latin typeface="Arial"/>
              </a:defRPr>
            </a:pPr>
            <a:r>
              <a:rPr b="1">
                <a:solidFill>
                  <a:srgbClr val="201C19"/>
                </a:solidFill>
                <a:latin typeface="Arial"/>
              </a:rPr>
              <a:t>No. Common denominators support addition and subtraction. Multiply numerators and denominators directly.</a:t>
            </a:r>
          </a:p>
        </p:txBody>
      </p:sp>
      <p:pic>
        <p:nvPicPr>
          <p:cNvPr id="8" name="Picture 7" descr="access-logo.png"/>
          <p:cNvPicPr>
            <a:picLocks noChangeAspect="1"/>
          </p:cNvPicPr>
          <p:nvPr/>
        </p:nvPicPr>
        <p:blipFill>
          <a:blip r:embed="rId3"/>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Work together</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pp.64–70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Pairs explain a method from 4A questions 14–17 without copying the partner’s calculation.</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Work in pairs; alternate solver and checker.</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Q14–17 (p.26); 4C Q1–3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Guided practice  |  4A Q14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4.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Work with a partner. Take turns explaining the next step.</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5" name="Rectangle 14"/>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2064" y="1764792"/>
            <a:ext cx="11173968" cy="16459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12064" y="1764792"/>
            <a:ext cx="50292"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12064" y="3511296"/>
            <a:ext cx="11173968" cy="2331720"/>
          </a:xfrm>
          <a:prstGeom prst="roundRect">
            <a:avLst>
              <a:gd name="adj" fmla="val 8000"/>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TOGETHER  •  2:40 PM–2:55 PM  •  15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Compare your method  |  4A Q14</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4.png"/>
          <p:cNvPicPr>
            <a:picLocks noChangeAspect="1"/>
          </p:cNvPicPr>
          <p:nvPr/>
        </p:nvPicPr>
        <p:blipFill>
          <a:blip r:embed="rId3"/>
          <a:stretch>
            <a:fillRect/>
          </a:stretch>
        </p:blipFill>
        <p:spPr>
          <a:xfrm>
            <a:off x="685800" y="2015744"/>
            <a:ext cx="10698480" cy="1043431"/>
          </a:xfrm>
          <a:prstGeom prst="rect">
            <a:avLst/>
          </a:prstGeom>
        </p:spPr>
      </p:pic>
      <p:sp>
        <p:nvSpPr>
          <p:cNvPr id="6" name="TextBox 5"/>
          <p:cNvSpPr txBox="1"/>
          <p:nvPr/>
        </p:nvSpPr>
        <p:spPr>
          <a:xfrm>
            <a:off x="685800" y="3611880"/>
            <a:ext cx="2743200" cy="320040"/>
          </a:xfrm>
          <a:prstGeom prst="rect">
            <a:avLst/>
          </a:prstGeom>
          <a:noFill/>
        </p:spPr>
        <p:txBody>
          <a:bodyPr wrap="square" lIns="0" rIns="0" tIns="0" bIns="0">
            <a:spAutoFit/>
          </a:bodyPr>
          <a:lstStyle/>
          <a:p>
            <a:pPr>
              <a:spcBef>
                <a:spcPts val="0"/>
              </a:spcBef>
              <a:spcAft>
                <a:spcPts val="300"/>
              </a:spcAft>
              <a:defRPr sz="1400" b="1">
                <a:solidFill>
                  <a:srgbClr val="D2181F"/>
                </a:solidFill>
                <a:latin typeface="Arial"/>
              </a:defRPr>
            </a:pPr>
            <a:r>
              <a:rPr b="1" sz="1300">
                <a:solidFill>
                  <a:srgbClr val="201C19"/>
                </a:solidFill>
                <a:latin typeface="Arial"/>
              </a:rPr>
              <a:t>CHECK TOGETHER</a:t>
            </a:r>
          </a:p>
        </p:txBody>
      </p:sp>
      <p:sp>
        <p:nvSpPr>
          <p:cNvPr id="7" name="TextBox 6"/>
          <p:cNvSpPr txBox="1"/>
          <p:nvPr/>
        </p:nvSpPr>
        <p:spPr>
          <a:xfrm>
            <a:off x="685800" y="4114800"/>
            <a:ext cx="10698480" cy="868680"/>
          </a:xfrm>
          <a:prstGeom prst="rect">
            <a:avLst/>
          </a:prstGeom>
          <a:noFill/>
        </p:spPr>
        <p:txBody>
          <a:bodyPr wrap="square" lIns="0" rIns="0" tIns="0" bIns="0">
            <a:spAutoFit/>
          </a:bodyPr>
          <a:lstStyle/>
          <a:p>
            <a:pPr>
              <a:spcBef>
                <a:spcPts val="0"/>
              </a:spcBef>
              <a:spcAft>
                <a:spcPts val="300"/>
              </a:spcAft>
              <a:defRPr sz="2700" b="1">
                <a:solidFill>
                  <a:srgbClr val="1A1A1A"/>
                </a:solidFill>
                <a:latin typeface="Arial"/>
              </a:defRPr>
            </a:pPr>
            <a:r>
              <a:rPr b="1" sz="3400">
                <a:solidFill>
                  <a:srgbClr val="201C19"/>
                </a:solidFill>
                <a:latin typeface="Arial"/>
              </a:rPr>
              <a:t>(a) 1 1/16  (b) 10 5/16</a:t>
            </a:r>
          </a:p>
        </p:txBody>
      </p:sp>
      <p:pic>
        <p:nvPicPr>
          <p:cNvPr id="8" name="Picture 7" descr="access-logo.png"/>
          <p:cNvPicPr>
            <a:picLocks noChangeAspect="1"/>
          </p:cNvPicPr>
          <p:nvPr/>
        </p:nvPicPr>
        <p:blipFill>
          <a:blip r:embed="rId4"/>
          <a:stretch>
            <a:fillRect/>
          </a:stretch>
        </p:blipFill>
        <p:spPr>
          <a:xfrm>
            <a:off x="10177272" y="146304"/>
            <a:ext cx="1371600" cy="689145"/>
          </a:xfrm>
          <a:prstGeom prst="rect">
            <a:avLst/>
          </a:prstGeom>
        </p:spPr>
      </p:pic>
      <p:sp>
        <p:nvSpPr>
          <p:cNvPr id="9" name="Rectangle 8"/>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0" name="TextBox 9"/>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1" name="TextBox 10"/>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2" name="TextBox 11"/>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3" name="TextBox 12"/>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4" name="TextBox 13"/>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4F1"/>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5A10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Your scheduled practice</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62564B"/>
                </a:solidFill>
                <a:latin typeface="Arial"/>
              </a:rPr>
              <a:t>Textbook Chapter 4 pp.64–70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Complete one part of each question 14–17 independently, then 4C questions 1–3. Mark, explain and retry one error with a fresh partner-created value.</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Show working and units; estimate, then check.</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62564B"/>
                </a:solidFill>
                <a:latin typeface="Arial"/>
              </a:rPr>
              <a:t>Resources: Exercise Book 4A Q14–17 (p.26); 4C Q1–3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664208"/>
            <a:ext cx="11173968" cy="427939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664208"/>
            <a:ext cx="50292" cy="427939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Open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shape-rectangle.png"/>
          <p:cNvPicPr>
            <a:picLocks noChangeAspect="1"/>
          </p:cNvPicPr>
          <p:nvPr/>
        </p:nvPicPr>
        <p:blipFill>
          <a:blip r:embed="rId3"/>
          <a:stretch>
            <a:fillRect/>
          </a:stretch>
        </p:blipFill>
        <p:spPr>
          <a:xfrm>
            <a:off x="3014776" y="1664208"/>
            <a:ext cx="6122822" cy="4251960"/>
          </a:xfrm>
          <a:prstGeom prst="rect">
            <a:avLst/>
          </a:prstGeom>
        </p:spPr>
      </p:pic>
      <p:sp>
        <p:nvSpPr>
          <p:cNvPr id="6" name="TextBox 5"/>
          <p:cNvSpPr txBox="1"/>
          <p:nvPr/>
        </p:nvSpPr>
        <p:spPr>
          <a:xfrm>
            <a:off x="612648" y="5998464"/>
            <a:ext cx="10927080" cy="256032"/>
          </a:xfrm>
          <a:prstGeom prst="rect">
            <a:avLst/>
          </a:prstGeom>
          <a:noFill/>
        </p:spPr>
        <p:txBody>
          <a:bodyPr wrap="square" lIns="0" rIns="0" tIns="0" bIns="0">
            <a:spAutoFit/>
          </a:bodyPr>
          <a:lstStyle/>
          <a:p>
            <a:pPr>
              <a:spcBef>
                <a:spcPts val="0"/>
              </a:spcBef>
              <a:spcAft>
                <a:spcPts val="300"/>
              </a:spcAft>
              <a:defRPr sz="1350" b="0">
                <a:solidFill>
                  <a:srgbClr val="4A4E54"/>
                </a:solidFill>
                <a:latin typeface="Arial"/>
              </a:defRPr>
            </a:pPr>
            <a:r>
              <a:rPr>
                <a:solidFill>
                  <a:srgbClr val="F7F4F1"/>
                </a:solidFill>
                <a:latin typeface="Arial"/>
              </a:rPr>
              <a:t>Navigation example. Use the values and units in the assigned task.</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8" name="Rectangle 17"/>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1737360"/>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2920" y="3035808"/>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02920" y="4334256"/>
            <a:ext cx="11183112" cy="1197864"/>
          </a:xfrm>
          <a:prstGeom prst="roundRect">
            <a:avLst>
              <a:gd name="adj" fmla="val 8000"/>
            </a:avLst>
          </a:prstGeom>
          <a:solidFill>
            <a:srgbClr val="302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in Shape Canvas</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sp>
        <p:nvSpPr>
          <p:cNvPr id="5" name="Rectangle 4"/>
          <p:cNvSpPr/>
          <p:nvPr/>
        </p:nvSpPr>
        <p:spPr>
          <a:xfrm>
            <a:off x="658368" y="1828800"/>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1</a:t>
            </a:r>
          </a:p>
        </p:txBody>
      </p:sp>
      <p:sp>
        <p:nvSpPr>
          <p:cNvPr id="6" name="TextBox 5"/>
          <p:cNvSpPr txBox="1"/>
          <p:nvPr/>
        </p:nvSpPr>
        <p:spPr>
          <a:xfrm>
            <a:off x="1234440" y="1828800"/>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first attempt: Complete one part of 4A Q14–17 and the assigned 4C drawings on paper.</a:t>
            </a:r>
          </a:p>
        </p:txBody>
      </p:sp>
      <p:sp>
        <p:nvSpPr>
          <p:cNvPr id="7" name="Rectangle 6"/>
          <p:cNvSpPr/>
          <p:nvPr/>
        </p:nvSpPr>
        <p:spPr>
          <a:xfrm>
            <a:off x="658368" y="3127248"/>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2</a:t>
            </a:r>
          </a:p>
        </p:txBody>
      </p:sp>
      <p:sp>
        <p:nvSpPr>
          <p:cNvPr id="8" name="TextBox 7"/>
          <p:cNvSpPr txBox="1"/>
          <p:nvPr/>
        </p:nvSpPr>
        <p:spPr>
          <a:xfrm>
            <a:off x="1234440" y="3127248"/>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Checking after completion: Use the chosen calculator and explain one difference from your result.</a:t>
            </a:r>
          </a:p>
        </p:txBody>
      </p:sp>
      <p:sp>
        <p:nvSpPr>
          <p:cNvPr id="9" name="Rectangle 8"/>
          <p:cNvSpPr/>
          <p:nvPr/>
        </p:nvSpPr>
        <p:spPr>
          <a:xfrm>
            <a:off x="658368" y="4425696"/>
            <a:ext cx="365760" cy="3657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1">
                <a:solidFill>
                  <a:srgbClr val="1A1A1A"/>
                </a:solidFill>
                <a:latin typeface="Arial"/>
              </a:defRPr>
            </a:pPr>
            <a:r>
              <a:rPr b="1" sz="2000">
                <a:solidFill>
                  <a:srgbClr val="201C19"/>
                </a:solidFill>
                <a:latin typeface="Arial"/>
              </a:rPr>
              <a:t>3</a:t>
            </a:r>
          </a:p>
        </p:txBody>
      </p:sp>
      <p:sp>
        <p:nvSpPr>
          <p:cNvPr id="10" name="TextBox 9"/>
          <p:cNvSpPr txBox="1"/>
          <p:nvPr/>
        </p:nvSpPr>
        <p:spPr>
          <a:xfrm>
            <a:off x="1234440" y="4425696"/>
            <a:ext cx="10149840" cy="1097280"/>
          </a:xfrm>
          <a:prstGeom prst="rect">
            <a:avLst/>
          </a:prstGeom>
          <a:noFill/>
        </p:spPr>
        <p:txBody>
          <a:bodyPr wrap="square" lIns="0" rIns="0" tIns="0" bIns="0">
            <a:spAutoFit/>
          </a:bodyPr>
          <a:lstStyle/>
          <a:p>
            <a:pPr>
              <a:spcBef>
                <a:spcPts val="0"/>
              </a:spcBef>
              <a:spcAft>
                <a:spcPts val="300"/>
              </a:spcAft>
              <a:defRPr sz="2200" b="0">
                <a:solidFill>
                  <a:srgbClr val="1A1A1A"/>
                </a:solidFill>
                <a:latin typeface="Arial"/>
              </a:defRPr>
            </a:pPr>
            <a:r>
              <a:rPr>
                <a:solidFill>
                  <a:srgbClr val="FFFFFF"/>
                </a:solidFill>
                <a:latin typeface="Arial"/>
              </a:rPr>
              <a:t>Independent retry: Rebuild one missing-length sketch in Shape Canvas and solve a fresh missed type.</a:t>
            </a:r>
          </a:p>
        </p:txBody>
      </p:sp>
      <p:pic>
        <p:nvPicPr>
          <p:cNvPr id="11" name="Picture 10"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2" name="Rectangle 11"/>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3" name="TextBox 12"/>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4" name="TextBox 13"/>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5" name="TextBox 14"/>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6" name="TextBox 15"/>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7" name="TextBox 16"/>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4A Q14a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4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PRACTISE  •  2:55 PM–3:15 PM  •  20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Practise from the Exercise Book  |  4C Q1</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C-Q1.png"/>
          <p:cNvPicPr>
            <a:picLocks noChangeAspect="1"/>
          </p:cNvPicPr>
          <p:nvPr/>
        </p:nvPicPr>
        <p:blipFill>
          <a:blip r:embed="rId3"/>
          <a:stretch>
            <a:fillRect/>
          </a:stretch>
        </p:blipFill>
        <p:spPr>
          <a:xfrm>
            <a:off x="1602278" y="1773936"/>
            <a:ext cx="8865523" cy="3611880"/>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Write the operation, working and units before checking.</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5A1018"/>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Check independently</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Redo 4A questions 14(a),15(a),16(b),17(b). Give simplest forms.</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Answer independently and show the method.</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Q14–17 (p.26); 4C Q1–3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Q14a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4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Q15a</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5a.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Q16b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6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4" name="Rectangle 13"/>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2064" y="1773936"/>
            <a:ext cx="11173968" cy="3776472"/>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2064" y="1773936"/>
            <a:ext cx="50292" cy="3776472"/>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CHECK  •  3:15 PM–3:25 PM  •  10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Independent check  |  4A Q17b</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pic>
        <p:nvPicPr>
          <p:cNvPr id="5" name="Picture 4" descr="4A-Q17b.png"/>
          <p:cNvPicPr>
            <a:picLocks noChangeAspect="1"/>
          </p:cNvPicPr>
          <p:nvPr/>
        </p:nvPicPr>
        <p:blipFill>
          <a:blip r:embed="rId3"/>
          <a:stretch>
            <a:fillRect/>
          </a:stretch>
        </p:blipFill>
        <p:spPr>
          <a:xfrm>
            <a:off x="685800" y="3058160"/>
            <a:ext cx="10698480" cy="1043431"/>
          </a:xfrm>
          <a:prstGeom prst="rect">
            <a:avLst/>
          </a:prstGeom>
        </p:spPr>
      </p:pic>
      <p:sp>
        <p:nvSpPr>
          <p:cNvPr id="6" name="TextBox 5"/>
          <p:cNvSpPr txBox="1"/>
          <p:nvPr/>
        </p:nvSpPr>
        <p:spPr>
          <a:xfrm>
            <a:off x="685800" y="5596128"/>
            <a:ext cx="10698480" cy="457200"/>
          </a:xfrm>
          <a:prstGeom prst="rect">
            <a:avLst/>
          </a:prstGeom>
          <a:noFill/>
        </p:spPr>
        <p:txBody>
          <a:bodyPr wrap="square" lIns="0" rIns="0" tIns="0" bIns="0">
            <a:spAutoFit/>
          </a:bodyPr>
          <a:lstStyle/>
          <a:p>
            <a:pPr>
              <a:spcBef>
                <a:spcPts val="0"/>
              </a:spcBef>
              <a:spcAft>
                <a:spcPts val="300"/>
              </a:spcAft>
              <a:defRPr sz="1700" b="0">
                <a:solidFill>
                  <a:srgbClr val="4A4E54"/>
                </a:solidFill>
                <a:latin typeface="Arial"/>
              </a:defRPr>
            </a:pPr>
            <a:r>
              <a:rPr>
                <a:solidFill>
                  <a:srgbClr val="F7F4F1"/>
                </a:solidFill>
                <a:latin typeface="Arial"/>
              </a:rPr>
              <a:t>Answer independently. Keep worked solutions closed.</a:t>
            </a:r>
          </a:p>
        </p:txBody>
      </p:sp>
      <p:pic>
        <p:nvPicPr>
          <p:cNvPr id="7" name="Picture 6" descr="access-logo.png"/>
          <p:cNvPicPr>
            <a:picLocks noChangeAspect="1"/>
          </p:cNvPicPr>
          <p:nvPr/>
        </p:nvPicPr>
        <p:blipFill>
          <a:blip r:embed="rId4"/>
          <a:stretch>
            <a:fillRect/>
          </a:stretch>
        </p:blipFill>
        <p:spPr>
          <a:xfrm>
            <a:off x="10177272" y="146304"/>
            <a:ext cx="1371600" cy="689145"/>
          </a:xfrm>
          <a:prstGeom prst="rect">
            <a:avLst/>
          </a:prstGeom>
        </p:spPr>
      </p:pic>
      <p:sp>
        <p:nvSpPr>
          <p:cNvPr id="8" name="Rectangle 7"/>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9" name="TextBox 8"/>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Textbook</a:t>
            </a:r>
          </a:p>
        </p:txBody>
      </p:sp>
      <p:sp>
        <p:nvSpPr>
          <p:cNvPr id="10" name="TextBox 9"/>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Exercise Book</a:t>
            </a:r>
          </a:p>
        </p:txBody>
      </p:sp>
      <p:sp>
        <p:nvSpPr>
          <p:cNvPr id="11" name="TextBox 10"/>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Numeracy Hub</a:t>
            </a:r>
          </a:p>
        </p:txBody>
      </p:sp>
      <p:sp>
        <p:nvSpPr>
          <p:cNvPr id="12" name="TextBox 11"/>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8"/>
              </a:rPr>
              <a:t>Shape Canvas</a:t>
            </a:r>
          </a:p>
        </p:txBody>
      </p:sp>
      <p:sp>
        <p:nvSpPr>
          <p:cNvPr id="13" name="TextBox 12"/>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1512"/>
        </a:solidFill>
        <a:effectLst/>
      </p:bgPr>
    </p:bg>
    <p:spTree>
      <p:nvGrpSpPr>
        <p:cNvPr id="1" name=""/>
        <p:cNvGrpSpPr/>
        <p:nvPr/>
      </p:nvGrpSpPr>
      <p:grpSpPr/>
      <p:sp>
        <p:nvSpPr>
          <p:cNvPr id="16" name="Rectangle 15"/>
          <p:cNvSpPr/>
          <p:nvPr/>
        </p:nvSpPr>
        <p:spPr>
          <a:xfrm>
            <a:off x="0" y="6528816"/>
            <a:ext cx="12191695" cy="329184"/>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0" y="0"/>
            <a:ext cx="12191695" cy="1645920"/>
          </a:xfrm>
          <a:prstGeom prst="rect">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0" y="0"/>
            <a:ext cx="146304" cy="1645920"/>
          </a:xfrm>
          <a:prstGeom prst="rect">
            <a:avLst/>
          </a:prstGeom>
          <a:solidFill>
            <a:srgbClr val="C60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 y="1581912"/>
            <a:ext cx="822960" cy="50292"/>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104120" y="114300"/>
            <a:ext cx="1517904" cy="753153"/>
          </a:xfrm>
          <a:prstGeom prst="roundRect">
            <a:avLst>
              <a:gd name="adj" fmla="val 8000"/>
            </a:avLst>
          </a:prstGeom>
          <a:solidFill>
            <a:srgbClr val="F7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93776" y="1773936"/>
            <a:ext cx="11192256" cy="2240280"/>
          </a:xfrm>
          <a:prstGeom prst="roundRect">
            <a:avLst>
              <a:gd name="adj" fmla="val 8000"/>
            </a:avLst>
          </a:prstGeom>
          <a:solidFill>
            <a:srgbClr val="1A15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3776" y="1773936"/>
            <a:ext cx="64008" cy="224028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extBox 1"/>
          <p:cNvSpPr txBox="1"/>
          <p:nvPr/>
        </p:nvSpPr>
        <p:spPr>
          <a:xfrm>
            <a:off x="612648" y="402336"/>
            <a:ext cx="9418320" cy="274320"/>
          </a:xfrm>
          <a:prstGeom prst="rect">
            <a:avLst/>
          </a:prstGeom>
          <a:noFill/>
        </p:spPr>
        <p:txBody>
          <a:bodyPr wrap="square" lIns="0" rIns="0" tIns="0" bIns="0">
            <a:spAutoFit/>
          </a:bodyPr>
          <a:lstStyle/>
          <a:p>
            <a:pPr>
              <a:spcBef>
                <a:spcPts val="0"/>
              </a:spcBef>
              <a:spcAft>
                <a:spcPts val="300"/>
              </a:spcAft>
              <a:defRPr sz="1150" b="1">
                <a:solidFill>
                  <a:srgbClr val="D2181F"/>
                </a:solidFill>
                <a:latin typeface="Arial"/>
              </a:defRPr>
            </a:pPr>
            <a:r>
              <a:rPr>
                <a:solidFill>
                  <a:srgbClr val="FFFFFF"/>
                </a:solidFill>
                <a:latin typeface="Arial"/>
              </a:rPr>
              <a:t>W03-L04  •  WRAP UP  •  3:25 PM–3:30 PM  •  5 MIN TOTAL</a:t>
            </a:r>
          </a:p>
        </p:txBody>
      </p:sp>
      <p:sp>
        <p:nvSpPr>
          <p:cNvPr id="3" name="TextBox 2"/>
          <p:cNvSpPr txBox="1"/>
          <p:nvPr/>
        </p:nvSpPr>
        <p:spPr>
          <a:xfrm>
            <a:off x="612648" y="932688"/>
            <a:ext cx="10927080" cy="749808"/>
          </a:xfrm>
          <a:prstGeom prst="rect">
            <a:avLst/>
          </a:prstGeom>
          <a:noFill/>
        </p:spPr>
        <p:txBody>
          <a:bodyPr wrap="square" lIns="0" rIns="0" tIns="0" bIns="0">
            <a:spAutoFit/>
          </a:bodyPr>
          <a:lstStyle/>
          <a:p>
            <a:pPr>
              <a:spcBef>
                <a:spcPts val="0"/>
              </a:spcBef>
              <a:spcAft>
                <a:spcPts val="300"/>
              </a:spcAft>
              <a:defRPr sz="2900" b="1">
                <a:solidFill>
                  <a:srgbClr val="1A1A1A"/>
                </a:solidFill>
                <a:latin typeface="Arial"/>
              </a:defRPr>
            </a:pPr>
            <a:r>
              <a:rPr b="1">
                <a:solidFill>
                  <a:srgbClr val="FFFFFF"/>
                </a:solidFill>
                <a:latin typeface="Arial"/>
              </a:rPr>
              <a:t>Wrap up and choose the next step</a:t>
            </a:r>
          </a:p>
        </p:txBody>
      </p:sp>
      <p:sp>
        <p:nvSpPr>
          <p:cNvPr id="4" name="TextBox 3"/>
          <p:cNvSpPr txBox="1"/>
          <p:nvPr/>
        </p:nvSpPr>
        <p:spPr>
          <a:xfrm>
            <a:off x="612648" y="6327648"/>
            <a:ext cx="10881360" cy="219456"/>
          </a:xfrm>
          <a:prstGeom prst="rect">
            <a:avLst/>
          </a:prstGeom>
          <a:noFill/>
        </p:spPr>
        <p:txBody>
          <a:bodyPr wrap="square" lIns="0" rIns="0" tIns="0" bIns="0">
            <a:spAutoFit/>
          </a:bodyPr>
          <a:lstStyle/>
          <a:p>
            <a:pPr>
              <a:spcBef>
                <a:spcPts val="0"/>
              </a:spcBef>
              <a:spcAft>
                <a:spcPts val="300"/>
              </a:spcAft>
              <a:defRPr sz="1050" b="0">
                <a:solidFill>
                  <a:srgbClr val="4A4E54"/>
                </a:solidFill>
                <a:latin typeface="Arial"/>
              </a:defRPr>
            </a:pPr>
            <a:r>
              <a:rPr>
                <a:solidFill>
                  <a:srgbClr val="D9CEC5"/>
                </a:solidFill>
                <a:latin typeface="Arial"/>
              </a:rPr>
              <a:t>Textbook Chapter 4 pp.64–70</a:t>
            </a:r>
          </a:p>
        </p:txBody>
      </p:sp>
      <p:sp>
        <p:nvSpPr>
          <p:cNvPr id="5" name="TextBox 4"/>
          <p:cNvSpPr txBox="1"/>
          <p:nvPr/>
        </p:nvSpPr>
        <p:spPr>
          <a:xfrm>
            <a:off x="612648" y="1874519"/>
            <a:ext cx="10927080" cy="2103120"/>
          </a:xfrm>
          <a:prstGeom prst="rect">
            <a:avLst/>
          </a:prstGeom>
          <a:noFill/>
        </p:spPr>
        <p:txBody>
          <a:bodyPr wrap="square" lIns="0" rIns="0" tIns="0" bIns="0">
            <a:spAutoFit/>
          </a:bodyPr>
          <a:lstStyle/>
          <a:p>
            <a:pPr>
              <a:spcBef>
                <a:spcPts val="0"/>
              </a:spcBef>
              <a:spcAft>
                <a:spcPts val="300"/>
              </a:spcAft>
              <a:defRPr sz="2400" b="0">
                <a:solidFill>
                  <a:srgbClr val="1A1A1A"/>
                </a:solidFill>
                <a:latin typeface="Arial"/>
              </a:defRPr>
            </a:pPr>
            <a:r>
              <a:rPr>
                <a:solidFill>
                  <a:srgbClr val="FFFFFF"/>
                </a:solidFill>
                <a:latin typeface="Arial"/>
              </a:rPr>
              <a:t>Share one learning point and one skill to practise next.</a:t>
            </a:r>
          </a:p>
        </p:txBody>
      </p:sp>
      <p:sp>
        <p:nvSpPr>
          <p:cNvPr id="6" name="Rectangle 5"/>
          <p:cNvSpPr/>
          <p:nvPr/>
        </p:nvSpPr>
        <p:spPr>
          <a:xfrm>
            <a:off x="612648" y="4251960"/>
            <a:ext cx="10927080" cy="1280160"/>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7" name="TextBox 6"/>
          <p:cNvSpPr txBox="1"/>
          <p:nvPr/>
        </p:nvSpPr>
        <p:spPr>
          <a:xfrm>
            <a:off x="859536" y="4462272"/>
            <a:ext cx="10424160" cy="822960"/>
          </a:xfrm>
          <a:prstGeom prst="rect">
            <a:avLst/>
          </a:prstGeom>
          <a:noFill/>
        </p:spPr>
        <p:txBody>
          <a:bodyPr wrap="square" lIns="0" rIns="0" tIns="0" bIns="0">
            <a:spAutoFit/>
          </a:bodyPr>
          <a:lstStyle/>
          <a:p>
            <a:pPr>
              <a:spcBef>
                <a:spcPts val="0"/>
              </a:spcBef>
              <a:spcAft>
                <a:spcPts val="300"/>
              </a:spcAft>
              <a:defRPr sz="2100" b="1">
                <a:solidFill>
                  <a:srgbClr val="1A1A1A"/>
                </a:solidFill>
                <a:latin typeface="Arial"/>
              </a:defRPr>
            </a:pPr>
            <a:r>
              <a:rPr b="1">
                <a:solidFill>
                  <a:srgbClr val="201C19"/>
                </a:solidFill>
                <a:latin typeface="Arial"/>
              </a:rPr>
              <a:t>Record a takeaway and next action.</a:t>
            </a:r>
          </a:p>
        </p:txBody>
      </p:sp>
      <p:sp>
        <p:nvSpPr>
          <p:cNvPr id="8" name="TextBox 7"/>
          <p:cNvSpPr txBox="1"/>
          <p:nvPr/>
        </p:nvSpPr>
        <p:spPr>
          <a:xfrm>
            <a:off x="612648" y="5788152"/>
            <a:ext cx="10927080" cy="411480"/>
          </a:xfrm>
          <a:prstGeom prst="rect">
            <a:avLst/>
          </a:prstGeom>
          <a:noFill/>
        </p:spPr>
        <p:txBody>
          <a:bodyPr wrap="square" lIns="0" rIns="0" tIns="0" bIns="0">
            <a:spAutoFit/>
          </a:bodyPr>
          <a:lstStyle/>
          <a:p>
            <a:pPr>
              <a:spcBef>
                <a:spcPts val="0"/>
              </a:spcBef>
              <a:spcAft>
                <a:spcPts val="300"/>
              </a:spcAft>
              <a:defRPr sz="1250" b="0">
                <a:solidFill>
                  <a:srgbClr val="4A4E54"/>
                </a:solidFill>
                <a:latin typeface="Arial"/>
              </a:defRPr>
            </a:pPr>
            <a:r>
              <a:rPr>
                <a:solidFill>
                  <a:srgbClr val="F7F4F1"/>
                </a:solidFill>
                <a:latin typeface="Arial"/>
              </a:rPr>
              <a:t>Resources: Exercise Book 4A Q14–17 (p.26); 4C Q1–3 (p.29)</a:t>
            </a:r>
          </a:p>
        </p:txBody>
      </p:sp>
      <p:pic>
        <p:nvPicPr>
          <p:cNvPr id="9" name="Picture 8" descr="access-logo.png"/>
          <p:cNvPicPr>
            <a:picLocks noChangeAspect="1"/>
          </p:cNvPicPr>
          <p:nvPr/>
        </p:nvPicPr>
        <p:blipFill>
          <a:blip r:embed="rId3"/>
          <a:stretch>
            <a:fillRect/>
          </a:stretch>
        </p:blipFill>
        <p:spPr>
          <a:xfrm>
            <a:off x="10177272" y="146304"/>
            <a:ext cx="1371600" cy="689145"/>
          </a:xfrm>
          <a:prstGeom prst="rect">
            <a:avLst/>
          </a:prstGeom>
        </p:spPr>
      </p:pic>
      <p:sp>
        <p:nvSpPr>
          <p:cNvPr id="10" name="Rectangle 9"/>
          <p:cNvSpPr/>
          <p:nvPr/>
        </p:nvSpPr>
        <p:spPr>
          <a:xfrm>
            <a:off x="612648" y="6620256"/>
            <a:ext cx="10972800" cy="16459"/>
          </a:xfrm>
          <a:prstGeom prst="rect">
            <a:avLst/>
          </a:prstGeom>
          <a:solidFill>
            <a:srgbClr val="FFBC00"/>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Bef>
                <a:spcPts val="0"/>
              </a:spcBef>
              <a:spcAft>
                <a:spcPts val="300"/>
              </a:spcAft>
              <a:defRPr sz="1800" b="0">
                <a:solidFill>
                  <a:srgbClr val="1A1A1A"/>
                </a:solidFill>
                <a:latin typeface="Arial"/>
              </a:defRPr>
            </a:pPr>
          </a:p>
        </p:txBody>
      </p:sp>
      <p:sp>
        <p:nvSpPr>
          <p:cNvPr id="11" name="TextBox 10"/>
          <p:cNvSpPr txBox="1"/>
          <p:nvPr/>
        </p:nvSpPr>
        <p:spPr>
          <a:xfrm>
            <a:off x="612648" y="6620256"/>
            <a:ext cx="10058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4"/>
              </a:rPr>
              <a:t>Textbook</a:t>
            </a:r>
          </a:p>
        </p:txBody>
      </p:sp>
      <p:sp>
        <p:nvSpPr>
          <p:cNvPr id="12" name="TextBox 11"/>
          <p:cNvSpPr txBox="1"/>
          <p:nvPr/>
        </p:nvSpPr>
        <p:spPr>
          <a:xfrm>
            <a:off x="1691640" y="6620256"/>
            <a:ext cx="128016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5"/>
              </a:rPr>
              <a:t>Exercise Book</a:t>
            </a:r>
          </a:p>
        </p:txBody>
      </p:sp>
      <p:sp>
        <p:nvSpPr>
          <p:cNvPr id="13" name="TextBox 12"/>
          <p:cNvSpPr txBox="1"/>
          <p:nvPr/>
        </p:nvSpPr>
        <p:spPr>
          <a:xfrm>
            <a:off x="3136392" y="6620256"/>
            <a:ext cx="146304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6"/>
              </a:rPr>
              <a:t>Numeracy Hub</a:t>
            </a:r>
          </a:p>
        </p:txBody>
      </p:sp>
      <p:sp>
        <p:nvSpPr>
          <p:cNvPr id="14" name="TextBox 13"/>
          <p:cNvSpPr txBox="1"/>
          <p:nvPr/>
        </p:nvSpPr>
        <p:spPr>
          <a:xfrm>
            <a:off x="4736592" y="6620256"/>
            <a:ext cx="1417320" cy="201168"/>
          </a:xfrm>
          <a:prstGeom prst="rect">
            <a:avLst/>
          </a:prstGeom>
          <a:noFill/>
        </p:spPr>
        <p:txBody>
          <a:bodyPr wrap="square" lIns="0" rIns="0" tIns="0" bIns="0">
            <a:spAutoFit/>
          </a:bodyPr>
          <a:lstStyle/>
          <a:p>
            <a:pPr>
              <a:spcBef>
                <a:spcPts val="0"/>
              </a:spcBef>
              <a:spcAft>
                <a:spcPts val="300"/>
              </a:spcAft>
              <a:defRPr sz="1050" b="0">
                <a:solidFill>
                  <a:srgbClr val="C60016"/>
                </a:solidFill>
                <a:latin typeface="Arial"/>
              </a:defRPr>
            </a:pPr>
            <a:r>
              <a:rPr sz="850">
                <a:solidFill>
                  <a:srgbClr val="F7F4F1"/>
                </a:solidFill>
                <a:latin typeface="Arial"/>
                <a:hlinkClick r:id="rId7"/>
              </a:rPr>
              <a:t>Shape Canvas</a:t>
            </a:r>
          </a:p>
        </p:txBody>
      </p:sp>
      <p:sp>
        <p:nvSpPr>
          <p:cNvPr id="15" name="TextBox 14"/>
          <p:cNvSpPr txBox="1"/>
          <p:nvPr/>
        </p:nvSpPr>
        <p:spPr>
          <a:xfrm>
            <a:off x="8412480" y="6620256"/>
            <a:ext cx="3154680" cy="182880"/>
          </a:xfrm>
          <a:prstGeom prst="rect">
            <a:avLst/>
          </a:prstGeom>
          <a:noFill/>
        </p:spPr>
        <p:txBody>
          <a:bodyPr wrap="square" lIns="0" rIns="0" tIns="0" bIns="0">
            <a:spAutoFit/>
          </a:bodyPr>
          <a:lstStyle/>
          <a:p>
            <a:pPr>
              <a:spcBef>
                <a:spcPts val="0"/>
              </a:spcBef>
              <a:spcAft>
                <a:spcPts val="300"/>
              </a:spcAft>
              <a:defRPr sz="950" b="0">
                <a:solidFill>
                  <a:srgbClr val="4A4E54"/>
                </a:solidFill>
                <a:latin typeface="Arial"/>
              </a:defRPr>
            </a:pPr>
            <a:r>
              <a:rPr sz="850">
                <a:solidFill>
                  <a:srgbClr val="F7F4F1"/>
                </a:solidFill>
                <a:latin typeface="Arial"/>
              </a:rPr>
              <a:t>Day 09  •  2026-11-10  •  45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7F4F1"/>
      </a:hlink>
      <a:folHlink>
        <a:srgbClr val="F7F4F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F7F4F1"/>
      </a:hlink>
      <a:folHlink>
        <a:srgbClr val="F7F4F1"/>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34"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0FB143F-4C5F-4CFA-83D4-CE599B274CB0}">
  <we:reference id="wa200010725" version="1.0.0.1" store="en-US" storeType="OMEX"/>
  <we:alternateReferences>
    <we:reference id="WA200010725" version="1.0.0.1" store="" storeType="OMEX"/>
  </we:alternateReferences>
  <we:properties>
    <we:property name="claude.fileId" value="&quot;e15ce61c-59d5-4165-9b38-ae3aa70e2273&quot;"/>
  </we:properties>
  <we:bindings/>
  <we:snapshot xmlns:r="http://schemas.openxmlformats.org/officeDocument/2006/relationships"/>
</we:webextension>
</file>

<file path=ppt/webextensions/webextension2.xml><?xml version="1.0" encoding="utf-8"?>
<we:webextension xmlns:we="http://schemas.microsoft.com/office/webextensions/webextension/2010/11" id="{696CE026-134B-41F5-918B-2FB126868299}">
  <we:reference id="wa200010215" version="2.0.0.1" store="en-US" storeType="OMEX"/>
  <we:alternateReferences>
    <we:reference id="WA200010215" version="2.0.0.1" store="" storeType="OMEX"/>
  </we:alternateReferences>
  <we:properties>
    <we:property name="bps.codex_control.document_id" value="&quot;fd5b780e-6113-4733-b1f1-d8726169f489&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45</Notes>
  <HiddenSlides>0</HiddenSlides>
  <ScaleCrop>false</ScaleCrop>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Carpentry Math | Full Day 09 | 2026-11-10</dc:title>
  <dc:creator>ACCESS Trades</dc:creator>
  <dc:subject>Repeated pieces and equal groups; Fraction operations: check and retry</dc:subject>
</cp:coreProperties>
</file>