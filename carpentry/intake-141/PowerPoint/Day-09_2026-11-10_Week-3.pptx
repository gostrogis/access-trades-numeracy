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7"/>
  </p:notesMasterIdLst>
  <p:sldIdLst>
    <p:sldId id="435" r:id="rId172"/>
    <p:sldId id="436" r:id="rId173"/>
    <p:sldId id="437" r:id="rId174"/>
    <p:sldId id="438" r:id="rId175"/>
    <p:sldId id="439" r:id="rId176"/>
    <p:sldId id="440" r:id="rId177"/>
    <p:sldId id="323" r:id="rId56"/>
    <p:sldId id="441" r:id="rId178"/>
    <p:sldId id="442" r:id="rId179"/>
    <p:sldId id="443" r:id="rId180"/>
    <p:sldId id="444" r:id="rId181"/>
    <p:sldId id="445" r:id="rId182"/>
    <p:sldId id="446" r:id="rId183"/>
    <p:sldId id="447" r:id="rId184"/>
    <p:sldId id="448" r:id="rId185"/>
    <p:sldId id="449" r:id="rId186"/>
    <p:sldId id="450" r:id="rId187"/>
    <p:sldId id="451" r:id="rId188"/>
    <p:sldId id="452" r:id="rId189"/>
    <p:sldId id="453" r:id="rId190"/>
    <p:sldId id="454" r:id="rId191"/>
    <p:sldId id="455" r:id="rId192"/>
    <p:sldId id="456" r:id="rId193"/>
    <p:sldId id="457" r:id="rId194"/>
    <p:sldId id="458" r:id="rId195"/>
    <p:sldId id="459" r:id="rId196"/>
    <p:sldId id="460" r:id="rId197"/>
    <p:sldId id="326" r:id="rId59"/>
    <p:sldId id="461" r:id="rId198"/>
    <p:sldId id="462" r:id="rId199"/>
    <p:sldId id="463" r:id="rId200"/>
    <p:sldId id="464" r:id="rId201"/>
    <p:sldId id="465" r:id="rId202"/>
    <p:sldId id="466" r:id="rId203"/>
    <p:sldId id="467" r:id="rId204"/>
    <p:sldId id="468" r:id="rId205"/>
    <p:sldId id="469" r:id="rId206"/>
    <p:sldId id="470" r:id="rId207"/>
    <p:sldId id="471" r:id="rId208"/>
    <p:sldId id="472" r:id="rId209"/>
    <p:sldId id="473" r:id="rId210"/>
    <p:sldId id="474" r:id="rId211"/>
    <p:sldId id="475" r:id="rId212"/>
    <p:sldId id="476" r:id="rId213"/>
    <p:sldId id="477" r:id="rId2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0520" autoAdjust="0"/>
  </p:normalViewPr>
  <p:slideViewPr>
    <p:cSldViewPr snapToGrid="0">
      <p:cViewPr varScale="1">
        <p:scale>
          <a:sx n="65" d="100"/>
          <a:sy n="65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6" Type="http://schemas.openxmlformats.org/officeDocument/2006/relationships/slide" Target="slides/slide7.xml"/><Relationship Id="rId59" Type="http://schemas.openxmlformats.org/officeDocument/2006/relationships/slide" Target="slides/slide28.xml"/><Relationship Id="rId167" Type="http://schemas.openxmlformats.org/officeDocument/2006/relationships/notesMaster" Target="notesMasters/notesMaster1.xml"/><Relationship Id="rId168" Type="http://schemas.openxmlformats.org/officeDocument/2006/relationships/presProps" Target="presProps.xml"/><Relationship Id="rId169" Type="http://schemas.openxmlformats.org/officeDocument/2006/relationships/viewProps" Target="viewProps.xml"/><Relationship Id="rId170" Type="http://schemas.openxmlformats.org/officeDocument/2006/relationships/theme" Target="theme/theme1.xml"/><Relationship Id="rId171" Type="http://schemas.openxmlformats.org/officeDocument/2006/relationships/tableStyles" Target="tableStyles.xml"/><Relationship Id="rId172" Type="http://schemas.openxmlformats.org/officeDocument/2006/relationships/slide" Target="slides/slide1.xml"/><Relationship Id="rId173" Type="http://schemas.openxmlformats.org/officeDocument/2006/relationships/slide" Target="slides/slide2.xml"/><Relationship Id="rId174" Type="http://schemas.openxmlformats.org/officeDocument/2006/relationships/slide" Target="slides/slide3.xml"/><Relationship Id="rId175" Type="http://schemas.openxmlformats.org/officeDocument/2006/relationships/slide" Target="slides/slide4.xml"/><Relationship Id="rId176" Type="http://schemas.openxmlformats.org/officeDocument/2006/relationships/slide" Target="slides/slide5.xml"/><Relationship Id="rId177" Type="http://schemas.openxmlformats.org/officeDocument/2006/relationships/slide" Target="slides/slide6.xml"/><Relationship Id="rId178" Type="http://schemas.openxmlformats.org/officeDocument/2006/relationships/slide" Target="slides/slide8.xml"/><Relationship Id="rId179" Type="http://schemas.openxmlformats.org/officeDocument/2006/relationships/slide" Target="slides/slide9.xml"/><Relationship Id="rId180" Type="http://schemas.openxmlformats.org/officeDocument/2006/relationships/slide" Target="slides/slide10.xml"/><Relationship Id="rId181" Type="http://schemas.openxmlformats.org/officeDocument/2006/relationships/slide" Target="slides/slide11.xml"/><Relationship Id="rId182" Type="http://schemas.openxmlformats.org/officeDocument/2006/relationships/slide" Target="slides/slide12.xml"/><Relationship Id="rId183" Type="http://schemas.openxmlformats.org/officeDocument/2006/relationships/slide" Target="slides/slide13.xml"/><Relationship Id="rId184" Type="http://schemas.openxmlformats.org/officeDocument/2006/relationships/slide" Target="slides/slide14.xml"/><Relationship Id="rId185" Type="http://schemas.openxmlformats.org/officeDocument/2006/relationships/slide" Target="slides/slide15.xml"/><Relationship Id="rId186" Type="http://schemas.openxmlformats.org/officeDocument/2006/relationships/slide" Target="slides/slide16.xml"/><Relationship Id="rId187" Type="http://schemas.openxmlformats.org/officeDocument/2006/relationships/slide" Target="slides/slide17.xml"/><Relationship Id="rId188" Type="http://schemas.openxmlformats.org/officeDocument/2006/relationships/slide" Target="slides/slide18.xml"/><Relationship Id="rId189" Type="http://schemas.openxmlformats.org/officeDocument/2006/relationships/slide" Target="slides/slide19.xml"/><Relationship Id="rId190" Type="http://schemas.openxmlformats.org/officeDocument/2006/relationships/slide" Target="slides/slide20.xml"/><Relationship Id="rId191" Type="http://schemas.openxmlformats.org/officeDocument/2006/relationships/slide" Target="slides/slide21.xml"/><Relationship Id="rId192" Type="http://schemas.openxmlformats.org/officeDocument/2006/relationships/slide" Target="slides/slide22.xml"/><Relationship Id="rId193" Type="http://schemas.openxmlformats.org/officeDocument/2006/relationships/slide" Target="slides/slide23.xml"/><Relationship Id="rId194" Type="http://schemas.openxmlformats.org/officeDocument/2006/relationships/slide" Target="slides/slide24.xml"/><Relationship Id="rId195" Type="http://schemas.openxmlformats.org/officeDocument/2006/relationships/slide" Target="slides/slide25.xml"/><Relationship Id="rId196" Type="http://schemas.openxmlformats.org/officeDocument/2006/relationships/slide" Target="slides/slide26.xml"/><Relationship Id="rId197" Type="http://schemas.openxmlformats.org/officeDocument/2006/relationships/slide" Target="slides/slide27.xml"/><Relationship Id="rId198" Type="http://schemas.openxmlformats.org/officeDocument/2006/relationships/slide" Target="slides/slide29.xml"/><Relationship Id="rId199" Type="http://schemas.openxmlformats.org/officeDocument/2006/relationships/slide" Target="slides/slide30.xml"/><Relationship Id="rId200" Type="http://schemas.openxmlformats.org/officeDocument/2006/relationships/slide" Target="slides/slide31.xml"/><Relationship Id="rId201" Type="http://schemas.openxmlformats.org/officeDocument/2006/relationships/slide" Target="slides/slide32.xml"/><Relationship Id="rId202" Type="http://schemas.openxmlformats.org/officeDocument/2006/relationships/slide" Target="slides/slide33.xml"/><Relationship Id="rId203" Type="http://schemas.openxmlformats.org/officeDocument/2006/relationships/slide" Target="slides/slide34.xml"/><Relationship Id="rId204" Type="http://schemas.openxmlformats.org/officeDocument/2006/relationships/slide" Target="slides/slide35.xml"/><Relationship Id="rId205" Type="http://schemas.openxmlformats.org/officeDocument/2006/relationships/slide" Target="slides/slide36.xml"/><Relationship Id="rId206" Type="http://schemas.openxmlformats.org/officeDocument/2006/relationships/slide" Target="slides/slide37.xml"/><Relationship Id="rId207" Type="http://schemas.openxmlformats.org/officeDocument/2006/relationships/slide" Target="slides/slide38.xml"/><Relationship Id="rId208" Type="http://schemas.openxmlformats.org/officeDocument/2006/relationships/slide" Target="slides/slide39.xml"/><Relationship Id="rId209" Type="http://schemas.openxmlformats.org/officeDocument/2006/relationships/slide" Target="slides/slide40.xml"/><Relationship Id="rId210" Type="http://schemas.openxmlformats.org/officeDocument/2006/relationships/slide" Target="slides/slide41.xml"/><Relationship Id="rId211" Type="http://schemas.openxmlformats.org/officeDocument/2006/relationships/slide" Target="slides/slide42.xml"/><Relationship Id="rId212" Type="http://schemas.openxmlformats.org/officeDocument/2006/relationships/slide" Target="slides/slide43.xml"/><Relationship Id="rId213" Type="http://schemas.openxmlformats.org/officeDocument/2006/relationships/slide" Target="slides/slide44.xml"/><Relationship Id="rId214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A43CA-EE69-4B9A-80F8-91B7489D0DD8}" type="datetimeFigureOut">
              <a:rPr lang="en-CA" smtClean="0"/>
              <a:t>2026-10-19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99165C-7370-4B52-8859-B50CCB89355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61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today’s math topics and review the timetable.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>
            <a:r>
              <a:t>PHASE TIMING: Start, 12:45 PM–12:50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12:50 PM–12:55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4 pp.67–70</a:t>
            </a:r>
          </a:p>
          <a:p>
            <a:r>
              <a:t>ACCESS Trades Numeracy Textbook, PDF/printed p.68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4 pp.67–70</a:t>
            </a:r>
          </a:p>
          <a:p>
            <a:r>
              <a:t>ACCESS Trades Numeracy Textbook, PDF/printed p.68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Textbook p.68 · Example 4.12: divide fractional lengths and count complete pieces.</a:t>
            </a:r>
          </a:p>
          <a:p>
            <a:r>
              <a:t>Exact PDF/printed page: 68. ACCESS Textbook excerpt.</a:t>
            </a:r>
          </a:p>
          <a:p>
            <a:r>
              <a:t>Example 4.12 uses exact fraction division to count full pieces and recover the offcut.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Textbook p.68 · Exact fraction calculator entry for the pieces and offcut.</a:t>
            </a:r>
          </a:p>
          <a:p>
            <a:r>
              <a:t>Exact PDF/printed page: 68. ACCESS Textbook excerpt.</a:t>
            </a:r>
          </a:p>
          <a:p>
            <a:r>
              <a:t>Example 4.12 uses exact fraction division to count full pieces and recover the offcut.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4A-Q16a</a:t>
            </a:r>
          </a:p>
          <a:p>
            <a:r>
              <a:t>Exact question: Multiply. (a)   5/8 × 12</a:t>
            </a:r>
          </a:p>
          <a:p>
            <a:r>
              <a:t>Instructor answer: (a)  7 1/2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4A-Q16a</a:t>
            </a:r>
          </a:p>
          <a:p>
            <a:r>
              <a:t>Exact question: Multiply. (a)   5/8 × 12</a:t>
            </a:r>
          </a:p>
          <a:p>
            <a:r>
              <a:t>Instructor answer: (a)  7 1/2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Exact scheduled tool activity: Shape Canvas: repeat a labelled rectangle and compare total lengths. Numeracy Hub Calculator: check the exact fractions.</a:t>
            </a:r>
          </a:p>
          <a:p>
            <a:r>
              <a:t>Supported: Repeat a labelled Shape Canvas rectangle to show multiplication as equal pieces.</a:t>
            </a:r>
          </a:p>
          <a:p>
            <a:r>
              <a:t>Independent practice: Write exact fraction calculations for the assigned 4A, 4B and 4C items.</a:t>
            </a:r>
          </a:p>
          <a:p>
            <a:r>
              <a:t>Independent checking: Use Numeracy Hub Calculator; label each answer as a length or a piece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4A-Q16b</a:t>
            </a:r>
          </a:p>
          <a:p>
            <a:r>
              <a:t>Exact question: Multiply. (b)  2 1/2 × 1 3/4</a:t>
            </a:r>
          </a:p>
          <a:p>
            <a:r>
              <a:t>Instructor answer: (b)  4 3/8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4C-Q5</a:t>
            </a:r>
          </a:p>
          <a:p>
            <a:r>
              <a:t>Exact question: Change one value: four equal pieces of 8 3/8 in make up the bar. Find the overall length. If each piece is made  1/16 in longer, what is the new overall length?</a:t>
            </a:r>
          </a:p>
          <a:p>
            <a:r>
              <a:t>Instructor answer: 33 1/2 in, then 33 3/4 in</a:t>
            </a:r>
          </a:p>
          <a:p>
            <a:r>
              <a:t>Working: 4 × 8 3/8 = 33 1/2. 4 ×  1/16 =  1/4 more.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4A-Q17b</a:t>
            </a:r>
          </a:p>
          <a:p>
            <a:r>
              <a:t>Exact question: Divide. (b)  15 3/4 ÷ 3</a:t>
            </a:r>
          </a:p>
          <a:p>
            <a:r>
              <a:t>Instructor answer: (b)  5 1/4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4B-Q5</a:t>
            </a:r>
          </a:p>
          <a:p>
            <a:r>
              <a:t>Exact question: A plate is 15 5/8 in wide. How far from the edge is the centre line?</a:t>
            </a:r>
          </a:p>
          <a:p>
            <a:r>
              <a:t>Instructor answer: 7 13/16 in</a:t>
            </a:r>
          </a:p>
          <a:p>
            <a:r>
              <a:t>Working: 15 5/8 ÷ 2 =  125/8 ×  1/2 =  125/16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W03-L03 | 2026-11-10 | 12:45 PM–2:00 PM | 75 minutes</a:t>
            </a:r>
          </a:p>
          <a:p>
            <a:r>
              <a:t>Repeated pieces and equal groups</a:t>
            </a:r>
          </a:p>
          <a:p>
            <a:r>
              <a:t>Mode: Math</a:t>
            </a:r>
          </a:p>
          <a:p>
            <a:r>
              <a:t>Goal: Use multiplication and division to find repeated fractional lengths and centre lines.</a:t>
            </a:r>
          </a:p>
          <a:p>
            <a:r>
              <a:t>Read: Textbook Chapter 4 pp.67–70</a:t>
            </a:r>
          </a:p>
          <a:p>
            <a:r>
              <a:t>Practise: Exercise Book 4A Q16–17 (p.26); 4B Q4–5 (p.27); 4C Q5 (p.30)</a:t>
            </a:r>
          </a:p>
          <a:p>
            <a:r>
              <a:t>Tool: Shape Canvas: repeat a labelled rectangle and compare total lengths. Numeracy Hub Calculator: check the exact fractions.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how repeated addition connects to multiplication and how dividing by two finds a centre.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multiplying an improper fraction and using a reciprocal for division. Check against a strip drawing.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4A questions 16(a) and 17(a), then 4B question 5 with a centre-line sketch.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parts of 4A questions 16–17, 4B question 4 and 4C question 5. Explain what the division result counts or measures.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4A question 17(b) and 4B question 5.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question 17(b) = 5 1/4. 4B question 5 = 7 13/16 in. Answer Key page 13. Answer Key pp.13–14</a:t>
            </a:r>
          </a:p>
          <a:p/>
          <a:p>
            <a:r>
              <a:t>Next: check all four fraction operations and correct weak areas.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1:55 PM–2:00 PM. All slides with this phase share these 5 minutes; do not restart the time allocation for each slide.</a:t>
            </a:r>
          </a:p>
          <a:p/>
          <a:p>
            <a:r>
              <a:t>Next scheduled learning: Next: check all four fraction operations and correct weak areas.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Scheduled break, 15 minutes. Resume at 2:15 PM. Do not move the following math block into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Start, 2:15 PM–2:20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2:20 PM–2:25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4 pp.64–70</a:t>
            </a:r>
          </a:p>
          <a:p>
            <a:r>
              <a:t>ACCESS Trades Numeracy Textbook, PDF/printed p.64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4 pp.64–70</a:t>
            </a:r>
          </a:p>
          <a:p>
            <a:r>
              <a:t>ACCESS Trades Numeracy Textbook, PDF/printed p.64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Textbook p.64 · Example 4.8: use equal-sized fractions to add a stack.</a:t>
            </a:r>
          </a:p>
          <a:p>
            <a:r>
              <a:t>Exact PDF/printed page: 64. ACCESS Textbook excerpt.</a:t>
            </a:r>
          </a:p>
          <a:p>
            <a:r>
              <a:t>Example 4.8 shows a labelled plate stack and a common-denominator addition to diagnose operation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Textbook p.64 · Check the written fraction method on the chosen calculator.</a:t>
            </a:r>
          </a:p>
          <a:p>
            <a:r>
              <a:t>Exact PDF/printed page: 64. ACCESS Textbook excerpt.</a:t>
            </a:r>
          </a:p>
          <a:p>
            <a:r>
              <a:t>Example 4.8 shows a labelled plate stack and a common-denominator addition to diagnose operation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4A-Q14</a:t>
            </a:r>
          </a:p>
          <a:p>
            <a:r>
              <a:t>Exact question: Add. (a)  5/16 +  3/4  (b) 7 3/8 + 2 15/16</a:t>
            </a:r>
          </a:p>
          <a:p>
            <a:r>
              <a:t>Instructor answer: (a) 1 1/16  (b) 10 5/16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4A-Q14</a:t>
            </a:r>
          </a:p>
          <a:p>
            <a:r>
              <a:t>Exact question: Add. (a)  5/16 +  3/4  (b) 7 3/8 + 2 15/16</a:t>
            </a:r>
          </a:p>
          <a:p>
            <a:r>
              <a:t>Instructor answer: (a) 1 1/16  (b) 10 5/16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Exact scheduled tool activity: Use paper for the first attempt; check with the chosen calculator. Rebuild one missing-length sketch in Shape Canvas.</a:t>
            </a:r>
          </a:p>
          <a:p>
            <a:r>
              <a:t>Independent first attempt: Complete one part of 4A Q14–17 and the assigned 4C drawings on paper.</a:t>
            </a:r>
          </a:p>
          <a:p>
            <a:r>
              <a:t>Checking after completion: Use the chosen calculator and explain one difference from your result.</a:t>
            </a:r>
          </a:p>
          <a:p>
            <a:r>
              <a:t>Independent retry: Rebuild one missing-length sketch in Shape Canvas and solve a fresh missed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4A-Q14a</a:t>
            </a:r>
          </a:p>
          <a:p>
            <a:r>
              <a:t>Exact question: Add. (a)   5/16 +  3/4</a:t>
            </a:r>
          </a:p>
          <a:p>
            <a:r>
              <a:t>Instructor answer: (a)  1 1/16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4C-Q1</a:t>
            </a:r>
          </a:p>
          <a:p>
            <a:r>
              <a:t>Exact question: Find the hidden width.</a:t>
            </a:r>
          </a:p>
          <a:p>
            <a:r>
              <a:t>Instructor answer: 8 7/8 in</a:t>
            </a:r>
          </a:p>
          <a:p>
            <a:r>
              <a:t>Working: 12 1/4 − 3 3/8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4A-Q14a</a:t>
            </a:r>
          </a:p>
          <a:p>
            <a:r>
              <a:t>Exact question: Add. (a)   5/16 +  3/4</a:t>
            </a:r>
          </a:p>
          <a:p>
            <a:r>
              <a:t>Instructor answer: (a)  1 1/16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4A-Q15a</a:t>
            </a:r>
          </a:p>
          <a:p>
            <a:r>
              <a:t>Exact question: Subtract. (a)  5 − 1 11/16</a:t>
            </a:r>
          </a:p>
          <a:p>
            <a:r>
              <a:t>Instructor answer: (a)  3 5/16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4A-Q16b</a:t>
            </a:r>
          </a:p>
          <a:p>
            <a:r>
              <a:t>Exact question: Multiply. (b)  2 1/2 × 1 3/4</a:t>
            </a:r>
          </a:p>
          <a:p>
            <a:r>
              <a:t>Instructor answer: (b)  4 3/8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4A-Q17b</a:t>
            </a:r>
          </a:p>
          <a:p>
            <a:r>
              <a:t>Exact question: Divide. (b)  15 3/4 ÷ 3</a:t>
            </a:r>
          </a:p>
          <a:p>
            <a:r>
              <a:t>Instructor answer: (b)  5 1/4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W03-L04 | 2026-11-10 | 2:15 PM–3:30 PM | 75 minutes</a:t>
            </a:r>
          </a:p>
          <a:p>
            <a:r>
              <a:t>Fraction operations: check and retry</a:t>
            </a:r>
          </a:p>
          <a:p>
            <a:r>
              <a:t>Mode: Math</a:t>
            </a:r>
          </a:p>
          <a:p>
            <a:r>
              <a:t>Goal: Choose the correct fraction operation, show the working and correct a documented error.</a:t>
            </a:r>
          </a:p>
          <a:p>
            <a:r>
              <a:t>Read: Textbook Chapter 4 pp.64–70</a:t>
            </a:r>
          </a:p>
          <a:p>
            <a:r>
              <a:t>Practise: Exercise Book 4A Q14–17 (p.26); 4C Q1–3 (p.29)</a:t>
            </a:r>
          </a:p>
          <a:p>
            <a:r>
              <a:t>Tool: Use paper for the first attempt; check with the chosen calculator. Rebuild one missing-length sketch in Shape Canvas.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Present four short situations: total, remainder, repeated pieces and equal sharing. Learners name the operation.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the most common error from Monday’s work. Emphasize common denominators for addition/subtraction, not for every operation.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Pairs explain a method from 4A questions 14–17 without copying the partner’s calculation.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one part of each question 14–17 independently, then 4C questions 1–3. Mark, explain and retry one error with a fresh partner-created value.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4A questions 14(a),15(a),16(b),17(b). Give simplest forms.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order: 1 1/16; 3 5/16; 4 3/8; 5 1/4. Answer Key page 13. Answer Key pp.13–14</a:t>
            </a:r>
          </a:p>
          <a:p/>
          <a:p>
            <a:r>
              <a:t>Week 4 applies these skills to cut lists and centre lines, then progresses to decimals, percent, ratio and scale.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3:25 PM–3:30 PM. All slides with this phase share these 5 minutes; do not restart the time allocation for each slide.</a:t>
            </a:r>
          </a:p>
          <a:p/>
          <a:p>
            <a:r>
              <a:t>Next scheduled learning: Week 4 applies these skills to cut lists and centre lines, then progresses to decimals, percent, ratio and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1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8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8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3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7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3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7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7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5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7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6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7" TargetMode="External"/><Relationship Id="rId6" Type="http://schemas.openxmlformats.org/officeDocument/2006/relationships/hyperlink" Target="../../../books/ACCESS-Trades-Numeracy-Exercise-Book.pdf#page=2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7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7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7" TargetMode="External"/><Relationship Id="rId6" Type="http://schemas.openxmlformats.org/officeDocument/2006/relationships/hyperlink" Target="../../../books/ACCESS-Trades-Numeracy-Exercise-Book.pdf#page=2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4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4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4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4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4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9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4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4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4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4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4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4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4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4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4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4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4" TargetMode="External"/><Relationship Id="rId6" Type="http://schemas.openxmlformats.org/officeDocument/2006/relationships/hyperlink" Target="../../../books/ACCESS-Trades-Numeracy-Exercise-Book.pdf#page=2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4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4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4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5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4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7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4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4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ACCESS  /  CARPENTRY FOUNDATION  /  INTAKE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600" b="1">
                <a:solidFill>
                  <a:srgbClr val="1A1A1A"/>
                </a:solidFill>
                <a:latin typeface="Arial"/>
              </a:defRPr>
            </a:pPr>
            <a:r>
              <a:t>Day 09  | 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8366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0">
                <a:solidFill>
                  <a:srgbClr val="4A4E54"/>
                </a:solidFill>
                <a:latin typeface="Arial"/>
              </a:defRPr>
            </a:pPr>
            <a:r>
              <a:t>November 10,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633472"/>
            <a:ext cx="109728" cy="2194560"/>
          </a:xfrm>
          <a:prstGeom prst="rect">
            <a:avLst/>
          </a:prstGeom>
          <a:solidFill>
            <a:srgbClr val="D2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Repeated pieces and equal groups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12:45 PM–2:00 PM  •  Math  •  75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4048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Fraction operations: check and retry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2976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2:15 PM–3:30 PM  •  Math  •  75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4406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D2181F"/>
                </a:solidFill>
                <a:latin typeface="Arial"/>
              </a:defRPr>
            </a:pPr>
            <a:r>
              <a:t>Week 3  •  2 scheduled blocks  •  150 teaching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t>Estimate. Show the method. Label units. Check the result.</a:t>
            </a: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09  •  2026-11-10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rPr/>
              <a:t>DAY 09  /  WEEK 3  /  CLASS TIMETABLE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000" b="1">
                <a:solidFill>
                  <a:srgbClr val="1A1A1A"/>
                </a:solidFill>
                <a:latin typeface="Arial"/>
              </a:defRPr>
            </a:pPr>
            <a:r>
              <a:rPr/>
              <a:t>Today’s exact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12:45 PM–2:00 PM  • 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Repeated pieces and equal groups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12:45 PM–12:50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752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12:50 PM–12:55 PM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12:55 PM–1:10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1:10 PM–1:25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1:25 PM–1:45 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1:45 PM–1:55 PM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1:55 PM–2:00 PM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3, Lesson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2:15 PM–3:30 PM  •  75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Fraction operations: check and retry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2:15 PM–2:20 PM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2:20 PM–2:25 PM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9108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2:25 PM–2:40 PM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9108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2:40 PM–2:55 PM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2:55 PM–3:15 PM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3:15 PM–3:25 PM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3:25 PM–3:30 PM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220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9108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3, Lesson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605332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0">
                <a:solidFill>
                  <a:srgbClr val="1A1A1A"/>
                </a:solidFill>
                <a:latin typeface="Arial"/>
              </a:defRPr>
            </a:pPr>
            <a:r>
              <a:rPr/>
              <a:t>Break: 2:00 PM–2:15 PM  •  15 minutes  •  excluded from teaching time</a:t>
            </a:r>
          </a:p>
        </p:txBody>
      </p:sp>
      <p:pic>
        <p:nvPicPr>
          <p:cNvPr id="53" name="Picture 5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W03-L03  •  START  •  12:45 PM–12:50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Repeated pieces and equal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pp.67–70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Use multiplication and division to find repeated fractional lengths and centre lines.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Name one use for today’s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Chapter 4 pp.67–70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4A Q16–17 (p.26); 4B Q4–5 (p.27); 4C Q5 (p.30)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W03-L03  •  RECALL  •  12:50 PM–12:55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pp.67–70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Explain how repeated addition connects to multiplication and how dividing by two finds a centre.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Try first without displayed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Q16–17 (p.26); 4B Q4–5 (p.27); 4C Q5 (p.30)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Multiply to find repeated fractional lengths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pp.67–70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Convert a mixed number to an improper fraction when useful.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Multiply the numerators and multiply the denominators.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Simplify and convert back to a mixed number when needed.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repeated-strip drawing checks whether the total fits the number of pieces.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Explain what division counts or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pp.67–70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Dividing a length by a piece length gives a count of pieces.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Dividing a length by a number of equal parts gives a length per part.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To divide by a fraction, multiply by the reciprocal of the divisor.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Check a centre line by doubling its distance from the starting edge.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W03-L03  •  TEACH  •  12:55 PM–1:10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what the result measures or counts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666875"/>
            <a:ext cx="10972526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× 2 3/8 in = 3 × 19/8 = 57/8 = 7 1/8 in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09585" y="2571750"/>
            <a:ext cx="10972526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3/4 in ÷ 1/8 in = 3/4 × 8/1 = 6 pieces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09585" y="3476625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reciprocal changes division to multiplication.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second result: six eighth-inch pieces total 3/4 in.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classroom examples ignore kerf.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490537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Together: 4A Q16(a), Q17(a), then 4B Q5 with a centre-line sketch. Repeat a labelled Shape Canvas rectangle and compare totals.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 L3 • Explain the meaning before using Numeracy Hub Calculator to check</a:t>
            </a:r>
            <a:endParaRPr lang="en-US" sz="1050" dirty="0"/>
          </a:p>
        </p:txBody>
      </p:sp>
      <p:pic>
        <p:nvPicPr>
          <p:cNvPr id="10" name="Picture 9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07</a:t>
            </a:r>
          </a:p>
        </p:txBody>
      </p:sp>
    </p:spTree>
    <p:extLst>
      <p:ext uri="{BB962C8B-B14F-4D97-AF65-F5344CB8AC3E}">
        <p14:creationId xmlns:p14="http://schemas.microsoft.com/office/powerpoint/2010/main" val="3891058005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pp.67–70</a:t>
            </a:r>
          </a:p>
        </p:txBody>
      </p:sp>
      <p:pic>
        <p:nvPicPr>
          <p:cNvPr id="5" name="Picture 4" descr="W03-L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78570"/>
            <a:ext cx="10698480" cy="32952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p.68 · Example 4.12: divide fractional lengths and count complete pieces.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pp.67–70</a:t>
            </a:r>
          </a:p>
        </p:txBody>
      </p:sp>
      <p:pic>
        <p:nvPicPr>
          <p:cNvPr id="5" name="Picture 4" descr="W03-L03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2641" y="1691640"/>
            <a:ext cx="8604797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p.68 · Exact fraction calculator entry for the pieces and offcut.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pp.67–70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For 3/4 in ÷ 1/8 in, should the answer be labelled inches?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The quotient counts eighth-inch pieces: 6 pieces. Check that 6 × 1/8 in restores 3/4 in.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W03-L03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pp.67–70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Work 4A questions 16(a) and 17(a), then 4B question 5 with a centre-line sketch.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solver and checker.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Q16–17 (p.26); 4B Q4–5 (p.27); 4C Q5 (p.30)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W03-L03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4A Q16a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pp.67–70</a:t>
            </a:r>
          </a:p>
        </p:txBody>
      </p:sp>
      <p:pic>
        <p:nvPicPr>
          <p:cNvPr id="5" name="Picture 4" descr="4A-Q1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W03-L03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4A Q16a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pp.67–70</a:t>
            </a:r>
          </a:p>
        </p:txBody>
      </p:sp>
      <p:pic>
        <p:nvPicPr>
          <p:cNvPr id="5" name="Picture 4" descr="4A-Q1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15744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(a)  7 1/2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pp.67–70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remaining parts of 4A questions 16–17, 4B question 4 and 4C question 5. Explain what the division result counts or measures.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Show working and units; estimate, then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Q16–17 (p.26); 4B Q4–5 (p.27); 4C Q5 (p.30)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pp.67–70</a:t>
            </a:r>
          </a:p>
        </p:txBody>
      </p:sp>
      <p:pic>
        <p:nvPicPr>
          <p:cNvPr id="5" name="Picture 4" descr="shape-rect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pp.67–70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Supported: Repeat a labelled Shape Canvas rectangle to show multiplication as equal pieces.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practice: Write exact fraction calculations for the assigned 4A, 4B and 4C items.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checking: Use Numeracy Hub Calculator; label each answer as a length or a piece count.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4A Q16b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pp.67–70</a:t>
            </a:r>
          </a:p>
        </p:txBody>
      </p:sp>
      <p:pic>
        <p:nvPicPr>
          <p:cNvPr id="5" name="Picture 4" descr="4A-Q1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4C Q5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pp.67–70</a:t>
            </a:r>
          </a:p>
        </p:txBody>
      </p:sp>
      <p:pic>
        <p:nvPicPr>
          <p:cNvPr id="5" name="Picture 4" descr="4C-Q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2" y="1773935"/>
            <a:ext cx="8443355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W03-L03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pp.67–70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4A question 17(b) and 4B question 5.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Answer independently and show the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Q16–17 (p.26); 4B Q4–5 (p.27); 4C Q5 (p.30)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W03-L03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4A Q17b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pp.67–70</a:t>
            </a:r>
          </a:p>
        </p:txBody>
      </p:sp>
      <p:pic>
        <p:nvPicPr>
          <p:cNvPr id="5" name="Picture 4" descr="4A-Q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W03-L03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4B Q5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pp.67–70</a:t>
            </a:r>
          </a:p>
        </p:txBody>
      </p:sp>
      <p:pic>
        <p:nvPicPr>
          <p:cNvPr id="5" name="Picture 4" descr="4B-Q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W03-L03  •  WRAP UP  •  1:55 PM–2:00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pp.67–70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Share one learning point and one skill to practise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Record a takeaway and next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Q16–17 (p.26); 4B Q4–5 (p.27); 4C Q5 (p.30)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DAY 09  •  SCHEDULED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4400" b="1">
                <a:solidFill>
                  <a:srgbClr val="1A1A1A"/>
                </a:solidFill>
                <a:latin typeface="Arial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200" b="0">
                <a:solidFill>
                  <a:srgbClr val="D2181F"/>
                </a:solidFill>
                <a:latin typeface="Arial"/>
              </a:defRPr>
            </a:pPr>
            <a:r>
              <a:t>2:00 PM–2:15 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794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300" b="0">
                <a:solidFill>
                  <a:srgbClr val="1A1A1A"/>
                </a:solidFill>
                <a:latin typeface="Arial"/>
              </a:defRPr>
            </a:pPr>
            <a:r>
              <a:t>Return ready for: Fraction operations: check and retry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4A4E54"/>
                </a:solidFill>
                <a:latin typeface="Arial"/>
              </a:defRPr>
            </a:pPr>
            <a:r>
              <a:t>This break is excluded from teaching minutes.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09  •  2026-11-10  •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START  •  2:15 PM–2:20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Fraction operations: check and retry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Choose the correct fraction operation, show the working and correct a documented error.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Name one use for today’s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4A Q14–17 (p.26); 4C Q1–3 (p.29)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RECALL  •  2:20 PM–2:25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Present four short situations: total, remainder, repeated pieces and equal sharing. Name the operation.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Try first without displayed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Q14–17 (p.26); 4C Q1–3 (p.29)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Choose the method from the operation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Addition and subtraction need common denominators.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Multiplication multiplies numerators and denominators.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Division multiplies by the reciprocal of the divisor.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Choose the operation from the situation before applying a procedure.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Make the correction explain the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the original working so the incorrect step can be identified.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State whether the error is in the operation, denominator, regrouping or reciprocal.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Write a corrected method and explain why it preserves the quantities.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a fresh partner-created value to check the same skill without copying.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W03-L04  •  TEACH  •  2:25 PM–2:40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why the first method failed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Incorrect: 1/2 + 1/4 = 2/6.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denominators were added even though the pieces differ in size.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09585" y="2762250"/>
            <a:ext cx="10972526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Correct: 2/4 + 1/4 = 3/4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09585" y="3619500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 multiplication: 1/2 × 1/4 = 1/8.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 the question asks for half of a quarter, not a combined length.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481012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Together: explain one method from 4A Q14–17 without copying a partner. Instructor models the most common error from Monday’s work.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 L4 • Use paper first; rebuild one missing-length sketch in Shape Canvas</a:t>
            </a:r>
            <a:endParaRPr lang="en-US" sz="1050" dirty="0"/>
          </a:p>
        </p:txBody>
      </p:sp>
      <p:pic>
        <p:nvPicPr>
          <p:cNvPr id="10" name="Picture 9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28</a:t>
            </a:r>
          </a:p>
        </p:txBody>
      </p:sp>
    </p:spTree>
    <p:extLst>
      <p:ext uri="{BB962C8B-B14F-4D97-AF65-F5344CB8AC3E}">
        <p14:creationId xmlns:p14="http://schemas.microsoft.com/office/powerpoint/2010/main" val="768516818"/>
      </p:ext>
    </p:extLst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64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pic>
        <p:nvPicPr>
          <p:cNvPr id="5" name="Picture 4" descr="W03-L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38100"/>
            <a:ext cx="10698480" cy="33761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p.64 · Example 4.8: use equal-sized fractions to add a stack.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64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pic>
        <p:nvPicPr>
          <p:cNvPr id="5" name="Picture 4" descr="W03-L0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58884"/>
            <a:ext cx="10698480" cy="33345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p.64 · Check the written fraction method on the chosen calculator.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Must you find a common denominator before every fraction multiplication?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No. Common denominators support addition and subtraction. Multiply numerators and denominators directly.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Pairs explain a method from 4A questions 14–17 without copying the partner’s calculation.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solver and checker.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Q14–17 (p.26); 4C Q1–3 (p.29)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4A Q14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pic>
        <p:nvPicPr>
          <p:cNvPr id="5" name="Picture 4" descr="4A-Q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4A Q14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pic>
        <p:nvPicPr>
          <p:cNvPr id="5" name="Picture 4" descr="4A-Q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15744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(a) 1 1/16  (b) 10 5/16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one part of each question 14–17 independently, then 4C questions 1–3. Mark, explain and retry one error with a fresh partner-created value.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Show working and units; estimate, then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Q14–17 (p.26); 4C Q1–3 (p.29)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pic>
        <p:nvPicPr>
          <p:cNvPr id="5" name="Picture 4" descr="shape-rect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first attempt: Complete one part of 4A Q14–17 and the assigned 4C drawings on paper.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Checking after completion: Use the chosen calculator and explain one difference from your result.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retry: Rebuild one missing-length sketch in Shape Canvas and solve a fresh missed type.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4A Q14a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pic>
        <p:nvPicPr>
          <p:cNvPr id="5" name="Picture 4" descr="4A-Q1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4C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pic>
        <p:nvPicPr>
          <p:cNvPr id="5" name="Picture 4" descr="4C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278" y="1773936"/>
            <a:ext cx="8865523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Redo 4A questions 14(a),15(a),16(b),17(b). Give simplest forms.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Answer independently and show the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Q14–17 (p.26); 4C Q1–3 (p.29)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4A Q14a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pic>
        <p:nvPicPr>
          <p:cNvPr id="5" name="Picture 4" descr="4A-Q1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4A Q15a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pic>
        <p:nvPicPr>
          <p:cNvPr id="5" name="Picture 4" descr="4A-Q1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4A Q16b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pic>
        <p:nvPicPr>
          <p:cNvPr id="5" name="Picture 4" descr="4A-Q1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4A Q17b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pic>
        <p:nvPicPr>
          <p:cNvPr id="5" name="Picture 4" descr="4A-Q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W03-L04  •  WRAP UP  •  3:25 PM–3:30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pp.64–70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Share one learning point and one skill to practise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Record a takeaway and next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Q14–17 (p.26); 4C Q1–3 (p.29)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09  •  2026-11-10  •  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34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0FB143F-4C5F-4CFA-83D4-CE599B274CB0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15ce61c-59d5-4165-9b38-ae3aa70e227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6CE026-134B-41F5-918B-2FB126868299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fd5b780e-6113-4733-b1f1-d8726169f4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45</Slides>
  <Notes>45</Notes>
  <HiddenSlides>0</HiddenSlides>
  <ScaleCrop>false</ScaleCrop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 Carpentry Math | Full Day 09 | 2026-11-10</dc:title>
  <dc:creator>ACCESS Trades</dc:creator>
  <dc:subject>Repeated pieces and equal groups; Fraction operations: check and retry</dc:subject>
</cp:coreProperties>
</file>