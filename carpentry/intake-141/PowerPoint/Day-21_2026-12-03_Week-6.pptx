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Use this worked example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Use this worked example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today’s math topics and review the timetable.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Teach, 12:55 PM–1:10 PM. All slides with this phase share these 15 minutes; do not restart the time allocation for each slide.</a:t>
            </a:r>
          </a:p>
          <a:p/>
          <a:p>
            <a:r>
              <a:t>Teaching references:</a:t>
            </a:r>
          </a:p>
          <a:p>
            <a:r>
              <a:t>Textbook sections 12.5–12.6 pp.194–196</a:t>
            </a:r>
          </a:p>
          <a:p>
            <a:r>
              <a:t>ACCESS Trades Numeracy Textbook p.195 — Example 12.7 — Is the frame square?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Teach, 12:55 PM–1:10 PM. All slides with this phase share these 15 minutes; do not restart the time allocation for each slide.</a:t>
            </a:r>
          </a:p>
          <a:p/>
          <a:p>
            <a:r>
              <a:t>Teaching references:</a:t>
            </a:r>
          </a:p>
          <a:p>
            <a:r>
              <a:t>Textbook sections 12.5–12.6 pp.194–196</a:t>
            </a:r>
          </a:p>
          <a:p>
            <a:r>
              <a:t>ACCESS Trades Numeracy Textbook p.195 — Example 12.7 — Is the frame square?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Teach, 12:55 PM–1:10 PM. All slides with this phase share these 15 minutes; do not restart the time allocation for each slide.</a:t>
            </a:r>
          </a:p>
          <a:p/>
          <a:p>
            <a:r>
              <a:t>Textbook visual: ACCESS Textbook p.195 • Example 12.7 — Compare a measured diagonal with the square target</a:t>
            </a:r>
          </a:p>
          <a:p>
            <a:r>
              <a:t>Exact PDF/printed page: 195. ACCESS Textbook excerpt.</a:t>
            </a:r>
          </a:p>
          <a:p>
            <a:r>
              <a:t>Compare the expected scaled 3–4–5 diagonal with the measured diagonal before correcting the corner.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Teach, 12:55 PM–1:10 PM. All slides with this phase share these 15 minutes; do not restart the time allocation for each slide.</a:t>
            </a:r>
          </a:p>
          <a:p/>
          <a:p>
            <a:r>
              <a:t>Textbook visual: ACCESS Textbook p.195 • Table 12.1 — Scaled 3–4–5 checks</a:t>
            </a:r>
          </a:p>
          <a:p>
            <a:r>
              <a:t>Exact PDF/printed page: 195. ACCESS Textbook excerpt.</a:t>
            </a:r>
          </a:p>
          <a:p>
            <a:r>
              <a:t>Compare the expected scaled 3–4–5 diagonal with the measured diagonal before correcting the corner.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Practise, 1:25 PM–1:45 PM. All slides with this phase share these 20 minutes; do not restart the time allocation for each slide.</a:t>
            </a:r>
          </a:p>
          <a:p/>
          <a:p>
            <a:r>
              <a:t>Demonstrate navigation, then open the tool and use the assigned values. Keep worked answers hidden until learners attempt the task. Include this activity within the allocated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Practise, 1:25 PM–1:45 PM. All slides with this phase share these 20 minutes; do not restart the time allocation for each slide.</a:t>
            </a:r>
          </a:p>
          <a:p/>
          <a:p>
            <a:r>
              <a:t>Exact scheduled tool activity: Shape Canvas: rectangle with diagonal; right triangle for the 3–4–5 check. Numeracy Hub: Measuring Tools: square checks; tape and chalk for a classroom floor layout.</a:t>
            </a:r>
          </a:p>
          <a:p>
            <a:r>
              <a:t>Use a Shape Canvas right triangle for the scaled 3–4–5 check and a rectangle for diagonals.</a:t>
            </a:r>
          </a:p>
          <a:p>
            <a:r>
              <a:t>Mark the book dimensions on paper or a clear classroom floor with tape and chalk.</a:t>
            </a:r>
          </a:p>
          <a:p>
            <a:r>
              <a:t>Compare target and measured lengths, using Numeracy Hub Measuring Tools square checks to review.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Practise, 1:25 PM–1:45 PM. All slides with this phase share these 20 minutes; do not restart the time allocation for each slide.</a:t>
            </a:r>
          </a:p>
          <a:p/>
          <a:p>
            <a:r>
              <a:t>ACCESS EXERCISE BOOK: 12B-Q5</a:t>
            </a:r>
          </a:p>
          <a:p>
            <a:r>
              <a:t>Exact question: A pipe rack frame is 3,000 mm by 1,800 mm. The diagonals measure 3,505 mm and 3,492 mm. What should each diagonal measure, to the nearest millimetre? Which two corners do you push toward each other?</a:t>
            </a:r>
          </a:p>
          <a:p>
            <a:r>
              <a:t>Instructor answer: 3,499 mm each (3,498.57 mm). Push the two corners at the ends of the 3,505 mm diagonal.</a:t>
            </a:r>
          </a:p>
          <a:p>
            <a:r>
              <a:t>Working: √(3,000² + 1,800²) = √12,240,000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Practise, 1:25 PM–1:45 PM. All slides with this phase share these 20 minutes; do not restart the time allocation for each slide.</a:t>
            </a:r>
          </a:p>
          <a:p/>
          <a:p>
            <a:r>
              <a:t>ACCESS EXERCISE BOOK: 12B-Q7</a:t>
            </a:r>
          </a:p>
          <a:p>
            <a:r>
              <a:t>Exact question: A gate frame is 4′ 0″ wide and 6′ 6″ tall. Find the length of the diagonal brace, corner to corner, to the nearest 1/16″. Give it in feet and inches.</a:t>
            </a:r>
          </a:p>
          <a:p>
            <a:r>
              <a:t>Instructor answer: 91 9/16″, which is 7′ 7 9/16″</a:t>
            </a:r>
          </a:p>
          <a:p>
            <a:r>
              <a:t>Working: 48″ and 78″: √(2,304 + 6,084) = √8,388 = 91.586″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Check, 1:45 PM–1:55 PM. All slides with this phase share these 10 minutes; do not restart the time allocation for each slide.</a:t>
            </a:r>
          </a:p>
          <a:p/>
          <a:p>
            <a:r>
              <a:t>ACCESS EXERCISE BOOK: 12B-Q4</a:t>
            </a:r>
          </a:p>
          <a:p>
            <a:r>
              <a:t>Exact question: You square up a skid on the floor. You mark 1.2 m along one side and 1.6 m along the other. The tape reads 1.998 m between the marks. What should it read? Is the corner open or closed?</a:t>
            </a:r>
          </a:p>
          <a:p>
            <a:r>
              <a:t>Instructor answer: It should read 2 m. At 1.998 m it is closed, less than 90°.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Check, 1:45 PM–1:55 PM. All slides with this phase share these 10 minutes; do not restart the time allocation for each slide.</a:t>
            </a:r>
          </a:p>
          <a:p/>
          <a:p>
            <a:r>
              <a:t>ACCESS EXERCISE BOOK: 12B-Q5</a:t>
            </a:r>
          </a:p>
          <a:p>
            <a:r>
              <a:t>Exact question: A pipe rack frame is 3,000 mm by 1,800 mm. The diagonals measure 3,505 mm and 3,492 mm. What should each diagonal measure, to the nearest millimetre? Which two corners do you push toward each other?</a:t>
            </a:r>
          </a:p>
          <a:p>
            <a:r>
              <a:t>Instructor answer: 3,499 mm each (3,498.57 mm). Push the two corners at the ends of the 3,505 mm diagonal.</a:t>
            </a:r>
          </a:p>
          <a:p>
            <a:r>
              <a:t>Working: √(3,000² + 1,800²) = √12,240,000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Keep activities within the allocated phase time.</a:t>
            </a:r>
          </a:p>
          <a:p>
            <a:r>
              <a:t>PHASE TIMING: Wrap up, 1:55 PM–2:00 PM. All slides with this phase share these 5 minutes; do not restart the time allocation for each slide.</a:t>
            </a:r>
          </a:p>
          <a:p/>
          <a:p>
            <a:r>
              <a:t>Next scheduled learning: Move to trig only if right-angle, side labels and square-root checks are secure.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Teach, 2:25 PM–2:40 PM. All slides with this phase share these 15 minutes; do not restart the time allocation for each slide.</a:t>
            </a:r>
          </a:p>
          <a:p/>
          <a:p>
            <a:r>
              <a:t>Teaching references:</a:t>
            </a:r>
          </a:p>
          <a:p>
            <a:r>
              <a:t>Textbook sections 13.1–13.3 pp.202–206; sections 2.10 pp.37–38</a:t>
            </a:r>
          </a:p>
          <a:p>
            <a:r>
              <a:t>ACCESS Trades Numeracy Textbook p.205 — Examples 13.2–13.3 — Brace height and truss rise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Teach, 2:25 PM–2:40 PM. All slides with this phase share these 15 minutes; do not restart the time allocation for each slide.</a:t>
            </a:r>
          </a:p>
          <a:p/>
          <a:p>
            <a:r>
              <a:t>Teaching references:</a:t>
            </a:r>
          </a:p>
          <a:p>
            <a:r>
              <a:t>Textbook sections 13.1–13.3 pp.202–206; sections 2.10 pp.37–38</a:t>
            </a:r>
          </a:p>
          <a:p>
            <a:r>
              <a:t>ACCESS Trades Numeracy Textbook p.205 — Examples 13.2–13.3 — Brace height and truss rise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Teach, 2:25 PM–2:40 PM. All slides with this phase share these 15 minutes; do not restart the time allocation for each slide.</a:t>
            </a:r>
          </a:p>
          <a:p/>
          <a:p>
            <a:r>
              <a:t>Textbook visual: ACCESS Textbook p.202 • Figure 13.1 — Opposite and adjacent depend on the marked angle</a:t>
            </a:r>
          </a:p>
          <a:p>
            <a:r>
              <a:t>Exact PDF/printed page: 202. ACCESS Textbook excerpt.</a:t>
            </a:r>
          </a:p>
          <a:p>
            <a:r>
              <a:t>Name the known and wanted sides relative to the shown angle before choosing sine or tangent.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Teach, 2:25 PM–2:40 PM. All slides with this phase share these 15 minutes; do not restart the time allocation for each slide.</a:t>
            </a:r>
          </a:p>
          <a:p/>
          <a:p>
            <a:r>
              <a:t>Textbook visual: ACCESS Textbook p.205 • Example 13.2 — Sine and the height of a brace</a:t>
            </a:r>
          </a:p>
          <a:p>
            <a:r>
              <a:t>Exact PDF/printed page: 205. ACCESS Textbook excerpt.</a:t>
            </a:r>
          </a:p>
          <a:p>
            <a:r>
              <a:t>Name the known and wanted sides relative to the shown angle before choosing sine or tangent.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Together, 2:40 PM–2:55 PM. All slides with this phase share these 15 minutes; do not restart the time allocation for each slide.</a:t>
            </a:r>
          </a:p>
          <a:p/>
          <a:p>
            <a:r>
              <a:t>ACCESS EXERCISE BOOK: 13A-Q1</a:t>
            </a:r>
          </a:p>
          <a:p>
            <a:r>
              <a:t>Exact question: Look at the triangle. Which side is opposite angle M? Which side is adjacent to angle M? Which side is the hypotenuse? Which side is opposite angle N?</a:t>
            </a:r>
          </a:p>
          <a:p>
            <a:r>
              <a:t>Instructor answer: Opposite M: e. Adjacent to M: d. Hypotenuse: f. Opposite N: d.</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Together, 2:40 PM–2:55 PM. All slides with this phase share these 15 minutes; do not restart the time allocation for each slide.</a:t>
            </a:r>
          </a:p>
          <a:p/>
          <a:p>
            <a:r>
              <a:t>ACCESS EXERCISE BOOK: 13A-Q1</a:t>
            </a:r>
          </a:p>
          <a:p>
            <a:r>
              <a:t>Exact question: Look at the triangle. Which side is opposite angle M? Which side is adjacent to angle M? Which side is the hypotenuse? Which side is opposite angle N?</a:t>
            </a:r>
          </a:p>
          <a:p>
            <a:r>
              <a:t>Instructor answer: Opposite M: e. Adjacent to M: d. Hypotenuse: f. Opposite N: d.</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Practise, 2:55 PM–3:15 PM. All slides with this phase share these 20 minutes; do not restart the time allocation for each slide.</a:t>
            </a:r>
          </a:p>
          <a:p/>
          <a:p>
            <a:r>
              <a:t>Demonstrate navigation, then open the tool and use the assigned values. Keep worked answers hidden until learners attempt the task. Include this activity within the allocated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Practise, 2:55 PM–3:15 PM. All slides with this phase share these 20 minutes; do not restart the time allocation for each slide.</a:t>
            </a:r>
          </a:p>
          <a:p/>
          <a:p>
            <a:r>
              <a:t>Exact scheduled tool activity: Numeracy Hub: Angles and Trig, then Module 3 Right-triangle trigonometry. Shape Canvas: right triangle; show an angle and hide a side. Set calculator to DEG.</a:t>
            </a:r>
          </a:p>
          <a:p>
            <a:r>
              <a:t>Set the calculator to DEG and label the sides of a right triangle in Shape Canvas.</a:t>
            </a:r>
          </a:p>
          <a:p>
            <a:r>
              <a:t>Hide one side; write the selected ratio and solve on paper.</a:t>
            </a:r>
          </a:p>
          <a:p>
            <a:r>
              <a:t>Try the scheduled Easy Right-triangle trigonometry task in Numeracy Hub and compare diagrams.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Practise, 2:55 PM–3:15 PM. All slides with this phase share these 20 minutes; do not restart the time allocation for each slide.</a:t>
            </a:r>
          </a:p>
          <a:p/>
          <a:p>
            <a:r>
              <a:t>ACCESS EXERCISE BOOK: 13A-Q6</a:t>
            </a:r>
          </a:p>
          <a:p>
            <a:r>
              <a:t>Exact question: Adjacent 900 mm, angle 24°. Find the opposite side to two decimal places.</a:t>
            </a:r>
          </a:p>
          <a:p>
            <a:r>
              <a:t>Instructor answer: 400.71 mm</a:t>
            </a:r>
          </a:p>
          <a:p>
            <a:r>
              <a:t>Working: 900 × tan 24°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Practise, 2:55 PM–3:15 PM. All slides with this phase share these 20 minutes; do not restart the time allocation for each slide.</a:t>
            </a:r>
          </a:p>
          <a:p/>
          <a:p>
            <a:r>
              <a:t>ACCESS EXERCISE BOOK: 13C-Q1</a:t>
            </a:r>
          </a:p>
          <a:p>
            <a:r>
              <a:t>Exact question: Find the height to two decimal places.</a:t>
            </a:r>
          </a:p>
          <a:p>
            <a:r>
              <a:t>Instructor answer: 845.05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Check, 3:15 PM–3:25 PM. All slides with this phase share these 10 minutes; do not restart the time allocation for each slide.</a:t>
            </a:r>
          </a:p>
          <a:p/>
          <a:p>
            <a:r>
              <a:t>ACCESS EXERCISE BOOK: 13A-Q4</a:t>
            </a:r>
          </a:p>
          <a:p>
            <a:r>
              <a:t>Exact question: Hypotenuse 650 mm, angle 32°. Find the opposite side to two decimal places.</a:t>
            </a:r>
          </a:p>
          <a:p>
            <a:r>
              <a:t>Instructor answer: 344.45 mm</a:t>
            </a:r>
          </a:p>
          <a:p>
            <a:r>
              <a:t>Working: 650 × sin 32°</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Check, 3:15 PM–3:25 PM. All slides with this phase share these 10 minutes; do not restart the time allocation for each slide.</a:t>
            </a:r>
          </a:p>
          <a:p/>
          <a:p>
            <a:r>
              <a:t>ACCESS EXERCISE BOOK: 13A-Q6</a:t>
            </a:r>
          </a:p>
          <a:p>
            <a:r>
              <a:t>Exact question: Adjacent 900 mm, angle 24°. Find the opposite side to two decimal places.</a:t>
            </a:r>
          </a:p>
          <a:p>
            <a:r>
              <a:t>Instructor answer: 400.71 mm</a:t>
            </a:r>
          </a:p>
          <a:p>
            <a:r>
              <a:t>Working: 900 × tan 24°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Keep activities within the allocated phase time.</a:t>
            </a:r>
          </a:p>
          <a:p>
            <a:r>
              <a:t>PHASE TIMING: Wrap up, 3:25 PM–3:30 PM. All slides with this phase share these 5 minutes; do not restart the time allocation for each slide.</a:t>
            </a:r>
          </a:p>
          <a:p/>
          <a:p>
            <a:r>
              <a:t>Next scheduled learning: Introduce inverse trig for angles; retain a foundation pathway for learners needing more right-triangle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205"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21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3,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21  •  2026-12-03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21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Checking square, diagonals and layout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SOH CAH TOA and missing sides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Checking square, diagonals and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12.5–12.6 pp.194–196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12A Q17–18 (p.76); 12B Q4–5,7 (pp.77–78)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a scaled 3–4–5 triangle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3² + 4² = 5², so a 3–4–5 triangle has a right angle.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all three sides by the same factor to scale the check.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Measure the diagonal between the two marked side lengths.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the complete frame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expected diagonal from the stated side lengths.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both measured diagonals with the target and with each other.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book diagram to identify an open or closed corner.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09585" y="17145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09585" y="3190875"/>
            <a:ext cx="10972526"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09585" y="5000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12B Q4–5 pp.77–78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07</a:t>
            </a:r>
          </a:p>
        </p:txBody>
      </p:sp>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4.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SOH CAH TOA and missing sides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SOH CAH TOA and missing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13.1–13.3 pp.202–206; sections 2.10 pp.37–38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13A Q1–8 (pp.81–82); 13C Q1–2 (p.85)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Name sides from the chosen 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hypotenuse is always opposite the right angle.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opposite side faces the marked angle.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adjacent side touches the marked angle and is not the hypotenuse.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ratio for the two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SOH: sin θ = opposite/hypotenuse.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CAH: cos θ = adjacent/hypotenuse.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TOA: tan θ = opposite/adjacent.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09585" y="2857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09585" y="40481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13A pp.81–82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26</a:t>
            </a:r>
          </a:p>
        </p:txBody>
      </p:sp>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p.202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p.205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13A Q6–8 and 13C Q1–2 as ready. Use one Easy Numeracy Hub task and compare with the drawn triangle.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Hide one side; write the selected ratio and solve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Try the scheduled Easy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13C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13A Q4 and Q6; label the sides and chosen ratio.</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41</Slides>
  <Notes>41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21 | 2026-12-03</dc:title>
  <dc:creator>ACCESS Trades</dc:creator>
  <dc:subject>Checking square, diagonals and layout; SOH CAH TOA and missing sides</dc:subject>
</cp:coreProperties>
</file>