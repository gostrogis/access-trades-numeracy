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9.xml" ContentType="application/vnd.openxmlformats-officedocument.presentationml.notesSlide+xml"/>
  <Override PartName="/ppt/notesSlides/notesSlide13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97" r:id="rId13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00" r:id="rId133"/>
    <p:sldId id="459" r:id="rId196"/>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0" Type="http://schemas.openxmlformats.org/officeDocument/2006/relationships/slide" Target="slides/slide7.xml"/><Relationship Id="rId133"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Worked teaching example retained from original slide 129.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Worked teaching example retained from original slide 132.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Schedule'!E60 | 'Math Week 6'!A129</a:t>
            </a:r>
          </a:p>
          <a:p>
            <a:r>
              <a:t>'Carpentry Schedule'!E62 | 'Math Week 6'!A146</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12.5–12.6 pp.194–196</a:t>
            </a:r>
          </a:p>
          <a:p>
            <a:r>
              <a:t>'Math Week 6'!B133</a:t>
            </a:r>
          </a:p>
          <a:p>
            <a:r>
              <a:t>'Math Week 6'!A137:F137</a:t>
            </a:r>
          </a:p>
          <a:p>
            <a:r>
              <a:t>ACCESS CARPENTRY SLIDES.pptx slides 128, 129, 130</a:t>
            </a:r>
          </a:p>
          <a:p>
            <a:r>
              <a:t>ACCESS Trades Numeracy Textbook p.195 — Example 12.7 — Is the frame square?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12.5–12.6 pp.194–196</a:t>
            </a:r>
          </a:p>
          <a:p>
            <a:r>
              <a:t>'Math Week 6'!B133</a:t>
            </a:r>
          </a:p>
          <a:p>
            <a:r>
              <a:t>'Math Week 6'!A137:F137</a:t>
            </a:r>
          </a:p>
          <a:p>
            <a:r>
              <a:t>ACCESS CARPENTRY SLIDES.pptx slides 128, 129, 130</a:t>
            </a:r>
          </a:p>
          <a:p>
            <a:r>
              <a:t>ACCESS Trades Numeracy Textbook p.195 — Example 12.7 — Is the frame square?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p.195 • Example 12.7 — Compare a measured diagonal with the square target</a:t>
            </a:r>
          </a:p>
          <a:p>
            <a:r>
              <a:t>Exact PDF/printed page: 195. Excerpt reproduced from the supplied ACCESS Textbook.</a:t>
            </a:r>
          </a:p>
          <a:p>
            <a:r>
              <a:t>Compare the expected scaled 3–4–5 diagonal with the measured diagonal before correcting the corner.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p.195 • Table 12.1 — Scaled 3–4–5 checks</a:t>
            </a:r>
          </a:p>
          <a:p>
            <a:r>
              <a:t>Exact PDF/printed page: 195. Excerpt reproduced from the supplied ACCESS Textbook.</a:t>
            </a:r>
          </a:p>
          <a:p>
            <a:r>
              <a:t>Compare the expected scaled 3–4–5 diagonal with the measured diagonal before correcting the corner.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rectangle with diagonal; right triangle for the 3–4–5 check. Numeracy Hub: Measuring Tools: square checks; tape and chalk for a classroom floor layout.</a:t>
            </a:r>
          </a:p>
          <a:p>
            <a:r>
              <a:t>Use a Shape Canvas right triangle for the scaled 3–4–5 check and a rectangle for diagonals.</a:t>
            </a:r>
          </a:p>
          <a:p>
            <a:r>
              <a:t>Mark the book dimensions on paper or a clear classroom floor with tape and chalk.</a:t>
            </a:r>
          </a:p>
          <a:p>
            <a:r>
              <a:t>Compare target and measured lengths, using Numeracy Hub Measuring Tools square checks to review.</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12B-Q5</a:t>
            </a:r>
          </a:p>
          <a:p>
            <a:r>
              <a:t>Exact question: A pipe rack frame is 3,000 mm by 1,800 mm. The diagonals measure 3,505 mm and 3,492 mm. What should each diagonal measure, to the nearest millimetre? Which two corners do you push toward each other?</a:t>
            </a:r>
          </a:p>
          <a:p>
            <a:r>
              <a:t>Instructor answer: 3,499 mm each (3,498.57 mm). Push the two corners at the ends of the 3,505 mm diagonal.</a:t>
            </a:r>
          </a:p>
          <a:p>
            <a:r>
              <a:t>Working: √(3,000² + 1,800²) = √12,240,000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12B-Q7</a:t>
            </a:r>
          </a:p>
          <a:p>
            <a:r>
              <a:t>Exact question: A gate frame is 4′ 0″ wide and 6′ 6″ tall. Find the length of the diagonal brace, corner to corner, to the nearest 1/16″. Give it in feet and inches.</a:t>
            </a:r>
          </a:p>
          <a:p>
            <a:r>
              <a:t>Instructor answer: 91 9/16″, which is 7′ 7 9/16″</a:t>
            </a:r>
          </a:p>
          <a:p>
            <a:r>
              <a:t>Working: 48″ and 78″: √(2,304 + 6,084) = √8,388 = 91.586″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12B-Q4</a:t>
            </a:r>
          </a:p>
          <a:p>
            <a:r>
              <a:t>Exact question: You square up a skid on the floor. You mark 1.2 m along one side and 1.6 m along the other. The tape reads 1.998 m between the marks. What should it read? Is the corner open or closed?</a:t>
            </a:r>
          </a:p>
          <a:p>
            <a:r>
              <a:t>Instructor answer: It should read 2 m. At 1.998 m it is closed, less than 90°.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12B-Q5</a:t>
            </a:r>
          </a:p>
          <a:p>
            <a:r>
              <a:t>Exact question: A pipe rack frame is 3,000 mm by 1,800 mm. The diagonals measure 3,505 mm and 3,492 mm. What should each diagonal measure, to the nearest millimetre? Which two corners do you push toward each other?</a:t>
            </a:r>
          </a:p>
          <a:p>
            <a:r>
              <a:t>Instructor answer: 3,499 mm each (3,498.57 mm). Push the two corners at the ends of the 3,505 mm diagonal.</a:t>
            </a:r>
          </a:p>
          <a:p>
            <a:r>
              <a:t>Working: √(3,000² + 1,800²) = √12,240,000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W06-L07 | 2026-12-03 | 12:45 PM–2:00 PM | 75 minutes</a:t>
            </a:r>
          </a:p>
          <a:p>
            <a:r>
              <a:t>Checking square, diagonals and layout</a:t>
            </a:r>
          </a:p>
          <a:p>
            <a:r>
              <a:t>Mode: Math</a:t>
            </a:r>
          </a:p>
          <a:p>
            <a:r>
              <a:t>Goal: Apply a scaled 3–4–5 triangle and compare diagonals to diagnose an out-of-square frame.</a:t>
            </a:r>
          </a:p>
          <a:p>
            <a:r>
              <a:t>Read: Textbook sections 12.5–12.6 pp.194–196</a:t>
            </a:r>
          </a:p>
          <a:p>
            <a:r>
              <a:t>Practise: Exercise Book 12A Q17–18 (p.76); 12B Q4–5,7 (pp.77–78)</a:t>
            </a:r>
          </a:p>
          <a:p>
            <a:r>
              <a:t>Tool: Shape Canvas: rectangle with diagonal; right triangle for the 3–4–5 check. Numeracy Hub: Measuring Tools: square checks; tape and chalk for a classroom floor layout.</a:t>
            </a:r>
          </a:p>
          <a:p/>
          <a:p>
            <a:r>
              <a:t>EXACT SCHEDULED STEPS</a:t>
            </a:r>
          </a:p>
          <a:p>
            <a:r>
              <a:t>12:45 PM–12:50 PM | 1 Start | 5 min</a:t>
            </a:r>
          </a:p>
          <a:p>
            <a:r>
              <a:t>Instructor: Connect checking square, diagonals and layout to a dimensioned carpentry drawing. State the objective.</a:t>
            </a:r>
          </a:p>
          <a:p>
            <a:r>
              <a:t>Learners: Describe a prior use of the skill; identify the given and unknown quantities.</a:t>
            </a:r>
          </a:p>
          <a:p>
            <a:r>
              <a:t>Materials/check: Notebook; calculator</a:t>
            </a:r>
          </a:p>
          <a:p>
            <a:r>
              <a:t>Source: 'Math Week 6'!A135:F135</a:t>
            </a:r>
          </a:p>
          <a:p/>
          <a:p>
            <a:r>
              <a:t>12:50 PM–12:55 PM | 2 Recall | 5 min</a:t>
            </a:r>
          </a:p>
          <a:p>
            <a:r>
              <a:t>Instructor: Ask which three lengths make a scaled 3–4–5 triangle and why both diagonals matter.</a:t>
            </a:r>
          </a:p>
          <a:p>
            <a:r>
              <a:t>Learners: Attempt the retrieval task independently; explain the method before checking.</a:t>
            </a:r>
          </a:p>
          <a:p>
            <a:r>
              <a:t>Materials/check: Identify support needs</a:t>
            </a:r>
          </a:p>
          <a:p>
            <a:r>
              <a:t>Source: 'Math Week 6'!A136:F136</a:t>
            </a:r>
          </a:p>
          <a:p/>
          <a:p>
            <a:r>
              <a:t>12:55 PM–1:10 PM | 3 Teach | 15 min</a:t>
            </a:r>
          </a:p>
          <a:p>
            <a:r>
              <a:t>Instructor: Model Exercise Book 12B Q4 and identify open versus closed corners. Demonstrate the expected diagonal from known side lengths.</a:t>
            </a:r>
          </a:p>
          <a:p>
            <a:r>
              <a:t>Learners: Annotate the example and predict the next step; ask about unclear units or symbols.</a:t>
            </a:r>
          </a:p>
          <a:p>
            <a:r>
              <a:t>Materials/check: Textbook; worked example</a:t>
            </a:r>
          </a:p>
          <a:p>
            <a:r>
              <a:t>Source: 'Math Week 6'!A137:F137</a:t>
            </a:r>
          </a:p>
          <a:p/>
          <a:p>
            <a:r>
              <a:t>1:10 PM–1:25 PM | 4 Together | 15 min</a:t>
            </a:r>
          </a:p>
          <a:p>
            <a:r>
              <a:t>Instructor: In pairs, mark a paper or clear-floor triangle using the book dimensions. Rotate measurer/checker roles; no cutting or power tools.</a:t>
            </a:r>
          </a:p>
          <a:p>
            <a:r>
              <a:t>Learners: Work in pairs, alternating solver and checker. Write a diagram, formula, units and estimate.</a:t>
            </a:r>
          </a:p>
          <a:p>
            <a:r>
              <a:t>Materials/check: Exercise Book; tool above</a:t>
            </a:r>
          </a:p>
          <a:p>
            <a:r>
              <a:t>Source: 'Math Week 6'!A138:F138</a:t>
            </a:r>
          </a:p>
          <a:p/>
          <a:p>
            <a:r>
              <a:t>1:25 PM–1:45 PM | 5 Practise | 20 min</a:t>
            </a:r>
          </a:p>
          <a:p>
            <a:r>
              <a:t>Instructor: Solve Exercise Book 12B Q5,7 and 12A Q17–18. Compare theoretical diagonals to given readings; annotate the adjustment on a sketch.</a:t>
            </a:r>
          </a:p>
          <a:p>
            <a:r>
              <a:t>Learners: Solve on paper first; check with tools; correct one error and explain the change.</a:t>
            </a:r>
          </a:p>
          <a:p>
            <a:r>
              <a:t>Materials/check: Paper first; tool second</a:t>
            </a:r>
          </a:p>
          <a:p>
            <a:r>
              <a:t>Source: 'Math Week 6'!A139:F139</a:t>
            </a:r>
          </a:p>
          <a:p/>
          <a:p>
            <a:r>
              <a:t>1:45 PM–1:55 PM | 6 Check | 10 min</a:t>
            </a:r>
          </a:p>
          <a:p>
            <a:r>
              <a:t>Instructor: Exercise Book 12B Q4 and Q5; state target lengths and the direction of correction.</a:t>
            </a:r>
          </a:p>
          <a:p>
            <a:r>
              <a:t>Learners: Solve without displayed answers; include working, units and final rounding.</a:t>
            </a:r>
          </a:p>
          <a:p>
            <a:r>
              <a:t>Materials/check: Teacher answers below</a:t>
            </a:r>
          </a:p>
          <a:p>
            <a:r>
              <a:t>Source: 'Math Week 6'!A140:F140</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6'!A141:F141</a:t>
            </a:r>
          </a:p>
          <a:p/>
          <a:p>
            <a:r>
              <a:t>INSTRUCTOR ONLY: REVEAL ASSESSMENT ANSWERS AFTER THE ATTEMPT</a:t>
            </a:r>
          </a:p>
          <a:p>
            <a:r>
              <a:t>12B Q4: target 2 m; 1.998 m is closed. Q5: diagonals should be 3,499 mm; move together corners at the ends of the 3,505 mm diagonal. Answer Key p.32. Answer Key pp.31–32</a:t>
            </a:r>
          </a:p>
          <a:p/>
          <a:p>
            <a:r>
              <a:t>Move to trig only if right-angle, side labels and square-root checks are secure.</a:t>
            </a:r>
          </a:p>
          <a:p/>
          <a:p>
            <a:r>
              <a:t>Sources: 'Math Week 6'!A16:E16; 'Carpentry Schedule'!E60; 'Math Week 6'!A129</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Move to trig only if right-angle, side labels and square-root checks are secure.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13.1–13.3 pp.202–206; sections 2.10 pp.37–38</a:t>
            </a:r>
          </a:p>
          <a:p>
            <a:r>
              <a:t>'Math Week 6'!B150</a:t>
            </a:r>
          </a:p>
          <a:p>
            <a:r>
              <a:t>'Math Week 6'!A154:F154</a:t>
            </a:r>
          </a:p>
          <a:p>
            <a:r>
              <a:t>ACCESS CARPENTRY SLIDES.pptx slides 131, 132, 133</a:t>
            </a:r>
          </a:p>
          <a:p>
            <a:r>
              <a:t>ACCESS Trades Numeracy Textbook p.205 — Examples 13.2–13.3 — Brace height and truss rise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13.1–13.3 pp.202–206; sections 2.10 pp.37–38</a:t>
            </a:r>
          </a:p>
          <a:p>
            <a:r>
              <a:t>'Math Week 6'!B150</a:t>
            </a:r>
          </a:p>
          <a:p>
            <a:r>
              <a:t>'Math Week 6'!A154:F154</a:t>
            </a:r>
          </a:p>
          <a:p>
            <a:r>
              <a:t>ACCESS CARPENTRY SLIDES.pptx slides 131, 132, 133</a:t>
            </a:r>
          </a:p>
          <a:p>
            <a:r>
              <a:t>ACCESS Trades Numeracy Textbook p.205 — Examples 13.2–13.3 — Brace height and truss rise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p.202 • Figure 13.1 — Opposite and adjacent depend on the marked angle</a:t>
            </a:r>
          </a:p>
          <a:p>
            <a:r>
              <a:t>Exact PDF/printed page: 202. Excerpt reproduced from the supplied ACCESS Textbook.</a:t>
            </a:r>
          </a:p>
          <a:p>
            <a:r>
              <a:t>Name the known and wanted sides relative to the shown angle before choosing sine or tangent.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p.205 • Example 13.2 — Sine and the height of a brace</a:t>
            </a:r>
          </a:p>
          <a:p>
            <a:r>
              <a:t>Exact PDF/printed page: 205. Excerpt reproduced from the supplied ACCESS Textbook.</a:t>
            </a:r>
          </a:p>
          <a:p>
            <a:r>
              <a:t>Name the known and wanted sides relative to the shown angle before choosing sine or tangent.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13A-Q1</a:t>
            </a:r>
          </a:p>
          <a:p>
            <a:r>
              <a:t>Exact question: Look at the triangle. Which side is opposite angle M? Which side is adjacent to angle M? Which side is the hypotenuse? Which side is opposite angle N?</a:t>
            </a:r>
          </a:p>
          <a:p>
            <a:r>
              <a:t>Instructor answer: Opposite M: e. Adjacent to M: d. Hypotenuse: f. Opposite N: d.</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13A-Q1</a:t>
            </a:r>
          </a:p>
          <a:p>
            <a:r>
              <a:t>Exact question: Look at the triangle. Which side is opposite angle M? Which side is adjacent to angle M? Which side is the hypotenuse? Which side is opposite angle N?</a:t>
            </a:r>
          </a:p>
          <a:p>
            <a:r>
              <a:t>Instructor answer: Opposite M: e. Adjacent to M: d. Hypotenuse: f. Opposite N: d.</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Numeracy Hub: Angles and Trig, then Module 3 Right-triangle trigonometry. Shape Canvas: right triangle; show an angle and hide a side. Set calculator to DEG.</a:t>
            </a:r>
          </a:p>
          <a:p>
            <a:r>
              <a:t>Set the calculator to DEG and label the sides of a right triangle in Shape Canvas.</a:t>
            </a:r>
          </a:p>
          <a:p>
            <a:r>
              <a:t>Hide one side; write the selected ratio and solve on paper.</a:t>
            </a:r>
          </a:p>
          <a:p>
            <a:r>
              <a:t>Try the scheduled Easy Right-triangle trigonometry task in Numeracy Hub and compare diagrams.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13A-Q6</a:t>
            </a:r>
          </a:p>
          <a:p>
            <a:r>
              <a:t>Exact question: Adjacent 900 mm, angle 24°. Find the opposite side to two decimal places.</a:t>
            </a:r>
          </a:p>
          <a:p>
            <a:r>
              <a:t>Instructor answer: 400.71 mm</a:t>
            </a:r>
          </a:p>
          <a:p>
            <a:r>
              <a:t>Working: 900 × tan 24°</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13C-Q1</a:t>
            </a:r>
          </a:p>
          <a:p>
            <a:r>
              <a:t>Exact question: Find the height to two decimal places.</a:t>
            </a:r>
          </a:p>
          <a:p>
            <a:r>
              <a:t>Instructor answer: 845.05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13A-Q4</a:t>
            </a:r>
          </a:p>
          <a:p>
            <a:r>
              <a:t>Exact question: Hypotenuse 650 mm, angle 32°. Find the opposite side to two decimal places.</a:t>
            </a:r>
          </a:p>
          <a:p>
            <a:r>
              <a:t>Instructor answer: 344.45 mm</a:t>
            </a:r>
          </a:p>
          <a:p>
            <a:r>
              <a:t>Working: 650 × sin 32°</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13A-Q6</a:t>
            </a:r>
          </a:p>
          <a:p>
            <a:r>
              <a:t>Exact question: Adjacent 900 mm, angle 24°. Find the opposite side to two decimal places.</a:t>
            </a:r>
          </a:p>
          <a:p>
            <a:r>
              <a:t>Instructor answer: 400.71 mm</a:t>
            </a:r>
          </a:p>
          <a:p>
            <a:r>
              <a:t>Working: 900 × tan 24°</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W06-L08 | 2026-12-03 | 2:15 PM–3:30 PM | 75 minutes</a:t>
            </a:r>
          </a:p>
          <a:p>
            <a:r>
              <a:t>SOH CAH TOA and missing sides</a:t>
            </a:r>
          </a:p>
          <a:p>
            <a:r>
              <a:t>Mode: Math</a:t>
            </a:r>
          </a:p>
          <a:p>
            <a:r>
              <a:t>Goal: Name sides relative to a marked angle and select sine, cosine or tangent to find a missing side.</a:t>
            </a:r>
          </a:p>
          <a:p>
            <a:r>
              <a:t>Read: Textbook sections 13.1–13.3 pp.202–206; sections 2.10 pp.37–38</a:t>
            </a:r>
          </a:p>
          <a:p>
            <a:r>
              <a:t>Practise: Exercise Book 13A Q1–8 (pp.81–82); 13C Q1–2 (p.85)</a:t>
            </a:r>
          </a:p>
          <a:p>
            <a:r>
              <a:t>Tool: Numeracy Hub: Angles and Trig, then Module 3 Right-triangle trigonometry. Shape Canvas: right triangle; show an angle and hide a side. Set calculator to DEG.</a:t>
            </a:r>
          </a:p>
          <a:p/>
          <a:p>
            <a:r>
              <a:t>EXACT SCHEDULED STEPS</a:t>
            </a:r>
          </a:p>
          <a:p>
            <a:r>
              <a:t>2:15 PM–2:20 PM | 1 Start | 5 min</a:t>
            </a:r>
          </a:p>
          <a:p>
            <a:r>
              <a:t>Instructor: Connect soh cah toa and missing sides to a dimensioned carpentry drawing. State the objective.</a:t>
            </a:r>
          </a:p>
          <a:p>
            <a:r>
              <a:t>Learners: Describe a prior use of the skill; identify the given and unknown quantities.</a:t>
            </a:r>
          </a:p>
          <a:p>
            <a:r>
              <a:t>Materials/check: Notebook; calculator</a:t>
            </a:r>
          </a:p>
          <a:p>
            <a:r>
              <a:t>Source: 'Math Week 6'!A152:F152</a:t>
            </a:r>
          </a:p>
          <a:p/>
          <a:p>
            <a:r>
              <a:t>2:20 PM–2:25 PM | 2 Recall | 5 min</a:t>
            </a:r>
          </a:p>
          <a:p>
            <a:r>
              <a:t>Instructor: Check hypotenuse identification; compare opposite and adjacent when the marked angle changes.</a:t>
            </a:r>
          </a:p>
          <a:p>
            <a:r>
              <a:t>Learners: Attempt the retrieval task independently; explain the method before checking.</a:t>
            </a:r>
          </a:p>
          <a:p>
            <a:r>
              <a:t>Materials/check: Identify support needs</a:t>
            </a:r>
          </a:p>
          <a:p>
            <a:r>
              <a:t>Source: 'Math Week 6'!A153:F153</a:t>
            </a:r>
          </a:p>
          <a:p/>
          <a:p>
            <a:r>
              <a:t>2:25 PM–2:40 PM | 3 Teach | 15 min</a:t>
            </a:r>
          </a:p>
          <a:p>
            <a:r>
              <a:t>Instructor: Model SOH CAH TOA, ratio selection and rearrangement. Demonstrate the selected calculator’s DEG setting and trig key order.</a:t>
            </a:r>
          </a:p>
          <a:p>
            <a:r>
              <a:t>Learners: Annotate the example and predict the next step; ask about unclear units or symbols.</a:t>
            </a:r>
          </a:p>
          <a:p>
            <a:r>
              <a:t>Materials/check: Textbook; worked example</a:t>
            </a:r>
          </a:p>
          <a:p>
            <a:r>
              <a:t>Source: 'Math Week 6'!A154:F154</a:t>
            </a:r>
          </a:p>
          <a:p/>
          <a:p>
            <a:r>
              <a:t>2:40 PM–2:55 PM | 4 Together | 15 min</a:t>
            </a:r>
          </a:p>
          <a:p>
            <a:r>
              <a:t>Instructor: Work Exercise Book 13A Q1–5; learners say the two relevant sides before choosing a ratio.</a:t>
            </a:r>
          </a:p>
          <a:p>
            <a:r>
              <a:t>Learners: Work in pairs, alternating solver and checker. Write a diagram, formula, units and estimate.</a:t>
            </a:r>
          </a:p>
          <a:p>
            <a:r>
              <a:t>Materials/check: Exercise Book; tool above</a:t>
            </a:r>
          </a:p>
          <a:p>
            <a:r>
              <a:t>Source: 'Math Week 6'!A155:F155</a:t>
            </a:r>
          </a:p>
          <a:p/>
          <a:p>
            <a:r>
              <a:t>2:55 PM–3:15 PM | 5 Practise | 20 min</a:t>
            </a:r>
          </a:p>
          <a:p>
            <a:r>
              <a:t>Instructor: Complete Exercise Book 13A Q6–8 and 13C Q1–2 as ready. Use one Easy Numeracy Hub task and compare with the drawn triangle.</a:t>
            </a:r>
          </a:p>
          <a:p>
            <a:r>
              <a:t>Learners: Solve on paper first; check with tools; correct one error and explain the change.</a:t>
            </a:r>
          </a:p>
          <a:p>
            <a:r>
              <a:t>Materials/check: Paper first; tool second</a:t>
            </a:r>
          </a:p>
          <a:p>
            <a:r>
              <a:t>Source: 'Math Week 6'!A156:F156</a:t>
            </a:r>
          </a:p>
          <a:p/>
          <a:p>
            <a:r>
              <a:t>3:15 PM–3:25 PM | 6 Check | 10 min</a:t>
            </a:r>
          </a:p>
          <a:p>
            <a:r>
              <a:t>Instructor: Exercise Book 13A Q4 and Q6; label the sides and chosen ratio.</a:t>
            </a:r>
          </a:p>
          <a:p>
            <a:r>
              <a:t>Learners: Solve without displayed answers; include working, units and final rounding.</a:t>
            </a:r>
          </a:p>
          <a:p>
            <a:r>
              <a:t>Materials/check: Teacher answers below</a:t>
            </a:r>
          </a:p>
          <a:p>
            <a:r>
              <a:t>Source: 'Math Week 6'!A157:F157</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6'!A158:F158</a:t>
            </a:r>
          </a:p>
          <a:p/>
          <a:p>
            <a:r>
              <a:t>INSTRUCTOR ONLY: REVEAL ASSESSMENT ANSWERS AFTER THE ATTEMPT</a:t>
            </a:r>
          </a:p>
          <a:p>
            <a:r>
              <a:t>13A Q4 = 344.45 mm; Q6 = 400.71 mm. Answer Key p.34. Answer Key pp.33–35</a:t>
            </a:r>
          </a:p>
          <a:p/>
          <a:p>
            <a:r>
              <a:t>Introduce inverse trig for angles; retain a foundation pathway for learners needing more right-triangle practice.</a:t>
            </a:r>
          </a:p>
          <a:p/>
          <a:p>
            <a:r>
              <a:t>Sources: 'Math Week 6'!A17:E17; 'Carpentry Schedule'!E62; 'Math Week 6'!A146</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Introduce inverse trig for angles; retain a foundation pathway for learners needing more right-triangle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Resources/ACCESS-Tools/books/ACCESS-Trades-Numeracy-Textbook.pdf#page=195" TargetMode="External"/><Relationship Id="rId6" Type="http://schemas.openxmlformats.org/officeDocument/2006/relationships/hyperlink" Target="../Resources/ACCESS-Tools/books/ACCESS-Trades-Numeracy-Exercise-Book.pdf#page=7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Resources/ACCESS-Tools/books/ACCESS-Trades-Numeracy-Textbook.pdf#page=195" TargetMode="External"/><Relationship Id="rId6" Type="http://schemas.openxmlformats.org/officeDocument/2006/relationships/hyperlink" Target="../Resources/ACCESS-Tools/books/ACCESS-Trades-Numeracy-Exercise-Book.pdf#page=7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Resources/ACCESS-Tools/books/ACCESS-Trades-Numeracy-Textbook.pdf#page=194" TargetMode="External"/><Relationship Id="rId6" Type="http://schemas.openxmlformats.org/officeDocument/2006/relationships/hyperlink" Target="../Resources/ACCESS-Tools/books/ACCESS-Trades-Numeracy-Exercise-Book.pdf#page=7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Resources/ACCESS-Tools/books/ACCESS-Trades-Numeracy-Textbook.pdf#page=194" TargetMode="External"/><Relationship Id="rId6" Type="http://schemas.openxmlformats.org/officeDocument/2006/relationships/hyperlink" Target="../Resources/ACCESS-Tools/books/ACCESS-Trades-Numeracy-Exercise-Book.pdf#page=7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Resources/ACCESS-Tools/books/ACCESS-Trades-Numeracy-Textbook.pdf#page=194" TargetMode="External"/><Relationship Id="rId6" Type="http://schemas.openxmlformats.org/officeDocument/2006/relationships/hyperlink" Target="../Resources/ACCESS-Tools/books/ACCESS-Trades-Numeracy-Exercise-Book.pdf#page=7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Resources/ACCESS-Tools/books/ACCESS-Trades-Numeracy-Textbook.pdf#page=194" TargetMode="External"/><Relationship Id="rId6" Type="http://schemas.openxmlformats.org/officeDocument/2006/relationships/hyperlink" Target="../Resources/ACCESS-Tools/books/ACCESS-Trades-Numeracy-Exercise-Book.pdf#page=7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Resources/ACCESS-Tools/books/ACCESS-Trades-Numeracy-Textbook.pdf#page=194" TargetMode="External"/><Relationship Id="rId6" Type="http://schemas.openxmlformats.org/officeDocument/2006/relationships/hyperlink" Target="../Resources/ACCESS-Tools/books/ACCESS-Trades-Numeracy-Exercise-Book.pdf#page=7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Resources/ACCESS-Tools/books/ACCESS-Trades-Numeracy-Textbook.pdf#page=194" TargetMode="External"/><Relationship Id="rId5" Type="http://schemas.openxmlformats.org/officeDocument/2006/relationships/hyperlink" Target="../Resources/ACCESS-Tools/books/ACCESS-Trades-Numeracy-Exercise-Book.pdf#page=7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Resources/ACCESS-Tools/books/ACCESS-Trades-Numeracy-Textbook.pdf#page=202"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Resources/ACCESS-Tools/books/ACCESS-Trades-Numeracy-Textbook.pdf#page=205"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Resources/ACCESS-Tools/books/ACCESS-Trades-Numeracy-Textbook.pdf#page=202"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Resources/ACCESS-Tools/books/ACCESS-Trades-Numeracy-Textbook.pdf#page=202"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Resources/ACCESS-Tools/books/ACCESS-Trades-Numeracy-Textbook.pdf#page=202"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Resources/ACCESS-Tools/books/ACCESS-Trades-Numeracy-Textbook.pdf#page=202"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Resources/ACCESS-Tools/books/ACCESS-Trades-Numeracy-Textbook.pdf#page=202" TargetMode="External"/><Relationship Id="rId6" Type="http://schemas.openxmlformats.org/officeDocument/2006/relationships/hyperlink" Target="../Resources/ACCESS-Tools/books/ACCESS-Trades-Numeracy-Exercise-Book.pdf#page=8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Resources/ACCESS-Tools/books/ACCESS-Trades-Numeracy-Textbook.pdf#page=202"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Resources/ACCESS-Tools/books/ACCESS-Trades-Numeracy-Textbook.pdf#page=202"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Resources/ACCESS-Tools/books/ACCESS-Trades-Numeracy-Textbook.pdf#page=202" TargetMode="External"/><Relationship Id="rId5" Type="http://schemas.openxmlformats.org/officeDocument/2006/relationships/hyperlink" Target="../Resources/ACCESS-Tools/books/ACCESS-Trades-Numeracy-Exercise-Book.pdf#page=8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21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December 3,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Checking square, diagonals and layout</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SOH CAH TOA and missing sides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21  •  2026-12-03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21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Checking square, diagonals and layout</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7</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SOH CAH TOA and missing sides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8</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Checking square, diagonals and layout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Apply a scaled 3–4–5 triangle and compare diagonals to diagnose an out-of-square frame.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12.5–12.6 pp.194–196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12A Q17–18 (p.76); 12B Q4–5,7 (pp.77–78)</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Discuss which three lengths make a scaled 3–4–5 triangle and why both diagonals matter.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Use a scaled 3–4–5 triangle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3² + 4² = 5², so a 3–4–5 triangle has a right angle.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Multiply all three sides by the same factor to scale the check.</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Measure the diagonal between the two marked side lengths.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with the expected diagonal before deciding how to adjust the corner.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the complete frame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the expected diagonal from the stated side lengths.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both measured diagonals with the target and with each other.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the book diagram to identify an open or closed corner.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Recheck dimensions and diagonals after the indicated correction.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W06-L07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Use a target triangle and target diagonal</a:t>
            </a:r>
            <a:endParaRPr lang="en-US" sz="3000" dirty="0"/>
          </a:p>
        </p:txBody>
      </p:sp>
      <p:sp>
        <p:nvSpPr>
          <p:cNvPr id="5" name="Text 3"/>
          <p:cNvSpPr/>
          <p:nvPr/>
        </p:nvSpPr>
        <p:spPr>
          <a:xfrm>
            <a:off x="609585" y="171450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Scaled 3–4–5 • 1.2 m, 1.6 m and 2.0 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1.2² + 1.6² = 4 = 2². With the two legs held at their target lengths,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a 1.998 m diagonal is shorter than target: the corner is closed.</a:t>
            </a:r>
            <a:endParaRPr lang="en-US" sz="1800" dirty="0"/>
          </a:p>
        </p:txBody>
      </p:sp>
      <p:sp>
        <p:nvSpPr>
          <p:cNvPr id="6" name="Text 4"/>
          <p:cNvSpPr/>
          <p:nvPr/>
        </p:nvSpPr>
        <p:spPr>
          <a:xfrm>
            <a:off x="609585" y="3190875"/>
            <a:ext cx="10972526"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Rectangle example • 3,000 mm × 1,800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Target diagonal = √(3,000² + 1,800²) ≈ 3,499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For the book’s 3,505 / 3,492 mm readings, bring the ends of the longer</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diagonal closer together, then recheck dimensions and both diagonals.</a:t>
            </a:r>
            <a:endParaRPr lang="en-US" sz="1800" dirty="0"/>
          </a:p>
        </p:txBody>
      </p:sp>
      <p:sp>
        <p:nvSpPr>
          <p:cNvPr id="7" name="Text 5"/>
          <p:cNvSpPr/>
          <p:nvPr/>
        </p:nvSpPr>
        <p:spPr>
          <a:xfrm>
            <a:off x="609585" y="50006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Mark a paper or clear-floor triangle using the book dimensions.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Rotate measurer and checker roles. Use tape/chalk only—no cutting or power tools.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12B Q4–5 pp.77–78 • Shape Canvas rectangle/diagonal and right triangle • Classroom layout activity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07</a:t>
            </a:r>
          </a:p>
        </p:txBody>
      </p:sp>
    </p:spTree>
    <p:extLst>
      <p:ext uri="{BB962C8B-B14F-4D97-AF65-F5344CB8AC3E}">
        <p14:creationId xmlns:p14="http://schemas.microsoft.com/office/powerpoint/2010/main" val="325324372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W06-L07.png"/>
          <p:cNvPicPr>
            <a:picLocks noChangeAspect="1"/>
          </p:cNvPicPr>
          <p:nvPr/>
        </p:nvPicPr>
        <p:blipFill>
          <a:blip r:embed="rId3"/>
          <a:stretch>
            <a:fillRect/>
          </a:stretch>
        </p:blipFill>
        <p:spPr>
          <a:xfrm>
            <a:off x="1655004" y="1691640"/>
            <a:ext cx="8760071"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p.195 • Example 12.7 — Compare a measured diagonal with the square target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W06-L07-2.png"/>
          <p:cNvPicPr>
            <a:picLocks noChangeAspect="1"/>
          </p:cNvPicPr>
          <p:nvPr/>
        </p:nvPicPr>
        <p:blipFill>
          <a:blip r:embed="rId3"/>
          <a:stretch>
            <a:fillRect/>
          </a:stretch>
        </p:blipFill>
        <p:spPr>
          <a:xfrm>
            <a:off x="685800" y="1839087"/>
            <a:ext cx="10698480" cy="377418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p.195 • Table 12.1 — Scaled 3–4–5 checks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triangle uses 3, 4 and 10 units. Is it a scaled 3–4–5 check?</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The same scale factor must apply to all three lengths, not just the diagonal.</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In pairs, mark a paper or clear-floor triangle using the book dimensions. Rotate measurer/checker roles; no cutting or power tools.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12B Q5,7 and 12A Q17–18. Compare theoretical diagonals to given readings; annotate the adjustment on a sketch.</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 Shape Canvas right triangle for the scaled 3–4–5 check and a rectangle for diagonals.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Mark the book dimensions on paper or a clear classroom floor with tape and chalk.</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target and measured lengths, using Numeracy Hub Measuring Tools square checks to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12B-Q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12B-Q7.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12B Q4 and Q5; state target lengths and the direction of correction.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12B-Q4.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12B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pic>
        <p:nvPicPr>
          <p:cNvPr id="5" name="Picture 4" descr="12B-Q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W06-L07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21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SOH CAH TOA and missing sides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21  •  2026-12-03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SOH CAH TOA and missing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Name sides relative to a marked angle and select sine, cosine or tangent to find a missing side.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13.1–13.3 pp.202–206; sections 2.10 pp.37–38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13A Q1–8 (pp.81–82); 13C Q1–2 (p.85)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Check hypotenuse identification; compare opposite and adjacent when the marked angle changes.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Name sides from the chosen angle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hypotenuse is always opposite the right angle.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opposite side faces the marked angle.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adjacent side touches the marked angle and is not the hypotenuse.</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Changing the marked angle swaps opposite and adjacent.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Choose the ratio for the two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SOH: sin θ = opposite/hypotenuse.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CAH: cos θ = adjacent/hypotenuse.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TOA: tan θ = opposite/adjacent.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Choose the known and wanted sides, rearrange, and use calculator DEG mode.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W06-L08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Label two sides before choosing the ratio</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Known hypotenuse 650 mm; angle 32°; find the opposite side.</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sin 32° = opposite ÷ 650 → opposite = 650 × sin 32° ≈ 344.45 mm.</a:t>
            </a:r>
            <a:endParaRPr lang="en-US" sz="1800" dirty="0"/>
          </a:p>
        </p:txBody>
      </p:sp>
      <p:sp>
        <p:nvSpPr>
          <p:cNvPr id="6" name="Text 4"/>
          <p:cNvSpPr/>
          <p:nvPr/>
        </p:nvSpPr>
        <p:spPr>
          <a:xfrm>
            <a:off x="609585" y="28575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Known adjacent side 900 mm; angle 24°; find the opposite side.</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tan 24° = opposite ÷ 900 → opposite = 900 × tan 24° ≈ 400.71 mm.</a:t>
            </a:r>
            <a:endParaRPr lang="en-US" sz="1800" dirty="0"/>
          </a:p>
        </p:txBody>
      </p:sp>
      <p:sp>
        <p:nvSpPr>
          <p:cNvPr id="7" name="Text 5"/>
          <p:cNvSpPr/>
          <p:nvPr/>
        </p:nvSpPr>
        <p:spPr>
          <a:xfrm>
            <a:off x="609585" y="40481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Calculator check • Use DEG, not RAD. Follow the selected model’s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trig key order. Sketch the angle and side labels before entering keys.</a:t>
            </a:r>
            <a:endParaRPr lang="en-US" sz="1800" dirty="0"/>
          </a:p>
        </p:txBody>
      </p:sp>
      <p:sp>
        <p:nvSpPr>
          <p:cNvPr id="8" name="Text 6"/>
          <p:cNvSpPr/>
          <p:nvPr/>
        </p:nvSpPr>
        <p:spPr>
          <a:xfrm>
            <a:off x="609585" y="509587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13A Q1–5. Say the two relevant side names aloud.</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Choose the ratio, rearrange it, then calculate. Check the result against the sketch.</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13A pp.81–82 • Numeracy Hub → Angles and Trig → Module 3 • Shape Canvas right triangle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26</a:t>
            </a:r>
          </a:p>
        </p:txBody>
      </p:sp>
    </p:spTree>
    <p:extLst>
      <p:ext uri="{BB962C8B-B14F-4D97-AF65-F5344CB8AC3E}">
        <p14:creationId xmlns:p14="http://schemas.microsoft.com/office/powerpoint/2010/main" val="3170009014"/>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202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W06-L08.png"/>
          <p:cNvPicPr>
            <a:picLocks noChangeAspect="1"/>
          </p:cNvPicPr>
          <p:nvPr/>
        </p:nvPicPr>
        <p:blipFill>
          <a:blip r:embed="rId3"/>
          <a:stretch>
            <a:fillRect/>
          </a:stretch>
        </p:blipFill>
        <p:spPr>
          <a:xfrm>
            <a:off x="685800" y="2179915"/>
            <a:ext cx="10698480" cy="309252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p.202 • Figure 13.1 — Opposite and adjacent depend on the marked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205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W06-L08-2.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p.205 • Example 13.2 — Sine and the height of a brace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Does the side drawn at the bottom always count as adjacent?</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Adjacent is defined relative to the marked angle; first identify the hypotenuse and that angle.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13A Q1–5; say the two relevant sides before choosing a ratio.</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13A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1.png"/>
          <p:cNvPicPr>
            <a:picLocks noChangeAspect="1"/>
          </p:cNvPicPr>
          <p:nvPr/>
        </p:nvPicPr>
        <p:blipFill>
          <a:blip r:embed="rId3"/>
          <a:stretch>
            <a:fillRect/>
          </a:stretch>
        </p:blipFill>
        <p:spPr>
          <a:xfrm>
            <a:off x="2396205" y="1773936"/>
            <a:ext cx="7277668" cy="361187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13A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1.png"/>
          <p:cNvPicPr>
            <a:picLocks noChangeAspect="1"/>
          </p:cNvPicPr>
          <p:nvPr/>
        </p:nvPicPr>
        <p:blipFill>
          <a:blip r:embed="rId3"/>
          <a:stretch>
            <a:fillRect/>
          </a:stretch>
        </p:blipFill>
        <p:spPr>
          <a:xfrm>
            <a:off x="4515020" y="1783080"/>
            <a:ext cx="3040038"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Opposite M: e. Adjacent to M: d. Hypotenuse: f. Opposite N: d.</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13A Q6–8 and 13C Q1–2 as ready. Use one Easy Numeracy Hub task and compare with the drawn triangle.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Set the calculator to DEG and label the sides of a right triangle in Shape Canvas.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Hide one side; write the selected ratio and solve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Try the scheduled Easy Right-triangle trigonometry task in Numeracy Hub and compare diagrams.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13C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13A Q4 and Q6; label the sides and chosen ratio.</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13A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W06-L08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21  •  2026-12-03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21 | 2026-12-03</dc:title>
  <dc:creator>ACCESS Trades</dc:creator>
  <cp:lastModifiedBy>Gabriel Ostrowidzki</cp:lastModifiedBy>
  <cp:revision>3</cp:revision>
  <dcterms:created xsi:type="dcterms:W3CDTF">2026-10-19T18:44:52Z</dcterms:created>
  <dcterms:modified xsi:type="dcterms:W3CDTF">2026-10-19T19:22:04Z</dcterms:modified>
  <dc:subject>Checking square, diagonals and layout; SOH CAH TOA and missing sides</dc:subject>
</cp:coreProperties>
</file>