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283" r:id="rId5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291" r:id="rId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8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  <a:p/>
          <a:p>
            <a:r>
              <a:t>ACCESS EXERCISE BOOK: 1A-Q3</a:t>
            </a:r>
          </a:p>
          <a:p>
            <a:r>
              <a:t>Exact question: What is the 7 worth in 37,215?</a:t>
            </a:r>
          </a:p>
          <a:p>
            <a:r>
              <a:t>Instructor answer: 7,000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1 pp.10–21; Chapter 2 pp.28–31,39</a:t>
            </a:r>
          </a:p>
          <a:p>
            <a:r>
              <a:t>ACCESS Trades Numeracy Textbook, PDF/printed p.12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1 pp.10–21; Chapter 2 pp.28–31,39</a:t>
            </a:r>
          </a:p>
          <a:p>
            <a:r>
              <a:t>ACCESS Trades Numeracy Textbook, PDF/printed p.12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p.12 · Figure 1.2: read the cut-list dimensions.</a:t>
            </a:r>
          </a:p>
          <a:p>
            <a:r>
              <a:t>Exact PDF/printed page: 12. ACCESS Textbook excerpt.</a:t>
            </a:r>
          </a:p>
          <a:p>
            <a:r>
              <a:t>Figure 1.2 and Example 1.4 show the cut-list diagram and estimate before exact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p.12 · Example 1.4: estimate before calculating.</a:t>
            </a:r>
          </a:p>
          <a:p>
            <a:r>
              <a:t>Exact PDF/printed page: 12. ACCESS Textbook excerpt.</a:t>
            </a:r>
          </a:p>
          <a:p>
            <a:r>
              <a:t>Figure 1.2 and Example 1.4 show the cut-list diagram and estimate before exact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1A-Q11</a:t>
            </a:r>
          </a:p>
          <a:p>
            <a:r>
              <a:t>Exact question: 3,275 + 1,948</a:t>
            </a:r>
          </a:p>
          <a:p>
            <a:r>
              <a:t>Instructor answer: 5,223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1A-Q11</a:t>
            </a:r>
          </a:p>
          <a:p>
            <a:r>
              <a:t>Exact question: 3,275 + 1,948</a:t>
            </a:r>
          </a:p>
          <a:p>
            <a:r>
              <a:t>Instructor answer: 5,223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Numeracy Hub: select TI-30Xa or Sharp EL-531XT; open Calculator. Shape Canvas: place a rectangle and read its dimension labels in mm.</a:t>
            </a:r>
          </a:p>
          <a:p>
            <a:r>
              <a:t>Supported: In Numeracy Hub Calculator, select TI-30Xa or Sharp EL-531XT and clear the display.</a:t>
            </a:r>
          </a:p>
          <a:p>
            <a:r>
              <a:t>Independent practice: Estimate and write your assigned 1A calculation before checking its result.</a:t>
            </a:r>
          </a:p>
          <a:p>
            <a:r>
              <a:t>Supported preview: In Shape Canvas, label a 1,200 mm × 800 mm rectangle; read both lengths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1A-Q1</a:t>
            </a:r>
          </a:p>
          <a:p>
            <a:r>
              <a:t>Exact question: Write 4,072 in words.</a:t>
            </a:r>
          </a:p>
          <a:p>
            <a:r>
              <a:t>Instructor answer: Four thousand seventy-two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1A-Q2</a:t>
            </a:r>
          </a:p>
          <a:p>
            <a:r>
              <a:t>Exact question: Write in digits: fifteen thousand three hundred eight.</a:t>
            </a:r>
          </a:p>
          <a:p>
            <a:r>
              <a:t>Instructor answer: 15,308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1A-Q5</a:t>
            </a:r>
          </a:p>
          <a:p>
            <a:r>
              <a:t>Exact question: Round 3,462 to the nearest ten.</a:t>
            </a:r>
          </a:p>
          <a:p>
            <a:r>
              <a:t>Instructor answer: 3,460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1A-Q10</a:t>
            </a:r>
          </a:p>
          <a:p>
            <a:r>
              <a:t>Exact question: Estimate 48 × 21 by rounding each number to the nearest ten.</a:t>
            </a:r>
          </a:p>
          <a:p>
            <a:r>
              <a:t>Instructor answer: 1,000 (50 × 20)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W01-L01 | 2026-10-29 | 9:00 AM–10:15 AM | 75 minutes</a:t>
            </a:r>
          </a:p>
          <a:p>
            <a:r>
              <a:t>Whole numbers and estimation</a:t>
            </a:r>
          </a:p>
          <a:p>
            <a:r>
              <a:t>Mode: Math</a:t>
            </a:r>
          </a:p>
          <a:p>
            <a:r>
              <a:t>Goal: Read whole-number quantities; estimate and calculate a cut-list total; explain why an answer is reasonable.</a:t>
            </a:r>
          </a:p>
          <a:p>
            <a:r>
              <a:t>Read: Textbook Chapter 1 pp.10–21; Chapter 2 pp.28–31,39</a:t>
            </a:r>
          </a:p>
          <a:p>
            <a:r>
              <a:t>Practise: Exercise Book 1A Q1–10 (p.6), Q11–17 (pp.6–7)</a:t>
            </a:r>
          </a:p>
          <a:p>
            <a:r>
              <a:t>Tool: Numeracy Hub: select TI-30Xa or Sharp EL-531XT; open Calculator. Shape Canvas: place a rectangle and read its dimension labels in mm.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Exercise Book 1A Q3,5,9 without a calculator. Ask which operation finds an offcut.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place value, rounding and the steps to estimate, calculate and check using Textbook Chapter 1. Demonstrate clearing and matching the selected calculator model.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Work Exercise Book 1A Q11,13,15 together. Learners estimate first, then compare hand and calculator methods.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1A Q1–10 and Q12,14,16,17 as time allows. On Shape Canvas, set a rectangle to 1,200 mm by 800 mm and read both sizes; geometry is preview only.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1A Q5 and Q10; explain one estimate and show the operation used.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1A Q5 = 3,460; Q10 estimate = 1,000. Answer Key p.6. Answer Key pp.5–8</a:t>
            </a:r>
          </a:p>
          <a:p/>
          <a:p>
            <a:r>
              <a:t>Next: practise calculator keys and checking methods.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Next: practise calculator keys and checking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2 pp.28–33,39; Chapter 1 pp.12–21</a:t>
            </a:r>
          </a:p>
          <a:p>
            <a:r>
              <a:t>ACCESS Trades Numeracy Textbook, PDF/printed p.29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2 pp.28–33,39; Chapter 1 pp.12–21</a:t>
            </a:r>
          </a:p>
          <a:p>
            <a:r>
              <a:t>ACCESS Trades Numeracy Textbook, PDF/printed p.29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p.29 · Table 2.1: key differences between the two calculators.</a:t>
            </a:r>
          </a:p>
          <a:p>
            <a:r>
              <a:t>Exact PDF/printed page: 29. ACCESS Textbook excerpt.</a:t>
            </a:r>
          </a:p>
          <a:p>
            <a:r>
              <a:t>Table 2.1 and the Sharp faceplate locate the different clear, correction, root and sign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p.32 · Square and square-root key sequences; each checks the other.</a:t>
            </a:r>
          </a:p>
          <a:p>
            <a:r>
              <a:t>Exact PDF/printed page: 32. ACCESS Textbook excerpt.</a:t>
            </a:r>
          </a:p>
          <a:p>
            <a:r>
              <a:t>Table 2.1 and the Sharp faceplate locate the different clear, correction, root and sign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2A-Q1</a:t>
            </a:r>
          </a:p>
          <a:p>
            <a:r>
              <a:t>Exact question: 3,640 + 1,295 − 788</a:t>
            </a:r>
          </a:p>
          <a:p>
            <a:r>
              <a:t>Instructor answer: 4,147. TI-30Xa: 3640, +, 1295, −, 788, =. Sharp: 3640, +, 1295, −, 788, =.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2A-Q1</a:t>
            </a:r>
          </a:p>
          <a:p>
            <a:r>
              <a:t>Exact question: 3,640 + 1,295 − 788</a:t>
            </a:r>
          </a:p>
          <a:p>
            <a:r>
              <a:t>Instructor answer: 4,147. TI-30Xa: 3640, +, 1295, −, 788, =. Sharp: 3640, +, 1295, −, 788, =.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Numeracy Hub: Calculator: choose TI-30Xa or Sharp EL-531XT. Keep the same model throughout.</a:t>
            </a:r>
          </a:p>
          <a:p>
            <a:r>
              <a:t>Supported: Choose one calculator model in Numeracy Hub; locate clear, square, root and sign keys.</a:t>
            </a:r>
          </a:p>
          <a:p>
            <a:r>
              <a:t>Supported: Work 2A Q1–3 and record each model-specific key sequence beside the written calculation.</a:t>
            </a:r>
          </a:p>
          <a:p>
            <a:r>
              <a:t>Independent practice: Check two completed calculations using inverse operations; retain the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2A-Q6</a:t>
            </a:r>
          </a:p>
          <a:p>
            <a:r>
              <a:t>Exact question: (−15) × 6 + 40</a:t>
            </a:r>
          </a:p>
          <a:p>
            <a:r>
              <a:t>Instructor answer: −50. TI-30Xa: 15, +⇄−, ×, 6, +, 40, =. Sharp: +/−, 15, ×, 6, +, 40, =.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1A-Q11</a:t>
            </a:r>
          </a:p>
          <a:p>
            <a:r>
              <a:t>Exact question: 3,275 + 1,948</a:t>
            </a:r>
          </a:p>
          <a:p>
            <a:r>
              <a:t>Instructor answer: 5,223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2A-Q1</a:t>
            </a:r>
          </a:p>
          <a:p>
            <a:r>
              <a:t>Exact question: 3,640 + 1,295 − 788</a:t>
            </a:r>
          </a:p>
          <a:p>
            <a:r>
              <a:t>Instructor answer: 4,147. TI-30Xa: 3640, +, 1295, −, 788, =. Sharp: 3640, +, 1295, −, 788, =.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2A-Q3</a:t>
            </a:r>
          </a:p>
          <a:p>
            <a:r>
              <a:t>Exact question: √1,369</a:t>
            </a:r>
          </a:p>
          <a:p>
            <a:r>
              <a:t>Instructor answer: 37. TI-30Xa: 1369, √x. Sharp: √, 1369, =.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W01-L02 | 2026-10-29 | 10:30 AM–12:00 PM | 90 minutes</a:t>
            </a:r>
          </a:p>
          <a:p>
            <a:r>
              <a:t>Calculator basics and checking</a:t>
            </a:r>
          </a:p>
          <a:p>
            <a:r>
              <a:t>Mode: Calculation Practice</a:t>
            </a:r>
          </a:p>
          <a:p>
            <a:r>
              <a:t>Goal: Use the chosen calculator correctly and check an answer with an estimate or inverse operation.</a:t>
            </a:r>
          </a:p>
          <a:p>
            <a:r>
              <a:t>Read: Textbook Chapter 2 pp.28–33,39; Chapter 1 pp.12–21</a:t>
            </a:r>
          </a:p>
          <a:p>
            <a:r>
              <a:t>Practise: Exercise Book 2A Q1–3,6 (p.13); 1A Q11–17,20 (pp.6–7)</a:t>
            </a:r>
          </a:p>
          <a:p>
            <a:r>
              <a:t>Tool: Numeracy Hub: Calculator: choose TI-30Xa or Sharp EL-531XT. Keep the same model throughout.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learners to clear the display and enter 23 × 23. Check which model they use.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Demonstrate clear, correction, square, square root and change-sign keys. Use the model-specific key sequences in the Textbook.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Solve Exercise Book 2A questions 1–3 together. Compare square-root entry on the two models; estimate before checking.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2A question 6 and selected 1A questions 11–17,20. Record the calculation, keys and answer; use inverse operations to verify two results.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Exercise Book 2A questions 1 and 3 independently. Explain one checking method.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2A question 1 = 4,147; question 3 = 37. Answer Key page 8. Answer Key pp.6,8</a:t>
            </a:r>
          </a:p>
          <a:p/>
          <a:p>
            <a:r>
              <a:t>Next: choose operations for quantities, averages and purchase decisions.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Next: choose operations for quantities, averages and purchase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2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0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0" TargetMode="External"/><Relationship Id="rId5" Type="http://schemas.openxmlformats.org/officeDocument/2006/relationships/hyperlink" Target="../../../books/ACCESS-Trades-Numeracy-Exercise-Book.pdf#page=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9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32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28" TargetMode="External"/><Relationship Id="rId6" Type="http://schemas.openxmlformats.org/officeDocument/2006/relationships/hyperlink" Target="../../../books/ACCESS-Trades-Numeracy-Exercise-Book.pdf#page=1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28" TargetMode="External"/><Relationship Id="rId5" Type="http://schemas.openxmlformats.org/officeDocument/2006/relationships/hyperlink" Target="../../../books/ACCESS-Trades-Numeracy-Exercise-Book.pdf#page=13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01  |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October 29,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Whole numbers and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Calculator basics and checking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Calculation Practice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1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01  •  2026-10-29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01  /  WEEK 1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Whole numbers and estimation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1, Lesson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Calculator basics and checking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Calculation Practice  •  Math Week 1, Lesson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Whole numbers and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Read whole-number quantities; estimate and calculate a cut-list total; explain why an answer is reasonable.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1A Q1–10 (p.6), Q11–17 (pp.6–7)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Exercise Book 1A Q3,5,9 without a calculator. Discuss which operation finds an offcut.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Q1–10 (p.6), Q11–17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1A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 the value before calculating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digit’s place tells its value: in 4,072, the 4 means four thousand.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Read the quantity and unit together; 1,200 mm is a length.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When rounding, name the target place before changing any digits.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 estimate uses simpler nearby values; it predicts the size of the answer.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Choose an operation that matches the quantity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 separate quantities to find a total.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Subtract the amount used from the starting amount to find what remains.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Multiply equal groups; divide to share equally or count groups.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Compare the exact result with the estimate and explain any large difference.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457200"/>
            <a:ext cx="941832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W01-L01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600" y="838200"/>
            <a:ext cx="10972800" cy="461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estimate should agree with the scale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600" y="1778000"/>
            <a:ext cx="1097280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example: 48 packs contain 21 fasteners each.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600" y="2336800"/>
            <a:ext cx="10972800" cy="738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Estimate: 50 × 20 = 1,000 fasteners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Calculate: 48 × 21 = 1,008 fasteners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600" y="3683000"/>
            <a:ext cx="10972800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answer is close to 1,000—not 100 or 10,000.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calculator result still needs a quantity, unit and reason.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600" y="4660900"/>
            <a:ext cx="1097280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together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09600" y="5219700"/>
            <a:ext cx="10972800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1A Q11, 13 and 15.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first; alternate solver and checker. Compare hand and calculator methods.</a:t>
            </a:r>
            <a:endParaRPr 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2FC6BA-9B43-4F34-82CD-E791E69B6F86}"/>
              </a:ext>
            </a:extLst>
          </p:cNvPr>
          <p:cNvSpPr txBox="1"/>
          <p:nvPr/>
        </p:nvSpPr>
        <p:spPr>
          <a:xfrm>
            <a:off x="609600" y="6345936"/>
            <a:ext cx="1088136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>
                <a:solidFill>
                  <a:srgbClr val="4A4E54"/>
                </a:solidFill>
              </a:rPr>
              <a:t>W1 L1 • Selected calculator: TI-30Xa or Sharp EL-531XT</a:t>
            </a:r>
            <a:endParaRPr lang="en-CA" sz="1050">
              <a:solidFill>
                <a:srgbClr val="4A4E54"/>
              </a:solidFill>
            </a:endParaRP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08</a:t>
            </a:r>
          </a:p>
        </p:txBody>
      </p:sp>
    </p:spTree>
    <p:extLst>
      <p:ext uri="{BB962C8B-B14F-4D97-AF65-F5344CB8AC3E}">
        <p14:creationId xmlns:p14="http://schemas.microsoft.com/office/powerpoint/2010/main" val="2148381049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W01-L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0523"/>
            <a:ext cx="10698480" cy="2911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p.12 · Figure 1.2: read the cut-list dimensions.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W01-L0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18126"/>
            <a:ext cx="10698480" cy="3216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p.12 · Example 1.4: estimate before calculating.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estimates 48 × 21 as 1,000, then accepts a calculator result of 100. What check failed?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result is about ten times too small. Re-enter the intended multiplication and compare again.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1A Q11,13,15 together. Estimate first, then compare hand and calculator methods.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Q1–10 (p.6), Q11–17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5,223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1A Q1–10 and Q12,14,16,17 as time allows. On Shape Canvas, set a rectangle to 1,200 mm by 800 mm and read both sizes; geometry is preview only.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Q1–10 (p.6), Q11–17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shape-rectangle-m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In Numeracy Hub Calculator, select TI-30Xa or Sharp EL-531XT and clear the display.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Estimate and write your assigned 1A calculation before checking its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 preview: In Shape Canvas, label a 1,200 mm × 800 mm rectangle; read both lengths only.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1A Q5 and Q10; explain one estimate and show the operation used.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Q1–10 (p.6), Q11–17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1A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pic>
        <p:nvPicPr>
          <p:cNvPr id="5" name="Picture 4" descr="1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W01-L01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 pp.10–21; Chapter 2 pp.28–31,39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Q1–10 (p.6), Q11–17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01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Calculator basics and checking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01  •  2026-10-29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Calculator basics and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Use the chosen calculator correctly and check an answer with an estimate or inverse operation.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2A Q1–3,6 (p.13); 1A Q11–17,20 (pp.6–7)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Try to clear the display and enter 23 × 23. Check which model they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2A Q1–3,6 (p.13); 1A Q11–17,20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Know what the key will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Clear the old calculation before beginning a new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correction key to repair an entry; reread the intended calculation.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square key multiplies a number by itself; square root reverses this for positive values.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Change sign reverses a value’s sign; subtraction finds the difference between two values.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Keep a record that can be checked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calculation → key sequence → result, using your selected calculator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TI-30Xa and Sharp, follow the textbook’s own square-root entry sequence.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an inverse operation: multiply a quotient back or square a square-root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an estimate as a separate check that the answer has the expected size.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457200"/>
            <a:ext cx="941832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W01-L02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600" y="838200"/>
            <a:ext cx="10972800" cy="461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the operation to check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600" y="1739900"/>
            <a:ext cx="10972800" cy="738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23² = 23 × 23 = 529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√529 = 23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600" y="2908300"/>
            <a:ext cx="10972800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Squaring and square root undo one another for these positive values.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intended calculation before entering keys.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600" y="3924300"/>
            <a:ext cx="1097280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classroom example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09600" y="4445000"/>
            <a:ext cx="10972800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2,688 ÷ 12 = 224 pieces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224 × 12 = 2,688. An estimate near 225 supports the result.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600" y="5295900"/>
            <a:ext cx="10972800" cy="323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together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9600" y="5791200"/>
            <a:ext cx="1097280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2A Q1–3, p.13. Record calculation, keys and answer; compare root entry on the two models.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AE2B41-EDAA-455B-AAD0-EFBB27DB916B}"/>
              </a:ext>
            </a:extLst>
          </p:cNvPr>
          <p:cNvSpPr txBox="1"/>
          <p:nvPr/>
        </p:nvSpPr>
        <p:spPr>
          <a:xfrm>
            <a:off x="609600" y="6345936"/>
            <a:ext cx="1088136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50">
                <a:solidFill>
                  <a:srgbClr val="4A4E54"/>
                </a:solidFill>
              </a:rPr>
              <a:t>W1 L2 • Change-sign and subtraction are different operations</a:t>
            </a:r>
            <a:endParaRPr lang="en-CA" sz="1050">
              <a:solidFill>
                <a:srgbClr val="4A4E54"/>
              </a:solidFill>
            </a:endParaRP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29</a:t>
            </a:r>
          </a:p>
        </p:txBody>
      </p:sp>
    </p:spTree>
    <p:extLst>
      <p:ext uri="{BB962C8B-B14F-4D97-AF65-F5344CB8AC3E}">
        <p14:creationId xmlns:p14="http://schemas.microsoft.com/office/powerpoint/2010/main" val="3473824691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W01-L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324" y="1691640"/>
            <a:ext cx="915543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p.29 · Table 2.1: key differences between the two calculators.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W01-L0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681" y="1691640"/>
            <a:ext cx="9676717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p.32 · Square and square-root key sequences; each checks the other.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Does pressing the subtraction key necessarily enter a negative number correctly?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Use the selected model’s change-sign key for a negative value; use subtraction between values.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2A questions 1–3 together. Compare square-root entry on the two models; estimate before checking.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2A Q1–3,6 (p.13); 1A Q11–17,20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2A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2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2A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2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4,147. TI-30Xa: 3640, +, 1295, −, 788, =. Sharp: 3640, +, 1295, −, 788, =.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2A question 6 and selected 1A questions 11–17,20. Record the calculation, keys and answer; use inverse operations to verify two results.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2A Q1–3,6 (p.13); 1A Q11–17,20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hub-cal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Choose one calculator model in Numeracy Hub; locate clear, square, root and sign keys.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Work 2A Q1–3 and record each model-specific key sequence beside the written calculation.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Check two completed calculations using inverse operations; retain the working.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2A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2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1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Redo Exercise Book 2A questions 1 and 3 independently. Explain one checking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2A Q1–3,6 (p.13); 1A Q11–17,20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2A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2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2A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pic>
        <p:nvPicPr>
          <p:cNvPr id="5" name="Picture 4" descr="2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W01-L02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pp.28–33,39; Chapter 1 pp.12–21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2A Q1–3,6 (p.13); 1A Q11–17,20 (pp.6–7)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01  •  2026-10-29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01 | 2026-10-29</dc:title>
  <dc:creator>ACCESS Trades</dc:creator>
  <dc:subject>Whole numbers and estimation; Calculator basics and checking</dc:subject>
</cp:coreProperties>
</file>