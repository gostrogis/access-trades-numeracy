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283" r:id="rId5"/>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291" r:id="rId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8.xml"/><Relationship Id="rId8"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Worked teaching example retained from original slide 4. Use within the scheduled Teach block.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Worked teaching example retained from original slide 7. Use within the scheduled Teach block.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deck uses only this date’s math blocks from the current visible Carpentry Schedule and Math Week sheets.</a:t>
            </a:r>
          </a:p>
          <a:p>
            <a:r>
              <a:t>'Carpentry Schedule'!E3 | 'Math Week 1'!A19</a:t>
            </a:r>
          </a:p>
          <a:p>
            <a:r>
              <a:t>'Carpentry Schedule'!E5 | 'Math Week 1'!A36</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Start, 9:00 AM–9:05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Recall, 9:05 AM–9:10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Recall, 9:05 AM–9:10 AM. All slides with this phase share these 5 minutes; do not restart the time allocation for each slide.</a:t>
            </a:r>
          </a:p>
          <a:p/>
          <a:p>
            <a:r>
              <a:t>ACCESS EXERCISE BOOK: 1A-Q3</a:t>
            </a:r>
          </a:p>
          <a:p>
            <a:r>
              <a:t>Exact question: What is the 7 worth in 37,215?</a:t>
            </a:r>
          </a:p>
          <a:p>
            <a:r>
              <a:t>Instructor answer: 7,000</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Teach, 9:10 AM–9:25 AM. All slides with this phase share these 15 minutes; do not restart the time allocation for each slide.</a:t>
            </a:r>
          </a:p>
          <a:p/>
          <a:p>
            <a:r>
              <a:t>Teaching content sources:</a:t>
            </a:r>
          </a:p>
          <a:p>
            <a:r>
              <a:t>'Math Week 1'!A19</a:t>
            </a:r>
          </a:p>
          <a:p>
            <a:r>
              <a:t>'Math Week 1'!B21</a:t>
            </a:r>
          </a:p>
          <a:p>
            <a:r>
              <a:t>'Math Week 1'!B23</a:t>
            </a:r>
          </a:p>
          <a:p>
            <a:r>
              <a:t>Textbook Chapter 1 pp.10–21; Chapter 2 pp.28–31,39</a:t>
            </a:r>
          </a:p>
          <a:p>
            <a:r>
              <a:t>ACCESS CARPENTRY SLIDES.pptx slides 3–5</a:t>
            </a:r>
          </a:p>
          <a:p>
            <a:r>
              <a:t>ACCESS Trades Numeracy Textbook, PDF/printed p.12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Teach, 9:10 AM–9:25 AM. All slides with this phase share these 15 minutes; do not restart the time allocation for each slide.</a:t>
            </a:r>
          </a:p>
          <a:p/>
          <a:p>
            <a:r>
              <a:t>Teaching content sources:</a:t>
            </a:r>
          </a:p>
          <a:p>
            <a:r>
              <a:t>'Math Week 1'!A19</a:t>
            </a:r>
          </a:p>
          <a:p>
            <a:r>
              <a:t>'Math Week 1'!B21</a:t>
            </a:r>
          </a:p>
          <a:p>
            <a:r>
              <a:t>'Math Week 1'!B23</a:t>
            </a:r>
          </a:p>
          <a:p>
            <a:r>
              <a:t>Textbook Chapter 1 pp.10–21; Chapter 2 pp.28–31,39</a:t>
            </a:r>
          </a:p>
          <a:p>
            <a:r>
              <a:t>ACCESS CARPENTRY SLIDES.pptx slides 3–5</a:t>
            </a:r>
          </a:p>
          <a:p>
            <a:r>
              <a:t>ACCESS Trades Numeracy Textbook, PDF/printed p.12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Teach, 9:10 AM–9:25 AM. All slides with this phase share these 15 minutes; do not restart the time allocation for each slide.</a:t>
            </a:r>
          </a:p>
          <a:p/>
          <a:p>
            <a:r>
              <a:t>Textbook visual: Textbook p.12 · Figure 1.2: read the cut-list dimensions.</a:t>
            </a:r>
          </a:p>
          <a:p>
            <a:r>
              <a:t>Exact PDF/printed page: 12. Excerpt reproduced from the supplied ACCESS Textbook.</a:t>
            </a:r>
          </a:p>
          <a:p>
            <a:r>
              <a:t>Figure 1.2 and Example 1.4 show the cut-list diagram and estimate before exact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Teach, 9:10 AM–9:25 AM. All slides with this phase share these 15 minutes; do not restart the time allocation for each slide.</a:t>
            </a:r>
          </a:p>
          <a:p/>
          <a:p>
            <a:r>
              <a:t>Textbook visual: Textbook p.12 · Example 1.4: estimate before calculating.</a:t>
            </a:r>
          </a:p>
          <a:p>
            <a:r>
              <a:t>Exact PDF/printed page: 12. Excerpt reproduced from the supplied ACCESS Textbook.</a:t>
            </a:r>
          </a:p>
          <a:p>
            <a:r>
              <a:t>Figure 1.2 and Example 1.4 show the cut-list diagram and estimate before exact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Teach, 9:10 AM–9:25 AM. All slides with this phase share these 15 minutes; do not restart the time allocation for each slide.</a:t>
            </a:r>
          </a:p>
          <a:p/>
          <a:p>
            <a:r>
              <a:t>Pause on the prompt before discussing the correction. This is included within the scheduled Teach block, not an additional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Together, 9:25 AM–9:40 AM. All slides with this phase share these 15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Together, 9:25 AM–9:40 AM. All slides with this phase share these 15 minutes; do not restart the time allocation for each slide.</a:t>
            </a:r>
          </a:p>
          <a:p/>
          <a:p>
            <a:r>
              <a:t>ACCESS EXERCISE BOOK: 1A-Q11</a:t>
            </a:r>
          </a:p>
          <a:p>
            <a:r>
              <a:t>Exact question: 3,275 + 1,948</a:t>
            </a:r>
          </a:p>
          <a:p>
            <a:r>
              <a:t>Instructor answer: 5,223</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Together, 9:25 AM–9:40 AM. All slides with this phase share these 15 minutes; do not restart the time allocation for each slide.</a:t>
            </a:r>
          </a:p>
          <a:p/>
          <a:p>
            <a:r>
              <a:t>ACCESS EXERCISE BOOK: 1A-Q11</a:t>
            </a:r>
          </a:p>
          <a:p>
            <a:r>
              <a:t>Exact question: 3,275 + 1,948</a:t>
            </a:r>
          </a:p>
          <a:p>
            <a:r>
              <a:t>Instructor answer: 5,223</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Practise, 9:40 AM–10:00 AM. All slides with this phase share these 20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Live-tool screenshot, not an answer to the scheduled task. Open the resource link and follow the exact values in the assignment. Keep worked answers hidden until learners attempt the task. Screenshot illustrates navigation and occupies time within the same scheduled practice phase.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Exact scheduled tool activity: Numeracy Hub: select TI-30Xa or Sharp EL-531XT; open Calculator. Shape Canvas: place a rectangle and read its dimension labels in mm.</a:t>
            </a:r>
          </a:p>
          <a:p>
            <a:r>
              <a:t>Supported: In Numeracy Hub Calculator, select TI-30Xa or Sharp EL-531XT and clear the display.</a:t>
            </a:r>
          </a:p>
          <a:p>
            <a:r>
              <a:t>Independent practice: Estimate and write your assigned 1A calculation before checking its result.</a:t>
            </a:r>
          </a:p>
          <a:p>
            <a:r>
              <a:t>Supported preview: In Shape Canvas, label a 1,200 mm × 800 mm rectangle; read both lengths only.</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ACCESS EXERCISE BOOK: 1A-Q1</a:t>
            </a:r>
          </a:p>
          <a:p>
            <a:r>
              <a:t>Exact question: Write 4,072 in words.</a:t>
            </a:r>
          </a:p>
          <a:p>
            <a:r>
              <a:t>Instructor answer: Four thousand seventy-two</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Practise, 9:40 AM–10:00 AM. All slides with this phase share these 20 minutes; do not restart the time allocation for each slide.</a:t>
            </a:r>
          </a:p>
          <a:p/>
          <a:p>
            <a:r>
              <a:t>ACCESS EXERCISE BOOK: 1A-Q2</a:t>
            </a:r>
          </a:p>
          <a:p>
            <a:r>
              <a:t>Exact question: Write in digits: fifteen thousand three hundred eight.</a:t>
            </a:r>
          </a:p>
          <a:p>
            <a:r>
              <a:t>Instructor answer: 15,308</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Check, 10:00 AM–10:10 AM.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Check, 10:00 AM–10:10 AM. All slides with this phase share these 10 minutes; do not restart the time allocation for each slide.</a:t>
            </a:r>
          </a:p>
          <a:p/>
          <a:p>
            <a:r>
              <a:t>ACCESS EXERCISE BOOK: 1A-Q5</a:t>
            </a:r>
          </a:p>
          <a:p>
            <a:r>
              <a:t>Exact question: Round 3,462 to the nearest ten.</a:t>
            </a:r>
          </a:p>
          <a:p>
            <a:r>
              <a:t>Instructor answer: 3,460</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Check, 10:00 AM–10:10 AM. All slides with this phase share these 10 minutes; do not restart the time allocation for each slide.</a:t>
            </a:r>
          </a:p>
          <a:p/>
          <a:p>
            <a:r>
              <a:t>ACCESS EXERCISE BOOK: 1A-Q10</a:t>
            </a:r>
          </a:p>
          <a:p>
            <a:r>
              <a:t>Exact question: Estimate 48 × 21 by rounding each number to the nearest ten.</a:t>
            </a:r>
          </a:p>
          <a:p>
            <a:r>
              <a:t>Instructor answer: 1,000 (50 × 20)</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W01-L01 | 2026-10-29 | 9:00 AM–10:15 AM | 75 minutes</a:t>
            </a:r>
          </a:p>
          <a:p>
            <a:r>
              <a:t>Whole numbers and estimation</a:t>
            </a:r>
          </a:p>
          <a:p>
            <a:r>
              <a:t>Mode: Math</a:t>
            </a:r>
          </a:p>
          <a:p>
            <a:r>
              <a:t>Goal: Read whole-number quantities; estimate and calculate a cut-list total; explain why an answer is reasonable.</a:t>
            </a:r>
          </a:p>
          <a:p>
            <a:r>
              <a:t>Read: Textbook Chapter 1 pp.10–21; Chapter 2 pp.28–31,39</a:t>
            </a:r>
          </a:p>
          <a:p>
            <a:r>
              <a:t>Practise: Exercise Book 1A Q1–10 (p.6), Q11–17 (pp.6–7)</a:t>
            </a:r>
          </a:p>
          <a:p>
            <a:r>
              <a:t>Tool: Numeracy Hub: select TI-30Xa or Sharp EL-531XT; open Calculator. Shape Canvas: place a rectangle and read its dimension labels in mm.</a:t>
            </a:r>
          </a:p>
          <a:p/>
          <a:p>
            <a:r>
              <a:t>EXACT SCHEDULED STEPS</a:t>
            </a:r>
          </a:p>
          <a:p>
            <a:r>
              <a:t>9:00 AM–9:05 AM | 1 Start | 5 min</a:t>
            </a:r>
          </a:p>
          <a:p>
            <a:r>
              <a:t>Instructor: State the goal and connect it to a carpentry drawing or job quantity.</a:t>
            </a:r>
          </a:p>
          <a:p>
            <a:r>
              <a:t>Learners: Name one use for today’s skill.</a:t>
            </a:r>
          </a:p>
          <a:p>
            <a:r>
              <a:t>Materials/check: Notebook; calculator</a:t>
            </a:r>
          </a:p>
          <a:p>
            <a:r>
              <a:t>Source: 'Math Week 1'!A25:F25</a:t>
            </a:r>
          </a:p>
          <a:p/>
          <a:p>
            <a:r>
              <a:t>9:05 AM–9:10 AM | 2 Recall | 5 min</a:t>
            </a:r>
          </a:p>
          <a:p>
            <a:r>
              <a:t>Instructor: Use Exercise Book 1A Q3,5,9 without a calculator. Ask which operation finds an offcut.</a:t>
            </a:r>
          </a:p>
          <a:p>
            <a:r>
              <a:t>Learners: Try first without displayed answers.</a:t>
            </a:r>
          </a:p>
          <a:p>
            <a:r>
              <a:t>Materials/check: Identify support needs</a:t>
            </a:r>
          </a:p>
          <a:p>
            <a:r>
              <a:t>Source: 'Math Week 1'!A26:F26</a:t>
            </a:r>
          </a:p>
          <a:p/>
          <a:p>
            <a:r>
              <a:t>9:10 AM–9:25 AM | 3 Teach | 15 min</a:t>
            </a:r>
          </a:p>
          <a:p>
            <a:r>
              <a:t>Instructor: Model place value, rounding and the steps to estimate, calculate and check using Textbook Chapter 1. Demonstrate clearing and matching the selected calculator model.</a:t>
            </a:r>
          </a:p>
          <a:p>
            <a:r>
              <a:t>Learners: Follow the example; explain the next step.</a:t>
            </a:r>
          </a:p>
          <a:p>
            <a:r>
              <a:t>Materials/check: Textbook; worked example</a:t>
            </a:r>
          </a:p>
          <a:p>
            <a:r>
              <a:t>Source: 'Math Week 1'!A27:F27</a:t>
            </a:r>
          </a:p>
          <a:p/>
          <a:p>
            <a:r>
              <a:t>9:25 AM–9:40 AM | 4 Together | 15 min</a:t>
            </a:r>
          </a:p>
          <a:p>
            <a:r>
              <a:t>Instructor: Work Exercise Book 1A Q11,13,15 together. Learners estimate first, then compare hand and calculator methods.</a:t>
            </a:r>
          </a:p>
          <a:p>
            <a:r>
              <a:t>Learners: Work in pairs; alternate solver and checker.</a:t>
            </a:r>
          </a:p>
          <a:p>
            <a:r>
              <a:t>Materials/check: Exercise Book; tool above</a:t>
            </a:r>
          </a:p>
          <a:p>
            <a:r>
              <a:t>Source: 'Math Week 1'!A28:F28</a:t>
            </a:r>
          </a:p>
          <a:p/>
          <a:p>
            <a:r>
              <a:t>9:40 AM–10:00 AM | 5 Practise | 20 min</a:t>
            </a:r>
          </a:p>
          <a:p>
            <a:r>
              <a:t>Instructor: Complete Exercise Book 1A Q1–10 and Q12,14,16,17 as time allows. On Shape Canvas, set a rectangle to 1,200 mm by 800 mm and read both sizes; geometry is preview only.</a:t>
            </a:r>
          </a:p>
          <a:p>
            <a:r>
              <a:t>Learners: Show working and units; estimate, then check.</a:t>
            </a:r>
          </a:p>
          <a:p>
            <a:r>
              <a:t>Materials/check: Paper first; tool second</a:t>
            </a:r>
          </a:p>
          <a:p>
            <a:r>
              <a:t>Source: 'Math Week 1'!A29:F29</a:t>
            </a:r>
          </a:p>
          <a:p/>
          <a:p>
            <a:r>
              <a:t>10:00 AM–10:10 AM | 6 Check | 10 min</a:t>
            </a:r>
          </a:p>
          <a:p>
            <a:r>
              <a:t>Instructor: Exercise Book 1A Q5 and Q10; explain one estimate and show the operation used.</a:t>
            </a:r>
          </a:p>
          <a:p>
            <a:r>
              <a:t>Learners: Answer independently and show the method.</a:t>
            </a:r>
          </a:p>
          <a:p>
            <a:r>
              <a:t>Materials/check: Teacher answers below</a:t>
            </a:r>
          </a:p>
          <a:p>
            <a:r>
              <a:t>Source: 'Math Week 1'!A30:F30</a:t>
            </a:r>
          </a:p>
          <a:p/>
          <a:p>
            <a:r>
              <a:t>10:10 AM–10:15 AM | 7 Wrap up | 5 min</a:t>
            </a:r>
          </a:p>
          <a:p>
            <a:r>
              <a:t>Instructor: Ask for one learning point and one skill to practise next.</a:t>
            </a:r>
          </a:p>
          <a:p>
            <a:r>
              <a:t>Learners: Record a takeaway and next action.</a:t>
            </a:r>
          </a:p>
          <a:p>
            <a:r>
              <a:t>Materials/check: Notebook / error log</a:t>
            </a:r>
          </a:p>
          <a:p>
            <a:r>
              <a:t>Source: 'Math Week 1'!A31:F31</a:t>
            </a:r>
          </a:p>
          <a:p/>
          <a:p>
            <a:r>
              <a:t>INSTRUCTOR ONLY: REVEAL ASSESSMENT ANSWERS AFTER THE ATTEMPT</a:t>
            </a:r>
          </a:p>
          <a:p>
            <a:r>
              <a:t>1A Q5 = 3,460; Q10 estimate = 1,000. Answer Key p.6. Answer Key pp.5–8</a:t>
            </a:r>
          </a:p>
          <a:p/>
          <a:p>
            <a:r>
              <a:t>Next: practise calculator keys and checking methods.</a:t>
            </a:r>
          </a:p>
          <a:p/>
          <a:p>
            <a:r>
              <a:t>Sources: 'Math Week 1'!A10:E10; 'Carpentry Schedule'!E3; 'Math Week 1'!A19</a:t>
            </a:r>
          </a:p>
          <a:p>
            <a:r>
              <a:t>Navigation/resource slides support these scheduled steps and do not add instructional time.</a:t>
            </a:r>
          </a:p>
          <a:p>
            <a:r>
              <a:t>SLIDE PLACEMENT: Wrap up, 10:10 AM–10:15 AM. All slides with this phase share these 5 minutes; do not restart the time allocation for each slide.</a:t>
            </a:r>
          </a:p>
          <a:p/>
          <a:p>
            <a:r>
              <a:t>Next scheduled learning: Next: practise calculator keys and checking methods.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15 minutes. Resume at 10:30 AM. Do not move the following math block into the break.</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Start, 10:30 AM–10:35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Recall, 10:35 AM–10:40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Teaching content sources:</a:t>
            </a:r>
          </a:p>
          <a:p>
            <a:r>
              <a:t>'Math Week 1'!A36</a:t>
            </a:r>
          </a:p>
          <a:p>
            <a:r>
              <a:t>'Math Week 1'!B38</a:t>
            </a:r>
          </a:p>
          <a:p>
            <a:r>
              <a:t>'Math Week 1'!B40</a:t>
            </a:r>
          </a:p>
          <a:p>
            <a:r>
              <a:t>Textbook Chapter 2 pp.28–33,39; Chapter 1 pp.12–21</a:t>
            </a:r>
          </a:p>
          <a:p>
            <a:r>
              <a:t>ACCESS CARPENTRY SLIDES.pptx slides 6–8</a:t>
            </a:r>
          </a:p>
          <a:p>
            <a:r>
              <a:t>ACCESS Trades Numeracy Textbook, PDF/printed p.29</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Teaching content sources:</a:t>
            </a:r>
          </a:p>
          <a:p>
            <a:r>
              <a:t>'Math Week 1'!A36</a:t>
            </a:r>
          </a:p>
          <a:p>
            <a:r>
              <a:t>'Math Week 1'!B38</a:t>
            </a:r>
          </a:p>
          <a:p>
            <a:r>
              <a:t>'Math Week 1'!B40</a:t>
            </a:r>
          </a:p>
          <a:p>
            <a:r>
              <a:t>Textbook Chapter 2 pp.28–33,39; Chapter 1 pp.12–21</a:t>
            </a:r>
          </a:p>
          <a:p>
            <a:r>
              <a:t>ACCESS CARPENTRY SLIDES.pptx slides 6–8</a:t>
            </a:r>
          </a:p>
          <a:p>
            <a:r>
              <a:t>ACCESS Trades Numeracy Textbook, PDF/printed p.29</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Textbook visual: Textbook p.29 · Table 2.1: key differences between the two calculators.</a:t>
            </a:r>
          </a:p>
          <a:p>
            <a:r>
              <a:t>Exact PDF/printed page: 29. Excerpt reproduced from the supplied ACCESS Textbook.</a:t>
            </a:r>
          </a:p>
          <a:p>
            <a:r>
              <a:t>Table 2.1 and the Sharp faceplate locate the different clear, correction, root and sign keys.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Textbook visual: Textbook p.32 · Square and square-root key sequences; each checks the other.</a:t>
            </a:r>
          </a:p>
          <a:p>
            <a:r>
              <a:t>Exact PDF/printed page: 32. Excerpt reproduced from the supplied ACCESS Textbook.</a:t>
            </a:r>
          </a:p>
          <a:p>
            <a:r>
              <a:t>Table 2.1 and the Sharp faceplate locate the different clear, correction, root and sign keys.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Teach, 10:40 AM–10:55 AM. All slides with this phase share these 15 minutes; do not restart the time allocation for each slide.</a:t>
            </a:r>
          </a:p>
          <a:p/>
          <a:p>
            <a:r>
              <a:t>Pause on the prompt before discussing the correction. This is included within the scheduled Teach block, not an additional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Together, 10:55 AM–11:10 AM. All slides with this phase share these 15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Together, 10:55 AM–11:10 AM. All slides with this phase share these 15 minutes; do not restart the time allocation for each slide.</a:t>
            </a:r>
          </a:p>
          <a:p/>
          <a:p>
            <a:r>
              <a:t>ACCESS EXERCISE BOOK: 2A-Q1</a:t>
            </a:r>
          </a:p>
          <a:p>
            <a:r>
              <a:t>Exact question: 3,640 + 1,295 − 788</a:t>
            </a:r>
          </a:p>
          <a:p>
            <a:r>
              <a:t>Instructor answer: 4,147. TI-30Xa: 3640, +, 1295, −, 788, =. Sharp: 3640, +, 1295, −, 788, =.</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Together, 10:55 AM–11:10 AM. All slides with this phase share these 15 minutes; do not restart the time allocation for each slide.</a:t>
            </a:r>
          </a:p>
          <a:p/>
          <a:p>
            <a:r>
              <a:t>ACCESS EXERCISE BOOK: 2A-Q1</a:t>
            </a:r>
          </a:p>
          <a:p>
            <a:r>
              <a:t>Exact question: 3,640 + 1,295 − 788</a:t>
            </a:r>
          </a:p>
          <a:p>
            <a:r>
              <a:t>Instructor answer: 4,147. TI-30Xa: 3640, +, 1295, −, 788, =. Sharp: 3640, +, 1295, −, 788, =.</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Practise, 11:10 AM–11:45 AM. All slides with this phase share these 35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Live-tool screenshot, not an answer to the scheduled task. Open the resource link and follow the exact values in the assignment. Keep worked answers hidden until learners attempt the task. Screenshot illustrates navigation and occupies time within the same scheduled practice phase.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Exact scheduled tool activity: Numeracy Hub: Calculator: choose TI-30Xa or Sharp EL-531XT. Keep the same model throughout.</a:t>
            </a:r>
          </a:p>
          <a:p>
            <a:r>
              <a:t>Supported: Choose one calculator model in Numeracy Hub; locate clear, square, root and sign keys.</a:t>
            </a:r>
          </a:p>
          <a:p>
            <a:r>
              <a:t>Supported: Work 2A Q1–3 and record each model-specific key sequence beside the written calculation.</a:t>
            </a:r>
          </a:p>
          <a:p>
            <a:r>
              <a:t>Independent practice: Check two completed calculations using inverse operations; retain the working.</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ACCESS EXERCISE BOOK: 2A-Q6</a:t>
            </a:r>
          </a:p>
          <a:p>
            <a:r>
              <a:t>Exact question: (−15) × 6 + 40</a:t>
            </a:r>
          </a:p>
          <a:p>
            <a:r>
              <a:t>Instructor answer: −50. TI-30Xa: 15, +⇄−, ×, 6, +, 40, =. Sharp: +/−, 15, ×, 6, +, 40, =.</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ACCESS EXERCISE BOOK: 1A-Q11</a:t>
            </a:r>
          </a:p>
          <a:p>
            <a:r>
              <a:t>Exact question: 3,275 + 1,948</a:t>
            </a:r>
          </a:p>
          <a:p>
            <a:r>
              <a:t>Instructor answer: 5,223</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Check, 11:45 AM–11:55 AM.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Check, 11:45 AM–11:55 AM. All slides with this phase share these 10 minutes; do not restart the time allocation for each slide.</a:t>
            </a:r>
          </a:p>
          <a:p/>
          <a:p>
            <a:r>
              <a:t>ACCESS EXERCISE BOOK: 2A-Q1</a:t>
            </a:r>
          </a:p>
          <a:p>
            <a:r>
              <a:t>Exact question: 3,640 + 1,295 − 788</a:t>
            </a:r>
          </a:p>
          <a:p>
            <a:r>
              <a:t>Instructor answer: 4,147. TI-30Xa: 3640, +, 1295, −, 788, =. Sharp: 3640, +, 1295, −, 788, =.</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Check, 11:45 AM–11:55 AM. All slides with this phase share these 10 minutes; do not restart the time allocation for each slide.</a:t>
            </a:r>
          </a:p>
          <a:p/>
          <a:p>
            <a:r>
              <a:t>ACCESS EXERCISE BOOK: 2A-Q3</a:t>
            </a:r>
          </a:p>
          <a:p>
            <a:r>
              <a:t>Exact question: √1,369</a:t>
            </a:r>
          </a:p>
          <a:p>
            <a:r>
              <a:t>Instructor answer: 37. TI-30Xa: 1369, √x. Sharp: √, 1369, =.</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W01-L02 | 2026-10-29 | 10:30 AM–12:00 PM | 90 minutes</a:t>
            </a:r>
          </a:p>
          <a:p>
            <a:r>
              <a:t>Calculator basics and checking</a:t>
            </a:r>
          </a:p>
          <a:p>
            <a:r>
              <a:t>Mode: Calculation Practice</a:t>
            </a:r>
          </a:p>
          <a:p>
            <a:r>
              <a:t>Goal: Use the chosen calculator correctly and check an answer with an estimate or inverse operation.</a:t>
            </a:r>
          </a:p>
          <a:p>
            <a:r>
              <a:t>Read: Textbook Chapter 2 pp.28–33,39; Chapter 1 pp.12–21</a:t>
            </a:r>
          </a:p>
          <a:p>
            <a:r>
              <a:t>Practise: Exercise Book 2A Q1–3,6 (p.13); 1A Q11–17,20 (pp.6–7)</a:t>
            </a:r>
          </a:p>
          <a:p>
            <a:r>
              <a:t>Tool: Numeracy Hub: Calculator: choose TI-30Xa or Sharp EL-531XT. Keep the same model throughout.</a:t>
            </a:r>
          </a:p>
          <a:p/>
          <a:p>
            <a:r>
              <a:t>EXACT SCHEDULED STEPS</a:t>
            </a:r>
          </a:p>
          <a:p>
            <a:r>
              <a:t>10:30 AM–10:35 AM | 1 Start | 5 min</a:t>
            </a:r>
          </a:p>
          <a:p>
            <a:r>
              <a:t>Instructor: State the goal and connect it to a carpentry drawing or job quantity.</a:t>
            </a:r>
          </a:p>
          <a:p>
            <a:r>
              <a:t>Learners: Name one use for today’s skill.</a:t>
            </a:r>
          </a:p>
          <a:p>
            <a:r>
              <a:t>Materials/check: Notebook; calculator</a:t>
            </a:r>
          </a:p>
          <a:p>
            <a:r>
              <a:t>Source: 'Math Week 1'!A42:F42</a:t>
            </a:r>
          </a:p>
          <a:p/>
          <a:p>
            <a:r>
              <a:t>10:35 AM–10:40 AM | 2 Recall | 5 min</a:t>
            </a:r>
          </a:p>
          <a:p>
            <a:r>
              <a:t>Instructor: Ask learners to clear the display and enter 23 × 23. Check which model they use.</a:t>
            </a:r>
          </a:p>
          <a:p>
            <a:r>
              <a:t>Learners: Try first without displayed answers.</a:t>
            </a:r>
          </a:p>
          <a:p>
            <a:r>
              <a:t>Materials/check: Identify support needs</a:t>
            </a:r>
          </a:p>
          <a:p>
            <a:r>
              <a:t>Source: 'Math Week 1'!A43:F43</a:t>
            </a:r>
          </a:p>
          <a:p/>
          <a:p>
            <a:r>
              <a:t>10:40 AM–10:55 AM | 3 Teach | 15 min</a:t>
            </a:r>
          </a:p>
          <a:p>
            <a:r>
              <a:t>Instructor: Demonstrate clear, correction, square, square root and change-sign keys. Use the model-specific key sequences in the Textbook.</a:t>
            </a:r>
          </a:p>
          <a:p>
            <a:r>
              <a:t>Learners: Follow the example; explain the next step.</a:t>
            </a:r>
          </a:p>
          <a:p>
            <a:r>
              <a:t>Materials/check: Textbook; worked example</a:t>
            </a:r>
          </a:p>
          <a:p>
            <a:r>
              <a:t>Source: 'Math Week 1'!A44:F44</a:t>
            </a:r>
          </a:p>
          <a:p/>
          <a:p>
            <a:r>
              <a:t>10:55 AM–11:10 AM | 4 Together | 15 min</a:t>
            </a:r>
          </a:p>
          <a:p>
            <a:r>
              <a:t>Instructor: Solve Exercise Book 2A questions 1–3 together. Compare square-root entry on the two models; estimate before checking.</a:t>
            </a:r>
          </a:p>
          <a:p>
            <a:r>
              <a:t>Learners: Work in pairs; alternate solver and checker.</a:t>
            </a:r>
          </a:p>
          <a:p>
            <a:r>
              <a:t>Materials/check: Exercise Book; tool above</a:t>
            </a:r>
          </a:p>
          <a:p>
            <a:r>
              <a:t>Source: 'Math Week 1'!A45:F45</a:t>
            </a:r>
          </a:p>
          <a:p/>
          <a:p>
            <a:r>
              <a:t>11:10 AM–11:45 AM | 5 Practise | 35 min</a:t>
            </a:r>
          </a:p>
          <a:p>
            <a:r>
              <a:t>Instructor: Complete 2A question 6 and selected 1A questions 11–17,20. Record the calculation, keys and answer; use inverse operations to verify two results.</a:t>
            </a:r>
          </a:p>
          <a:p>
            <a:r>
              <a:t>Learners: Show working and units; estimate, then check.</a:t>
            </a:r>
          </a:p>
          <a:p>
            <a:r>
              <a:t>Materials/check: Paper first; tool second</a:t>
            </a:r>
          </a:p>
          <a:p>
            <a:r>
              <a:t>Source: 'Math Week 1'!A46:F46</a:t>
            </a:r>
          </a:p>
          <a:p/>
          <a:p>
            <a:r>
              <a:t>11:45 AM–11:55 AM | 6 Check | 10 min</a:t>
            </a:r>
          </a:p>
          <a:p>
            <a:r>
              <a:t>Instructor: Redo Exercise Book 2A questions 1 and 3 independently. Explain one checking method.</a:t>
            </a:r>
          </a:p>
          <a:p>
            <a:r>
              <a:t>Learners: Answer independently and show the method.</a:t>
            </a:r>
          </a:p>
          <a:p>
            <a:r>
              <a:t>Materials/check: Teacher answers below</a:t>
            </a:r>
          </a:p>
          <a:p>
            <a:r>
              <a:t>Source: 'Math Week 1'!A47:F47</a:t>
            </a:r>
          </a:p>
          <a:p/>
          <a:p>
            <a:r>
              <a:t>11:55 AM–12:00 PM | 7 Wrap up | 5 min</a:t>
            </a:r>
          </a:p>
          <a:p>
            <a:r>
              <a:t>Instructor: Ask for one learning point and one skill to practise next.</a:t>
            </a:r>
          </a:p>
          <a:p>
            <a:r>
              <a:t>Learners: Record a takeaway and next action.</a:t>
            </a:r>
          </a:p>
          <a:p>
            <a:r>
              <a:t>Materials/check: Notebook / error log</a:t>
            </a:r>
          </a:p>
          <a:p>
            <a:r>
              <a:t>Source: 'Math Week 1'!A48:F48</a:t>
            </a:r>
          </a:p>
          <a:p/>
          <a:p>
            <a:r>
              <a:t>INSTRUCTOR ONLY: REVEAL ASSESSMENT ANSWERS AFTER THE ATTEMPT</a:t>
            </a:r>
          </a:p>
          <a:p>
            <a:r>
              <a:t>2A question 1 = 4,147; question 3 = 37. Answer Key page 8. Answer Key pp.6,8</a:t>
            </a:r>
          </a:p>
          <a:p/>
          <a:p>
            <a:r>
              <a:t>Next: choose operations for quantities, averages and purchase decisions.</a:t>
            </a:r>
          </a:p>
          <a:p/>
          <a:p>
            <a:r>
              <a:t>Sources: 'Math Week 1'!A11:E11; 'Carpentry Schedule'!E5; 'Math Week 1'!A36</a:t>
            </a:r>
          </a:p>
          <a:p>
            <a:r>
              <a:t>Navigation/resource slides support these scheduled steps and do not add instructional time.</a:t>
            </a:r>
          </a:p>
          <a:p>
            <a:r>
              <a:t>SLIDE PLACEMENT: Wrap up, 11:55 AM–12:00 PM. All slides with this phase share these 5 minutes; do not restart the time allocation for each slide.</a:t>
            </a:r>
          </a:p>
          <a:p/>
          <a:p>
            <a:r>
              <a:t>Next scheduled learning: Next: choose operations for quantities, averages and purchase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6.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Resources/ACCESS-Tools/books/ACCESS-Trades-Numeracy-Textbook.pdf#page=12"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Resources/ACCESS-Tools/books/ACCESS-Trades-Numeracy-Textbook.pdf#page=12"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Resources/ACCESS-Tools/books/ACCESS-Trades-Numeracy-Textbook.pdf#page=10"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6.png"/><Relationship Id="rId4" Type="http://schemas.openxmlformats.org/officeDocument/2006/relationships/hyperlink" Target="../Resources/ACCESS-Tools/books/ACCESS-Trades-Numeracy-Textbook.pdf#page=10" TargetMode="External"/><Relationship Id="rId5" Type="http://schemas.openxmlformats.org/officeDocument/2006/relationships/hyperlink" Target="../Resources/ACCESS-Tools/books/ACCESS-Trades-Numeracy-Exercise-Book.pdf#page=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6.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hyperlink" Target="../Resources/ACCESS-Tools/books/ACCESS-Trades-Numeracy-Textbook.pdf#page=29"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Resources/ACCESS-Tools/books/ACCESS-Trades-Numeracy-Textbook.pdf#page=32"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Resources/ACCESS-Tools/books/ACCESS-Trades-Numeracy-Textbook.pdf#page=28" TargetMode="External"/><Relationship Id="rId6" Type="http://schemas.openxmlformats.org/officeDocument/2006/relationships/hyperlink" Target="../Resources/ACCESS-Tools/books/ACCESS-Trades-Numeracy-Exercise-Book.pdf#page=13"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6.png"/><Relationship Id="rId4" Type="http://schemas.openxmlformats.org/officeDocument/2006/relationships/hyperlink" Target="../Resources/ACCESS-Tools/books/ACCESS-Trades-Numeracy-Textbook.pdf#page=28" TargetMode="External"/><Relationship Id="rId5" Type="http://schemas.openxmlformats.org/officeDocument/2006/relationships/hyperlink" Target="../Resources/ACCESS-Tools/books/ACCESS-Trades-Numeracy-Exercise-Book.pdf#page=13"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ACCESS  /  CARPENTRY FOUNDATION  /  INTAKE 141</a:t>
            </a:r>
          </a:p>
        </p:txBody>
      </p:sp>
      <p:sp>
        <p:nvSpPr>
          <p:cNvPr id="3" name="TextBox 2"/>
          <p:cNvSpPr txBox="1"/>
          <p:nvPr/>
        </p:nvSpPr>
        <p:spPr>
          <a:xfrm>
            <a:off x="612648" y="1143000"/>
            <a:ext cx="10789920" cy="64008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t>Day 01  |  Thursday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t>October 29,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Whole numbers and estimation</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Calculator basics and checking</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10:30 AM–12:00 PM  •  Calculation Practice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t>Week 1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5" name="TextBox 14"/>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6" name="TextBox 15"/>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7" name="TextBox 16"/>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8" name="TextBox 17"/>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01  •  2026-10-29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t>DAY 01  /  WEEK 1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Whole numbers and estimation</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9:10 AM–9:25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9:25 AM–9:40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9:40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Math  •  Math Week 1, Lesson 1</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Calculator basics and checking</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Calculation Practice  •  Math Week 1, Lesson 2</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56" name="TextBox 5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57" name="TextBox 5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58" name="TextBox 5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59" name="TextBox 5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Whole numbers and estimation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Read whole-number quantities; estimate and calculate a cut-list total; explain why an answer is reasonable.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Name one use for today’s skill.</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Chapter 1 pp.10–21; Chapter 2 pp.28–31,39</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Exercise Book 1A Q1–10 (p.6), Q11–17 (pp.6–7)</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Use Exercise Book 1A Q3,5,9 without a calculator. Discuss which operation finds an offcut.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from the Exercise Book  |  1A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 the value before calculating</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 digit’s place tells its value: in 4,072, the 4 means four thousand.</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Read the quantity and unit together; 1,200 mm is a length.</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When rounding, name the target place before changing any digits.</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An estimate uses simpler nearby values; it predicts the size of the answer.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Choose an operation that matches the quantity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Add separate quantities to find a total.</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Subtract the amount used from the starting amount to find what remains.</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Multiply equal groups; divide to share equally or count groups.</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Compare the exact result with the estimate and explain any large difference.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609600" y="457200"/>
            <a:ext cx="9418320" cy="184666"/>
          </a:xfrm>
          <a:prstGeom prst="rect">
            <a:avLst/>
          </a:prstGeom>
          <a:noFill/>
          <a:ln/>
        </p:spPr>
        <p:txBody>
          <a:bodyPr wrap="square" lIns="0" tIns="0" rIns="0" bIns="0" rtlCol="0" anchor="t">
            <a:spAutoFit/>
          </a:bodyPr>
          <a:lstStyle/>
          <a:p>
            <a:pPr marL="0" indent="0" algn="l">
              <a:buNone/>
              <a:defRPr sz="1150">
                <a:solidFill>
                  <a:srgbClr val="D2181F"/>
                </a:solidFill>
                <a:latin typeface="Arial"/>
              </a:defRPr>
            </a:pPr>
            <a:r>
              <a:rPr/>
              <a:t>W01-L01  •  TEACH  •  9:10 AM–9:25 AM  •  15 MIN TOTAL</a:t>
            </a:r>
            <a:endParaRPr lang="en-US" sz="1200" dirty="0"/>
          </a:p>
        </p:txBody>
      </p:sp>
      <p:sp>
        <p:nvSpPr>
          <p:cNvPr id="4" name="Text 2"/>
          <p:cNvSpPr/>
          <p:nvPr/>
        </p:nvSpPr>
        <p:spPr>
          <a:xfrm>
            <a:off x="609600" y="838200"/>
            <a:ext cx="10972800" cy="461665"/>
          </a:xfrm>
          <a:prstGeom prst="rect">
            <a:avLst/>
          </a:prstGeom>
          <a:noFill/>
          <a:ln/>
        </p:spPr>
        <p:txBody>
          <a:bodyPr wrap="square" lIns="0" tIns="0" rIns="0" bIns="0" rtlCol="0" anchor="t">
            <a:spAutoFit/>
          </a:bodyPr>
          <a:lstStyle/>
          <a:p>
            <a:pPr marL="0" indent="0" algn="l">
              <a:buNone/>
            </a:pPr>
            <a:r>
              <a:rPr lang="en-US" sz="3000" b="1" dirty="0">
                <a:solidFill>
                  <a:srgbClr val="1A1A1A"/>
                </a:solidFill>
                <a:latin typeface="Arial" pitchFamily="34" charset="0"/>
                <a:ea typeface="Arial" pitchFamily="34" charset="-122"/>
                <a:cs typeface="Arial" pitchFamily="34" charset="-120"/>
              </a:rPr>
              <a:t>An estimate should agree with the scale</a:t>
            </a:r>
            <a:endParaRPr lang="en-US" sz="3000" dirty="0"/>
          </a:p>
        </p:txBody>
      </p:sp>
      <p:sp>
        <p:nvSpPr>
          <p:cNvPr id="5" name="Text 3"/>
          <p:cNvSpPr/>
          <p:nvPr/>
        </p:nvSpPr>
        <p:spPr>
          <a:xfrm>
            <a:off x="609600" y="1778000"/>
            <a:ext cx="10972800" cy="276999"/>
          </a:xfrm>
          <a:prstGeom prst="rect">
            <a:avLst/>
          </a:prstGeom>
          <a:noFill/>
          <a:ln/>
        </p:spPr>
        <p:txBody>
          <a:bodyPr wrap="square" lIns="0" tIns="0" rIns="0" bIns="0" rtlCol="0" anchor="t">
            <a:spAutoFit/>
          </a:bodyPr>
          <a:lstStyle/>
          <a:p>
            <a:pPr marL="0" indent="0" algn="l">
              <a:buNone/>
            </a:pPr>
            <a:r>
              <a:rPr lang="en-US" sz="1800" dirty="0">
                <a:solidFill>
                  <a:srgbClr val="1A1A1A"/>
                </a:solidFill>
                <a:latin typeface="Arial" pitchFamily="34" charset="0"/>
                <a:ea typeface="Arial" pitchFamily="34" charset="-122"/>
                <a:cs typeface="Arial" pitchFamily="34" charset="-120"/>
              </a:rPr>
              <a:t>Classroom example: 48 packs contain 21 fasteners each.</a:t>
            </a:r>
            <a:endParaRPr lang="en-US" sz="1800" dirty="0"/>
          </a:p>
        </p:txBody>
      </p:sp>
      <p:sp>
        <p:nvSpPr>
          <p:cNvPr id="6" name="Text 4"/>
          <p:cNvSpPr/>
          <p:nvPr/>
        </p:nvSpPr>
        <p:spPr>
          <a:xfrm>
            <a:off x="609600" y="2336800"/>
            <a:ext cx="10972800" cy="738664"/>
          </a:xfrm>
          <a:prstGeom prst="rect">
            <a:avLst/>
          </a:prstGeom>
          <a:noFill/>
          <a:ln/>
        </p:spPr>
        <p:txBody>
          <a:bodyPr wrap="square" lIns="0" tIns="0" rIns="0" bIns="0" rtlCol="0" anchor="t">
            <a:spAutoFit/>
          </a:bodyPr>
          <a:lstStyle/>
          <a:p>
            <a:pPr marL="0" indent="0" algn="l">
              <a:buNone/>
            </a:pPr>
            <a:r>
              <a:rPr lang="en-US" sz="2400" dirty="0">
                <a:solidFill>
                  <a:srgbClr val="1A1A1A"/>
                </a:solidFill>
                <a:latin typeface="Arial" pitchFamily="34" charset="0"/>
                <a:ea typeface="Arial" pitchFamily="34" charset="-122"/>
                <a:cs typeface="Arial" pitchFamily="34" charset="-120"/>
              </a:rPr>
              <a:t>Estimate: 50 × 20 = 1,000 fasteners</a:t>
            </a:r>
            <a:endParaRPr lang="en-US" sz="2400" dirty="0"/>
          </a:p>
          <a:p>
            <a:pPr marL="0" indent="0" algn="l">
              <a:buNone/>
            </a:pPr>
            <a:r>
              <a:rPr lang="en-US" sz="2400" dirty="0">
                <a:solidFill>
                  <a:srgbClr val="1A1A1A"/>
                </a:solidFill>
                <a:latin typeface="Arial" pitchFamily="34" charset="0"/>
                <a:ea typeface="Arial" pitchFamily="34" charset="-122"/>
                <a:cs typeface="Arial" pitchFamily="34" charset="-120"/>
              </a:rPr>
              <a:t>Calculate: 48 × 21 = 1,008 fasteners</a:t>
            </a:r>
            <a:endParaRPr lang="en-US" sz="2400" dirty="0"/>
          </a:p>
        </p:txBody>
      </p:sp>
      <p:sp>
        <p:nvSpPr>
          <p:cNvPr id="7" name="Text 5"/>
          <p:cNvSpPr/>
          <p:nvPr/>
        </p:nvSpPr>
        <p:spPr>
          <a:xfrm>
            <a:off x="609600" y="3683000"/>
            <a:ext cx="10972800" cy="553998"/>
          </a:xfrm>
          <a:prstGeom prst="rect">
            <a:avLst/>
          </a:prstGeom>
          <a:noFill/>
          <a:ln/>
        </p:spPr>
        <p:txBody>
          <a:bodyPr wrap="square" lIns="0" tIns="0" rIns="0" bIns="0" rtlCol="0" anchor="t">
            <a:spAutoFit/>
          </a:bodyPr>
          <a:lstStyle/>
          <a:p>
            <a:pPr marL="0" indent="0" algn="l">
              <a:buNone/>
            </a:pPr>
            <a:r>
              <a:rPr lang="en-US" sz="1800" dirty="0">
                <a:solidFill>
                  <a:srgbClr val="1A1A1A"/>
                </a:solidFill>
                <a:latin typeface="Arial" pitchFamily="34" charset="0"/>
                <a:ea typeface="Arial" pitchFamily="34" charset="-122"/>
                <a:cs typeface="Arial" pitchFamily="34" charset="-120"/>
              </a:rPr>
              <a:t>The exact answer is close to 1,000—not 100 or 10,000.</a:t>
            </a:r>
            <a:endParaRPr lang="en-US" sz="1800" dirty="0"/>
          </a:p>
          <a:p>
            <a:pPr marL="0" indent="0" algn="l">
              <a:buNone/>
            </a:pPr>
            <a:r>
              <a:rPr lang="en-US" sz="1800" dirty="0">
                <a:solidFill>
                  <a:srgbClr val="1A1A1A"/>
                </a:solidFill>
                <a:latin typeface="Arial" pitchFamily="34" charset="0"/>
                <a:ea typeface="Arial" pitchFamily="34" charset="-122"/>
                <a:cs typeface="Arial" pitchFamily="34" charset="-120"/>
              </a:rPr>
              <a:t>A calculator result still needs a quantity, unit and reason.</a:t>
            </a:r>
            <a:endParaRPr lang="en-US" sz="1800" dirty="0"/>
          </a:p>
        </p:txBody>
      </p:sp>
      <p:sp>
        <p:nvSpPr>
          <p:cNvPr id="8" name="Text 6"/>
          <p:cNvSpPr/>
          <p:nvPr/>
        </p:nvSpPr>
        <p:spPr>
          <a:xfrm>
            <a:off x="609600" y="4660900"/>
            <a:ext cx="10972800" cy="323165"/>
          </a:xfrm>
          <a:prstGeom prst="rect">
            <a:avLst/>
          </a:prstGeom>
          <a:noFill/>
          <a:ln/>
        </p:spPr>
        <p:txBody>
          <a:bodyPr wrap="square" lIns="0" tIns="0" rIns="0" bIns="0" rtlCol="0" anchor="t">
            <a:spAutoFit/>
          </a:bodyPr>
          <a:lstStyle/>
          <a:p>
            <a:pPr marL="0" indent="0" algn="l">
              <a:buNone/>
            </a:pPr>
            <a:r>
              <a:rPr lang="en-US" sz="2100" b="1" dirty="0">
                <a:solidFill>
                  <a:srgbClr val="1A1A1A"/>
                </a:solidFill>
                <a:latin typeface="Arial" pitchFamily="34" charset="0"/>
                <a:ea typeface="Arial" pitchFamily="34" charset="-122"/>
                <a:cs typeface="Arial" pitchFamily="34" charset="-120"/>
              </a:rPr>
              <a:t>Work together</a:t>
            </a:r>
            <a:endParaRPr lang="en-US" sz="2100" dirty="0"/>
          </a:p>
        </p:txBody>
      </p:sp>
      <p:sp>
        <p:nvSpPr>
          <p:cNvPr id="9" name="Text 7"/>
          <p:cNvSpPr/>
          <p:nvPr/>
        </p:nvSpPr>
        <p:spPr>
          <a:xfrm>
            <a:off x="609600" y="5219700"/>
            <a:ext cx="10972800" cy="553998"/>
          </a:xfrm>
          <a:prstGeom prst="rect">
            <a:avLst/>
          </a:prstGeom>
          <a:noFill/>
          <a:ln/>
        </p:spPr>
        <p:txBody>
          <a:bodyPr wrap="square" lIns="0" tIns="0" rIns="0" bIns="0" rtlCol="0" anchor="t">
            <a:spAutoFit/>
          </a:bodyPr>
          <a:lstStyle/>
          <a:p>
            <a:pPr marL="0" indent="0" algn="l">
              <a:buNone/>
            </a:pPr>
            <a:r>
              <a:rPr lang="en-US" sz="1800" dirty="0">
                <a:solidFill>
                  <a:srgbClr val="1A1A1A"/>
                </a:solidFill>
                <a:latin typeface="Arial" pitchFamily="34" charset="0"/>
                <a:ea typeface="Arial" pitchFamily="34" charset="-122"/>
                <a:cs typeface="Arial" pitchFamily="34" charset="-120"/>
              </a:rPr>
              <a:t>Exercise Book 1A Q11, 13 and 15.</a:t>
            </a:r>
            <a:endParaRPr lang="en-US" sz="1800" dirty="0"/>
          </a:p>
          <a:p>
            <a:pPr marL="0" indent="0" algn="l">
              <a:buNone/>
            </a:pPr>
            <a:r>
              <a:rPr lang="en-US" sz="1800" dirty="0">
                <a:solidFill>
                  <a:srgbClr val="1A1A1A"/>
                </a:solidFill>
                <a:latin typeface="Arial" pitchFamily="34" charset="0"/>
                <a:ea typeface="Arial" pitchFamily="34" charset="-122"/>
                <a:cs typeface="Arial" pitchFamily="34" charset="-120"/>
              </a:rPr>
              <a:t>Estimate first; alternate solver and checker. Compare hand and calculator methods.</a:t>
            </a:r>
            <a:endParaRPr lang="en-US" sz="1800" dirty="0"/>
          </a:p>
        </p:txBody>
      </p:sp>
      <p:sp>
        <p:nvSpPr>
          <p:cNvPr id="10" name="TextBox 9">
            <a:extLst>
              <a:ext uri="{FF2B5EF4-FFF2-40B4-BE49-F238E27FC236}">
                <a16:creationId xmlns:a16="http://schemas.microsoft.com/office/drawing/2014/main" id="{FE2FC6BA-9B43-4F34-82CD-E791E69B6F86}"/>
              </a:ext>
            </a:extLst>
          </p:cNvPr>
          <p:cNvSpPr txBox="1"/>
          <p:nvPr/>
        </p:nvSpPr>
        <p:spPr>
          <a:xfrm>
            <a:off x="609600" y="6345936"/>
            <a:ext cx="10881360" cy="228600"/>
          </a:xfrm>
          <a:prstGeom prst="rect">
            <a:avLst/>
          </a:prstGeom>
          <a:noFill/>
        </p:spPr>
        <p:txBody>
          <a:bodyPr vertOverflow="overflow" vert="horz" wrap="square" rtlCol="0" anchor="t">
            <a:spAutoFit/>
          </a:bodyPr>
          <a:lstStyle/>
          <a:p>
            <a:pPr algn="l"/>
            <a:r>
              <a:rPr lang="en-US" sz="1050">
                <a:solidFill>
                  <a:srgbClr val="4A4E54"/>
                </a:solidFill>
              </a:rPr>
              <a:t>W1 L1 • Selected calculator: TI-30Xa or Sharp EL-531XT</a:t>
            </a:r>
            <a:endParaRPr lang="en-CA" sz="1050">
              <a:solidFill>
                <a:srgbClr val="4A4E54"/>
              </a:solidFill>
            </a:endParaRP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08</a:t>
            </a:r>
          </a:p>
        </p:txBody>
      </p:sp>
    </p:spTree>
    <p:extLst>
      <p:ext uri="{BB962C8B-B14F-4D97-AF65-F5344CB8AC3E}">
        <p14:creationId xmlns:p14="http://schemas.microsoft.com/office/powerpoint/2010/main" val="214838104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W01-L01.png"/>
          <p:cNvPicPr>
            <a:picLocks noChangeAspect="1"/>
          </p:cNvPicPr>
          <p:nvPr/>
        </p:nvPicPr>
        <p:blipFill>
          <a:blip r:embed="rId3"/>
          <a:stretch>
            <a:fillRect/>
          </a:stretch>
        </p:blipFill>
        <p:spPr>
          <a:xfrm>
            <a:off x="685800" y="2270523"/>
            <a:ext cx="10698480" cy="291131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p.12 · Figure 1.2: read the cut-list dimensions.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W01-L01-2.png"/>
          <p:cNvPicPr>
            <a:picLocks noChangeAspect="1"/>
          </p:cNvPicPr>
          <p:nvPr/>
        </p:nvPicPr>
        <p:blipFill>
          <a:blip r:embed="rId3"/>
          <a:stretch>
            <a:fillRect/>
          </a:stretch>
        </p:blipFill>
        <p:spPr>
          <a:xfrm>
            <a:off x="685800" y="2118126"/>
            <a:ext cx="10698480" cy="321610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p.12 · Example 1.4: estimate before calculating.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t>A learner estimates 48 × 21 as 1,000, then accepts a calculator result of 100. What check failed?</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a:t>The result is about ten times too small. Re-enter the intended multiplication and compare again.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Work Exercise Book 1A Q11,13,15 together. Estimate first, then compare hand and calculator methods.</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Guided practice  |  1A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Compare your method  |  1A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164592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a:t>5,223</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Complete Exercise Book 1A Q1–10 and Q12,14,16,17 as time allows. On Shape Canvas, set a rectangle to 1,200 mm by 800 mm and read both sizes; geometry is preview only.</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Open the ACCESS tool for this activity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shape-rectangle-m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tool activity: try, compare and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Supported: In Numeracy Hub Calculator, select TI-30Xa or Sharp EL-531XT and clear the display.</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Independent practice: Estimate and write your assigned 1A calculation before checking its result.</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Supported preview: In Shape Canvas, label a 1,200 mm × 800 mm rectangle; read both lengths only.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1A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1A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Exercise Book 1A Q5 and Q10; explain one estimate and show the operation used.</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check  |  1A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check  |  1A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pic>
        <p:nvPicPr>
          <p:cNvPr id="5" name="Picture 4" descr="1A-Q1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W01-L01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1 pp.10–21; Chapter 2 pp.28–31,39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Share one learning point and one skill to practise next.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DAY 01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t>Return ready for: Calculator basics and checking</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01  •  2026-10-29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Calculator basics and checking</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Use the chosen calculator correctly and check an answer with an estimate or inverse operation.</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Name one use for today’s skill.</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Chapter 2 pp.28–33,39; Chapter 1 pp.12–21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Exercise Book 2A Q1–3,6 (p.13); 1A Q11–17,20 (pp.6–7)</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Try to clear the display and enter 23 × 23. Check which model they use.</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2A Q1–3,6 (p.13);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Know what the key will do</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Clear the old calculation before beginning a new problem.</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the correction key to repair an entry; reread the intended calculation.</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The square key multiplies a number by itself; square root reverses this for positive values.</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Change sign reverses a value’s sign; subtraction finds the difference between two values.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Keep a record that can be checked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Write calculation → key sequence → result, using your selected calculator model.</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For TI-30Xa and Sharp, follow the textbook’s own square-root entry sequence.</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an inverse operation: multiply a quotient back or square a square-root result.</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an estimate as a separate check that the answer has the expected size.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609600" y="457200"/>
            <a:ext cx="9418320" cy="184666"/>
          </a:xfrm>
          <a:prstGeom prst="rect">
            <a:avLst/>
          </a:prstGeom>
          <a:noFill/>
          <a:ln/>
        </p:spPr>
        <p:txBody>
          <a:bodyPr wrap="square" lIns="0" tIns="0" rIns="0" bIns="0" rtlCol="0" anchor="t">
            <a:spAutoFit/>
          </a:bodyPr>
          <a:lstStyle/>
          <a:p>
            <a:pPr marL="0" indent="0" algn="l">
              <a:buNone/>
              <a:defRPr sz="1150">
                <a:solidFill>
                  <a:srgbClr val="D2181F"/>
                </a:solidFill>
                <a:latin typeface="Arial"/>
              </a:defRPr>
            </a:pPr>
            <a:r>
              <a:rPr/>
              <a:t>W01-L02  •  TEACH  •  10:40 AM–10:55 AM  •  15 MIN TOTAL</a:t>
            </a:r>
            <a:endParaRPr lang="en-US" sz="1200" dirty="0"/>
          </a:p>
        </p:txBody>
      </p:sp>
      <p:sp>
        <p:nvSpPr>
          <p:cNvPr id="4" name="Text 2"/>
          <p:cNvSpPr/>
          <p:nvPr/>
        </p:nvSpPr>
        <p:spPr>
          <a:xfrm>
            <a:off x="609600" y="838200"/>
            <a:ext cx="10972800" cy="461665"/>
          </a:xfrm>
          <a:prstGeom prst="rect">
            <a:avLst/>
          </a:prstGeom>
          <a:noFill/>
          <a:ln/>
        </p:spPr>
        <p:txBody>
          <a:bodyPr wrap="square" lIns="0" tIns="0" rIns="0" bIns="0" rtlCol="0" anchor="t">
            <a:spAutoFit/>
          </a:bodyPr>
          <a:lstStyle/>
          <a:p>
            <a:pPr marL="0" indent="0" algn="l">
              <a:buNone/>
            </a:pPr>
            <a:r>
              <a:rPr lang="en-US" sz="3000" b="1" dirty="0">
                <a:solidFill>
                  <a:srgbClr val="1A1A1A"/>
                </a:solidFill>
                <a:latin typeface="Arial" pitchFamily="34" charset="0"/>
                <a:ea typeface="Arial" pitchFamily="34" charset="-122"/>
                <a:cs typeface="Arial" pitchFamily="34" charset="-120"/>
              </a:rPr>
              <a:t>Reverse the operation to check</a:t>
            </a:r>
            <a:endParaRPr lang="en-US" sz="3000" dirty="0"/>
          </a:p>
        </p:txBody>
      </p:sp>
      <p:sp>
        <p:nvSpPr>
          <p:cNvPr id="5" name="Text 3"/>
          <p:cNvSpPr/>
          <p:nvPr/>
        </p:nvSpPr>
        <p:spPr>
          <a:xfrm>
            <a:off x="609600" y="1739900"/>
            <a:ext cx="10972800" cy="738664"/>
          </a:xfrm>
          <a:prstGeom prst="rect">
            <a:avLst/>
          </a:prstGeom>
          <a:noFill/>
          <a:ln/>
        </p:spPr>
        <p:txBody>
          <a:bodyPr wrap="square" lIns="0" tIns="0" rIns="0" bIns="0" rtlCol="0" anchor="t">
            <a:spAutoFit/>
          </a:bodyPr>
          <a:lstStyle/>
          <a:p>
            <a:pPr marL="0" indent="0" algn="l">
              <a:buNone/>
            </a:pPr>
            <a:r>
              <a:rPr lang="en-US" sz="2400" dirty="0">
                <a:solidFill>
                  <a:srgbClr val="1A1A1A"/>
                </a:solidFill>
                <a:latin typeface="Arial" pitchFamily="34" charset="0"/>
                <a:ea typeface="Arial" pitchFamily="34" charset="-122"/>
                <a:cs typeface="Arial" pitchFamily="34" charset="-120"/>
              </a:rPr>
              <a:t>23² = 23 × 23 = 529</a:t>
            </a:r>
            <a:endParaRPr lang="en-US" sz="2400" dirty="0"/>
          </a:p>
          <a:p>
            <a:pPr marL="0" indent="0" algn="l">
              <a:buNone/>
            </a:pPr>
            <a:r>
              <a:rPr lang="en-US" sz="2400" dirty="0">
                <a:solidFill>
                  <a:srgbClr val="1A1A1A"/>
                </a:solidFill>
                <a:latin typeface="Arial" pitchFamily="34" charset="0"/>
                <a:ea typeface="Arial" pitchFamily="34" charset="-122"/>
                <a:cs typeface="Arial" pitchFamily="34" charset="-120"/>
              </a:rPr>
              <a:t>√529 = 23</a:t>
            </a:r>
            <a:endParaRPr lang="en-US" sz="2400" dirty="0"/>
          </a:p>
        </p:txBody>
      </p:sp>
      <p:sp>
        <p:nvSpPr>
          <p:cNvPr id="6" name="Text 4"/>
          <p:cNvSpPr/>
          <p:nvPr/>
        </p:nvSpPr>
        <p:spPr>
          <a:xfrm>
            <a:off x="609600" y="2908300"/>
            <a:ext cx="10972800" cy="553998"/>
          </a:xfrm>
          <a:prstGeom prst="rect">
            <a:avLst/>
          </a:prstGeom>
          <a:noFill/>
          <a:ln/>
        </p:spPr>
        <p:txBody>
          <a:bodyPr wrap="square" lIns="0" tIns="0" rIns="0" bIns="0" rtlCol="0" anchor="t">
            <a:spAutoFit/>
          </a:bodyPr>
          <a:lstStyle/>
          <a:p>
            <a:pPr marL="0" indent="0" algn="l">
              <a:buNone/>
            </a:pPr>
            <a:r>
              <a:rPr lang="en-US" sz="1800" dirty="0">
                <a:solidFill>
                  <a:srgbClr val="1A1A1A"/>
                </a:solidFill>
                <a:latin typeface="Arial" pitchFamily="34" charset="0"/>
                <a:ea typeface="Arial" pitchFamily="34" charset="-122"/>
                <a:cs typeface="Arial" pitchFamily="34" charset="-120"/>
              </a:rPr>
              <a:t>Squaring and square root undo one another for these positive values.</a:t>
            </a:r>
            <a:endParaRPr lang="en-US" sz="1800" dirty="0"/>
          </a:p>
          <a:p>
            <a:pPr marL="0" indent="0" algn="l">
              <a:buNone/>
            </a:pPr>
            <a:r>
              <a:rPr lang="en-US" sz="1800" dirty="0">
                <a:solidFill>
                  <a:srgbClr val="1A1A1A"/>
                </a:solidFill>
                <a:latin typeface="Arial" pitchFamily="34" charset="0"/>
                <a:ea typeface="Arial" pitchFamily="34" charset="-122"/>
                <a:cs typeface="Arial" pitchFamily="34" charset="-120"/>
              </a:rPr>
              <a:t>Write the intended calculation before entering keys.</a:t>
            </a:r>
            <a:endParaRPr lang="en-US" sz="1800" dirty="0"/>
          </a:p>
        </p:txBody>
      </p:sp>
      <p:sp>
        <p:nvSpPr>
          <p:cNvPr id="7" name="Text 5"/>
          <p:cNvSpPr/>
          <p:nvPr/>
        </p:nvSpPr>
        <p:spPr>
          <a:xfrm>
            <a:off x="609600" y="3924300"/>
            <a:ext cx="10972800" cy="323165"/>
          </a:xfrm>
          <a:prstGeom prst="rect">
            <a:avLst/>
          </a:prstGeom>
          <a:noFill/>
          <a:ln/>
        </p:spPr>
        <p:txBody>
          <a:bodyPr wrap="square" lIns="0" tIns="0" rIns="0" bIns="0" rtlCol="0" anchor="t">
            <a:spAutoFit/>
          </a:bodyPr>
          <a:lstStyle/>
          <a:p>
            <a:pPr marL="0" indent="0" algn="l">
              <a:buNone/>
            </a:pPr>
            <a:r>
              <a:rPr lang="en-US" sz="2100" b="1" dirty="0">
                <a:solidFill>
                  <a:srgbClr val="1A1A1A"/>
                </a:solidFill>
                <a:latin typeface="Arial" pitchFamily="34" charset="0"/>
                <a:ea typeface="Arial" pitchFamily="34" charset="-122"/>
                <a:cs typeface="Arial" pitchFamily="34" charset="-120"/>
              </a:rPr>
              <a:t>A second classroom example</a:t>
            </a:r>
            <a:endParaRPr lang="en-US" sz="2100" dirty="0"/>
          </a:p>
        </p:txBody>
      </p:sp>
      <p:sp>
        <p:nvSpPr>
          <p:cNvPr id="8" name="Text 6"/>
          <p:cNvSpPr/>
          <p:nvPr/>
        </p:nvSpPr>
        <p:spPr>
          <a:xfrm>
            <a:off x="609600" y="4445000"/>
            <a:ext cx="10972800" cy="553998"/>
          </a:xfrm>
          <a:prstGeom prst="rect">
            <a:avLst/>
          </a:prstGeom>
          <a:noFill/>
          <a:ln/>
        </p:spPr>
        <p:txBody>
          <a:bodyPr wrap="square" lIns="0" tIns="0" rIns="0" bIns="0" rtlCol="0" anchor="t">
            <a:spAutoFit/>
          </a:bodyPr>
          <a:lstStyle/>
          <a:p>
            <a:pPr marL="0" indent="0" algn="l">
              <a:buNone/>
            </a:pPr>
            <a:r>
              <a:rPr lang="en-US" sz="1800" dirty="0">
                <a:solidFill>
                  <a:srgbClr val="1A1A1A"/>
                </a:solidFill>
                <a:latin typeface="Arial" pitchFamily="34" charset="0"/>
                <a:ea typeface="Arial" pitchFamily="34" charset="-122"/>
                <a:cs typeface="Arial" pitchFamily="34" charset="-120"/>
              </a:rPr>
              <a:t>2,688 ÷ 12 = 224 pieces</a:t>
            </a:r>
            <a:endParaRPr lang="en-US" sz="1800" dirty="0"/>
          </a:p>
          <a:p>
            <a:pPr marL="0" indent="0" algn="l">
              <a:buNone/>
            </a:pPr>
            <a:r>
              <a:rPr lang="en-US" sz="1800" dirty="0">
                <a:solidFill>
                  <a:srgbClr val="1A1A1A"/>
                </a:solidFill>
                <a:latin typeface="Arial" pitchFamily="34" charset="0"/>
                <a:ea typeface="Arial" pitchFamily="34" charset="-122"/>
                <a:cs typeface="Arial" pitchFamily="34" charset="-120"/>
              </a:rPr>
              <a:t>Check: 224 × 12 = 2,688. An estimate near 225 supports the result.</a:t>
            </a:r>
            <a:endParaRPr lang="en-US" sz="1800" dirty="0"/>
          </a:p>
        </p:txBody>
      </p:sp>
      <p:sp>
        <p:nvSpPr>
          <p:cNvPr id="9" name="Text 7"/>
          <p:cNvSpPr/>
          <p:nvPr/>
        </p:nvSpPr>
        <p:spPr>
          <a:xfrm>
            <a:off x="609600" y="5295900"/>
            <a:ext cx="10972800" cy="323165"/>
          </a:xfrm>
          <a:prstGeom prst="rect">
            <a:avLst/>
          </a:prstGeom>
          <a:noFill/>
          <a:ln/>
        </p:spPr>
        <p:txBody>
          <a:bodyPr wrap="square" lIns="0" tIns="0" rIns="0" bIns="0" rtlCol="0" anchor="t">
            <a:spAutoFit/>
          </a:bodyPr>
          <a:lstStyle/>
          <a:p>
            <a:pPr marL="0" indent="0" algn="l">
              <a:buNone/>
            </a:pPr>
            <a:r>
              <a:rPr lang="en-US" sz="2100" b="1" dirty="0">
                <a:solidFill>
                  <a:srgbClr val="1A1A1A"/>
                </a:solidFill>
                <a:latin typeface="Arial" pitchFamily="34" charset="0"/>
                <a:ea typeface="Arial" pitchFamily="34" charset="-122"/>
                <a:cs typeface="Arial" pitchFamily="34" charset="-120"/>
              </a:rPr>
              <a:t>Work together</a:t>
            </a:r>
            <a:endParaRPr lang="en-US" sz="2100" dirty="0"/>
          </a:p>
        </p:txBody>
      </p:sp>
      <p:sp>
        <p:nvSpPr>
          <p:cNvPr id="10" name="Text 8"/>
          <p:cNvSpPr/>
          <p:nvPr/>
        </p:nvSpPr>
        <p:spPr>
          <a:xfrm>
            <a:off x="609600" y="5791200"/>
            <a:ext cx="10972800" cy="276999"/>
          </a:xfrm>
          <a:prstGeom prst="rect">
            <a:avLst/>
          </a:prstGeom>
          <a:noFill/>
          <a:ln/>
        </p:spPr>
        <p:txBody>
          <a:bodyPr wrap="square" lIns="0" tIns="0" rIns="0" bIns="0" rtlCol="0" anchor="t">
            <a:spAutoFit/>
          </a:bodyPr>
          <a:lstStyle/>
          <a:p>
            <a:pPr marL="0" indent="0" algn="l">
              <a:buNone/>
            </a:pPr>
            <a:r>
              <a:rPr lang="en-US" sz="1800" dirty="0">
                <a:solidFill>
                  <a:srgbClr val="1A1A1A"/>
                </a:solidFill>
                <a:latin typeface="Arial" pitchFamily="34" charset="0"/>
                <a:ea typeface="Arial" pitchFamily="34" charset="-122"/>
                <a:cs typeface="Arial" pitchFamily="34" charset="-120"/>
              </a:rPr>
              <a:t>Exercise Book 2A Q1–3, p.13. Record calculation, keys and answer; compare root entry on the two models.</a:t>
            </a:r>
            <a:endParaRPr lang="en-US" sz="1800" dirty="0"/>
          </a:p>
        </p:txBody>
      </p:sp>
      <p:sp>
        <p:nvSpPr>
          <p:cNvPr id="11" name="TextBox 10">
            <a:extLst>
              <a:ext uri="{FF2B5EF4-FFF2-40B4-BE49-F238E27FC236}">
                <a16:creationId xmlns:a16="http://schemas.microsoft.com/office/drawing/2014/main" id="{90AE2B41-EDAA-455B-AAD0-EFBB27DB916B}"/>
              </a:ext>
            </a:extLst>
          </p:cNvPr>
          <p:cNvSpPr txBox="1"/>
          <p:nvPr/>
        </p:nvSpPr>
        <p:spPr>
          <a:xfrm>
            <a:off x="609600" y="6345936"/>
            <a:ext cx="10881360" cy="228600"/>
          </a:xfrm>
          <a:prstGeom prst="rect">
            <a:avLst/>
          </a:prstGeom>
          <a:noFill/>
        </p:spPr>
        <p:txBody>
          <a:bodyPr vertOverflow="overflow" vert="horz" wrap="square" rtlCol="0" anchor="t">
            <a:spAutoFit/>
          </a:bodyPr>
          <a:lstStyle/>
          <a:p>
            <a:pPr algn="l"/>
            <a:r>
              <a:rPr lang="en-US" sz="1050">
                <a:solidFill>
                  <a:srgbClr val="4A4E54"/>
                </a:solidFill>
              </a:rPr>
              <a:t>W1 L2 • Change-sign and subtraction are different operations</a:t>
            </a:r>
            <a:endParaRPr lang="en-CA" sz="1050">
              <a:solidFill>
                <a:srgbClr val="4A4E54"/>
              </a:solidFill>
            </a:endParaRP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5" name="TextBox 14"/>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6" name="TextBox 15"/>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7" name="TextBox 16"/>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8" name="TextBox 17"/>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29</a:t>
            </a:r>
          </a:p>
        </p:txBody>
      </p:sp>
    </p:spTree>
    <p:extLst>
      <p:ext uri="{BB962C8B-B14F-4D97-AF65-F5344CB8AC3E}">
        <p14:creationId xmlns:p14="http://schemas.microsoft.com/office/powerpoint/2010/main" val="3473824691"/>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29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W01-L02.png"/>
          <p:cNvPicPr>
            <a:picLocks noChangeAspect="1"/>
          </p:cNvPicPr>
          <p:nvPr/>
        </p:nvPicPr>
        <p:blipFill>
          <a:blip r:embed="rId3"/>
          <a:stretch>
            <a:fillRect/>
          </a:stretch>
        </p:blipFill>
        <p:spPr>
          <a:xfrm>
            <a:off x="1457324" y="1691640"/>
            <a:ext cx="9155430"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p.29 · Table 2.1: key differences between the two calculators.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32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W01-L02-2.png"/>
          <p:cNvPicPr>
            <a:picLocks noChangeAspect="1"/>
          </p:cNvPicPr>
          <p:nvPr/>
        </p:nvPicPr>
        <p:blipFill>
          <a:blip r:embed="rId3"/>
          <a:stretch>
            <a:fillRect/>
          </a:stretch>
        </p:blipFill>
        <p:spPr>
          <a:xfrm>
            <a:off x="1196681" y="1691640"/>
            <a:ext cx="967671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Textbook p.32 · Square and square-root key sequences; each checks the other.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t>Does pressing the subtraction key necessarily enter a negative number correctly?</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a:t>No. Use the selected model’s change-sign key for a negative value; use subtraction between values.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Solve Exercise Book 2A questions 1–3 together. Compare square-root entry on the two models; estimate before checking.</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2A Q1–3,6 (p.13);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Guided practice  |  2A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2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Compare your method  |  2A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2A-Q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164592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a:t>4,147. TI-30Xa: 3640, +, 1295, −, 788, =. Sharp: 3640, +, 1295, −, 788, =.</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Complete 2A question 6 and selected 1A questions 11–17,20. Record the calculation, keys and answer; use inverse operations to verify two results.</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2A Q1–3,6 (p.13);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Open the ACCESS tool for this activity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hub-calc.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tool activity: try, compare and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Supported: Choose one calculator model in Numeracy Hub; locate clear, square, root and sign keys.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Supported: Work 2A Q1–3 and record each model-specific key sequence beside the written calculation.</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Independent practice: Check two completed calculations using inverse operations; retain the working.</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2A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2A-Q6.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1A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1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Redo Exercise Book 2A questions 1 and 3 independently. Explain one checking method.</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2A Q1–3,6 (p.13);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check  |  2A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2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check  |  2A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pic>
        <p:nvPicPr>
          <p:cNvPr id="5" name="Picture 4" descr="2A-Q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W01-L02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Chapter 2 pp.28–33,39; Chapter 1 pp.12–21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Share one learning point and one skill to practise next.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2A Q1–3,6 (p.13);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01  •  2026-10-29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19960</Words>
  <Application>Microsoft Office PowerPoint</Application>
  <PresentationFormat>Widescreen</PresentationFormat>
  <Paragraphs>2040</Paragraphs>
  <Slides>165</Slides>
  <Notes>165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165</vt:i4>
      </vt:variant>
    </vt:vector>
  </HeadingPairs>
  <TitlesOfParts>
    <vt:vector size="168"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Carpentry Math | Full Day 01 | 2026-10-29</dc:title>
  <dc:creator>ACCESS Trades</dc:creator>
  <cp:lastModifiedBy>Gabriel Ostrowidzki</cp:lastModifiedBy>
  <cp:revision>3</cp:revision>
  <dcterms:created xsi:type="dcterms:W3CDTF">2026-10-19T18:44:52Z</dcterms:created>
  <dcterms:modified xsi:type="dcterms:W3CDTF">2026-10-19T19:22:04Z</dcterms:modified>
  <dc:subject>Whole numbers and estimation; Calculator basics and checking</dc:subject>
</cp:coreProperties>
</file>