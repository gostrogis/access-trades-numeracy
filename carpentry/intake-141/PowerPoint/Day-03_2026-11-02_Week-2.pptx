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72" r:id="rId1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75" r:id="rId21"/>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8" Type="http://schemas.openxmlformats.org/officeDocument/2006/relationships/slide" Target="slides/slide8.xml"/><Relationship Id="rId21"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Worked teaching example retained from original slide 17.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Worked teaching example retained from original slide 20.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Schedule'!B17 | 'Math Week 2'!A25</a:t>
            </a:r>
          </a:p>
          <a:p>
            <a:r>
              <a:t>'Carpentry Schedule'!B19 | 'Math Week 2'!A42</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3A-Q1</a:t>
            </a:r>
          </a:p>
          <a:p>
            <a:r>
              <a:t>Exact question: 9 + 6 × 4</a:t>
            </a:r>
          </a:p>
          <a:p>
            <a:r>
              <a:t>Instructor answer: 33</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2'!A25</a:t>
            </a:r>
          </a:p>
          <a:p>
            <a:r>
              <a:t>'Math Week 2'!B27</a:t>
            </a:r>
          </a:p>
          <a:p>
            <a:r>
              <a:t>'Math Week 2'!B29</a:t>
            </a:r>
          </a:p>
          <a:p>
            <a:r>
              <a:t>Textbook Chapter 3 pp.44–51; Chapter 2 pp.31–33</a:t>
            </a:r>
          </a:p>
          <a:p>
            <a:r>
              <a:t>ACCESS CARPENTRY SLIDES.pptx slides 16–18</a:t>
            </a:r>
          </a:p>
          <a:p>
            <a:r>
              <a:t>ACCESS Trades Numeracy Textbook, PDF/printed p.44</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2'!A25</a:t>
            </a:r>
          </a:p>
          <a:p>
            <a:r>
              <a:t>'Math Week 2'!B27</a:t>
            </a:r>
          </a:p>
          <a:p>
            <a:r>
              <a:t>'Math Week 2'!B29</a:t>
            </a:r>
          </a:p>
          <a:p>
            <a:r>
              <a:t>Textbook Chapter 3 pp.44–51; Chapter 2 pp.31–33</a:t>
            </a:r>
          </a:p>
          <a:p>
            <a:r>
              <a:t>ACCESS CARPENTRY SLIDES.pptx slides 16–18</a:t>
            </a:r>
          </a:p>
          <a:p>
            <a:r>
              <a:t>ACCESS Trades Numeracy Textbook, PDF/printed p.44</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p.44 · Table 3.1: BEDMAS has four ranks, with left-to-right ties.</a:t>
            </a:r>
          </a:p>
          <a:p>
            <a:r>
              <a:t>Exact PDF/printed page: 44. Excerpt reproduced from the supplied ACCESS Textbook.</a:t>
            </a:r>
          </a:p>
          <a:p>
            <a:r>
              <a:t>Table 3.1 explicitly pairs division/multiplication and addition/subtraction at equal rank.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p.44 · Example 3.1: loose bolts plus equal groups.</a:t>
            </a:r>
          </a:p>
          <a:p>
            <a:r>
              <a:t>Exact PDF/printed page: 44. Excerpt reproduced from the supplied ACCESS Textbook.</a:t>
            </a:r>
          </a:p>
          <a:p>
            <a:r>
              <a:t>Table 3.1 explicitly pairs division/multiplication and addition/subtraction at equal rank.</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3A-Q2</a:t>
            </a:r>
          </a:p>
          <a:p>
            <a:r>
              <a:t>Exact question: 50 − 18 ÷ 3</a:t>
            </a:r>
          </a:p>
          <a:p>
            <a:r>
              <a:t>Instructor answer: 44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3A-Q2</a:t>
            </a:r>
          </a:p>
          <a:p>
            <a:r>
              <a:t>Exact question: 50 − 18 ÷ 3</a:t>
            </a:r>
          </a:p>
          <a:p>
            <a:r>
              <a:t>Instructor answer: 44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Numeracy Hub: Order of Operations, then Module 1 The order: BEDMAS; use Show steps, Next and Back. Begin with Easy practice.</a:t>
            </a:r>
          </a:p>
          <a:p>
            <a:r>
              <a:t>Supported: Open Numeracy Hub → Order of Operations → The order: BEDMAS.</a:t>
            </a:r>
          </a:p>
          <a:p>
            <a:r>
              <a:t>Supported: Predict the next operation; use Show steps, Next and Back to compare with your working.</a:t>
            </a:r>
          </a:p>
          <a:p>
            <a:r>
              <a:t>Independent practice: Attempt two Easy tasks on paper first; keep the expression and operation order.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3A-Q8</a:t>
            </a:r>
          </a:p>
          <a:p>
            <a:r>
              <a:t>Exact question: 6² − 4 × 5</a:t>
            </a:r>
          </a:p>
          <a:p>
            <a:r>
              <a:t>Instructor answer: 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3A-Q9</a:t>
            </a:r>
          </a:p>
          <a:p>
            <a:r>
              <a:t>Exact question: (6 − 4)² × 5</a:t>
            </a:r>
          </a:p>
          <a:p>
            <a:r>
              <a:t>Instructor answer: 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3A-Q8</a:t>
            </a:r>
          </a:p>
          <a:p>
            <a:r>
              <a:t>Exact question: 6² − 4 × 5</a:t>
            </a:r>
          </a:p>
          <a:p>
            <a:r>
              <a:t>Instructor answer: 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3A-Q9</a:t>
            </a:r>
          </a:p>
          <a:p>
            <a:r>
              <a:t>Exact question: (6 − 4)² × 5</a:t>
            </a:r>
          </a:p>
          <a:p>
            <a:r>
              <a:t>Instructor answer: 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W02-L01 | 2026-11-02 | 12:45 PM–2:00 PM | 75 minutes</a:t>
            </a:r>
          </a:p>
          <a:p>
            <a:r>
              <a:t>BEDMAS: choosing the correct order</a:t>
            </a:r>
          </a:p>
          <a:p>
            <a:r>
              <a:t>Mode: Math</a:t>
            </a:r>
          </a:p>
          <a:p>
            <a:r>
              <a:t>Goal: Evaluate grouped expressions and show left-to-right order for equal-ranked operations.</a:t>
            </a:r>
          </a:p>
          <a:p>
            <a:r>
              <a:t>Read: Textbook Chapter 3 pp.44–51; Chapter 2 pp.31–33</a:t>
            </a:r>
          </a:p>
          <a:p>
            <a:r>
              <a:t>Practise: Exercise Book 3A Q1–10 (p.19); 3B Q2–3 (p.21)</a:t>
            </a:r>
          </a:p>
          <a:p>
            <a:r>
              <a:t>Tool: Numeracy Hub: Order of Operations, then Module 1 The order: BEDMAS; use Show steps, Next and Back. Begin with Easy practice.</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2'!A31:F31</a:t>
            </a:r>
          </a:p>
          <a:p/>
          <a:p>
            <a:r>
              <a:t>12:50 PM–12:55 PM | 2 Recall | 5 min</a:t>
            </a:r>
          </a:p>
          <a:p>
            <a:r>
              <a:t>Instructor: Compare Exercise Book 3A Q1 and Q4. Ask what changes when brackets are present.</a:t>
            </a:r>
          </a:p>
          <a:p>
            <a:r>
              <a:t>Learners: Try first without displayed answers.</a:t>
            </a:r>
          </a:p>
          <a:p>
            <a:r>
              <a:t>Materials/check: Identify support needs</a:t>
            </a:r>
          </a:p>
          <a:p>
            <a:r>
              <a:t>Source: 'Math Week 2'!A32:F32</a:t>
            </a:r>
          </a:p>
          <a:p/>
          <a:p>
            <a:r>
              <a:t>12:55 PM–1:10 PM | 3 Teach | 15 min</a:t>
            </a:r>
          </a:p>
          <a:p>
            <a:r>
              <a:t>Instructor: Model brackets, exponents and left-to-right rules. In Numeracy Hub, step through an expression, then key the same grouping on the selected calculator.</a:t>
            </a:r>
          </a:p>
          <a:p>
            <a:r>
              <a:t>Learners: Follow the example; explain the next step.</a:t>
            </a:r>
          </a:p>
          <a:p>
            <a:r>
              <a:t>Materials/check: Textbook; worked example</a:t>
            </a:r>
          </a:p>
          <a:p>
            <a:r>
              <a:t>Source: 'Math Week 2'!A33:F33</a:t>
            </a:r>
          </a:p>
          <a:p/>
          <a:p>
            <a:r>
              <a:t>1:10 PM–1:25 PM | 4 Together | 15 min</a:t>
            </a:r>
          </a:p>
          <a:p>
            <a:r>
              <a:t>Instructor: Solve Exercise Book 3A Q2–7 with a partner. Point to the next operation before calculating.</a:t>
            </a:r>
          </a:p>
          <a:p>
            <a:r>
              <a:t>Learners: Work in pairs; alternate solver and checker.</a:t>
            </a:r>
          </a:p>
          <a:p>
            <a:r>
              <a:t>Materials/check: Exercise Book; tool above</a:t>
            </a:r>
          </a:p>
          <a:p>
            <a:r>
              <a:t>Source: 'Math Week 2'!A34:F34</a:t>
            </a:r>
          </a:p>
          <a:p/>
          <a:p>
            <a:r>
              <a:t>1:25 PM–1:45 PM | 5 Practise | 20 min</a:t>
            </a:r>
          </a:p>
          <a:p>
            <a:r>
              <a:t>Instructor: Complete Exercise Book 3A Q8–10 and 3B Q2–3. Try two Easy Numeracy Hub tasks; record expression, order and checked result, not only the screen answer.</a:t>
            </a:r>
          </a:p>
          <a:p>
            <a:r>
              <a:t>Learners: Show working and units; estimate, then check.</a:t>
            </a:r>
          </a:p>
          <a:p>
            <a:r>
              <a:t>Materials/check: Paper first; tool second</a:t>
            </a:r>
          </a:p>
          <a:p>
            <a:r>
              <a:t>Source: 'Math Week 2'!A35:F35</a:t>
            </a:r>
          </a:p>
          <a:p/>
          <a:p>
            <a:r>
              <a:t>1:45 PM–1:55 PM | 6 Check | 10 min</a:t>
            </a:r>
          </a:p>
          <a:p>
            <a:r>
              <a:t>Instructor: Exercise Book 3A Q8–9 without displayed solutions; mark each operation in order.</a:t>
            </a:r>
          </a:p>
          <a:p>
            <a:r>
              <a:t>Learners: Answer independently and show the method.</a:t>
            </a:r>
          </a:p>
          <a:p>
            <a:r>
              <a:t>Materials/check: Teacher answers below</a:t>
            </a:r>
          </a:p>
          <a:p>
            <a:r>
              <a:t>Source: 'Math Week 2'!A36:F36</a:t>
            </a:r>
          </a:p>
          <a:p/>
          <a:p>
            <a:r>
              <a:t>1:55 PM–2:00 PM | 7 Wrap up | 5 min</a:t>
            </a:r>
          </a:p>
          <a:p>
            <a:r>
              <a:t>Instructor: Ask for one learning point and one skill to practise next.</a:t>
            </a:r>
          </a:p>
          <a:p>
            <a:r>
              <a:t>Learners: Record a takeaway and next action.</a:t>
            </a:r>
          </a:p>
          <a:p>
            <a:r>
              <a:t>Materials/check: Notebook / error log</a:t>
            </a:r>
          </a:p>
          <a:p>
            <a:r>
              <a:t>Source: 'Math Week 2'!A37:F37</a:t>
            </a:r>
          </a:p>
          <a:p/>
          <a:p>
            <a:r>
              <a:t>INSTRUCTOR ONLY: REVEAL ASSESSMENT ANSWERS AFTER THE ATTEMPT</a:t>
            </a:r>
          </a:p>
          <a:p>
            <a:r>
              <a:t>3A Q8 = 16; Q9 = 20. 3B Q2 = 4,450 mm; Q3 = 6 in. Answer Key p.10. Answer Key pp.9–10</a:t>
            </a:r>
          </a:p>
          <a:p/>
          <a:p>
            <a:r>
              <a:t>Next: apply brackets and left-to-right rules to cut lists.</a:t>
            </a:r>
          </a:p>
          <a:p/>
          <a:p>
            <a:r>
              <a:t>Sources: 'Math Week 2'!A10:E10; 'Carpentry Schedule'!B17; 'Math Week 2'!A25</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Next: apply brackets and left-to-right rules to cut lists.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2'!A42</a:t>
            </a:r>
          </a:p>
          <a:p>
            <a:r>
              <a:t>'Math Week 2'!B44</a:t>
            </a:r>
          </a:p>
          <a:p>
            <a:r>
              <a:t>'Math Week 2'!B46</a:t>
            </a:r>
          </a:p>
          <a:p>
            <a:r>
              <a:t>Textbook Chapter 3 pp.44–51</a:t>
            </a:r>
          </a:p>
          <a:p>
            <a:r>
              <a:t>ACCESS CARPENTRY SLIDES.pptx slides 19–21</a:t>
            </a:r>
          </a:p>
          <a:p>
            <a:r>
              <a:t>ACCESS Trades Numeracy Textbook, PDF/printed p.46</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2'!A42</a:t>
            </a:r>
          </a:p>
          <a:p>
            <a:r>
              <a:t>'Math Week 2'!B44</a:t>
            </a:r>
          </a:p>
          <a:p>
            <a:r>
              <a:t>'Math Week 2'!B46</a:t>
            </a:r>
          </a:p>
          <a:p>
            <a:r>
              <a:t>Textbook Chapter 3 pp.44–51</a:t>
            </a:r>
          </a:p>
          <a:p>
            <a:r>
              <a:t>ACCESS CARPENTRY SLIDES.pptx slides 19–21</a:t>
            </a:r>
          </a:p>
          <a:p>
            <a:r>
              <a:t>ACCESS Trades Numeracy Textbook, PDF/printed p.46</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p.46 · Frame diagram: two lengths and two widths.</a:t>
            </a:r>
          </a:p>
          <a:p>
            <a:r>
              <a:t>Exact PDF/printed page: 46. Excerpt reproduced from the supplied ACCESS Textbook.</a:t>
            </a:r>
          </a:p>
          <a:p>
            <a:r>
              <a:t>Example 3.4 ties a rectangle drawing to the grouped perimeter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p.46 · Example 3.3: brackets change what is multiplied.</a:t>
            </a:r>
          </a:p>
          <a:p>
            <a:r>
              <a:t>Exact PDF/printed page: 46. Excerpt reproduced from the supplied ACCESS Textbook.</a:t>
            </a:r>
          </a:p>
          <a:p>
            <a:r>
              <a:t>Example 3.4 ties a rectangle drawing to the grouped perimeter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3B-Q1</a:t>
            </a:r>
          </a:p>
          <a:p>
            <a:r>
              <a:t>Exact question: A spool piece has 6 flanges with 8 bolts each. You also want 4 spare bolts. Write one calculation for the bolts needed and work it out.</a:t>
            </a:r>
          </a:p>
          <a:p>
            <a:r>
              <a:t>Instructor answer: 6 × 8 + 4 = 52 bolts</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3B-Q1</a:t>
            </a:r>
          </a:p>
          <a:p>
            <a:r>
              <a:t>Exact question: A spool piece has 6 flanges with 8 bolts each. You also want 4 spare bolts. Write one calculation for the bolts needed and work it out.</a:t>
            </a:r>
          </a:p>
          <a:p>
            <a:r>
              <a:t>Instructor answer: 6 × 8 + 4 = 52 bolts</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Numeracy Hub: Order of Operations, then The order: BEDMAS. Use Show steps after the paper attempt.</a:t>
            </a:r>
          </a:p>
          <a:p>
            <a:r>
              <a:t>Supported: Draw and label the pieces or frame for the assigned question; write one expression.</a:t>
            </a:r>
          </a:p>
          <a:p>
            <a:r>
              <a:t>Independent practice: Complete the paper calculation and underline the grouped quantity.</a:t>
            </a:r>
          </a:p>
          <a:p>
            <a:r>
              <a:t>Independent checking: Open Numeracy Hub BEDMAS and compare Show steps with the written order.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3B-Q3</a:t>
            </a:r>
          </a:p>
          <a:p>
            <a:r>
              <a:t>Exact question: Four 27 in pieces and two 15 in pieces are cut from a 144 in bar. Ignore the saw cuts. The offcut is 144 − (4 × 27 + 2 × 15). Find it.</a:t>
            </a:r>
          </a:p>
          <a:p>
            <a:r>
              <a:t>Instructor answer: 6 in</a:t>
            </a:r>
          </a:p>
          <a:p>
            <a:r>
              <a:t>Working: 4 × 27 = 108, 2 × 15 = 30, 108 + 30 = 138, 144 − 138 = 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3C-Q2</a:t>
            </a:r>
          </a:p>
          <a:p>
            <a:r>
              <a:t>Exact question: The distance around this frame is 3,000 mm. Find the hidden length with L = 3,000 ÷ 2 − 600.</a:t>
            </a:r>
          </a:p>
          <a:p>
            <a:r>
              <a:t>Instructor answer: L = 1,500 − 600 = 900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3C-Q2</a:t>
            </a:r>
          </a:p>
          <a:p>
            <a:r>
              <a:t>Exact question: The distance around this frame is 3,000 mm. Find the hidden length with L = 3,000 ÷ 2 − 600.</a:t>
            </a:r>
          </a:p>
          <a:p>
            <a:r>
              <a:t>Instructor answer: L = 1,500 − 600 = 900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3C-Q3</a:t>
            </a:r>
          </a:p>
          <a:p>
            <a:r>
              <a:t>Exact question: Four 1,200 mm pieces are cut from a 6,000 mm bar with four cuts. The kerf is 3 mm. The offcut is 6,000 − (4 × 1,200 + 4 × 3). Find it.</a:t>
            </a:r>
          </a:p>
          <a:p>
            <a:r>
              <a:t>Instructor answer: 1,188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W02-L02 | 2026-11-02 | 2:15 PM–3:30 PM | 75 minutes</a:t>
            </a:r>
          </a:p>
          <a:p>
            <a:r>
              <a:t>BEDMAS in cut lists and frames</a:t>
            </a:r>
          </a:p>
          <a:p>
            <a:r>
              <a:t>Mode: Math</a:t>
            </a:r>
          </a:p>
          <a:p>
            <a:r>
              <a:t>Goal: Write one correct expression for a cut list or frame and evaluate it in the right order.</a:t>
            </a:r>
          </a:p>
          <a:p>
            <a:r>
              <a:t>Read: Textbook Chapter 3 pp.44–51</a:t>
            </a:r>
          </a:p>
          <a:p>
            <a:r>
              <a:t>Practise: Exercise Book 3B Q1–3 (p.21); 3C Q2–3 (p.23)</a:t>
            </a:r>
          </a:p>
          <a:p>
            <a:r>
              <a:t>Tool: Numeracy Hub: Order of Operations, then The order: BEDMAS. Use Show steps after the paper attempt.</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2'!A48:F48</a:t>
            </a:r>
          </a:p>
          <a:p/>
          <a:p>
            <a:r>
              <a:t>2:20 PM–2:25 PM | 2 Recall | 5 min</a:t>
            </a:r>
          </a:p>
          <a:p>
            <a:r>
              <a:t>Instructor: Compare 2 × (10 + 5) with 2 × 10 + 5. Ask learners to explain the grouping.</a:t>
            </a:r>
          </a:p>
          <a:p>
            <a:r>
              <a:t>Learners: Try first without displayed answers.</a:t>
            </a:r>
          </a:p>
          <a:p>
            <a:r>
              <a:t>Materials/check: Identify support needs</a:t>
            </a:r>
          </a:p>
          <a:p>
            <a:r>
              <a:t>Source: 'Math Week 2'!A49:F49</a:t>
            </a:r>
          </a:p>
          <a:p/>
          <a:p>
            <a:r>
              <a:t>2:25 PM–2:40 PM | 3 Teach | 15 min</a:t>
            </a:r>
          </a:p>
          <a:p>
            <a:r>
              <a:t>Instructor: Model a total quantity, then an offcut: original stock minus all pieces and all stated cuts.</a:t>
            </a:r>
          </a:p>
          <a:p>
            <a:r>
              <a:t>Learners: Follow the example; explain the next step.</a:t>
            </a:r>
          </a:p>
          <a:p>
            <a:r>
              <a:t>Materials/check: Textbook; worked example</a:t>
            </a:r>
          </a:p>
          <a:p>
            <a:r>
              <a:t>Source: 'Math Week 2'!A50:F50</a:t>
            </a:r>
          </a:p>
          <a:p/>
          <a:p>
            <a:r>
              <a:t>2:40 PM–2:55 PM | 4 Together | 15 min</a:t>
            </a:r>
          </a:p>
          <a:p>
            <a:r>
              <a:t>Instructor: Solve 3B questions 1–2. Underline the group inside brackets before entering keys.</a:t>
            </a:r>
          </a:p>
          <a:p>
            <a:r>
              <a:t>Learners: Work in pairs; alternate solver and checker.</a:t>
            </a:r>
          </a:p>
          <a:p>
            <a:r>
              <a:t>Materials/check: Exercise Book; tool above</a:t>
            </a:r>
          </a:p>
          <a:p>
            <a:r>
              <a:t>Source: 'Math Week 2'!A51:F51</a:t>
            </a:r>
          </a:p>
          <a:p/>
          <a:p>
            <a:r>
              <a:t>2:55 PM–3:15 PM | 5 Practise | 20 min</a:t>
            </a:r>
          </a:p>
          <a:p>
            <a:r>
              <a:t>Instructor: Complete 3B question 3 and 3C questions 2–3. Draw the pieces, write one expression and compare with the Numeracy Hub steps.</a:t>
            </a:r>
          </a:p>
          <a:p>
            <a:r>
              <a:t>Learners: Show working and units; estimate, then check.</a:t>
            </a:r>
          </a:p>
          <a:p>
            <a:r>
              <a:t>Materials/check: Paper first; tool second</a:t>
            </a:r>
          </a:p>
          <a:p>
            <a:r>
              <a:t>Source: 'Math Week 2'!A52:F52</a:t>
            </a:r>
          </a:p>
          <a:p/>
          <a:p>
            <a:r>
              <a:t>3:15 PM–3:25 PM | 6 Check | 10 min</a:t>
            </a:r>
          </a:p>
          <a:p>
            <a:r>
              <a:t>Instructor: Redo 3C questions 2–3 and explain the brackets.</a:t>
            </a:r>
          </a:p>
          <a:p>
            <a:r>
              <a:t>Learners: Answer independently and show the method.</a:t>
            </a:r>
          </a:p>
          <a:p>
            <a:r>
              <a:t>Materials/check: Teacher answers below</a:t>
            </a:r>
          </a:p>
          <a:p>
            <a:r>
              <a:t>Source: 'Math Week 2'!A53:F53</a:t>
            </a:r>
          </a:p>
          <a:p/>
          <a:p>
            <a:r>
              <a:t>3:25 PM–3:30 PM | 7 Wrap up | 5 min</a:t>
            </a:r>
          </a:p>
          <a:p>
            <a:r>
              <a:t>Instructor: Ask for one learning point and one skill to practise next.</a:t>
            </a:r>
          </a:p>
          <a:p>
            <a:r>
              <a:t>Learners: Record a takeaway and next action.</a:t>
            </a:r>
          </a:p>
          <a:p>
            <a:r>
              <a:t>Materials/check: Notebook / error log</a:t>
            </a:r>
          </a:p>
          <a:p>
            <a:r>
              <a:t>Source: 'Math Week 2'!A54:F54</a:t>
            </a:r>
          </a:p>
          <a:p/>
          <a:p>
            <a:r>
              <a:t>INSTRUCTOR ONLY: REVEAL ASSESSMENT ANSWERS AFTER THE ATTEMPT</a:t>
            </a:r>
          </a:p>
          <a:p>
            <a:r>
              <a:t>3C question 2 = 900 mm; question 3 = 1,188 mm. Answer Key page 10.</a:t>
            </a:r>
          </a:p>
          <a:p/>
          <a:p>
            <a:r>
              <a:t>Next: squares, roots and bracketed calculations.</a:t>
            </a:r>
          </a:p>
          <a:p/>
          <a:p>
            <a:r>
              <a:t>Sources: 'Math Week 2'!A11:E11; 'Carpentry Schedule'!B19; 'Math Week 2'!A42</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Next: squares, roots and bracketed calculations.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Resources/ACCESS-Tools/books/ACCESS-Trades-Numeracy-Textbook.pdf#page=46"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Resources/ACCESS-Tools/books/ACCESS-Trades-Numeracy-Textbook.pdf#page=46"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2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03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2,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BEDMAS: choosing the correct order</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BEDMAS in cut lists and frames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03  •  2026-11-02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03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BEDMAS: choosing the correct order</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BEDMAS in cut lists and frames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2,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BEDMAS: choosing the correct order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Evaluate grouped expressions and show left-to-right order for equal-ranked operations.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3 pp.44–51; Chapter 2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3A Q1–10 (p.19); 3B Q2–3 (p.21)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Compare Exercise Book 3A Q1 and Q4. Identify what changes when brackets are present.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Read BEDMAS as ranked operations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Complete the calculation inside brackets first.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Evaluate exponents before multiplication or division.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Multiplication and division share one rank: work from left to right.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Addition and subtraction share one rank: work from left to right.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Make the next operation visible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Copy the expression exactly, including every bracket.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Mark the operation you will perform next.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Rewrite the expression after each step; carry unchanged terms forward.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Match the calculator’s grouping to the written expression.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A1A1A"/>
                </a:solidFill>
                <a:latin typeface="Arial" pitchFamily="34" charset="0"/>
                <a:ea typeface="Arial" pitchFamily="34" charset="-122"/>
                <a:cs typeface="Arial" pitchFamily="34" charset="-120"/>
              </a:rPr>
              <a:t>Point to the next operation first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1A1A1A"/>
                </a:solidFill>
                <a:latin typeface="Arial" pitchFamily="34" charset="0"/>
                <a:ea typeface="Arial" pitchFamily="34" charset="-122"/>
                <a:cs typeface="Arial" pitchFamily="34" charset="-120"/>
              </a:rPr>
              <a:t>9 + 6 × 4 = 9 + 24 = 33</a:t>
            </a:r>
            <a:endParaRPr lang="en-US" sz="2400" dirty="0"/>
          </a:p>
          <a:p>
            <a:pPr marL="0" indent="0" algn="l">
              <a:buNone/>
            </a:pPr>
            <a:r>
              <a:rPr lang="en-US" sz="2400" dirty="0">
                <a:solidFill>
                  <a:srgbClr val="1A1A1A"/>
                </a:solidFill>
                <a:latin typeface="Arial" pitchFamily="34" charset="0"/>
                <a:ea typeface="Arial" pitchFamily="34" charset="-122"/>
                <a:cs typeface="Arial" pitchFamily="34" charset="-120"/>
              </a:rPr>
              <a:t>(9 + 6) × 4 = 15 × 4 = 60</a:t>
            </a:r>
            <a:endParaRPr lang="en-US" sz="2400" dirty="0"/>
          </a:p>
        </p:txBody>
      </p:sp>
      <p:sp>
        <p:nvSpPr>
          <p:cNvPr id="6" name="Text 4"/>
          <p:cNvSpPr/>
          <p:nvPr/>
        </p:nvSpPr>
        <p:spPr>
          <a:xfrm>
            <a:off x="609585" y="3000375"/>
            <a:ext cx="10972526" cy="426690"/>
          </a:xfrm>
          <a:prstGeom prst="rect">
            <a:avLst/>
          </a:prstGeom>
          <a:noFill/>
          <a:ln/>
        </p:spPr>
        <p:txBody>
          <a:bodyPr wrap="square" lIns="0" tIns="0" rIns="0" bIns="0" rtlCol="0" anchor="t"/>
          <a:lstStyle/>
          <a:p>
            <a:pPr marL="0" indent="0" algn="l">
              <a:buNone/>
            </a:pPr>
            <a:r>
              <a:rPr lang="en-US" sz="2400" dirty="0">
                <a:solidFill>
                  <a:srgbClr val="1A1A1A"/>
                </a:solidFill>
                <a:latin typeface="Arial" pitchFamily="34" charset="0"/>
                <a:ea typeface="Arial" pitchFamily="34" charset="-122"/>
                <a:cs typeface="Arial" pitchFamily="34" charset="-120"/>
              </a:rPr>
              <a:t>24 ÷ 6 × 2 = 4 × 2 = 8</a:t>
            </a:r>
            <a:endParaRPr lang="en-US" sz="2400" dirty="0"/>
          </a:p>
        </p:txBody>
      </p:sp>
      <p:sp>
        <p:nvSpPr>
          <p:cNvPr id="7" name="Text 5"/>
          <p:cNvSpPr/>
          <p:nvPr/>
        </p:nvSpPr>
        <p:spPr>
          <a:xfrm>
            <a:off x="609585" y="3762375"/>
            <a:ext cx="10972526" cy="319980"/>
          </a:xfrm>
          <a:prstGeom prst="rect">
            <a:avLst/>
          </a:prstGeom>
          <a:noFill/>
          <a:ln/>
        </p:spPr>
        <p:txBody>
          <a:bodyPr wrap="square" lIns="0" tIns="0" rIns="0" bIns="0" rtlCol="0" anchor="t"/>
          <a:lstStyle/>
          <a:p>
            <a:pPr marL="0" indent="0" algn="l">
              <a:buNone/>
            </a:pPr>
            <a:r>
              <a:rPr lang="en-US" sz="1800" dirty="0">
                <a:solidFill>
                  <a:srgbClr val="1A1A1A"/>
                </a:solidFill>
                <a:latin typeface="Arial" pitchFamily="34" charset="0"/>
                <a:ea typeface="Arial" pitchFamily="34" charset="-122"/>
                <a:cs typeface="Arial" pitchFamily="34" charset="-120"/>
              </a:rPr>
              <a:t>The last line uses left-to-right order. Do not multiply 6 × 2 first.</a:t>
            </a:r>
            <a:endParaRPr lang="en-US" sz="1800" dirty="0"/>
          </a:p>
        </p:txBody>
      </p:sp>
      <p:sp>
        <p:nvSpPr>
          <p:cNvPr id="8" name="Text 6"/>
          <p:cNvSpPr/>
          <p:nvPr/>
        </p:nvSpPr>
        <p:spPr>
          <a:xfrm>
            <a:off x="609585" y="4619625"/>
            <a:ext cx="10972526" cy="959941"/>
          </a:xfrm>
          <a:prstGeom prst="rect">
            <a:avLst/>
          </a:prstGeom>
          <a:noFill/>
          <a:ln/>
        </p:spPr>
        <p:txBody>
          <a:bodyPr wrap="square" lIns="0" tIns="0" rIns="0" bIns="0" rtlCol="0" anchor="t"/>
          <a:lstStyle/>
          <a:p>
            <a:pPr marL="0" indent="0" algn="l">
              <a:buNone/>
            </a:pPr>
            <a:r>
              <a:rPr lang="en-US" sz="1800" dirty="0">
                <a:solidFill>
                  <a:srgbClr val="1A1A1A"/>
                </a:solidFill>
                <a:latin typeface="Arial" pitchFamily="34" charset="0"/>
                <a:ea typeface="Arial" pitchFamily="34" charset="-122"/>
                <a:cs typeface="Arial" pitchFamily="34" charset="-120"/>
              </a:rPr>
              <a:t>Together • Exercise Book 3A Q2–7.</a:t>
            </a:r>
            <a:endParaRPr lang="en-US" sz="1800" dirty="0"/>
          </a:p>
          <a:p>
            <a:pPr marL="0" indent="0" algn="l">
              <a:buNone/>
            </a:pPr>
            <a:r>
              <a:rPr lang="en-US" sz="1800" dirty="0">
                <a:solidFill>
                  <a:srgbClr val="1A1A1A"/>
                </a:solidFill>
                <a:latin typeface="Arial" pitchFamily="34" charset="0"/>
                <a:ea typeface="Arial" pitchFamily="34" charset="-122"/>
                <a:cs typeface="Arial" pitchFamily="34" charset="-120"/>
              </a:rPr>
              <a:t>Point to the next operation before calculating. In Numeracy Hub, select Order of Operations → The order: BEDMAS; compare Show steps with your written working.</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A1A1A"/>
                </a:solidFill>
                <a:latin typeface="Arial" pitchFamily="34" charset="0"/>
                <a:ea typeface="Arial" pitchFamily="34" charset="-122"/>
                <a:cs typeface="Arial" pitchFamily="34" charset="-120"/>
              </a:rPr>
              <a:t>W2 L1 • Numeracy Hub Easy practice only after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08</a:t>
            </a:r>
          </a:p>
        </p:txBody>
      </p:sp>
    </p:spTree>
    <p:extLst>
      <p:ext uri="{BB962C8B-B14F-4D97-AF65-F5344CB8AC3E}">
        <p14:creationId xmlns:p14="http://schemas.microsoft.com/office/powerpoint/2010/main" val="2126097976"/>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44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W02-L01.png"/>
          <p:cNvPicPr>
            <a:picLocks noChangeAspect="1"/>
          </p:cNvPicPr>
          <p:nvPr/>
        </p:nvPicPr>
        <p:blipFill>
          <a:blip r:embed="rId3"/>
          <a:stretch>
            <a:fillRect/>
          </a:stretch>
        </p:blipFill>
        <p:spPr>
          <a:xfrm>
            <a:off x="685800" y="2248100"/>
            <a:ext cx="10698480" cy="295615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p.44 · Table 3.1: BEDMAS has four ranks, with left-to-right ties.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44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W02-L01-2.png"/>
          <p:cNvPicPr>
            <a:picLocks noChangeAspect="1"/>
          </p:cNvPicPr>
          <p:nvPr/>
        </p:nvPicPr>
        <p:blipFill>
          <a:blip r:embed="rId3"/>
          <a:stretch>
            <a:fillRect/>
          </a:stretch>
        </p:blipFill>
        <p:spPr>
          <a:xfrm>
            <a:off x="685800" y="2114831"/>
            <a:ext cx="10698480" cy="322269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p.44 · Example 3.1: loose bolts plus equal groups.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In 24 ÷ 6 × 2, should you multiply 6 × 2 first because multiplication appears in BEDMAS?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Division and multiplication have equal rank. Work left to right: 24 ÷ 6 = 4, then 4 × 2 = 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3A Q2–7 with a partner. Point to the next operation before calculating.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3A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3A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44</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3A Q8–10 and 3B Q2–3. Try two Easy Numeracy Hub tasks; record expression, order and checked result, not only the screen answer.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Open Numeracy Hub → Order of Operations → The order: BEDMAS.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Predict the next operation; use Show steps, Next and Back to compare with your working.</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Attempt two Easy tasks on paper first; keep the expression and operation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3A Q8–9 without displayed solutions; mark each operation in order.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BEDMAS in cut lists and frames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03  •  2026-11-02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BEDMAS in cut lists and frames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Write one correct expression for a cut list or frame and evaluate it in the right order.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3 pp.44–51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3B Q1–3 (p.21); 3C Q2–3 (p.23)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Compare 2 × (10 + 5) with 2 × 10 + 5. Try to explain the grouping.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Make brackets represent the drawing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Repeated pieces become number of pieces × length per piece.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Group every quantity that must be removed from the original stock.</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Count only the cuts and kerf explicitly stated in the problem.</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Offcut = stock − (all piece lengths + all stated cutting loss).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Frames count pairs of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rectangle has two lengths and two widths.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Adding four sides and calculating 2 × (length + width) count the same boundary.</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2 × (length + width), the 2 multiplies both dimensions.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sketch, expression and measurement unit attached to the same problem.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W02-L02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Subtract the entire amount used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Classroom example: 3,000 mm stock; two 850 mm pieces;</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two stated cuts, each with 3 mm kerf.</a:t>
            </a:r>
            <a:endParaRPr lang="en-US" sz="1800" dirty="0"/>
          </a:p>
        </p:txBody>
      </p:sp>
      <p:sp>
        <p:nvSpPr>
          <p:cNvPr id="6" name="Text 4"/>
          <p:cNvSpPr/>
          <p:nvPr/>
        </p:nvSpPr>
        <p:spPr>
          <a:xfrm>
            <a:off x="609585" y="2714625"/>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Offcut = 3,000 − (2 × 850 + 2 × 3)</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 3,000 − 1,706 = 1,294 mm</a:t>
            </a:r>
            <a:endParaRPr lang="en-US" sz="2400" dirty="0"/>
          </a:p>
        </p:txBody>
      </p:sp>
      <p:sp>
        <p:nvSpPr>
          <p:cNvPr id="7" name="Text 5"/>
          <p:cNvSpPr/>
          <p:nvPr/>
        </p:nvSpPr>
        <p:spPr>
          <a:xfrm>
            <a:off x="609585" y="3857625"/>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1,700 mm pieces + 6 mm kerf + 1,294 mm offcut = 3,000 mm.</a:t>
            </a:r>
            <a:endParaRPr lang="en-US" sz="1800" dirty="0"/>
          </a:p>
        </p:txBody>
      </p:sp>
      <p:sp>
        <p:nvSpPr>
          <p:cNvPr id="8" name="Text 6"/>
          <p:cNvSpPr/>
          <p:nvPr/>
        </p:nvSpPr>
        <p:spPr>
          <a:xfrm>
            <a:off x="609585" y="47148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 Exercise Book 3B Q1–2.</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Underline the group before entering keys. Draw the pieces and label what each number counts.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W2 L2 • Numeracy Hub BEDMAS: Show steps after written work • Kerf is stated example data</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29</a:t>
            </a:r>
          </a:p>
        </p:txBody>
      </p:sp>
    </p:spTree>
    <p:extLst>
      <p:ext uri="{BB962C8B-B14F-4D97-AF65-F5344CB8AC3E}">
        <p14:creationId xmlns:p14="http://schemas.microsoft.com/office/powerpoint/2010/main" val="4261153196"/>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W02-L02.png"/>
          <p:cNvPicPr>
            <a:picLocks noChangeAspect="1"/>
          </p:cNvPicPr>
          <p:nvPr/>
        </p:nvPicPr>
        <p:blipFill>
          <a:blip r:embed="rId3"/>
          <a:stretch>
            <a:fillRect/>
          </a:stretch>
        </p:blipFill>
        <p:spPr>
          <a:xfrm>
            <a:off x="3260667" y="1691640"/>
            <a:ext cx="554874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p.46 · Frame diagram: two lengths and two widths.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W02-L02-2.png"/>
          <p:cNvPicPr>
            <a:picLocks noChangeAspect="1"/>
          </p:cNvPicPr>
          <p:nvPr/>
        </p:nvPicPr>
        <p:blipFill>
          <a:blip r:embed="rId3"/>
          <a:stretch>
            <a:fillRect/>
          </a:stretch>
        </p:blipFill>
        <p:spPr>
          <a:xfrm>
            <a:off x="685800" y="2643205"/>
            <a:ext cx="10698480" cy="216594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p.46 · Example 3.3: brackets change what is multiplied.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Does stock − pieces + kerf subtract the cutting loss?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It adds kerf back. Subtract the full group: stock − (pieces +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3B questions 1–2. Underline the group inside brackets before entering keys.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3B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3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3B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3B-Q1.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6 × 8 + 4 = 52 bolts</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3B question 3 and 3C questions 2–3. Draw the pieces, write one expression and compare with the Numeracy Hub steps.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Draw and label the pieces or frame for the assigned question; write one expression.</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Complete the paper calculation and underline the grouped quantity.</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Open Numeracy Hub BEDMAS and compare Show steps with the written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3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Redo 3C questions 2–3 and explain the brackets.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W02-L02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03  •  2026-11-02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03 | 2026-11-02</dc:title>
  <dc:creator>ACCESS Trades</dc:creator>
  <cp:lastModifiedBy>Gabriel Ostrowidzki</cp:lastModifiedBy>
  <cp:revision>3</cp:revision>
  <dcterms:created xsi:type="dcterms:W3CDTF">2026-10-19T18:44:52Z</dcterms:created>
  <dcterms:modified xsi:type="dcterms:W3CDTF">2026-10-19T19:22:04Z</dcterms:modified>
  <dc:subject>BEDMAS: choosing the correct order; BEDMAS in cut lists and frames</dc:subject>
</cp:coreProperties>
</file>