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7"/>
  </p:notesMasterIdLst>
  <p:sldIdLst>
    <p:sldId id="435" r:id="rId172"/>
    <p:sldId id="436" r:id="rId173"/>
    <p:sldId id="437" r:id="rId174"/>
    <p:sldId id="438" r:id="rId175"/>
    <p:sldId id="439" r:id="rId176"/>
    <p:sldId id="440" r:id="rId177"/>
    <p:sldId id="441" r:id="rId178"/>
    <p:sldId id="348" r:id="rId81"/>
    <p:sldId id="442" r:id="rId179"/>
    <p:sldId id="443" r:id="rId180"/>
    <p:sldId id="444" r:id="rId181"/>
    <p:sldId id="445" r:id="rId182"/>
    <p:sldId id="446" r:id="rId183"/>
    <p:sldId id="447" r:id="rId184"/>
    <p:sldId id="448" r:id="rId185"/>
    <p:sldId id="449" r:id="rId186"/>
    <p:sldId id="450" r:id="rId187"/>
    <p:sldId id="451" r:id="rId188"/>
    <p:sldId id="452" r:id="rId189"/>
    <p:sldId id="453" r:id="rId190"/>
    <p:sldId id="454" r:id="rId191"/>
    <p:sldId id="455" r:id="rId192"/>
    <p:sldId id="456" r:id="rId193"/>
    <p:sldId id="457" r:id="rId194"/>
    <p:sldId id="458" r:id="rId195"/>
    <p:sldId id="459" r:id="rId196"/>
    <p:sldId id="460" r:id="rId197"/>
    <p:sldId id="461" r:id="rId198"/>
    <p:sldId id="351" r:id="rId84"/>
    <p:sldId id="462" r:id="rId199"/>
    <p:sldId id="463" r:id="rId200"/>
    <p:sldId id="464" r:id="rId201"/>
    <p:sldId id="465" r:id="rId202"/>
    <p:sldId id="466" r:id="rId203"/>
    <p:sldId id="467" r:id="rId204"/>
    <p:sldId id="468" r:id="rId205"/>
    <p:sldId id="469" r:id="rId206"/>
    <p:sldId id="470" r:id="rId207"/>
    <p:sldId id="471" r:id="rId208"/>
    <p:sldId id="472" r:id="rId209"/>
    <p:sldId id="473" r:id="rId210"/>
    <p:sldId id="474" r:id="rId211"/>
    <p:sldId id="475" r:id="rId212"/>
    <p:sldId id="476" r:id="rId2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0520" autoAdjust="0"/>
  </p:normalViewPr>
  <p:slideViewPr>
    <p:cSldViewPr snapToGrid="0">
      <p:cViewPr varScale="1">
        <p:scale>
          <a:sx n="65" d="100"/>
          <a:sy n="65" d="100"/>
        </p:scale>
        <p:origin x="2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1" Type="http://schemas.openxmlformats.org/officeDocument/2006/relationships/slide" Target="slides/slide8.xml"/><Relationship Id="rId84" Type="http://schemas.openxmlformats.org/officeDocument/2006/relationships/slide" Target="slides/slide29.xml"/><Relationship Id="rId167" Type="http://schemas.openxmlformats.org/officeDocument/2006/relationships/notesMaster" Target="notesMasters/notesMaster1.xml"/><Relationship Id="rId168" Type="http://schemas.openxmlformats.org/officeDocument/2006/relationships/presProps" Target="presProps.xml"/><Relationship Id="rId169" Type="http://schemas.openxmlformats.org/officeDocument/2006/relationships/viewProps" Target="viewProps.xml"/><Relationship Id="rId170" Type="http://schemas.openxmlformats.org/officeDocument/2006/relationships/theme" Target="theme/theme1.xml"/><Relationship Id="rId171" Type="http://schemas.openxmlformats.org/officeDocument/2006/relationships/tableStyles" Target="tableStyles.xml"/><Relationship Id="rId172" Type="http://schemas.openxmlformats.org/officeDocument/2006/relationships/slide" Target="slides/slide1.xml"/><Relationship Id="rId173" Type="http://schemas.openxmlformats.org/officeDocument/2006/relationships/slide" Target="slides/slide2.xml"/><Relationship Id="rId174" Type="http://schemas.openxmlformats.org/officeDocument/2006/relationships/slide" Target="slides/slide3.xml"/><Relationship Id="rId175" Type="http://schemas.openxmlformats.org/officeDocument/2006/relationships/slide" Target="slides/slide4.xml"/><Relationship Id="rId176" Type="http://schemas.openxmlformats.org/officeDocument/2006/relationships/slide" Target="slides/slide5.xml"/><Relationship Id="rId177" Type="http://schemas.openxmlformats.org/officeDocument/2006/relationships/slide" Target="slides/slide6.xml"/><Relationship Id="rId178" Type="http://schemas.openxmlformats.org/officeDocument/2006/relationships/slide" Target="slides/slide7.xml"/><Relationship Id="rId179" Type="http://schemas.openxmlformats.org/officeDocument/2006/relationships/slide" Target="slides/slide9.xml"/><Relationship Id="rId180" Type="http://schemas.openxmlformats.org/officeDocument/2006/relationships/slide" Target="slides/slide10.xml"/><Relationship Id="rId181" Type="http://schemas.openxmlformats.org/officeDocument/2006/relationships/slide" Target="slides/slide11.xml"/><Relationship Id="rId182" Type="http://schemas.openxmlformats.org/officeDocument/2006/relationships/slide" Target="slides/slide12.xml"/><Relationship Id="rId183" Type="http://schemas.openxmlformats.org/officeDocument/2006/relationships/slide" Target="slides/slide13.xml"/><Relationship Id="rId184" Type="http://schemas.openxmlformats.org/officeDocument/2006/relationships/slide" Target="slides/slide14.xml"/><Relationship Id="rId185" Type="http://schemas.openxmlformats.org/officeDocument/2006/relationships/slide" Target="slides/slide15.xml"/><Relationship Id="rId186" Type="http://schemas.openxmlformats.org/officeDocument/2006/relationships/slide" Target="slides/slide16.xml"/><Relationship Id="rId187" Type="http://schemas.openxmlformats.org/officeDocument/2006/relationships/slide" Target="slides/slide17.xml"/><Relationship Id="rId188" Type="http://schemas.openxmlformats.org/officeDocument/2006/relationships/slide" Target="slides/slide18.xml"/><Relationship Id="rId189" Type="http://schemas.openxmlformats.org/officeDocument/2006/relationships/slide" Target="slides/slide19.xml"/><Relationship Id="rId190" Type="http://schemas.openxmlformats.org/officeDocument/2006/relationships/slide" Target="slides/slide20.xml"/><Relationship Id="rId191" Type="http://schemas.openxmlformats.org/officeDocument/2006/relationships/slide" Target="slides/slide21.xml"/><Relationship Id="rId192" Type="http://schemas.openxmlformats.org/officeDocument/2006/relationships/slide" Target="slides/slide22.xml"/><Relationship Id="rId193" Type="http://schemas.openxmlformats.org/officeDocument/2006/relationships/slide" Target="slides/slide23.xml"/><Relationship Id="rId194" Type="http://schemas.openxmlformats.org/officeDocument/2006/relationships/slide" Target="slides/slide24.xml"/><Relationship Id="rId195" Type="http://schemas.openxmlformats.org/officeDocument/2006/relationships/slide" Target="slides/slide25.xml"/><Relationship Id="rId196" Type="http://schemas.openxmlformats.org/officeDocument/2006/relationships/slide" Target="slides/slide26.xml"/><Relationship Id="rId197" Type="http://schemas.openxmlformats.org/officeDocument/2006/relationships/slide" Target="slides/slide27.xml"/><Relationship Id="rId198" Type="http://schemas.openxmlformats.org/officeDocument/2006/relationships/slide" Target="slides/slide28.xml"/><Relationship Id="rId199" Type="http://schemas.openxmlformats.org/officeDocument/2006/relationships/slide" Target="slides/slide30.xml"/><Relationship Id="rId200" Type="http://schemas.openxmlformats.org/officeDocument/2006/relationships/slide" Target="slides/slide31.xml"/><Relationship Id="rId201" Type="http://schemas.openxmlformats.org/officeDocument/2006/relationships/slide" Target="slides/slide32.xml"/><Relationship Id="rId202" Type="http://schemas.openxmlformats.org/officeDocument/2006/relationships/slide" Target="slides/slide33.xml"/><Relationship Id="rId203" Type="http://schemas.openxmlformats.org/officeDocument/2006/relationships/slide" Target="slides/slide34.xml"/><Relationship Id="rId204" Type="http://schemas.openxmlformats.org/officeDocument/2006/relationships/slide" Target="slides/slide35.xml"/><Relationship Id="rId205" Type="http://schemas.openxmlformats.org/officeDocument/2006/relationships/slide" Target="slides/slide36.xml"/><Relationship Id="rId206" Type="http://schemas.openxmlformats.org/officeDocument/2006/relationships/slide" Target="slides/slide37.xml"/><Relationship Id="rId207" Type="http://schemas.openxmlformats.org/officeDocument/2006/relationships/slide" Target="slides/slide38.xml"/><Relationship Id="rId208" Type="http://schemas.openxmlformats.org/officeDocument/2006/relationships/slide" Target="slides/slide39.xml"/><Relationship Id="rId209" Type="http://schemas.openxmlformats.org/officeDocument/2006/relationships/slide" Target="slides/slide40.xml"/><Relationship Id="rId210" Type="http://schemas.openxmlformats.org/officeDocument/2006/relationships/slide" Target="slides/slide41.xml"/><Relationship Id="rId211" Type="http://schemas.openxmlformats.org/officeDocument/2006/relationships/slide" Target="slides/slide42.xml"/><Relationship Id="rId212" Type="http://schemas.openxmlformats.org/officeDocument/2006/relationships/slide" Target="slides/slide43.xml"/><Relationship Id="rId213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43CA-EE69-4B9A-80F8-91B7489D0DD8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9165C-7370-4B52-8859-B50CCB8935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61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Use this worked example within the scheduled Teach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Use this worked example within the scheduled Teach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today’s math topics and review the timetable.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Start, 12:45 PM–12:50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Recall, 12:50 PM–12:55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Recall, 12:50 PM–12:55 PM. All slides with this phase share these 5 minutes; do not restart the time allocation for each slide.</a:t>
            </a:r>
          </a:p>
          <a:p/>
          <a:p>
            <a:r>
              <a:t>ACCESS EXERCISE BOOK: 6A-Q14</a:t>
            </a:r>
          </a:p>
          <a:p>
            <a:r>
              <a:t>Exact question: Write 36 : 84 in lowest terms.</a:t>
            </a:r>
          </a:p>
          <a:p>
            <a:r>
              <a:t>Instructor answer: 3 : 7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sections 6.5–6.7 pp.98–101</a:t>
            </a:r>
          </a:p>
          <a:p>
            <a:r>
              <a:t>ACCESS Trades Numeracy Textbook p.99 — Figure 6.2 and Example 6.8 — Sharing an amount in a ratio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sections 6.5–6.7 pp.98–101</a:t>
            </a:r>
          </a:p>
          <a:p>
            <a:r>
              <a:t>ACCESS Trades Numeracy Textbook p.99 — Figure 6.2 and Example 6.8 — Sharing an amount in a ratio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Textbook visual: ACCESS Textbook p.99 • Figure 6.2 — Equal parts in a 4:1 ratio</a:t>
            </a:r>
          </a:p>
          <a:p>
            <a:r>
              <a:t>Exact PDF/printed page: 99. ACCESS Textbook excerpt.</a:t>
            </a:r>
          </a:p>
          <a:p>
            <a:r>
              <a:t>Count equal parts in the diagram; treat the material mix as a classroom math example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Textbook visual: ACCESS Textbook p.99 • Example 6.8 — Sharing a total in a ratio; classroom math example</a:t>
            </a:r>
          </a:p>
          <a:p>
            <a:r>
              <a:t>Exact PDF/printed page: 99. ACCESS Textbook excerpt.</a:t>
            </a:r>
          </a:p>
          <a:p>
            <a:r>
              <a:t>Count equal parts in the diagram; treat the material mix as a classroom math example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Pause on the prompt before discussing the correction. This is included within the scheduled Teach block, not an additional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1:10 PM–1:25 PM. All slides with this phase share these 15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1:10 PM–1:25 PM. All slides with this phase share these 15 minutes; do not restart the time allocation for each slide.</a:t>
            </a:r>
          </a:p>
          <a:p/>
          <a:p>
            <a:r>
              <a:t>ACCESS EXERCISE BOOK: 6A-Q15</a:t>
            </a:r>
          </a:p>
          <a:p>
            <a:r>
              <a:t>Exact question: Write the ratio of 250 mm to 1.5 m in lowest terms.</a:t>
            </a:r>
          </a:p>
          <a:p>
            <a:r>
              <a:t>Instructor answer: 1 : 6</a:t>
            </a:r>
          </a:p>
          <a:p>
            <a:r>
              <a:t>Working: 250 : 1,500, divide both by 250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1:10 PM–1:25 PM. All slides with this phase share these 15 minutes; do not restart the time allocation for each slide.</a:t>
            </a:r>
          </a:p>
          <a:p/>
          <a:p>
            <a:r>
              <a:t>ACCESS EXERCISE BOOK: 6A-Q15</a:t>
            </a:r>
          </a:p>
          <a:p>
            <a:r>
              <a:t>Exact question: Write the ratio of 250 mm to 1.5 m in lowest terms.</a:t>
            </a:r>
          </a:p>
          <a:p>
            <a:r>
              <a:t>Instructor answer: 1 : 6</a:t>
            </a:r>
          </a:p>
          <a:p>
            <a:r>
              <a:t>Working: 250 : 1,500, divide both by 250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Demonstrate navigation, then open the tool and use the assigned values. Keep worked answers hidden until learners attempt the task. Include this activity within the allocated practice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Exact scheduled tool activity: Shape Canvas: compare rectangles with proportional dimensions. Numeracy Hub Calculator: check a rate or proportion after writing units.</a:t>
            </a:r>
          </a:p>
          <a:p>
            <a:r>
              <a:t>Write the assigned ratio or proportion with units and solve it on paper.</a:t>
            </a:r>
          </a:p>
          <a:p>
            <a:r>
              <a:t>Compare Shape Canvas rectangles whose dimensions use the same scale factor.</a:t>
            </a:r>
          </a:p>
          <a:p>
            <a:r>
              <a:t>Check the rate or proportion with Numeracy Hub Calculator and explain the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ACCESS EXERCISE BOOK: 6B-Q4</a:t>
            </a:r>
          </a:p>
          <a:p>
            <a:r>
              <a:t>Exact question: A conveyor belt moves 18 m in 45 s. What is its rate in m per s? At that rate, how long does a part take to travel 50 m?</a:t>
            </a:r>
          </a:p>
          <a:p>
            <a:r>
              <a:t>Instructor answer: 0.4 m per s, 125 s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ACCESS EXERCISE BOOK: 6B-Q7</a:t>
            </a:r>
          </a:p>
          <a:p>
            <a:r>
              <a:t>Exact question: A two-part epoxy is mixed 5 : 2 by volume. You need 1.4 L of mixed epoxy. How much of each part do you measure?</a:t>
            </a:r>
          </a:p>
          <a:p>
            <a:r>
              <a:t>Instructor answer: 1 L and 0.4 L</a:t>
            </a:r>
          </a:p>
          <a:p>
            <a:r>
              <a:t>Working: 1.4 ÷ 7 = 0.2 L per part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1:45 PM–1:55 PM. All slides with this phase share these 10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1:45 PM–1:55 PM. All slides with this phase share these 10 minutes; do not restart the time allocation for each slide.</a:t>
            </a:r>
          </a:p>
          <a:p/>
          <a:p>
            <a:r>
              <a:t>ACCESS EXERCISE BOOK: 6A-Q18</a:t>
            </a:r>
          </a:p>
          <a:p>
            <a:r>
              <a:t>Exact question: Solve 7/x = 21/36.</a:t>
            </a:r>
          </a:p>
          <a:p>
            <a:r>
              <a:t>Instructor answer: x = 12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1:45 PM–1:55 PM. All slides with this phase share these 10 minutes; do not restart the time allocation for each slide.</a:t>
            </a:r>
          </a:p>
          <a:p/>
          <a:p>
            <a:r>
              <a:t>ACCESS EXERCISE BOOK: 6B-Q6</a:t>
            </a:r>
          </a:p>
          <a:p>
            <a:r>
              <a:t>Exact question: Cutting 14 brackets uses 9.8 m of angle iron. How much angle iron do 35 brackets use?</a:t>
            </a:r>
          </a:p>
          <a:p>
            <a:r>
              <a:t>Instructor answer: 24.5 m</a:t>
            </a:r>
          </a:p>
          <a:p>
            <a:r>
              <a:t>Working: 9.8 × 35 ÷ 14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W04-L07 | 2026-11-19 | 12:45 PM–2:00 PM | 75 minutes</a:t>
            </a:r>
          </a:p>
          <a:p>
            <a:r>
              <a:t>Ratios, rates and proportions</a:t>
            </a:r>
          </a:p>
          <a:p>
            <a:r>
              <a:t>Mode: Math</a:t>
            </a:r>
          </a:p>
          <a:p>
            <a:r>
              <a:t>Goal: Simplify ratios in common units and use proportions to scale a material quantity.</a:t>
            </a:r>
          </a:p>
          <a:p>
            <a:r>
              <a:t>Read: Textbook sections 6.5–6.7 pp.98–101</a:t>
            </a:r>
          </a:p>
          <a:p>
            <a:r>
              <a:t>Practise: Exercise Book 6A Q14–18 (p.40); 6B Q4,6 (p.41), Q7 (p.42)</a:t>
            </a:r>
          </a:p>
          <a:p>
            <a:r>
              <a:t>Tool: Shape Canvas: compare rectangles with proportional dimensions. Numeracy Hub Calculator: check a rate or proportion after writing units.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Connect ratios, rates and proportions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Use Exercise Book 6A Q14. Ask why millimetres and metres must match before comparing quantities.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Model common units, total parts and the unit rate. Demonstrate Exercise Book 6A Q16 with a bar sketch.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Work Exercise Book 6A Q15,17–18 and 6B Q6 in pairs. Learners label numerator and denominator units.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Complete Exercise Book 6B Q4 and Q7. Draw proportional parts on Shape Canvas; treat the book’s epoxy mix only as a math example, not a real mixing instruction.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Exercise Book 6A Q18 and Exercise Book 6B Q6; show the proportion or unit-rate calculation.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Q18: x = 12. 6B Q6 = 24.5 m. Answer Key p.19. Answer Key pp.18–19</a:t>
            </a:r>
          </a:p>
          <a:p/>
          <a:p>
            <a:r>
              <a:t>Apply the same proportion to scale drawings and dimensions.</a:t>
            </a:r>
          </a:p>
          <a:p/>
          <a:p>
            <a:r>
              <a:t>Keep activities within the allocated phase time.</a:t>
            </a:r>
          </a:p>
          <a:p>
            <a:r>
              <a:t>PHASE TIMING: Wrap up, 1:55 PM–2:00 PM. All slides with this phase share these 5 minutes; do not restart the time allocation for each slide.</a:t>
            </a:r>
          </a:p>
          <a:p/>
          <a:p>
            <a:r>
              <a:t>Next scheduled learning: Apply the same proportion to scale drawings and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Scheduled break, 15 minutes. Resume at 2:15 PM. Do not move the following math block into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Start, 2:15 PM–2:20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Recall, 2:20 PM–2:25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sections 6.8 pp.102–103; review Chapter 4–6</a:t>
            </a:r>
          </a:p>
          <a:p>
            <a:r>
              <a:t>ACCESS Trades Numeracy Textbook p.102 — Figure 6.3 and Example 6.11 — Scale drawings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sections 6.8 pp.102–103; review Chapter 4–6</a:t>
            </a:r>
          </a:p>
          <a:p>
            <a:r>
              <a:t>ACCESS Trades Numeracy Textbook p.102 — Figure 6.3 and Example 6.11 — Scale drawings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Textbook visual: ACCESS Textbook p.102 • Figure 6.3 — Drawing dimensions and real dimensions</a:t>
            </a:r>
          </a:p>
          <a:p>
            <a:r>
              <a:t>Exact PDF/printed page: 102. ACCESS Textbook excerpt.</a:t>
            </a:r>
          </a:p>
          <a:p>
            <a:r>
              <a:t>Distinguish the labelled drawing measurement from the calculated real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Textbook visual: ACCESS Textbook p.102 • Example 6.11 — Scale factor from drawing to real length</a:t>
            </a:r>
          </a:p>
          <a:p>
            <a:r>
              <a:t>Exact PDF/printed page: 102. ACCESS Textbook excerpt.</a:t>
            </a:r>
          </a:p>
          <a:p>
            <a:r>
              <a:t>Distinguish the labelled drawing measurement from the calculated real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Pause on the prompt before discussing the correction. This is included within the scheduled Teach block, not an additional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2:40 PM–2:55 PM. All slides with this phase share these 15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2:40 PM–2:55 PM. All slides with this phase share these 15 minutes; do not restart the time allocation for each slide.</a:t>
            </a:r>
          </a:p>
          <a:p/>
          <a:p>
            <a:r>
              <a:t>ACCESS EXERCISE BOOK: 6A-Q20</a:t>
            </a:r>
          </a:p>
          <a:p>
            <a:r>
              <a:t>Exact question: A 14 mm part is drawn at 3 : 1. How long is it on the drawing?</a:t>
            </a:r>
          </a:p>
          <a:p>
            <a:r>
              <a:t>Instructor answer: 42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2:40 PM–2:55 PM. All slides with this phase share these 15 minutes; do not restart the time allocation for each slide.</a:t>
            </a:r>
          </a:p>
          <a:p/>
          <a:p>
            <a:r>
              <a:t>ACCESS EXERCISE BOOK: 6A-Q20</a:t>
            </a:r>
          </a:p>
          <a:p>
            <a:r>
              <a:t>Exact question: A 14 mm part is drawn at 3 : 1. How long is it on the drawing?</a:t>
            </a:r>
          </a:p>
          <a:p>
            <a:r>
              <a:t>Instructor answer: 42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Demonstrate navigation, then open the tool and use the assigned values. Keep worked answers hidden until learners attempt the task. Include this activity within the allocated practice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Exact scheduled tool activity: Shape Canvas: draw a dimensioned rectangle and change one dimension proportionally. Numeracy Hub: Exam builder: optional Easy review of taught topics only.</a:t>
            </a:r>
          </a:p>
          <a:p>
            <a:r>
              <a:t>Build the assigned dimensioned rectangle in Shape Canvas from written sizes.</a:t>
            </a:r>
          </a:p>
          <a:p>
            <a:r>
              <a:t>Change one dimension by the stated factor and predict the resulting labelled dimension.</a:t>
            </a:r>
          </a:p>
          <a:p>
            <a:r>
              <a:t>Complete the core paper work first; use optional Easy Exam builder review on taught topics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ACCESS EXERCISE BOOK: 6C-Q5</a:t>
            </a:r>
          </a:p>
          <a:p>
            <a:r>
              <a:t>Exact question: The sizes are measured on a 1 : 25 drawing. Find the real length and width.</a:t>
            </a:r>
          </a:p>
          <a:p>
            <a:r>
              <a:t>Instructor answer: 1,400 mm by 800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ACCESS EXERCISE BOOK: 6C-Q7</a:t>
            </a:r>
          </a:p>
          <a:p>
            <a:r>
              <a:t>Exact question: A drawing is marked 1/2″ = 1′-0″. Find the real length of the line in feet and inches.</a:t>
            </a:r>
          </a:p>
          <a:p>
            <a:r>
              <a:t>Instructor answer: 3.75 ft = 3′ 9″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3:15 PM–3:25 PM. All slides with this phase share these 10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3:15 PM–3:25 PM. All slides with this phase share these 10 minutes; do not restart the time allocation for each slide.</a:t>
            </a:r>
          </a:p>
          <a:p/>
          <a:p>
            <a:r>
              <a:t>ACCESS EXERCISE BOOK: 6A-Q19</a:t>
            </a:r>
          </a:p>
          <a:p>
            <a:r>
              <a:t>Exact question: At a scale of 1 : 40, a line measures 85 mm. How long is the real length?</a:t>
            </a:r>
          </a:p>
          <a:p>
            <a:r>
              <a:t>Instructor answer: 3,400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Check, 3:15 PM–3:25 PM. All slides with this phase share these 10 minutes; do not restart the time allocation for each slide.</a:t>
            </a:r>
          </a:p>
          <a:p/>
          <a:p>
            <a:r>
              <a:t>ACCESS EXERCISE BOOK: 6A-Q20</a:t>
            </a:r>
          </a:p>
          <a:p>
            <a:r>
              <a:t>Exact question: A 14 mm part is drawn at 3 : 1. How long is it on the drawing?</a:t>
            </a:r>
          </a:p>
          <a:p>
            <a:r>
              <a:t>Instructor answer: 42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W04-L08 | 2026-11-19 | 2:15 PM–3:30 PM | 75 minutes</a:t>
            </a:r>
          </a:p>
          <a:p>
            <a:r>
              <a:t>Scale drawings and weekly check</a:t>
            </a:r>
          </a:p>
          <a:p>
            <a:r>
              <a:t>Mode: Math</a:t>
            </a:r>
          </a:p>
          <a:p>
            <a:r>
              <a:t>Goal: Translate drawing lengths to real lengths and explain a multi-step calculation from a dimensioned sketch.</a:t>
            </a:r>
          </a:p>
          <a:p>
            <a:r>
              <a:t>Read: Textbook sections 6.8 pp.102–103; review Chapter 4–6</a:t>
            </a:r>
          </a:p>
          <a:p>
            <a:r>
              <a:t>Practise: Exercise Book 6A Q19–20 (p.40); 6B Q8 (p.42); 6C Q5,7–8 (p.44)</a:t>
            </a:r>
          </a:p>
          <a:p>
            <a:r>
              <a:t>Tool: Shape Canvas: draw a dimensioned rectangle and change one dimension proportionally. Numeracy Hub: Exam builder: optional Easy review of taught topics only.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Connect scale drawings and number-skills checkpoint to reading a carpentry drawing or preparing a cut list. State the objective.</a:t>
            </a:r>
          </a:p>
          <a:p>
            <a:r>
              <a:t>Learners: Share a prior use of this skill; identify the quantity and unit.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Ask what 1:40 means. Compare a drawing length and a real length before calculating.</a:t>
            </a:r>
          </a:p>
          <a:p>
            <a:r>
              <a:t>Learners: Attempt the short retrieval task independently; explain the method before seeing answers.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Model Exercise Book 6A Q19 and contrast enlargement with reduction. Use written dimensions rather than measuring a screen image.</a:t>
            </a:r>
          </a:p>
          <a:p>
            <a:r>
              <a:t>Learners: Annotate a worked example; predict the next step and ask questions.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Work Exercise Book 6A Q20 and 6B Q8 with a partner. Explain where inches, feet and the scale factor enter.</a:t>
            </a:r>
          </a:p>
          <a:p>
            <a:r>
              <a:t>Learners: Work in pairs; alternate calculator operator and checker. Show units and an estimated answer.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Complete Exercise Book 6C Q5,7–8. Use a four-question paper checkpoint from the week; optional Numeracy Hub review only after core work.</a:t>
            </a:r>
          </a:p>
          <a:p>
            <a:r>
              <a:t>Learners: Solve on paper first; use the tool to check; correct one error with a written reason.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Exercise Book 6A Q19–20 independently, with units and a sketch showing scale direction.</a:t>
            </a:r>
          </a:p>
          <a:p>
            <a:r>
              <a:t>Learners: Solve without displayed answers; include working, units and the requested rounding.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Ask: What did you learn? Where will you use it? What will you check next time?</a:t>
            </a:r>
          </a:p>
          <a:p>
            <a:r>
              <a:t>Learners: Name the math and one other essential skill used; write the next practice step.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6A Q19 = 3,400 mm; Q20 = 42 mm. 6B Q8 = 43 ft. Answer Key p.19. Answer Key pp.13–19</a:t>
            </a:r>
          </a:p>
          <a:p/>
          <a:p>
            <a:r>
              <a:t>Group learners by errors in fractions, decimals or ratio before Week 5 conversions.</a:t>
            </a:r>
          </a:p>
          <a:p/>
          <a:p>
            <a:r>
              <a:t>Keep activities within the allocated phase time.</a:t>
            </a:r>
          </a:p>
          <a:p>
            <a:r>
              <a:t>PHASE TIMING: Wrap up, 3:25 PM–3:30 PM. All slides with this phase share these 5 minutes; do not restart the time allocation for each slide.</a:t>
            </a:r>
          </a:p>
          <a:p/>
          <a:p>
            <a:r>
              <a:t>Next scheduled learning: Group learners by errors in fractions, decimals or ratio before Week 5 conversions.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" TargetMode="External"/><Relationship Id="rId5" Type="http://schemas.openxmlformats.org/officeDocument/2006/relationships/hyperlink" Target="../../../books/ACCESS-Trades-Numeracy-Exercise-Book.pdf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98" TargetMode="External"/><Relationship Id="rId6" Type="http://schemas.openxmlformats.org/officeDocument/2006/relationships/hyperlink" Target="../../../books/ACCESS-Trades-Numeracy-Exercise-Book.pdf#page=3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99" TargetMode="External"/><Relationship Id="rId6" Type="http://schemas.openxmlformats.org/officeDocument/2006/relationships/hyperlink" Target="../../../books/ACCESS-Trades-Numeracy-Exercise-Book.pdf#page=40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99" TargetMode="External"/><Relationship Id="rId6" Type="http://schemas.openxmlformats.org/officeDocument/2006/relationships/hyperlink" Target="../../../books/ACCESS-Trades-Numeracy-Exercise-Book.pdf#page=40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98" TargetMode="External"/><Relationship Id="rId6" Type="http://schemas.openxmlformats.org/officeDocument/2006/relationships/hyperlink" Target="../../../books/ACCESS-Trades-Numeracy-Exercise-Book.pdf#page=3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98" TargetMode="External"/><Relationship Id="rId6" Type="http://schemas.openxmlformats.org/officeDocument/2006/relationships/hyperlink" Target="../../../books/ACCESS-Trades-Numeracy-Exercise-Book.pdf#page=3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98" TargetMode="External"/><Relationship Id="rId6" Type="http://schemas.openxmlformats.org/officeDocument/2006/relationships/hyperlink" Target="../../../books/ACCESS-Trades-Numeracy-Exercise-Book.pdf#page=40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98" TargetMode="External"/><Relationship Id="rId6" Type="http://schemas.openxmlformats.org/officeDocument/2006/relationships/hyperlink" Target="../../../books/ACCESS-Trades-Numeracy-Exercise-Book.pdf#page=41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98" TargetMode="External"/><Relationship Id="rId6" Type="http://schemas.openxmlformats.org/officeDocument/2006/relationships/hyperlink" Target="../../../books/ACCESS-Trades-Numeracy-Exercise-Book.pdf#page=41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98" TargetMode="External"/><Relationship Id="rId6" Type="http://schemas.openxmlformats.org/officeDocument/2006/relationships/hyperlink" Target="../../../books/ACCESS-Trades-Numeracy-Exercise-Book.pdf#page=3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98" TargetMode="External"/><Relationship Id="rId6" Type="http://schemas.openxmlformats.org/officeDocument/2006/relationships/hyperlink" Target="../../../books/ACCESS-Trades-Numeracy-Exercise-Book.pdf#page=41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98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" TargetMode="External"/><Relationship Id="rId5" Type="http://schemas.openxmlformats.org/officeDocument/2006/relationships/hyperlink" Target="../../../books/ACCESS-Trades-Numeracy-Exercise-Book.pdf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102" TargetMode="External"/><Relationship Id="rId6" Type="http://schemas.openxmlformats.org/officeDocument/2006/relationships/hyperlink" Target="../../../books/ACCESS-Trades-Numeracy-Exercise-Book.pdf#page=40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102" TargetMode="External"/><Relationship Id="rId6" Type="http://schemas.openxmlformats.org/officeDocument/2006/relationships/hyperlink" Target="../../../books/ACCESS-Trades-Numeracy-Exercise-Book.pdf#page=40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102" TargetMode="External"/><Relationship Id="rId6" Type="http://schemas.openxmlformats.org/officeDocument/2006/relationships/hyperlink" Target="../../../books/ACCESS-Trades-Numeracy-Exercise-Book.pdf#page=3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102" TargetMode="External"/><Relationship Id="rId6" Type="http://schemas.openxmlformats.org/officeDocument/2006/relationships/hyperlink" Target="../../../books/ACCESS-Trades-Numeracy-Exercise-Book.pdf#page=3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102" TargetMode="External"/><Relationship Id="rId6" Type="http://schemas.openxmlformats.org/officeDocument/2006/relationships/hyperlink" Target="../../../books/ACCESS-Trades-Numeracy-Exercise-Book.pdf#page=40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102" TargetMode="External"/><Relationship Id="rId6" Type="http://schemas.openxmlformats.org/officeDocument/2006/relationships/hyperlink" Target="../../../books/ACCESS-Trades-Numeracy-Exercise-Book.pdf#page=43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102" TargetMode="External"/><Relationship Id="rId6" Type="http://schemas.openxmlformats.org/officeDocument/2006/relationships/hyperlink" Target="../../../books/ACCESS-Trades-Numeracy-Exercise-Book.pdf#page=43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102" TargetMode="External"/><Relationship Id="rId6" Type="http://schemas.openxmlformats.org/officeDocument/2006/relationships/hyperlink" Target="../../../books/ACCESS-Trades-Numeracy-Exercise-Book.pdf#page=3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hyperlink" Target="../../../books/ACCESS-Trades-Numeracy-Textbook.pdf#page=102" TargetMode="External"/><Relationship Id="rId6" Type="http://schemas.openxmlformats.org/officeDocument/2006/relationships/hyperlink" Target="../../../books/ACCESS-Trades-Numeracy-Exercise-Book.pdf#page=39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17.png"/><Relationship Id="rId4" Type="http://schemas.openxmlformats.org/officeDocument/2006/relationships/hyperlink" Target="../../../books/ACCESS-Trades-Numeracy-Textbook.pdf#page=102" TargetMode="External"/><Relationship Id="rId5" Type="http://schemas.openxmlformats.org/officeDocument/2006/relationships/hyperlink" Target="../../../books/ACCESS-Trades-Numeracy-Exercise-Book.pdf#page=40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t>ACCESS  /  CARPENTRY FOUNDATION  /  INTAKE 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143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1A1A1A"/>
                </a:solidFill>
                <a:latin typeface="Arial"/>
              </a:defRPr>
            </a:pPr>
            <a:r>
              <a:t>Day 13  | 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88366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4A4E54"/>
                </a:solidFill>
                <a:latin typeface="Arial"/>
              </a:defRPr>
            </a:pPr>
            <a:r>
              <a:t>November 19,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2633472"/>
            <a:ext cx="109728" cy="2194560"/>
          </a:xfrm>
          <a:prstGeom prst="rect">
            <a:avLst/>
          </a:prstGeom>
          <a:solidFill>
            <a:srgbClr val="D2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32688" y="2743200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t>Ratios, rates and proportions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004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t>12:45 PM–2:00 PM  •  Math  •  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40480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t>Scale drawings and weekly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2976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t>2:15 PM–3:30 PM  •  Math  •  75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44068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D2181F"/>
                </a:solidFill>
                <a:latin typeface="Arial"/>
              </a:defRPr>
            </a:pPr>
            <a:r>
              <a:t>Week 4  •  2 scheduled blocks  •  150 teaching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t>Estimate. Show the method. Label units. Check the result.</a:t>
            </a:r>
          </a:p>
        </p:txBody>
      </p:sp>
      <p:pic>
        <p:nvPicPr>
          <p:cNvPr id="12" name="Picture 11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t>Day 13  •  2026-11-19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9418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rPr/>
              <a:t>DAY 13  /  WEEK 4  /  CLASS TIMETABLE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000" b="1">
                <a:solidFill>
                  <a:srgbClr val="1A1A1A"/>
                </a:solidFill>
                <a:latin typeface="Arial"/>
              </a:defRPr>
            </a:pPr>
            <a:r>
              <a:rPr/>
              <a:t>Today’s exact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27632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D2181F"/>
                </a:solidFill>
                <a:latin typeface="Arial"/>
              </a:defRPr>
            </a:pPr>
            <a:r>
              <a:rPr/>
              <a:t>12:45 PM–2:00 PM  •  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048256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1A1A"/>
                </a:solidFill>
                <a:latin typeface="Arial"/>
              </a:defRPr>
            </a:pPr>
            <a:r>
              <a:rPr/>
              <a:t>Ratios, rates and proportions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8529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12:45 PM–12:50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28529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7528" y="2852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2095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12:50 PM–12:55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32095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566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12:55 PM–1:10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35661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227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1:10 PM–1:25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9227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9227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793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1:25 PM–1:45 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Practise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4279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36007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1:45 PM–1:55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63600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46360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992623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1:55 PM–2:00 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499262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Wrap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99262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522976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Math  •  Math Week 4, Lesson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1627632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D2181F"/>
                </a:solidFill>
                <a:latin typeface="Arial"/>
              </a:defRPr>
            </a:pPr>
            <a:r>
              <a:rPr/>
              <a:t>2:15 PM–3:30 PM  •  75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048256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1A1A"/>
                </a:solidFill>
                <a:latin typeface="Arial"/>
              </a:defRPr>
            </a:pPr>
            <a:r>
              <a:rPr/>
              <a:t>Scale drawings and weekly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8529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2:15 PM–2:20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28529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1088" y="2852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2095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2:20 PM–2:25 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2095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91088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566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2:25 PM–2:40 PM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35661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91088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9227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2:40 PM–2:55 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39227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Together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91088" y="39227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2793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2:55 PM–3:15 PM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Practise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91088" y="4279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4636007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3:15 PM–3:25 PM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2208" y="463600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91088" y="46360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4992623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3:25 PM–3:30 PM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499262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Wrap 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91088" y="499262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5522976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Math  •  Math Week 4, Lesson 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6053328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1A1A1A"/>
                </a:solidFill>
                <a:latin typeface="Arial"/>
              </a:defRPr>
            </a:pPr>
            <a:r>
              <a:rPr/>
              <a:t>Break: 2:00 PM–2:15 PM  •  15 minutes  •  excluded from teaching time</a:t>
            </a:r>
          </a:p>
        </p:txBody>
      </p:sp>
      <p:pic>
        <p:nvPicPr>
          <p:cNvPr id="53" name="Picture 5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START  •  12:45 PM–12:50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Ratios, rates and proportions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56231"/>
            <a:ext cx="10927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rPr/>
              <a:t>Today’s goal: Simplify ratios in common units and use proportions to scale a material quantity.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54680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Share a prior use of this skill; identify the quantity and unit.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114800"/>
            <a:ext cx="10927080" cy="13716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A1A1A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9011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rPr/>
              <a:t>Exercise Book 6A Q14–18 (p.40); 6B Q4,6 (p.41), Q7 (p.42)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0644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D2181F"/>
                </a:solidFill>
                <a:latin typeface="Arial"/>
              </a:defRPr>
            </a:pPr>
            <a:r>
              <a:rPr/>
              <a:t>Keep your notebook, assigned ACCESS books and chosen calculator ready.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RECALL  •  12:50 PM–12:55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Recall and reconnect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Use Exercise Book 6A Q14. Explain why millimetres and metres must match before comparing quantities.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Attempt the short retrieval task independently; explain the method before seeing answers.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6A Q14–18 (p.40); 6B Q4,6 (p.41), Q7 (p.42)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RECALL  •  12:50 PM–12:55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Recall from the Exercise Book  |  6A Q14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pic>
        <p:nvPicPr>
          <p:cNvPr id="5" name="Picture 4" descr="6A-Q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Write ratios with clear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 ratio compares quantities in a stated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Convert comparable lengths to the same unit before simplifying.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Divide both terms by the same factor to keep the ratio equivalent.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 rate retains its units, such as dollars per metre.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Scale every part by the same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Add the ratio terms to find the number of equal parts.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Find the value of one part, then multiply for each required share.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For a proportion, keep corresponding quantities in the same order.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Check the scaled quantities against the original ratio.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09585" y="381000"/>
            <a:ext cx="94183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1150">
                <a:solidFill>
                  <a:srgbClr val="D2181F"/>
                </a:solidFill>
                <a:latin typeface="Arial"/>
              </a:defRPr>
            </a:pPr>
            <a:r>
              <a:rPr/>
              <a:t>W04-L07  •  TEACH  •  12:55 PM–1:10 PM  •  15 MIN TOTAL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781050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make the comparison meaningful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714500"/>
            <a:ext cx="1097252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 : 500 mm = 2,000 : 500 = 4 :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585" y="2714625"/>
            <a:ext cx="1097252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ratio 3:2, total 20 units: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total parts → 20 ÷ 5 = 4 units per part → 12 and 8 units.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3:2 ratio does not mean the first part is 3/2 of the whole.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452437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Together: 6A Q15,17–18 and 6B Q6. Label rate units.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proportional Shape Canvas rectangles; check with the calculator after writing the proportion.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6345936"/>
            <a:ext cx="108813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 L7 • Book mixing examples are mathematics only, not real product instructions</a:t>
            </a:r>
            <a:endParaRPr lang="en-US" sz="1050" dirty="0"/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08</a:t>
            </a:r>
          </a:p>
        </p:txBody>
      </p:sp>
    </p:spTree>
    <p:extLst>
      <p:ext uri="{BB962C8B-B14F-4D97-AF65-F5344CB8AC3E}">
        <p14:creationId xmlns:p14="http://schemas.microsoft.com/office/powerpoint/2010/main" val="3318482580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pic>
        <p:nvPicPr>
          <p:cNvPr id="5" name="Picture 4" descr="W04-L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23197"/>
            <a:ext cx="10698480" cy="2005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ACCESS Textbook p.99 • Figure 6.2 — Equal parts in a 4:1 ratio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pic>
        <p:nvPicPr>
          <p:cNvPr id="5" name="Picture 4" descr="W04-L0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5016"/>
            <a:ext cx="10698480" cy="36023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ACCESS Textbook p.99 • Example 6.8 — Sharing a total in a ratio; classroom math example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Spot the mistake. Explain the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47088"/>
            <a:ext cx="10927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1A1A"/>
                </a:solidFill>
                <a:latin typeface="Arial"/>
              </a:defRPr>
            </a:pPr>
            <a:r>
              <a:rPr/>
              <a:t>Can you simplify 1 m : 50 mm as 1 : 50?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0332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2181F"/>
                </a:solidFill>
                <a:latin typeface="Arial"/>
              </a:defRPr>
            </a:pPr>
            <a:r>
              <a:rPr/>
              <a:t>Discuss the method before checking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17720"/>
            <a:ext cx="10927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4A4E54"/>
                </a:solidFill>
                <a:latin typeface="Arial"/>
              </a:defRPr>
            </a:pPr>
            <a:r>
              <a:rPr/>
              <a:t>No. Convert to common units first: 1,000 mm : 50 mm, then simplify both terms.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TOGETHER  •  1:10 PM–1:25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Work Exercise Book 6A Q15,17–18 and 6B Q6 in pairs. Label numerator and denominator units.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Work in pairs; alternate calculator operator and checker. Show units and an estimated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6A Q14–18 (p.40); 6B Q4,6 (p.41), Q7 (p.42)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TOGETHER  •  1:10 PM–1:25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Guided practice  |  6A Q15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pic>
        <p:nvPicPr>
          <p:cNvPr id="5" name="Picture 4" descr="6A-Q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Work with a partner. Take turns explaining the next step.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TOGETHER  •  1:10 PM–1:25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Compare your method  |  6A Q15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pic>
        <p:nvPicPr>
          <p:cNvPr id="5" name="Picture 4" descr="6A-Q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91690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611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D2181F"/>
                </a:solidFill>
                <a:latin typeface="Arial"/>
              </a:defRPr>
            </a:pPr>
            <a:r>
              <a:rPr/>
              <a:t>CHECK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A1A1A"/>
                </a:solidFill>
                <a:latin typeface="Arial"/>
              </a:defRPr>
            </a:pPr>
            <a:r>
              <a:rPr/>
              <a:t>1 :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663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4A4E54"/>
                </a:solidFill>
                <a:latin typeface="Arial"/>
              </a:defRPr>
            </a:pPr>
            <a:r>
              <a:rPr/>
              <a:t>250 : 1,500, divide both by 250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scheduled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Complete Exercise Book 6B Q4 and Q7. Draw proportional parts on Shape Canvas; treat the book’s epoxy mix only as a math example, not a real mixing instruction.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Solve on paper first; use the tool to check; correct one error with a written reason.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6A Q14–18 (p.40); 6B Q4,6 (p.41), Q7 (p.42)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Open the ACCESS tool for this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pic>
        <p:nvPicPr>
          <p:cNvPr id="5" name="Picture 4" descr="shape-rect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76" y="1664208"/>
            <a:ext cx="6122822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5998464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50" b="0">
                <a:solidFill>
                  <a:srgbClr val="4A4E54"/>
                </a:solidFill>
                <a:latin typeface="Arial"/>
              </a:defRPr>
            </a:pPr>
            <a:r>
              <a:rPr/>
              <a:t>Navigation example. Use the values and units in the assigned task.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tool activity: try, compare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Write the assigned ratio or proportion with units and solve it on paper.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27248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Compare Shape Canvas rectangles whose dimensions use the same scale factor.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25696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25696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Check the rate or proportion with Numeracy Hub Calculator and explain the units.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6B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pic>
        <p:nvPicPr>
          <p:cNvPr id="5" name="Picture 4" descr="6B-Q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96362"/>
            <a:ext cx="10698480" cy="1367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6B Q7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pic>
        <p:nvPicPr>
          <p:cNvPr id="5" name="Picture 4" descr="6B-Q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96362"/>
            <a:ext cx="10698480" cy="1367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CHECK  •  1:45 PM–1:55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Check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Exercise Book 6A Q18 and Exercise Book 6B Q6; show the proportion or unit-rate calculation.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Solve without displayed answers; include working, units and the requested rounding.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6A Q14–18 (p.40); 6B Q4,6 (p.41), Q7 (p.42)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CHECK  •  1:45 PM–1:55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6A Q18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pic>
        <p:nvPicPr>
          <p:cNvPr id="5" name="Picture 4" descr="6A-Q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Answer independently. Keep worked solutions closed.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CHECK  •  1:45 PM–1:55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6B Q6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pic>
        <p:nvPicPr>
          <p:cNvPr id="5" name="Picture 4" descr="6B-Q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96362"/>
            <a:ext cx="10698480" cy="1367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Answer independently. Keep worked solutions closed.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W04-L07  •  WRAP UP  •  1:55 PM–2:00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Wrap up and choose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6.5–6.7 pp.98–101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Ask: What did you learn? Where will you use it? What will you check next time?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Name the math and one other essential skill used; write the next practice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6A Q14–18 (p.40); 6B Q4,6 (p.41), Q7 (p.42)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t>DAY 13  •  SCHEDULED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400" b="1">
                <a:solidFill>
                  <a:srgbClr val="1A1A1A"/>
                </a:solidFill>
                <a:latin typeface="Arial"/>
              </a:defRPr>
            </a:pPr>
            <a: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743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200" b="0">
                <a:solidFill>
                  <a:srgbClr val="D2181F"/>
                </a:solidFill>
                <a:latin typeface="Arial"/>
              </a:defRPr>
            </a:pPr>
            <a:r>
              <a:t>2:00 PM–2:15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794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A1A1A"/>
                </a:solidFill>
                <a:latin typeface="Arial"/>
              </a:defRPr>
            </a:pPr>
            <a:r>
              <a:t>Return ready for: Scale drawings and weekly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4A4E54"/>
                </a:solidFill>
                <a:latin typeface="Arial"/>
              </a:defRPr>
            </a:pPr>
            <a:r>
              <a:t>This break is excluded from teaching minutes.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t>Day 13  •  2026-11-19  •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START  •  2:15 PM–2:20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Scale drawings and weekly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56231"/>
            <a:ext cx="10927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rPr/>
              <a:t>Today’s goal: Translate drawing lengths to real lengths and explain a multi-step calculation from a dimensioned sketch.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54680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Share a prior use of this skill; identify the quantity and unit.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114800"/>
            <a:ext cx="10927080" cy="13716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A1A1A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9011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rPr/>
              <a:t>Exercise Book 6A Q19–20 (p.40); 6B Q8 (p.42); 6C Q5,7–8 (p.44)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0644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D2181F"/>
                </a:solidFill>
                <a:latin typeface="Arial"/>
              </a:defRPr>
            </a:pPr>
            <a:r>
              <a:rPr/>
              <a:t>Keep your notebook, assigned ACCESS books and chosen calculator ready.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RECALL  •  2:20 PM–2:25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Recall and reconnect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Identify what 1:40 means. Compare a drawing length and a real length before calculating.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Attempt the short retrieval task independently; explain the method before seeing answers.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6A Q19–20 (p.40); 6B Q8 (p.42); 6C Q5,7–8 (p.44)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Read the direction of a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 1:40 scale means one drawing unit represents 40 matching real units.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For 1:n reductions: drawing → real, multiply by n; real → drawing, divide by 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For n:1 enlargements: drawing → real, divide by n; real → drawing, multiply by 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Convert units when needed; keep drawing and real dimensions labelled.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Use dimensions, not screen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Read the written measurement on a drawing.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 resized screen image is not a reliable ruler.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Write a sketch and an equation showing which length is unknown.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Check direction: a 1:40 drawing is smaller; a 3:1 drawing is larger than the real object.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09585" y="381000"/>
            <a:ext cx="94183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1150">
                <a:solidFill>
                  <a:srgbClr val="D2181F"/>
                </a:solidFill>
                <a:latin typeface="Arial"/>
              </a:defRPr>
            </a:pPr>
            <a:r>
              <a:rPr/>
              <a:t>W04-L08  •  TEACH  •  2:25 PM–2:40 PM  •  15 MIN TOTAL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781050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to return to full size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714500"/>
            <a:ext cx="1097252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 Q19: 85 mm × 40 = 3,400 mm = 3.4 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585" y="2762250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check: 3,400 mm ÷ 40 = 85 mm.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example: 2,000 mm at 1:50 is drawn as 40 mm.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4000500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Together: 6A Q20 and 6B Q8. Explain where inches, feet and the scale factor enter. Do unit conversions explicitly.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519112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Canvas: label a rectangle, then change its dimensions proportionally. Zooming alone does not change the labelled dimensions.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6345936"/>
            <a:ext cx="108813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 L8 • Use the labelled scale and dimensions</a:t>
            </a:r>
            <a:endParaRPr lang="en-US" sz="1050" dirty="0"/>
          </a:p>
        </p:txBody>
      </p:sp>
      <p:pic>
        <p:nvPicPr>
          <p:cNvPr id="10" name="Picture 9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29</a:t>
            </a:r>
          </a:p>
        </p:txBody>
      </p:sp>
    </p:spTree>
    <p:extLst>
      <p:ext uri="{BB962C8B-B14F-4D97-AF65-F5344CB8AC3E}">
        <p14:creationId xmlns:p14="http://schemas.microsoft.com/office/powerpoint/2010/main" val="3974316375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pic>
        <p:nvPicPr>
          <p:cNvPr id="5" name="Picture 4" descr="W04-L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0662"/>
            <a:ext cx="10698480" cy="3991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ACCESS Textbook p.102 • Figure 6.3 — Drawing dimensions and real dimensions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pic>
        <p:nvPicPr>
          <p:cNvPr id="5" name="Picture 4" descr="W04-L08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56684"/>
            <a:ext cx="10698480" cy="25389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ACCESS Textbook p.102 • Example 6.11 — Scale factor from drawing to real length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Spot the mistake. Explain the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47088"/>
            <a:ext cx="10927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1A1A"/>
                </a:solidFill>
                <a:latin typeface="Arial"/>
              </a:defRPr>
            </a:pPr>
            <a:r>
              <a:rPr/>
              <a:t>A drawing is reduced to 1:40. Should the real length be divided by 40 again?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0332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2181F"/>
                </a:solidFill>
                <a:latin typeface="Arial"/>
              </a:defRPr>
            </a:pPr>
            <a:r>
              <a:rPr/>
              <a:t>Discuss the method before checking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17720"/>
            <a:ext cx="10927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4A4E54"/>
                </a:solidFill>
                <a:latin typeface="Arial"/>
              </a:defRPr>
            </a:pPr>
            <a:r>
              <a:rPr/>
              <a:t>From drawing to real, multiply by 40. Divide only when going from real to drawing.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TOGETHER  •  2:40 PM–2:55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Work Exercise Book 6A Q20 and 6B Q8 with a partner. Explain where inches, feet and the scale factor enter.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Work in pairs; alternate calculator operator and checker. Show units and an estimated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6A Q19–20 (p.40); 6B Q8 (p.42); 6C Q5,7–8 (p.44)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TOGETHER  •  2:40 PM–2:55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Guided practice  |  6A Q20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pic>
        <p:nvPicPr>
          <p:cNvPr id="5" name="Picture 4" descr="6A-Q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Work with a partner. Take turns explaining the next step.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TOGETHER  •  2:40 PM–2:55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Compare your method  |  6A Q20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pic>
        <p:nvPicPr>
          <p:cNvPr id="5" name="Picture 4" descr="6A-Q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91690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611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D2181F"/>
                </a:solidFill>
                <a:latin typeface="Arial"/>
              </a:defRPr>
            </a:pPr>
            <a:r>
              <a:rPr/>
              <a:t>CHECK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A1A1A"/>
                </a:solidFill>
                <a:latin typeface="Arial"/>
              </a:defRPr>
            </a:pPr>
            <a:r>
              <a:rPr/>
              <a:t>42 mm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scheduled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Complete Exercise Book 6C Q5,7–8. Use a four-question paper checkpoint from the week; optional Numeracy Hub review only after core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Solve on paper first; use the tool to check; correct one error with a written reason.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6A Q19–20 (p.40); 6B Q8 (p.42); 6C Q5,7–8 (p.44)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Open the ACCESS tool for this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pic>
        <p:nvPicPr>
          <p:cNvPr id="5" name="Picture 4" descr="hub-ex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76" y="1664208"/>
            <a:ext cx="6122822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5998464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50" b="0">
                <a:solidFill>
                  <a:srgbClr val="4A4E54"/>
                </a:solidFill>
                <a:latin typeface="Arial"/>
              </a:defRPr>
            </a:pPr>
            <a:r>
              <a:rPr/>
              <a:t>Navigation example. Use the values and units in the assigned task.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tool activity: try, compare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Build the assigned dimensioned rectangle in Shape Canvas from written sizes.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27248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Change one dimension by the stated factor and predict the resulting labelled dimension.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25696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25696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Complete the core paper work first; use optional Easy Exam builder review on taught topics only.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6C Q5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pic>
        <p:nvPicPr>
          <p:cNvPr id="5" name="Picture 4" descr="6C-Q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287" y="1773936"/>
            <a:ext cx="7993504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6C Q7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pic>
        <p:nvPicPr>
          <p:cNvPr id="5" name="Picture 4" descr="6C-Q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287" y="1773936"/>
            <a:ext cx="7993504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CHECK  •  3:15 PM–3:25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Check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Exercise Book 6A Q19–20 independently, with units and a sketch showing scale direction.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Solve without displayed answers; include working, units and the requested rounding.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6A Q19–20 (p.40); 6B Q8 (p.42); 6C Q5,7–8 (p.44)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CHECK  •  3:15 PM–3:25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6A Q19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pic>
        <p:nvPicPr>
          <p:cNvPr id="5" name="Picture 4" descr="6A-Q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Answer independently. Keep worked solutions closed.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CHECK  •  3:15 PM–3:25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Independent check  |  6A Q20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pic>
        <p:nvPicPr>
          <p:cNvPr id="5" name="Picture 4" descr="6A-Q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4106"/>
            <a:ext cx="10698480" cy="891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Answer independently. Keep worked solutions closed.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W04-L08  •  WRAP UP  •  3:25 PM–3:30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Wrap up and choose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6.8 pp.102–103; review Chapter 4–6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Ask: What did you learn? Where will you use it? What will you check next time?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Name the math and one other essential skill used; write the next practice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6A Q19–20 (p.40); 6B Q8 (p.42); 6C Q5,7–8 (p.44)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13  •  2026-11-19  • 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34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0FB143F-4C5F-4CFA-83D4-CE599B274CB0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15ce61c-59d5-4165-9b38-ae3aa70e227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96CE026-134B-41F5-918B-2FB126868299}">
  <we:reference id="wa200010215" version="2.0.0.1" store="en-US" storeType="OMEX"/>
  <we:alternateReferences>
    <we:reference id="WA200010215" version="2.0.0.1" store="" storeType="OMEX"/>
  </we:alternateReferences>
  <we:properties>
    <we:property name="bps.codex_control.document_id" value="&quot;fd5b780e-6113-4733-b1f1-d8726169f4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44</Slides>
  <Notes>44</Notes>
  <HiddenSlides>0</Hidden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Carpentry Math | Full Day 13 | 2026-11-19</dc:title>
  <dc:creator>ACCESS Trades</dc:creator>
  <dc:subject>Ratios, rates and proportions; Scale drawings and weekly check</dc:subject>
</cp:coreProperties>
</file>