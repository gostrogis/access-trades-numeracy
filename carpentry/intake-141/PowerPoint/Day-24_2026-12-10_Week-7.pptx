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6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7"/>
  </p:notesMasterIdLst>
  <p:sldIdLst>
    <p:sldId id="435" r:id="rId172"/>
    <p:sldId id="436" r:id="rId173"/>
    <p:sldId id="437" r:id="rId174"/>
    <p:sldId id="438" r:id="rId175"/>
    <p:sldId id="439" r:id="rId176"/>
    <p:sldId id="440" r:id="rId177"/>
    <p:sldId id="415" r:id="rId147"/>
    <p:sldId id="441" r:id="rId178"/>
    <p:sldId id="442" r:id="rId179"/>
    <p:sldId id="443" r:id="rId180"/>
    <p:sldId id="444" r:id="rId181"/>
    <p:sldId id="445" r:id="rId182"/>
    <p:sldId id="446" r:id="rId183"/>
    <p:sldId id="447" r:id="rId184"/>
    <p:sldId id="448" r:id="rId185"/>
    <p:sldId id="449" r:id="rId186"/>
    <p:sldId id="450" r:id="rId187"/>
    <p:sldId id="451" r:id="rId188"/>
    <p:sldId id="452" r:id="rId189"/>
    <p:sldId id="453" r:id="rId190"/>
    <p:sldId id="454" r:id="rId191"/>
    <p:sldId id="455" r:id="rId192"/>
    <p:sldId id="456" r:id="rId193"/>
    <p:sldId id="457" r:id="rId194"/>
    <p:sldId id="458" r:id="rId195"/>
    <p:sldId id="459" r:id="rId196"/>
    <p:sldId id="460" r:id="rId197"/>
    <p:sldId id="461" r:id="rId198"/>
    <p:sldId id="462" r:id="rId199"/>
    <p:sldId id="463" r:id="rId200"/>
    <p:sldId id="464" r:id="rId201"/>
    <p:sldId id="418" r:id="rId150"/>
    <p:sldId id="465" r:id="rId202"/>
    <p:sldId id="466" r:id="rId203"/>
    <p:sldId id="467" r:id="rId204"/>
    <p:sldId id="468" r:id="rId205"/>
    <p:sldId id="469" r:id="rId206"/>
    <p:sldId id="470" r:id="rId207"/>
    <p:sldId id="471" r:id="rId208"/>
    <p:sldId id="472" r:id="rId209"/>
    <p:sldId id="473" r:id="rId210"/>
    <p:sldId id="474" r:id="rId211"/>
    <p:sldId id="475" r:id="rId212"/>
    <p:sldId id="476" r:id="rId213"/>
    <p:sldId id="477" r:id="rId214"/>
    <p:sldId id="478" r:id="rId215"/>
    <p:sldId id="479" r:id="rId216"/>
    <p:sldId id="480" r:id="rId217"/>
    <p:sldId id="481" r:id="rId218"/>
    <p:sldId id="482" r:id="rId219"/>
    <p:sldId id="483" r:id="rId2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520" autoAdjust="0"/>
  </p:normalViewPr>
  <p:slideViewPr>
    <p:cSldViewPr snapToGrid="0">
      <p:cViewPr varScale="1">
        <p:scale>
          <a:sx n="65" d="100"/>
          <a:sy n="65" d="100"/>
        </p:scale>
        <p:origin x="2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7" Type="http://schemas.openxmlformats.org/officeDocument/2006/relationships/slide" Target="slides/slide7.xml"/><Relationship Id="rId150" Type="http://schemas.openxmlformats.org/officeDocument/2006/relationships/slide" Target="slides/slide32.xml"/><Relationship Id="rId167" Type="http://schemas.openxmlformats.org/officeDocument/2006/relationships/notesMaster" Target="notesMasters/notesMaster1.xml"/><Relationship Id="rId168" Type="http://schemas.openxmlformats.org/officeDocument/2006/relationships/presProps" Target="presProps.xml"/><Relationship Id="rId169" Type="http://schemas.openxmlformats.org/officeDocument/2006/relationships/viewProps" Target="viewProps.xml"/><Relationship Id="rId170" Type="http://schemas.openxmlformats.org/officeDocument/2006/relationships/theme" Target="theme/theme1.xml"/><Relationship Id="rId171" Type="http://schemas.openxmlformats.org/officeDocument/2006/relationships/tableStyles" Target="tableStyles.xml"/><Relationship Id="rId172" Type="http://schemas.openxmlformats.org/officeDocument/2006/relationships/slide" Target="slides/slide1.xml"/><Relationship Id="rId173" Type="http://schemas.openxmlformats.org/officeDocument/2006/relationships/slide" Target="slides/slide2.xml"/><Relationship Id="rId174" Type="http://schemas.openxmlformats.org/officeDocument/2006/relationships/slide" Target="slides/slide3.xml"/><Relationship Id="rId175" Type="http://schemas.openxmlformats.org/officeDocument/2006/relationships/slide" Target="slides/slide4.xml"/><Relationship Id="rId176" Type="http://schemas.openxmlformats.org/officeDocument/2006/relationships/slide" Target="slides/slide5.xml"/><Relationship Id="rId177" Type="http://schemas.openxmlformats.org/officeDocument/2006/relationships/slide" Target="slides/slide6.xml"/><Relationship Id="rId178" Type="http://schemas.openxmlformats.org/officeDocument/2006/relationships/slide" Target="slides/slide8.xml"/><Relationship Id="rId179" Type="http://schemas.openxmlformats.org/officeDocument/2006/relationships/slide" Target="slides/slide9.xml"/><Relationship Id="rId180" Type="http://schemas.openxmlformats.org/officeDocument/2006/relationships/slide" Target="slides/slide10.xml"/><Relationship Id="rId181" Type="http://schemas.openxmlformats.org/officeDocument/2006/relationships/slide" Target="slides/slide11.xml"/><Relationship Id="rId182" Type="http://schemas.openxmlformats.org/officeDocument/2006/relationships/slide" Target="slides/slide12.xml"/><Relationship Id="rId183" Type="http://schemas.openxmlformats.org/officeDocument/2006/relationships/slide" Target="slides/slide13.xml"/><Relationship Id="rId184" Type="http://schemas.openxmlformats.org/officeDocument/2006/relationships/slide" Target="slides/slide14.xml"/><Relationship Id="rId185" Type="http://schemas.openxmlformats.org/officeDocument/2006/relationships/slide" Target="slides/slide15.xml"/><Relationship Id="rId186" Type="http://schemas.openxmlformats.org/officeDocument/2006/relationships/slide" Target="slides/slide16.xml"/><Relationship Id="rId187" Type="http://schemas.openxmlformats.org/officeDocument/2006/relationships/slide" Target="slides/slide17.xml"/><Relationship Id="rId188" Type="http://schemas.openxmlformats.org/officeDocument/2006/relationships/slide" Target="slides/slide18.xml"/><Relationship Id="rId189" Type="http://schemas.openxmlformats.org/officeDocument/2006/relationships/slide" Target="slides/slide19.xml"/><Relationship Id="rId190" Type="http://schemas.openxmlformats.org/officeDocument/2006/relationships/slide" Target="slides/slide20.xml"/><Relationship Id="rId191" Type="http://schemas.openxmlformats.org/officeDocument/2006/relationships/slide" Target="slides/slide21.xml"/><Relationship Id="rId192" Type="http://schemas.openxmlformats.org/officeDocument/2006/relationships/slide" Target="slides/slide22.xml"/><Relationship Id="rId193" Type="http://schemas.openxmlformats.org/officeDocument/2006/relationships/slide" Target="slides/slide23.xml"/><Relationship Id="rId194" Type="http://schemas.openxmlformats.org/officeDocument/2006/relationships/slide" Target="slides/slide24.xml"/><Relationship Id="rId195" Type="http://schemas.openxmlformats.org/officeDocument/2006/relationships/slide" Target="slides/slide25.xml"/><Relationship Id="rId196" Type="http://schemas.openxmlformats.org/officeDocument/2006/relationships/slide" Target="slides/slide26.xml"/><Relationship Id="rId197" Type="http://schemas.openxmlformats.org/officeDocument/2006/relationships/slide" Target="slides/slide27.xml"/><Relationship Id="rId198" Type="http://schemas.openxmlformats.org/officeDocument/2006/relationships/slide" Target="slides/slide28.xml"/><Relationship Id="rId199" Type="http://schemas.openxmlformats.org/officeDocument/2006/relationships/slide" Target="slides/slide29.xml"/><Relationship Id="rId200" Type="http://schemas.openxmlformats.org/officeDocument/2006/relationships/slide" Target="slides/slide30.xml"/><Relationship Id="rId201" Type="http://schemas.openxmlformats.org/officeDocument/2006/relationships/slide" Target="slides/slide31.xml"/><Relationship Id="rId202" Type="http://schemas.openxmlformats.org/officeDocument/2006/relationships/slide" Target="slides/slide33.xml"/><Relationship Id="rId203" Type="http://schemas.openxmlformats.org/officeDocument/2006/relationships/slide" Target="slides/slide34.xml"/><Relationship Id="rId204" Type="http://schemas.openxmlformats.org/officeDocument/2006/relationships/slide" Target="slides/slide35.xml"/><Relationship Id="rId205" Type="http://schemas.openxmlformats.org/officeDocument/2006/relationships/slide" Target="slides/slide36.xml"/><Relationship Id="rId206" Type="http://schemas.openxmlformats.org/officeDocument/2006/relationships/slide" Target="slides/slide37.xml"/><Relationship Id="rId207" Type="http://schemas.openxmlformats.org/officeDocument/2006/relationships/slide" Target="slides/slide38.xml"/><Relationship Id="rId208" Type="http://schemas.openxmlformats.org/officeDocument/2006/relationships/slide" Target="slides/slide39.xml"/><Relationship Id="rId209" Type="http://schemas.openxmlformats.org/officeDocument/2006/relationships/slide" Target="slides/slide40.xml"/><Relationship Id="rId210" Type="http://schemas.openxmlformats.org/officeDocument/2006/relationships/slide" Target="slides/slide41.xml"/><Relationship Id="rId211" Type="http://schemas.openxmlformats.org/officeDocument/2006/relationships/slide" Target="slides/slide42.xml"/><Relationship Id="rId212" Type="http://schemas.openxmlformats.org/officeDocument/2006/relationships/slide" Target="slides/slide43.xml"/><Relationship Id="rId213" Type="http://schemas.openxmlformats.org/officeDocument/2006/relationships/slide" Target="slides/slide44.xml"/><Relationship Id="rId214" Type="http://schemas.openxmlformats.org/officeDocument/2006/relationships/slide" Target="slides/slide45.xml"/><Relationship Id="rId215" Type="http://schemas.openxmlformats.org/officeDocument/2006/relationships/slide" Target="slides/slide46.xml"/><Relationship Id="rId216" Type="http://schemas.openxmlformats.org/officeDocument/2006/relationships/slide" Target="slides/slide47.xml"/><Relationship Id="rId217" Type="http://schemas.openxmlformats.org/officeDocument/2006/relationships/slide" Target="slides/slide48.xml"/><Relationship Id="rId218" Type="http://schemas.openxmlformats.org/officeDocument/2006/relationships/slide" Target="slides/slide49.xml"/><Relationship Id="rId219" Type="http://schemas.openxmlformats.org/officeDocument/2006/relationships/slide" Target="slides/slide50.xml"/><Relationship Id="rId220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43CA-EE69-4B9A-80F8-91B7489D0DD8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9165C-7370-4B52-8859-B50CCB8935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61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today’s math topics and review the timetable.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Start, 9:00 AM–9:05 AM.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9:05 AM–9:10 AM.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Teach, 9:10 AM–9:25 AM.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4–5 pp.56–87; Chapter 7–8 pp.108–134; Chapter 12–13 pp.188–209, selected</a:t>
            </a:r>
          </a:p>
          <a:p>
            <a:r>
              <a:t>ACCESS Trades Numeracy Textbook p.66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Teach, 9:10 AM–9:25 AM.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4–5 pp.56–87; Chapter 7–8 pp.108–134; Chapter 12–13 pp.188–209, selected</a:t>
            </a:r>
          </a:p>
          <a:p>
            <a:r>
              <a:t>ACCESS Trades Numeracy Textbook p.66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Teach, 9:10 AM–9:25 AM. All slides with this phase share these 15 minutes; do not restart the time allocation for each slide.</a:t>
            </a:r>
          </a:p>
          <a:p/>
          <a:p>
            <a:r>
              <a:t>Textbook visual: Path A only: regroup a whole number before subtracting fractional lengths.</a:t>
            </a:r>
          </a:p>
          <a:p>
            <a:r>
              <a:t>Exact PDF/printed page: 66. ACCESS Textbook excerpt.</a:t>
            </a:r>
          </a:p>
          <a:p>
            <a:r>
              <a:t>Path A visual: Example 4.10 labelled stock/offcut bar, regrouping and check by adding. Show only if this is the selected skill; alternatives within the assigned reading are p.127 Figure 8.1 balance/unknown bar for Path B or p.192 Figure 12.5 right-triangle squares for Path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Teach, 9:10 AM–9:25 AM. All slides with this phase share these 15 minutes; do not restart the time allocation for each slide.</a:t>
            </a:r>
          </a:p>
          <a:p/>
          <a:p>
            <a:r>
              <a:t>Textbook visual: Path B only: the same inverse operation keeps both sides equal.</a:t>
            </a:r>
          </a:p>
          <a:p>
            <a:r>
              <a:t>Exact PDF/printed page: 127. ACCESS Textbook excerpt.</a:t>
            </a:r>
          </a:p>
          <a:p>
            <a:r>
              <a:t>Path A visual: Example 4.10 labelled stock/offcut bar, regrouping and check by adding. Show only if this is the selected skill; alternatives within the assigned reading are p.127 Figure 8.1 balance/unknown bar for Path B or p.192 Figure 12.5 right-triangle squares for Path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Teach, 9:10 AM–9:25 AM. All slides with this phase share these 15 minutes; do not restart the time allocation for each slide.</a:t>
            </a:r>
          </a:p>
          <a:p/>
          <a:p>
            <a:r>
              <a:t>Textbook visual: Path C only: revisit the right-triangle relationship before solving.</a:t>
            </a:r>
          </a:p>
          <a:p>
            <a:r>
              <a:t>Exact PDF/printed page: 192. ACCESS Textbook excerpt.</a:t>
            </a:r>
          </a:p>
          <a:p>
            <a:r>
              <a:t>Path A visual: Example 4.10 labelled stock/offcut bar, regrouping and check by adding. Show only if this is the selected skill; alternatives within the assigned reading are p.127 Figure 8.1 balance/unknown bar for Path B or p.192 Figure 12.5 right-triangle squares for Path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Teach, 9:10 AM–9:25 AM.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9:25 AM–9:40 AM.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Exact scheduled tool activity: Path A: Numeracy Hub Calculator and tape practice. B: Unit Conversions + Shape Canvas rectangle. C: Angles and Trig Module 3 + Shape Canvas right triangle.</a:t>
            </a:r>
          </a:p>
          <a:p>
            <a:r>
              <a:t>Choose the tool for your selected pathway only: A—Numeracy Hub Calculator and tape practice; B—Unit Conversions and a Shape Canvas rectangle; C—Angles and Trig Module 3 and a Shape Canvas right triangle.</a:t>
            </a:r>
          </a:p>
          <a:p>
            <a:r>
              <a:t>Complete the selected source-book work on paper first, with units and a visible method. Leave tool answers hidden during the attempt.</a:t>
            </a:r>
          </a:p>
          <a:p>
            <a:r>
              <a:t>Use the pathway tool to check the attempt and explain the correction beside the original working. Retain that record for the scheduled independent pathway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ACCESS EXERCISE BOOK: 4A-Q14a</a:t>
            </a:r>
          </a:p>
          <a:p>
            <a:r>
              <a:t>Exact question: Add. (a)   5/16 +  3/4</a:t>
            </a:r>
          </a:p>
          <a:p>
            <a:r>
              <a:t>Instructor answer: (a)  1 1/16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ACCESS EXERCISE BOOK: 5A-Q12</a:t>
            </a:r>
          </a:p>
          <a:p>
            <a:r>
              <a:t>Exact question: Change  7/8 and 3 1/4 to decimals.</a:t>
            </a:r>
          </a:p>
          <a:p>
            <a:r>
              <a:t>Instructor answer: 0.875 and 3.25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ACCESS EXERCISE BOOK: 7A-Q12</a:t>
            </a:r>
          </a:p>
          <a:p>
            <a:r>
              <a:t>Exact question: Convert 2 1/4 in to mm.</a:t>
            </a:r>
          </a:p>
          <a:p>
            <a:r>
              <a:t>Instructor answer: 57.15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ACCESS EXERCISE BOOK: 8C-Q2</a:t>
            </a:r>
          </a:p>
          <a:p>
            <a:r>
              <a:t>Exact question: The square has an area of 3,136 mm². Find the side.</a:t>
            </a:r>
          </a:p>
          <a:p>
            <a:r>
              <a:t>Instructor answer: 56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ACCESS EXERCISE BOOK: 12C-Q1</a:t>
            </a:r>
          </a:p>
          <a:p>
            <a:r>
              <a:t>Exact question: Find the hypotenuse.</a:t>
            </a:r>
          </a:p>
          <a:p>
            <a:r>
              <a:t>Instructor answer: 390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9:40 AM–10:00 AM. All slides with this phase share these 20 minutes; do not restart the time allocation for each slide.</a:t>
            </a:r>
          </a:p>
          <a:p/>
          <a:p>
            <a:r>
              <a:t>ACCESS EXERCISE BOOK: 13A-Q6</a:t>
            </a:r>
          </a:p>
          <a:p>
            <a:r>
              <a:t>Exact question: Adjacent 900 mm, angle 24°. Find the opposite side to two decimal places.</a:t>
            </a:r>
          </a:p>
          <a:p>
            <a:r>
              <a:t>Instructor answer: 400.71 mm</a:t>
            </a:r>
          </a:p>
          <a:p>
            <a:r>
              <a:t>Working: 900 × tan 24°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10:00 AM–10:10 AM.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10:00 AM–10:10 AM. All slides with this phase share these 10 minutes; do not restart the time allocation for each slide.</a:t>
            </a:r>
          </a:p>
          <a:p/>
          <a:p>
            <a:r>
              <a:t>ACCESS EXERCISE BOOK: 4A-Q14b</a:t>
            </a:r>
          </a:p>
          <a:p>
            <a:r>
              <a:t>Exact question: Add. (b)  7 3/8 + 2 15/16</a:t>
            </a:r>
          </a:p>
          <a:p>
            <a:r>
              <a:t>Instructor answer: (b)  10 5/16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10:00 AM–10:10 AM. All slides with this phase share these 10 minutes; do not restart the time allocation for each slide.</a:t>
            </a:r>
          </a:p>
          <a:p/>
          <a:p>
            <a:r>
              <a:t>ACCESS EXERCISE BOOK: 7A-Q11</a:t>
            </a:r>
          </a:p>
          <a:p>
            <a:r>
              <a:t>Exact question: Convert 5/8 in to mm.</a:t>
            </a:r>
          </a:p>
          <a:p>
            <a:r>
              <a:t>Instructor answer: 15.875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10:00 AM–10:10 AM. All slides with this phase share these 10 minutes; do not restart the time allocation for each slide.</a:t>
            </a:r>
          </a:p>
          <a:p/>
          <a:p>
            <a:r>
              <a:t>ACCESS EXERCISE BOOK: 13A-Q10</a:t>
            </a:r>
          </a:p>
          <a:p>
            <a:r>
              <a:t>Exact question: Opposite 350 mm, adjacent 800 mm. Find the angle to two decimal places.</a:t>
            </a:r>
          </a:p>
          <a:p>
            <a:r>
              <a:t>Instructor answer: 23.63°</a:t>
            </a:r>
          </a:p>
          <a:p>
            <a:r>
              <a:t>Working: tan⁻¹(350 ÷ 800)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W07-L03 | 2026-12-10 | 9:00 AM–10:15 AM | 75 minutes</a:t>
            </a:r>
          </a:p>
          <a:p>
            <a:r>
              <a:t>Skill clinics: practise your priority topic</a:t>
            </a:r>
          </a:p>
          <a:p>
            <a:r>
              <a:t>Mode: Math</a:t>
            </a:r>
          </a:p>
          <a:p>
            <a:r>
              <a:t>Goal: Repair a documented error and explain a corrected method independently.</a:t>
            </a:r>
          </a:p>
          <a:p>
            <a:r>
              <a:t>Read: Textbook Chapter 4–5 pp.56–87; Chapter 7–8 pp.108–134; Chapter 12–13 pp.188–209, selected</a:t>
            </a:r>
          </a:p>
          <a:p>
            <a:r>
              <a:t>Practise: Path A: 4A Q14–17 p.26; 5A Q12–15 p.33. B: 7A Q11–14 pp.45–46; 8C Q1–2 p.55. C: 12C Q1–2 p.79; 13A Q6,10 p.82.</a:t>
            </a:r>
          </a:p>
          <a:p>
            <a:r>
              <a:t>Tool: Path A: Numeracy Hub Calculator and tape practice. B: Unit Conversions + Shape Canvas rectangle. C: Angles and Trig Module 3 + Shape Canvas right triangle.</a:t>
            </a:r>
          </a:p>
          <a:p/>
          <a:p>
            <a:r>
              <a:t>EXACT SCHEDULED STEPS</a:t>
            </a:r>
          </a:p>
          <a:p>
            <a:r>
              <a:t>9:00 AM–9:05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9:05 AM–9:10 AM | 2 Recall | 5 min</a:t>
            </a:r>
          </a:p>
          <a:p>
            <a:r>
              <a:t>Instructor: Use each learner’s Week 6 exits and capstone work to choose one pathway. Do not assume all learners need trig extension.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9:10 AM–9:25 AM | 3 Teach | 15 min</a:t>
            </a:r>
          </a:p>
          <a:p>
            <a:r>
              <a:t>Instructor: Model the most common error in each selected pathway with one source-book problem; explain how the check detects 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9:25 AM–9:40 AM | 4 Together | 15 min</a:t>
            </a:r>
          </a:p>
          <a:p>
            <a:r>
              <a:t>Instructor: Partners work the first two selected pathway questions and explain the correction in their own words.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9:40 AM–10:00 AM | 5 Practise | 20 min</a:t>
            </a:r>
          </a:p>
          <a:p>
            <a:r>
              <a:t>Instructor: Complete four questions in the selected pathway, then one from another pathway if ready. Keep a before/after solution showing what changed; tool answers remain hidden until the attempt.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10:00 AM–10:10 AM | 6 Check | 10 min</a:t>
            </a:r>
          </a:p>
          <a:p>
            <a:r>
              <a:t>Instructor: Use Path A: 4A Q14(b); B: 7A Q11; or C: 13A Q10. Explain the error avoided.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10:10 AM–10:15 AM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A: 10 5/16 (Answer Key p.13). B: 15.875 mm (Answer Key p.21). C: 23.63° (Answer Key p.34). Evaluate the method as well as the number. Answer Key pp.13,16,21,24,32,34</a:t>
            </a:r>
          </a:p>
          <a:p/>
          <a:p>
            <a:r>
              <a:t>Build the following practice set from taught topics matching the actual errors, not every topic in the Numeracy Hub.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10:10 AM–10:15 AM. All slides with this phase share these 5 minutes; do not restart the time allocation for each slide.</a:t>
            </a:r>
          </a:p>
          <a:p/>
          <a:p>
            <a:r>
              <a:t>Next scheduled learning: Build the following practice set from taught topics matching the actual errors, not every topic in the Numeracy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Scheduled break, 15 minutes. Resume at 10:30 AM. Do not move the following math block into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Start, 10:30 AM–10:35 AM.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10:35 AM–10:40 AM.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10:40 AM–10:55 AM.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formula sheet p.219; conversion factors pp.220–221; relevant chapters as needed</a:t>
            </a:r>
          </a:p>
          <a:p>
            <a:r>
              <a:t>ACCESS Trades Numeracy Textbook p.219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10:40 AM–10:55 AM.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formula sheet p.219; conversion factors pp.220–221; relevant chapters as needed</a:t>
            </a:r>
          </a:p>
          <a:p>
            <a:r>
              <a:t>ACCESS Trades Numeracy Textbook p.219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10:40 AM–10:55 AM. All slides with this phase share these 15 minutes; do not restart the time allocation for each slide.</a:t>
            </a:r>
          </a:p>
          <a:p/>
          <a:p>
            <a:r>
              <a:t>Textbook visual: Use only formulas for the topics selected in today’s practice set.</a:t>
            </a:r>
          </a:p>
          <a:p>
            <a:r>
              <a:t>Exact PDF/printed page: 219. ACCESS Textbook excerpt.</a:t>
            </a:r>
          </a:p>
          <a:p>
            <a:r>
              <a:t>Formula sheet. Focus on the formulas for the topics actually enabled in the previewed set; do not use the full sheet to introduce untaught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10:40 AM–10:55 AM. All slides with this phase share these 15 minutes; do not restart the time allocation for each slide.</a:t>
            </a:r>
          </a:p>
          <a:p/>
          <a:p>
            <a:r>
              <a:t>Textbook visual: Right-triangle references apply only when those taught topics are selected.</a:t>
            </a:r>
          </a:p>
          <a:p>
            <a:r>
              <a:t>Exact PDF/printed page: 219. ACCESS Textbook excerpt.</a:t>
            </a:r>
          </a:p>
          <a:p>
            <a:r>
              <a:t>Formula sheet. Focus on the formulas for the topics actually enabled in the previewed set; do not use the full sheet to introduce untaught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10:40 AM–10:55 AM.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10:55 AM–11:10 AM.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Exact scheduled tool activity: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>
            <a:r>
              <a:t>Configure Numeracy Hub Exam builder: All off; only the scheduled taught topics; Easy; 10 questions; diagrams and calculator keys on; worked answers off. Save the code and use the instructor-previewed set.</a:t>
            </a:r>
          </a:p>
          <a:p>
            <a:r>
              <a:t>Complete the ten questions with numbered written methods and units. Use the exact scheduled paper fallback if the generated set is not used.</a:t>
            </a:r>
          </a:p>
          <a:p>
            <a:r>
              <a:t>After completion, use Check my answers and then worked answers for corrections; save code/results manually. For the scheduled check, explain one correction and independently retry one missed type with new numbers from the same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3A-Q8</a:t>
            </a:r>
          </a:p>
          <a:p>
            <a:r>
              <a:t>Exact question: 6² − 4 × 5</a:t>
            </a:r>
          </a:p>
          <a:p>
            <a:r>
              <a:t>Instructor answer: 16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3A-Q9</a:t>
            </a:r>
          </a:p>
          <a:p>
            <a:r>
              <a:t>Exact question: (6 − 4)² × 5</a:t>
            </a:r>
          </a:p>
          <a:p>
            <a:r>
              <a:t>Instructor answer: 20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6B-Q2</a:t>
            </a:r>
          </a:p>
          <a:p>
            <a:r>
              <a:t>Exact question: A fabrication job needs 18 sheets of 4 ft × 8 ft plate. Add a 15% allowance and round up to whole sheets.</a:t>
            </a:r>
          </a:p>
          <a:p>
            <a:r>
              <a:t>Instructor answer: 21 sheets (20.7 rounded up)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7A-Q11</a:t>
            </a:r>
          </a:p>
          <a:p>
            <a:r>
              <a:t>Exact question: Convert 5/8 in to mm.</a:t>
            </a:r>
          </a:p>
          <a:p>
            <a:r>
              <a:t>Instructor answer: 15.875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8C-Q1</a:t>
            </a:r>
          </a:p>
          <a:p>
            <a:r>
              <a:t>Exact question: The rectangle has an area of 4,800 cm². Find the width.</a:t>
            </a:r>
          </a:p>
          <a:p>
            <a:r>
              <a:t>Instructor answer: 60 cm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8C-Q2</a:t>
            </a:r>
          </a:p>
          <a:p>
            <a:r>
              <a:t>Exact question: The square has an area of 3,136 mm². Find the side.</a:t>
            </a:r>
          </a:p>
          <a:p>
            <a:r>
              <a:t>Instructor answer: 56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10A-Q5</a:t>
            </a:r>
          </a:p>
          <a:p>
            <a:r>
              <a:t>Exact question: Find the area of a rectangle 840 mm by 350 mm.</a:t>
            </a:r>
          </a:p>
          <a:p>
            <a:r>
              <a:t>Instructor answer: 294,000 mm²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10A-Q6</a:t>
            </a:r>
          </a:p>
          <a:p>
            <a:r>
              <a:t>Exact question: Find the area of a square with 1.6 m sides.</a:t>
            </a:r>
          </a:p>
          <a:p>
            <a:r>
              <a:t>Instructor answer: 2.56 m²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12C-Q1</a:t>
            </a:r>
          </a:p>
          <a:p>
            <a:r>
              <a:t>Exact question: Find the hypotenuse.</a:t>
            </a:r>
          </a:p>
          <a:p>
            <a:r>
              <a:t>Instructor answer: 390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11:10 AM–11:45 AM. All slides with this phase share these 35 minutes; do not restart the time allocation for each slide.</a:t>
            </a:r>
          </a:p>
          <a:p/>
          <a:p>
            <a:r>
              <a:t>ACCESS EXERCISE BOOK: 12C-Q2</a:t>
            </a:r>
          </a:p>
          <a:p>
            <a:r>
              <a:t>Exact question: Find the missing leg.</a:t>
            </a:r>
          </a:p>
          <a:p>
            <a:r>
              <a:t>Instructor answer: 1.5 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11:45 AM–11:55 AM.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W07-L04 | 2026-12-10 | 10:30 AM–12:00 PM | 90 minutes</a:t>
            </a:r>
          </a:p>
          <a:p>
            <a:r>
              <a:t>Mixed-topic calculation practice</a:t>
            </a:r>
          </a:p>
          <a:p>
            <a:r>
              <a:t>Mode: Calculation Practice</a:t>
            </a:r>
          </a:p>
          <a:p>
            <a:r>
              <a:t>Goal: Apply taught methods to fresh practice, retain working and use feedback to choose a revision priority.</a:t>
            </a:r>
          </a:p>
          <a:p>
            <a:r>
              <a:t>Read: Textbook formula sheet p.219; conversion factors pp.220–221; relevant chapters as needed</a:t>
            </a:r>
          </a:p>
          <a:p>
            <a:r>
              <a:t>Practise: Paper fallback: 3A Q8–9 p.19; 6B Q2 p.41; 7A Q11 p.45; 8C Q1–2 p.55; 10A Q5–6 p.63; 12C Q1–2 p.79.</a:t>
            </a:r>
          </a:p>
          <a:p>
            <a:r>
              <a:t>Tool: Numeracy Hub: Exam builder: All off; enable only taught order, conversion, area/perimeter, volume or right-triangle topics. Easy; 10 questions; diagrams and calculator keys on; worked answers off. Save exam code before use.</a:t>
            </a:r>
          </a:p>
          <a:p/>
          <a:p>
            <a:r>
              <a:t>EXACT SCHEDULED STEPS</a:t>
            </a:r>
          </a:p>
          <a:p>
            <a:r>
              <a:t>10:30 AM–10:35 AM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10:35 AM–10:40 AM | 2 Recall | 5 min</a:t>
            </a:r>
          </a:p>
          <a:p>
            <a:r>
              <a:t>Instructor: Ask learners to choose one personal error to watch for and identify their calculator model.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10:40 AM–10:55 AM | 3 Teach | 15 min</a:t>
            </a:r>
          </a:p>
          <a:p>
            <a:r>
              <a:t>Instructor: Demonstrate how to read a generated question, record its code and use the requested rounding. Preview the set and remove untaught or trade-specific material.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10:55 AM–11:10 AM | 4 Together | 15 min</a:t>
            </a:r>
          </a:p>
          <a:p>
            <a:r>
              <a:t>Instructor: Work one separate demonstration question; learners state the formula and units before keys. Keep assessment/practice answers hidden.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11:10 AM–11:45 AM | 5 Practise | 35 min</a:t>
            </a:r>
          </a:p>
          <a:p>
            <a:r>
              <a:t>Instructor: Complete the previewed 10-question Numeracy Hub set, or the ten paper fallback questions. Keep written methods. Use Check my answers only after completion; reveal worked answers for correction and save the code/results manually.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11:45 AM–11:55 AM | 6 Check | 10 min</a:t>
            </a:r>
          </a:p>
          <a:p>
            <a:r>
              <a:t>Instructor: Explain one corrected item and independently redo one missed type using new numbers from the same tool settings.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11:55 AM–12:00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Use Numeracy Hub worked answers for the saved exam code; dynamic answers depend on generated values. Paper: 16;20;21 sheets;15.875 mm;60 cm;56 mm;294,000 mm²;2.56 m²;390 mm;1.5 m, in listed order. Answer Key pp.10,19,21,24,28,32</a:t>
            </a:r>
          </a:p>
          <a:p/>
          <a:p>
            <a:r>
              <a:t>Record two revision priorities for Week 8. This is formative practice, not an institutional pass/fail test.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11:55 AM–12:00 PM. All slides with this phase share these 5 minutes; do not restart the time allocation for each slide.</a:t>
            </a:r>
          </a:p>
          <a:p/>
          <a:p>
            <a:r>
              <a:t>Next scheduled learning: Record two revision priorities for Week 8. This is formative practice, not an institutional pass/fail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66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127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192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26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32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4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5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7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8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2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4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56" TargetMode="External"/><Relationship Id="rId6" Type="http://schemas.openxmlformats.org/officeDocument/2006/relationships/hyperlink" Target="../../../books/ACCESS-Trades-Numeracy-Exercise-Book.pdf#page=8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56" TargetMode="External"/><Relationship Id="rId5" Type="http://schemas.openxmlformats.org/officeDocument/2006/relationships/hyperlink" Target="../../../books/ACCESS-Trades-Numeracy-Exercise-Book.pdf#page=26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1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1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1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1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1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4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4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5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5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6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6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7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hyperlink" Target="../../../books/ACCESS-Trades-Numeracy-Textbook.pdf#page=219" TargetMode="External"/><Relationship Id="rId6" Type="http://schemas.openxmlformats.org/officeDocument/2006/relationships/hyperlink" Target="../../../books/ACCESS-Trades-Numeracy-Exercise-Book.pdf#page=7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24.png"/><Relationship Id="rId4" Type="http://schemas.openxmlformats.org/officeDocument/2006/relationships/hyperlink" Target="../../../books/ACCESS-Trades-Numeracy-Textbook.pdf#page=219" TargetMode="External"/><Relationship Id="rId5" Type="http://schemas.openxmlformats.org/officeDocument/2006/relationships/hyperlink" Target="../../../books/ACCESS-Trades-Numeracy-Exercise-Book.pdf#page=19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ACCESS  /  CARPENTRY FOUNDATION  /  INTAKE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43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1A1A1A"/>
                </a:solidFill>
                <a:latin typeface="Arial"/>
              </a:defRPr>
            </a:pPr>
            <a:r>
              <a:t>Day 24  | 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88366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4A4E54"/>
                </a:solidFill>
                <a:latin typeface="Arial"/>
              </a:defRPr>
            </a:pPr>
            <a:r>
              <a:t>December 10,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633472"/>
            <a:ext cx="109728" cy="2194560"/>
          </a:xfrm>
          <a:prstGeom prst="rect">
            <a:avLst/>
          </a:prstGeom>
          <a:solidFill>
            <a:srgbClr val="D2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32688" y="274320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Skill clinics: practise your priority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004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9:00 AM–10:15 AM  •  Math  •  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4048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Mixed-topic calculation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2976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10:30 AM–12:00 PM  •  Calculation Practice  •  90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4068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D2181F"/>
                </a:solidFill>
                <a:latin typeface="Arial"/>
              </a:defRPr>
            </a:pPr>
            <a:r>
              <a:t>Week 7  •  2 scheduled blocks  •  165 teaching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t>Estimate. Show the method. Label units. Check the result.</a:t>
            </a:r>
          </a:p>
        </p:txBody>
      </p:sp>
      <p:pic>
        <p:nvPicPr>
          <p:cNvPr id="12" name="Picture 11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24  •  2026-12-10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rPr/>
              <a:t>DAY 24  /  WEEK 7  /  CLASS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1A1A1A"/>
                </a:solidFill>
                <a:latin typeface="Arial"/>
              </a:defRPr>
            </a:pPr>
            <a:r>
              <a:rPr/>
              <a:t>Today’s exact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9:00 AM–10:15 AM  • 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Skill clinics: practise your priority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9:00 AM–9:05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752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9:05 AM–9:10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9:10 AM–9:25 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9:25 AM–9:40 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9:40 AM–10:00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10:00 AM–10:10 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10:10 AM–10:15 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Math  •  Math Week 7, Lesson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10:30 AM–12:00 PM  •  90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Mixed-topic calculation practice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10:30 AM–10:35 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10:35 AM–10:40 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108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10:40 AM–10:55 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108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10:55 AM–11:10 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11:10 AM–11:45 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9108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11:45 AM–11:55 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9108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11:55 AM–12:00 PM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108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Calculation Practice  •  Math Week 7, Lesson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6053328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1A"/>
                </a:solidFill>
                <a:latin typeface="Arial"/>
              </a:defRPr>
            </a:pPr>
            <a:r>
              <a:rPr/>
              <a:t>Break: 10:15 AM–10:30 AM  •  15 minutes  •  excluded from teaching time</a:t>
            </a:r>
          </a:p>
        </p:txBody>
      </p:sp>
      <p:pic>
        <p:nvPicPr>
          <p:cNvPr id="53" name="Picture 5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START  •  9:00 AM–9:05 AM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Skill clinics: practise your priority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Repair a documented error and explain a corrected method independently.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Identify one target skill and the checking habit to use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Path A: 4A Q14–17 p.26; 5A Q12–15 p.33. B: 7A Q11–14 pp.45–46; 8C Q1–2 p.55. C: 12C Q1–2 p.79; 13A Q6,10 p.82.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RECALL  •  9:05 AM–9:10 AM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Use each learner’s Week 6 exits and capstone work to choose one pathway. Do not assume all learners need trig extension.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Review previous feedback and attempt the retrieval prompt without displayed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Path A: 4A Q14–17 p.26; 5A Q12–15 p.33. B: 7A Q11–14 pp.45–46; 8C Q1–2 p.55. C: 12C Q1–2 p.79; 13A Q6,10 p.82.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TEACH  •  9:10 AM–9:25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Choose the pathway your work shows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Use Week 6 exits and the applied drawing work to identify the error you need to repair.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Path A uses fractions and decimals: 4A Q14–17 and 5A Q12–15. Explain regrouping, conversion or the tape-reading error in your selected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Path B uses conversions and formulas: 7A Q11–14 and 8C Q1–2. Show the conversion direction or missing-dimension method.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Path C uses right triangles and trig: 12C Q1–2 and 13A Q6,10. Use this pathway when the evidence and taught content call for it; not everyone needs trig extension.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TEACH  •  9:10 AM–9:25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 correction needs an explanation and a retry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Keep the original working so the point where the method failed remains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Beside the corrected method, explain what changed and how your chosen check detects the original error.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Partners explain the first two selected questions; continue the scheduled four-question practice in your chosen pathway.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Keep tool answers hidden until after the written attempt. Use the scheduled independent pathway check to show that you can avoid the error yourself.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W07-L03  •  TEACH  •  9:10 AM–9:25 AM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pathway and explain the method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666875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• FRACTIONS AND DECIMALS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4A Q14–17 p.26; 5A Q12–15 p.33.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Numeracy Hub Calculator and tape-reading practice.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952750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• CONVERSIONS AND FORMULAS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7A Q11–14 pp.45–46; 8C Q1–2 p.55.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Unit Conversions and a Shape Canvas rectangle.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4238625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• RIGHT TRIANGLES AND TRIG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12C Q1–2 p.79; 13A Q6,10 p.82.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Angles and Trig Module 3 and a Shape Canvas right triangle.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5619750"/>
            <a:ext cx="109725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models one common pathway error. Partners solve the first two selected questions and explain the correction.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Book practice pathways • Tool answers stay hidden until the paper attempt</a:t>
            </a:r>
            <a:endParaRPr lang="en-US" sz="1050" dirty="0"/>
          </a:p>
        </p:txBody>
      </p:sp>
      <p:pic>
        <p:nvPicPr>
          <p:cNvPr id="10" name="Picture 9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07</a:t>
            </a:r>
          </a:p>
        </p:txBody>
      </p:sp>
    </p:spTree>
    <p:extLst>
      <p:ext uri="{BB962C8B-B14F-4D97-AF65-F5344CB8AC3E}">
        <p14:creationId xmlns:p14="http://schemas.microsoft.com/office/powerpoint/2010/main" val="72941014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TEACH  •  9:10 AM–9:25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W07-L0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50106"/>
            <a:ext cx="10698480" cy="3552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Path A only: regroup a whole number before subtracting fractional lengths.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TEACH  •  9:10 AM–9:25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127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W07-L0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8986"/>
            <a:ext cx="10698480" cy="25743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Path B only: the same inverse operation keeps both sides equal.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TEACH  •  9:10 AM–9:25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192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W06-L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9767"/>
            <a:ext cx="10698480" cy="4032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Path C only: revisit the right-triangle relationship before solving.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TEACH  •  9:10 AM–9:25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Your corrected page now matches the tool answer, but the original error has been erased. Does that show which part of your method improved?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Retain before-and-after working, identify the incorrect step and explain the repair. Matching a displayed answer does not replace the scheduled independent pathway check.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TOGETHER  •  9:25 AM–9:40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Partners work the first two selected pathway questions and explain the correction in their own words.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Explain the method and check directions; work with a partner only where permitted.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Path A: 4A Q14–17 p.26; 5A Q12–15 p.33. B: 7A Q11–14 pp.45–46; 8C Q1–2 p.55. C: 12C Q1–2 p.79; 13A Q6,10 p.82.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four questions in the selected pathway, then one from another pathway if ready. Keep a before/after solution showing what changed; tool answers remain hidden until the attempt.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Keep numbered written solutions and units. Use tools only under the conditions stated for this block.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Path A: 4A Q14–17 p.26; 5A Q12–15 p.33. B: 7A Q11–14 pp.45–46; 8C Q1–2 p.55. C: 12C Q1–2 p.79; 13A Q6,10 p.82.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hub-ang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Choose only your assigned pathway. Trigonometry is for Path C.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A1A1A"/>
                </a:solidFill>
                <a:latin typeface="Arial"/>
              </a:defRPr>
            </a:pPr>
            <a:r>
              <a:rPr/>
              <a:t>Choose the tool for your selected pathway only: A—Numeracy Hub Calculator and tape practice; B—Unit Conversions and a Shape Canvas rectangle; C—Angles and Trig Module 3 and a Shape Canvas right triangle.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Complete the selected source-book work on paper first, with units and a visible method. Leave tool answers hidden during the attempt.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A1A1A"/>
                </a:solidFill>
                <a:latin typeface="Arial"/>
              </a:defRPr>
            </a:pPr>
            <a:r>
              <a:rPr/>
              <a:t>Use the pathway tool to check the attempt and explain the correction beside the original working. Retain that record for the scheduled independent pathway check.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4A Q14a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4A-Q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5A Q12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5A-Q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7A Q12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7A-Q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8C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8C-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12C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12C-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PRACTISE  •  9:40 AM–10:00 AM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13A Q6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13A-Q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6362"/>
            <a:ext cx="10698480" cy="136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CHECK  •  10:00 AM–10:10 AM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Use Path A: 4A Q14(b); B: 7A Q11; or C: 13A Q10. Explain the error avoided.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Submit work and demonstrate the checking strategy; identify a remaining difficulty.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Path A: 4A Q14–17 p.26; 5A Q12–15 p.33. B: 7A Q11–14 pp.45–46; 8C Q1–2 p.55. C: 12C Q1–2 p.79; 13A Q6,10 p.82.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CHECK  •  10:00 AM–10:10 AM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4A Q14b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4A-Q1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8160"/>
            <a:ext cx="10698480" cy="1043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CHECK  •  10:00 AM–10:10 AM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7A Q11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7A-Q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CHECK  •  10:00 AM–10:10 AM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13A Q10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pic>
        <p:nvPicPr>
          <p:cNvPr id="5" name="Picture 4" descr="13A-Q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6362"/>
            <a:ext cx="10698480" cy="136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Use only the question for your selected skill pathway.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W07-L03  •  WRAP UP  •  10:10 AM–10:15 AM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4–5 pp.56–87; Chapter 7–8 pp.108–134; Chapter 12–13 pp.188–209,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Identify what improved, what needs another attempt and which resource will support the next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Name the math and another essential skill used; record a concrete follow-up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Path A: 4A Q14–17 p.26; 5A Q12–15 p.33. B: 7A Q11–14 pp.45–46; 8C Q1–2 p.55. C: 12C Q1–2 p.79; 13A Q6,10 p.82.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DAY 24  •  SCHEDULED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400" b="1">
                <a:solidFill>
                  <a:srgbClr val="1A1A1A"/>
                </a:solidFill>
                <a:latin typeface="Arial"/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743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200" b="0">
                <a:solidFill>
                  <a:srgbClr val="D2181F"/>
                </a:solidFill>
                <a:latin typeface="Arial"/>
              </a:defRPr>
            </a:pPr>
            <a:r>
              <a:t>10:15 AM–10:30 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794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A1A1A"/>
                </a:solidFill>
                <a:latin typeface="Arial"/>
              </a:defRPr>
            </a:pPr>
            <a:r>
              <a:t>Return ready for: Mixed-topic calculation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4A4E54"/>
                </a:solidFill>
                <a:latin typeface="Arial"/>
              </a:defRPr>
            </a:pPr>
            <a:r>
              <a:t>This break is excluded from teaching minutes.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24  •  2026-12-10  •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START  •  10:30 AM–10:35 AM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Mixed-topic calculation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Apply taught methods to fresh practice, retain working and use feedback to choose a revision priority.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Identify one target skill and the checking habit to use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Paper fallback: 3A Q8–9 p.19; 6B Q2 p.41; 7A Q11 p.45; 8C Q1–2 p.55; 10A Q5–6 p.63; 12C Q1–2 p.79.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RECALL  •  10:35 AM–10:40 AM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Try to choose one personal error to watch for and identify their calculator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Review previous feedback and attempt the retrieval prompt without displayed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Paper fallback: 3A Q8–9 p.19; 6B Q2 p.41; 7A Q11 p.45; 8C Q1–2 p.55; 10A Q5–6 p.63; 12C Q1–2 p.79.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TEACH  •  10:40 AM–10:55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Make the generated set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Start with All off and enable only taught order, conversion, area/perimeter, volume or right-triangle topics.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Use Easy, 10 questions, diagrams on and calculator keys on; keep worked answers off during the attempt.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Retain the exam code before use. The instructor previews the set and removes untaught or trade-specific material.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Use the previewed ten-question set or the exact ten paper fallback items. This is formative practice, not an institutional pass/fail test.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TEACH  •  10:40 AM–10:55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Record the method before checking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Start each response with the question number or saved code so the working can be matched to its prompt.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Write the formula or operation, then working, units and the requested final rounding.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Include an estimate or second-method check; a calculator display alone does not explain your method.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After completion, check and correct. The scheduled independent retry uses new numbers for one missed type from the same taught-topic settings.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W07-L04  •  TEACH  •  10:40 AM–10:55 AM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reproducible ten-question record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6668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reading a question, saving its code and using requested rounding.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one separate example together; keep practice-set answers hidden.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762250"/>
            <a:ext cx="4952876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FALLBACK • ITEMS 1–5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3A Q8 — p.19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3A Q9 — p.19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6B Q2 — p.41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7A Q11 — p.45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8C Q1 — p.55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76838" y="2762250"/>
            <a:ext cx="4952876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FALLBACK • ITEMS 6–10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8C Q2 — p.55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10A Q5 — p.63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10A Q6 — p.63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12C Q1 — p.79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12C Q2 — p.79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5334000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format • Question number/code → formula or operation → working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units and final rounding → estimate or second-method check.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Book required for full numbered questions • Use the assigned paper questions if needed</a:t>
            </a:r>
            <a:endParaRPr lang="en-US" sz="1050" dirty="0"/>
          </a:p>
        </p:txBody>
      </p:sp>
      <p:pic>
        <p:nvPicPr>
          <p:cNvPr id="10" name="Picture 9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32</a:t>
            </a:r>
          </a:p>
        </p:txBody>
      </p:sp>
    </p:spTree>
    <p:extLst>
      <p:ext uri="{BB962C8B-B14F-4D97-AF65-F5344CB8AC3E}">
        <p14:creationId xmlns:p14="http://schemas.microsoft.com/office/powerpoint/2010/main" val="943906740"/>
      </p:ext>
    </p:extLst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TEACH  •  10:40 AM–10:55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219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W07-L0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923" y="1691640"/>
            <a:ext cx="5862233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Use only formulas for the topics selected in today’s practice set.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TEACH  •  10:40 AM–10:55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219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W07-L0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870" y="1691640"/>
            <a:ext cx="8438338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Right-triangle references apply only when those taught topics are selected.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TEACH  •  10:40 AM–10:55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You reveal worked answers while you are still completing the set, then copy the method. Can the record show which method you chose independently?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Keep worked answers hidden until the whole attempt is complete. Then use Check my answers, reveal worked answers for corrections, and retain the code/results so the attempt and correction can be distinguished.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TOGETHER  •  10:55 AM–11:10 AM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Work one separate demonstration question; state the formula and units before keys. Keep assessment/practice answers hidden.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Explain the method and check directions; work with a partner only where permitted.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Paper fallback: 3A Q8–9 p.19; 6B Q2 p.41; 7A Q11 p.45; 8C Q1–2 p.55; 10A Q5–6 p.63; 12C Q1–2 p.79.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the previewed 10-question Numeracy Hub set, or the ten paper fallback questions. Keep written methods. Use Check my answers only after completion; reveal worked answers for correction and save the code/results manually.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Keep numbered written solutions and units. Use tools only under the conditions stated for this block.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Paper fallback: 3A Q8–9 p.19; 6B Q2 p.41; 7A Q11 p.45; 8C Q1–2 p.55; 10A Q5–6 p.63; 12C Q1–2 p.79.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hub-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A1A1A"/>
                </a:solidFill>
                <a:latin typeface="Arial"/>
              </a:defRPr>
            </a:pPr>
            <a:r>
              <a:rPr/>
              <a:t>Configure Numeracy Hub Exam builder: All off; only the scheduled taught topics; Easy; 10 questions; diagrams and calculator keys on; worked answers off. Save the code and use the instructor-previewed 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Complete the ten questions with numbered written methods and units. Use the exact scheduled paper fallback if the generated set is not used.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A1A1A"/>
                </a:solidFill>
                <a:latin typeface="Arial"/>
              </a:defRPr>
            </a:pPr>
            <a:r>
              <a:rPr/>
              <a:t>After completion, use Check my answers and then worked answers for corrections; save code/results manually. For the scheduled check, explain one correction and independently retry one missed type with new numbers from the same settings.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1 of 10  |  3A Q8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3A-Q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2 of 10  |  3A Q9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3A-Q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3 of 10  |  6B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6B-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6362"/>
            <a:ext cx="10698480" cy="136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4 of 10  |  7A Q11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7A-Q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5 of 10  |  8C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8C-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6 of 10  |  8C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8C-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7 of 10  |  10A 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10A-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8 of 10  |  10A Q6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10A-Q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9 of 10  |  12C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12C-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PRACTISE  •  11:10 AM–11:45 AM  •  35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Paper fallback 10 of 10  |  12C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pic>
        <p:nvPicPr>
          <p:cNvPr id="5" name="Picture 4" descr="12C-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78" y="1773936"/>
            <a:ext cx="886552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CHECK  •  11:45 AM–11:55 AM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Explain one corrected item and independently redo one missed type using new numbers from the same tool settings.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Submit work and demonstrate the checking strategy; identify a remaining difficulty.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Paper fallback: 3A Q8–9 p.19; 6B Q2 p.41; 7A Q11 p.45; 8C Q1–2 p.55; 10A Q5–6 p.63; 12C Q1–2 p.79.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W07-L04  •  WRAP UP  •  11:55 AM–12:00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formula sheet p.219; conversion factors pp.220–221; relevant chapters 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Identify what improved, what needs another attempt and which resource will support the next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Name the math and another essential skill used; record a concrete follow-up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Paper fallback: 3A Q8–9 p.19; 6B Q2 p.41; 7A Q11 p.45; 8C Q1–2 p.55; 10A Q5–6 p.63; 12C Q1–2 p.79.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24  •  2026-12-10  • 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34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0FB143F-4C5F-4CFA-83D4-CE599B274CB0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15ce61c-59d5-4165-9b38-ae3aa70e227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6CE026-134B-41F5-918B-2FB126868299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fd5b780e-6113-4733-b1f1-d8726169f4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51</Slides>
  <Notes>51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Carpentry Math | Full Day 24 | 2026-12-10</dc:title>
  <dc:creator>ACCESS Trades</dc:creator>
  <dc:subject>Skill clinics: practise your priority topic; Mixed-topic calculation practice</dc:subject>
</cp:coreProperties>
</file>