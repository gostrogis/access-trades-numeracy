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35.xml" ContentType="application/vnd.openxmlformats-officedocument.presentationml.notesSlide+xml"/>
  <Override PartName="/ppt/notesSlides/notesSlide3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3" r:id="rId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06" r:id="rId3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6" Type="http://schemas.openxmlformats.org/officeDocument/2006/relationships/slide" Target="slides/slide7.xml"/><Relationship Id="rId3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Worked teaching example retained from original slide 35.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Worked teaching example retained from original slide 38.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Schedule'!E13 | 'Math Week 2'!A130</a:t>
            </a:r>
          </a:p>
          <a:p>
            <a:r>
              <a:t>'Carpentry Schedule'!E15 | 'Math Week 2'!A147</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Start, 9:00 AM–9:05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Recall, 9:05 AM–9:10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'Math Week 2'!A130</a:t>
            </a:r>
          </a:p>
          <a:p>
            <a:r>
              <a:t>'Math Week 2'!B132</a:t>
            </a:r>
          </a:p>
          <a:p>
            <a:r>
              <a:t>'Math Week 2'!B134</a:t>
            </a:r>
          </a:p>
          <a:p>
            <a:r>
              <a:t>Textbook Chapter 4 pp.59–61</a:t>
            </a:r>
          </a:p>
          <a:p>
            <a:r>
              <a:t>ACCESS CARPENTRY SLIDES.pptx slides 34–36</a:t>
            </a:r>
          </a:p>
          <a:p>
            <a:r>
              <a:t>ACCESS Trades Numeracy Textbook, PDF/printed p.59</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'Math Week 2'!A130</a:t>
            </a:r>
          </a:p>
          <a:p>
            <a:r>
              <a:t>'Math Week 2'!B132</a:t>
            </a:r>
          </a:p>
          <a:p>
            <a:r>
              <a:t>'Math Week 2'!B134</a:t>
            </a:r>
          </a:p>
          <a:p>
            <a:r>
              <a:t>Textbook Chapter 4 pp.59–61</a:t>
            </a:r>
          </a:p>
          <a:p>
            <a:r>
              <a:t>ACCESS CARPENTRY SLIDES.pptx slides 34–36</a:t>
            </a:r>
          </a:p>
          <a:p>
            <a:r>
              <a:t>ACCESS Trades Numeracy Textbook, PDF/printed p.59</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Textbook p.59 · Figure 4.7: equivalent fractions mark the same length.</a:t>
            </a:r>
          </a:p>
          <a:p>
            <a:r>
              <a:t>Exact PDF/printed page: 59. Excerpt reproduced from the supplied ACCESS Textbook.</a:t>
            </a:r>
          </a:p>
          <a:p>
            <a:r>
              <a:t>Figure 4.7 visually aligns one-half, two-quarters, four-eighths and eight-sixteenths.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Textbook p.61 · Example 4.5: compare common denominators and confirm on the rule.</a:t>
            </a:r>
          </a:p>
          <a:p>
            <a:r>
              <a:t>Exact PDF/printed page: 61. Excerpt reproduced from the supplied ACCESS Textbook.</a:t>
            </a:r>
          </a:p>
          <a:p>
            <a:r>
              <a:t>Figure 4.7 visually aligns one-half, two-quarters, four-eighths and eight-sixteenths.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Teach, 9:10 AM–9:25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Together, 9:25 AM–9:40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Together, 9:25 AM–9:40 AM. All slides with this phase share these 15 minutes; do not restart the time allocation for each slide.</a:t>
            </a:r>
          </a:p>
          <a:p/>
          <a:p>
            <a:r>
              <a:t>ACCESS EXERCISE BOOK: 4A-Q6</a:t>
            </a:r>
          </a:p>
          <a:p>
            <a:r>
              <a:t>Exact question: Write  14/32 and  36/64 in lowest terms.</a:t>
            </a:r>
          </a:p>
          <a:p>
            <a:r>
              <a:t>Instructor answer: 7/16 and  9/16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Together, 9:25 AM–9:40 AM. All slides with this phase share these 15 minutes; do not restart the time allocation for each slide.</a:t>
            </a:r>
          </a:p>
          <a:p/>
          <a:p>
            <a:r>
              <a:t>ACCESS EXERCISE BOOK: 4A-Q6</a:t>
            </a:r>
          </a:p>
          <a:p>
            <a:r>
              <a:t>Exact question: Write  14/32 and  36/64 in lowest terms.</a:t>
            </a:r>
          </a:p>
          <a:p>
            <a:r>
              <a:t>Instructor answer: 7/16 and  9/16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Practise, 9:40 AM–10:00 AM.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Exact scheduled tool activity: Shape Canvas: select in units and compare labelled rectangles. Use a fraction strip or rule to explain equivalence.</a:t>
            </a:r>
          </a:p>
          <a:p>
            <a:r>
              <a:t>Supported: Use fraction strips and a rule to explain the equivalence in 4A Q6–8.</a:t>
            </a:r>
          </a:p>
          <a:p>
            <a:r>
              <a:t>Independent practice: In Shape Canvas, select inches and create three labelled dimensions from Q9–11.</a:t>
            </a:r>
          </a:p>
          <a:p>
            <a:r>
              <a:t>Independent checking: Order the written values using common denominators and explain them to a partner.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4A-Q9</a:t>
            </a:r>
          </a:p>
          <a:p>
            <a:r>
              <a:t>Exact question: Put in order from smallest:  13/32,  3/8,  7/16.</a:t>
            </a:r>
          </a:p>
          <a:p>
            <a:r>
              <a:t>Instructor answer: 3/8,  13/32,  7/16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4A-Q10</a:t>
            </a:r>
          </a:p>
          <a:p>
            <a:r>
              <a:t>Exact question: Change  37/8 and  53/16 to mixed numbers.</a:t>
            </a:r>
          </a:p>
          <a:p>
            <a:r>
              <a:t>Instructor answer: 4 5/8 and 3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Check, 10:00 AM–10:10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4A-Q6</a:t>
            </a:r>
          </a:p>
          <a:p>
            <a:r>
              <a:t>Exact question: Write  14/32 and  36/64 in lowest terms.</a:t>
            </a:r>
          </a:p>
          <a:p>
            <a:r>
              <a:t>Instructor answer: 7/16 and  9/16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4A-Q8</a:t>
            </a:r>
          </a:p>
          <a:p>
            <a:r>
              <a:t>Exact question: Which is longer,  9/16 in or  5/8 in? By how much?</a:t>
            </a:r>
          </a:p>
          <a:p>
            <a:r>
              <a:t>Instructor answer: 5/8 in, by  1/16 in</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W02-L07 | 2026-11-05 | 9:00 AM–10:15 AM | 75 minutes</a:t>
            </a:r>
          </a:p>
          <a:p>
            <a:r>
              <a:t>Equivalent fractions and comparing lengths</a:t>
            </a:r>
          </a:p>
          <a:p>
            <a:r>
              <a:t>Mode: Math</a:t>
            </a:r>
          </a:p>
          <a:p>
            <a:r>
              <a:t>Goal: Use equivalent fractions to order dimensions and explain the difference between two lengths.</a:t>
            </a:r>
          </a:p>
          <a:p>
            <a:r>
              <a:t>Read: Textbook Chapter 4 pp.59–61</a:t>
            </a:r>
          </a:p>
          <a:p>
            <a:r>
              <a:t>Practise: Exercise Book 4A Q6–11 (p.26)</a:t>
            </a:r>
          </a:p>
          <a:p>
            <a:r>
              <a:t>Tool: Shape Canvas: select in units and compare labelled rectangles. Use a fraction strip or rule to explain equivalence.</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2'!A136:F136</a:t>
            </a:r>
          </a:p>
          <a:p/>
          <a:p>
            <a:r>
              <a:t>9:05 AM–9:10 AM | 2 Recall | 5 min</a:t>
            </a:r>
          </a:p>
          <a:p>
            <a:r>
              <a:t>Instructor: Show 1/2 and 8/16 on a rule. Ask why they refer to the same point.</a:t>
            </a:r>
          </a:p>
          <a:p>
            <a:r>
              <a:t>Learners: Try first without displayed answers.</a:t>
            </a:r>
          </a:p>
          <a:p>
            <a:r>
              <a:t>Materials/check: Identify support needs</a:t>
            </a:r>
          </a:p>
          <a:p>
            <a:r>
              <a:t>Source: 'Math Week 2'!A137:F137</a:t>
            </a:r>
          </a:p>
          <a:p/>
          <a:p>
            <a:r>
              <a:t>9:10 AM–9:25 AM | 3 Teach | 15 min</a:t>
            </a:r>
          </a:p>
          <a:p>
            <a:r>
              <a:t>Instructor: Model reducing fractions and creating a common denominator before comparing lengths.</a:t>
            </a:r>
          </a:p>
          <a:p>
            <a:r>
              <a:t>Learners: Follow the example; explain the next step.</a:t>
            </a:r>
          </a:p>
          <a:p>
            <a:r>
              <a:t>Materials/check: Textbook; worked example</a:t>
            </a:r>
          </a:p>
          <a:p>
            <a:r>
              <a:t>Source: 'Math Week 2'!A138:F138</a:t>
            </a:r>
          </a:p>
          <a:p/>
          <a:p>
            <a:r>
              <a:t>9:25 AM–9:40 AM | 4 Together | 15 min</a:t>
            </a:r>
          </a:p>
          <a:p>
            <a:r>
              <a:t>Instructor: Work 4A questions 6–8 with fraction strips; confirm the longer length on a rule.</a:t>
            </a:r>
          </a:p>
          <a:p>
            <a:r>
              <a:t>Learners: Work in pairs; alternate solver and checker.</a:t>
            </a:r>
          </a:p>
          <a:p>
            <a:r>
              <a:t>Materials/check: Exercise Book; tool above</a:t>
            </a:r>
          </a:p>
          <a:p>
            <a:r>
              <a:t>Source: 'Math Week 2'!A139:F139</a:t>
            </a:r>
          </a:p>
          <a:p/>
          <a:p>
            <a:r>
              <a:t>9:40 AM–10:00 AM | 5 Practise | 20 min</a:t>
            </a:r>
          </a:p>
          <a:p>
            <a:r>
              <a:t>Instructor: Complete 4A questions 9–11. Place three labelled dimensions in order and explain the comparison to a partner.</a:t>
            </a:r>
          </a:p>
          <a:p>
            <a:r>
              <a:t>Learners: Show working and units; estimate, then check.</a:t>
            </a:r>
          </a:p>
          <a:p>
            <a:r>
              <a:t>Materials/check: Paper first; tool second</a:t>
            </a:r>
          </a:p>
          <a:p>
            <a:r>
              <a:t>Source: 'Math Week 2'!A140:F140</a:t>
            </a:r>
          </a:p>
          <a:p/>
          <a:p>
            <a:r>
              <a:t>10:00 AM–10:10 AM | 6 Check | 10 min</a:t>
            </a:r>
          </a:p>
          <a:p>
            <a:r>
              <a:t>Instructor: Complete 4A questions 6 and 8, showing the common denominator.</a:t>
            </a:r>
          </a:p>
          <a:p>
            <a:r>
              <a:t>Learners: Answer independently and show the method.</a:t>
            </a:r>
          </a:p>
          <a:p>
            <a:r>
              <a:t>Materials/check: Teacher answers below</a:t>
            </a:r>
          </a:p>
          <a:p>
            <a:r>
              <a:t>Source: 'Math Week 2'!A141:F141</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2'!A142:F142</a:t>
            </a:r>
          </a:p>
          <a:p/>
          <a:p>
            <a:r>
              <a:t>INSTRUCTOR ONLY: REVEAL ASSESSMENT ANSWERS AFTER THE ATTEMPT</a:t>
            </a:r>
          </a:p>
          <a:p>
            <a:r>
              <a:t>Question 6 = 7/16 and 9/16. Question 8: 5/8 in is longer by 1/16 in. Answer Key page 13.</a:t>
            </a:r>
          </a:p>
          <a:p/>
          <a:p>
            <a:r>
              <a:t>Next: switch between mixed numbers and improper fractions.</a:t>
            </a:r>
          </a:p>
          <a:p/>
          <a:p>
            <a:r>
              <a:t>Sources: 'Math Week 2'!A16:E16; 'Carpentry Schedule'!E13; 'Math Week 2'!A130</a:t>
            </a:r>
          </a:p>
          <a:p>
            <a:r>
              <a:t>Navigation/resource slides support these scheduled steps and do not add instructional time.</a:t>
            </a:r>
          </a:p>
          <a:p>
            <a:r>
              <a:t>SLIDE PLACEMENT: Wrap up, 10:10 AM–10:15 AM. All slides with this phase share these 5 minutes; do not restart the time allocation for each slide.</a:t>
            </a:r>
          </a:p>
          <a:p/>
          <a:p>
            <a:r>
              <a:t>Next scheduled learning: Next: switch between mixed numbers and improper fractions.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10:30 AM.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Start, 10:30 AM–10:35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Recall, 10:35 AM–10:40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'Math Week 2'!A147</a:t>
            </a:r>
          </a:p>
          <a:p>
            <a:r>
              <a:t>'Math Week 2'!B149</a:t>
            </a:r>
          </a:p>
          <a:p>
            <a:r>
              <a:t>'Math Week 2'!B151</a:t>
            </a:r>
          </a:p>
          <a:p>
            <a:r>
              <a:t>Textbook Chapter 4 pp.61–63; Chapter 2 p.34</a:t>
            </a:r>
          </a:p>
          <a:p>
            <a:r>
              <a:t>ACCESS CARPENTRY SLIDES.pptx slides 37–39</a:t>
            </a:r>
          </a:p>
          <a:p>
            <a:r>
              <a:t>ACCESS Trades Numeracy Textbook, PDF/printed p.63</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'Math Week 2'!A147</a:t>
            </a:r>
          </a:p>
          <a:p>
            <a:r>
              <a:t>'Math Week 2'!B149</a:t>
            </a:r>
          </a:p>
          <a:p>
            <a:r>
              <a:t>'Math Week 2'!B151</a:t>
            </a:r>
          </a:p>
          <a:p>
            <a:r>
              <a:t>Textbook Chapter 4 pp.61–63; Chapter 2 p.34</a:t>
            </a:r>
          </a:p>
          <a:p>
            <a:r>
              <a:t>ACCESS CARPENTRY SLIDES.pptx slides 37–39</a:t>
            </a:r>
          </a:p>
          <a:p>
            <a:r>
              <a:t>ACCESS Trades Numeracy Textbook, PDF/printed p.63</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Textbook p.63 · Enter a mixed number and change it to an improper fraction.</a:t>
            </a:r>
          </a:p>
          <a:p>
            <a:r>
              <a:t>Exact PDF/printed page: 63. Excerpt reproduced from the supplied ACCESS Textbook.</a:t>
            </a:r>
          </a:p>
          <a:p>
            <a:r>
              <a:t>The calculator displays show mixed/improper fraction forms and each model’s d/c sequence.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Textbook p.62 · Example 4.7: whole × denominator + numerator.</a:t>
            </a:r>
          </a:p>
          <a:p>
            <a:r>
              <a:t>Exact PDF/printed page: 62. Excerpt reproduced from the supplied ACCESS Textbook.</a:t>
            </a:r>
          </a:p>
          <a:p>
            <a:r>
              <a:t>The calculator displays show mixed/improper fraction forms and each model’s d/c sequence.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Together, 10:55 AM–11:10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4A-Q10</a:t>
            </a:r>
          </a:p>
          <a:p>
            <a:r>
              <a:t>Exact question: Change  37/8 and  53/16 to mixed numbers.</a:t>
            </a:r>
          </a:p>
          <a:p>
            <a:r>
              <a:t>Instructor answer: 4 5/8 and 3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4A-Q10</a:t>
            </a:r>
          </a:p>
          <a:p>
            <a:r>
              <a:t>Exact question: Change  37/8 and  53/16 to mixed numbers.</a:t>
            </a:r>
          </a:p>
          <a:p>
            <a:r>
              <a:t>Instructor answer: 4 5/8 and 3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Practise, 11:10 AM–11:45 AM. All slides with this phase share these 35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Exact scheduled tool activity: Numeracy Hub: Calculator: select the learner’s model. Use the Textbook’s fraction-key sequence.</a:t>
            </a:r>
          </a:p>
          <a:p>
            <a:r>
              <a:t>Supported: Select the learner’s Numeracy Hub calculator model and follow Textbook p.34.</a:t>
            </a:r>
          </a:p>
          <a:p>
            <a:r>
              <a:t>Supported: Enter the values from 4A Q10–12 after completing each conversion on paper.</a:t>
            </a:r>
          </a:p>
          <a:p>
            <a:r>
              <a:t>Independent checking: Complete Q10–11 without a calculator, then compare the display with your values.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4A-Q13</a:t>
            </a:r>
          </a:p>
          <a:p>
            <a:r>
              <a:t>Exact question: What is the reciprocal of 2 1/2?</a:t>
            </a:r>
          </a:p>
          <a:p>
            <a:r>
              <a:t>Instructor answer: 2/5</a:t>
            </a:r>
          </a:p>
          <a:p>
            <a:r>
              <a:t>Working: 2 1/2 =  5/2, turned upside down is  2/5</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4A-Q10</a:t>
            </a:r>
          </a:p>
          <a:p>
            <a:r>
              <a:t>Exact question: Change  37/8 and  53/16 to mixed numbers.</a:t>
            </a:r>
          </a:p>
          <a:p>
            <a:r>
              <a:t>Instructor answer: 4 5/8 and 3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Check, 11:45 AM–11:55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4A-Q10</a:t>
            </a:r>
          </a:p>
          <a:p>
            <a:r>
              <a:t>Exact question: Change  37/8 and  53/16 to mixed numbers.</a:t>
            </a:r>
          </a:p>
          <a:p>
            <a:r>
              <a:t>Instructor answer: 4 5/8 and 3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4A-Q11</a:t>
            </a:r>
          </a:p>
          <a:p>
            <a:r>
              <a:t>Exact question: Change 4 7/16 and 6 3/4 to improper fractions.</a:t>
            </a:r>
          </a:p>
          <a:p>
            <a:r>
              <a:t>Instructor answer: 71/16 and  27/4</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W02-L08 | 2026-11-05 | 10:30 AM–12:00 PM | 90 minutes</a:t>
            </a:r>
          </a:p>
          <a:p>
            <a:r>
              <a:t>Mixed numbers and fraction calculator entry</a:t>
            </a:r>
          </a:p>
          <a:p>
            <a:r>
              <a:t>Mode: Math</a:t>
            </a:r>
          </a:p>
          <a:p>
            <a:r>
              <a:t>Goal: Convert mixed and improper fractions and match the calculator display to the written value.</a:t>
            </a:r>
          </a:p>
          <a:p>
            <a:r>
              <a:t>Read: Textbook Chapter 4 pp.61–63; Chapter 2 p.34</a:t>
            </a:r>
          </a:p>
          <a:p>
            <a:r>
              <a:t>Practise: Exercise Book 4A Q10–13 (p.26); 2A Q9 (p.14)</a:t>
            </a:r>
          </a:p>
          <a:p>
            <a:r>
              <a:t>Tool: Numeracy Hub: Calculator: select the learner’s model. Use the Textbook’s fraction-key sequence.</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2'!A153:F153</a:t>
            </a:r>
          </a:p>
          <a:p/>
          <a:p>
            <a:r>
              <a:t>10:35 AM–10:40 AM | 2 Recall | 5 min</a:t>
            </a:r>
          </a:p>
          <a:p>
            <a:r>
              <a:t>Instructor: Ask how many eighths are in 4 5/8. Check the meaning of numerator and denominator.</a:t>
            </a:r>
          </a:p>
          <a:p>
            <a:r>
              <a:t>Learners: Try first without displayed answers.</a:t>
            </a:r>
          </a:p>
          <a:p>
            <a:r>
              <a:t>Materials/check: Identify support needs</a:t>
            </a:r>
          </a:p>
          <a:p>
            <a:r>
              <a:t>Source: 'Math Week 2'!A154:F154</a:t>
            </a:r>
          </a:p>
          <a:p/>
          <a:p>
            <a:r>
              <a:t>10:40 AM–10:55 AM | 3 Teach | 15 min</a:t>
            </a:r>
          </a:p>
          <a:p>
            <a:r>
              <a:t>Instructor: Model whole × denominator + numerator, then division with a remainder for the reverse conversion. Read the fraction display aloud.</a:t>
            </a:r>
          </a:p>
          <a:p>
            <a:r>
              <a:t>Learners: Follow the example; explain the next step.</a:t>
            </a:r>
          </a:p>
          <a:p>
            <a:r>
              <a:t>Materials/check: Textbook; worked example</a:t>
            </a:r>
          </a:p>
          <a:p>
            <a:r>
              <a:t>Source: 'Math Week 2'!A155:F155</a:t>
            </a:r>
          </a:p>
          <a:p/>
          <a:p>
            <a:r>
              <a:t>10:55 AM–11:10 AM | 4 Together | 15 min</a:t>
            </a:r>
          </a:p>
          <a:p>
            <a:r>
              <a:t>Instructor: Complete 4A questions 10–12. Compare paper conversions with calculator displays.</a:t>
            </a:r>
          </a:p>
          <a:p>
            <a:r>
              <a:t>Learners: Work in pairs; alternate solver and checker.</a:t>
            </a:r>
          </a:p>
          <a:p>
            <a:r>
              <a:t>Materials/check: Exercise Book; tool above</a:t>
            </a:r>
          </a:p>
          <a:p>
            <a:r>
              <a:t>Source: 'Math Week 2'!A156:F156</a:t>
            </a:r>
          </a:p>
          <a:p/>
          <a:p>
            <a:r>
              <a:t>11:10 AM–11:45 AM | 5 Practise | 35 min</a:t>
            </a:r>
          </a:p>
          <a:p>
            <a:r>
              <a:t>Instructor: Complete question 13 and practise entering the values in questions 10–12 without changing them. Use 2A question 9 as a supported extension, not an addition-speed test.</a:t>
            </a:r>
          </a:p>
          <a:p>
            <a:r>
              <a:t>Learners: Show working and units; estimate, then check.</a:t>
            </a:r>
          </a:p>
          <a:p>
            <a:r>
              <a:t>Materials/check: Paper first; tool second</a:t>
            </a:r>
          </a:p>
          <a:p>
            <a:r>
              <a:t>Source: 'Math Week 2'!A157:F157</a:t>
            </a:r>
          </a:p>
          <a:p/>
          <a:p>
            <a:r>
              <a:t>11:45 AM–11:55 AM | 6 Check | 10 min</a:t>
            </a:r>
          </a:p>
          <a:p>
            <a:r>
              <a:t>Instructor: Complete 4A questions 10–11 without the calculator, then check.</a:t>
            </a:r>
          </a:p>
          <a:p>
            <a:r>
              <a:t>Learners: Answer independently and show the method.</a:t>
            </a:r>
          </a:p>
          <a:p>
            <a:r>
              <a:t>Materials/check: Teacher answers below</a:t>
            </a:r>
          </a:p>
          <a:p>
            <a:r>
              <a:t>Source: 'Math Week 2'!A158:F158</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2'!A159:F159</a:t>
            </a:r>
          </a:p>
          <a:p/>
          <a:p>
            <a:r>
              <a:t>INSTRUCTOR ONLY: REVEAL ASSESSMENT ANSWERS AFTER THE ATTEMPT</a:t>
            </a:r>
          </a:p>
          <a:p>
            <a:r>
              <a:t>Question 10 = 4 5/8 and 3 5/16. Question 11 = 71/16 and 27/4. Answer Key page 13. Answer Key pp.8,13</a:t>
            </a:r>
          </a:p>
          <a:p/>
          <a:p>
            <a:r>
              <a:t>Next: read and mark fractional dimensions from a drawing.</a:t>
            </a:r>
          </a:p>
          <a:p/>
          <a:p>
            <a:r>
              <a:t>Sources: 'Math Week 2'!A17:E17; 'Carpentry Schedule'!E15; 'Math Week 2'!A147</a:t>
            </a:r>
          </a:p>
          <a:p>
            <a:r>
              <a:t>Navigation/resource slides support these scheduled steps and do not add instructional time.</a:t>
            </a:r>
          </a:p>
          <a:p>
            <a:r>
              <a:t>SLIDE PLACEMENT: Wrap up, 11:55 AM–12:00 PM. All slides with this phase share these 5 minutes; do not restart the time allocation for each slide.</a:t>
            </a:r>
          </a:p>
          <a:p/>
          <a:p>
            <a:r>
              <a:t>Next scheduled learning: Next: read and mark fractional dimensions from a drawing.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Resources/ACCESS-Tools/books/ACCESS-Trades-Numeracy-Textbook.pdf#page=61"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Resources/ACCESS-Tools/books/ACCESS-Trades-Numeracy-Textbook.pdf#page=63"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Resources/ACCESS-Tools/books/ACCESS-Trades-Numeracy-Textbook.pdf#page=62"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Resources/ACCESS-Tools/books/ACCESS-Trades-Numeracy-Textbook.pdf#page=61"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Resources/ACCESS-Tools/books/ACCESS-Trades-Numeracy-Textbook.pdf#page=61"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Resources/ACCESS-Tools/books/ACCESS-Trades-Numeracy-Textbook.pdf#page=61"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Resources/ACCESS-Tools/books/ACCESS-Trades-Numeracy-Textbook.pdf#page=61"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Resources/ACCESS-Tools/books/ACCESS-Trades-Numeracy-Textbook.pdf#page=61"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Resources/ACCESS-Tools/books/ACCESS-Trades-Numeracy-Textbook.pdf#page=61"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Resources/ACCESS-Tools/books/ACCESS-Trades-Numeracy-Textbook.pdf#page=61"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hyperlink" Target="../Resources/ACCESS-Tools/books/ACCESS-Trades-Numeracy-Textbook.pdf#page=61"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06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5,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Equivalent fractions and comparing lengths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Mixed numbers and fraction calculator entry</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06  •  2026-11-05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06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Equivalent fractions and comparing lengths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2, Lesson 7</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Mixed numbers and fraction calculator entry</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2, Lesson 8</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Equivalent fractions and comparing lengths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Use equivalent fractions to order dimensions and explain the difference between two lengths.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4 pp.59–61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Q6–11 (p.26)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Show 1/2 and 8/16 on a rule. Explain why they refer to the same point.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Keep equivalent fractions equal</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Multiply or divide numerator and denominator by the same nonzero number.</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Changing the fraction’s name does not change its length.</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a fraction strip or rule to show that equivalent values share one point.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Reduce the final answer when the question asks for lowest terms.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pieces of the same size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Find a common denominator before comparing the numerators.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With equal denominators, the larger numerator names the longer length.</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Subtract the equal-sized fractions to find how much longer.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Order labelled dimensions by their values, not by the display’s zoom.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W02-L07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Compare equal-sized fractional units</a:t>
            </a:r>
            <a:endParaRPr lang="en-US" sz="3000" dirty="0"/>
          </a:p>
        </p:txBody>
      </p:sp>
      <p:sp>
        <p:nvSpPr>
          <p:cNvPr id="5" name="Text 3"/>
          <p:cNvSpPr/>
          <p:nvPr/>
        </p:nvSpPr>
        <p:spPr>
          <a:xfrm>
            <a:off x="609585" y="1762125"/>
            <a:ext cx="10972526" cy="1280071"/>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3/4 = 12/16</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12/16 &gt; 11/16</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Difference = 12/16 − 11/16 = 1/16 in</a:t>
            </a:r>
            <a:endParaRPr lang="en-US" sz="2400" dirty="0"/>
          </a:p>
        </p:txBody>
      </p:sp>
      <p:sp>
        <p:nvSpPr>
          <p:cNvPr id="6" name="Text 4"/>
          <p:cNvSpPr/>
          <p:nvPr/>
        </p:nvSpPr>
        <p:spPr>
          <a:xfrm>
            <a:off x="609585" y="347662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The numerators can be compared because the pieces are now the same size. Confirm the two marks on a rule.</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 Exercise Book 4A Q6–8.</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Use fraction strips to explain the longer dimension.</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Shape Canvas: compare labelled rectangles in inches, not screen lengths.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W2 L7 • Classroom example uses new values • Common denominator before comparison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07</a:t>
            </a:r>
          </a:p>
        </p:txBody>
      </p:sp>
    </p:spTree>
    <p:extLst>
      <p:ext uri="{BB962C8B-B14F-4D97-AF65-F5344CB8AC3E}">
        <p14:creationId xmlns:p14="http://schemas.microsoft.com/office/powerpoint/2010/main" val="116338465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59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pic>
        <p:nvPicPr>
          <p:cNvPr id="5" name="Picture 4" descr="W02-L07.png"/>
          <p:cNvPicPr>
            <a:picLocks noChangeAspect="1"/>
          </p:cNvPicPr>
          <p:nvPr/>
        </p:nvPicPr>
        <p:blipFill>
          <a:blip r:embed="rId3"/>
          <a:stretch>
            <a:fillRect/>
          </a:stretch>
        </p:blipFill>
        <p:spPr>
          <a:xfrm>
            <a:off x="694372" y="1691640"/>
            <a:ext cx="1068133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p.59 · Figure 4.7: equivalent fractions mark the same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pic>
        <p:nvPicPr>
          <p:cNvPr id="5" name="Picture 4" descr="W02-L07-2.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p.61 · Example 4.5: compare common denominators and confirm on the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Is 11/16 longer than 3/4 because 11 is greater than 3?</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Compare equal-sized parts: 3/4 = 12/16, which is longer than 11/16 by 1/16.</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4A questions 6–8 with fraction strips; confirm the longer length on a rule.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pic>
        <p:nvPicPr>
          <p:cNvPr id="5" name="Picture 4" descr="4A-Q6.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7/16 and  9/16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4A questions 9–11. Place three labelled dimensions in order and explain the comparison to a partner.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Use fraction strips and a rule to explain the equivalence in 4A Q6–8.</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In Shape Canvas, select inches and create three labelled dimensions from Q9–11.</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Order the written values using common denominators and explain them to a partner.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4A questions 6 and 8, showing the common denominator.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W02-L07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06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Mixed numbers and fraction calculator entry</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06  •  2026-11-05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Mixed numbers and fraction calculator entry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Convert mixed and improper fractions and match the calculator display to the written value.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4 pp.61–63; Chapter 2 p.34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Q10–13 (p.26); 2A Q9 (p.14)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how many eighths are in 4 5/8. Check the meaning of numerator and denominator.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Turn whole units into fractional units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mixed number contains a whole-number part and a fraction.</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Multiply the whole number by the denominator, then add the numerator.</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denominator: the size of each fractional unit has not changed.</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improper fraction before checking it on the calculator.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Turn an improper fraction back into a mixed number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Divide the numerator by the denominator.</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whole-number quotient gives the whole part.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remainder becomes the numerator over the original denominator.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Read the calculator display aloud and compare both parts with your written value.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W02-L08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Change the form—not the value</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2 3/8 = (2 × 8 + 3)/8 = 19/8</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19 ÷ 8 = 2 remainder 3 → 2 3/8</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The denominator stays 8 because we are still counting eighths.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Read the calculator fraction display aloud; check that whole and fractional parts match your written value.</a:t>
            </a:r>
            <a:endParaRPr lang="en-US" sz="1800" dirty="0"/>
          </a:p>
        </p:txBody>
      </p:sp>
      <p:sp>
        <p:nvSpPr>
          <p:cNvPr id="7" name="Text 5"/>
          <p:cNvSpPr/>
          <p:nvPr/>
        </p:nvSpPr>
        <p:spPr>
          <a:xfrm>
            <a:off x="609585" y="4619625"/>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 Complete 4A Q10–12.</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Compare paper conversions with Numeracy Hub Calculator using your selected model and the Textbook fraction-key sequence.</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W2 L8 • First explain the fraction; then check the display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28</a:t>
            </a:r>
          </a:p>
        </p:txBody>
      </p:sp>
    </p:spTree>
    <p:extLst>
      <p:ext uri="{BB962C8B-B14F-4D97-AF65-F5344CB8AC3E}">
        <p14:creationId xmlns:p14="http://schemas.microsoft.com/office/powerpoint/2010/main" val="15246043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pic>
        <p:nvPicPr>
          <p:cNvPr id="5" name="Picture 4" descr="W02-L08.png"/>
          <p:cNvPicPr>
            <a:picLocks noChangeAspect="1"/>
          </p:cNvPicPr>
          <p:nvPr/>
        </p:nvPicPr>
        <p:blipFill>
          <a:blip r:embed="rId3"/>
          <a:stretch>
            <a:fillRect/>
          </a:stretch>
        </p:blipFill>
        <p:spPr>
          <a:xfrm>
            <a:off x="685800" y="1840792"/>
            <a:ext cx="10698480" cy="3770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p.63 · Enter a mixed number and change it to an improper fraction.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pic>
        <p:nvPicPr>
          <p:cNvPr id="5" name="Picture 4" descr="W02-L08-2.png"/>
          <p:cNvPicPr>
            <a:picLocks noChangeAspect="1"/>
          </p:cNvPicPr>
          <p:nvPr/>
        </p:nvPicPr>
        <p:blipFill>
          <a:blip r:embed="rId3"/>
          <a:stretch>
            <a:fillRect/>
          </a:stretch>
        </p:blipFill>
        <p:spPr>
          <a:xfrm>
            <a:off x="685800" y="2188410"/>
            <a:ext cx="10698480" cy="307553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p.62 · Example 4.7: whole × denominator + numerator.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learner changes 2 3/8 into 5/8 by adding 2 + 3. Why is that wrong?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Two whole units contain 16 eighths. Add 3 more eighths: (2 × 8 + 3)/8 = 19/8.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4A questions 10–12. Compare paper conversions with calculator displays.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pic>
        <p:nvPicPr>
          <p:cNvPr id="5" name="Picture 4" descr="4A-Q10.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4 5/8 and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question 13 and practise entering the values in questions 10–12 without changing them. Use 2A question 9 as a supported extension, not an addition-speed test.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Select the learner’s Numeracy Hub calculator model and follow Textbook p.34.</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Enter the values from 4A Q10–12 after completing each conversion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Complete Q10–11 without a calculator, then compare the display with your values.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pic>
        <p:nvPicPr>
          <p:cNvPr id="5" name="Picture 4" descr="4A-Q13.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4A questions 10–11 without the calculator, then check.</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pic>
        <p:nvPicPr>
          <p:cNvPr id="5" name="Picture 4" descr="4A-Q11.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W02-L08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06  •  2026-11-05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06 | 2026-11-05</dc:title>
  <dc:creator>ACCESS Trades</dc:creator>
  <cp:lastModifiedBy>Gabriel Ostrowidzki</cp:lastModifiedBy>
  <cp:revision>3</cp:revision>
  <dcterms:created xsi:type="dcterms:W3CDTF">2026-10-19T18:44:52Z</dcterms:created>
  <dcterms:modified xsi:type="dcterms:W3CDTF">2026-10-19T19:22:04Z</dcterms:modified>
  <dc:subject>Equivalent fractions and comparing lengths; Mixed numbers and fraction calculator entry</dc:subject>
</cp:coreProperties>
</file>