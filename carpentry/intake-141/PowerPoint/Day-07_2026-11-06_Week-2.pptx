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41.xml" ContentType="application/vnd.openxmlformats-officedocument.presentationml.notesSlide+xml"/>
  <Override PartName="/ppt/notesSlides/notesSlide4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09" r:id="rId42"/>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312" r:id="rId45"/>
    <p:sldId id="459" r:id="rId196"/>
    <p:sldId id="460" r:id="rId197"/>
    <p:sldId id="461" r:id="rId198"/>
    <p:sldId id="462" r:id="rId199"/>
    <p:sldId id="463" r:id="rId200"/>
    <p:sldId id="464" r:id="rId201"/>
    <p:sldId id="465" r:id="rId202"/>
    <p:sldId id="466" r:id="rId203"/>
    <p:sldId id="467" r:id="rId204"/>
    <p:sldId id="468" r:id="rId205"/>
    <p:sldId id="469" r:id="rId20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2" Type="http://schemas.openxmlformats.org/officeDocument/2006/relationships/slide" Target="slides/slide7.xml"/><Relationship Id="rId45" Type="http://schemas.openxmlformats.org/officeDocument/2006/relationships/slide" Target="slides/slide26.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7.xml"/><Relationship Id="rId197" Type="http://schemas.openxmlformats.org/officeDocument/2006/relationships/slide" Target="slides/slide28.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Worked teaching example retained from original slide 41. Use within the scheduled Teach block.</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Worked teaching example retained from original slide 44. Use within the scheduled Teach block.</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Daily deck uses only this date’s math blocks from the current visible Carpentry Schedule and Math Week sheets.</a:t>
            </a:r>
          </a:p>
          <a:p>
            <a:r>
              <a:t>'Carpentry Schedule'!F13 | 'Math Week 2'!A165</a:t>
            </a:r>
          </a:p>
          <a:p>
            <a:r>
              <a:t>'Carpentry Schedule'!F15 | 'Math Week 2'!A182</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Start, 9:00 AM–9:05 AM. All slides with this phase share these 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Recall, 9:05 AM–9:10 AM. All slides with this phase share these 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Teach, 9:10 AM–9:25 AM. All slides with this phase share these 15 minutes; do not restart the time allocation for each slide.</a:t>
            </a:r>
          </a:p>
          <a:p/>
          <a:p>
            <a:r>
              <a:t>Teaching content sources:</a:t>
            </a:r>
          </a:p>
          <a:p>
            <a:r>
              <a:t>'Math Week 2'!A165</a:t>
            </a:r>
          </a:p>
          <a:p>
            <a:r>
              <a:t>'Math Week 2'!B167</a:t>
            </a:r>
          </a:p>
          <a:p>
            <a:r>
              <a:t>'Math Week 2'!B169</a:t>
            </a:r>
          </a:p>
          <a:p>
            <a:r>
              <a:t>Textbook Chapter 4 pp.56–63</a:t>
            </a:r>
          </a:p>
          <a:p>
            <a:r>
              <a:t>ACCESS CARPENTRY SLIDES.pptx slides 40–42</a:t>
            </a:r>
          </a:p>
          <a:p>
            <a:r>
              <a:t>ACCESS Trades Numeracy Textbook, PDF/printed p.57</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Teach, 9:10 AM–9:25 AM. All slides with this phase share these 15 minutes; do not restart the time allocation for each slide.</a:t>
            </a:r>
          </a:p>
          <a:p/>
          <a:p>
            <a:r>
              <a:t>Teaching content sources:</a:t>
            </a:r>
          </a:p>
          <a:p>
            <a:r>
              <a:t>'Math Week 2'!A165</a:t>
            </a:r>
          </a:p>
          <a:p>
            <a:r>
              <a:t>'Math Week 2'!B167</a:t>
            </a:r>
          </a:p>
          <a:p>
            <a:r>
              <a:t>'Math Week 2'!B169</a:t>
            </a:r>
          </a:p>
          <a:p>
            <a:r>
              <a:t>Textbook Chapter 4 pp.56–63</a:t>
            </a:r>
          </a:p>
          <a:p>
            <a:r>
              <a:t>ACCESS CARPENTRY SLIDES.pptx slides 40–42</a:t>
            </a:r>
          </a:p>
          <a:p>
            <a:r>
              <a:t>ACCESS Trades Numeracy Textbook, PDF/printed p.57</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Teach, 9:10 AM–9:25 AM. All slides with this phase share these 15 minutes; do not restart the time allocation for each slide.</a:t>
            </a:r>
          </a:p>
          <a:p/>
          <a:p>
            <a:r>
              <a:t>Textbook visual: Textbook p.57 · Figure 4.3: transfer the written measurement, not the screen size.</a:t>
            </a:r>
          </a:p>
          <a:p>
            <a:r>
              <a:t>Exact PDF/printed page: 57. Excerpt reproduced from the supplied ACCESS Textbook.</a:t>
            </a:r>
          </a:p>
          <a:p>
            <a:r>
              <a:t>Figure 4.3 provides a dimension-reading ruler for demonstrating transfer to a paper strip.</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Teach, 9:10 AM–9:25 AM. All slides with this phase share these 15 minutes; do not restart the time allocation for each slide.</a:t>
            </a:r>
          </a:p>
          <a:p/>
          <a:p>
            <a:r>
              <a:t>Textbook visual: Textbook p.57 · Four steps for rereading a mark from the last whole inch.</a:t>
            </a:r>
          </a:p>
          <a:p>
            <a:r>
              <a:t>Exact PDF/printed page: 57. Excerpt reproduced from the supplied ACCESS Textbook.</a:t>
            </a:r>
          </a:p>
          <a:p>
            <a:r>
              <a:t>Figure 4.3 provides a dimension-reading ruler for demonstrating transfer to a paper strip.</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Teach, 9:10 AM–9:25 AM. All slides with this phase share these 15 minutes; do not restart the time allocation for each slide.</a:t>
            </a:r>
          </a:p>
          <a:p/>
          <a:p>
            <a:r>
              <a:t>Pause on the prompt before discussing the correction. This is included within the scheduled Teach block, not an additional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Together, 9:25 AM–9:40 AM. All slides with this phase share these 15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Together, 9:25 AM–9:40 AM. All slides with this phase share these 15 minutes; do not restart the time allocation for each slide.</a:t>
            </a:r>
          </a:p>
          <a:p/>
          <a:p>
            <a:r>
              <a:t>ACCESS EXERCISE BOOK: 4A-Q3</a:t>
            </a:r>
          </a:p>
          <a:p>
            <a:r>
              <a:t>Exact question: Read marks A, B, C and D to the nearest  1/16 in.</a:t>
            </a:r>
          </a:p>
          <a:p>
            <a:r>
              <a:t>Instructor answer: A:  9/16 in, B: 1 5/8 in, C: 2 1/4 in, D: 2 13/16 in</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Together, 9:25 AM–9:40 AM. All slides with this phase share these 15 minutes; do not restart the time allocation for each slide.</a:t>
            </a:r>
          </a:p>
          <a:p/>
          <a:p>
            <a:r>
              <a:t>ACCESS EXERCISE BOOK: 4A-Q3</a:t>
            </a:r>
          </a:p>
          <a:p>
            <a:r>
              <a:t>Exact question: Read marks A, B, C and D to the nearest  1/16 in.</a:t>
            </a:r>
          </a:p>
          <a:p>
            <a:r>
              <a:t>Instructor answer: A:  9/16 in, B: 1 5/8 in, C: 2 1/4 in, D: 2 13/16 in</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Practise, 9:40 AM–10:00 AM. All slides with this phase share these 20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Practise, 9:40 AM–10:00 AM. All slides with this phase share these 20 minutes; do not restart the time allocation for each slide.</a:t>
            </a:r>
          </a:p>
          <a:p/>
          <a:p>
            <a:r>
              <a:t>Live-tool screenshot, not an answer to the scheduled task. Open the resource link and follow the exact values in the assignment. Keep worked answers hidden until learners attempt the task. Screenshot illustrates navigation and occupies time within the same scheduled practice phase.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Practise, 9:40 AM–10:00 AM. All slides with this phase share these 20 minutes; do not restart the time allocation for each slide.</a:t>
            </a:r>
          </a:p>
          <a:p/>
          <a:p>
            <a:r>
              <a:t>Exact scheduled tool activity: Shape Canvas: create rectangles with the question’s labelled dimensions. Use the labels, not the screen’s physical size, to mark a paper strip.</a:t>
            </a:r>
          </a:p>
          <a:p>
            <a:r>
              <a:t>Supported: In Shape Canvas, create rectangles labelled with the four values from 4A Q3.</a:t>
            </a:r>
          </a:p>
          <a:p>
            <a:r>
              <a:t>Independent practice: Use the labels and an actual rule to mark a paper strip from one start point.</a:t>
            </a:r>
          </a:p>
          <a:p>
            <a:r>
              <a:t>Independent checking: Exchange strips, reread from zero and explain any corrected disagreement.</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Practise, 9:40 AM–10:00 AM. All slides with this phase share these 20 minutes; do not restart the time allocation for each slide.</a:t>
            </a:r>
          </a:p>
          <a:p/>
          <a:p>
            <a:r>
              <a:t>ACCESS EXERCISE BOOK: 4A-Q8</a:t>
            </a:r>
          </a:p>
          <a:p>
            <a:r>
              <a:t>Exact question: Which is longer,  9/16 in or  5/8 in? By how much?</a:t>
            </a:r>
          </a:p>
          <a:p>
            <a:r>
              <a:t>Instructor answer: 5/8 in, by  1/16 in</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Practise, 9:40 AM–10:00 AM. All slides with this phase share these 20 minutes; do not restart the time allocation for each slide.</a:t>
            </a:r>
          </a:p>
          <a:p/>
          <a:p>
            <a:r>
              <a:t>ACCESS EXERCISE BOOK: 4A-Q9</a:t>
            </a:r>
          </a:p>
          <a:p>
            <a:r>
              <a:t>Exact question: Put in order from smallest:  13/32,  3/8,  7/16.</a:t>
            </a:r>
          </a:p>
          <a:p>
            <a:r>
              <a:t>Instructor answer: 3/8,  13/32,  7/16</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Check, 10:00 AM–10:10 AM. All slides with this phase share these 10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W02-L09 | 2026-11-06 | 9:00 AM–10:15 AM | 75 minutes</a:t>
            </a:r>
          </a:p>
          <a:p>
            <a:r>
              <a:t>Marking fractional dimensions</a:t>
            </a:r>
          </a:p>
          <a:p>
            <a:r>
              <a:t>Mode: Math</a:t>
            </a:r>
          </a:p>
          <a:p>
            <a:r>
              <a:t>Goal: Transfer a labelled inch dimension to a paper strip and check it with a partner.</a:t>
            </a:r>
          </a:p>
          <a:p>
            <a:r>
              <a:t>Read: Textbook Chapter 4 pp.56–63</a:t>
            </a:r>
          </a:p>
          <a:p>
            <a:r>
              <a:t>Practise: Exercise Book 4A Q3 (p.25), Q8–11 (p.26)</a:t>
            </a:r>
          </a:p>
          <a:p>
            <a:r>
              <a:t>Tool: Shape Canvas: create rectangles with the question’s labelled dimensions. Use the labels, not the screen’s physical size, to mark a paper strip.</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2'!A171:F171</a:t>
            </a:r>
          </a:p>
          <a:p/>
          <a:p>
            <a:r>
              <a:t>9:05 AM–9:10 AM | 2 Recall | 5 min</a:t>
            </a:r>
          </a:p>
          <a:p>
            <a:r>
              <a:t>Instructor: Ask what stays the same when a drawing is zoomed. Distinguish dimensions from screen size.</a:t>
            </a:r>
          </a:p>
          <a:p>
            <a:r>
              <a:t>Learners: Try first without displayed answers.</a:t>
            </a:r>
          </a:p>
          <a:p>
            <a:r>
              <a:t>Materials/check: Identify support needs</a:t>
            </a:r>
          </a:p>
          <a:p>
            <a:r>
              <a:t>Source: 'Math Week 2'!A172:F172</a:t>
            </a:r>
          </a:p>
          <a:p/>
          <a:p>
            <a:r>
              <a:t>9:10 AM–9:25 AM | 3 Teach | 15 min</a:t>
            </a:r>
          </a:p>
          <a:p>
            <a:r>
              <a:t>Instructor: Model start point, whole inches and fractional spaces. Demonstrate a second reading from zero to catch counting errors.</a:t>
            </a:r>
          </a:p>
          <a:p>
            <a:r>
              <a:t>Learners: Follow the example; explain the next step.</a:t>
            </a:r>
          </a:p>
          <a:p>
            <a:r>
              <a:t>Materials/check: Textbook; worked example</a:t>
            </a:r>
          </a:p>
          <a:p>
            <a:r>
              <a:t>Source: 'Math Week 2'!A173:F173</a:t>
            </a:r>
          </a:p>
          <a:p/>
          <a:p>
            <a:r>
              <a:t>9:25 AM–9:40 AM | 4 Together | 15 min</a:t>
            </a:r>
          </a:p>
          <a:p>
            <a:r>
              <a:t>Instructor: Use the four values in 4A question 3 to mark and label a paper strip; partners verify each mark.</a:t>
            </a:r>
          </a:p>
          <a:p>
            <a:r>
              <a:t>Learners: Work in pairs; alternate solver and checker.</a:t>
            </a:r>
          </a:p>
          <a:p>
            <a:r>
              <a:t>Materials/check: Exercise Book; tool above</a:t>
            </a:r>
          </a:p>
          <a:p>
            <a:r>
              <a:t>Source: 'Math Week 2'!A174:F174</a:t>
            </a:r>
          </a:p>
          <a:p/>
          <a:p>
            <a:r>
              <a:t>9:40 AM–10:00 AM | 5 Practise | 20 min</a:t>
            </a:r>
          </a:p>
          <a:p>
            <a:r>
              <a:t>Instructor: Create four dimension labels from questions 8–11, then mark them on paper. Compare readings, circle disagreements and correct them with a written reason.</a:t>
            </a:r>
          </a:p>
          <a:p>
            <a:r>
              <a:t>Learners: Show working and units; estimate, then check.</a:t>
            </a:r>
          </a:p>
          <a:p>
            <a:r>
              <a:t>Materials/check: Paper first; tool second</a:t>
            </a:r>
          </a:p>
          <a:p>
            <a:r>
              <a:t>Source: 'Math Week 2'!A175:F175</a:t>
            </a:r>
          </a:p>
          <a:p/>
          <a:p>
            <a:r>
              <a:t>10:00 AM–10:10 AM | 6 Check | 10 min</a:t>
            </a:r>
          </a:p>
          <a:p>
            <a:r>
              <a:t>Instructor: Read two partner-created marks and simplify 14/32 and 36/64.</a:t>
            </a:r>
          </a:p>
          <a:p>
            <a:r>
              <a:t>Learners: Answer independently and show the method.</a:t>
            </a:r>
          </a:p>
          <a:p>
            <a:r>
              <a:t>Materials/check: Teacher answers below</a:t>
            </a:r>
          </a:p>
          <a:p>
            <a:r>
              <a:t>Source: 'Math Week 2'!A176:F176</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2'!A177:F177</a:t>
            </a:r>
          </a:p>
          <a:p/>
          <a:p>
            <a:r>
              <a:t>INSTRUCTOR ONLY: REVEAL ASSESSMENT ANSWERS AFTER THE ATTEMPT</a:t>
            </a:r>
          </a:p>
          <a:p>
            <a:r>
              <a:t>14/32 = 7/16; 36/64 = 9/16. Tape readings depend on the marks; compare against the labelled dimensions. Answer Key page 13.</a:t>
            </a:r>
          </a:p>
          <a:p/>
          <a:p>
            <a:r>
              <a:t>Next: check fraction foundations and choose a practice priority.</a:t>
            </a:r>
          </a:p>
          <a:p/>
          <a:p>
            <a:r>
              <a:t>Sources: 'Math Week 2'!A18:E18; 'Carpentry Schedule'!F13; 'Math Week 2'!A165</a:t>
            </a:r>
          </a:p>
          <a:p>
            <a:r>
              <a:t>Navigation/resource slides support these scheduled steps and do not add instructional time.</a:t>
            </a:r>
          </a:p>
          <a:p>
            <a:r>
              <a:t>SLIDE PLACEMENT: Wrap up, 10:10 AM–10:15 AM. All slides with this phase share these 5 minutes; do not restart the time allocation for each slide.</a:t>
            </a:r>
          </a:p>
          <a:p/>
          <a:p>
            <a:r>
              <a:t>Next scheduled learning: Next: check fraction foundations and choose a practice priority.</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15 minutes. Resume at 10:30 AM. Do not move the following math block into the break.</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SLIDE PLACEMENT: Start, 10:30 AM–10:35 AM. All slides with this phase share these 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SLIDE PLACEMENT: Recall, 10:35 AM–10:40 AM. All slides with this phase share these 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SLIDE PLACEMENT: Teach, 10:40 AM–10:55 AM. All slides with this phase share these 15 minutes; do not restart the time allocation for each slide.</a:t>
            </a:r>
          </a:p>
          <a:p/>
          <a:p>
            <a:r>
              <a:t>Teaching content sources:</a:t>
            </a:r>
          </a:p>
          <a:p>
            <a:r>
              <a:t>'Math Week 2'!A182</a:t>
            </a:r>
          </a:p>
          <a:p>
            <a:r>
              <a:t>'Math Week 2'!B184</a:t>
            </a:r>
          </a:p>
          <a:p>
            <a:r>
              <a:t>'Math Week 2'!B186</a:t>
            </a:r>
          </a:p>
          <a:p>
            <a:r>
              <a:t>Textbook Chapter 4 pp.56–63</a:t>
            </a:r>
          </a:p>
          <a:p>
            <a:r>
              <a:t>ACCESS CARPENTRY SLIDES.pptx slides 43–45</a:t>
            </a:r>
          </a:p>
          <a:p>
            <a:r>
              <a:t>ACCESS Trades Numeracy Textbook, PDF/printed p.61</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SLIDE PLACEMENT: Teach, 10:40 AM–10:55 AM. All slides with this phase share these 15 minutes; do not restart the time allocation for each slide.</a:t>
            </a:r>
          </a:p>
          <a:p/>
          <a:p>
            <a:r>
              <a:t>Teaching content sources:</a:t>
            </a:r>
          </a:p>
          <a:p>
            <a:r>
              <a:t>'Math Week 2'!A182</a:t>
            </a:r>
          </a:p>
          <a:p>
            <a:r>
              <a:t>'Math Week 2'!B184</a:t>
            </a:r>
          </a:p>
          <a:p>
            <a:r>
              <a:t>'Math Week 2'!B186</a:t>
            </a:r>
          </a:p>
          <a:p>
            <a:r>
              <a:t>Textbook Chapter 4 pp.56–63</a:t>
            </a:r>
          </a:p>
          <a:p>
            <a:r>
              <a:t>ACCESS CARPENTRY SLIDES.pptx slides 43–45</a:t>
            </a:r>
          </a:p>
          <a:p>
            <a:r>
              <a:t>ACCESS Trades Numeracy Textbook, PDF/printed p.61</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SLIDE PLACEMENT: Teach, 10:40 AM–10:55 AM. All slides with this phase share these 15 minutes; do not restart the time allocation for each slide.</a:t>
            </a:r>
          </a:p>
          <a:p/>
          <a:p>
            <a:r>
              <a:t>Textbook visual: Textbook p.61 · Different-number preparation: compare and order sizes.</a:t>
            </a:r>
          </a:p>
          <a:p>
            <a:r>
              <a:t>Exact PDF/printed page: 61. Excerpt reproduced from the supplied ACCESS Textbook.</a:t>
            </a:r>
          </a:p>
          <a:p>
            <a:r>
              <a:t>Example 4.5 shows ordered dimensions while Figure 4.8 connects improper fractions and mixed numbers.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SLIDE PLACEMENT: Teach, 10:40 AM–10:55 AM. All slides with this phase share these 15 minutes; do not restart the time allocation for each slide.</a:t>
            </a:r>
          </a:p>
          <a:p/>
          <a:p>
            <a:r>
              <a:t>Textbook visual: Textbook p.61 · Figure 4.8: eleven quarters are two wholes and three quarters.</a:t>
            </a:r>
          </a:p>
          <a:p>
            <a:r>
              <a:t>Exact PDF/printed page: 61. Excerpt reproduced from the supplied ACCESS Textbook.</a:t>
            </a:r>
          </a:p>
          <a:p>
            <a:r>
              <a:t>Example 4.5 shows ordered dimensions while Figure 4.8 connects improper fractions and mixed numbers.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SLIDE PLACEMENT: Teach, 10:40 AM–10:55 AM. All slides with this phase share these 15 minutes; do not restart the time allocation for each slide.</a:t>
            </a:r>
          </a:p>
          <a:p/>
          <a:p>
            <a:r>
              <a:t>Pause on the prompt before discussing the correction. This is included within the scheduled Teach block, not an additional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SLIDE PLACEMENT: Together, 10:55 AM–11:10 AM. All slides with this phase share these 15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SLIDE PLACEMENT: Practise, 11:10 AM–11:45 AM. All slides with this phase share these 35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SLIDE PLACEMENT: Practise, 11:10 AM–11:45 AM. All slides with this phase share these 35 minutes; do not restart the time allocation for each slide.</a:t>
            </a:r>
          </a:p>
          <a:p/>
          <a:p>
            <a:r>
              <a:t>Live-tool screenshot, not an answer to the scheduled task. Open the resource link and follow the exact values in the assignment. Keep worked answers hidden until learners attempt the task. Screenshot illustrates navigation and occupies time within the same scheduled practice phase.</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SLIDE PLACEMENT: Practise, 11:10 AM–11:45 AM. All slides with this phase share these 35 minutes; do not restart the time allocation for each slide.</a:t>
            </a:r>
          </a:p>
          <a:p/>
          <a:p>
            <a:r>
              <a:t>Exact scheduled tool activity: Use a rule, paper and the chosen calculator for checking after the first attempt. Shape Canvas supports one corrected dimension drawing.</a:t>
            </a:r>
          </a:p>
          <a:p>
            <a:r>
              <a:t>Independent first attempt: Use paper and a rule for 4A Q3,6,8,10–11 without displayed answers.</a:t>
            </a:r>
          </a:p>
          <a:p>
            <a:r>
              <a:t>Checking after completion: Use the chosen calculator or rule to locate and explain one error.</a:t>
            </a:r>
          </a:p>
          <a:p>
            <a:r>
              <a:t>Independent retry: Rebuild one corrected dimension in Shape Canvas, then solve a fresh missed type.</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SLIDE PLACEMENT: Practise, 11:10 AM–11:45 AM. All slides with this phase share these 35 minutes; do not restart the time allocation for each slide.</a:t>
            </a:r>
          </a:p>
          <a:p/>
          <a:p>
            <a:r>
              <a:t>ACCESS EXERCISE BOOK: 4A-Q3</a:t>
            </a:r>
          </a:p>
          <a:p>
            <a:r>
              <a:t>Exact question: Read marks A, B, C and D to the nearest  1/16 in.</a:t>
            </a:r>
          </a:p>
          <a:p>
            <a:r>
              <a:t>Instructor answer: A:  9/16 in, B: 1 5/8 in, C: 2 1/4 in, D: 2 13/16 in</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SLIDE PLACEMENT: Practise, 11:10 AM–11:45 AM. All slides with this phase share these 35 minutes; do not restart the time allocation for each slide.</a:t>
            </a:r>
          </a:p>
          <a:p/>
          <a:p>
            <a:r>
              <a:t>ACCESS EXERCISE BOOK: 4A-Q6</a:t>
            </a:r>
          </a:p>
          <a:p>
            <a:r>
              <a:t>Exact question: Write  14/32 and  36/64 in lowest terms.</a:t>
            </a:r>
          </a:p>
          <a:p>
            <a:r>
              <a:t>Instructor answer: 7/16 and  9/16</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SLIDE PLACEMENT: Check, 11:45 AM–11:55 AM. All slides with this phase share these 10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W02-L10 | 2026-11-06 | 10:30 AM–12:00 PM | 90 minutes</a:t>
            </a:r>
          </a:p>
          <a:p>
            <a:r>
              <a:t>Fraction foundations checkpoint</a:t>
            </a:r>
          </a:p>
          <a:p>
            <a:r>
              <a:t>Mode: Math</a:t>
            </a:r>
          </a:p>
          <a:p>
            <a:r>
              <a:t>Goal: Independently read, simplify, compare and convert fractions before progressing to operations.</a:t>
            </a:r>
          </a:p>
          <a:p>
            <a:r>
              <a:t>Read: Textbook Chapter 4 pp.56–63</a:t>
            </a:r>
          </a:p>
          <a:p>
            <a:r>
              <a:t>Practise: Exercise Book 4A Q3,6,8,10–11 (pp.25–26)</a:t>
            </a:r>
          </a:p>
          <a:p>
            <a:r>
              <a:t>Tool: Use a rule, paper and the chosen calculator for checking after the first attempt. Shape Canvas supports one corrected dimension drawing.</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2'!A188:F188</a:t>
            </a:r>
          </a:p>
          <a:p/>
          <a:p>
            <a:r>
              <a:t>10:35 AM–10:40 AM | 2 Recall | 5 min</a:t>
            </a:r>
          </a:p>
          <a:p>
            <a:r>
              <a:t>Instructor: Ask each learner to name the fraction skill they find hardest; review the meaning of simplest form.</a:t>
            </a:r>
          </a:p>
          <a:p>
            <a:r>
              <a:t>Learners: Try first without displayed answers.</a:t>
            </a:r>
          </a:p>
          <a:p>
            <a:r>
              <a:t>Materials/check: Identify support needs</a:t>
            </a:r>
          </a:p>
          <a:p>
            <a:r>
              <a:t>Source: 'Math Week 2'!A189:F189</a:t>
            </a:r>
          </a:p>
          <a:p/>
          <a:p>
            <a:r>
              <a:t>10:40 AM–10:55 AM | 3 Teach | 15 min</a:t>
            </a:r>
          </a:p>
          <a:p>
            <a:r>
              <a:t>Instructor: Work one different example of each skill without giving the checkpoint answers.</a:t>
            </a:r>
          </a:p>
          <a:p>
            <a:r>
              <a:t>Learners: Follow the example; explain the next step.</a:t>
            </a:r>
          </a:p>
          <a:p>
            <a:r>
              <a:t>Materials/check: Textbook; worked example</a:t>
            </a:r>
          </a:p>
          <a:p>
            <a:r>
              <a:t>Source: 'Math Week 2'!A190:F190</a:t>
            </a:r>
          </a:p>
          <a:p/>
          <a:p>
            <a:r>
              <a:t>10:55 AM–11:10 AM | 4 Together | 15 min</a:t>
            </a:r>
          </a:p>
          <a:p>
            <a:r>
              <a:t>Instructor: Use fraction strips to explain equivalence; clarify question directions and required units.</a:t>
            </a:r>
          </a:p>
          <a:p>
            <a:r>
              <a:t>Learners: Work in pairs; alternate solver and checker.</a:t>
            </a:r>
          </a:p>
          <a:p>
            <a:r>
              <a:t>Materials/check: Exercise Book; tool above</a:t>
            </a:r>
          </a:p>
          <a:p>
            <a:r>
              <a:t>Source: 'Math Week 2'!A191:F191</a:t>
            </a:r>
          </a:p>
          <a:p/>
          <a:p>
            <a:r>
              <a:t>11:10 AM–11:45 AM | 5 Practise | 35 min</a:t>
            </a:r>
          </a:p>
          <a:p>
            <a:r>
              <a:t>Instructor: Complete 4A questions 3,6,8,10–11 independently. Check, sort errors by reading or number form, and redo missed types with partner-created examples.</a:t>
            </a:r>
          </a:p>
          <a:p>
            <a:r>
              <a:t>Learners: Show working and units; estimate, then check.</a:t>
            </a:r>
          </a:p>
          <a:p>
            <a:r>
              <a:t>Materials/check: Paper first; tool second</a:t>
            </a:r>
          </a:p>
          <a:p>
            <a:r>
              <a:t>Source: 'Math Week 2'!A192:F192</a:t>
            </a:r>
          </a:p>
          <a:p/>
          <a:p>
            <a:r>
              <a:t>11:45 AM–11:55 AM | 6 Check | 10 min</a:t>
            </a:r>
          </a:p>
          <a:p>
            <a:r>
              <a:t>Instructor: Redo one missed type without prompts and explain how the check shows it is correct.</a:t>
            </a:r>
          </a:p>
          <a:p>
            <a:r>
              <a:t>Learners: Answer independently and show the method.</a:t>
            </a:r>
          </a:p>
          <a:p>
            <a:r>
              <a:t>Materials/check: Teacher answers below</a:t>
            </a:r>
          </a:p>
          <a:p>
            <a:r>
              <a:t>Source: 'Math Week 2'!A193:F193</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2'!A194:F194</a:t>
            </a:r>
          </a:p>
          <a:p/>
          <a:p>
            <a:r>
              <a:t>INSTRUCTOR ONLY: REVEAL ASSESSMENT ANSWERS AFTER THE ATTEMPT</a:t>
            </a:r>
          </a:p>
          <a:p>
            <a:r>
              <a:t>Use Answer Key page 13. Question 6: 7/16, 9/16; question 8: 5/8 is longer by 1/16; question 10: 4 5/8, 3 5/16; question 11: 71/16, 27/4. Answer Key p.13</a:t>
            </a:r>
          </a:p>
          <a:p/>
          <a:p>
            <a:r>
              <a:t>Week 3: practise fraction operations before the Week 4 job applications.</a:t>
            </a:r>
          </a:p>
          <a:p/>
          <a:p>
            <a:r>
              <a:t>Sources: 'Math Week 2'!A19:E19; 'Carpentry Schedule'!F15; 'Math Week 2'!A182</a:t>
            </a:r>
          </a:p>
          <a:p>
            <a:r>
              <a:t>Navigation/resource slides support these scheduled steps and do not add instructional time.</a:t>
            </a:r>
          </a:p>
          <a:p>
            <a:r>
              <a:t>SLIDE PLACEMENT: Wrap up, 11:55 AM–12:00 PM. All slides with this phase share these 5 minutes; do not restart the time allocation for each slide.</a:t>
            </a:r>
          </a:p>
          <a:p/>
          <a:p>
            <a:r>
              <a:t>Next scheduled learning: Week 3: practise fraction operations before the Week 4 job applications.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0.png"/><Relationship Id="rId4" Type="http://schemas.openxmlformats.org/officeDocument/2006/relationships/hyperlink" Target="../Resources/ACCESS-Tools/books/ACCESS-Trades-Numeracy-Textbook.pdf" TargetMode="External"/><Relationship Id="rId5" Type="http://schemas.openxmlformats.org/officeDocument/2006/relationships/hyperlink" Target="../Resources/ACCESS-Tools/books/ACCESS-Trades-Numeracy-Exercise-Book.pdf"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hyperlink" Target="../Resources/ACCESS-Tools/books/ACCESS-Trades-Numeracy-Textbook.pdf#page=57" TargetMode="External"/><Relationship Id="rId6" Type="http://schemas.openxmlformats.org/officeDocument/2006/relationships/hyperlink" Target="../Resources/ACCESS-Tools/books/ACCESS-Trades-Numeracy-Exercise-Book.pdf#page=2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hyperlink" Target="../Resources/ACCESS-Tools/books/ACCESS-Trades-Numeracy-Textbook.pdf#page=57" TargetMode="External"/><Relationship Id="rId6" Type="http://schemas.openxmlformats.org/officeDocument/2006/relationships/hyperlink" Target="../Resources/ACCESS-Tools/books/ACCESS-Trades-Numeracy-Exercise-Book.pdf#page=2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hyperlink" Target="../Resources/ACCESS-Tools/books/ACCESS-Trades-Numeracy-Textbook.pdf#page=56" TargetMode="External"/><Relationship Id="rId6" Type="http://schemas.openxmlformats.org/officeDocument/2006/relationships/hyperlink" Target="../Resources/ACCESS-Tools/books/ACCESS-Trades-Numeracy-Exercise-Book.pdf#page=2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hyperlink" Target="../Resources/ACCESS-Tools/books/ACCESS-Trades-Numeracy-Textbook.pdf#page=56" TargetMode="External"/><Relationship Id="rId6" Type="http://schemas.openxmlformats.org/officeDocument/2006/relationships/hyperlink" Target="../Resources/ACCESS-Tools/books/ACCESS-Trades-Numeracy-Exercise-Book.pdf#page=2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hyperlink" Target="../Resources/ACCESS-Tools/books/ACCESS-Trades-Numeracy-Textbook.pdf#page=56" TargetMode="External"/><Relationship Id="rId6" Type="http://schemas.openxmlformats.org/officeDocument/2006/relationships/hyperlink" Target="../Resources/ACCESS-Tools/books/ACCESS-Trades-Numeracy-Exercise-Book.pdf#page=2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hyperlink" Target="../Resources/ACCESS-Tools/books/ACCESS-Trades-Numeracy-Textbook.pdf#page=56" TargetMode="External"/><Relationship Id="rId6" Type="http://schemas.openxmlformats.org/officeDocument/2006/relationships/hyperlink" Target="../Resources/ACCESS-Tools/books/ACCESS-Trades-Numeracy-Exercise-Book.pdf#page=2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hyperlink" Target="../Resources/ACCESS-Tools/books/ACCESS-Trades-Numeracy-Textbook.pdf#page=56" TargetMode="External"/><Relationship Id="rId6" Type="http://schemas.openxmlformats.org/officeDocument/2006/relationships/hyperlink" Target="../Resources/ACCESS-Tools/books/ACCESS-Trades-Numeracy-Exercise-Book.pdf#page=2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0.png"/><Relationship Id="rId4" Type="http://schemas.openxmlformats.org/officeDocument/2006/relationships/hyperlink" Target="../Resources/ACCESS-Tools/books/ACCESS-Trades-Numeracy-Textbook.pdf" TargetMode="External"/><Relationship Id="rId5" Type="http://schemas.openxmlformats.org/officeDocument/2006/relationships/hyperlink" Target="../Resources/ACCESS-Tools/books/ACCESS-Trades-Numeracy-Exercise-Book.pdf"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hyperlink" Target="../Resources/ACCESS-Tools/books/ACCESS-Trades-Numeracy-Textbook.pdf#page=61" TargetMode="External"/><Relationship Id="rId6" Type="http://schemas.openxmlformats.org/officeDocument/2006/relationships/hyperlink" Target="../Resources/ACCESS-Tools/books/ACCESS-Trades-Numeracy-Exercise-Book.pdf#page=2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hyperlink" Target="../Resources/ACCESS-Tools/books/ACCESS-Trades-Numeracy-Textbook.pdf#page=61" TargetMode="External"/><Relationship Id="rId6" Type="http://schemas.openxmlformats.org/officeDocument/2006/relationships/hyperlink" Target="../Resources/ACCESS-Tools/books/ACCESS-Trades-Numeracy-Exercise-Book.pdf#page=2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hyperlink" Target="../Resources/ACCESS-Tools/books/ACCESS-Trades-Numeracy-Textbook.pdf#page=56" TargetMode="External"/><Relationship Id="rId6" Type="http://schemas.openxmlformats.org/officeDocument/2006/relationships/hyperlink" Target="../Resources/ACCESS-Tools/books/ACCESS-Trades-Numeracy-Exercise-Book.pdf#page=2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hyperlink" Target="../Resources/ACCESS-Tools/books/ACCESS-Trades-Numeracy-Textbook.pdf#page=56" TargetMode="External"/><Relationship Id="rId6" Type="http://schemas.openxmlformats.org/officeDocument/2006/relationships/hyperlink" Target="../Resources/ACCESS-Tools/books/ACCESS-Trades-Numeracy-Exercise-Book.pdf#page=2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hyperlink" Target="../Resources/ACCESS-Tools/books/ACCESS-Trades-Numeracy-Textbook.pdf#page=56" TargetMode="External"/><Relationship Id="rId6" Type="http://schemas.openxmlformats.org/officeDocument/2006/relationships/hyperlink" Target="../Resources/ACCESS-Tools/books/ACCESS-Trades-Numeracy-Exercise-Book.pdf#page=2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0.png"/><Relationship Id="rId4" Type="http://schemas.openxmlformats.org/officeDocument/2006/relationships/hyperlink" Target="../Resources/ACCESS-Tools/books/ACCESS-Trades-Numeracy-Textbook.pdf#page=56" TargetMode="External"/><Relationship Id="rId5" Type="http://schemas.openxmlformats.org/officeDocument/2006/relationships/hyperlink" Target="../Resources/ACCESS-Tools/books/ACCESS-Trades-Numeracy-Exercise-Book.pdf#page=25"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t>ACCESS  /  CARPENTRY FOUNDATION  /  INTAKE 141</a:t>
            </a:r>
          </a:p>
        </p:txBody>
      </p:sp>
      <p:sp>
        <p:nvSpPr>
          <p:cNvPr id="3" name="TextBox 2"/>
          <p:cNvSpPr txBox="1"/>
          <p:nvPr/>
        </p:nvSpPr>
        <p:spPr>
          <a:xfrm>
            <a:off x="612648" y="1143000"/>
            <a:ext cx="10789920" cy="64008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t>Day 07  |  Friday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t>November 6, 2026</a:t>
            </a:r>
          </a:p>
        </p:txBody>
      </p:sp>
      <p:sp>
        <p:nvSpPr>
          <p:cNvPr id="5" name="Rectangle 4"/>
          <p:cNvSpPr/>
          <p:nvPr/>
        </p:nvSpPr>
        <p:spPr>
          <a:xfrm>
            <a:off x="612648" y="2633472"/>
            <a:ext cx="109728" cy="2194560"/>
          </a:xfrm>
          <a:prstGeom prst="rect">
            <a:avLst/>
          </a:prstGeom>
          <a:solidFill>
            <a:srgbClr val="D2181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t>Marking fractional dimensions</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t>9:00 AM–10:15 AM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t>Fraction foundations checkpoint</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t>10:30 AM–12:00 PM  •  Math  •  90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t>Week 2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Rectangle 12"/>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4" name="TextBox 13"/>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5" name="TextBox 14"/>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6" name="TextBox 15"/>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7" name="TextBox 16"/>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8" name="TextBox 17"/>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t>Day 07  •  2026-11-06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t>DAY 07  /  WEEK 2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a:t>9:00 AM–10:15 AM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a:t>Marking fractional dimensions</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9:00 AM–9:05 AM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9:05 AM–9:10 AM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9:10 AM–9:25 AM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9:25 AM–9:40 AM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9:40 AM–10:00 AM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10:00 AM–10:10 AM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10:10 AM–10:15 AM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Math  •  Math Week 2, Lesson 9</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a:t>10:30 AM–12:00 PM  •  90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a:t>Fraction foundations checkpoint</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10:30 AM–10:35 AM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10:35 AM–10:40 AM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10:40 AM–10:55 AM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10:55 AM–11:10 AM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11:10 AM–11:45 AM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35</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11:45 AM–11:55 AM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11:55 AM–12:00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Math  •  Math Week 2, Lesson 10</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4" name="Rectangle 5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55" name="TextBox 5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56" name="TextBox 5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57" name="TextBox 5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58" name="TextBox 5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59" name="TextBox 5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START  •  9:00 AM–9:05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Marking fractional dimensions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a:t>Today’s goal: Transfer a labelled inch dimension to a paper strip and check it with a partner.</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Name one use for today’s skill.</a:t>
            </a:r>
          </a:p>
        </p:txBody>
      </p:sp>
      <p:sp>
        <p:nvSpPr>
          <p:cNvPr id="7" name="Rectangle 6"/>
          <p:cNvSpPr/>
          <p:nvPr/>
        </p:nvSpPr>
        <p:spPr>
          <a:xfrm>
            <a:off x="612648" y="4114800"/>
            <a:ext cx="10927080" cy="137160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t>Textbook Chapter 4 pp.56–63</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t>Exercise Book 4A Q3 (p.25), Q8–11 (p.26)</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t>Keep your notebook, assigned ACCESS books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4" name="TextBox 13"/>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5" name="TextBox 14"/>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6" name="TextBox 15"/>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7" name="TextBox 16"/>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RECALL  •  9:05 AM–9:10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Identify what stays the same when a drawing is zoomed. Distinguish dimensions from screen size.</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4A Q3 (p.25), Q8–11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Transfer a written dimension to a strip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Rectangle 4"/>
          <p:cNvSpPr/>
          <p:nvPr/>
        </p:nvSpPr>
        <p:spPr>
          <a:xfrm>
            <a:off x="640080" y="190195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1</a:t>
            </a:r>
          </a:p>
        </p:txBody>
      </p:sp>
      <p:sp>
        <p:nvSpPr>
          <p:cNvPr id="6" name="TextBox 5"/>
          <p:cNvSpPr txBox="1"/>
          <p:nvPr/>
        </p:nvSpPr>
        <p:spPr>
          <a:xfrm>
            <a:off x="1188720" y="187451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Choose one start point and align the rule’s zero with it.</a:t>
            </a:r>
          </a:p>
        </p:txBody>
      </p:sp>
      <p:sp>
        <p:nvSpPr>
          <p:cNvPr id="7" name="Rectangle 6"/>
          <p:cNvSpPr/>
          <p:nvPr/>
        </p:nvSpPr>
        <p:spPr>
          <a:xfrm>
            <a:off x="640080" y="286207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2</a:t>
            </a:r>
          </a:p>
        </p:txBody>
      </p:sp>
      <p:sp>
        <p:nvSpPr>
          <p:cNvPr id="8" name="TextBox 7"/>
          <p:cNvSpPr txBox="1"/>
          <p:nvPr/>
        </p:nvSpPr>
        <p:spPr>
          <a:xfrm>
            <a:off x="1188720" y="283463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Locate the whole inches before counting fractional spaces.</a:t>
            </a:r>
          </a:p>
        </p:txBody>
      </p:sp>
      <p:sp>
        <p:nvSpPr>
          <p:cNvPr id="9" name="Rectangle 8"/>
          <p:cNvSpPr/>
          <p:nvPr/>
        </p:nvSpPr>
        <p:spPr>
          <a:xfrm>
            <a:off x="640080" y="382219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3</a:t>
            </a:r>
          </a:p>
        </p:txBody>
      </p:sp>
      <p:sp>
        <p:nvSpPr>
          <p:cNvPr id="10" name="TextBox 9"/>
          <p:cNvSpPr txBox="1"/>
          <p:nvPr/>
        </p:nvSpPr>
        <p:spPr>
          <a:xfrm>
            <a:off x="1188720" y="379475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Mark the position clearly and write the full dimension with its unit.</a:t>
            </a:r>
          </a:p>
        </p:txBody>
      </p:sp>
      <p:sp>
        <p:nvSpPr>
          <p:cNvPr id="11" name="Rectangle 10"/>
          <p:cNvSpPr/>
          <p:nvPr/>
        </p:nvSpPr>
        <p:spPr>
          <a:xfrm>
            <a:off x="640080" y="4782312"/>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4</a:t>
            </a:r>
          </a:p>
        </p:txBody>
      </p:sp>
      <p:sp>
        <p:nvSpPr>
          <p:cNvPr id="12" name="TextBox 11"/>
          <p:cNvSpPr txBox="1"/>
          <p:nvPr/>
        </p:nvSpPr>
        <p:spPr>
          <a:xfrm>
            <a:off x="1188720" y="475487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Use the drawing’s stated dimension, even when its screen size changes.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6" name="TextBox 1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7" name="TextBox 1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8" name="TextBox 1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9" name="TextBox 1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Verify the mark from the beginning</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Rectangle 4"/>
          <p:cNvSpPr/>
          <p:nvPr/>
        </p:nvSpPr>
        <p:spPr>
          <a:xfrm>
            <a:off x="640080" y="190195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1</a:t>
            </a:r>
          </a:p>
        </p:txBody>
      </p:sp>
      <p:sp>
        <p:nvSpPr>
          <p:cNvPr id="6" name="TextBox 5"/>
          <p:cNvSpPr txBox="1"/>
          <p:nvPr/>
        </p:nvSpPr>
        <p:spPr>
          <a:xfrm>
            <a:off x="1188720" y="187451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Ask a partner to reread the mark from zero without copying your answer.</a:t>
            </a:r>
          </a:p>
        </p:txBody>
      </p:sp>
      <p:sp>
        <p:nvSpPr>
          <p:cNvPr id="7" name="Rectangle 6"/>
          <p:cNvSpPr/>
          <p:nvPr/>
        </p:nvSpPr>
        <p:spPr>
          <a:xfrm>
            <a:off x="640080" y="286207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2</a:t>
            </a:r>
          </a:p>
        </p:txBody>
      </p:sp>
      <p:sp>
        <p:nvSpPr>
          <p:cNvPr id="8" name="TextBox 7"/>
          <p:cNvSpPr txBox="1"/>
          <p:nvPr/>
        </p:nvSpPr>
        <p:spPr>
          <a:xfrm>
            <a:off x="1188720" y="283463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Compare the new reading with the original dimension label.</a:t>
            </a:r>
          </a:p>
        </p:txBody>
      </p:sp>
      <p:sp>
        <p:nvSpPr>
          <p:cNvPr id="9" name="Rectangle 8"/>
          <p:cNvSpPr/>
          <p:nvPr/>
        </p:nvSpPr>
        <p:spPr>
          <a:xfrm>
            <a:off x="640080" y="382219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3</a:t>
            </a:r>
          </a:p>
        </p:txBody>
      </p:sp>
      <p:sp>
        <p:nvSpPr>
          <p:cNvPr id="10" name="TextBox 9"/>
          <p:cNvSpPr txBox="1"/>
          <p:nvPr/>
        </p:nvSpPr>
        <p:spPr>
          <a:xfrm>
            <a:off x="1188720" y="379475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Circle a disagreement before adjusting the mark.</a:t>
            </a:r>
          </a:p>
        </p:txBody>
      </p:sp>
      <p:sp>
        <p:nvSpPr>
          <p:cNvPr id="11" name="Rectangle 10"/>
          <p:cNvSpPr/>
          <p:nvPr/>
        </p:nvSpPr>
        <p:spPr>
          <a:xfrm>
            <a:off x="640080" y="4782312"/>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4</a:t>
            </a:r>
          </a:p>
        </p:txBody>
      </p:sp>
      <p:sp>
        <p:nvSpPr>
          <p:cNvPr id="12" name="TextBox 11"/>
          <p:cNvSpPr txBox="1"/>
          <p:nvPr/>
        </p:nvSpPr>
        <p:spPr>
          <a:xfrm>
            <a:off x="1188720" y="475487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Record whether the error came from the start point, whole inches or fractional spaces.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6" name="TextBox 1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7" name="TextBox 1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8" name="TextBox 1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9" name="TextBox 1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CA"/>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t>W02-L09  •  TEACH  •  9:10 AM–9:25 AM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000000"/>
                </a:solidFill>
                <a:latin typeface="Arial" pitchFamily="34" charset="0"/>
                <a:ea typeface="Arial" pitchFamily="34" charset="-122"/>
                <a:cs typeface="Arial" pitchFamily="34" charset="-120"/>
              </a:rPr>
              <a:t>Mark once; reread independently</a:t>
            </a:r>
            <a:endParaRPr lang="en-US" sz="3000" dirty="0"/>
          </a:p>
        </p:txBody>
      </p:sp>
      <p:sp>
        <p:nvSpPr>
          <p:cNvPr id="5" name="Text 3"/>
          <p:cNvSpPr/>
          <p:nvPr/>
        </p:nvSpPr>
        <p:spPr>
          <a:xfrm>
            <a:off x="609585" y="1714500"/>
            <a:ext cx="10972526" cy="426690"/>
          </a:xfrm>
          <a:prstGeom prst="rect">
            <a:avLst/>
          </a:prstGeom>
          <a:noFill/>
          <a:ln/>
        </p:spPr>
        <p:txBody>
          <a:bodyPr wrap="square" lIns="0" tIns="0" rIns="0" bIns="0" rtlCol="0" anchor="t"/>
          <a:lstStyle/>
          <a:p>
            <a:pPr marL="0" indent="0" algn="l">
              <a:buNone/>
            </a:pPr>
            <a:r>
              <a:rPr lang="en-US" sz="2400" dirty="0">
                <a:solidFill>
                  <a:srgbClr val="000000"/>
                </a:solidFill>
                <a:latin typeface="Arial" pitchFamily="34" charset="0"/>
                <a:ea typeface="Arial" pitchFamily="34" charset="-122"/>
                <a:cs typeface="Arial" pitchFamily="34" charset="-120"/>
              </a:rPr>
              <a:t>Classroom dimension: 3 7/16 in</a:t>
            </a:r>
            <a:endParaRPr lang="en-US" sz="2400" dirty="0"/>
          </a:p>
        </p:txBody>
      </p:sp>
      <p:sp>
        <p:nvSpPr>
          <p:cNvPr id="6" name="Text 4"/>
          <p:cNvSpPr/>
          <p:nvPr/>
        </p:nvSpPr>
        <p:spPr>
          <a:xfrm>
            <a:off x="609585" y="2524125"/>
            <a:ext cx="10972526" cy="1279922"/>
          </a:xfrm>
          <a:prstGeom prst="rect">
            <a:avLst/>
          </a:prstGeom>
          <a:noFill/>
          <a:ln/>
        </p:spPr>
        <p:txBody>
          <a:bodyPr wrap="square" lIns="0" tIns="0" rIns="0" bIns="0" rtlCol="0" anchor="t"/>
          <a:lstStyle/>
          <a:p>
            <a:pPr marL="0" indent="0" algn="l">
              <a:buNone/>
            </a:pPr>
            <a:r>
              <a:rPr lang="en-US" sz="1800" dirty="0">
                <a:solidFill>
                  <a:srgbClr val="000000"/>
                </a:solidFill>
                <a:latin typeface="Arial" pitchFamily="34" charset="0"/>
                <a:ea typeface="Arial" pitchFamily="34" charset="-122"/>
                <a:cs typeface="Arial" pitchFamily="34" charset="-120"/>
              </a:rPr>
              <a:t>1. Align the rule’s zero with the chosen start point.</a:t>
            </a:r>
            <a:endParaRPr lang="en-US" sz="1800" dirty="0"/>
          </a:p>
          <a:p>
            <a:pPr marL="0" indent="0" algn="l">
              <a:buNone/>
            </a:pPr>
            <a:r>
              <a:rPr lang="en-US" sz="1800" dirty="0">
                <a:solidFill>
                  <a:srgbClr val="000000"/>
                </a:solidFill>
                <a:latin typeface="Arial" pitchFamily="34" charset="0"/>
                <a:ea typeface="Arial" pitchFamily="34" charset="-122"/>
                <a:cs typeface="Arial" pitchFamily="34" charset="-120"/>
              </a:rPr>
              <a:t>2. Find 3 whole inches.</a:t>
            </a:r>
            <a:endParaRPr lang="en-US" sz="1800" dirty="0"/>
          </a:p>
          <a:p>
            <a:pPr marL="0" indent="0" algn="l">
              <a:buNone/>
            </a:pPr>
            <a:r>
              <a:rPr lang="en-US" sz="1800" dirty="0">
                <a:solidFill>
                  <a:srgbClr val="000000"/>
                </a:solidFill>
                <a:latin typeface="Arial" pitchFamily="34" charset="0"/>
                <a:ea typeface="Arial" pitchFamily="34" charset="-122"/>
                <a:cs typeface="Arial" pitchFamily="34" charset="-120"/>
              </a:rPr>
              <a:t>3. Count seven sixteenth-inch spaces.</a:t>
            </a:r>
            <a:endParaRPr lang="en-US" sz="1800" dirty="0"/>
          </a:p>
          <a:p>
            <a:pPr marL="0" indent="0" algn="l">
              <a:buNone/>
            </a:pPr>
            <a:r>
              <a:rPr lang="en-US" sz="1800" dirty="0">
                <a:solidFill>
                  <a:srgbClr val="000000"/>
                </a:solidFill>
                <a:latin typeface="Arial" pitchFamily="34" charset="0"/>
                <a:ea typeface="Arial" pitchFamily="34" charset="-122"/>
                <a:cs typeface="Arial" pitchFamily="34" charset="-120"/>
              </a:rPr>
              <a:t>4. Mark and label; a partner rereads from zero.</a:t>
            </a:r>
            <a:endParaRPr lang="en-US" sz="1800" dirty="0"/>
          </a:p>
        </p:txBody>
      </p:sp>
      <p:sp>
        <p:nvSpPr>
          <p:cNvPr id="7" name="Text 5"/>
          <p:cNvSpPr/>
          <p:nvPr/>
        </p:nvSpPr>
        <p:spPr>
          <a:xfrm>
            <a:off x="609585" y="4429125"/>
            <a:ext cx="10972526" cy="959941"/>
          </a:xfrm>
          <a:prstGeom prst="rect">
            <a:avLst/>
          </a:prstGeom>
          <a:noFill/>
          <a:ln/>
        </p:spPr>
        <p:txBody>
          <a:bodyPr wrap="square" lIns="0" tIns="0" rIns="0" bIns="0" rtlCol="0" anchor="t"/>
          <a:lstStyle/>
          <a:p>
            <a:pPr marL="0" indent="0" algn="l">
              <a:buNone/>
            </a:pPr>
            <a:r>
              <a:rPr lang="en-US" sz="1800" dirty="0">
                <a:solidFill>
                  <a:srgbClr val="000000"/>
                </a:solidFill>
                <a:latin typeface="Arial" pitchFamily="34" charset="0"/>
                <a:ea typeface="Arial" pitchFamily="34" charset="-122"/>
                <a:cs typeface="Arial" pitchFamily="34" charset="-120"/>
              </a:rPr>
              <a:t>Together • Use all four values in 4A Q3 to mark a strip.</a:t>
            </a:r>
            <a:endParaRPr lang="en-US" sz="1800" dirty="0"/>
          </a:p>
          <a:p>
            <a:pPr marL="0" indent="0" algn="l">
              <a:buNone/>
            </a:pPr>
            <a:r>
              <a:rPr lang="en-US" sz="1800" dirty="0">
                <a:solidFill>
                  <a:srgbClr val="000000"/>
                </a:solidFill>
                <a:latin typeface="Arial" pitchFamily="34" charset="0"/>
                <a:ea typeface="Arial" pitchFamily="34" charset="-122"/>
                <a:cs typeface="Arial" pitchFamily="34" charset="-120"/>
              </a:rPr>
              <a:t>Partners verify each mark. In Shape Canvas, use the written dimension labels—not the physical size on the screen.</a:t>
            </a:r>
            <a:endParaRPr lang="en-US" sz="1800" dirty="0"/>
          </a:p>
        </p:txBody>
      </p:sp>
      <p:sp>
        <p:nvSpPr>
          <p:cNvPr id="8" name="Text 6"/>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000000"/>
                </a:solidFill>
                <a:latin typeface="Arial" pitchFamily="34" charset="0"/>
                <a:ea typeface="Arial" pitchFamily="34" charset="-122"/>
                <a:cs typeface="Arial" pitchFamily="34" charset="-120"/>
              </a:rPr>
              <a:t>W2 L9 • A zoom change must not change the dimension you mark</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07</a:t>
            </a:r>
          </a:p>
        </p:txBody>
      </p:sp>
    </p:spTree>
    <p:extLst>
      <p:ext uri="{BB962C8B-B14F-4D97-AF65-F5344CB8AC3E}">
        <p14:creationId xmlns:p14="http://schemas.microsoft.com/office/powerpoint/2010/main" val="780670411"/>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ACCESS Textbook  |  page 57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pic>
        <p:nvPicPr>
          <p:cNvPr id="5" name="Picture 4" descr="W02-L09.png"/>
          <p:cNvPicPr>
            <a:picLocks noChangeAspect="1"/>
          </p:cNvPicPr>
          <p:nvPr/>
        </p:nvPicPr>
        <p:blipFill>
          <a:blip r:embed="rId3"/>
          <a:stretch>
            <a:fillRect/>
          </a:stretch>
        </p:blipFill>
        <p:spPr>
          <a:xfrm>
            <a:off x="685800" y="2537460"/>
            <a:ext cx="10698480" cy="237743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t>Textbook p.57 · Figure 4.3: transfer the written measurement, not the screen size.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ACCESS Textbook  |  page 57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pic>
        <p:nvPicPr>
          <p:cNvPr id="5" name="Picture 4" descr="W02-L09-2.png"/>
          <p:cNvPicPr>
            <a:picLocks noChangeAspect="1"/>
          </p:cNvPicPr>
          <p:nvPr/>
        </p:nvPicPr>
        <p:blipFill>
          <a:blip r:embed="rId3"/>
          <a:stretch>
            <a:fillRect/>
          </a:stretch>
        </p:blipFill>
        <p:spPr>
          <a:xfrm>
            <a:off x="685800" y="2584825"/>
            <a:ext cx="10698480" cy="228270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t>Textbook p.57 · Four steps for rereading a mark from the last whole inch.</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t>A Shape Canvas rectangle looks longer after zooming. Should its paper-strip dimension increase?</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a:t>No. Zoom changes the display size. Use the unchanged written dimension label to mark the strip.</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1" name="TextBox 10"/>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2" name="TextBox 11"/>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3" name="TextBox 12"/>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4" name="TextBox 13"/>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Use the four values in 4A question 3 to mark and label a paper strip; partners verify each mark.</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4A Q3 (p.25), Q8–11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Guided practice  |  4A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pic>
        <p:nvPicPr>
          <p:cNvPr id="5" name="Picture 4" descr="4A-Q3.png"/>
          <p:cNvPicPr>
            <a:picLocks noChangeAspect="1"/>
          </p:cNvPicPr>
          <p:nvPr/>
        </p:nvPicPr>
        <p:blipFill>
          <a:blip r:embed="rId3"/>
          <a:stretch>
            <a:fillRect/>
          </a:stretch>
        </p:blipFill>
        <p:spPr>
          <a:xfrm>
            <a:off x="685800" y="2252472"/>
            <a:ext cx="10698480" cy="265480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Compare your method  |  4A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pic>
        <p:nvPicPr>
          <p:cNvPr id="5" name="Picture 4" descr="4A-Q3.png"/>
          <p:cNvPicPr>
            <a:picLocks noChangeAspect="1"/>
          </p:cNvPicPr>
          <p:nvPr/>
        </p:nvPicPr>
        <p:blipFill>
          <a:blip r:embed="rId3"/>
          <a:stretch>
            <a:fillRect/>
          </a:stretch>
        </p:blipFill>
        <p:spPr>
          <a:xfrm>
            <a:off x="2995001" y="1783080"/>
            <a:ext cx="6080077" cy="1508760"/>
          </a:xfrm>
          <a:prstGeom prst="rect">
            <a:avLst/>
          </a:prstGeom>
        </p:spPr>
      </p:pic>
      <p:sp>
        <p:nvSpPr>
          <p:cNvPr id="6" name="TextBox 5"/>
          <p:cNvSpPr txBox="1"/>
          <p:nvPr/>
        </p:nvSpPr>
        <p:spPr>
          <a:xfrm>
            <a:off x="685800" y="3611880"/>
            <a:ext cx="164592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a:t>A:  9/16 in, B: 1 5/8 in, C: 2 1/4 in, D: 2 13/16 in</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1" name="TextBox 10"/>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2" name="TextBox 11"/>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3" name="TextBox 12"/>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4" name="TextBox 13"/>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Create four dimension labels from questions 8–11, then mark them on paper. Compare readings, circle disagreements and correct them with a written reason.</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4A Q3 (p.25), Q8–11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Open the ACCESS tool for this activity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pic>
        <p:nvPicPr>
          <p:cNvPr id="5" name="Picture 4" descr="hub-measur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Your tool activity: try, compare and record</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Supported: In Shape Canvas, create rectangles labelled with the four values from 4A Q3.</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Independent practice: Use the labels and an actual rule to mark a paper strip from one start point.</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Independent checking: Exchange strips, reread from zero and explain any corrected disagreement.</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4" name="TextBox 13"/>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5" name="TextBox 14"/>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6" name="TextBox 15"/>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7" name="TextBox 16"/>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Practise from the Exercise Book  |  4A Q8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pic>
        <p:nvPicPr>
          <p:cNvPr id="5" name="Picture 4" descr="4A-Q8.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Practise from the Exercise Book  |  4A Q9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pic>
        <p:nvPicPr>
          <p:cNvPr id="5" name="Picture 4" descr="4A-Q9.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Read two partner-created marks and simplify 14/32 and 36/64.</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4A Q3 (p.25), Q8–11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W02-L09  •  WRAP UP  •  10:10 AM–10:15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Share one learning point and one skill to practise next.</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4A Q3 (p.25), Q8–11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t>DAY 07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t>10:15 AM–10:30 AM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t>Return ready for: Fraction foundations checkpoint</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t>Day 07  •  2026-11-06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W02-L10  •  START  •  10:30 AM–10:35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Fraction foundations checkpoint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a:t>Today’s goal: Independently read, simplify, compare and convert fractions before progressing to operations.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Name one use for today’s skill.</a:t>
            </a:r>
          </a:p>
        </p:txBody>
      </p:sp>
      <p:sp>
        <p:nvSpPr>
          <p:cNvPr id="7" name="Rectangle 6"/>
          <p:cNvSpPr/>
          <p:nvPr/>
        </p:nvSpPr>
        <p:spPr>
          <a:xfrm>
            <a:off x="612648" y="4114800"/>
            <a:ext cx="10927080" cy="137160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t>Textbook Chapter 4 pp.56–63</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t>Exercise Book 4A Q3,6,8,10–11 (pp.25–26)</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t>Keep your notebook, assigned ACCESS books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4" name="TextBox 13"/>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5" name="TextBox 14"/>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6" name="TextBox 15"/>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7" name="TextBox 16"/>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W02-L10  •  RECALL  •  10:35 AM–10:40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Take a moment to name the fraction skill they find hardest; review the meaning of simplest form.</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4A Q3,6,8,10–11 (pp.25–26)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W02-L10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Show the reading and the number form</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Rectangle 4"/>
          <p:cNvSpPr/>
          <p:nvPr/>
        </p:nvSpPr>
        <p:spPr>
          <a:xfrm>
            <a:off x="640080" y="190195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1</a:t>
            </a:r>
          </a:p>
        </p:txBody>
      </p:sp>
      <p:sp>
        <p:nvSpPr>
          <p:cNvPr id="6" name="TextBox 5"/>
          <p:cNvSpPr txBox="1"/>
          <p:nvPr/>
        </p:nvSpPr>
        <p:spPr>
          <a:xfrm>
            <a:off x="1188720" y="187451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For a tape mark, record the whole inches, fractional spaces and unit.</a:t>
            </a:r>
          </a:p>
        </p:txBody>
      </p:sp>
      <p:sp>
        <p:nvSpPr>
          <p:cNvPr id="7" name="Rectangle 6"/>
          <p:cNvSpPr/>
          <p:nvPr/>
        </p:nvSpPr>
        <p:spPr>
          <a:xfrm>
            <a:off x="640080" y="286207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2</a:t>
            </a:r>
          </a:p>
        </p:txBody>
      </p:sp>
      <p:sp>
        <p:nvSpPr>
          <p:cNvPr id="8" name="TextBox 7"/>
          <p:cNvSpPr txBox="1"/>
          <p:nvPr/>
        </p:nvSpPr>
        <p:spPr>
          <a:xfrm>
            <a:off x="1188720" y="283463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For simplification, divide numerator and denominator by the same factor.</a:t>
            </a:r>
          </a:p>
        </p:txBody>
      </p:sp>
      <p:sp>
        <p:nvSpPr>
          <p:cNvPr id="9" name="Rectangle 8"/>
          <p:cNvSpPr/>
          <p:nvPr/>
        </p:nvSpPr>
        <p:spPr>
          <a:xfrm>
            <a:off x="640080" y="382219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3</a:t>
            </a:r>
          </a:p>
        </p:txBody>
      </p:sp>
      <p:sp>
        <p:nvSpPr>
          <p:cNvPr id="10" name="TextBox 9"/>
          <p:cNvSpPr txBox="1"/>
          <p:nvPr/>
        </p:nvSpPr>
        <p:spPr>
          <a:xfrm>
            <a:off x="1188720" y="379475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For a mixed number, account for all whole units before writing an improper fraction.</a:t>
            </a:r>
          </a:p>
        </p:txBody>
      </p:sp>
      <p:sp>
        <p:nvSpPr>
          <p:cNvPr id="11" name="Rectangle 10"/>
          <p:cNvSpPr/>
          <p:nvPr/>
        </p:nvSpPr>
        <p:spPr>
          <a:xfrm>
            <a:off x="640080" y="4782312"/>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4</a:t>
            </a:r>
          </a:p>
        </p:txBody>
      </p:sp>
      <p:sp>
        <p:nvSpPr>
          <p:cNvPr id="12" name="TextBox 11"/>
          <p:cNvSpPr txBox="1"/>
          <p:nvPr/>
        </p:nvSpPr>
        <p:spPr>
          <a:xfrm>
            <a:off x="1188720" y="475487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Keep enough working to distinguish a reading error from a conversion error.</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6" name="TextBox 1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7" name="TextBox 1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8" name="TextBox 1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9" name="TextBox 1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W02-L10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Use a checkpoint to locate the next practice need</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Rectangle 4"/>
          <p:cNvSpPr/>
          <p:nvPr/>
        </p:nvSpPr>
        <p:spPr>
          <a:xfrm>
            <a:off x="640080" y="190195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1</a:t>
            </a:r>
          </a:p>
        </p:txBody>
      </p:sp>
      <p:sp>
        <p:nvSpPr>
          <p:cNvPr id="6" name="TextBox 5"/>
          <p:cNvSpPr txBox="1"/>
          <p:nvPr/>
        </p:nvSpPr>
        <p:spPr>
          <a:xfrm>
            <a:off x="1188720" y="187451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Complete the assigned questions before displaying answers.</a:t>
            </a:r>
          </a:p>
        </p:txBody>
      </p:sp>
      <p:sp>
        <p:nvSpPr>
          <p:cNvPr id="7" name="Rectangle 6"/>
          <p:cNvSpPr/>
          <p:nvPr/>
        </p:nvSpPr>
        <p:spPr>
          <a:xfrm>
            <a:off x="640080" y="286207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2</a:t>
            </a:r>
          </a:p>
        </p:txBody>
      </p:sp>
      <p:sp>
        <p:nvSpPr>
          <p:cNvPr id="8" name="TextBox 7"/>
          <p:cNvSpPr txBox="1"/>
          <p:nvPr/>
        </p:nvSpPr>
        <p:spPr>
          <a:xfrm>
            <a:off x="1188720" y="283463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Sort errors into reading, simplifying, comparing or converting.</a:t>
            </a:r>
          </a:p>
        </p:txBody>
      </p:sp>
      <p:sp>
        <p:nvSpPr>
          <p:cNvPr id="9" name="Rectangle 8"/>
          <p:cNvSpPr/>
          <p:nvPr/>
        </p:nvSpPr>
        <p:spPr>
          <a:xfrm>
            <a:off x="640080" y="382219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3</a:t>
            </a:r>
          </a:p>
        </p:txBody>
      </p:sp>
      <p:sp>
        <p:nvSpPr>
          <p:cNvPr id="10" name="TextBox 9"/>
          <p:cNvSpPr txBox="1"/>
          <p:nvPr/>
        </p:nvSpPr>
        <p:spPr>
          <a:xfrm>
            <a:off x="1188720" y="379475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Explain the mistaken step before attempting a fresh example of that type.</a:t>
            </a:r>
          </a:p>
        </p:txBody>
      </p:sp>
      <p:sp>
        <p:nvSpPr>
          <p:cNvPr id="11" name="Rectangle 10"/>
          <p:cNvSpPr/>
          <p:nvPr/>
        </p:nvSpPr>
        <p:spPr>
          <a:xfrm>
            <a:off x="640080" y="4782312"/>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4</a:t>
            </a:r>
          </a:p>
        </p:txBody>
      </p:sp>
      <p:sp>
        <p:nvSpPr>
          <p:cNvPr id="12" name="TextBox 11"/>
          <p:cNvSpPr txBox="1"/>
          <p:nvPr/>
        </p:nvSpPr>
        <p:spPr>
          <a:xfrm>
            <a:off x="1188720" y="475487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A fresh unprompted solution shows whether the correction is understood.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6" name="TextBox 1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7" name="TextBox 1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8" name="TextBox 1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9" name="TextBox 1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CA"/>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t>W02-L10  •  TEACH  •  10:40 AM–10:55 AM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000000"/>
                </a:solidFill>
                <a:latin typeface="Arial" pitchFamily="34" charset="0"/>
                <a:ea typeface="Arial" pitchFamily="34" charset="-122"/>
                <a:cs typeface="Arial" pitchFamily="34" charset="-120"/>
              </a:rPr>
              <a:t>Show the method on different examples</a:t>
            </a:r>
            <a:endParaRPr lang="en-US" sz="3000" dirty="0"/>
          </a:p>
        </p:txBody>
      </p:sp>
      <p:sp>
        <p:nvSpPr>
          <p:cNvPr id="5" name="Text 3"/>
          <p:cNvSpPr/>
          <p:nvPr/>
        </p:nvSpPr>
        <p:spPr>
          <a:xfrm>
            <a:off x="609585" y="1714500"/>
            <a:ext cx="10972526" cy="1119783"/>
          </a:xfrm>
          <a:prstGeom prst="rect">
            <a:avLst/>
          </a:prstGeom>
          <a:noFill/>
          <a:ln/>
        </p:spPr>
        <p:txBody>
          <a:bodyPr wrap="square" lIns="0" tIns="0" rIns="0" bIns="0" rtlCol="0" anchor="t"/>
          <a:lstStyle/>
          <a:p>
            <a:pPr marL="0" indent="0" algn="l">
              <a:buNone/>
            </a:pPr>
            <a:r>
              <a:rPr lang="en-US" sz="2100" dirty="0">
                <a:solidFill>
                  <a:srgbClr val="000000"/>
                </a:solidFill>
                <a:latin typeface="Arial" pitchFamily="34" charset="0"/>
                <a:ea typeface="Arial" pitchFamily="34" charset="-122"/>
                <a:cs typeface="Arial" pitchFamily="34" charset="-120"/>
              </a:rPr>
              <a:t>Simplify: 12/16 = 3/4</a:t>
            </a:r>
            <a:endParaRPr lang="en-US" sz="2100" dirty="0"/>
          </a:p>
          <a:p>
            <a:pPr marL="0" indent="0" algn="l">
              <a:buNone/>
            </a:pPr>
            <a:r>
              <a:rPr lang="en-US" sz="2100" dirty="0">
                <a:solidFill>
                  <a:srgbClr val="000000"/>
                </a:solidFill>
                <a:latin typeface="Arial" pitchFamily="34" charset="0"/>
                <a:ea typeface="Arial" pitchFamily="34" charset="-122"/>
                <a:cs typeface="Arial" pitchFamily="34" charset="-120"/>
              </a:rPr>
              <a:t>Compare: 3/8 = 6/16, so 7/16 is longer by 1/16</a:t>
            </a:r>
            <a:endParaRPr lang="en-US" sz="2100" dirty="0"/>
          </a:p>
          <a:p>
            <a:pPr marL="0" indent="0" algn="l">
              <a:buNone/>
            </a:pPr>
            <a:r>
              <a:rPr lang="en-US" sz="2100" dirty="0">
                <a:solidFill>
                  <a:srgbClr val="000000"/>
                </a:solidFill>
                <a:latin typeface="Arial" pitchFamily="34" charset="0"/>
                <a:ea typeface="Arial" pitchFamily="34" charset="-122"/>
                <a:cs typeface="Arial" pitchFamily="34" charset="-120"/>
              </a:rPr>
              <a:t>Convert: 2 1/4 = 9/4</a:t>
            </a:r>
            <a:endParaRPr lang="en-US" sz="2100" dirty="0"/>
          </a:p>
        </p:txBody>
      </p:sp>
      <p:sp>
        <p:nvSpPr>
          <p:cNvPr id="6" name="Text 4"/>
          <p:cNvSpPr/>
          <p:nvPr/>
        </p:nvSpPr>
        <p:spPr>
          <a:xfrm>
            <a:off x="609585" y="3381375"/>
            <a:ext cx="10972526" cy="319980"/>
          </a:xfrm>
          <a:prstGeom prst="rect">
            <a:avLst/>
          </a:prstGeom>
          <a:noFill/>
          <a:ln/>
        </p:spPr>
        <p:txBody>
          <a:bodyPr wrap="square" lIns="0" tIns="0" rIns="0" bIns="0" rtlCol="0" anchor="t"/>
          <a:lstStyle/>
          <a:p>
            <a:pPr marL="0" indent="0" algn="l">
              <a:buNone/>
            </a:pPr>
            <a:r>
              <a:rPr lang="en-US" sz="1800" dirty="0">
                <a:solidFill>
                  <a:srgbClr val="000000"/>
                </a:solidFill>
                <a:latin typeface="Arial" pitchFamily="34" charset="0"/>
                <a:ea typeface="Arial" pitchFamily="34" charset="-122"/>
                <a:cs typeface="Arial" pitchFamily="34" charset="-120"/>
              </a:rPr>
              <a:t>For a tape reading: identify whole inches, count spaces and simplify. Use a fresh mark on an actual rule.</a:t>
            </a:r>
            <a:endParaRPr lang="en-US" sz="1800" dirty="0"/>
          </a:p>
        </p:txBody>
      </p:sp>
      <p:sp>
        <p:nvSpPr>
          <p:cNvPr id="7" name="Text 5"/>
          <p:cNvSpPr/>
          <p:nvPr/>
        </p:nvSpPr>
        <p:spPr>
          <a:xfrm>
            <a:off x="609585" y="4619625"/>
            <a:ext cx="10972526" cy="639961"/>
          </a:xfrm>
          <a:prstGeom prst="rect">
            <a:avLst/>
          </a:prstGeom>
          <a:noFill/>
          <a:ln/>
        </p:spPr>
        <p:txBody>
          <a:bodyPr wrap="square" lIns="0" tIns="0" rIns="0" bIns="0" rtlCol="0" anchor="t"/>
          <a:lstStyle/>
          <a:p>
            <a:pPr marL="0" indent="0" algn="l">
              <a:buNone/>
            </a:pPr>
            <a:r>
              <a:rPr lang="en-US" sz="1800" dirty="0">
                <a:solidFill>
                  <a:srgbClr val="000000"/>
                </a:solidFill>
                <a:latin typeface="Arial" pitchFamily="34" charset="0"/>
                <a:ea typeface="Arial" pitchFamily="34" charset="-122"/>
                <a:cs typeface="Arial" pitchFamily="34" charset="-120"/>
              </a:rPr>
              <a:t>Together</a:t>
            </a:r>
            <a:endParaRPr lang="en-US" sz="1800" dirty="0"/>
          </a:p>
          <a:p>
            <a:pPr marL="0" indent="0" algn="l">
              <a:buNone/>
            </a:pPr>
            <a:r>
              <a:rPr lang="en-US" sz="1800" dirty="0">
                <a:solidFill>
                  <a:srgbClr val="000000"/>
                </a:solidFill>
                <a:latin typeface="Arial" pitchFamily="34" charset="0"/>
                <a:ea typeface="Arial" pitchFamily="34" charset="-122"/>
                <a:cs typeface="Arial" pitchFamily="34" charset="-120"/>
              </a:rPr>
              <a:t>Use fraction strips to explain equivalence. Clarify directions and units without giving the checkpoint answers.</a:t>
            </a:r>
            <a:endParaRPr lang="en-US" sz="1800" dirty="0"/>
          </a:p>
        </p:txBody>
      </p:sp>
      <p:sp>
        <p:nvSpPr>
          <p:cNvPr id="8" name="Text 6"/>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000000"/>
                </a:solidFill>
                <a:latin typeface="Arial" pitchFamily="34" charset="0"/>
                <a:ea typeface="Arial" pitchFamily="34" charset="-122"/>
                <a:cs typeface="Arial" pitchFamily="34" charset="-120"/>
              </a:rPr>
              <a:t>W2 L10 • These are preparation examples, not the scored book items</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26</a:t>
            </a:r>
          </a:p>
        </p:txBody>
      </p:sp>
    </p:spTree>
    <p:extLst>
      <p:ext uri="{BB962C8B-B14F-4D97-AF65-F5344CB8AC3E}">
        <p14:creationId xmlns:p14="http://schemas.microsoft.com/office/powerpoint/2010/main" val="1004630731"/>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W02-L10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ACCESS Textbook  |  page 61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pic>
        <p:nvPicPr>
          <p:cNvPr id="5" name="Picture 4" descr="W02-L10.png"/>
          <p:cNvPicPr>
            <a:picLocks noChangeAspect="1"/>
          </p:cNvPicPr>
          <p:nvPr/>
        </p:nvPicPr>
        <p:blipFill>
          <a:blip r:embed="rId3"/>
          <a:stretch>
            <a:fillRect/>
          </a:stretch>
        </p:blipFill>
        <p:spPr>
          <a:xfrm>
            <a:off x="1227940" y="1691640"/>
            <a:ext cx="9614198"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t>Textbook p.61 · Different-number preparation: compare and order sizes.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W02-L10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ACCESS Textbook  |  page 61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pic>
        <p:nvPicPr>
          <p:cNvPr id="5" name="Picture 4" descr="W02-L10-2.png"/>
          <p:cNvPicPr>
            <a:picLocks noChangeAspect="1"/>
          </p:cNvPicPr>
          <p:nvPr/>
        </p:nvPicPr>
        <p:blipFill>
          <a:blip r:embed="rId3"/>
          <a:stretch>
            <a:fillRect/>
          </a:stretch>
        </p:blipFill>
        <p:spPr>
          <a:xfrm>
            <a:off x="685800" y="2059502"/>
            <a:ext cx="10698480" cy="333335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t>Textbook p.61 · Figure 4.8: eleven quarters are two wholes and three quarters.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W02-L10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t>A learner simplifies 12/16 to 3/16 by dividing only the numerator. Has the value stayed the same?</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a:t>No. Divide both numerator and denominator by 4: 12/16 = 3/4.</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1" name="TextBox 10"/>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2" name="TextBox 11"/>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3" name="TextBox 12"/>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4" name="TextBox 13"/>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W02-L10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Use fraction strips to explain equivalence; clarify question directions and required units.</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4A Q3,6,8,10–11 (pp.25–26)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W02-L10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Complete 4A questions 3,6,8,10–11 independently. Check, sort errors by reading or number form, and redo missed types with partner-created examples.</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4A Q3,6,8,10–11 (pp.25–26)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W02-L10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Open the ACCESS tool for this activity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pic>
        <p:nvPicPr>
          <p:cNvPr id="5" name="Picture 4" descr="hub-measur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W02-L10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Your tool activity: try, compare and record</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Independent first attempt: Use paper and a rule for 4A Q3,6,8,10–11 without displayed answers.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Checking after completion: Use the chosen calculator or rule to locate and explain one error.</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Independent retry: Rebuild one corrected dimension in Shape Canvas, then solve a fresh missed type.</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4" name="TextBox 13"/>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5" name="TextBox 14"/>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6" name="TextBox 15"/>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7" name="TextBox 16"/>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W02-L10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Practise from the Exercise Book  |  4A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pic>
        <p:nvPicPr>
          <p:cNvPr id="5" name="Picture 4" descr="4A-Q3.png"/>
          <p:cNvPicPr>
            <a:picLocks noChangeAspect="1"/>
          </p:cNvPicPr>
          <p:nvPr/>
        </p:nvPicPr>
        <p:blipFill>
          <a:blip r:embed="rId3"/>
          <a:stretch>
            <a:fillRect/>
          </a:stretch>
        </p:blipFill>
        <p:spPr>
          <a:xfrm>
            <a:off x="685800" y="2252472"/>
            <a:ext cx="10698480" cy="265480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W02-L10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Practise from the Exercise Book  |  4A Q6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pic>
        <p:nvPicPr>
          <p:cNvPr id="5" name="Picture 4" descr="4A-Q6.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W02-L10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Redo one missed type without prompts and explain how the check shows it is correct.</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4A Q3,6,8,10–11 (pp.25–26)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W02-L10  •  WRAP UP  •  11:55 AM–12:00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4 pp.56–63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Share one learning point and one skill to practise next.</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4A Q3,6,8,10–11 (pp.25–26)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07  •  2026-11-06  •  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37</TotalTime>
  <Words>19960</Words>
  <Application>Microsoft Office PowerPoint</Application>
  <PresentationFormat>Widescreen</PresentationFormat>
  <Paragraphs>2040</Paragraphs>
  <Slides>165</Slides>
  <Notes>165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165</vt:i4>
      </vt:variant>
    </vt:vector>
  </HeadingPairs>
  <TitlesOfParts>
    <vt:vector size="168"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 Carpentry Math | Full Day 07 | 2026-11-06</dc:title>
  <dc:creator>ACCESS Trades</dc:creator>
  <cp:lastModifiedBy>Gabriel Ostrowidzki</cp:lastModifiedBy>
  <cp:revision>3</cp:revision>
  <dcterms:created xsi:type="dcterms:W3CDTF">2026-10-19T18:44:52Z</dcterms:created>
  <dcterms:modified xsi:type="dcterms:W3CDTF">2026-10-19T19:22:04Z</dcterms:modified>
  <dc:subject>Marking fractional dimensions; Fraction foundations checkpoint</dc:subject>
</cp:coreProperties>
</file>