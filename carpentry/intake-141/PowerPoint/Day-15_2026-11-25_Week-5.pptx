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94.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2" r:id="rId95"/>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65" r:id="rId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5" Type="http://schemas.openxmlformats.org/officeDocument/2006/relationships/slide" Target="slides/slide7.xml"/><Relationship Id="rId9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Worked teaching example retained from original slide 94.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Worked teaching example retained from original slide 97.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Schedule'!D50 | 'Math Week 5'!A57</a:t>
            </a:r>
          </a:p>
          <a:p>
            <a:r>
              <a:t>'Carpentry Schedule'!D52 | 'Math Week 5'!A74</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8.1–8.2 pp.124–125; formula sheet p.219</a:t>
            </a:r>
          </a:p>
          <a:p>
            <a:r>
              <a:t>'Math Week 5'!B61</a:t>
            </a:r>
          </a:p>
          <a:p>
            <a:r>
              <a:t>'Math Week 5'!A65:F65</a:t>
            </a:r>
          </a:p>
          <a:p>
            <a:r>
              <a:t>ACCESS CARPENTRY SLIDES.pptx slides 93, 94, 95</a:t>
            </a:r>
          </a:p>
          <a:p>
            <a:r>
              <a:t>ACCESS Trades Numeracy Textbook p.125 — Example 8.1 — Area and perimeter of a plate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8.1–8.2 pp.124–125; formula sheet p.219</a:t>
            </a:r>
          </a:p>
          <a:p>
            <a:r>
              <a:t>'Math Week 5'!B61</a:t>
            </a:r>
          </a:p>
          <a:p>
            <a:r>
              <a:t>'Math Week 5'!A65:F65</a:t>
            </a:r>
          </a:p>
          <a:p>
            <a:r>
              <a:t>ACCESS CARPENTRY SLIDES.pptx slides 93, 94, 95</a:t>
            </a:r>
          </a:p>
          <a:p>
            <a:r>
              <a:t>ACCESS Trades Numeracy Textbook p.125 — Example 8.1 — Area and perimeter of a plate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p.125 • Example 8.1 — Substitution into area and perimeter formulas</a:t>
            </a:r>
          </a:p>
          <a:p>
            <a:r>
              <a:t>Exact PDF/printed page: 125. Excerpt reproduced from the supplied ACCESS Textbook.</a:t>
            </a:r>
          </a:p>
          <a:p>
            <a:r>
              <a:t>Use the same dimensions in two formulas; compare the meanings and units of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p.125 • Example 8.1 — Brackets, calculator checks and units</a:t>
            </a:r>
          </a:p>
          <a:p>
            <a:r>
              <a:t>Exact PDF/printed page: 125. Excerpt reproduced from the supplied ACCESS Textbook.</a:t>
            </a:r>
          </a:p>
          <a:p>
            <a:r>
              <a:t>Use the same dimensions in two formulas; compare the meanings and units of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8A-Q2</a:t>
            </a:r>
          </a:p>
          <a:p>
            <a:r>
              <a:t>Exact question: Rewrite 3ab and πr² with × signs.</a:t>
            </a:r>
          </a:p>
          <a:p>
            <a:r>
              <a:t>Instructor answer: 3 × a × b and π × r × r</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8A-Q2</a:t>
            </a:r>
          </a:p>
          <a:p>
            <a:r>
              <a:t>Exact question: Rewrite 3ab and πr² with × signs.</a:t>
            </a:r>
          </a:p>
          <a:p>
            <a:r>
              <a:t>Instructor answer: 3 × a × b and π × r × r</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Numeracy Hub: Shape Studio: compare Letters and values labels with Calculations. Shape Canvas: rectangle; show sizes and formulas.</a:t>
            </a:r>
          </a:p>
          <a:p>
            <a:r>
              <a:t>In Numeracy Hub Shape Studio, compare Letters and values with Calculations.</a:t>
            </a:r>
          </a:p>
          <a:p>
            <a:r>
              <a:t>Create the assigned rectangle in Shape Canvas and show its sizes and formula.</a:t>
            </a:r>
          </a:p>
          <a:p>
            <a:r>
              <a:t>Substitute the labelled dimensions on paper, then compare with the tool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8A-Q5</a:t>
            </a:r>
          </a:p>
          <a:p>
            <a:r>
              <a:t>Exact question: Substitute: C = π × D with D = 450 mm. Round to two decimal places.</a:t>
            </a:r>
          </a:p>
          <a:p>
            <a:r>
              <a:t>Instructor answer: 1,413.72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8A-Q6</a:t>
            </a:r>
          </a:p>
          <a:p>
            <a:r>
              <a:t>Exact question: Substitute: A = π × r² with r = 35 mm. Round to two decimal places.</a:t>
            </a:r>
          </a:p>
          <a:p>
            <a:r>
              <a:t>Instructor answer: 3,848.45 mm²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8A-Q3</a:t>
            </a:r>
          </a:p>
          <a:p>
            <a:r>
              <a:t>Exact question: Substitute: A = l × w with l = 3.6 m and w = 2.5 m.</a:t>
            </a:r>
          </a:p>
          <a:p>
            <a:r>
              <a:t>Instructor answer: 9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8A-Q4</a:t>
            </a:r>
          </a:p>
          <a:p>
            <a:r>
              <a:t>Exact question: Substitute: P = 2 × (l + w) with l = 1,250 mm and w = 875 mm.</a:t>
            </a:r>
          </a:p>
          <a:p>
            <a:r>
              <a:t>Instructor answer: 4,250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W05-L03 | 2026-11-25 | 12:45 PM–2:00 PM | 75 minutes</a:t>
            </a:r>
          </a:p>
          <a:p>
            <a:r>
              <a:t>Reading and substituting into formulas</a:t>
            </a:r>
          </a:p>
          <a:p>
            <a:r>
              <a:t>Mode: Math</a:t>
            </a:r>
          </a:p>
          <a:p>
            <a:r>
              <a:t>Goal: Name variables and substitute dimensions into a formula with correct brackets and units.</a:t>
            </a:r>
          </a:p>
          <a:p>
            <a:r>
              <a:t>Read: Textbook sections 8.1–8.2 pp.124–125; formula sheet p.219</a:t>
            </a:r>
          </a:p>
          <a:p>
            <a:r>
              <a:t>Practise: Exercise Book 8A Q1–8 (p.51); 8B Q12 (p.54)</a:t>
            </a:r>
          </a:p>
          <a:p>
            <a:r>
              <a:t>Tool: Numeracy Hub: Shape Studio: compare Letters and values labels with Calculations. Shape Canvas: rectangle; show sizes and formulas.</a:t>
            </a:r>
          </a:p>
          <a:p/>
          <a:p>
            <a:r>
              <a:t>EXACT SCHEDULED STEPS</a:t>
            </a:r>
          </a:p>
          <a:p>
            <a:r>
              <a:t>12:45 PM–12:50 PM | 1 Start | 5 min</a:t>
            </a:r>
          </a:p>
          <a:p>
            <a:r>
              <a:t>Instructor: Connect reading and substituting into formulas to a dimensioned carpentry drawing. State the objective.</a:t>
            </a:r>
          </a:p>
          <a:p>
            <a:r>
              <a:t>Learners: Describe a prior use of the skill; identify the given and unknown quantities.</a:t>
            </a:r>
          </a:p>
          <a:p>
            <a:r>
              <a:t>Materials/check: Notebook; calculator</a:t>
            </a:r>
          </a:p>
          <a:p>
            <a:r>
              <a:t>Source: 'Math Week 5'!A63:F63</a:t>
            </a:r>
          </a:p>
          <a:p/>
          <a:p>
            <a:r>
              <a:t>12:50 PM–12:55 PM | 2 Recall | 5 min</a:t>
            </a:r>
          </a:p>
          <a:p>
            <a:r>
              <a:t>Instructor: Ask what l and w stand for in A = l × w. Check BEDMAS using a two-step expression.</a:t>
            </a:r>
          </a:p>
          <a:p>
            <a:r>
              <a:t>Learners: Attempt the retrieval task independently; explain the method before checking.</a:t>
            </a:r>
          </a:p>
          <a:p>
            <a:r>
              <a:t>Materials/check: Identify support needs</a:t>
            </a:r>
          </a:p>
          <a:p>
            <a:r>
              <a:t>Source: 'Math Week 5'!A64:F64</a:t>
            </a:r>
          </a:p>
          <a:p/>
          <a:p>
            <a:r>
              <a:t>12:55 PM–1:10 PM | 3 Teach | 15 min</a:t>
            </a:r>
          </a:p>
          <a:p>
            <a:r>
              <a:t>Instructor: Model a given–find–formula–substitute–check routine using a rectangle. Explain that an area result alone does not prove that a part fits.</a:t>
            </a:r>
          </a:p>
          <a:p>
            <a:r>
              <a:t>Learners: Annotate the example and predict the next step; ask about unclear units or symbols.</a:t>
            </a:r>
          </a:p>
          <a:p>
            <a:r>
              <a:t>Materials/check: Textbook; worked example</a:t>
            </a:r>
          </a:p>
          <a:p>
            <a:r>
              <a:t>Source: 'Math Week 5'!A65:F65</a:t>
            </a:r>
          </a:p>
          <a:p/>
          <a:p>
            <a:r>
              <a:t>1:10 PM–1:25 PM | 4 Together | 15 min</a:t>
            </a:r>
          </a:p>
          <a:p>
            <a:r>
              <a:t>Instructor: Work Exercise Book 8A Q2–4 and Q7. Learners name each quantity before entering calculator keys.</a:t>
            </a:r>
          </a:p>
          <a:p>
            <a:r>
              <a:t>Learners: Work in pairs, alternating solver and checker. Write a diagram, formula, units and estimate.</a:t>
            </a:r>
          </a:p>
          <a:p>
            <a:r>
              <a:t>Materials/check: Exercise Book; tool above</a:t>
            </a:r>
          </a:p>
          <a:p>
            <a:r>
              <a:t>Source: 'Math Week 5'!A66:F66</a:t>
            </a:r>
          </a:p>
          <a:p/>
          <a:p>
            <a:r>
              <a:t>1:25 PM–1:45 PM | 5 Practise | 20 min</a:t>
            </a:r>
          </a:p>
          <a:p>
            <a:r>
              <a:t>Instructor: Complete Exercise Book 8A Q5–6,8 and 8B Q12. Use Shape Canvas dimensions to verify substituted values; treat formula applications as introductions, not full geometry mastery.</a:t>
            </a:r>
          </a:p>
          <a:p>
            <a:r>
              <a:t>Learners: Solve on paper first; check with tools; correct one error and explain the change.</a:t>
            </a:r>
          </a:p>
          <a:p>
            <a:r>
              <a:t>Materials/check: Paper first; tool second</a:t>
            </a:r>
          </a:p>
          <a:p>
            <a:r>
              <a:t>Source: 'Math Week 5'!A67:F67</a:t>
            </a:r>
          </a:p>
          <a:p/>
          <a:p>
            <a:r>
              <a:t>1:45 PM–1:55 PM | 6 Check | 10 min</a:t>
            </a:r>
          </a:p>
          <a:p>
            <a:r>
              <a:t>Instructor: Exercise Book 8A Q3–4; label the result as area or perimeter and include units.</a:t>
            </a:r>
          </a:p>
          <a:p>
            <a:r>
              <a:t>Learners: Solve without displayed answers; include working, units and final rounding.</a:t>
            </a:r>
          </a:p>
          <a:p>
            <a:r>
              <a:t>Materials/check: Teacher answers below</a:t>
            </a:r>
          </a:p>
          <a:p>
            <a:r>
              <a:t>Source: 'Math Week 5'!A68:F68</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5'!A69:F69</a:t>
            </a:r>
          </a:p>
          <a:p/>
          <a:p>
            <a:r>
              <a:t>INSTRUCTOR ONLY: REVEAL ASSESSMENT ANSWERS AFTER THE ATTEMPT</a:t>
            </a:r>
          </a:p>
          <a:p>
            <a:r>
              <a:t>8A Q3 = 9 m²; Q4 = 4,250 mm (calculated directly from Exercise Book p.51; compare Answer Key p.23). Answer Key pp.22–23</a:t>
            </a:r>
          </a:p>
          <a:p/>
          <a:p>
            <a:r>
              <a:t>Move from substitution to solving for a missing dimension; retain the same written routine.</a:t>
            </a:r>
          </a:p>
          <a:p/>
          <a:p>
            <a:r>
              <a:t>Sources: 'Math Week 5'!A12:E12; 'Carpentry Schedule'!D50; 'Math Week 5'!A57</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Move from substitution to solving for a missing dimension; retain the same written routine.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Recall, 2:20 PM–2:25 PM. All slides with this phase share these 5 minutes; do not restart the time allocation for each slide.</a:t>
            </a:r>
          </a:p>
          <a:p/>
          <a:p>
            <a:r>
              <a:t>ACCESS EXERCISE BOOK: 8A-Q9</a:t>
            </a:r>
          </a:p>
          <a:p>
            <a:r>
              <a:t>Exact question: Solve x + 175 = 640.</a:t>
            </a:r>
          </a:p>
          <a:p>
            <a:r>
              <a:t>Instructor answer: 465</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8.3–8.5 pp.126–130; sections 8.7 p.134</a:t>
            </a:r>
          </a:p>
          <a:p>
            <a:r>
              <a:t>'Math Week 5'!B78</a:t>
            </a:r>
          </a:p>
          <a:p>
            <a:r>
              <a:t>'Math Week 5'!A82:F82</a:t>
            </a:r>
          </a:p>
          <a:p>
            <a:r>
              <a:t>ACCESS CARPENTRY SLIDES.pptx slides 96, 97, 98</a:t>
            </a:r>
          </a:p>
          <a:p>
            <a:r>
              <a:t>ACCESS Trades Numeracy Textbook p.130 — Example 8.8 — Find the length from the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8.3–8.5 pp.126–130; sections 8.7 p.134</a:t>
            </a:r>
          </a:p>
          <a:p>
            <a:r>
              <a:t>'Math Week 5'!B78</a:t>
            </a:r>
          </a:p>
          <a:p>
            <a:r>
              <a:t>'Math Week 5'!A82:F82</a:t>
            </a:r>
          </a:p>
          <a:p>
            <a:r>
              <a:t>ACCESS CARPENTRY SLIDES.pptx slides 96, 97, 98</a:t>
            </a:r>
          </a:p>
          <a:p>
            <a:r>
              <a:t>ACCESS Trades Numeracy Textbook p.130 — Example 8.8 — Find the length from the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p.130 • Example 8.8 — Undo two operations to find a length</a:t>
            </a:r>
          </a:p>
          <a:p>
            <a:r>
              <a:t>Exact PDF/printed page: 130. Excerpt reproduced from the supplied ACCESS Textbook.</a:t>
            </a:r>
          </a:p>
          <a:p>
            <a:r>
              <a:t>Follow the inverse steps: divide the perimeter by two, then subtract the known width.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p.130 • Example 8.8 — Substitute back into the original perimeter formula</a:t>
            </a:r>
          </a:p>
          <a:p>
            <a:r>
              <a:t>Exact PDF/printed page: 130. Excerpt reproduced from the supplied ACCESS Textbook.</a:t>
            </a:r>
          </a:p>
          <a:p>
            <a:r>
              <a:t>Follow the inverse steps: divide the perimeter by two, then subtract the known width.</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8A-Q15</a:t>
            </a:r>
          </a:p>
          <a:p>
            <a:r>
              <a:t>Exact question: Make l the subject of A = l × w.</a:t>
            </a:r>
          </a:p>
          <a:p>
            <a:r>
              <a:t>Instructor answer: l = A ÷ w</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8A-Q15</a:t>
            </a:r>
          </a:p>
          <a:p>
            <a:r>
              <a:t>Exact question: Make l the subject of A = l × w.</a:t>
            </a:r>
          </a:p>
          <a:p>
            <a:r>
              <a:t>Instructor answer: l = A ÷ w</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rectangle with a known area/perimeter and one dimension to find. Numeracy Hub Calculator: perform the substitution check.</a:t>
            </a:r>
          </a:p>
          <a:p>
            <a:r>
              <a:t>Use a Shape Canvas rectangle with known area or perimeter and one unknown dimension.</a:t>
            </a:r>
          </a:p>
          <a:p>
            <a:r>
              <a:t>Rearrange the original formula and solve the missing dimension on paper.</a:t>
            </a:r>
          </a:p>
          <a:p>
            <a:r>
              <a:t>Use Numeracy Hub Calculator to substitute back into the original formula and check equality.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8A-Q12</a:t>
            </a:r>
          </a:p>
          <a:p>
            <a:r>
              <a:t>Exact question: Solve x ÷ 6 = 45.</a:t>
            </a:r>
          </a:p>
          <a:p>
            <a:r>
              <a:t>Instructor answer: 270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8A-Q13</a:t>
            </a:r>
          </a:p>
          <a:p>
            <a:r>
              <a:t>Exact question: Solve 15 × x = 1,350.</a:t>
            </a:r>
          </a:p>
          <a:p>
            <a:r>
              <a:t>Instructor answer: 90</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8B-Q4</a:t>
            </a:r>
          </a:p>
          <a:p>
            <a:r>
              <a:t>Exact question: A welded frame uses 6,400 mm of tube all the way around. It is 1,250 mm wide. How long is it?</a:t>
            </a:r>
          </a:p>
          <a:p>
            <a:r>
              <a:t>Instructor answer: 1,950 mm</a:t>
            </a:r>
          </a:p>
          <a:p>
            <a:r>
              <a:t>Working: l = P ÷ 2 − w = 3,200 − 1,250</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8B-Q15</a:t>
            </a:r>
          </a:p>
          <a:p>
            <a:r>
              <a:t>Exact question: Find the mistake. A learner transposes P = 2 × (l + w) to l = P − 2 × w and uses P = 4,000 mm and w = 700 mm. Find the learner's answer, check it by substituting back, and find the correct length.</a:t>
            </a:r>
          </a:p>
          <a:p>
            <a:r>
              <a:t>Instructor answer: Learner: 4,000 − 1,400 = 2,600 mm. Check: 2 × (2,600 + 700) = 6,600, not 4,000. Correct: l = P ÷ 2 − w = 1,300 mm.</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W05-L04 | 2026-11-25 | 2:15 PM–3:30 PM | 75 minutes</a:t>
            </a:r>
          </a:p>
          <a:p>
            <a:r>
              <a:t>Rearranging formulas and checking backwards</a:t>
            </a:r>
          </a:p>
          <a:p>
            <a:r>
              <a:t>Mode: Math</a:t>
            </a:r>
          </a:p>
          <a:p>
            <a:r>
              <a:t>Goal: Rearrange one- and two-step formulas and validate a missing dimension by substitution.</a:t>
            </a:r>
          </a:p>
          <a:p>
            <a:r>
              <a:t>Read: Textbook sections 8.3–8.5 pp.126–130; sections 8.7 p.134</a:t>
            </a:r>
          </a:p>
          <a:p>
            <a:r>
              <a:t>Practise: Exercise Book 8A Q9–22 (pp.51–52), selected; 8B Q1,4 (p.53), Q15 (p.54)</a:t>
            </a:r>
          </a:p>
          <a:p>
            <a:r>
              <a:t>Tool: Shape Canvas: rectangle with a known area/perimeter and one dimension to find. Numeracy Hub Calculator: perform the substitution check.</a:t>
            </a:r>
          </a:p>
          <a:p/>
          <a:p>
            <a:r>
              <a:t>EXACT SCHEDULED STEPS</a:t>
            </a:r>
          </a:p>
          <a:p>
            <a:r>
              <a:t>2:15 PM–2:20 PM | 1 Start | 5 min</a:t>
            </a:r>
          </a:p>
          <a:p>
            <a:r>
              <a:t>Instructor: Connect rearranging formulas and checking backwards to a dimensioned carpentry drawing. State the objective.</a:t>
            </a:r>
          </a:p>
          <a:p>
            <a:r>
              <a:t>Learners: Describe a prior use of the skill; identify the given and unknown quantities.</a:t>
            </a:r>
          </a:p>
          <a:p>
            <a:r>
              <a:t>Materials/check: Notebook; calculator</a:t>
            </a:r>
          </a:p>
          <a:p>
            <a:r>
              <a:t>Source: 'Math Week 5'!A80:F80</a:t>
            </a:r>
          </a:p>
          <a:p/>
          <a:p>
            <a:r>
              <a:t>2:20 PM–2:25 PM | 2 Recall | 5 min</a:t>
            </a:r>
          </a:p>
          <a:p>
            <a:r>
              <a:t>Instructor: Use Exercise Book 8A Q9,11. Ask which inverse operation preserves equality.</a:t>
            </a:r>
          </a:p>
          <a:p>
            <a:r>
              <a:t>Learners: Attempt the retrieval task independently; explain the method before checking.</a:t>
            </a:r>
          </a:p>
          <a:p>
            <a:r>
              <a:t>Materials/check: Identify support needs</a:t>
            </a:r>
          </a:p>
          <a:p>
            <a:r>
              <a:t>Source: 'Math Week 5'!A81:F81</a:t>
            </a:r>
          </a:p>
          <a:p/>
          <a:p>
            <a:r>
              <a:t>2:25 PM–2:40 PM | 3 Teach | 15 min</a:t>
            </a:r>
          </a:p>
          <a:p>
            <a:r>
              <a:t>Instructor: Model balancing both sides, then derive l = P/2 − w. Contrast it with the incorrect l = P − 2w from Exercise Book 8B Q15.</a:t>
            </a:r>
          </a:p>
          <a:p>
            <a:r>
              <a:t>Learners: Annotate the example and predict the next step; ask about unclear units or symbols.</a:t>
            </a:r>
          </a:p>
          <a:p>
            <a:r>
              <a:t>Materials/check: Textbook; worked example</a:t>
            </a:r>
          </a:p>
          <a:p>
            <a:r>
              <a:t>Source: 'Math Week 5'!A82:F82</a:t>
            </a:r>
          </a:p>
          <a:p/>
          <a:p>
            <a:r>
              <a:t>2:40 PM–2:55 PM | 4 Together | 15 min</a:t>
            </a:r>
          </a:p>
          <a:p>
            <a:r>
              <a:t>Instructor: Complete Exercise Book 8A Q15,18–19 and Exercise Book 8B Q1 as a group. Learners explain the inverse step.</a:t>
            </a:r>
          </a:p>
          <a:p>
            <a:r>
              <a:t>Learners: Work in pairs, alternating solver and checker. Write a diagram, formula, units and estimate.</a:t>
            </a:r>
          </a:p>
          <a:p>
            <a:r>
              <a:t>Materials/check: Exercise Book; tool above</a:t>
            </a:r>
          </a:p>
          <a:p>
            <a:r>
              <a:t>Source: 'Math Week 5'!A83:F83</a:t>
            </a:r>
          </a:p>
          <a:p/>
          <a:p>
            <a:r>
              <a:t>2:55 PM–3:15 PM | 5 Practise | 20 min</a:t>
            </a:r>
          </a:p>
          <a:p>
            <a:r>
              <a:t>Instructor: Solve selected Exercise Book 8A Q12–14,16–17,20–22 and Exercise Book 8B Q4,15. Check every result in the original equation; use tools after the written rearrangement.</a:t>
            </a:r>
          </a:p>
          <a:p>
            <a:r>
              <a:t>Learners: Solve on paper first; check with tools; correct one error and explain the change.</a:t>
            </a:r>
          </a:p>
          <a:p>
            <a:r>
              <a:t>Materials/check: Paper first; tool second</a:t>
            </a:r>
          </a:p>
          <a:p>
            <a:r>
              <a:t>Source: 'Math Week 5'!A84:F84</a:t>
            </a:r>
          </a:p>
          <a:p/>
          <a:p>
            <a:r>
              <a:t>3:15 PM–3:25 PM | 6 Check | 10 min</a:t>
            </a:r>
          </a:p>
          <a:p>
            <a:r>
              <a:t>Instructor: Exercise Book 8B Q4 and Q15; show the substitution check, not just the answer.</a:t>
            </a:r>
          </a:p>
          <a:p>
            <a:r>
              <a:t>Learners: Solve without displayed answers; include working, units and final rounding.</a:t>
            </a:r>
          </a:p>
          <a:p>
            <a:r>
              <a:t>Materials/check: Teacher answers below</a:t>
            </a:r>
          </a:p>
          <a:p>
            <a:r>
              <a:t>Source: 'Math Week 5'!A85:F85</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5'!A86:F86</a:t>
            </a:r>
          </a:p>
          <a:p/>
          <a:p>
            <a:r>
              <a:t>INSTRUCTOR ONLY: REVEAL ASSESSMENT ANSWERS AFTER THE ATTEMPT</a:t>
            </a:r>
          </a:p>
          <a:p>
            <a:r>
              <a:t>8B Q4 = 1,950 mm. Q15: incorrect result 2,600 mm; correct l = 1,300 mm. Rechecking gives P = 4,000 mm. Exercise Book pp.53–54; Answer Key p.23. Answer Key pp.22–23</a:t>
            </a:r>
          </a:p>
          <a:p/>
          <a:p>
            <a:r>
              <a:t>Use squares and square roots only after one- and two-step rearrangements are secure.</a:t>
            </a:r>
          </a:p>
          <a:p/>
          <a:p>
            <a:r>
              <a:t>Sources: 'Math Week 5'!A13:E13; 'Carpentry Schedule'!D52; 'Math Week 5'!A74</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Use squares and square roots only after one- and two-step rearrangements are secure.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Resources/ACCESS-Tools/books/ACCESS-Trades-Numeracy-Textbook.pdf#page=125"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Resources/ACCESS-Tools/books/ACCESS-Trades-Numeracy-Textbook.pdf#page=125"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Resources/ACCESS-Tools/books/ACCESS-Trades-Numeracy-Textbook.pdf#page=124"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7.png"/><Relationship Id="rId4" Type="http://schemas.openxmlformats.org/officeDocument/2006/relationships/hyperlink" Target="../Resources/ACCESS-Tools/books/ACCESS-Trades-Numeracy-Textbook.pdf#page=124"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Resources/ACCESS-Tools/books/ACCESS-Trades-Numeracy-Textbook.pdf#page=130"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Resources/ACCESS-Tools/books/ACCESS-Trades-Numeracy-Textbook.pdf#page=130"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1"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Resources/ACCESS-Tools/books/ACCESS-Trades-Numeracy-Textbook.pdf#page=126" TargetMode="External"/><Relationship Id="rId6" Type="http://schemas.openxmlformats.org/officeDocument/2006/relationships/hyperlink" Target="../Resources/ACCESS-Tools/books/ACCESS-Trades-Numeracy-Exercise-Book.pdf#page=5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Resources/ACCESS-Tools/books/ACCESS-Trades-Numeracy-Textbook.pdf#page=126" TargetMode="External"/><Relationship Id="rId5" Type="http://schemas.openxmlformats.org/officeDocument/2006/relationships/hyperlink" Target="../Resources/ACCESS-Tools/books/ACCESS-Trades-Numeracy-Exercise-Book.pdf#page=51"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15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25,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Reading and substituting into formulas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Rearranging formulas and checking backwards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5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15  •  2026-11-25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15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Reading and substituting into formulas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Rearranging formulas and checking backwards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5,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Reading and substituting into formulas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Name variables and substitute dimensions into a formula with correct brackets and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8.1–8.2 pp.124–125; formula sheet p.219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8A Q1–8 (p.51); 8B Q12 (p.54)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Identify what l and w stand for in A = l × w. Check BEDMAS using a two-step expression.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Identify what each symbol means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List the given measurements and the quantity you need to find.</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Match each formula letter to the correct labelled dimension.</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consistent units before substituting values.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brackets where the formula groups operations.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Follow a formula from symbols to a result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the formula before entering the numbers.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Substitute the known values in the same positions.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in the correct order and attach the resulting unit.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both the magnitude and meaning: equal area alone does not prove a part fits.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Match the formula to the requested quantity</a:t>
            </a:r>
            <a:endParaRPr lang="en-US" sz="3000" dirty="0"/>
          </a:p>
        </p:txBody>
      </p:sp>
      <p:sp>
        <p:nvSpPr>
          <p:cNvPr id="5" name="Shape 3"/>
          <p:cNvSpPr/>
          <p:nvPr/>
        </p:nvSpPr>
        <p:spPr>
          <a:xfrm>
            <a:off x="1333467" y="2524125"/>
            <a:ext cx="3428914" cy="1714500"/>
          </a:xfrm>
          <a:prstGeom prst="rect">
            <a:avLst/>
          </a:prstGeom>
          <a:solidFill>
            <a:srgbClr val="F4F5F6"/>
          </a:solidFill>
          <a:ln w="28575">
            <a:solidFill>
              <a:srgbClr val="C60016"/>
            </a:solidFill>
            <a:prstDash val="solid"/>
          </a:ln>
        </p:spPr>
        <p:txBody>
          <a:bodyPr/>
          <a:lstStyle/>
          <a:p>
            <a:endParaRPr lang="en-CA"/>
          </a:p>
        </p:txBody>
      </p:sp>
      <p:sp>
        <p:nvSpPr>
          <p:cNvPr id="6" name="Text 4"/>
          <p:cNvSpPr/>
          <p:nvPr/>
        </p:nvSpPr>
        <p:spPr>
          <a:xfrm>
            <a:off x="2095448" y="2000250"/>
            <a:ext cx="2476438"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Length l = 4 m</a:t>
            </a:r>
            <a:endParaRPr lang="en-US" sz="1800" dirty="0"/>
          </a:p>
        </p:txBody>
      </p:sp>
      <p:sp>
        <p:nvSpPr>
          <p:cNvPr id="7" name="Text 5"/>
          <p:cNvSpPr/>
          <p:nvPr/>
        </p:nvSpPr>
        <p:spPr>
          <a:xfrm>
            <a:off x="1333467" y="4429125"/>
            <a:ext cx="3524162" cy="319980"/>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Width w = 2 m</a:t>
            </a:r>
            <a:endParaRPr lang="en-US" sz="1800" dirty="0"/>
          </a:p>
        </p:txBody>
      </p:sp>
      <p:sp>
        <p:nvSpPr>
          <p:cNvPr id="8" name="Text 6"/>
          <p:cNvSpPr/>
          <p:nvPr/>
        </p:nvSpPr>
        <p:spPr>
          <a:xfrm>
            <a:off x="5905352" y="2143125"/>
            <a:ext cx="5619610"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A = l × w</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 4 × 2 = 8 m²</a:t>
            </a:r>
            <a:endParaRPr lang="en-US" sz="2400" dirty="0"/>
          </a:p>
        </p:txBody>
      </p:sp>
      <p:sp>
        <p:nvSpPr>
          <p:cNvPr id="9" name="Text 7"/>
          <p:cNvSpPr/>
          <p:nvPr/>
        </p:nvSpPr>
        <p:spPr>
          <a:xfrm>
            <a:off x="5905352" y="3524250"/>
            <a:ext cx="5619610" cy="85338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P = 2(l + w)</a:t>
            </a:r>
            <a:endParaRPr lang="en-US" sz="2400" dirty="0"/>
          </a:p>
          <a:p>
            <a:pPr marL="0" indent="0" algn="l">
              <a:buNone/>
            </a:pPr>
            <a:r>
              <a:rPr lang="en-US" sz="2400" dirty="0">
                <a:solidFill>
                  <a:srgbClr val="000000"/>
                </a:solidFill>
                <a:latin typeface="Arial" pitchFamily="34" charset="0"/>
                <a:ea typeface="Arial" pitchFamily="34" charset="-122"/>
                <a:cs typeface="Arial" pitchFamily="34" charset="-120"/>
              </a:rPr>
              <a:t>= 2(4 + 2) = 12 m</a:t>
            </a:r>
            <a:endParaRPr lang="en-US" sz="2400" dirty="0"/>
          </a:p>
        </p:txBody>
      </p:sp>
      <p:sp>
        <p:nvSpPr>
          <p:cNvPr id="10" name="Text 8"/>
          <p:cNvSpPr/>
          <p:nvPr/>
        </p:nvSpPr>
        <p:spPr>
          <a:xfrm>
            <a:off x="609585" y="5286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8A Q2–4 and Q7. Name each quantity before keying.</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Numeracy Hub Shape Studio: compare letters, values and calculations.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W5 L3 • Classroom rectangle, not a scale drawing • Area and perimeter are different quantities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07</a:t>
            </a:r>
          </a:p>
        </p:txBody>
      </p:sp>
    </p:spTree>
    <p:extLst>
      <p:ext uri="{BB962C8B-B14F-4D97-AF65-F5344CB8AC3E}">
        <p14:creationId xmlns:p14="http://schemas.microsoft.com/office/powerpoint/2010/main" val="399872885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125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W05-L03.png"/>
          <p:cNvPicPr>
            <a:picLocks noChangeAspect="1"/>
          </p:cNvPicPr>
          <p:nvPr/>
        </p:nvPicPr>
        <p:blipFill>
          <a:blip r:embed="rId3"/>
          <a:stretch>
            <a:fillRect/>
          </a:stretch>
        </p:blipFill>
        <p:spPr>
          <a:xfrm>
            <a:off x="685800" y="2467535"/>
            <a:ext cx="10698480" cy="251728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p.125 • Example 8.1 — Substitution into area and perimeter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125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W05-L03-2.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p.125 • Example 8.1 — Brackets, calculator checks and units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If two rectangles have the same area, must one fit exactly over the other?</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Compare their length and width as well; equal products can have different dimensions.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8A Q2–4 and Q7. Name each quantity before entering calculator keys.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8A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8A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3 × a × b and π × r × r</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8A Q5–6,8 and 8B Q12. Use Shape Canvas dimensions to verify substituted values; treat formula applications as introductions, not full geometry mastery.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 Numeracy Hub Shape Studio, compare Letters and values with Calculations.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the assigned rectangle in Shape Canvas and show its sizes and formula.</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Substitute the labelled dimensions on paper, then compare with the tool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8A Q3–4; label the result as area or perimeter and include units.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8A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pic>
        <p:nvPicPr>
          <p:cNvPr id="5" name="Picture 4" descr="8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8.1–8.2 pp.124–125; formula sheet p.219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Q1–8 (p.51); 8B Q12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15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Rearranging formulas and checking backwards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15  •  2026-11-25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Rearranging formulas and checking backwards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Rearrange one- and two-step formulas and validate a missing dimension by substitution.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8.3–8.5 pp.126–130; sections 8.7 p.134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8A Q9–22 (pp.51–52), selected; 8B Q1,4 (p.53), Q15 (p.54)</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Use Exercise Book 8A Q9,11. Discuss which inverse operation preserves equality.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from the Exercise Book  |  8A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Undo operations on both sides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Identify the unknown before rearranging the formula.</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inverse operations: add/subtract and multiply/divide.</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Apply the same operation to both sides to preserve equality.</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entire grouped expression together when dividing.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a missing dimension backwards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P = 2(l + w), divide by 2 before subtracting the known width.</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rearranged formula is l = P/2 − w.</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Insert the found length into the original perimeter equation.</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Accept the result only when the original equation balances with correct units.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W05-L04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Balance the equation, then check</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lstStyle/>
          <a:p>
            <a:pPr marL="0" indent="0" algn="l">
              <a:buNone/>
            </a:pPr>
            <a:r>
              <a:rPr lang="en-US" sz="2400" dirty="0">
                <a:solidFill>
                  <a:srgbClr val="181818"/>
                </a:solidFill>
                <a:latin typeface="Arial" pitchFamily="34" charset="0"/>
                <a:ea typeface="Arial" pitchFamily="34" charset="-122"/>
                <a:cs typeface="Arial" pitchFamily="34" charset="-120"/>
              </a:rPr>
              <a:t>P = 2(l + w) → P ÷ 2 = l + w → l = P ÷ 2 − w</a:t>
            </a:r>
            <a:endParaRPr lang="en-US" sz="2400" dirty="0"/>
          </a:p>
        </p:txBody>
      </p:sp>
      <p:sp>
        <p:nvSpPr>
          <p:cNvPr id="6" name="Text 4"/>
          <p:cNvSpPr/>
          <p:nvPr/>
        </p:nvSpPr>
        <p:spPr>
          <a:xfrm>
            <a:off x="609585" y="24765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Worked example • P = 4,000 mm; w = 700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l = 4,000 ÷ 2 − 700 = 1,300 mm.</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Check: 2 × (1,300 + 700) = 4,000 mm.</a:t>
            </a:r>
            <a:endParaRPr lang="en-US" sz="1800" dirty="0"/>
          </a:p>
        </p:txBody>
      </p:sp>
      <p:sp>
        <p:nvSpPr>
          <p:cNvPr id="7" name="Text 5"/>
          <p:cNvSpPr/>
          <p:nvPr/>
        </p:nvSpPr>
        <p:spPr>
          <a:xfrm>
            <a:off x="609585" y="3857625"/>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Spot the error • l = P − 2w gives 2,600 mm—not the length.</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Substituting that answer gives 6,600 mm, not the stated perimeter.</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Exercise Book 8A Q15,18–19 and 8B Q1.</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Say the inverse operation; keep both sides equal. Check every result</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in the original formula before using the calculator or Shape Canvas.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Textbook pp.126–130,134 • Exercise Book pp.51–54 • Worked example follows the supplied 8B Q15 plan</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29</a:t>
            </a:r>
          </a:p>
        </p:txBody>
      </p:sp>
    </p:spTree>
    <p:extLst>
      <p:ext uri="{BB962C8B-B14F-4D97-AF65-F5344CB8AC3E}">
        <p14:creationId xmlns:p14="http://schemas.microsoft.com/office/powerpoint/2010/main" val="3592801848"/>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130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W05-L04.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p.130 • Example 8.8 — Undo two operations to find a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130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W05-L04-2.png"/>
          <p:cNvPicPr>
            <a:picLocks noChangeAspect="1"/>
          </p:cNvPicPr>
          <p:nvPr/>
        </p:nvPicPr>
        <p:blipFill>
          <a:blip r:embed="rId3"/>
          <a:stretch>
            <a:fillRect/>
          </a:stretch>
        </p:blipFill>
        <p:spPr>
          <a:xfrm>
            <a:off x="685800" y="2334062"/>
            <a:ext cx="10698480" cy="278423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p.130 • Example 8.8 — Substitute back into the original perimeter formula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Why does l = P − 2w give the wrong length for a rectangle?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After subtracting 2w, the left side is still 2l. Divide the remaining expression by 2.</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8A Q15,18–19 and Exercise Book 8B Q1 as a group. Explain the inverse step.</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8A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8A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l = A ÷ w</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Solve selected Exercise Book 8A Q12–14,16–17,20–22 and Exercise Book 8B Q4,15. Check every result in the original equation; use tools after the written rearrangement.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Shape Canvas rectangle with known area or perimeter and one unknown dimension.</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Rearrange the original formula and solve the missing dimension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Numeracy Hub Calculator to substitute back into the original formula and check equality.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8A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8B Q4 and Q15; show the substitution check, not just the answer.</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8B Q15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pic>
        <p:nvPicPr>
          <p:cNvPr id="5" name="Picture 4" descr="8B-Q15.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W05-L04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8.3–8.5 pp.126–130; sections 8.7 p.134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8A Q9–22 (pp.51–52), selected; 8B Q1,4 (p.53), Q15 (p.54)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15  •  2026-11-25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15 | 2026-11-25</dc:title>
  <dc:creator>ACCESS Trades</dc:creator>
  <cp:lastModifiedBy>Gabriel Ostrowidzki</cp:lastModifiedBy>
  <cp:revision>3</cp:revision>
  <dcterms:created xsi:type="dcterms:W3CDTF">2026-10-19T18:44:52Z</dcterms:created>
  <dcterms:modified xsi:type="dcterms:W3CDTF">2026-10-19T19:22:04Z</dcterms:modified>
  <dc:subject>Reading and substituting into formulas; Rearranging formulas and checking backwards</dc:subject>
</cp:coreProperties>
</file>