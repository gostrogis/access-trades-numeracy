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8.xml" ContentType="application/vnd.openxmlformats-officedocument.presentationml.notesSlide+xml"/>
  <Override PartName="/ppt/notesSlides/notesSlide7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6" r:id="rId6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9" r:id="rId7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9" Type="http://schemas.openxmlformats.org/officeDocument/2006/relationships/slide" Target="slides/slide8.xml"/><Relationship Id="rId7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Worked teaching example retained from original slide 68.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Worked teaching example retained from original slide 71.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Schedule'!C37 | 'Math Week 4'!A58</a:t>
            </a:r>
          </a:p>
          <a:p>
            <a:r>
              <a:t>'Carpentry Schedule'!C39 | 'Math Week 4'!A75</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Recall, 12:50 PM–12:55 PM. All slides with this phase share these 5 minutes; do not restart the time allocation for each slide.</a:t>
            </a:r>
          </a:p>
          <a:p/>
          <a:p>
            <a:r>
              <a:t>ACCESS EXERCISE BOOK: 5A-Q4</a:t>
            </a:r>
          </a:p>
          <a:p>
            <a:r>
              <a:t>Exact question: Put in order from smallest: 0.4, 0.375, 0.41.</a:t>
            </a:r>
          </a:p>
          <a:p>
            <a:r>
              <a:t>Instructor answer: 0.375, 0.4, 0.41</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5.1–5.5 pp.76–81</a:t>
            </a:r>
          </a:p>
          <a:p>
            <a:r>
              <a:t>'Math Week 4'!B62</a:t>
            </a:r>
          </a:p>
          <a:p>
            <a:r>
              <a:t>'Math Week 4'!A66:F66</a:t>
            </a:r>
          </a:p>
          <a:p>
            <a:r>
              <a:t>ACCESS CARPENTRY SLIDES.pptx slides 67, 68, 69</a:t>
            </a:r>
          </a:p>
          <a:p>
            <a:r>
              <a:t>ACCESS Trades Numeracy Textbook p.79 — Examples 5.5–5.6 — Decimal cut list and hidden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5.1–5.5 pp.76–81</a:t>
            </a:r>
          </a:p>
          <a:p>
            <a:r>
              <a:t>'Math Week 4'!B62</a:t>
            </a:r>
          </a:p>
          <a:p>
            <a:r>
              <a:t>'Math Week 4'!A66:F66</a:t>
            </a:r>
          </a:p>
          <a:p>
            <a:r>
              <a:t>ACCESS CARPENTRY SLIDES.pptx slides 67, 68, 69</a:t>
            </a:r>
          </a:p>
          <a:p>
            <a:r>
              <a:t>ACCESS Trades Numeracy Textbook p.79 — Examples 5.5–5.6 — Decimal cut list and hidden length</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p.79 • Example 5.5 — Aligning decimal cut-list lengths</a:t>
            </a:r>
          </a:p>
          <a:p>
            <a:r>
              <a:t>Exact PDF/printed page: 79. Excerpt reproduced from the supplied ACCESS Textbook.</a:t>
            </a:r>
          </a:p>
          <a:p>
            <a:r>
              <a:t>Identify the overall length and the two known steps; explain the aligned decimal points.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p.79 • Example 5.6 — Hidden length on a stepped pin</a:t>
            </a:r>
          </a:p>
          <a:p>
            <a:r>
              <a:t>Exact PDF/printed page: 79. Excerpt reproduced from the supplied ACCESS Textbook.</a:t>
            </a:r>
          </a:p>
          <a:p>
            <a:r>
              <a:t>Identify the overall length and the two known steps; explain the aligned decimal points.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5A-Q8</a:t>
            </a:r>
          </a:p>
          <a:p>
            <a:r>
              <a:t>Exact question: Add. 63.5 + 9.53 + 0.8</a:t>
            </a:r>
          </a:p>
          <a:p>
            <a:r>
              <a:t>Instructor answer: 73.83</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5A-Q8</a:t>
            </a:r>
          </a:p>
          <a:p>
            <a:r>
              <a:t>Exact question: Add. 63.5 + 9.53 + 0.8</a:t>
            </a:r>
          </a:p>
          <a:p>
            <a:r>
              <a:t>Instructor answer: 73.83</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Numeracy Hub: Measuring Tools: metric rule readings. Shape Canvas: rectangle in mm; enter decimal dimensions and read the labels.</a:t>
            </a:r>
          </a:p>
          <a:p>
            <a:r>
              <a:t>Open Numeracy Hub Measuring Tools and read a metric rule before revealing its answer.</a:t>
            </a:r>
          </a:p>
          <a:p>
            <a:r>
              <a:t>Enter one assigned decimal rectangle dimension in Shape Canvas using mm.</a:t>
            </a:r>
          </a:p>
          <a:p>
            <a:r>
              <a:t>Read each digit and unit aloud; compare the label with your paper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5A-Q1</a:t>
            </a:r>
          </a:p>
          <a:p>
            <a:r>
              <a:t>Exact question: What is the 4 worth in 30.249? Write 0.075 in words.</a:t>
            </a:r>
          </a:p>
          <a:p>
            <a:r>
              <a:t>Instructor answer: 4 hundredths (0.04). Seventy-five thousandths.</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5A-Q3</a:t>
            </a:r>
          </a:p>
          <a:p>
            <a:r>
              <a:t>Exact question: Read marks A, B, C and D to the nearest 0.5 mm.</a:t>
            </a:r>
          </a:p>
          <a:p>
            <a:r>
              <a:t>Instructor answer: A = 8.5 mm, B = 26 mm, C = 44.5 mm, D = 57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5A-Q8</a:t>
            </a:r>
          </a:p>
          <a:p>
            <a:r>
              <a:t>Exact question: Add. 63.5 + 9.53 + 0.8</a:t>
            </a:r>
          </a:p>
          <a:p>
            <a:r>
              <a:t>Instructor answer: 73.83</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5A-Q10a</a:t>
            </a:r>
          </a:p>
          <a:p>
            <a:r>
              <a:t>Exact question: Multiply. (a)  0.6 × 0.4</a:t>
            </a:r>
          </a:p>
          <a:p>
            <a:r>
              <a:t>Instructor answer: (a)  0.24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W04-L03 | 2026-11-17 | 12:45 PM–2:00 PM | 75 minutes</a:t>
            </a:r>
          </a:p>
          <a:p>
            <a:r>
              <a:t>Decimals: place value and operations</a:t>
            </a:r>
          </a:p>
          <a:p>
            <a:r>
              <a:t>Mode: Math</a:t>
            </a:r>
          </a:p>
          <a:p>
            <a:r>
              <a:t>Goal: Read metric decimal sizes and perform decimal operations with an estimated check.</a:t>
            </a:r>
          </a:p>
          <a:p>
            <a:r>
              <a:t>Read: Textbook sections 5.1–5.5 pp.76–81</a:t>
            </a:r>
          </a:p>
          <a:p>
            <a:r>
              <a:t>Practise: Exercise Book 5A Q1–11 (pp.32–33); 5B Q1,3 (p.34)</a:t>
            </a:r>
          </a:p>
          <a:p>
            <a:r>
              <a:t>Tool: Numeracy Hub: Measuring Tools: metric rule readings. Shape Canvas: rectangle in mm; enter decimal dimensions and read the labels.</a:t>
            </a:r>
          </a:p>
          <a:p/>
          <a:p>
            <a:r>
              <a:t>EXACT SCHEDULED STEPS</a:t>
            </a:r>
          </a:p>
          <a:p>
            <a:r>
              <a:t>12:45 PM–12:50 PM | 1 Start | 5 min</a:t>
            </a:r>
          </a:p>
          <a:p>
            <a:r>
              <a:t>Instructor: Connect decimal place value and arithmetic to reading a carpentry drawing or preparing a cut list. State the objective.</a:t>
            </a:r>
          </a:p>
          <a:p>
            <a:r>
              <a:t>Learners: Share a prior use of this skill; identify the quantity and unit.</a:t>
            </a:r>
          </a:p>
          <a:p>
            <a:r>
              <a:t>Materials/check: Notebook; calculator</a:t>
            </a:r>
          </a:p>
          <a:p>
            <a:r>
              <a:t>Source: 'Math Week 4'!A64:F64</a:t>
            </a:r>
          </a:p>
          <a:p/>
          <a:p>
            <a:r>
              <a:t>12:50 PM–12:55 PM | 2 Recall | 5 min</a:t>
            </a:r>
          </a:p>
          <a:p>
            <a:r>
              <a:t>Instructor: Use Exercise Book 5A Q4–5 to compare decimals; ask why more digits do not always mean a larger value.</a:t>
            </a:r>
          </a:p>
          <a:p>
            <a:r>
              <a:t>Learners: Attempt the short retrieval task independently; explain the method before seeing answers.</a:t>
            </a:r>
          </a:p>
          <a:p>
            <a:r>
              <a:t>Materials/check: Identify support needs</a:t>
            </a:r>
          </a:p>
          <a:p>
            <a:r>
              <a:t>Source: 'Math Week 4'!A65:F65</a:t>
            </a:r>
          </a:p>
          <a:p/>
          <a:p>
            <a:r>
              <a:t>12:55 PM–1:10 PM | 3 Teach | 15 min</a:t>
            </a:r>
          </a:p>
          <a:p>
            <a:r>
              <a:t>Instructor: Model aligned decimal points, multiplication and division; estimate the order of magnitude before entering keys.</a:t>
            </a:r>
          </a:p>
          <a:p>
            <a:r>
              <a:t>Learners: Annotate a worked example; predict the next step and ask questions.</a:t>
            </a:r>
          </a:p>
          <a:p>
            <a:r>
              <a:t>Materials/check: Textbook; worked example</a:t>
            </a:r>
          </a:p>
          <a:p>
            <a:r>
              <a:t>Source: 'Math Week 4'!A66:F66</a:t>
            </a:r>
          </a:p>
          <a:p/>
          <a:p>
            <a:r>
              <a:t>1:10 PM–1:25 PM | 4 Together | 15 min</a:t>
            </a:r>
          </a:p>
          <a:p>
            <a:r>
              <a:t>Instructor: Work Exercise Book 5A Q8–11 selected parts. Pair-check the position of each decimal point.</a:t>
            </a:r>
          </a:p>
          <a:p>
            <a:r>
              <a:t>Learners: Work in pairs; alternate calculator operator and checker. Show units and an estimated answer.</a:t>
            </a:r>
          </a:p>
          <a:p>
            <a:r>
              <a:t>Materials/check: Exercise Book; tool above</a:t>
            </a:r>
          </a:p>
          <a:p>
            <a:r>
              <a:t>Source: 'Math Week 4'!A67:F67</a:t>
            </a:r>
          </a:p>
          <a:p/>
          <a:p>
            <a:r>
              <a:t>1:25 PM–1:45 PM | 5 Practise | 20 min</a:t>
            </a:r>
          </a:p>
          <a:p>
            <a:r>
              <a:t>Instructor: Complete Exercise Book 5A Q1–7 plus 5B Q1,3. Display one decimal-size rectangle in Shape Canvas and explain what each digit means.</a:t>
            </a:r>
          </a:p>
          <a:p>
            <a:r>
              <a:t>Learners: Solve on paper first; use the tool to check; correct one error with a written reason.</a:t>
            </a:r>
          </a:p>
          <a:p>
            <a:r>
              <a:t>Materials/check: Paper first; tool second</a:t>
            </a:r>
          </a:p>
          <a:p>
            <a:r>
              <a:t>Source: 'Math Week 4'!A68:F68</a:t>
            </a:r>
          </a:p>
          <a:p/>
          <a:p>
            <a:r>
              <a:t>1:45 PM–1:55 PM | 6 Check | 10 min</a:t>
            </a:r>
          </a:p>
          <a:p>
            <a:r>
              <a:t>Instructor: Exercise Book 5A Q8 and Q10(a); include an estimate for each answer.</a:t>
            </a:r>
          </a:p>
          <a:p>
            <a:r>
              <a:t>Learners: Solve without displayed answers; include working, units and the requested rounding.</a:t>
            </a:r>
          </a:p>
          <a:p>
            <a:r>
              <a:t>Materials/check: Teacher answers below</a:t>
            </a:r>
          </a:p>
          <a:p>
            <a:r>
              <a:t>Source: 'Math Week 4'!A69:F69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4'!A70:F70</a:t>
            </a:r>
          </a:p>
          <a:p/>
          <a:p>
            <a:r>
              <a:t>INSTRUCTOR ONLY: REVEAL ASSESSMENT ANSWERS AFTER THE ATTEMPT</a:t>
            </a:r>
          </a:p>
          <a:p>
            <a:r>
              <a:t>5A Q8 = 73.83; Q10(a) = 0.24. 5B Q1 = 142.75 mm; Q3 = 7 shims. Answer Key p.16. Answer Key pp.15–16</a:t>
            </a:r>
          </a:p>
          <a:p/>
          <a:p>
            <a:r>
              <a:t>Use decimal place-value errors to choose tomorrow’s conversion warm-up.</a:t>
            </a:r>
          </a:p>
          <a:p/>
          <a:p>
            <a:r>
              <a:t>Sources: 'Math Week 4'!A12:E12; 'Carpentry Schedule'!C37; 'Math Week 4'!A58</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Use decimal place-value errors to choose tomorrow’s conversion warm-up.</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5.6–5.7 pp.82–87</a:t>
            </a:r>
          </a:p>
          <a:p>
            <a:r>
              <a:t>'Math Week 4'!B79</a:t>
            </a:r>
          </a:p>
          <a:p>
            <a:r>
              <a:t>'Math Week 4'!A83:F83</a:t>
            </a:r>
          </a:p>
          <a:p>
            <a:r>
              <a:t>ACCESS CARPENTRY SLIDES.pptx slides 70, 71, 72</a:t>
            </a:r>
          </a:p>
          <a:p>
            <a:r>
              <a:t>ACCESS Trades Numeracy Textbook p.84 — Example 5.11 — Marking 2.83 in on a tape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5.6–5.7 pp.82–87</a:t>
            </a:r>
          </a:p>
          <a:p>
            <a:r>
              <a:t>'Math Week 4'!B79</a:t>
            </a:r>
          </a:p>
          <a:p>
            <a:r>
              <a:t>'Math Week 4'!A83:F83</a:t>
            </a:r>
          </a:p>
          <a:p>
            <a:r>
              <a:t>ACCESS CARPENTRY SLIDES.pptx slides 70, 71, 72</a:t>
            </a:r>
          </a:p>
          <a:p>
            <a:r>
              <a:t>ACCESS Trades Numeracy Textbook p.84 — Example 5.11 — Marking 2.83 in on a tape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p.84 • Figure 5.4 — Locating a decimal inch on a graduated rule</a:t>
            </a:r>
          </a:p>
          <a:p>
            <a:r>
              <a:t>Exact PDF/printed page: 84. Excerpt reproduced from the supplied ACCESS Textbook.</a:t>
            </a:r>
          </a:p>
          <a:p>
            <a:r>
              <a:t>Compare the nearest sixteenth and nearest thirty-second on the illustrated rule.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p.84 • Example 5.11 — Rounding to sixteenths and thirty-seconds</a:t>
            </a:r>
          </a:p>
          <a:p>
            <a:r>
              <a:t>Exact PDF/printed page: 84. Excerpt reproduced from the supplied ACCESS Textbook.</a:t>
            </a:r>
          </a:p>
          <a:p>
            <a:r>
              <a:t>Compare the nearest sixteenth and nearest thirty-second on the illustrated rule.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5A-Q12</a:t>
            </a:r>
          </a:p>
          <a:p>
            <a:r>
              <a:t>Exact question: Change  7/8 and 3 1/4 to decimals.</a:t>
            </a:r>
          </a:p>
          <a:p>
            <a:r>
              <a:t>Instructor answer: 0.875 and 3.25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5A-Q12</a:t>
            </a:r>
          </a:p>
          <a:p>
            <a:r>
              <a:t>Exact question: Change  7/8 and 3 1/4 to decimals.</a:t>
            </a:r>
          </a:p>
          <a:p>
            <a:r>
              <a:t>Instructor answer: 0.875 and 3.25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Numeracy Hub Calculator: fraction/decimal conversion. Shape Canvas: compare the same in dimension entered as a fraction and as a decimal.</a:t>
            </a:r>
          </a:p>
          <a:p>
            <a:r>
              <a:t>Use Numeracy Hub Calculator to convert an assigned fraction to a decimal.</a:t>
            </a:r>
          </a:p>
          <a:p>
            <a:r>
              <a:t>In Shape Canvas, compare the same in dimension entered in fraction and decimal form.</a:t>
            </a:r>
          </a:p>
          <a:p>
            <a:r>
              <a:t>Record the requested tape rounding or final cost on paper and check its units.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5A-Q15</a:t>
            </a:r>
          </a:p>
          <a:p>
            <a:r>
              <a:t>Exact question: Change 0.29 in to the nearest  1/16 in.</a:t>
            </a:r>
          </a:p>
          <a:p>
            <a:r>
              <a:t>Instructor answer: 5/16 in (0.29 × 16 = 4.64, rounds to 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5B-Q4</a:t>
            </a:r>
          </a:p>
          <a:p>
            <a:r>
              <a:t>Exact question: An order has 25 bolts at $0.46 each and 25 nuts at $0.12 each. What is the total?</a:t>
            </a:r>
          </a:p>
          <a:p>
            <a:r>
              <a:t>Instructor answer: $14.50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5A-Q13</a:t>
            </a:r>
          </a:p>
          <a:p>
            <a:r>
              <a:t>Exact question: Change 0.875 and 0.08 to fractions in lowest terms.</a:t>
            </a:r>
          </a:p>
          <a:p>
            <a:r>
              <a:t>Instructor answer: 7/8 and  2/25</a:t>
            </a:r>
          </a:p>
          <a:p>
            <a:r>
              <a:t>Working: 875/1,000 ÷ 125 =  7/8.  8/100 ÷ 4 =  2/25</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5B-Q7</a:t>
            </a:r>
          </a:p>
          <a:p>
            <a:r>
              <a:t>Exact question: A drawing gives a length of 3.38 in. What do you mark on the tape, to the nearest  1/16 in?</a:t>
            </a:r>
          </a:p>
          <a:p>
            <a:r>
              <a:t>Instructor answer: 3 3/8 in</a:t>
            </a:r>
          </a:p>
          <a:p>
            <a:r>
              <a:t>Working: 0.38 × 16 = 6.08, rounds to 6.  6/16 =  3/8</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W04-L04 | 2026-11-17 | 2:15 PM–3:30 PM | 75 minutes</a:t>
            </a:r>
          </a:p>
          <a:p>
            <a:r>
              <a:t>Decimals, tape rounding and costs</a:t>
            </a:r>
          </a:p>
          <a:p>
            <a:r>
              <a:t>Mode: Math</a:t>
            </a:r>
          </a:p>
          <a:p>
            <a:r>
              <a:t>Goal: Convert fractions and decimals, round an inch size to the requested graduation, and calculate a simple cost.</a:t>
            </a:r>
          </a:p>
          <a:p>
            <a:r>
              <a:t>Read: Textbook sections 5.6–5.7 pp.82–87</a:t>
            </a:r>
          </a:p>
          <a:p>
            <a:r>
              <a:t>Practise: Exercise Book 5A Q12–15 (p.33); 5B Q2,4,7 (p.34)</a:t>
            </a:r>
          </a:p>
          <a:p>
            <a:r>
              <a:t>Tool: Numeracy Hub Calculator: fraction/decimal conversion. Shape Canvas: compare the same in dimension entered as a fraction and as a decimal.</a:t>
            </a:r>
          </a:p>
          <a:p/>
          <a:p>
            <a:r>
              <a:t>EXACT SCHEDULED STEPS</a:t>
            </a:r>
          </a:p>
          <a:p>
            <a:r>
              <a:t>2:15 PM–2:20 PM | 1 Start | 5 min</a:t>
            </a:r>
          </a:p>
          <a:p>
            <a:r>
              <a:t>Instructor: Connect fractions and decimals, tape rounding and costs to reading a carpentry drawing or preparing a cut list. State the objective.</a:t>
            </a:r>
          </a:p>
          <a:p>
            <a:r>
              <a:t>Learners: Share a prior use of this skill; identify the quantity and unit.</a:t>
            </a:r>
          </a:p>
          <a:p>
            <a:r>
              <a:t>Materials/check: Notebook; calculator</a:t>
            </a:r>
          </a:p>
          <a:p>
            <a:r>
              <a:t>Source: 'Math Week 4'!A81:F81</a:t>
            </a:r>
          </a:p>
          <a:p/>
          <a:p>
            <a:r>
              <a:t>2:20 PM–2:25 PM | 2 Recall | 5 min</a:t>
            </a:r>
          </a:p>
          <a:p>
            <a:r>
              <a:t>Instructor: Ask for the decimal equivalents of 1/2 and 1/4. Check that a money answer and a tape answer use different rounding.</a:t>
            </a:r>
          </a:p>
          <a:p>
            <a:r>
              <a:t>Learners: Attempt the short retrieval task independently; explain the method before seeing answers.</a:t>
            </a:r>
          </a:p>
          <a:p>
            <a:r>
              <a:t>Materials/check: Identify support needs</a:t>
            </a:r>
          </a:p>
          <a:p>
            <a:r>
              <a:t>Source: 'Math Week 4'!A82:F82</a:t>
            </a:r>
          </a:p>
          <a:p/>
          <a:p>
            <a:r>
              <a:t>2:25 PM–2:40 PM | 3 Teach | 15 min</a:t>
            </a:r>
          </a:p>
          <a:p>
            <a:r>
              <a:t>Instructor: Model numerator ÷ denominator, rounding decimal inches to sixteenths and cost = quantity × unit price. Preserve full precision until the final step.</a:t>
            </a:r>
          </a:p>
          <a:p>
            <a:r>
              <a:t>Learners: Annotate a worked example; predict the next step and ask questions.</a:t>
            </a:r>
          </a:p>
          <a:p>
            <a:r>
              <a:t>Materials/check: Textbook; worked example</a:t>
            </a:r>
          </a:p>
          <a:p>
            <a:r>
              <a:t>Source: 'Math Week 4'!A83:F83</a:t>
            </a:r>
          </a:p>
          <a:p/>
          <a:p>
            <a:r>
              <a:t>2:40 PM–2:55 PM | 4 Together | 15 min</a:t>
            </a:r>
          </a:p>
          <a:p>
            <a:r>
              <a:t>Instructor: Work Exercise Book 5A Q12–14 and 5B Q2 in pairs. Show why each rounded answer meets the requested unit.</a:t>
            </a:r>
          </a:p>
          <a:p>
            <a:r>
              <a:t>Learners: Work in pairs; alternate calculator operator and checker. Show units and an estimated answer.</a:t>
            </a:r>
          </a:p>
          <a:p>
            <a:r>
              <a:t>Materials/check: Exercise Book; tool above</a:t>
            </a:r>
          </a:p>
          <a:p>
            <a:r>
              <a:t>Source: 'Math Week 4'!A84:F84</a:t>
            </a:r>
          </a:p>
          <a:p/>
          <a:p>
            <a:r>
              <a:t>2:55 PM–3:15 PM | 5 Practise | 20 min</a:t>
            </a:r>
          </a:p>
          <a:p>
            <a:r>
              <a:t>Instructor: Complete Exercise Book 5A Q15, 5B Q4,7. Compare fraction and decimal entries in Shape Canvas; write a cost calculation with a reasonableness check.</a:t>
            </a:r>
          </a:p>
          <a:p>
            <a:r>
              <a:t>Learners: Solve on paper first; use the tool to check; correct one error with a written reason.</a:t>
            </a:r>
          </a:p>
          <a:p>
            <a:r>
              <a:t>Materials/check: Paper first; tool second</a:t>
            </a:r>
          </a:p>
          <a:p>
            <a:r>
              <a:t>Source: 'Math Week 4'!A85:F85</a:t>
            </a:r>
          </a:p>
          <a:p/>
          <a:p>
            <a:r>
              <a:t>3:15 PM–3:25 PM | 6 Check | 10 min</a:t>
            </a:r>
          </a:p>
          <a:p>
            <a:r>
              <a:t>Instructor: Exercise Book 5A Q13 and 5B Q7; give simplest fractions and the tape reading.</a:t>
            </a:r>
          </a:p>
          <a:p>
            <a:r>
              <a:t>Learners: Solve without displayed answers; include working, units and the requested rounding.</a:t>
            </a:r>
          </a:p>
          <a:p>
            <a:r>
              <a:t>Materials/check: Teacher answers below</a:t>
            </a:r>
          </a:p>
          <a:p>
            <a:r>
              <a:t>Source: 'Math Week 4'!A86:F86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4'!A87:F87</a:t>
            </a:r>
          </a:p>
          <a:p/>
          <a:p>
            <a:r>
              <a:t>INSTRUCTOR ONLY: REVEAL ASSESSMENT ANSWERS AFTER THE ATTEMPT</a:t>
            </a:r>
          </a:p>
          <a:p>
            <a:r>
              <a:t>5A Q13 = 7/8 and 2/25. 5B Q7 = 3 3/8 in. Answer Key p.16. Answer Key pp.15–17</a:t>
            </a:r>
          </a:p>
          <a:p/>
          <a:p>
            <a:r>
              <a:t>Move from decimals to percentages, using the same estimate-before-calculating routine.</a:t>
            </a:r>
          </a:p>
          <a:p/>
          <a:p>
            <a:r>
              <a:t>Sources: 'Math Week 4'!A13:E13; 'Carpentry Schedule'!C39; 'Math Week 4'!A75</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Move from decimals to percentages, using the same estimate-before-calculating routine.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Resources/ACCESS-Tools/books/ACCESS-Trades-Numeracy-Textbook.pdf#page=79"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Resources/ACCESS-Tools/books/ACCESS-Trades-Numeracy-Textbook.pdf#page=79"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Resources/ACCESS-Tools/books/ACCESS-Trades-Numeracy-Textbook.pdf#page=7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Resources/ACCESS-Tools/books/ACCESS-Trades-Numeracy-Textbook.pdf#page=76" TargetMode="External"/><Relationship Id="rId5" Type="http://schemas.openxmlformats.org/officeDocument/2006/relationships/hyperlink" Target="../Resources/ACCESS-Tools/books/ACCESS-Trades-Numeracy-Exercise-Book.pdf#page=3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Resources/ACCESS-Tools/books/ACCESS-Trades-Numeracy-Textbook.pdf#page=84" TargetMode="External"/><Relationship Id="rId6" Type="http://schemas.openxmlformats.org/officeDocument/2006/relationships/hyperlink" Target="../Resources/ACCESS-Tools/books/ACCESS-Trades-Numeracy-Exercise-Book.pdf#page=3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Resources/ACCESS-Tools/books/ACCESS-Trades-Numeracy-Textbook.pdf#page=84" TargetMode="External"/><Relationship Id="rId6" Type="http://schemas.openxmlformats.org/officeDocument/2006/relationships/hyperlink" Target="../Resources/ACCESS-Tools/books/ACCESS-Trades-Numeracy-Exercise-Book.pdf#page=3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Resources/ACCESS-Tools/books/ACCESS-Trades-Numeracy-Textbook.pdf#page=82"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Resources/ACCESS-Tools/books/ACCESS-Trades-Numeracy-Textbook.pdf#page=82"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82" TargetMode="External"/><Relationship Id="rId6" Type="http://schemas.openxmlformats.org/officeDocument/2006/relationships/hyperlink" Target="../Resources/ACCESS-Tools/books/ACCESS-Trades-Numeracy-Exercise-Book.pdf#page=3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Resources/ACCESS-Tools/books/ACCESS-Trades-Numeracy-Textbook.pdf#page=82"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Resources/ACCESS-Tools/books/ACCESS-Trades-Numeracy-Textbook.pdf#page=82" TargetMode="External"/><Relationship Id="rId6" Type="http://schemas.openxmlformats.org/officeDocument/2006/relationships/hyperlink" Target="../Resources/ACCESS-Tools/books/ACCESS-Trades-Numeracy-Exercise-Book.pdf#page=34"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Resources/ACCESS-Tools/books/ACCESS-Trades-Numeracy-Textbook.pdf#page=82"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Resources/ACCESS-Tools/books/ACCESS-Trades-Numeracy-Textbook.pdf#page=82" TargetMode="External"/><Relationship Id="rId6" Type="http://schemas.openxmlformats.org/officeDocument/2006/relationships/hyperlink" Target="../Resources/ACCESS-Tools/books/ACCESS-Trades-Numeracy-Exercise-Book.pdf#page=34"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Resources/ACCESS-Tools/books/ACCESS-Trades-Numeracy-Textbook.pdf#page=82" TargetMode="External"/><Relationship Id="rId5" Type="http://schemas.openxmlformats.org/officeDocument/2006/relationships/hyperlink" Target="../Resources/ACCESS-Tools/books/ACCESS-Trades-Numeracy-Exercise-Book.pdf#page=3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11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17,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Decimals: place value and operations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Decimals, tape rounding and costs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11  •  2026-11-17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11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Decimals: place value and operations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Decimals, tape rounding and costs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Decimals: place value and operations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Read metric decimal sizes and perform decimal operations with an estimated check.</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5.1–5.5 pp.76–81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5A Q1–11 (pp.32–33); 5B Q1,3 (p.34)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Exercise Book 5A Q4–5 to compare decimals; ask why more digits do not always mean a larger value.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5A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5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Read the value of each digit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Decimal places name tenths, hundredths and thousandths of the unit.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trailing zero changes the display, not the value: 0.5 = 0.50.</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from the largest place value to the smallest.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unit beside each measurement so the decimal has meaning.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Calculate and locate the decimal point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addition and subtraction, line up decimal points and like places.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multiplication, estimate the product before placing the decimal.</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division, check the answer by multiplying back.</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the final magnitude with your estimate; a tenfold error is a warning.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Predict the size before entering keys</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12.50 + 3.75 = 16.25 mm</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2.4 × 3 = 7.2 m</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1.75 ÷ 0.25 = 7</a:t>
            </a:r>
            <a:endParaRPr lang="en-US" sz="2400" dirty="0"/>
          </a:p>
        </p:txBody>
      </p:sp>
      <p:sp>
        <p:nvSpPr>
          <p:cNvPr id="6" name="Text 4"/>
          <p:cNvSpPr/>
          <p:nvPr/>
        </p:nvSpPr>
        <p:spPr>
          <a:xfrm>
            <a:off x="609585" y="333375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For 2.4 × 3, an answer near 7 is sensible—not 0.72 or 72.</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For division, seven quarter-units make 1.75 units.</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selected 5A Q8–11 parts. Pair-check each decimal point.</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Shape Canvas: enter a decimal-size rectangle in mm and explain what each digit means.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L3 • Numeracy Hub Measuring Tools: metric readings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08</a:t>
            </a:r>
          </a:p>
        </p:txBody>
      </p:sp>
    </p:spTree>
    <p:extLst>
      <p:ext uri="{BB962C8B-B14F-4D97-AF65-F5344CB8AC3E}">
        <p14:creationId xmlns:p14="http://schemas.microsoft.com/office/powerpoint/2010/main" val="172300538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79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W04-L03.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p.79 • Example 5.5 — Aligning decimal cut-list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79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W04-L03-2.png"/>
          <p:cNvPicPr>
            <a:picLocks noChangeAspect="1"/>
          </p:cNvPicPr>
          <p:nvPr/>
        </p:nvPicPr>
        <p:blipFill>
          <a:blip r:embed="rId3"/>
          <a:stretch>
            <a:fillRect/>
          </a:stretch>
        </p:blipFill>
        <p:spPr>
          <a:xfrm>
            <a:off x="685800" y="1946716"/>
            <a:ext cx="10698480" cy="355892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p.79 • Example 5.6 — Hidden length on a stepped pin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Is 0.125 larger than 0.5 because it has more digits?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Compare equal places: 0.125 is less than 0.500. The first different digit decides.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5A Q8–11 selected parts. Pair-check the position of each decimal point.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5A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5A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5A-Q8.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73.83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5A Q1–7 plus 5B Q1,3. Display one decimal-size rectangle in Shape Canvas and explain what each digit means.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Open Numeracy Hub Measuring Tools and read a metric rule before revealing its answer.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Enter one assigned decimal rectangle dimension in Shape Canvas using mm.</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Read each digit and unit aloud; compare the label with your paper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5A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5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5A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5A Q8 and Q10(a); include an estimate for each answer.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5A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5A Q10a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pic>
        <p:nvPicPr>
          <p:cNvPr id="5" name="Picture 4" descr="5A-Q10a.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11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Decimals, tape rounding and costs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11  •  2026-11-17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Decimals, tape rounding and costs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Convert fractions and decimals, round an inch size to the requested graduation, and calculate a simple cost.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5.6–5.7 pp.82–87</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5A Q12–15 (p.33); 5B Q2,4,7 (p.34)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the decimal equivalents of 1/2 and 1/4. Check that a money answer and a tape answer use different rounding.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Move between fractions and decimals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fraction is a division: numerator ÷ denominator.</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calculator precision until the question asks for a rounded result.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To find the nearest sixteenth, multiply the fractional inch by 16 and round.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rounded count over 16, then reduce; carry a whole inch if needed.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Match the answer to its use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tape result must match the requested graduation.</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Cost = quantity × price per unit; check that the units match.</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Round a final money amount to cents when the question requires it.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an estimate to check whether the total cost is reasonable.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Round only to the requested output</a:t>
            </a:r>
            <a:endParaRPr lang="en-US" sz="3000" dirty="0"/>
          </a:p>
        </p:txBody>
      </p:sp>
      <p:sp>
        <p:nvSpPr>
          <p:cNvPr id="5" name="Text 3"/>
          <p:cNvSpPr/>
          <p:nvPr/>
        </p:nvSpPr>
        <p:spPr>
          <a:xfrm>
            <a:off x="609585" y="1666875"/>
            <a:ext cx="10972526" cy="1119783"/>
          </a:xfrm>
          <a:prstGeom prst="rect">
            <a:avLst/>
          </a:prstGeom>
          <a:noFill/>
          <a:ln/>
        </p:spPr>
        <p:txBody>
          <a:bodyPr wrap="square" lIns="0" tIns="0" rIns="0" bIns="0" rtlCol="0" anchor="t"/>
          <a:lstStyle/>
          <a:p>
            <a:pPr marL="0" indent="0" algn="l">
              <a:buNone/>
            </a:pPr>
            <a:r>
              <a:rPr lang="en-US" sz="2100" dirty="0">
                <a:solidFill>
                  <a:srgbClr val="000000"/>
                </a:solidFill>
                <a:latin typeface="Arial" pitchFamily="34" charset="0"/>
                <a:ea typeface="Arial" pitchFamily="34" charset="-122"/>
                <a:cs typeface="Arial" pitchFamily="34" charset="-120"/>
              </a:rPr>
              <a:t>3/8 = 3 ÷ 8 = 0.375</a:t>
            </a:r>
            <a:endParaRPr lang="en-US" sz="2100" dirty="0"/>
          </a:p>
          <a:p>
            <a:pPr marL="0" indent="0" algn="l">
              <a:buNone/>
            </a:pPr>
            <a:r>
              <a:rPr lang="en-US" sz="2100" dirty="0">
                <a:solidFill>
                  <a:srgbClr val="000000"/>
                </a:solidFill>
                <a:latin typeface="Arial" pitchFamily="34" charset="0"/>
                <a:ea typeface="Arial" pitchFamily="34" charset="-122"/>
                <a:cs typeface="Arial" pitchFamily="34" charset="-120"/>
              </a:rPr>
              <a:t>2.71 in to nearest 1/16: 0.71 × 16 = 11.36</a:t>
            </a:r>
            <a:endParaRPr lang="en-US" sz="2100" dirty="0"/>
          </a:p>
          <a:p>
            <a:pPr marL="0" indent="0" algn="l">
              <a:buNone/>
            </a:pPr>
            <a:r>
              <a:rPr lang="en-US" sz="2100" dirty="0">
                <a:solidFill>
                  <a:srgbClr val="000000"/>
                </a:solidFill>
                <a:latin typeface="Arial" pitchFamily="34" charset="0"/>
                <a:ea typeface="Arial" pitchFamily="34" charset="-122"/>
                <a:cs typeface="Arial" pitchFamily="34" charset="-120"/>
              </a:rPr>
              <a:t>Nearest whole count = 11 → 2 11/16 in</a:t>
            </a:r>
            <a:endParaRPr lang="en-US" sz="2100" dirty="0"/>
          </a:p>
        </p:txBody>
      </p:sp>
      <p:sp>
        <p:nvSpPr>
          <p:cNvPr id="6" name="Text 4"/>
          <p:cNvSpPr/>
          <p:nvPr/>
        </p:nvSpPr>
        <p:spPr>
          <a:xfrm>
            <a:off x="609585" y="342900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Classroom cost: 4 pieces × 1.25 m × $8.40/m = $42.00.</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Units show why metres cancel to leave dollars.</a:t>
            </a:r>
            <a:endParaRPr lang="en-US" sz="1800" dirty="0"/>
          </a:p>
        </p:txBody>
      </p:sp>
      <p:sp>
        <p:nvSpPr>
          <p:cNvPr id="7" name="Text 5"/>
          <p:cNvSpPr/>
          <p:nvPr/>
        </p:nvSpPr>
        <p:spPr>
          <a:xfrm>
            <a:off x="609585" y="466725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5A Q12–14 and 5B Q2. Explain each final rounding rule.</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Compare the same fraction and decimal dimension in Shape Canvas.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L4 • New classroom values • Calculator conversion is a check, not the explanation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29</a:t>
            </a:r>
          </a:p>
        </p:txBody>
      </p:sp>
    </p:spTree>
    <p:extLst>
      <p:ext uri="{BB962C8B-B14F-4D97-AF65-F5344CB8AC3E}">
        <p14:creationId xmlns:p14="http://schemas.microsoft.com/office/powerpoint/2010/main" val="244090929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84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W04-L04.png"/>
          <p:cNvPicPr>
            <a:picLocks noChangeAspect="1"/>
          </p:cNvPicPr>
          <p:nvPr/>
        </p:nvPicPr>
        <p:blipFill>
          <a:blip r:embed="rId3"/>
          <a:stretch>
            <a:fillRect/>
          </a:stretch>
        </p:blipFill>
        <p:spPr>
          <a:xfrm>
            <a:off x="685800" y="2315735"/>
            <a:ext cx="10698480" cy="282088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p.84 • Figure 5.4 — Locating a decimal inch on a graduated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84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W04-L04-2.png"/>
          <p:cNvPicPr>
            <a:picLocks noChangeAspect="1"/>
          </p:cNvPicPr>
          <p:nvPr/>
        </p:nvPicPr>
        <p:blipFill>
          <a:blip r:embed="rId3"/>
          <a:stretch>
            <a:fillRect/>
          </a:stretch>
        </p:blipFill>
        <p:spPr>
          <a:xfrm>
            <a:off x="685800" y="2259452"/>
            <a:ext cx="10698480" cy="29334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p.84 • Example 5.11 — Rounding to sixteenths and thirty-seconds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Can you round every intermediate decimal to two places because money uses cents?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Keep precision through the calculation; round only the final result to its requested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5A Q12–14 and 5B Q2 in pairs. Show why each rounded answer meets the requested unit.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5A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5A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5A-Q12.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0.875 and 3.25</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5A Q15, 5B Q4,7. Compare fraction and decimal entries in Shape Canvas; write a cost calculation with a reasonableness check.</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Numeracy Hub Calculator to convert an assigned fraction to a decimal.</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Shape Canvas, compare the same in dimension entered in fraction and decimal form.</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Record the requested tape rounding or final cost on paper and check its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5A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5A-Q1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5B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5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5A Q13 and 5B Q7; give simplest fractions and the tape reading.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5A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5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5B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pic>
        <p:nvPicPr>
          <p:cNvPr id="5" name="Picture 4" descr="5B-Q7.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11  •  2026-11-17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11 | 2026-11-17</dc:title>
  <dc:creator>ACCESS Trades</dc:creator>
  <cp:lastModifiedBy>Gabriel Ostrowidzki</cp:lastModifiedBy>
  <cp:revision>3</cp:revision>
  <dcterms:created xsi:type="dcterms:W3CDTF">2026-10-19T18:44:52Z</dcterms:created>
  <dcterms:modified xsi:type="dcterms:W3CDTF">2026-10-19T19:22:04Z</dcterms:modified>
  <dc:subject>Decimals: place value and operations; Decimals, tape rounding and costs</dc:subject>
</cp:coreProperties>
</file>