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7.xml" ContentType="application/vnd.openxmlformats-officedocument.presentationml.notesSlide+xml"/>
  <Override PartName="/ppt/notesSlides/notesSlide12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85" r:id="rId118"/>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88" r:id="rId121"/>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8" Type="http://schemas.openxmlformats.org/officeDocument/2006/relationships/slide" Target="slides/slide7.xml"/><Relationship Id="rId121"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Worked teaching example retained from original slide 117.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Worked teaching example retained from original slide 120.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Schedule'!C60 | 'Math Week 6'!A59</a:t>
            </a:r>
          </a:p>
          <a:p>
            <a:r>
              <a:t>'Carpentry Schedule'!C62 | 'Math Week 6'!A76</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11.1–11.3 pp.172–176; sections 7.4 pp.113–115</a:t>
            </a:r>
          </a:p>
          <a:p>
            <a:r>
              <a:t>'Math Week 6'!B63</a:t>
            </a:r>
          </a:p>
          <a:p>
            <a:r>
              <a:t>'Math Week 6'!A67:F67</a:t>
            </a:r>
          </a:p>
          <a:p>
            <a:r>
              <a:t>ACCESS CARPENTRY SLIDES.pptx slides 116, 117, 118</a:t>
            </a:r>
          </a:p>
          <a:p>
            <a:r>
              <a:t>ACCESS Trades Numeracy Textbook p.173 — Example 11.1 — A rectangular tank</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11.1–11.3 pp.172–176; sections 7.4 pp.113–115</a:t>
            </a:r>
          </a:p>
          <a:p>
            <a:r>
              <a:t>'Math Week 6'!B63</a:t>
            </a:r>
          </a:p>
          <a:p>
            <a:r>
              <a:t>'Math Week 6'!A67:F67</a:t>
            </a:r>
          </a:p>
          <a:p>
            <a:r>
              <a:t>ACCESS CARPENTRY SLIDES.pptx slides 116, 117, 118</a:t>
            </a:r>
          </a:p>
          <a:p>
            <a:r>
              <a:t>ACCESS Trades Numeracy Textbook p.173 — Example 11.1 — A rectangular tank</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p.173 • Volume of a prism — End area times length</a:t>
            </a:r>
          </a:p>
          <a:p>
            <a:r>
              <a:t>Exact PDF/printed page: 173. Excerpt reproduced from the supplied ACCESS Textbook.</a:t>
            </a:r>
          </a:p>
          <a:p>
            <a:r>
              <a:t>Identify all three inside dimensions and the cubic unit produced by multiplying them.</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p.173 • Example 11.1 — Three dimensions of a rectangular tank</a:t>
            </a:r>
          </a:p>
          <a:p>
            <a:r>
              <a:t>Exact PDF/printed page: 173. Excerpt reproduced from the supplied ACCESS Textbook.</a:t>
            </a:r>
          </a:p>
          <a:p>
            <a:r>
              <a:t>Identify all three inside dimensions and the cubic unit produced by multiplying them.</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11A-Q2</a:t>
            </a:r>
          </a:p>
          <a:p>
            <a:r>
              <a:t>Exact question: Write 3 cm³ in mm³.</a:t>
            </a:r>
          </a:p>
          <a:p>
            <a:r>
              <a:t>Instructor answer: 3,000 mm³</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11A-Q2</a:t>
            </a:r>
          </a:p>
          <a:p>
            <a:r>
              <a:t>Exact question: Write 3 cm³ in mm³.</a:t>
            </a:r>
          </a:p>
          <a:p>
            <a:r>
              <a:t>Instructor answer: 3,000 mm³</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Shape Canvas: rectangular prism; show its three dimensions. Numeracy Hub: Volume and Layout, then Module 1 Volume and capacity, box/slab examples.</a:t>
            </a:r>
          </a:p>
          <a:p>
            <a:r>
              <a:t>Create a rectangular prism in Shape Canvas and display all three dimensions.</a:t>
            </a:r>
          </a:p>
          <a:p>
            <a:r>
              <a:t>Predict and calculate the volume change when only one dimension is doubled.</a:t>
            </a:r>
          </a:p>
          <a:p>
            <a:r>
              <a:t>Check a box/slab example in Numeracy Hub Volume and Layout → Volume and capacity.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11A-Q8</a:t>
            </a:r>
          </a:p>
          <a:p>
            <a:r>
              <a:t>Exact question: Cube with 0.6 m edges. Find the volume in m³.</a:t>
            </a:r>
          </a:p>
          <a:p>
            <a:r>
              <a:t>Instructor answer: 0.216 m³</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11A-Q10</a:t>
            </a:r>
          </a:p>
          <a:p>
            <a:r>
              <a:t>Exact question: Write 1,155 in³ in US gallons.</a:t>
            </a:r>
          </a:p>
          <a:p>
            <a:r>
              <a:t>Instructor answer: 5 US gal</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11A-Q7</a:t>
            </a:r>
          </a:p>
          <a:p>
            <a:r>
              <a:t>Exact question: Box 700 mm by 400 mm by 250 mm. Find the volume in m³.</a:t>
            </a:r>
          </a:p>
          <a:p>
            <a:r>
              <a:t>Instructor answer: 0.07 m³</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11B-Q1</a:t>
            </a:r>
          </a:p>
          <a:p>
            <a:r>
              <a:t>Exact question: A hydraulic reservoir is 800 mm by 500 mm by 450 mm inside. How many litres does it hold? How many 20 L pails of oil fill it?</a:t>
            </a:r>
          </a:p>
          <a:p>
            <a:r>
              <a:t>Instructor answer: 180 L, 9 pails</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W06-L03 | 2026-12-01 | 12:45 PM–2:00 PM | 75 minutes</a:t>
            </a:r>
          </a:p>
          <a:p>
            <a:r>
              <a:t>Volume of boxes and prisms</a:t>
            </a:r>
          </a:p>
          <a:p>
            <a:r>
              <a:t>Mode: Math</a:t>
            </a:r>
          </a:p>
          <a:p>
            <a:r>
              <a:t>Goal: Calculate prism volume using consistent units and convert a capacity to litres.</a:t>
            </a:r>
          </a:p>
          <a:p>
            <a:r>
              <a:t>Read: Textbook sections 11.1–11.3 pp.172–176; sections 7.4 pp.113–115</a:t>
            </a:r>
          </a:p>
          <a:p>
            <a:r>
              <a:t>Practise: Exercise Book 11A Q1–10 (p.69); 11B Q1,5 (p.71)</a:t>
            </a:r>
          </a:p>
          <a:p>
            <a:r>
              <a:t>Tool: Shape Canvas: rectangular prism; show its three dimensions. Numeracy Hub: Volume and Layout, then Module 1 Volume and capacity, box/slab examples.</a:t>
            </a:r>
          </a:p>
          <a:p/>
          <a:p>
            <a:r>
              <a:t>EXACT SCHEDULED STEPS</a:t>
            </a:r>
          </a:p>
          <a:p>
            <a:r>
              <a:t>12:45 PM–12:50 PM | 1 Start | 5 min</a:t>
            </a:r>
          </a:p>
          <a:p>
            <a:r>
              <a:t>Instructor: Connect volume of boxes and prisms to a dimensioned carpentry drawing. State the objective.</a:t>
            </a:r>
          </a:p>
          <a:p>
            <a:r>
              <a:t>Learners: Describe a prior use of the skill; identify the given and unknown quantities.</a:t>
            </a:r>
          </a:p>
          <a:p>
            <a:r>
              <a:t>Materials/check: Notebook; calculator</a:t>
            </a:r>
          </a:p>
          <a:p>
            <a:r>
              <a:t>Source: 'Math Week 6'!A65:F65</a:t>
            </a:r>
          </a:p>
          <a:p/>
          <a:p>
            <a:r>
              <a:t>12:50 PM–12:55 PM | 2 Recall | 5 min</a:t>
            </a:r>
          </a:p>
          <a:p>
            <a:r>
              <a:t>Instructor: Ask learners to distinguish a length, surface area and volume; identify the third dimension on a box.</a:t>
            </a:r>
          </a:p>
          <a:p>
            <a:r>
              <a:t>Learners: Attempt the retrieval task independently; explain the method before checking.</a:t>
            </a:r>
          </a:p>
          <a:p>
            <a:r>
              <a:t>Materials/check: Identify support needs</a:t>
            </a:r>
          </a:p>
          <a:p>
            <a:r>
              <a:t>Source: 'Math Week 6'!A66:F66</a:t>
            </a:r>
          </a:p>
          <a:p/>
          <a:p>
            <a:r>
              <a:t>12:55 PM–1:10 PM | 3 Teach | 15 min</a:t>
            </a:r>
          </a:p>
          <a:p>
            <a:r>
              <a:t>Instructor: Model V = l × w × h with all lengths in one unit. Explain cubic conversion and 1 m³ = 1,000 L using the book.</a:t>
            </a:r>
          </a:p>
          <a:p>
            <a:r>
              <a:t>Learners: Annotate the example and predict the next step; ask about unclear units or symbols.</a:t>
            </a:r>
          </a:p>
          <a:p>
            <a:r>
              <a:t>Materials/check: Textbook; worked example</a:t>
            </a:r>
          </a:p>
          <a:p>
            <a:r>
              <a:t>Source: 'Math Week 6'!A67:F67</a:t>
            </a:r>
          </a:p>
          <a:p/>
          <a:p>
            <a:r>
              <a:t>1:10 PM–1:25 PM | 4 Together | 15 min</a:t>
            </a:r>
          </a:p>
          <a:p>
            <a:r>
              <a:t>Instructor: Work Exercise Book 11A Q2–7 and Q9. Learners estimate magnitude before calculating.</a:t>
            </a:r>
          </a:p>
          <a:p>
            <a:r>
              <a:t>Learners: Work in pairs, alternating solver and checker. Write a diagram, formula, units and estimate.</a:t>
            </a:r>
          </a:p>
          <a:p>
            <a:r>
              <a:t>Materials/check: Exercise Book; tool above</a:t>
            </a:r>
          </a:p>
          <a:p>
            <a:r>
              <a:t>Source: 'Math Week 6'!A68:F68</a:t>
            </a:r>
          </a:p>
          <a:p/>
          <a:p>
            <a:r>
              <a:t>1:25 PM–1:45 PM | 5 Practise | 20 min</a:t>
            </a:r>
          </a:p>
          <a:p>
            <a:r>
              <a:t>Instructor: Complete Exercise Book 11A Q8,10 and 11B Q1,5. Use a Shape Canvas prism to show how doubling one dimension changes volume.</a:t>
            </a:r>
          </a:p>
          <a:p>
            <a:r>
              <a:t>Learners: Solve on paper first; check with tools; correct one error and explain the change.</a:t>
            </a:r>
          </a:p>
          <a:p>
            <a:r>
              <a:t>Materials/check: Paper first; tool second</a:t>
            </a:r>
          </a:p>
          <a:p>
            <a:r>
              <a:t>Source: 'Math Week 6'!A69:F69</a:t>
            </a:r>
          </a:p>
          <a:p/>
          <a:p>
            <a:r>
              <a:t>1:45 PM–1:55 PM | 6 Check | 10 min</a:t>
            </a:r>
          </a:p>
          <a:p>
            <a:r>
              <a:t>Instructor: Exercise Book 11A Q7 and Exercise Book 11B Q1; label volume/capacity and whole pails.</a:t>
            </a:r>
          </a:p>
          <a:p>
            <a:r>
              <a:t>Learners: Solve without displayed answers; include working, units and final rounding.</a:t>
            </a:r>
          </a:p>
          <a:p>
            <a:r>
              <a:t>Materials/check: Teacher answers below</a:t>
            </a:r>
          </a:p>
          <a:p>
            <a:r>
              <a:t>Source: 'Math Week 6'!A70:F70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6'!A71:F71</a:t>
            </a:r>
          </a:p>
          <a:p/>
          <a:p>
            <a:r>
              <a:t>INSTRUCTOR ONLY: REVEAL ASSESSMENT ANSWERS AFTER THE ATTEMPT</a:t>
            </a:r>
          </a:p>
          <a:p>
            <a:r>
              <a:t>11A Q7 = 0.07 m³. 11B Q1 = 180 L and 9 pails. Answer Key p.30. Answer Key pp.29–30</a:t>
            </a:r>
          </a:p>
          <a:p/>
          <a:p>
            <a:r>
              <a:t>Introduce cylindrical capacity using the same unit discipline; gallons must be identified by type.</a:t>
            </a:r>
          </a:p>
          <a:p/>
          <a:p>
            <a:r>
              <a:t>Sources: 'Math Week 6'!A12:E12; 'Carpentry Schedule'!C60; 'Math Week 6'!A59</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Introduce cylindrical capacity using the same unit discipline; gallons must be identified by type.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11.3–11.4 pp.175–178; sections 8.6 pp.131–133</a:t>
            </a:r>
          </a:p>
          <a:p>
            <a:r>
              <a:t>'Math Week 6'!B80</a:t>
            </a:r>
          </a:p>
          <a:p>
            <a:r>
              <a:t>'Math Week 6'!A84:F84</a:t>
            </a:r>
          </a:p>
          <a:p>
            <a:r>
              <a:t>ACCESS CARPENTRY SLIDES.pptx slides 119, 120, 121</a:t>
            </a:r>
          </a:p>
          <a:p>
            <a:r>
              <a:t>ACCESS Trades Numeracy Textbook p.178 — Example 11.6 — A vertical tank</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11.3–11.4 pp.175–178; sections 8.6 pp.131–133</a:t>
            </a:r>
          </a:p>
          <a:p>
            <a:r>
              <a:t>'Math Week 6'!B80</a:t>
            </a:r>
          </a:p>
          <a:p>
            <a:r>
              <a:t>'Math Week 6'!A84:F84</a:t>
            </a:r>
          </a:p>
          <a:p>
            <a:r>
              <a:t>ACCESS CARPENTRY SLIDES.pptx slides 119, 120, 121</a:t>
            </a:r>
          </a:p>
          <a:p>
            <a:r>
              <a:t>ACCESS Trades Numeracy Textbook p.178 — Example 11.6 — A vertical tank</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p.177 • Cylinder volume — Circular base area times height</a:t>
            </a:r>
          </a:p>
          <a:p>
            <a:r>
              <a:t>Exact PDF/printed page: 177. Excerpt reproduced from the supplied ACCESS Textbook.</a:t>
            </a:r>
          </a:p>
          <a:p>
            <a:r>
              <a:t>Locate the given diameter and convert it to the radius before using the cylinder formula.</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p.178 • Example 11.6 — Cylinder dimensions and capacity</a:t>
            </a:r>
          </a:p>
          <a:p>
            <a:r>
              <a:t>Exact PDF/printed page: 178. Excerpt reproduced from the supplied ACCESS Textbook.</a:t>
            </a:r>
          </a:p>
          <a:p>
            <a:r>
              <a:t>Locate the given diameter and convert it to the radius before using the cylinder formula.</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11A-Q13</a:t>
            </a:r>
          </a:p>
          <a:p>
            <a:r>
              <a:t>Exact question: Cylinder: radius 150 mm, height 600 mm. Capacity in litres, to two decimal places?</a:t>
            </a:r>
          </a:p>
          <a:p>
            <a:r>
              <a:t>Instructor answer: 42.41 L</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11A-Q13</a:t>
            </a:r>
          </a:p>
          <a:p>
            <a:r>
              <a:t>Exact question: Cylinder: radius 150 mm, height 600 mm. Capacity in litres, to two decimal places?</a:t>
            </a:r>
          </a:p>
          <a:p>
            <a:r>
              <a:t>Instructor answer: 42.41 L</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Shape Canvas: cylinder and box; hide a height after setting dimensions. Numeracy Hub: Volume and Layout, then Volume and capacity; Unit Conversions for L/US gal.</a:t>
            </a:r>
          </a:p>
          <a:p>
            <a:r>
              <a:t>Set up a cylinder or box in Shape Canvas, then hide its height.</a:t>
            </a:r>
          </a:p>
          <a:p>
            <a:r>
              <a:t>Calculate the height on paper from the stated volume or capacity and consistent units.</a:t>
            </a:r>
          </a:p>
          <a:p>
            <a:r>
              <a:t>Check in Volume and capacity; use Unit Conversions for the specified L/US gal conversion.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11B-Q2</a:t>
            </a:r>
          </a:p>
          <a:p>
            <a:r>
              <a:t>Exact question: A water heater tank is a cylinder 18 in across and 48 in tall inside. Find its capacity in US gallons, to two decimal places.</a:t>
            </a:r>
          </a:p>
          <a:p>
            <a:r>
              <a:t>Instructor answer: 52.88 US gal</a:t>
            </a:r>
          </a:p>
          <a:p>
            <a:r>
              <a:t>Working: r = 9 in, π × 81 × 48 in³, ÷ 231</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11C-Q2</a:t>
            </a:r>
          </a:p>
          <a:p>
            <a:r>
              <a:t>Exact question: The cylinder holds 282.74 L to two decimal places. Find the hidden height to the nearest mm.</a:t>
            </a:r>
          </a:p>
          <a:p>
            <a:r>
              <a:t>Instructor answer: 1,000 mm</a:t>
            </a:r>
          </a:p>
          <a:p>
            <a:r>
              <a:t>Working: h = V ÷ (π × r²)</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11A-Q13</a:t>
            </a:r>
          </a:p>
          <a:p>
            <a:r>
              <a:t>Exact question: Cylinder: radius 150 mm, height 600 mm. Capacity in litres, to two decimal places?</a:t>
            </a:r>
          </a:p>
          <a:p>
            <a:r>
              <a:t>Instructor answer: 42.41 L</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11C-Q1</a:t>
            </a:r>
          </a:p>
          <a:p>
            <a:r>
              <a:t>Exact question: The tank holds 240 L. Find the hidden length.</a:t>
            </a:r>
          </a:p>
          <a:p>
            <a:r>
              <a:t>Instructor answer: 800 mm</a:t>
            </a:r>
          </a:p>
          <a:p>
            <a:r>
              <a:t>Working: 240,000,000 mm³ ÷ (600 × 500)</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W06-L04 | 2026-12-01 | 2:15 PM–3:30 PM | 75 minutes</a:t>
            </a:r>
          </a:p>
          <a:p>
            <a:r>
              <a:t>Cylinders, capacity and missing heights</a:t>
            </a:r>
          </a:p>
          <a:p>
            <a:r>
              <a:t>Mode: Math</a:t>
            </a:r>
          </a:p>
          <a:p>
            <a:r>
              <a:t>Goal: Find a cylinder’s volume and use a known capacity to solve for a missing height or length.</a:t>
            </a:r>
          </a:p>
          <a:p>
            <a:r>
              <a:t>Read: Textbook sections 11.3–11.4 pp.175–178; sections 8.6 pp.131–133</a:t>
            </a:r>
          </a:p>
          <a:p>
            <a:r>
              <a:t>Practise: Exercise Book 11A Q11–13,19,21–22 (p.70); 11B Q2 (p.71); 11C Q1–2 (p.73)</a:t>
            </a:r>
          </a:p>
          <a:p>
            <a:r>
              <a:t>Tool: Shape Canvas: cylinder and box; hide a height after setting dimensions. Numeracy Hub: Volume and Layout, then Volume and capacity; Unit Conversions for L/US gal.</a:t>
            </a:r>
          </a:p>
          <a:p/>
          <a:p>
            <a:r>
              <a:t>EXACT SCHEDULED STEPS</a:t>
            </a:r>
          </a:p>
          <a:p>
            <a:r>
              <a:t>2:15 PM–2:20 PM | 1 Start | 5 min</a:t>
            </a:r>
          </a:p>
          <a:p>
            <a:r>
              <a:t>Instructor: Connect cylinders, capacity and missing heights to a dimensioned carpentry drawing. State the objective.</a:t>
            </a:r>
          </a:p>
          <a:p>
            <a:r>
              <a:t>Learners: Describe a prior use of the skill; identify the given and unknown quantities.</a:t>
            </a:r>
          </a:p>
          <a:p>
            <a:r>
              <a:t>Materials/check: Notebook; calculator</a:t>
            </a:r>
          </a:p>
          <a:p>
            <a:r>
              <a:t>Source: 'Math Week 6'!A82:F82</a:t>
            </a:r>
          </a:p>
          <a:p/>
          <a:p>
            <a:r>
              <a:t>2:20 PM–2:25 PM | 2 Recall | 5 min</a:t>
            </a:r>
          </a:p>
          <a:p>
            <a:r>
              <a:t>Instructor: Ask why diameter must be halved before using πr²h; distinguish US and imperial gallons.</a:t>
            </a:r>
          </a:p>
          <a:p>
            <a:r>
              <a:t>Learners: Attempt the retrieval task independently; explain the method before checking.</a:t>
            </a:r>
          </a:p>
          <a:p>
            <a:r>
              <a:t>Materials/check: Identify support needs</a:t>
            </a:r>
          </a:p>
          <a:p>
            <a:r>
              <a:t>Source: 'Math Week 6'!A83:F83</a:t>
            </a:r>
          </a:p>
          <a:p/>
          <a:p>
            <a:r>
              <a:t>2:25 PM–2:40 PM | 3 Teach | 15 min</a:t>
            </a:r>
          </a:p>
          <a:p>
            <a:r>
              <a:t>Instructor: Model cylinder volume and convert after calculating in one system. Rearrange V = πr²h for h with bracketed denominator.</a:t>
            </a:r>
          </a:p>
          <a:p>
            <a:r>
              <a:t>Learners: Annotate the example and predict the next step; ask about unclear units or symbols.</a:t>
            </a:r>
          </a:p>
          <a:p>
            <a:r>
              <a:t>Materials/check: Textbook; worked example</a:t>
            </a:r>
          </a:p>
          <a:p>
            <a:r>
              <a:t>Source: 'Math Week 6'!A84:F84</a:t>
            </a:r>
          </a:p>
          <a:p/>
          <a:p>
            <a:r>
              <a:t>2:40 PM–2:55 PM | 4 Together | 15 min</a:t>
            </a:r>
          </a:p>
          <a:p>
            <a:r>
              <a:t>Instructor: Work Exercise Book 11A Q13,19 and Exercise Book 11C Q1. Partners check by resubstitution.</a:t>
            </a:r>
          </a:p>
          <a:p>
            <a:r>
              <a:t>Learners: Work in pairs, alternating solver and checker. Write a diagram, formula, units and estimate.</a:t>
            </a:r>
          </a:p>
          <a:p>
            <a:r>
              <a:t>Materials/check: Exercise Book; tool above</a:t>
            </a:r>
          </a:p>
          <a:p>
            <a:r>
              <a:t>Source: 'Math Week 6'!A85:F85</a:t>
            </a:r>
          </a:p>
          <a:p/>
          <a:p>
            <a:r>
              <a:t>2:55 PM–3:15 PM | 5 Practise | 20 min</a:t>
            </a:r>
          </a:p>
          <a:p>
            <a:r>
              <a:t>Instructor: Complete Exercise Book 11B Q2 and 11C Q2; compare 11A Q21. Use Shape Canvas to verify a hidden dimension. Cones/spheres are optional book extension, not required this session.</a:t>
            </a:r>
          </a:p>
          <a:p>
            <a:r>
              <a:t>Learners: Solve on paper first; check with tools; correct one error and explain the change.</a:t>
            </a:r>
          </a:p>
          <a:p>
            <a:r>
              <a:t>Materials/check: Paper first; tool second</a:t>
            </a:r>
          </a:p>
          <a:p>
            <a:r>
              <a:t>Source: 'Math Week 6'!A86:F86</a:t>
            </a:r>
          </a:p>
          <a:p/>
          <a:p>
            <a:r>
              <a:t>3:15 PM–3:25 PM | 6 Check | 10 min</a:t>
            </a:r>
          </a:p>
          <a:p>
            <a:r>
              <a:t>Instructor: Exercise Book 11A Q13 and Exercise Book 11C Q1; include capacity units.</a:t>
            </a:r>
          </a:p>
          <a:p>
            <a:r>
              <a:t>Learners: Solve without displayed answers; include working, units and final rounding.</a:t>
            </a:r>
          </a:p>
          <a:p>
            <a:r>
              <a:t>Materials/check: Teacher answers below</a:t>
            </a:r>
          </a:p>
          <a:p>
            <a:r>
              <a:t>Source: 'Math Week 6'!A87:F87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6'!A88:F88</a:t>
            </a:r>
          </a:p>
          <a:p/>
          <a:p>
            <a:r>
              <a:t>INSTRUCTOR ONLY: REVEAL ASSESSMENT ANSWERS AFTER THE ATTEMPT</a:t>
            </a:r>
          </a:p>
          <a:p>
            <a:r>
              <a:t>11A Q13 = 42.41 L; 11C Q1 = 800 mm. Answer Key p.30. Answer Key pp.29–30</a:t>
            </a:r>
          </a:p>
          <a:p/>
          <a:p>
            <a:r>
              <a:t>Switch from dimensions to angles; retrieve squares and roots before right triangles.</a:t>
            </a:r>
          </a:p>
          <a:p/>
          <a:p>
            <a:r>
              <a:t>Sources: 'Math Week 6'!A13:E13; 'Carpentry Schedule'!C62; 'Math Week 6'!A76</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Switch from dimensions to angles; retrieve squares and roots before right triangles.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Resources/ACCESS-Tools/books/ACCESS-Trades-Numeracy-Textbook.pdf#page=173"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Resources/ACCESS-Tools/books/ACCESS-Trades-Numeracy-Textbook.pdf#page=173"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Resources/ACCESS-Tools/books/ACCESS-Trades-Numeracy-Textbook.pdf#page=172"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Resources/ACCESS-Tools/books/ACCESS-Trades-Numeracy-Textbook.pdf#page=172"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Resources/ACCESS-Tools/books/ACCESS-Trades-Numeracy-Textbook.pdf#page=172"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Resources/ACCESS-Tools/books/ACCESS-Trades-Numeracy-Textbook.pdf#page=172"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Resources/ACCESS-Tools/books/ACCESS-Trades-Numeracy-Textbook.pdf#page=172"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Resources/ACCESS-Tools/books/ACCESS-Trades-Numeracy-Textbook.pdf#page=172"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Resources/ACCESS-Tools/books/ACCESS-Trades-Numeracy-Textbook.pdf#page=172" TargetMode="External"/><Relationship Id="rId6" Type="http://schemas.openxmlformats.org/officeDocument/2006/relationships/hyperlink" Target="../Resources/ACCESS-Tools/books/ACCESS-Trades-Numeracy-Exercise-Book.pdf#page=7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6.png"/><Relationship Id="rId4" Type="http://schemas.openxmlformats.org/officeDocument/2006/relationships/hyperlink" Target="../Resources/ACCESS-Tools/books/ACCESS-Trades-Numeracy-Textbook.pdf#page=172" TargetMode="External"/><Relationship Id="rId5" Type="http://schemas.openxmlformats.org/officeDocument/2006/relationships/hyperlink" Target="../Resources/ACCESS-Tools/books/ACCESS-Trades-Numeracy-Exercise-Book.pdf#page=6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Resources/ACCESS-Tools/books/ACCESS-Trades-Numeracy-Textbook.pdf#page=177" TargetMode="External"/><Relationship Id="rId6" Type="http://schemas.openxmlformats.org/officeDocument/2006/relationships/hyperlink" Target="../Resources/ACCESS-Tools/books/ACCESS-Trades-Numeracy-Exercise-Book.pdf#page=70"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Resources/ACCESS-Tools/books/ACCESS-Trades-Numeracy-Textbook.pdf#page=178" TargetMode="External"/><Relationship Id="rId6" Type="http://schemas.openxmlformats.org/officeDocument/2006/relationships/hyperlink" Target="../Resources/ACCESS-Tools/books/ACCESS-Trades-Numeracy-Exercise-Book.pdf#page=70"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Resources/ACCESS-Tools/books/ACCESS-Trades-Numeracy-Textbook.pdf#page=175"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Resources/ACCESS-Tools/books/ACCESS-Trades-Numeracy-Textbook.pdf#page=175"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Resources/ACCESS-Tools/books/ACCESS-Trades-Numeracy-Textbook.pdf#page=175" TargetMode="External"/><Relationship Id="rId6" Type="http://schemas.openxmlformats.org/officeDocument/2006/relationships/hyperlink" Target="../Resources/ACCESS-Tools/books/ACCESS-Trades-Numeracy-Exercise-Book.pdf#page=70"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Resources/ACCESS-Tools/books/ACCESS-Trades-Numeracy-Textbook.pdf#page=175" TargetMode="External"/><Relationship Id="rId6" Type="http://schemas.openxmlformats.org/officeDocument/2006/relationships/hyperlink" Target="../Resources/ACCESS-Tools/books/ACCESS-Trades-Numeracy-Exercise-Book.pdf#page=7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Resources/ACCESS-Tools/books/ACCESS-Trades-Numeracy-Textbook.pdf#page=175" TargetMode="External"/><Relationship Id="rId6" Type="http://schemas.openxmlformats.org/officeDocument/2006/relationships/hyperlink" Target="../Resources/ACCESS-Tools/books/ACCESS-Trades-Numeracy-Exercise-Book.pdf#page=7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Resources/ACCESS-Tools/books/ACCESS-Trades-Numeracy-Textbook.pdf#page=175"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Resources/ACCESS-Tools/books/ACCESS-Trades-Numeracy-Textbook.pdf#page=175" TargetMode="External"/><Relationship Id="rId6" Type="http://schemas.openxmlformats.org/officeDocument/2006/relationships/hyperlink" Target="../Resources/ACCESS-Tools/books/ACCESS-Trades-Numeracy-Exercise-Book.pdf#page=7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hyperlink" Target="../Resources/ACCESS-Tools/books/ACCESS-Trades-Numeracy-Textbook.pdf#page=175" TargetMode="External"/><Relationship Id="rId5" Type="http://schemas.openxmlformats.org/officeDocument/2006/relationships/hyperlink" Target="../Resources/ACCESS-Tools/books/ACCESS-Trades-Numeracy-Exercise-Book.pdf#page=7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19  |  Tuesday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December 1,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Volume of boxes and prisms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Cylinders, capacity and missing heights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19  •  2026-12-01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19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Volume of boxes and prisms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6,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Cylinders, capacity and missing heights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6,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Volume of boxes and prisms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Calculate prism volume using consistent units and convert a capacity to litres.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11.1–11.3 pp.172–176; sections 7.4 pp.113–115</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11A Q1–10 (p.69); 11B Q1,5 (p.71)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Try to distinguish a length, surface area and volume; identify the third dimension on a box.</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Volume uses three dimensions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a rectangular prism, V = length × width × height.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Convert all three lengths to the same unit first.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result uses cubic units because three lengths were multiplied.</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Doubling only one dimension doubles the volume.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Connect volume and capacity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Capacity describes how much a container can hold.</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1 m³ = 1,000 L; use the book’s matching capacity conversion.</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cubic length conversion applies the length factor three times.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pails, divide by one-pail capacity and round as the purchase requires.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W06-L03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Keep dimensions consistent before multiplying</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Reservoir example • 800 mm × 500 mm × 450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Convert to metres: 0.8 m × 0.5 m × 0.45 m.</a:t>
            </a:r>
            <a:endParaRPr lang="en-US" sz="1800" dirty="0"/>
          </a:p>
        </p:txBody>
      </p:sp>
      <p:sp>
        <p:nvSpPr>
          <p:cNvPr id="6" name="Text 4"/>
          <p:cNvSpPr/>
          <p:nvPr/>
        </p:nvSpPr>
        <p:spPr>
          <a:xfrm>
            <a:off x="609585" y="2762250"/>
            <a:ext cx="10972526" cy="1119783"/>
          </a:xfrm>
          <a:prstGeom prst="rect">
            <a:avLst/>
          </a:prstGeom>
          <a:noFill/>
          <a:ln/>
        </p:spPr>
        <p:txBody>
          <a:bodyPr wrap="square" lIns="0" tIns="0" rIns="0" bIns="0" rtlCol="0" anchor="t"/>
          <a:lstStyle/>
          <a:p>
            <a:pPr marL="0" indent="0" algn="l">
              <a:buNone/>
            </a:pPr>
            <a:r>
              <a:rPr lang="en-US" sz="2100" dirty="0">
                <a:solidFill>
                  <a:srgbClr val="181818"/>
                </a:solidFill>
                <a:latin typeface="Arial" pitchFamily="34" charset="0"/>
                <a:ea typeface="Arial" pitchFamily="34" charset="-122"/>
                <a:cs typeface="Arial" pitchFamily="34" charset="-120"/>
              </a:rPr>
              <a:t>V = 0.8 × 0.5 × 0.45 = 0.18 m³</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Capacity = 0.18 × 1,000 = 180 L</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20 L pails needed = 180 ÷ 20 = 9</a:t>
            </a:r>
            <a:endParaRPr lang="en-US" sz="2100" dirty="0"/>
          </a:p>
        </p:txBody>
      </p:sp>
      <p:sp>
        <p:nvSpPr>
          <p:cNvPr id="7" name="Text 5"/>
          <p:cNvSpPr/>
          <p:nvPr/>
        </p:nvSpPr>
        <p:spPr>
          <a:xfrm>
            <a:off x="609585" y="423862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Check • 9 × 20 L = 180 L. The unit tells us what the number measures.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Doubling one dimension doubles the volume; doubling all three multiplies it by 8.</a:t>
            </a:r>
            <a:endParaRPr lang="en-US" sz="1800" dirty="0"/>
          </a:p>
        </p:txBody>
      </p:sp>
      <p:sp>
        <p:nvSpPr>
          <p:cNvPr id="8" name="Text 6"/>
          <p:cNvSpPr/>
          <p:nvPr/>
        </p:nvSpPr>
        <p:spPr>
          <a:xfrm>
            <a:off x="609585" y="523875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Work 11A Q2–7,9. Estimate magnitude before calculating.</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Shape Canvas: show all three prism dimensions and test a doubled length.</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11B Q1 p.71 • Numeracy Hub → Volume and Layout → Volume and capacity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07</a:t>
            </a:r>
          </a:p>
        </p:txBody>
      </p:sp>
    </p:spTree>
    <p:extLst>
      <p:ext uri="{BB962C8B-B14F-4D97-AF65-F5344CB8AC3E}">
        <p14:creationId xmlns:p14="http://schemas.microsoft.com/office/powerpoint/2010/main" val="106028284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173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pic>
        <p:nvPicPr>
          <p:cNvPr id="5" name="Picture 4" descr="W06-L03.png"/>
          <p:cNvPicPr>
            <a:picLocks noChangeAspect="1"/>
          </p:cNvPicPr>
          <p:nvPr/>
        </p:nvPicPr>
        <p:blipFill>
          <a:blip r:embed="rId3"/>
          <a:stretch>
            <a:fillRect/>
          </a:stretch>
        </p:blipFill>
        <p:spPr>
          <a:xfrm>
            <a:off x="685800" y="2841917"/>
            <a:ext cx="10698480" cy="176852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p.173 • Volume of a prism — End area times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173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pic>
        <p:nvPicPr>
          <p:cNvPr id="5" name="Picture 4" descr="W06-L03-2.png"/>
          <p:cNvPicPr>
            <a:picLocks noChangeAspect="1"/>
          </p:cNvPicPr>
          <p:nvPr/>
        </p:nvPicPr>
        <p:blipFill>
          <a:blip r:embed="rId3"/>
          <a:stretch>
            <a:fillRect/>
          </a:stretch>
        </p:blipFill>
        <p:spPr>
          <a:xfrm>
            <a:off x="685800" y="2261377"/>
            <a:ext cx="10698480" cy="292960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p.173 • Example 11.1 — Three dimensions of a rectangular tank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box uses metres for two sides and millimetres for the third. Can the numbers be multiplied as shown?</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Convert every dimension to one length unit first, then multiply and label the cubic result.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11A Q2–7 and Q9. Learners estimate magnitude before calculating.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11A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pic>
        <p:nvPicPr>
          <p:cNvPr id="5" name="Picture 4" descr="11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11A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pic>
        <p:nvPicPr>
          <p:cNvPr id="5" name="Picture 4" descr="11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3,000 mm³</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11A Q8,10 and 11B Q1,5. Use a Shape Canvas prism to show how doubling one dimension changes volume.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Create a rectangular prism in Shape Canvas and display all three dimensions.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Predict and calculate the volume change when only one dimension is doubled.</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a box/slab example in Numeracy Hub Volume and Layout → Volume and capacity.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11A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pic>
        <p:nvPicPr>
          <p:cNvPr id="5" name="Picture 4" descr="11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11A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pic>
        <p:nvPicPr>
          <p:cNvPr id="5" name="Picture 4" descr="11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11A Q7 and Exercise Book 11B Q1; label volume/capacity and whole pails.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11A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pic>
        <p:nvPicPr>
          <p:cNvPr id="5" name="Picture 4" descr="11A-Q7.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11B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pic>
        <p:nvPicPr>
          <p:cNvPr id="5" name="Picture 4" descr="11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W06-L03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19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Cylinders, capacity and missing heights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19  •  2026-12-01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Cylinders, capacity and missing heights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Find a cylinder’s volume and use a known capacity to solve for a missing height or length.</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11.3–11.4 pp.175–178; sections 8.6 pp.131–133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11A Q11–13,19,21–22 (p.70); 11B Q2 (p.71); 11C Q1–2 (p.73)</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why diameter must be halved before using πr²h; distinguish US and imperial gallons.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Find the volume of a cylinder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cylinder has circular base area πr².</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Multiply base area by height: V = πr²h.</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If the drawing gives diameter, halve it before using the radius formula.</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matching length units, then convert the resulting volume to capacity.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Recover a missing height from volume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h = V ÷ (πr²) for a cylinder.</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full base-area expression inside the denominator brackets.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a consistent volume unit before dividing by the base area.</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Substitute the found height into the original volume formula to check.</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W06-L04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Divide volume by base area to find height</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Cylinder example • r = 150 mm; h = 600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V = π × 150² × 600 ≈ 42,411,501 mm³ ≈ 42.41 L.</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Check the factor: 1 L = 1,000,000 mm³.</a:t>
            </a:r>
            <a:endParaRPr lang="en-US" sz="1800" dirty="0"/>
          </a:p>
        </p:txBody>
      </p:sp>
      <p:sp>
        <p:nvSpPr>
          <p:cNvPr id="6" name="Text 4"/>
          <p:cNvSpPr/>
          <p:nvPr/>
        </p:nvSpPr>
        <p:spPr>
          <a:xfrm>
            <a:off x="609585" y="3095625"/>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Missing-height example • Rectangular base: 600 mm × 500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240 L = 240,000,000 mm³.</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h = 240,000,000 ÷ (600 × 500) = 800 mm.</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Work 11A Q13,19 and 11C Q1.</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Check each height by multiplying base area × height.</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Shape Canvas: hide a box or cylinder height; solve before revealing it.</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pp.70,73 • Numeracy Hub Volume and capacity; Unit Conversions for explicitly labelled L/US gal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28</a:t>
            </a:r>
          </a:p>
        </p:txBody>
      </p:sp>
    </p:spTree>
    <p:extLst>
      <p:ext uri="{BB962C8B-B14F-4D97-AF65-F5344CB8AC3E}">
        <p14:creationId xmlns:p14="http://schemas.microsoft.com/office/powerpoint/2010/main" val="344140874"/>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177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pic>
        <p:nvPicPr>
          <p:cNvPr id="5" name="Picture 4" descr="W06-L04.png"/>
          <p:cNvPicPr>
            <a:picLocks noChangeAspect="1"/>
          </p:cNvPicPr>
          <p:nvPr/>
        </p:nvPicPr>
        <p:blipFill>
          <a:blip r:embed="rId3"/>
          <a:stretch>
            <a:fillRect/>
          </a:stretch>
        </p:blipFill>
        <p:spPr>
          <a:xfrm>
            <a:off x="685800" y="2284392"/>
            <a:ext cx="10698480" cy="288357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p.177 • Cylinder volume — Circular base area times height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178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pic>
        <p:nvPicPr>
          <p:cNvPr id="5" name="Picture 4" descr="W06-L04-2.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p.178 • Example 11.6 — Cylinder dimensions and capacity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Does a gallon conversion work the same for US and imperial gallons?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Identify which gallon the question specifies and select its matching conversion factor.</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11A Q13,19 and Exercise Book 11C Q1. Partners check by resubstitution.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11A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pic>
        <p:nvPicPr>
          <p:cNvPr id="5" name="Picture 4" descr="11A-Q1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11A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pic>
        <p:nvPicPr>
          <p:cNvPr id="5" name="Picture 4" descr="11A-Q13.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42.41 L</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11B Q2 and 11C Q2; compare 11A Q21. Use Shape Canvas to verify a hidden dimension. Cones/spheres are optional book extension, not required this session.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Set up a cylinder or box in Shape Canvas, then hide its height.</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Calculate the height on paper from the stated volume or capacity and consistent units.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in Volume and capacity; use Unit Conversions for the specified L/US gal conversion.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11B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pic>
        <p:nvPicPr>
          <p:cNvPr id="5" name="Picture 4" descr="11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11C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pic>
        <p:nvPicPr>
          <p:cNvPr id="5" name="Picture 4" descr="11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11A Q13 and Exercise Book 11C Q1; include capacity units.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11A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pic>
        <p:nvPicPr>
          <p:cNvPr id="5" name="Picture 4" descr="11A-Q1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11C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pic>
        <p:nvPicPr>
          <p:cNvPr id="5" name="Picture 4" descr="11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W06-L04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19  •  2026-12-01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19 | 2026-12-01</dc:title>
  <dc:creator>ACCESS Trades</dc:creator>
  <cp:lastModifiedBy>Gabriel Ostrowidzki</cp:lastModifiedBy>
  <cp:revision>3</cp:revision>
  <dcterms:created xsi:type="dcterms:W3CDTF">2026-10-19T18:44:52Z</dcterms:created>
  <dcterms:modified xsi:type="dcterms:W3CDTF">2026-10-19T19:22:04Z</dcterms:modified>
  <dc:subject>Volume of boxes and prisms; Cylinders, capacity and missing heights</dc:subject>
</cp:coreProperties>
</file>