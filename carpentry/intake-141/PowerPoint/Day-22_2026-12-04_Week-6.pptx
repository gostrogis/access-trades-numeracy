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3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04" r:id="rId136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36" Type="http://schemas.openxmlformats.org/officeDocument/2006/relationships/slide" Target="slides/slide7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13.4–13.5 pp.207–209; sections 13.7 pp.213–214 (extension)</a:t>
            </a:r>
          </a:p>
          <a:p>
            <a:r>
              <a:t>ACCESS Trades Numeracy Textbook p.209 — Example 13.7 — Angle and grade of a ramp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13.4–13.5 pp.207–209; sections 13.7 pp.213–214 (extension)</a:t>
            </a:r>
          </a:p>
          <a:p>
            <a:r>
              <a:t>ACCESS Trades Numeracy Textbook p.209 — Example 13.7 — Angle and grade of a ramp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p.209 • Example 13.7 — Rise, run, angle and percentage grade</a:t>
            </a:r>
          </a:p>
          <a:p>
            <a:r>
              <a:t>Exact PDF/printed page: 209. ACCESS Textbook excerpt.</a:t>
            </a:r>
          </a:p>
          <a:p>
            <a:r>
              <a:t>Use the same rise/run ratio to compare the angle in degrees with the percent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p.209 • Example 13.7 — Inverse tangent and separate degree/percent answers</a:t>
            </a:r>
          </a:p>
          <a:p>
            <a:r>
              <a:t>Exact PDF/printed page: 209. ACCESS Textbook excerpt.</a:t>
            </a:r>
          </a:p>
          <a:p>
            <a:r>
              <a:t>Use the same rise/run ratio to compare the angle in degrees with the percent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13A-Q10</a:t>
            </a:r>
          </a:p>
          <a:p>
            <a:r>
              <a:t>Exact question: Opposite 350 mm, adjacent 800 mm. Find the angle to two decimal places.</a:t>
            </a:r>
          </a:p>
          <a:p>
            <a:r>
              <a:t>Instructor answer: 23.63°</a:t>
            </a:r>
          </a:p>
          <a:p>
            <a:r>
              <a:t>Working: tan⁻¹(350 ÷ 800)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13A-Q10</a:t>
            </a:r>
          </a:p>
          <a:p>
            <a:r>
              <a:t>Exact question: Opposite 350 mm, adjacent 800 mm. Find the angle to two decimal places.</a:t>
            </a:r>
          </a:p>
          <a:p>
            <a:r>
              <a:t>Instructor answer: 23.63°</a:t>
            </a:r>
          </a:p>
          <a:p>
            <a:r>
              <a:t>Working: tan⁻¹(350 ÷ 800)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Numeracy Hub: Angles and Trig, then Right-triangle trigonometry: ramp/brace practice. Shape Canvas: right triangle with rise/run; use DEG.</a:t>
            </a:r>
          </a:p>
          <a:p>
            <a:r>
              <a:t>Build the assigned rise/run triangle in Shape Canvas and label both dimensions.</a:t>
            </a:r>
          </a:p>
          <a:p>
            <a:r>
              <a:t>Calculate grade and angle separately on paper, keeping % distinct from °.</a:t>
            </a:r>
          </a:p>
          <a:p>
            <a:r>
              <a:t>Check the triangle with Numeracy Hub Right-triangle trigonometry ramp/brace practice in DEG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13A-Q11</a:t>
            </a:r>
          </a:p>
          <a:p>
            <a:r>
              <a:t>Exact question: Opposite 0.45 m, hypotenuse 1.2 m. Find the angle to two decimal places.</a:t>
            </a:r>
          </a:p>
          <a:p>
            <a:r>
              <a:t>Instructor answer: 22.02°</a:t>
            </a:r>
          </a:p>
          <a:p>
            <a:r>
              <a:t>Working: sin⁻¹(0.45 ÷ 1.2)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13A-Q12</a:t>
            </a:r>
          </a:p>
          <a:p>
            <a:r>
              <a:t>Exact question: Adjacent 700 mm, hypotenuse 950 mm. Find the angle to two decimal places.</a:t>
            </a:r>
          </a:p>
          <a:p>
            <a:r>
              <a:t>Instructor answer: 42.54°</a:t>
            </a:r>
          </a:p>
          <a:p>
            <a:r>
              <a:t>Working: cos⁻¹(700 ÷ 950)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13A-Q10</a:t>
            </a:r>
          </a:p>
          <a:p>
            <a:r>
              <a:t>Exact question: Opposite 350 mm, adjacent 800 mm. Find the angle to two decimal places.</a:t>
            </a:r>
          </a:p>
          <a:p>
            <a:r>
              <a:t>Instructor answer: 23.63°</a:t>
            </a:r>
          </a:p>
          <a:p>
            <a:r>
              <a:t>Working: tan⁻¹(350 ÷ 800)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13A-Q14</a:t>
            </a:r>
          </a:p>
          <a:p>
            <a:r>
              <a:t>Exact question: A slope rises 120 mm over a run of 6,000 mm. Find the percent grade and the angle to two decimal places.</a:t>
            </a:r>
          </a:p>
          <a:p>
            <a:r>
              <a:t>Instructor answer: Grade 2%, angle 1.15°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W06-L09 | 2026-12-04 | 12:45 PM–2:00 PM | 75 minutes</a:t>
            </a:r>
          </a:p>
          <a:p>
            <a:r>
              <a:t>Angles, grades and carpentry slope applications</a:t>
            </a:r>
          </a:p>
          <a:p>
            <a:r>
              <a:t>Mode: Math</a:t>
            </a:r>
          </a:p>
          <a:p>
            <a:r>
              <a:t>Goal: Find an angle from two sides and distinguish percentage grade from an angle in degrees.</a:t>
            </a:r>
          </a:p>
          <a:p>
            <a:r>
              <a:t>Read: Textbook sections 13.4–13.5 pp.207–209; sections 13.7 pp.213–214 (extension)</a:t>
            </a:r>
          </a:p>
          <a:p>
            <a:r>
              <a:t>Practise: Exercise Book 13A Q10–15 (p.82); 13B Q7 (p.83), Q12 (p.84)</a:t>
            </a:r>
          </a:p>
          <a:p>
            <a:r>
              <a:t>Tool: Numeracy Hub: Angles and Trig, then Right-triangle trigonometry: ramp/brace practice. Shape Canvas: right triangle with rise/run; use DEG.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grades and carpentry slope applications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a 2% slope is the same as 2°. Retrieve the opposite/adjacent ratio.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inverse tangent, percentage grade = rise/run × 100, and the book ramp example. These are classroom calculations, not construction-code guidance.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13A Q10,14–15. Learners label degree answers differently from percentages.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13A Q11–13 and 13B Q7; use Q12 as carpentry/truss extension. Show a Shape Canvas triangle and check the result with the Numeracy Hub.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13A Q10 and Q14; give the grade and angle separately.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13A Q10 = 23.63°. Q14 = 2% grade and 1.15°. Answer Key p.34. Answer Key pp.33–35</a:t>
            </a:r>
          </a:p>
          <a:p/>
          <a:p>
            <a:r>
              <a:t>Use Week 7 for applied drawings and reteaching rather than adding advanced pipe-trade content.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Use Week 7 for applied drawings and reteaching rather than adding advanced pipe-trade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9" TargetMode="External"/><Relationship Id="rId6" Type="http://schemas.openxmlformats.org/officeDocument/2006/relationships/hyperlink" Target="../../../books/ACCESS-Trades-Numeracy-Exercise-Book.pdf#page=8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9" TargetMode="External"/><Relationship Id="rId6" Type="http://schemas.openxmlformats.org/officeDocument/2006/relationships/hyperlink" Target="../../../books/ACCESS-Trades-Numeracy-Exercise-Book.pdf#page=8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7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7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7" TargetMode="External"/><Relationship Id="rId6" Type="http://schemas.openxmlformats.org/officeDocument/2006/relationships/hyperlink" Target="../../../books/ACCESS-Trades-Numeracy-Exercise-Book.pdf#page=8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7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7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7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../../../books/ACCESS-Trades-Numeracy-Textbook.pdf#page=207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.png"/><Relationship Id="rId4" Type="http://schemas.openxmlformats.org/officeDocument/2006/relationships/hyperlink" Target="../../../books/ACCESS-Trades-Numeracy-Textbook.pdf#page=207" TargetMode="External"/><Relationship Id="rId5" Type="http://schemas.openxmlformats.org/officeDocument/2006/relationships/hyperlink" Target="../../../books/ACCESS-Trades-Numeracy-Exercise-Book.pdf#page=82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22  |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December 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Angles, grades and carpentry slope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6  •  1 scheduled block  •  75 teaching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22  •  2026-12-04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22  /  WEEK 6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Angles, grades and carpentry slope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6, Lesson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One math block today. Other scheduled program sessions remain separate.</a:t>
            </a:r>
          </a:p>
        </p:txBody>
      </p:sp>
      <p:pic>
        <p:nvPicPr>
          <p:cNvPr id="29" name="Picture 2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Angles, grades and carpentry slope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Find an angle from two sides and distinguish percentage grade from an angle in degrees.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13A Q10–15 (p.82); 13B Q7 (p.83), Q12 (p.84)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Discuss whether a 2% slope is the same as 2°. Retrieve the opposite/adjacent ratio.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13A Q10–15 (p.82); 13B Q7 (p.83), Q12 (p.84)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Find an angle from two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rise and run, tan θ = rise/run.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inverse tangent to recover θ from the ratio.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calculator in DEG mode and label the angle with 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that the calculated angle matches the relative rise and run.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Keep grade and angle separate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Percentage grade = rise/run × 100.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Angle in degrees = tan⁻¹(rise/run).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same triangle gives two different descriptions of its slope.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consistent units for rise and run; label percentage and degree results separately.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W06-L09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rise/run ratio, two different reports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 : run = 1 : 50 → rise ÷ run = 0.02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= 0.02 × 100 = 2%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= tan⁻¹(0.02) ≈ 1.15°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09585" y="319087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example • Rise 350 mm; run 800 mm.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tan⁻¹(350 ÷ 800) ≈ 23.63°.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inverse-tangent function, not 1 ÷ tan. Check DEG mode.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71487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Solve 13A Q10,14–15.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degree answers differently from percentage answers.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show rise and run; compare with a taught Numeracy Hub task.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Textbook pp.207–209 • Numeracy Hub → Angles and Trig → Right-triangle trigonometry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07</a:t>
            </a:r>
          </a:p>
        </p:txBody>
      </p:sp>
    </p:spTree>
    <p:extLst>
      <p:ext uri="{BB962C8B-B14F-4D97-AF65-F5344CB8AC3E}">
        <p14:creationId xmlns:p14="http://schemas.microsoft.com/office/powerpoint/2010/main" val="268977717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209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W06-L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72228"/>
            <a:ext cx="10698480" cy="29079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p.209 • Example 13.7 — Rise, run, angle and percentage grade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209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W06-L09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34062"/>
            <a:ext cx="10698480" cy="27842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p.209 • Example 13.7 — Inverse tangent and separate degree/percent answers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Does a 2% grade mean an angle of 2°?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Percent grade multiplies rise/run by 100; degrees come from inverse tangent in DEG mode.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13A Q10,14–15. Label degree answers differently from percentages.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13A Q10–15 (p.82); 13B Q7 (p.83), Q12 (p.84)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13A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13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13A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13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53945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23.63°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6636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0">
                <a:solidFill>
                  <a:srgbClr val="4A4E54"/>
                </a:solidFill>
                <a:latin typeface="Arial"/>
              </a:defRPr>
            </a:pPr>
            <a:r>
              <a:rPr/>
              <a:t>tan⁻¹(350 ÷ 800)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13A Q11–13 and 13B Q7; use Q12 as carpentry/truss extension. Show a Shape Canvas triangle and check the result with the Numeracy Hub.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13A Q10–15 (p.82); 13B Q7 (p.83), Q12 (p.84)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hub-ang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Build the assigned rise/run triangle in Shape Canvas and label both dimensions.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Calculate grade and angle separately on paper, keeping % distinct from 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the triangle with Numeracy Hub Right-triangle trigonometry ramp/brace practice in DEG mode.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13A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13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13A Q12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13A-Q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13A Q10 and Q14; give the grade and angle separately.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13A Q10–15 (p.82); 13B Q7 (p.83), Q12 (p.84)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13A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13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13A Q14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pic>
        <p:nvPicPr>
          <p:cNvPr id="5" name="Picture 4" descr="13A-Q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W06-L09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13.4–13.5 pp.207–209; sections 13.7 pp.213–214 (extension)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13A Q10–15 (p.82); 13B Q7 (p.83), Q12 (p.84)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22  •  2026-12-04  •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22</Slides>
  <Notes>22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22 | 2026-12-04</dc:title>
  <dc:creator>ACCESS Trades</dc:creator>
  <dc:subject>Angles, grades and carpentry slope applications</dc:subject>
</cp:coreProperties>
</file>