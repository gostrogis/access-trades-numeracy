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3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04" r:id="rId136"/>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6" Type="http://schemas.openxmlformats.org/officeDocument/2006/relationships/slide" Target="slides/slide7.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Worked teaching example retained from original slide 135. Use within the scheduled Teach block.</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deck uses only this date’s math blocks from the current visible Carpentry Schedule and Math Week sheets.</a:t>
            </a:r>
          </a:p>
          <a:p>
            <a:r>
              <a:t>'Carpentry Schedule'!F60 | 'Math Week 6'!A164</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Start, 12:45 PM–12:50 PM.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Recall, 12:50 PM–12:55 PM.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Teach, 12:55 PM–1:10 PM. All slides with this phase share these 15 minutes; do not restart the time allocation for each slide.</a:t>
            </a:r>
          </a:p>
          <a:p/>
          <a:p>
            <a:r>
              <a:t>Teaching content sources:</a:t>
            </a:r>
          </a:p>
          <a:p>
            <a:r>
              <a:t>Textbook sections 13.4–13.5 pp.207–209; sections 13.7 pp.213–214 (extension)</a:t>
            </a:r>
          </a:p>
          <a:p>
            <a:r>
              <a:t>'Math Week 6'!B168</a:t>
            </a:r>
          </a:p>
          <a:p>
            <a:r>
              <a:t>'Math Week 6'!A172:F172</a:t>
            </a:r>
          </a:p>
          <a:p>
            <a:r>
              <a:t>ACCESS CARPENTRY SLIDES.pptx slides 134, 135, 136</a:t>
            </a:r>
          </a:p>
          <a:p>
            <a:r>
              <a:t>ACCESS Trades Numeracy Textbook p.209 — Example 13.7 — Angle and grade of a ramp</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Teach, 12:55 PM–1:10 PM. All slides with this phase share these 15 minutes; do not restart the time allocation for each slide.</a:t>
            </a:r>
          </a:p>
          <a:p/>
          <a:p>
            <a:r>
              <a:t>Teaching content sources:</a:t>
            </a:r>
          </a:p>
          <a:p>
            <a:r>
              <a:t>Textbook sections 13.4–13.5 pp.207–209; sections 13.7 pp.213–214 (extension)</a:t>
            </a:r>
          </a:p>
          <a:p>
            <a:r>
              <a:t>'Math Week 6'!B168</a:t>
            </a:r>
          </a:p>
          <a:p>
            <a:r>
              <a:t>'Math Week 6'!A172:F172</a:t>
            </a:r>
          </a:p>
          <a:p>
            <a:r>
              <a:t>ACCESS CARPENTRY SLIDES.pptx slides 134, 135, 136</a:t>
            </a:r>
          </a:p>
          <a:p>
            <a:r>
              <a:t>ACCESS Trades Numeracy Textbook p.209 — Example 13.7 — Angle and grade of a ramp</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Teach, 12:55 PM–1:10 PM. All slides with this phase share these 15 minutes; do not restart the time allocation for each slide.</a:t>
            </a:r>
          </a:p>
          <a:p/>
          <a:p>
            <a:r>
              <a:t>Textbook visual: ACCESS Textbook p.209 • Example 13.7 — Rise, run, angle and percentage grade</a:t>
            </a:r>
          </a:p>
          <a:p>
            <a:r>
              <a:t>Exact PDF/printed page: 209. Excerpt reproduced from the supplied ACCESS Textbook.</a:t>
            </a:r>
          </a:p>
          <a:p>
            <a:r>
              <a:t>Use the same rise/run ratio to compare the angle in degrees with the percent grade.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Teach, 12:55 PM–1:10 PM. All slides with this phase share these 15 minutes; do not restart the time allocation for each slide.</a:t>
            </a:r>
          </a:p>
          <a:p/>
          <a:p>
            <a:r>
              <a:t>Textbook visual: ACCESS Textbook p.209 • Example 13.7 — Inverse tangent and separate degree/percent answers</a:t>
            </a:r>
          </a:p>
          <a:p>
            <a:r>
              <a:t>Exact PDF/printed page: 209. Excerpt reproduced from the supplied ACCESS Textbook.</a:t>
            </a:r>
          </a:p>
          <a:p>
            <a:r>
              <a:t>Use the same rise/run ratio to compare the angle in degrees with the percent grade.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Teach, 12:55 PM–1:10 PM. All slides with this phase share these 15 minutes; do not restart the time allocation for each slide.</a:t>
            </a:r>
          </a:p>
          <a:p/>
          <a:p>
            <a:r>
              <a:t>Pause on the prompt before discussing the correction. This is included within the scheduled Teach block, not an additional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Together, 1:10 PM–1:25 PM. All slides with this phase share these 15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Together, 1:10 PM–1:25 PM. All slides with this phase share these 15 minutes; do not restart the time allocation for each slide.</a:t>
            </a:r>
          </a:p>
          <a:p/>
          <a:p>
            <a:r>
              <a:t>ACCESS EXERCISE BOOK: 13A-Q10</a:t>
            </a:r>
          </a:p>
          <a:p>
            <a:r>
              <a:t>Exact question: Opposite 350 mm, adjacent 800 mm. Find the angle to two decimal places.</a:t>
            </a:r>
          </a:p>
          <a:p>
            <a:r>
              <a:t>Instructor answer: 23.63°</a:t>
            </a:r>
          </a:p>
          <a:p>
            <a:r>
              <a:t>Working: tan⁻¹(350 ÷ 800)</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Together, 1:10 PM–1:25 PM. All slides with this phase share these 15 minutes; do not restart the time allocation for each slide.</a:t>
            </a:r>
          </a:p>
          <a:p/>
          <a:p>
            <a:r>
              <a:t>ACCESS EXERCISE BOOK: 13A-Q10</a:t>
            </a:r>
          </a:p>
          <a:p>
            <a:r>
              <a:t>Exact question: Opposite 350 mm, adjacent 800 mm. Find the angle to two decimal places.</a:t>
            </a:r>
          </a:p>
          <a:p>
            <a:r>
              <a:t>Instructor answer: 23.63°</a:t>
            </a:r>
          </a:p>
          <a:p>
            <a:r>
              <a:t>Working: tan⁻¹(350 ÷ 800)</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Practise, 1:25 PM–1:45 PM. All slides with this phase share these 20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Practise, 1:25 PM–1:45 PM. All slides with this phase share these 20 minutes; do not restart the time allocation for each slide.</a:t>
            </a:r>
          </a:p>
          <a:p/>
          <a:p>
            <a:r>
              <a:t>Live-tool screenshot, not an answer to the scheduled task. Open the resource link and follow the exact values in the assignment. Keep worked answers hidden until learners attempt the task. Screenshot illustrates navigation and occupies time within the same scheduled practice phase.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Practise, 1:25 PM–1:45 PM. All slides with this phase share these 20 minutes; do not restart the time allocation for each slide.</a:t>
            </a:r>
          </a:p>
          <a:p/>
          <a:p>
            <a:r>
              <a:t>Exact scheduled tool activity: Numeracy Hub: Angles and Trig, then Right-triangle trigonometry: ramp/brace practice. Shape Canvas: right triangle with rise/run; use DEG.</a:t>
            </a:r>
          </a:p>
          <a:p>
            <a:r>
              <a:t>Build the assigned rise/run triangle in Shape Canvas and label both dimensions.</a:t>
            </a:r>
          </a:p>
          <a:p>
            <a:r>
              <a:t>Calculate grade and angle separately on paper, keeping % distinct from °.</a:t>
            </a:r>
          </a:p>
          <a:p>
            <a:r>
              <a:t>Check the triangle with Numeracy Hub Right-triangle trigonometry ramp/brace practice in DEG mode.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Practise, 1:25 PM–1:45 PM. All slides with this phase share these 20 minutes; do not restart the time allocation for each slide.</a:t>
            </a:r>
          </a:p>
          <a:p/>
          <a:p>
            <a:r>
              <a:t>ACCESS EXERCISE BOOK: 13A-Q11</a:t>
            </a:r>
          </a:p>
          <a:p>
            <a:r>
              <a:t>Exact question: Opposite 0.45 m, hypotenuse 1.2 m. Find the angle to two decimal places.</a:t>
            </a:r>
          </a:p>
          <a:p>
            <a:r>
              <a:t>Instructor answer: 22.02°</a:t>
            </a:r>
          </a:p>
          <a:p>
            <a:r>
              <a:t>Working: sin⁻¹(0.45 ÷ 1.2)</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Practise, 1:25 PM–1:45 PM. All slides with this phase share these 20 minutes; do not restart the time allocation for each slide.</a:t>
            </a:r>
          </a:p>
          <a:p/>
          <a:p>
            <a:r>
              <a:t>ACCESS EXERCISE BOOK: 13A-Q12</a:t>
            </a:r>
          </a:p>
          <a:p>
            <a:r>
              <a:t>Exact question: Adjacent 700 mm, hypotenuse 950 mm. Find the angle to two decimal places.</a:t>
            </a:r>
          </a:p>
          <a:p>
            <a:r>
              <a:t>Instructor answer: 42.54°</a:t>
            </a:r>
          </a:p>
          <a:p>
            <a:r>
              <a:t>Working: cos⁻¹(700 ÷ 950)</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Check, 1:45 PM–1:55 PM. All slides with this phase share these 10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Check, 1:45 PM–1:55 PM. All slides with this phase share these 10 minutes; do not restart the time allocation for each slide.</a:t>
            </a:r>
          </a:p>
          <a:p/>
          <a:p>
            <a:r>
              <a:t>ACCESS EXERCISE BOOK: 13A-Q10</a:t>
            </a:r>
          </a:p>
          <a:p>
            <a:r>
              <a:t>Exact question: Opposite 350 mm, adjacent 800 mm. Find the angle to two decimal places.</a:t>
            </a:r>
          </a:p>
          <a:p>
            <a:r>
              <a:t>Instructor answer: 23.63°</a:t>
            </a:r>
          </a:p>
          <a:p>
            <a:r>
              <a:t>Working: tan⁻¹(350 ÷ 800)</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Check, 1:45 PM–1:55 PM. All slides with this phase share these 10 minutes; do not restart the time allocation for each slide.</a:t>
            </a:r>
          </a:p>
          <a:p/>
          <a:p>
            <a:r>
              <a:t>ACCESS EXERCISE BOOK: 13A-Q14</a:t>
            </a:r>
          </a:p>
          <a:p>
            <a:r>
              <a:t>Exact question: A slope rises 120 mm over a run of 6,000 mm. Find the percent grade and the angle to two decimal places.</a:t>
            </a:r>
          </a:p>
          <a:p>
            <a:r>
              <a:t>Instructor answer: Grade 2%, angle 1.15°</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W06-L09 | 2026-12-04 | 12:45 PM–2:00 PM | 75 minutes</a:t>
            </a:r>
          </a:p>
          <a:p>
            <a:r>
              <a:t>Angles, grades and carpentry slope applications</a:t>
            </a:r>
          </a:p>
          <a:p>
            <a:r>
              <a:t>Mode: Math</a:t>
            </a:r>
          </a:p>
          <a:p>
            <a:r>
              <a:t>Goal: Find an angle from two sides and distinguish percentage grade from an angle in degrees.</a:t>
            </a:r>
          </a:p>
          <a:p>
            <a:r>
              <a:t>Read: Textbook sections 13.4–13.5 pp.207–209; sections 13.7 pp.213–214 (extension)</a:t>
            </a:r>
          </a:p>
          <a:p>
            <a:r>
              <a:t>Practise: Exercise Book 13A Q10–15 (p.82); 13B Q7 (p.83), Q12 (p.84)</a:t>
            </a:r>
          </a:p>
          <a:p>
            <a:r>
              <a:t>Tool: Numeracy Hub: Angles and Trig, then Right-triangle trigonometry: ramp/brace practice. Shape Canvas: right triangle with rise/run; use DEG.</a:t>
            </a:r>
          </a:p>
          <a:p/>
          <a:p>
            <a:r>
              <a:t>EXACT SCHEDULED STEPS</a:t>
            </a:r>
          </a:p>
          <a:p>
            <a:r>
              <a:t>12:45 PM–12:50 PM | 1 Start | 5 min</a:t>
            </a:r>
          </a:p>
          <a:p>
            <a:r>
              <a:t>Instructor: Connect angles, grades and carpentry slope applications to a dimensioned carpentry drawing. State the objective.</a:t>
            </a:r>
          </a:p>
          <a:p>
            <a:r>
              <a:t>Learners: Describe a prior use of the skill; identify the given and unknown quantities.</a:t>
            </a:r>
          </a:p>
          <a:p>
            <a:r>
              <a:t>Materials/check: Notebook; calculator</a:t>
            </a:r>
          </a:p>
          <a:p>
            <a:r>
              <a:t>Source: 'Math Week 6'!A170:F170</a:t>
            </a:r>
          </a:p>
          <a:p/>
          <a:p>
            <a:r>
              <a:t>12:50 PM–12:55 PM | 2 Recall | 5 min</a:t>
            </a:r>
          </a:p>
          <a:p>
            <a:r>
              <a:t>Instructor: Ask whether a 2% slope is the same as 2°. Retrieve the opposite/adjacent ratio.</a:t>
            </a:r>
          </a:p>
          <a:p>
            <a:r>
              <a:t>Learners: Attempt the retrieval task independently; explain the method before checking.</a:t>
            </a:r>
          </a:p>
          <a:p>
            <a:r>
              <a:t>Materials/check: Identify support needs</a:t>
            </a:r>
          </a:p>
          <a:p>
            <a:r>
              <a:t>Source: 'Math Week 6'!A171:F171</a:t>
            </a:r>
          </a:p>
          <a:p/>
          <a:p>
            <a:r>
              <a:t>12:55 PM–1:10 PM | 3 Teach | 15 min</a:t>
            </a:r>
          </a:p>
          <a:p>
            <a:r>
              <a:t>Instructor: Model inverse tangent, percentage grade = rise/run × 100, and the book ramp example. These are classroom calculations, not construction-code guidance.</a:t>
            </a:r>
          </a:p>
          <a:p>
            <a:r>
              <a:t>Learners: Annotate the example and predict the next step; ask about unclear units or symbols.</a:t>
            </a:r>
          </a:p>
          <a:p>
            <a:r>
              <a:t>Materials/check: Textbook; worked example</a:t>
            </a:r>
          </a:p>
          <a:p>
            <a:r>
              <a:t>Source: 'Math Week 6'!A172:F172</a:t>
            </a:r>
          </a:p>
          <a:p/>
          <a:p>
            <a:r>
              <a:t>1:10 PM–1:25 PM | 4 Together | 15 min</a:t>
            </a:r>
          </a:p>
          <a:p>
            <a:r>
              <a:t>Instructor: Solve Exercise Book 13A Q10,14–15. Learners label degree answers differently from percentages.</a:t>
            </a:r>
          </a:p>
          <a:p>
            <a:r>
              <a:t>Learners: Work in pairs, alternating solver and checker. Write a diagram, formula, units and estimate.</a:t>
            </a:r>
          </a:p>
          <a:p>
            <a:r>
              <a:t>Materials/check: Exercise Book; tool above</a:t>
            </a:r>
          </a:p>
          <a:p>
            <a:r>
              <a:t>Source: 'Math Week 6'!A173:F173</a:t>
            </a:r>
          </a:p>
          <a:p/>
          <a:p>
            <a:r>
              <a:t>1:25 PM–1:45 PM | 5 Practise | 20 min</a:t>
            </a:r>
          </a:p>
          <a:p>
            <a:r>
              <a:t>Instructor: Complete Exercise Book 13A Q11–13 and 13B Q7; use Q12 as carpentry/truss extension. Show a Shape Canvas triangle and check the result with the Numeracy Hub.</a:t>
            </a:r>
          </a:p>
          <a:p>
            <a:r>
              <a:t>Learners: Solve on paper first; check with tools; correct one error and explain the change.</a:t>
            </a:r>
          </a:p>
          <a:p>
            <a:r>
              <a:t>Materials/check: Paper first; tool second</a:t>
            </a:r>
          </a:p>
          <a:p>
            <a:r>
              <a:t>Source: 'Math Week 6'!A174:F174</a:t>
            </a:r>
          </a:p>
          <a:p/>
          <a:p>
            <a:r>
              <a:t>1:45 PM–1:55 PM | 6 Check | 10 min</a:t>
            </a:r>
          </a:p>
          <a:p>
            <a:r>
              <a:t>Instructor: Exercise Book 13A Q10 and Q14; give the grade and angle separately.</a:t>
            </a:r>
          </a:p>
          <a:p>
            <a:r>
              <a:t>Learners: Solve without displayed answers; include working, units and final rounding.</a:t>
            </a:r>
          </a:p>
          <a:p>
            <a:r>
              <a:t>Materials/check: Teacher answers below</a:t>
            </a:r>
          </a:p>
          <a:p>
            <a:r>
              <a:t>Source: 'Math Week 6'!A175:F175</a:t>
            </a:r>
          </a:p>
          <a:p/>
          <a:p>
            <a:r>
              <a:t>1:55 PM–2:00 PM | 7 Wrap up | 5 min</a:t>
            </a:r>
          </a:p>
          <a:p>
            <a:r>
              <a:t>Instructor: Ask: What changed in your understanding? Where will you use it? What should you check next time?</a:t>
            </a:r>
          </a:p>
          <a:p>
            <a:r>
              <a:t>Learners: Name the math and one other essential skill used; record a next practice step.</a:t>
            </a:r>
          </a:p>
          <a:p>
            <a:r>
              <a:t>Materials/check: Notebook / error log</a:t>
            </a:r>
          </a:p>
          <a:p>
            <a:r>
              <a:t>Source: 'Math Week 6'!A176:F176</a:t>
            </a:r>
          </a:p>
          <a:p/>
          <a:p>
            <a:r>
              <a:t>INSTRUCTOR ONLY: REVEAL ASSESSMENT ANSWERS AFTER THE ATTEMPT</a:t>
            </a:r>
          </a:p>
          <a:p>
            <a:r>
              <a:t>13A Q10 = 23.63°. Q14 = 2% grade and 1.15°. Answer Key p.34. Answer Key pp.33–35</a:t>
            </a:r>
          </a:p>
          <a:p/>
          <a:p>
            <a:r>
              <a:t>Use Week 7 for applied drawings and reteaching rather than adding advanced pipe-trade content.</a:t>
            </a:r>
          </a:p>
          <a:p/>
          <a:p>
            <a:r>
              <a:t>Sources: 'Math Week 6'!A18:E18; 'Carpentry Schedule'!F60; 'Math Week 6'!A164</a:t>
            </a:r>
          </a:p>
          <a:p>
            <a:r>
              <a:t>Navigation/resource slides support these scheduled steps and do not add instructional time.</a:t>
            </a:r>
          </a:p>
          <a:p>
            <a:r>
              <a:t>SLIDE PLACEMENT: Wrap up, 1:55 PM–2:00 PM. All slides with this phase share these 5 minutes; do not restart the time allocation for each slide.</a:t>
            </a:r>
          </a:p>
          <a:p/>
          <a:p>
            <a:r>
              <a:t>Next scheduled learning: Use Week 7 for applied drawings and reteaching rather than adding advanced pipe-trade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8.png"/><Relationship Id="rId4" Type="http://schemas.openxmlformats.org/officeDocument/2006/relationships/hyperlink" Target="../Resources/ACCESS-Tools/books/ACCESS-Trades-Numeracy-Textbook.pdf" TargetMode="External"/><Relationship Id="rId5" Type="http://schemas.openxmlformats.org/officeDocument/2006/relationships/hyperlink" Target="../Resources/ACCESS-Tools/books/ACCESS-Trades-Numeracy-Exercise-Book.pdf"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Resources/ACCESS-Tools/books/ACCESS-Trades-Numeracy-Textbook.pdf#page=209" TargetMode="External"/><Relationship Id="rId6" Type="http://schemas.openxmlformats.org/officeDocument/2006/relationships/hyperlink" Target="../Resources/ACCESS-Tools/books/ACCESS-Trades-Numeracy-Exercise-Book.pdf#page=82"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hyperlink" Target="../Resources/ACCESS-Tools/books/ACCESS-Trades-Numeracy-Textbook.pdf#page=209" TargetMode="External"/><Relationship Id="rId6" Type="http://schemas.openxmlformats.org/officeDocument/2006/relationships/hyperlink" Target="../Resources/ACCESS-Tools/books/ACCESS-Trades-Numeracy-Exercise-Book.pdf#page=82"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hyperlink" Target="../Resources/ACCESS-Tools/books/ACCESS-Trades-Numeracy-Textbook.pdf#page=207" TargetMode="External"/><Relationship Id="rId6" Type="http://schemas.openxmlformats.org/officeDocument/2006/relationships/hyperlink" Target="../Resources/ACCESS-Tools/books/ACCESS-Trades-Numeracy-Exercise-Book.pdf#page=81"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hyperlink" Target="../Resources/ACCESS-Tools/books/ACCESS-Trades-Numeracy-Textbook.pdf#page=207" TargetMode="External"/><Relationship Id="rId6" Type="http://schemas.openxmlformats.org/officeDocument/2006/relationships/hyperlink" Target="../Resources/ACCESS-Tools/books/ACCESS-Trades-Numeracy-Exercise-Book.pdf#page=81"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hyperlink" Target="../Resources/ACCESS-Tools/books/ACCESS-Trades-Numeracy-Textbook.pdf#page=207" TargetMode="External"/><Relationship Id="rId6" Type="http://schemas.openxmlformats.org/officeDocument/2006/relationships/hyperlink" Target="../Resources/ACCESS-Tools/books/ACCESS-Trades-Numeracy-Exercise-Book.pdf#page=82"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hyperlink" Target="../Resources/ACCESS-Tools/books/ACCESS-Trades-Numeracy-Textbook.pdf#page=207" TargetMode="External"/><Relationship Id="rId6" Type="http://schemas.openxmlformats.org/officeDocument/2006/relationships/hyperlink" Target="../Resources/ACCESS-Tools/books/ACCESS-Trades-Numeracy-Exercise-Book.pdf#page=81"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hyperlink" Target="../Resources/ACCESS-Tools/books/ACCESS-Trades-Numeracy-Textbook.pdf#page=207" TargetMode="External"/><Relationship Id="rId6" Type="http://schemas.openxmlformats.org/officeDocument/2006/relationships/hyperlink" Target="../Resources/ACCESS-Tools/books/ACCESS-Trades-Numeracy-Exercise-Book.pdf#page=81"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hyperlink" Target="../Resources/ACCESS-Tools/books/ACCESS-Trades-Numeracy-Textbook.pdf#page=207" TargetMode="External"/><Relationship Id="rId6" Type="http://schemas.openxmlformats.org/officeDocument/2006/relationships/hyperlink" Target="../Resources/ACCESS-Tools/books/ACCESS-Trades-Numeracy-Exercise-Book.pdf#page=81"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hyperlink" Target="../Resources/ACCESS-Tools/books/ACCESS-Trades-Numeracy-Textbook.pdf#page=207" TargetMode="External"/><Relationship Id="rId6" Type="http://schemas.openxmlformats.org/officeDocument/2006/relationships/hyperlink" Target="../Resources/ACCESS-Tools/books/ACCESS-Trades-Numeracy-Exercise-Book.pdf#page=81"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8.png"/><Relationship Id="rId4" Type="http://schemas.openxmlformats.org/officeDocument/2006/relationships/hyperlink" Target="../Resources/ACCESS-Tools/books/ACCESS-Trades-Numeracy-Textbook.pdf#page=207" TargetMode="External"/><Relationship Id="rId5" Type="http://schemas.openxmlformats.org/officeDocument/2006/relationships/hyperlink" Target="../Resources/ACCESS-Tools/books/ACCESS-Trades-Numeracy-Exercise-Book.pdf#page=82"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t>ACCESS  /  CARPENTRY FOUNDATION  /  INTAKE 141</a:t>
            </a:r>
          </a:p>
        </p:txBody>
      </p:sp>
      <p:sp>
        <p:nvSpPr>
          <p:cNvPr id="3" name="TextBox 2"/>
          <p:cNvSpPr txBox="1"/>
          <p:nvPr/>
        </p:nvSpPr>
        <p:spPr>
          <a:xfrm>
            <a:off x="612648" y="1143000"/>
            <a:ext cx="10789920" cy="64008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t>Day 22  |  Friday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t>December 4,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t>Angles, grades and carpentry slope applications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t>12:45 PM–2:00 PM  •  Math  •  75 min</a:t>
            </a:r>
          </a:p>
        </p:txBody>
      </p:sp>
      <p:sp>
        <p:nvSpPr>
          <p:cNvPr id="8" name="TextBox 7"/>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t>Week 6  •  1 scheduled block  •  75 teaching minutes</a:t>
            </a:r>
          </a:p>
        </p:txBody>
      </p:sp>
      <p:sp>
        <p:nvSpPr>
          <p:cNvPr id="9" name="TextBox 8"/>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t>Estimate. Show the method. Label units. Check the result.</a:t>
            </a:r>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3" name="TextBox 12"/>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4" name="TextBox 13"/>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5" name="TextBox 14"/>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6" name="TextBox 15"/>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t>Day 22  •  2026-12-04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t>DAY 22  /  WEEK 6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a:t>Angles, grades and carpentry slope applications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Math  •  Math Week 6, Lesson 9</a:t>
            </a:r>
          </a:p>
        </p:txBody>
      </p:sp>
      <p:sp>
        <p:nvSpPr>
          <p:cNvPr id="28" name="TextBox 27"/>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a:t>One math block today. Other scheduled program sessions remain separate.</a:t>
            </a:r>
          </a:p>
        </p:txBody>
      </p:sp>
      <p:pic>
        <p:nvPicPr>
          <p:cNvPr id="29" name="Picture 2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30" name="Rectangle 2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31" name="TextBox 3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32" name="TextBox 3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33" name="TextBox 3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34" name="TextBox 3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35" name="TextBox 3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Angles, grades and carpentry slope applications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a:t>Today’s goal: Find an angle from two sides and distinguish percentage grade from an angle in degrees.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t>Textbook sections 13.4–13.5 pp.207–209; sections 13.7 pp.213–214 (extension)</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t>Exercise Book 13A Q10–15 (p.82); 13B Q7 (p.83), Q12 (p.84)</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t>Keep your notebook, assigned ACCESS books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Discuss whether a 2% slope is the same as 2°. Retrieve the opposite/adjacent ratio.</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Find an angle from two sides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For rise and run, tan θ = rise/run.</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inverse tangent to recover θ from the ratio.</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Keep the calculator in DEG mode and label the angle with °.</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Check that the calculated angle matches the relative rise and run.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Keep grade and angle separate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Percentage grade = rise/run × 100.</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Angle in degrees = tan⁻¹(rise/run).</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The same triangle gives two different descriptions of its slope.</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consistent units for rise and run; label percentage and degree results separately.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CA"/>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t>W06-L09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181818"/>
                </a:solidFill>
                <a:latin typeface="Arial" pitchFamily="34" charset="0"/>
                <a:ea typeface="Arial" pitchFamily="34" charset="-122"/>
                <a:cs typeface="Arial" pitchFamily="34" charset="-120"/>
              </a:rPr>
              <a:t>One rise/run ratio, two different reports</a:t>
            </a:r>
            <a:endParaRPr lang="en-US" sz="3000" dirty="0"/>
          </a:p>
        </p:txBody>
      </p:sp>
      <p:sp>
        <p:nvSpPr>
          <p:cNvPr id="5" name="Text 3"/>
          <p:cNvSpPr/>
          <p:nvPr/>
        </p:nvSpPr>
        <p:spPr>
          <a:xfrm>
            <a:off x="609585" y="1714500"/>
            <a:ext cx="10972526" cy="1119783"/>
          </a:xfrm>
          <a:prstGeom prst="rect">
            <a:avLst/>
          </a:prstGeom>
          <a:noFill/>
          <a:ln/>
        </p:spPr>
        <p:txBody>
          <a:bodyPr wrap="square" lIns="0" tIns="0" rIns="0" bIns="0" rtlCol="0" anchor="t"/>
          <a:lstStyle/>
          <a:p>
            <a:pPr marL="0" indent="0" algn="l">
              <a:buNone/>
            </a:pPr>
            <a:r>
              <a:rPr lang="en-US" sz="2100" dirty="0">
                <a:solidFill>
                  <a:srgbClr val="181818"/>
                </a:solidFill>
                <a:latin typeface="Arial" pitchFamily="34" charset="0"/>
                <a:ea typeface="Arial" pitchFamily="34" charset="-122"/>
                <a:cs typeface="Arial" pitchFamily="34" charset="-120"/>
              </a:rPr>
              <a:t>Rise : run = 1 : 50 → rise ÷ run = 0.02</a:t>
            </a:r>
            <a:endParaRPr lang="en-US" sz="2100" dirty="0"/>
          </a:p>
          <a:p>
            <a:pPr marL="0" indent="0" algn="l">
              <a:buNone/>
            </a:pPr>
            <a:r>
              <a:rPr lang="en-US" sz="2100" dirty="0">
                <a:solidFill>
                  <a:srgbClr val="181818"/>
                </a:solidFill>
                <a:latin typeface="Arial" pitchFamily="34" charset="0"/>
                <a:ea typeface="Arial" pitchFamily="34" charset="-122"/>
                <a:cs typeface="Arial" pitchFamily="34" charset="-120"/>
              </a:rPr>
              <a:t>Grade = 0.02 × 100 = 2%</a:t>
            </a:r>
            <a:endParaRPr lang="en-US" sz="2100" dirty="0"/>
          </a:p>
          <a:p>
            <a:pPr marL="0" indent="0" algn="l">
              <a:buNone/>
            </a:pPr>
            <a:r>
              <a:rPr lang="en-US" sz="2100" dirty="0">
                <a:solidFill>
                  <a:srgbClr val="181818"/>
                </a:solidFill>
                <a:latin typeface="Arial" pitchFamily="34" charset="0"/>
                <a:ea typeface="Arial" pitchFamily="34" charset="-122"/>
                <a:cs typeface="Arial" pitchFamily="34" charset="-120"/>
              </a:rPr>
              <a:t>Angle = tan⁻¹(0.02) ≈ 1.15°</a:t>
            </a:r>
            <a:endParaRPr lang="en-US" sz="2100" dirty="0"/>
          </a:p>
        </p:txBody>
      </p:sp>
      <p:sp>
        <p:nvSpPr>
          <p:cNvPr id="6" name="Text 4"/>
          <p:cNvSpPr/>
          <p:nvPr/>
        </p:nvSpPr>
        <p:spPr>
          <a:xfrm>
            <a:off x="609585" y="3190875"/>
            <a:ext cx="10972526" cy="959941"/>
          </a:xfrm>
          <a:prstGeom prst="rect">
            <a:avLst/>
          </a:prstGeom>
          <a:noFill/>
          <a:ln/>
        </p:spPr>
        <p:txBody>
          <a:bodyPr wrap="square" lIns="0" tIns="0" rIns="0" bIns="0" rtlCol="0" anchor="t"/>
          <a:lstStyle/>
          <a:p>
            <a:pPr marL="0" indent="0" algn="l">
              <a:buNone/>
            </a:pPr>
            <a:r>
              <a:rPr lang="en-US" sz="1800" dirty="0">
                <a:solidFill>
                  <a:srgbClr val="181818"/>
                </a:solidFill>
                <a:latin typeface="Arial" pitchFamily="34" charset="0"/>
                <a:ea typeface="Arial" pitchFamily="34" charset="-122"/>
                <a:cs typeface="Arial" pitchFamily="34" charset="-120"/>
              </a:rPr>
              <a:t>Angle example • Rise 350 mm; run 800 mm.</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θ = tan⁻¹(350 ÷ 800) ≈ 23.63°.</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Use the inverse-tangent function, not 1 ÷ tan. Check DEG mode.</a:t>
            </a:r>
            <a:endParaRPr lang="en-US" sz="1800" dirty="0"/>
          </a:p>
        </p:txBody>
      </p:sp>
      <p:sp>
        <p:nvSpPr>
          <p:cNvPr id="7" name="Text 5"/>
          <p:cNvSpPr/>
          <p:nvPr/>
        </p:nvSpPr>
        <p:spPr>
          <a:xfrm>
            <a:off x="609585" y="4714875"/>
            <a:ext cx="10972526" cy="959941"/>
          </a:xfrm>
          <a:prstGeom prst="rect">
            <a:avLst/>
          </a:prstGeom>
          <a:noFill/>
          <a:ln/>
        </p:spPr>
        <p:txBody>
          <a:bodyPr wrap="square" lIns="0" tIns="0" rIns="0" bIns="0" rtlCol="0" anchor="t"/>
          <a:lstStyle/>
          <a:p>
            <a:pPr marL="0" indent="0" algn="l">
              <a:buNone/>
            </a:pPr>
            <a:r>
              <a:rPr lang="en-US" sz="1800" dirty="0">
                <a:solidFill>
                  <a:srgbClr val="181818"/>
                </a:solidFill>
                <a:latin typeface="Arial" pitchFamily="34" charset="0"/>
                <a:ea typeface="Arial" pitchFamily="34" charset="-122"/>
                <a:cs typeface="Arial" pitchFamily="34" charset="-120"/>
              </a:rPr>
              <a:t>Together • Solve 13A Q10,14–15.</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Label degree answers differently from percentage answers.</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Shape Canvas: show rise and run; compare with a taught Numeracy Hub task.</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181818"/>
                </a:solidFill>
                <a:latin typeface="Arial" pitchFamily="34" charset="0"/>
                <a:ea typeface="Arial" pitchFamily="34" charset="-122"/>
                <a:cs typeface="Arial" pitchFamily="34" charset="-120"/>
              </a:rPr>
              <a:t>Textbook pp.207–209 • Numeracy Hub → Angles and Trig → Right-triangle trigonometry</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07</a:t>
            </a:r>
          </a:p>
        </p:txBody>
      </p:sp>
    </p:spTree>
    <p:extLst>
      <p:ext uri="{BB962C8B-B14F-4D97-AF65-F5344CB8AC3E}">
        <p14:creationId xmlns:p14="http://schemas.microsoft.com/office/powerpoint/2010/main" val="268977717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209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pic>
        <p:nvPicPr>
          <p:cNvPr id="5" name="Picture 4" descr="W06-L09.png"/>
          <p:cNvPicPr>
            <a:picLocks noChangeAspect="1"/>
          </p:cNvPicPr>
          <p:nvPr/>
        </p:nvPicPr>
        <p:blipFill>
          <a:blip r:embed="rId3"/>
          <a:stretch>
            <a:fillRect/>
          </a:stretch>
        </p:blipFill>
        <p:spPr>
          <a:xfrm>
            <a:off x="685800" y="2272228"/>
            <a:ext cx="10698480" cy="290790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ACCESS Textbook p.209 • Example 13.7 — Rise, run, angle and percentage grade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209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pic>
        <p:nvPicPr>
          <p:cNvPr id="5" name="Picture 4" descr="W06-L09-2.png"/>
          <p:cNvPicPr>
            <a:picLocks noChangeAspect="1"/>
          </p:cNvPicPr>
          <p:nvPr/>
        </p:nvPicPr>
        <p:blipFill>
          <a:blip r:embed="rId3"/>
          <a:stretch>
            <a:fillRect/>
          </a:stretch>
        </p:blipFill>
        <p:spPr>
          <a:xfrm>
            <a:off x="685800" y="2334062"/>
            <a:ext cx="10698480" cy="278423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ACCESS Textbook p.209 • Example 13.7 — Inverse tangent and separate degree/percent answers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t>Does a 2% grade mean an angle of 2°?</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a:t>No. Percent grade multiplies rise/run by 100; degrees come from inverse tangent in DEG mode.</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1" name="TextBox 10"/>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2" name="TextBox 11"/>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3" name="TextBox 12"/>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4" name="TextBox 13"/>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Solve Exercise Book 13A Q10,14–15. Label degree answers differently from percentages.</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Guided practice  |  13A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pic>
        <p:nvPicPr>
          <p:cNvPr id="5" name="Picture 4" descr="13A-Q10.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Compare your method  |  13A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pic>
        <p:nvPicPr>
          <p:cNvPr id="5" name="Picture 4" descr="13A-Q10.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164592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a:t>23.63°</a:t>
            </a:r>
          </a:p>
        </p:txBody>
      </p:sp>
      <p:sp>
        <p:nvSpPr>
          <p:cNvPr id="8" name="TextBox 7"/>
          <p:cNvSpPr txBox="1"/>
          <p:nvPr/>
        </p:nvSpPr>
        <p:spPr>
          <a:xfrm>
            <a:off x="685800" y="5166360"/>
            <a:ext cx="10698480" cy="685800"/>
          </a:xfrm>
          <a:prstGeom prst="rect">
            <a:avLst/>
          </a:prstGeom>
          <a:noFill/>
        </p:spPr>
        <p:txBody>
          <a:bodyPr wrap="square" lIns="0" rIns="0" tIns="0" bIns="0">
            <a:spAutoFit/>
          </a:bodyPr>
          <a:lstStyle/>
          <a:p>
            <a:pPr>
              <a:spcBef>
                <a:spcPts val="0"/>
              </a:spcBef>
              <a:spcAft>
                <a:spcPts val="300"/>
              </a:spcAft>
              <a:defRPr sz="1900" b="0">
                <a:solidFill>
                  <a:srgbClr val="4A4E54"/>
                </a:solidFill>
                <a:latin typeface="Arial"/>
              </a:defRPr>
            </a:pPr>
            <a:r>
              <a:rPr/>
              <a:t>tan⁻¹(350 ÷ 800)</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Complete Exercise Book 13A Q11–13 and 13B Q7; use Q12 as carpentry/truss extension. Show a Shape Canvas triangle and check the result with the Numeracy Hub.</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Open the ACCESS tool for this activity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pic>
        <p:nvPicPr>
          <p:cNvPr id="5" name="Picture 4" descr="hub-angle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tool activity: try, compare and record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Build the assigned rise/run triangle in Shape Canvas and label both dimensions.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Calculate grade and angle separately on paper, keeping % distinct from °.</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Check the triangle with Numeracy Hub Right-triangle trigonometry ramp/brace practice in DEG mode.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13A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pic>
        <p:nvPicPr>
          <p:cNvPr id="5" name="Picture 4" descr="13A-Q1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13A Q12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pic>
        <p:nvPicPr>
          <p:cNvPr id="5" name="Picture 4" descr="13A-Q12.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Exercise Book 13A Q10 and Q14; give the grade and angle separately.</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Independent check  |  13A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pic>
        <p:nvPicPr>
          <p:cNvPr id="5" name="Picture 4" descr="13A-Q10.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Independent check  |  13A Q14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pic>
        <p:nvPicPr>
          <p:cNvPr id="5" name="Picture 4" descr="13A-Q14.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W06-L09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22  •  2026-12-04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TotalTime>
  <Words>19960</Words>
  <Application>Microsoft Office PowerPoint</Application>
  <PresentationFormat>Widescreen</PresentationFormat>
  <Paragraphs>2040</Paragraphs>
  <Slides>165</Slides>
  <Notes>165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165</vt:i4>
      </vt:variant>
    </vt:vector>
  </HeadingPairs>
  <TitlesOfParts>
    <vt:vector size="168"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Carpentry Math | Full Day 22 | 2026-12-04</dc:title>
  <dc:creator>ACCESS Trades</dc:creator>
  <cp:lastModifiedBy>Gabriel Ostrowidzki</cp:lastModifiedBy>
  <cp:revision>3</cp:revision>
  <dcterms:created xsi:type="dcterms:W3CDTF">2026-10-19T18:44:52Z</dcterms:created>
  <dcterms:modified xsi:type="dcterms:W3CDTF">2026-10-19T19:22:04Z</dcterms:modified>
  <dc:subject>Angles, grades and carpentry slope applications</dc:subject>
</cp:coreProperties>
</file>