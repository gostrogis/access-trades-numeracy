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8" r:id="rId10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Worked teaching example retained from original slide 100.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Schedule'!E52 | 'Math Week 5'!A92</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8.6 pp.131–133; sections 8.7 p.134; calculator pp.31–33</a:t>
            </a:r>
          </a:p>
          <a:p>
            <a:r>
              <a:t>'Math Week 5'!B96</a:t>
            </a:r>
          </a:p>
          <a:p>
            <a:r>
              <a:t>'Math Week 5'!A100:F100</a:t>
            </a:r>
          </a:p>
          <a:p>
            <a:r>
              <a:t>ACCESS CARPENTRY SLIDES.pptx slides 99, 100, 101</a:t>
            </a:r>
          </a:p>
          <a:p>
            <a:r>
              <a:t>ACCESS Trades Numeracy Textbook p.131 — Example 8.11 — Side of a square plate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8.6 pp.131–133; sections 8.7 p.134; calculator pp.31–33</a:t>
            </a:r>
          </a:p>
          <a:p>
            <a:r>
              <a:t>'Math Week 5'!B96</a:t>
            </a:r>
          </a:p>
          <a:p>
            <a:r>
              <a:t>'Math Week 5'!A100:F100</a:t>
            </a:r>
          </a:p>
          <a:p>
            <a:r>
              <a:t>ACCESS CARPENTRY SLIDES.pptx slides 99, 100, 101</a:t>
            </a:r>
          </a:p>
          <a:p>
            <a:r>
              <a:t>ACCESS Trades Numeracy Textbook p.131 — Example 8.11 — Side of a square plate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p.132 • Figure 8.3 — Square side length and area</a:t>
            </a:r>
          </a:p>
          <a:p>
            <a:r>
              <a:t>Exact PDF/printed page: 132. Excerpt reproduced from the supplied ACCESS Textbook.</a:t>
            </a:r>
          </a:p>
          <a:p>
            <a:r>
              <a:t>Identify why the side is found using a square root and check by squaring it again.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p.131 • Example 8.11 — Find a square side using a square root</a:t>
            </a:r>
          </a:p>
          <a:p>
            <a:r>
              <a:t>Exact PDF/printed page: 131. Excerpt reproduced from the supplied ACCESS Textbook.</a:t>
            </a:r>
          </a:p>
          <a:p>
            <a:r>
              <a:t>Identify why the side is found using a square root and check by squaring it again.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8A-Q23</a:t>
            </a:r>
          </a:p>
          <a:p>
            <a:r>
              <a:t>Exact question: Make s the subject of A = s².</a:t>
            </a:r>
          </a:p>
          <a:p>
            <a:r>
              <a:t>Instructor answer: s = √A</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8A-Q23</a:t>
            </a:r>
          </a:p>
          <a:p>
            <a:r>
              <a:t>Exact question: Make s the subject of A = s².</a:t>
            </a:r>
          </a:p>
          <a:p>
            <a:r>
              <a:t>Instructor answer: s = √A</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square and rectangle; hide a dimension for a partner to calculate, then use Practice / Check all. Numeracy Hub Calculator: model-specific square-root entry.</a:t>
            </a:r>
          </a:p>
          <a:p>
            <a:r>
              <a:t>Create a square or rectangle in Shape Canvas and hide one dimension for a partner.</a:t>
            </a:r>
          </a:p>
          <a:p>
            <a:r>
              <a:t>Calculate the hidden dimension on paper; use the selected calculator’s square-root key order.</a:t>
            </a:r>
          </a:p>
          <a:p>
            <a:r>
              <a:t>Use Practice / Check all only after the attempt, then verify in the original area formula.</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8B-Q6</a:t>
            </a:r>
          </a:p>
          <a:p>
            <a:r>
              <a:t>Exact question: A square base plate has an area of 1,296 in². Find the side in inches and in feet.</a:t>
            </a:r>
          </a:p>
          <a:p>
            <a:r>
              <a:t>Instructor answer: 36 in = 3 ft</a:t>
            </a:r>
          </a:p>
          <a:p>
            <a:r>
              <a:t>Working: s = √1,296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8C-Q3</a:t>
            </a:r>
          </a:p>
          <a:p>
            <a:r>
              <a:t>Exact question: The circle has an area of 8,000 mm². Find r and D to two decimal places.</a:t>
            </a:r>
          </a:p>
          <a:p>
            <a:r>
              <a:t>Instructor answer: r = 50.46 mm, D = 100.93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8C-Q1</a:t>
            </a:r>
          </a:p>
          <a:p>
            <a:r>
              <a:t>Exact question: The rectangle has an area of 4,800 cm². Find the width.</a:t>
            </a:r>
          </a:p>
          <a:p>
            <a:r>
              <a:t>Instructor answer: 60 cm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8C-Q2</a:t>
            </a:r>
          </a:p>
          <a:p>
            <a:r>
              <a:t>Exact question: The square has an area of 3,136 mm². Find the side.</a:t>
            </a:r>
          </a:p>
          <a:p>
            <a:r>
              <a:t>Instructor answer: 56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W05-L05 | 2026-11-26 | 2:15 PM–3:30 PM | 75 minutes</a:t>
            </a:r>
          </a:p>
          <a:p>
            <a:r>
              <a:t>Hidden dimensions: square roots and formula checks</a:t>
            </a:r>
          </a:p>
          <a:p>
            <a:r>
              <a:t>Mode: Math</a:t>
            </a:r>
          </a:p>
          <a:p>
            <a:r>
              <a:t>Goal: Find a missing dimension from a known area and check the answer in the original formula.</a:t>
            </a:r>
          </a:p>
          <a:p>
            <a:r>
              <a:t>Read: Textbook sections 8.6 pp.131–133; sections 8.7 p.134; calculator pp.31–33</a:t>
            </a:r>
          </a:p>
          <a:p>
            <a:r>
              <a:t>Practise: Exercise Book 8A Q23–24 (p.52); 8B Q6,13 (pp.53–54); 8C Q1–4 (p.55)</a:t>
            </a:r>
          </a:p>
          <a:p>
            <a:r>
              <a:t>Tool: Shape Canvas: square and rectangle; hide a dimension for a partner to calculate, then use Practice / Check all. Numeracy Hub Calculator: model-specific square-root entry.</a:t>
            </a:r>
          </a:p>
          <a:p/>
          <a:p>
            <a:r>
              <a:t>EXACT SCHEDULED STEPS</a:t>
            </a:r>
          </a:p>
          <a:p>
            <a:r>
              <a:t>2:15 PM–2:20 PM | 1 Start | 5 min</a:t>
            </a:r>
          </a:p>
          <a:p>
            <a:r>
              <a:t>Instructor: Connect hidden dimensions: square roots and formula checks to a dimensioned carpentry drawing. State the objective.</a:t>
            </a:r>
          </a:p>
          <a:p>
            <a:r>
              <a:t>Learners: Describe a prior use of the skill; identify the given and unknown quantities.</a:t>
            </a:r>
          </a:p>
          <a:p>
            <a:r>
              <a:t>Materials/check: Notebook; calculator</a:t>
            </a:r>
          </a:p>
          <a:p>
            <a:r>
              <a:t>Source: 'Math Week 5'!A98:F98</a:t>
            </a:r>
          </a:p>
          <a:p/>
          <a:p>
            <a:r>
              <a:t>2:20 PM–2:25 PM | 2 Recall | 5 min</a:t>
            </a:r>
          </a:p>
          <a:p>
            <a:r>
              <a:t>Instructor: Ask how to undo a square, and why dividing by two is not the same as taking a square root.</a:t>
            </a:r>
          </a:p>
          <a:p>
            <a:r>
              <a:t>Learners: Attempt the retrieval task independently; explain the method before checking.</a:t>
            </a:r>
          </a:p>
          <a:p>
            <a:r>
              <a:t>Materials/check: Identify support needs</a:t>
            </a:r>
          </a:p>
          <a:p>
            <a:r>
              <a:t>Source: 'Math Week 5'!A99:F99</a:t>
            </a:r>
          </a:p>
          <a:p/>
          <a:p>
            <a:r>
              <a:t>2:25 PM–2:40 PM | 3 Teach | 15 min</a:t>
            </a:r>
          </a:p>
          <a:p>
            <a:r>
              <a:t>Instructor: Model finding a square’s side from its area. Demonstrate the different square-root key order for the two calculator models.</a:t>
            </a:r>
          </a:p>
          <a:p>
            <a:r>
              <a:t>Learners: Annotate the example and predict the next step; ask about unclear units or symbols.</a:t>
            </a:r>
          </a:p>
          <a:p>
            <a:r>
              <a:t>Materials/check: Textbook; worked example</a:t>
            </a:r>
          </a:p>
          <a:p>
            <a:r>
              <a:t>Source: 'Math Week 5'!A100:F100</a:t>
            </a:r>
          </a:p>
          <a:p/>
          <a:p>
            <a:r>
              <a:t>2:40 PM–2:55 PM | 4 Together | 15 min</a:t>
            </a:r>
          </a:p>
          <a:p>
            <a:r>
              <a:t>Instructor: Work Exercise Book 8A Q23 and Exercise Book 8C Q1–2. Learners check by multiplying the found dimensions.</a:t>
            </a:r>
          </a:p>
          <a:p>
            <a:r>
              <a:t>Learners: Work in pairs, alternating solver and checker. Write a diagram, formula, units and estimate.</a:t>
            </a:r>
          </a:p>
          <a:p>
            <a:r>
              <a:t>Materials/check: Exercise Book; tool above</a:t>
            </a:r>
          </a:p>
          <a:p>
            <a:r>
              <a:t>Source: 'Math Week 5'!A101:F101</a:t>
            </a:r>
          </a:p>
          <a:p/>
          <a:p>
            <a:r>
              <a:t>2:55 PM–3:15 PM | 5 Practise | 20 min</a:t>
            </a:r>
          </a:p>
          <a:p>
            <a:r>
              <a:t>Instructor: Complete Exercise Book 8B Q6,13; attempt Exercise Book 8C Q3–4 with formula support if ready. Make a hidden-dimension Shape Canvas prompt for a partner.</a:t>
            </a:r>
          </a:p>
          <a:p>
            <a:r>
              <a:t>Learners: Solve on paper first; check with tools; correct one error and explain the change.</a:t>
            </a:r>
          </a:p>
          <a:p>
            <a:r>
              <a:t>Materials/check: Paper first; tool second</a:t>
            </a:r>
          </a:p>
          <a:p>
            <a:r>
              <a:t>Source: 'Math Week 5'!A102:F102</a:t>
            </a:r>
          </a:p>
          <a:p/>
          <a:p>
            <a:r>
              <a:t>3:15 PM–3:25 PM | 6 Check | 10 min</a:t>
            </a:r>
          </a:p>
          <a:p>
            <a:r>
              <a:t>Instructor: Exercise Book 8C Q1–2 independently; substitute each answer back.</a:t>
            </a:r>
          </a:p>
          <a:p>
            <a:r>
              <a:t>Learners: Solve without displayed answers; include working, units and final rounding.</a:t>
            </a:r>
          </a:p>
          <a:p>
            <a:r>
              <a:t>Materials/check: Teacher answers below</a:t>
            </a:r>
          </a:p>
          <a:p>
            <a:r>
              <a:t>Source: 'Math Week 5'!A103:F103</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5'!A104:F104</a:t>
            </a:r>
          </a:p>
          <a:p/>
          <a:p>
            <a:r>
              <a:t>INSTRUCTOR ONLY: REVEAL ASSESSMENT ANSWERS AFTER THE ATTEMPT</a:t>
            </a:r>
          </a:p>
          <a:p>
            <a:r>
              <a:t>8C Q1 = 60 cm; Q2 = 56 mm. Answer Key p.24. Answer Key pp.22–24</a:t>
            </a:r>
          </a:p>
          <a:p/>
          <a:p>
            <a:r>
              <a:t>Apply perimeter formulas to frames before extending to curved boundaries.</a:t>
            </a:r>
          </a:p>
          <a:p/>
          <a:p>
            <a:r>
              <a:t>Sources: 'Math Week 5'!A14:E14; 'Carpentry Schedule'!E52; 'Math Week 5'!A92</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Apply perimeter formulas to frames before extending to curved boundaries.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9.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Resources/ACCESS-Tools/books/ACCESS-Trades-Numeracy-Textbook.pdf#page=132" TargetMode="External"/><Relationship Id="rId6" Type="http://schemas.openxmlformats.org/officeDocument/2006/relationships/hyperlink" Target="../Resources/ACCESS-Tools/books/ACCESS-Trades-Numeracy-Exercise-Book.pdf#page=5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Resources/ACCESS-Tools/books/ACCESS-Trades-Numeracy-Textbook.pdf#page=131"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hyperlink" Target="../Resources/ACCESS-Tools/books/ACCESS-Trades-Numeracy-Textbook.pdf#page=131" TargetMode="External"/><Relationship Id="rId5" Type="http://schemas.openxmlformats.org/officeDocument/2006/relationships/hyperlink" Target="../Resources/ACCESS-Tools/books/ACCESS-Trades-Numeracy-Exercise-Book.pdf#page=52"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16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26,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Hidden dimensions: square roots and formula checks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8" name="TextBox 7"/>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5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16  •  2026-11-26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16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Hidden dimensions: square roots and formula checks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5</a:t>
            </a:r>
          </a:p>
        </p:txBody>
      </p:sp>
      <p:sp>
        <p:nvSpPr>
          <p:cNvPr id="28" name="TextBox 27"/>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0" name="Rectangle 2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31" name="TextBox 3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32" name="TextBox 3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33" name="TextBox 3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34" name="TextBox 3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35" name="TextBox 3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Hidden dimensions: square roots and formula checks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Find a missing dimension from a known area and check the answer in the original formula.</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8.6 pp.131–133; sections 8.7 p.134; calculator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8A Q23–24 (p.52); 8B Q6,13 (pp.53–54); 8C Q1–4 (p.55)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how to undo a square, and why dividing by two is not the same as taking a square root.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the operation that undoes the formula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square, A = s², so the side length is s = √A.</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rectangle, A = l × w; divide by the known side to find the other.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square root undoes squaring; it is not the same as dividing by two.</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physical side length is reported as a positive length.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Validate a hidden dimension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known area and its square unit.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Find the missing dimension using the appropriate inverse operation.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the found dimensions to reproduce the original area.</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Report the dimension in a linear unit, not a square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W05-L05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Divide for a rectangle; root for a square</a:t>
            </a:r>
            <a:endParaRPr lang="en-US" sz="3000" dirty="0"/>
          </a:p>
        </p:txBody>
      </p:sp>
      <p:sp>
        <p:nvSpPr>
          <p:cNvPr id="5" name="Shape 3"/>
          <p:cNvSpPr/>
          <p:nvPr/>
        </p:nvSpPr>
        <p:spPr>
          <a:xfrm>
            <a:off x="609585"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6" name="Shape 4"/>
          <p:cNvSpPr/>
          <p:nvPr/>
        </p:nvSpPr>
        <p:spPr>
          <a:xfrm>
            <a:off x="5962501"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7" name="Text 5"/>
          <p:cNvSpPr/>
          <p:nvPr/>
        </p:nvSpPr>
        <p:spPr>
          <a:xfrm>
            <a:off x="838179" y="1905000"/>
            <a:ext cx="4571886"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RECTANGLE • A = l × w</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A = 4,800 cm²; l = 80 cm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w = 4,800 ÷ 80 = 60 cm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Check: 80 × 60 = 4,800 cm².</a:t>
            </a:r>
            <a:endParaRPr lang="en-US" sz="1800" dirty="0"/>
          </a:p>
        </p:txBody>
      </p:sp>
      <p:sp>
        <p:nvSpPr>
          <p:cNvPr id="8" name="Text 6"/>
          <p:cNvSpPr/>
          <p:nvPr/>
        </p:nvSpPr>
        <p:spPr>
          <a:xfrm>
            <a:off x="6191095" y="1905000"/>
            <a:ext cx="4571886"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SQUARE • A = s²</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A = 3,136 mm²</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 = √3,136 = 56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Check: 56² = 3,136 mm².</a:t>
            </a:r>
            <a:endParaRPr lang="en-US" sz="1800" dirty="0"/>
          </a:p>
        </p:txBody>
      </p:sp>
      <p:sp>
        <p:nvSpPr>
          <p:cNvPr id="9" name="Text 7"/>
          <p:cNvSpPr/>
          <p:nvPr/>
        </p:nvSpPr>
        <p:spPr>
          <a:xfrm>
            <a:off x="609585" y="409575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8A Q23 and 8C Q1–2. Name the shape first.</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Write the rearranged formula before calculator entry.</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Demonstrate square-root entry for the learner’s chosen calculator model.</a:t>
            </a:r>
            <a:endParaRPr lang="en-US" sz="1800" dirty="0"/>
          </a:p>
        </p:txBody>
      </p:sp>
      <p:sp>
        <p:nvSpPr>
          <p:cNvPr id="10" name="Text 8"/>
          <p:cNvSpPr/>
          <p:nvPr/>
        </p:nvSpPr>
        <p:spPr>
          <a:xfrm>
            <a:off x="609585" y="53816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Shape Canvas • Hide a square or rectangle dimension. Predict it on paper,</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then reveal it. Check the found dimensions by multiplication.</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Textbook pp.131–134 • Exercise Book 8C Q1–2 p.55 • Units change from square units to length units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07</a:t>
            </a:r>
          </a:p>
        </p:txBody>
      </p:sp>
    </p:spTree>
    <p:extLst>
      <p:ext uri="{BB962C8B-B14F-4D97-AF65-F5344CB8AC3E}">
        <p14:creationId xmlns:p14="http://schemas.microsoft.com/office/powerpoint/2010/main" val="227801263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132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W05-L05.png"/>
          <p:cNvPicPr>
            <a:picLocks noChangeAspect="1"/>
          </p:cNvPicPr>
          <p:nvPr/>
        </p:nvPicPr>
        <p:blipFill>
          <a:blip r:embed="rId3"/>
          <a:stretch>
            <a:fillRect/>
          </a:stretch>
        </p:blipFill>
        <p:spPr>
          <a:xfrm>
            <a:off x="693068" y="1691640"/>
            <a:ext cx="1068394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p.132 • Figure 8.3 — Square side length and area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131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W05-L05-2.png"/>
          <p:cNvPicPr>
            <a:picLocks noChangeAspect="1"/>
          </p:cNvPicPr>
          <p:nvPr/>
        </p:nvPicPr>
        <p:blipFill>
          <a:blip r:embed="rId3"/>
          <a:stretch>
            <a:fillRect/>
          </a:stretch>
        </p:blipFill>
        <p:spPr>
          <a:xfrm>
            <a:off x="685800" y="1887378"/>
            <a:ext cx="10698480" cy="367760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p.131 • Example 8.11 — Find a square side using a square root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Someone divides a square’s area by two to find its side. Which inverse is needed?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Take the square root, because the side was multiplied by itself. Then square the result to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8A Q23 and Exercise Book 8C Q1–2. Learners check by multiplying the found dimensions.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8A Q23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8A Q23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s = √A</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8B Q6,13; attempt Exercise Book 8C Q3–4 with formula support if ready. Make a hidden-dimension Shape Canvas prompt for a partner.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Create a square or rectangle in Shape Canvas and hide one dimension for a partner.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hidden dimension on paper; use the selected calculator’s square-root key order.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Practice / Check all only after the attempt, then verify in the original area formula.</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8B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8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8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8C Q1–2 independently; substitute each answer back.</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W05-L05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16  •  2026-11-26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16 | 2026-11-26</dc:title>
  <dc:creator>ACCESS Trades</dc:creator>
  <cp:lastModifiedBy>Gabriel Ostrowidzki</cp:lastModifiedBy>
  <cp:revision>3</cp:revision>
  <dcterms:created xsi:type="dcterms:W3CDTF">2026-10-19T18:44:52Z</dcterms:created>
  <dcterms:modified xsi:type="dcterms:W3CDTF">2026-10-19T19:22:04Z</dcterms:modified>
  <dc:subject>Hidden dimensions: square roots and formula checks</dc:subject>
</cp:coreProperties>
</file>