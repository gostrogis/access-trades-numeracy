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7"/>
  </p:notesMasterIdLst>
  <p:sldIdLst>
    <p:sldId id="435" r:id="rId172"/>
    <p:sldId id="436" r:id="rId173"/>
    <p:sldId id="437" r:id="rId174"/>
    <p:sldId id="438" r:id="rId175"/>
    <p:sldId id="439" r:id="rId176"/>
    <p:sldId id="440" r:id="rId177"/>
    <p:sldId id="368" r:id="rId101"/>
    <p:sldId id="441" r:id="rId178"/>
    <p:sldId id="442" r:id="rId179"/>
    <p:sldId id="443" r:id="rId180"/>
    <p:sldId id="444" r:id="rId181"/>
    <p:sldId id="445" r:id="rId182"/>
    <p:sldId id="446" r:id="rId183"/>
    <p:sldId id="447" r:id="rId184"/>
    <p:sldId id="448" r:id="rId185"/>
    <p:sldId id="449" r:id="rId186"/>
    <p:sldId id="450" r:id="rId187"/>
    <p:sldId id="451" r:id="rId188"/>
    <p:sldId id="452" r:id="rId189"/>
    <p:sldId id="453" r:id="rId190"/>
    <p:sldId id="454" r:id="rId191"/>
    <p:sldId id="455" r:id="rId1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520" autoAdjust="0"/>
  </p:normalViewPr>
  <p:slideViewPr>
    <p:cSldViewPr snapToGrid="0">
      <p:cViewPr varScale="1">
        <p:scale>
          <a:sx n="65" d="100"/>
          <a:sy n="65" d="100"/>
        </p:scale>
        <p:origin x="2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1" Type="http://schemas.openxmlformats.org/officeDocument/2006/relationships/slide" Target="slides/slide7.xml"/><Relationship Id="rId167" Type="http://schemas.openxmlformats.org/officeDocument/2006/relationships/notesMaster" Target="notesMasters/notesMaster1.xml"/><Relationship Id="rId168" Type="http://schemas.openxmlformats.org/officeDocument/2006/relationships/presProps" Target="presProps.xml"/><Relationship Id="rId169" Type="http://schemas.openxmlformats.org/officeDocument/2006/relationships/viewProps" Target="viewProps.xml"/><Relationship Id="rId170" Type="http://schemas.openxmlformats.org/officeDocument/2006/relationships/theme" Target="theme/theme1.xml"/><Relationship Id="rId171" Type="http://schemas.openxmlformats.org/officeDocument/2006/relationships/tableStyles" Target="tableStyles.xml"/><Relationship Id="rId172" Type="http://schemas.openxmlformats.org/officeDocument/2006/relationships/slide" Target="slides/slide1.xml"/><Relationship Id="rId173" Type="http://schemas.openxmlformats.org/officeDocument/2006/relationships/slide" Target="slides/slide2.xml"/><Relationship Id="rId174" Type="http://schemas.openxmlformats.org/officeDocument/2006/relationships/slide" Target="slides/slide3.xml"/><Relationship Id="rId175" Type="http://schemas.openxmlformats.org/officeDocument/2006/relationships/slide" Target="slides/slide4.xml"/><Relationship Id="rId176" Type="http://schemas.openxmlformats.org/officeDocument/2006/relationships/slide" Target="slides/slide5.xml"/><Relationship Id="rId177" Type="http://schemas.openxmlformats.org/officeDocument/2006/relationships/slide" Target="slides/slide6.xml"/><Relationship Id="rId178" Type="http://schemas.openxmlformats.org/officeDocument/2006/relationships/slide" Target="slides/slide8.xml"/><Relationship Id="rId179" Type="http://schemas.openxmlformats.org/officeDocument/2006/relationships/slide" Target="slides/slide9.xml"/><Relationship Id="rId180" Type="http://schemas.openxmlformats.org/officeDocument/2006/relationships/slide" Target="slides/slide10.xml"/><Relationship Id="rId181" Type="http://schemas.openxmlformats.org/officeDocument/2006/relationships/slide" Target="slides/slide11.xml"/><Relationship Id="rId182" Type="http://schemas.openxmlformats.org/officeDocument/2006/relationships/slide" Target="slides/slide12.xml"/><Relationship Id="rId183" Type="http://schemas.openxmlformats.org/officeDocument/2006/relationships/slide" Target="slides/slide13.xml"/><Relationship Id="rId184" Type="http://schemas.openxmlformats.org/officeDocument/2006/relationships/slide" Target="slides/slide14.xml"/><Relationship Id="rId185" Type="http://schemas.openxmlformats.org/officeDocument/2006/relationships/slide" Target="slides/slide15.xml"/><Relationship Id="rId186" Type="http://schemas.openxmlformats.org/officeDocument/2006/relationships/slide" Target="slides/slide16.xml"/><Relationship Id="rId187" Type="http://schemas.openxmlformats.org/officeDocument/2006/relationships/slide" Target="slides/slide17.xml"/><Relationship Id="rId188" Type="http://schemas.openxmlformats.org/officeDocument/2006/relationships/slide" Target="slides/slide18.xml"/><Relationship Id="rId189" Type="http://schemas.openxmlformats.org/officeDocument/2006/relationships/slide" Target="slides/slide19.xml"/><Relationship Id="rId190" Type="http://schemas.openxmlformats.org/officeDocument/2006/relationships/slide" Target="slides/slide20.xml"/><Relationship Id="rId191" Type="http://schemas.openxmlformats.org/officeDocument/2006/relationships/slide" Target="slides/slide21.xml"/><Relationship Id="rId192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43CA-EE69-4B9A-80F8-91B7489D0DD8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9165C-7370-4B52-8859-B50CCB8935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61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today’s math topics and review the timetable.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Start, 2:15 PM–2:20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2:20 PM–2:25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8.6 pp.131–133; sections 8.7 p.134; calculator pp.31–33</a:t>
            </a:r>
          </a:p>
          <a:p>
            <a:r>
              <a:t>ACCESS Trades Numeracy Textbook p.131 — Example 8.11 — Side of a square 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8.6 pp.131–133; sections 8.7 p.134; calculator pp.31–33</a:t>
            </a:r>
          </a:p>
          <a:p>
            <a:r>
              <a:t>ACCESS Trades Numeracy Textbook p.131 — Example 8.11 — Side of a square 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ACCESS Textbook p.132 • Figure 8.3 — Square side length and area</a:t>
            </a:r>
          </a:p>
          <a:p>
            <a:r>
              <a:t>Exact PDF/printed page: 132. ACCESS Textbook excerpt.</a:t>
            </a:r>
          </a:p>
          <a:p>
            <a:r>
              <a:t>Identify why the side is found using a square root and check by squaring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ACCESS Textbook p.131 • Example 8.11 — Find a square side using a square root</a:t>
            </a:r>
          </a:p>
          <a:p>
            <a:r>
              <a:t>Exact PDF/printed page: 131. ACCESS Textbook excerpt.</a:t>
            </a:r>
          </a:p>
          <a:p>
            <a:r>
              <a:t>Identify why the side is found using a square root and check by squaring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  <a:p/>
          <a:p>
            <a:r>
              <a:t>ACCESS EXERCISE BOOK: 8A-Q23</a:t>
            </a:r>
          </a:p>
          <a:p>
            <a:r>
              <a:t>Exact question: Make s the subject of A = s².</a:t>
            </a:r>
          </a:p>
          <a:p>
            <a:r>
              <a:t>Instructor answer: s = √A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  <a:p/>
          <a:p>
            <a:r>
              <a:t>ACCESS EXERCISE BOOK: 8A-Q23</a:t>
            </a:r>
          </a:p>
          <a:p>
            <a:r>
              <a:t>Exact question: Make s the subject of A = s².</a:t>
            </a:r>
          </a:p>
          <a:p>
            <a:r>
              <a:t>Instructor answer: s = √A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Exact scheduled tool activity: Shape Canvas: square and rectangle; hide a dimension for a partner to calculate, then use Practice / Check all. Numeracy Hub Calculator: model-specific square-root entry.</a:t>
            </a:r>
          </a:p>
          <a:p>
            <a:r>
              <a:t>Create a square or rectangle in Shape Canvas and hide one dimension for a partner.</a:t>
            </a:r>
          </a:p>
          <a:p>
            <a:r>
              <a:t>Calculate the hidden dimension on paper; use the selected calculator’s square-root key order.</a:t>
            </a:r>
          </a:p>
          <a:p>
            <a:r>
              <a:t>Use Practice / Check all only after the attempt, then verify in the original area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ACCESS EXERCISE BOOK: 8B-Q6</a:t>
            </a:r>
          </a:p>
          <a:p>
            <a:r>
              <a:t>Exact question: A square base plate has an area of 1,296 in². Find the side in inches and in feet.</a:t>
            </a:r>
          </a:p>
          <a:p>
            <a:r>
              <a:t>Instructor answer: 36 in = 3 ft</a:t>
            </a:r>
          </a:p>
          <a:p>
            <a:r>
              <a:t>Working: s = √1,296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ACCESS EXERCISE BOOK: 8C-Q3</a:t>
            </a:r>
          </a:p>
          <a:p>
            <a:r>
              <a:t>Exact question: The circle has an area of 8,000 mm². Find r and D to two decimal places.</a:t>
            </a:r>
          </a:p>
          <a:p>
            <a:r>
              <a:t>Instructor answer: r = 50.46 mm, D = 100.93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  <a:p/>
          <a:p>
            <a:r>
              <a:t>ACCESS EXERCISE BOOK: 8C-Q1</a:t>
            </a:r>
          </a:p>
          <a:p>
            <a:r>
              <a:t>Exact question: The rectangle has an area of 4,800 cm². Find the width.</a:t>
            </a:r>
          </a:p>
          <a:p>
            <a:r>
              <a:t>Instructor answer: 60 cm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  <a:p/>
          <a:p>
            <a:r>
              <a:t>ACCESS EXERCISE BOOK: 8C-Q2</a:t>
            </a:r>
          </a:p>
          <a:p>
            <a:r>
              <a:t>Exact question: The square has an area of 3,136 mm². Find the side.</a:t>
            </a:r>
          </a:p>
          <a:p>
            <a:r>
              <a:t>Instructor answer: 56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W05-L05 | 2026-11-26 | 2:15 PM–3:30 PM | 75 minutes</a:t>
            </a:r>
          </a:p>
          <a:p>
            <a:r>
              <a:t>Hidden dimensions: square roots and formula checks</a:t>
            </a:r>
          </a:p>
          <a:p>
            <a:r>
              <a:t>Mode: Math</a:t>
            </a:r>
          </a:p>
          <a:p>
            <a:r>
              <a:t>Goal: Find a missing dimension from a known area and check the answer in the original formula.</a:t>
            </a:r>
          </a:p>
          <a:p>
            <a:r>
              <a:t>Read: Textbook sections 8.6 pp.131–133; sections 8.7 p.134; calculator pp.31–33</a:t>
            </a:r>
          </a:p>
          <a:p>
            <a:r>
              <a:t>Practise: Exercise Book 8A Q23–24 (p.52); 8B Q6,13 (pp.53–54); 8C Q1–4 (p.55)</a:t>
            </a:r>
          </a:p>
          <a:p>
            <a:r>
              <a:t>Tool: Shape Canvas: square and rectangle; hide a dimension for a partner to calculate, then use Practice / Check all. Numeracy Hub Calculator: model-specific square-root entry.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hidden dimensions: square roots and formula checks to a dimensioned carpentry drawing. State the objective.</a:t>
            </a:r>
          </a:p>
          <a:p>
            <a:r>
              <a:t>Learners: Describe a prior use of the skill; identify the given and unknown quantities.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to undo a square, and why dividing by two is not the same as taking a square root.</a:t>
            </a:r>
          </a:p>
          <a:p>
            <a:r>
              <a:t>Learners: Attempt the retrieval task independently; explain the method before checking.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finding a square’s side from its area. Demonstrate the different square-root key order for the two calculator models.</a:t>
            </a:r>
          </a:p>
          <a:p>
            <a:r>
              <a:t>Learners: Annotate the example and predict the next step; ask about unclear units or symbols.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8A Q23 and Exercise Book 8C Q1–2. Learners check by multiplying the found dimensions.</a:t>
            </a:r>
          </a:p>
          <a:p>
            <a:r>
              <a:t>Learners: Work in pairs, alternating solver and checker. Write a diagram, formula, units and estimate.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8B Q6,13; attempt Exercise Book 8C Q3–4 with formula support if ready. Make a hidden-dimension Shape Canvas prompt for a partner.</a:t>
            </a:r>
          </a:p>
          <a:p>
            <a:r>
              <a:t>Learners: Solve on paper first; check with tools; correct one error and explain the change.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8C Q1–2 independently; substitute each answer back.</a:t>
            </a:r>
          </a:p>
          <a:p>
            <a:r>
              <a:t>Learners: Solve without displayed answers; include working, units and final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changed in your understanding? Where will you use it? What should you check next time?</a:t>
            </a:r>
          </a:p>
          <a:p>
            <a:r>
              <a:t>Learners: Name the math and one other essential skill used; record a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8C Q1 = 60 cm; Q2 = 56 mm. Answer Key p.24. Answer Key pp.22–24</a:t>
            </a:r>
          </a:p>
          <a:p/>
          <a:p>
            <a:r>
              <a:t>Apply perimeter formulas to frames before extending to curved boundaries.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3:25 PM–3:30 PM. All slides with this phase share these 5 minutes; do not restart the time allocation for each slide.</a:t>
            </a:r>
          </a:p>
          <a:p/>
          <a:p>
            <a:r>
              <a:t>Next scheduled learning: Apply perimeter formulas to frames before extending to curved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2" TargetMode="External"/><Relationship Id="rId6" Type="http://schemas.openxmlformats.org/officeDocument/2006/relationships/hyperlink" Target="../../../books/ACCESS-Trades-Numeracy-Exercise-Book.pdf#page=52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2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2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../../../books/ACCESS-Trades-Numeracy-Textbook.pdf#page=131" TargetMode="External"/><Relationship Id="rId6" Type="http://schemas.openxmlformats.org/officeDocument/2006/relationships/hyperlink" Target="../../../books/ACCESS-Trades-Numeracy-Exercise-Book.pdf#page=5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9.png"/><Relationship Id="rId4" Type="http://schemas.openxmlformats.org/officeDocument/2006/relationships/hyperlink" Target="../../../books/ACCESS-Trades-Numeracy-Textbook.pdf#page=131" TargetMode="External"/><Relationship Id="rId5" Type="http://schemas.openxmlformats.org/officeDocument/2006/relationships/hyperlink" Target="../../../books/ACCESS-Trades-Numeracy-Exercise-Book.pdf#page=52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ACCESS  /  CARPENTRY FOUNDATION  /  INTAKE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43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1A1A1A"/>
                </a:solidFill>
                <a:latin typeface="Arial"/>
              </a:defRPr>
            </a:pPr>
            <a:r>
              <a:t>Day 16  | 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88366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4A4E54"/>
                </a:solidFill>
                <a:latin typeface="Arial"/>
              </a:defRPr>
            </a:pPr>
            <a:r>
              <a:t>November 26,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633472"/>
            <a:ext cx="109728" cy="2194560"/>
          </a:xfrm>
          <a:prstGeom prst="rect">
            <a:avLst/>
          </a:prstGeom>
          <a:solidFill>
            <a:srgbClr val="D2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32688" y="274320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Hidden dimensions: square roots and formula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004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2:15 PM–3:30 PM  •  Math  •  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4068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D2181F"/>
                </a:solidFill>
                <a:latin typeface="Arial"/>
              </a:defRPr>
            </a:pPr>
            <a:r>
              <a:t>Week 5  •  1 scheduled block  •  75 teaching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t>Estimate. Show the method. Label units. Check the result.</a:t>
            </a:r>
          </a:p>
        </p:txBody>
      </p:sp>
      <p:pic>
        <p:nvPicPr>
          <p:cNvPr id="10" name="Picture 9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16  •  2026-11-26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rPr/>
              <a:t>DAY 16  /  WEEK 5  /  CLASS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1A1A1A"/>
                </a:solidFill>
                <a:latin typeface="Arial"/>
              </a:defRPr>
            </a:pPr>
            <a:r>
              <a:rPr/>
              <a:t>Today’s exact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2:15 PM–3:30 PM  • 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Hidden dimensions: square roots and formula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2:15 PM–2:20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752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2:20 PM–2:25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2:25 PM–2:40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2:40 PM–2:55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2:55 PM–3:15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3:15 PM–3:25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3:25 PM–3:30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Math  •  Math Week 5, Lesson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6053328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1A"/>
                </a:solidFill>
                <a:latin typeface="Arial"/>
              </a:defRPr>
            </a:pPr>
            <a:r>
              <a:rPr/>
              <a:t>One math block today. Other scheduled program sessions remain separate.</a:t>
            </a:r>
          </a:p>
        </p:txBody>
      </p:sp>
      <p:pic>
        <p:nvPicPr>
          <p:cNvPr id="29" name="Picture 2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START  •  2:15 PM–2:20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Hidden dimensions: square roots and formula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Find a missing dimension from a known area and check the answer in the original formula.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Describe a prior use of the skill; identify the given and unknown quantities.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Exercise Book 8A Q23–24 (p.52); 8B Q6,13 (pp.53–54); 8C Q1–4 (p.55)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RECALL  •  2:20 PM–2:25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Explain how to undo a square, and why dividing by two is not the same as taking a square root.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Attempt the retrieval task independently; explain the method before checking.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8A Q23–24 (p.52); 8B Q6,13 (pp.53–54); 8C Q1–4 (p.55)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Choose the operation that undoes the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For a square, A = s², so the side length is s = √A.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For a rectangle, A = l × w; divide by the known side to find the other.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 square root undoes squaring; it is not the same as dividing by two.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 physical side length is reported as a positive length.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Validate a hidden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Write the known area and its square unit.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Find the missing dimension using the appropriate inverse operation.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Multiply the found dimensions to reproduce the original area.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Report the dimension in a linear unit, not a square unit.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W05-L05  •  TEACH  •  2:25 PM–2:40 PM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for a rectangle; root for a square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1714500"/>
            <a:ext cx="5048124" cy="1952625"/>
          </a:xfrm>
          <a:prstGeom prst="rect">
            <a:avLst/>
          </a:prstGeom>
          <a:solidFill>
            <a:srgbClr val="F3F4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962501" y="1714500"/>
            <a:ext cx="5048124" cy="1952625"/>
          </a:xfrm>
          <a:prstGeom prst="rect">
            <a:avLst/>
          </a:prstGeom>
          <a:solidFill>
            <a:srgbClr val="F3F4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38179" y="1905000"/>
            <a:ext cx="457188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• A = l × w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4,800 cm²; l = 80 cm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4,800 ÷ 80 = 60 cm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80 × 60 = 4,800 cm².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91095" y="1905000"/>
            <a:ext cx="457188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• A = s²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3,136 mm²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√3,136 = 56 mm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56² = 3,136 mm².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095750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• Work 8A Q23 and 8C Q1–2. Name the shape first.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rearranged formula before calculator entry.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square-root entry for the learner’s chosen calculator model.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538162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Canvas • Hide a square or rectangle dimension. Predict it on paper,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reveal it. Check the found dimensions by multiplication.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 pp.131–134 • Exercise Book 8C Q1–2 p.55 • Units change from square units to length units</a:t>
            </a:r>
            <a:endParaRPr lang="en-US" sz="1050" dirty="0"/>
          </a:p>
        </p:txBody>
      </p:sp>
      <p:pic>
        <p:nvPicPr>
          <p:cNvPr id="12" name="Picture 11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07</a:t>
            </a:r>
          </a:p>
        </p:txBody>
      </p:sp>
    </p:spTree>
    <p:extLst>
      <p:ext uri="{BB962C8B-B14F-4D97-AF65-F5344CB8AC3E}">
        <p14:creationId xmlns:p14="http://schemas.microsoft.com/office/powerpoint/2010/main" val="227801263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132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W05-L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68" y="1691640"/>
            <a:ext cx="10683943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ACCESS Textbook p.132 • Figure 8.3 — Square side length and area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131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W05-L0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87378"/>
            <a:ext cx="10698480" cy="3677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ACCESS Textbook p.131 • Example 8.11 — Find a square side using a square root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Someone divides a square’s area by two to find its side. Which inverse is needed?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Take the square root, because the side was multiplied by itself. Then square the result to check.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Work Exercise Book 8A Q23 and Exercise Book 8C Q1–2. Learners check by multiplying the found dimensions.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Work in pairs, alternating solver and checker. Write a diagram, formula, units and estimate.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8A Q23–24 (p.52); 8B Q6,13 (pp.53–54); 8C Q1–4 (p.55)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Guided practice  |  8A Q23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8A-Q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Work with a partner. Take turns explaining the next step.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Compare your method  |  8A Q23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8A-Q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1690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D2181F"/>
                </a:solidFill>
                <a:latin typeface="Arial"/>
              </a:defRPr>
            </a:pPr>
            <a:r>
              <a:rPr/>
              <a:t>CHECK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A1A1A"/>
                </a:solidFill>
                <a:latin typeface="Arial"/>
              </a:defRPr>
            </a:pPr>
            <a:r>
              <a:rPr/>
              <a:t>s = √A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Exercise Book 8B Q6,13; attempt Exercise Book 8C Q3–4 with formula support if ready. Make a hidden-dimension Shape Canvas prompt for a partner.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Solve on paper first; check with tools; correct one error and explain the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8A Q23–24 (p.52); 8B Q6,13 (pp.53–54); 8C Q1–4 (p.55)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shape-rect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Create a square or rectangle in Shape Canvas and hide one dimension for a partner.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Calculate the hidden dimension on paper; use the selected calculator’s square-root key order.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Use Practice / Check all only after the attempt, then verify in the original area formula.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8B Q6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8B-Q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6362"/>
            <a:ext cx="10698480" cy="136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8C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8C-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Exercise Book 8C Q1–2 independently; substitute each answer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Solve without displayed answers; include working, units and final rounding.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8A Q23–24 (p.52); 8B Q6,13 (pp.53–54); 8C Q1–4 (p.55)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8C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8C-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8C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pic>
        <p:nvPicPr>
          <p:cNvPr id="5" name="Picture 4" descr="8C-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W05-L05  •  WRAP UP  •  3:25 PM–3:30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8.6 pp.131–133; sections 8.7 p.134; calculator pp.31–33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Ask: What changed in your understanding? Where will you use it? What should you check next time?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Name the math and one other essential skill used; record a next practice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8A Q23–24 (p.52); 8B Q6,13 (pp.53–54); 8C Q1–4 (p.55)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16  •  2026-11-26  •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34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0FB143F-4C5F-4CFA-83D4-CE599B274CB0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15ce61c-59d5-4165-9b38-ae3aa70e227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6CE026-134B-41F5-918B-2FB126868299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fd5b780e-6113-4733-b1f1-d8726169f4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22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Carpentry Math | Full Day 16 | 2026-11-26</dc:title>
  <dc:creator>ACCESS Trades</dc:creator>
  <dc:subject>Hidden dimensions: square roots and formula checks</dc:subject>
</cp:coreProperties>
</file>