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0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7"/>
  </p:notesMasterIdLst>
  <p:sldIdLst>
    <p:sldId id="435" r:id="rId172"/>
    <p:sldId id="436" r:id="rId173"/>
    <p:sldId id="437" r:id="rId174"/>
    <p:sldId id="438" r:id="rId175"/>
    <p:sldId id="439" r:id="rId176"/>
    <p:sldId id="440" r:id="rId177"/>
    <p:sldId id="409" r:id="rId141"/>
    <p:sldId id="441" r:id="rId178"/>
    <p:sldId id="442" r:id="rId179"/>
    <p:sldId id="443" r:id="rId180"/>
    <p:sldId id="444" r:id="rId181"/>
    <p:sldId id="445" r:id="rId182"/>
    <p:sldId id="446" r:id="rId183"/>
    <p:sldId id="447" r:id="rId184"/>
    <p:sldId id="448" r:id="rId185"/>
    <p:sldId id="449" r:id="rId186"/>
    <p:sldId id="450" r:id="rId187"/>
    <p:sldId id="451" r:id="rId188"/>
    <p:sldId id="452" r:id="rId189"/>
    <p:sldId id="453" r:id="rId190"/>
    <p:sldId id="454" r:id="rId191"/>
    <p:sldId id="455" r:id="rId192"/>
    <p:sldId id="456" r:id="rId193"/>
    <p:sldId id="412" r:id="rId144"/>
    <p:sldId id="457" r:id="rId194"/>
    <p:sldId id="458" r:id="rId195"/>
    <p:sldId id="459" r:id="rId196"/>
    <p:sldId id="460" r:id="rId197"/>
    <p:sldId id="461" r:id="rId198"/>
    <p:sldId id="462" r:id="rId199"/>
    <p:sldId id="463" r:id="rId200"/>
    <p:sldId id="464" r:id="rId201"/>
    <p:sldId id="465" r:id="rId202"/>
    <p:sldId id="466" r:id="rId20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0520" autoAdjust="0"/>
  </p:normalViewPr>
  <p:slideViewPr>
    <p:cSldViewPr snapToGrid="0">
      <p:cViewPr varScale="1">
        <p:scale>
          <a:sx n="65" d="100"/>
          <a:sy n="65" d="100"/>
        </p:scale>
        <p:origin x="2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1" Type="http://schemas.openxmlformats.org/officeDocument/2006/relationships/slide" Target="slides/slide7.xml"/><Relationship Id="rId144" Type="http://schemas.openxmlformats.org/officeDocument/2006/relationships/slide" Target="slides/slide24.xml"/><Relationship Id="rId167" Type="http://schemas.openxmlformats.org/officeDocument/2006/relationships/notesMaster" Target="notesMasters/notesMaster1.xml"/><Relationship Id="rId168" Type="http://schemas.openxmlformats.org/officeDocument/2006/relationships/presProps" Target="presProps.xml"/><Relationship Id="rId169" Type="http://schemas.openxmlformats.org/officeDocument/2006/relationships/viewProps" Target="viewProps.xml"/><Relationship Id="rId170" Type="http://schemas.openxmlformats.org/officeDocument/2006/relationships/theme" Target="theme/theme1.xml"/><Relationship Id="rId171" Type="http://schemas.openxmlformats.org/officeDocument/2006/relationships/tableStyles" Target="tableStyles.xml"/><Relationship Id="rId172" Type="http://schemas.openxmlformats.org/officeDocument/2006/relationships/slide" Target="slides/slide1.xml"/><Relationship Id="rId173" Type="http://schemas.openxmlformats.org/officeDocument/2006/relationships/slide" Target="slides/slide2.xml"/><Relationship Id="rId174" Type="http://schemas.openxmlformats.org/officeDocument/2006/relationships/slide" Target="slides/slide3.xml"/><Relationship Id="rId175" Type="http://schemas.openxmlformats.org/officeDocument/2006/relationships/slide" Target="slides/slide4.xml"/><Relationship Id="rId176" Type="http://schemas.openxmlformats.org/officeDocument/2006/relationships/slide" Target="slides/slide5.xml"/><Relationship Id="rId177" Type="http://schemas.openxmlformats.org/officeDocument/2006/relationships/slide" Target="slides/slide6.xml"/><Relationship Id="rId178" Type="http://schemas.openxmlformats.org/officeDocument/2006/relationships/slide" Target="slides/slide8.xml"/><Relationship Id="rId179" Type="http://schemas.openxmlformats.org/officeDocument/2006/relationships/slide" Target="slides/slide9.xml"/><Relationship Id="rId180" Type="http://schemas.openxmlformats.org/officeDocument/2006/relationships/slide" Target="slides/slide10.xml"/><Relationship Id="rId181" Type="http://schemas.openxmlformats.org/officeDocument/2006/relationships/slide" Target="slides/slide11.xml"/><Relationship Id="rId182" Type="http://schemas.openxmlformats.org/officeDocument/2006/relationships/slide" Target="slides/slide12.xml"/><Relationship Id="rId183" Type="http://schemas.openxmlformats.org/officeDocument/2006/relationships/slide" Target="slides/slide13.xml"/><Relationship Id="rId184" Type="http://schemas.openxmlformats.org/officeDocument/2006/relationships/slide" Target="slides/slide14.xml"/><Relationship Id="rId185" Type="http://schemas.openxmlformats.org/officeDocument/2006/relationships/slide" Target="slides/slide15.xml"/><Relationship Id="rId186" Type="http://schemas.openxmlformats.org/officeDocument/2006/relationships/slide" Target="slides/slide16.xml"/><Relationship Id="rId187" Type="http://schemas.openxmlformats.org/officeDocument/2006/relationships/slide" Target="slides/slide17.xml"/><Relationship Id="rId188" Type="http://schemas.openxmlformats.org/officeDocument/2006/relationships/slide" Target="slides/slide18.xml"/><Relationship Id="rId189" Type="http://schemas.openxmlformats.org/officeDocument/2006/relationships/slide" Target="slides/slide19.xml"/><Relationship Id="rId190" Type="http://schemas.openxmlformats.org/officeDocument/2006/relationships/slide" Target="slides/slide20.xml"/><Relationship Id="rId191" Type="http://schemas.openxmlformats.org/officeDocument/2006/relationships/slide" Target="slides/slide21.xml"/><Relationship Id="rId192" Type="http://schemas.openxmlformats.org/officeDocument/2006/relationships/slide" Target="slides/slide22.xml"/><Relationship Id="rId193" Type="http://schemas.openxmlformats.org/officeDocument/2006/relationships/slide" Target="slides/slide23.xml"/><Relationship Id="rId194" Type="http://schemas.openxmlformats.org/officeDocument/2006/relationships/slide" Target="slides/slide25.xml"/><Relationship Id="rId195" Type="http://schemas.openxmlformats.org/officeDocument/2006/relationships/slide" Target="slides/slide26.xml"/><Relationship Id="rId196" Type="http://schemas.openxmlformats.org/officeDocument/2006/relationships/slide" Target="slides/slide27.xml"/><Relationship Id="rId197" Type="http://schemas.openxmlformats.org/officeDocument/2006/relationships/slide" Target="slides/slide28.xml"/><Relationship Id="rId198" Type="http://schemas.openxmlformats.org/officeDocument/2006/relationships/slide" Target="slides/slide29.xml"/><Relationship Id="rId199" Type="http://schemas.openxmlformats.org/officeDocument/2006/relationships/slide" Target="slides/slide30.xml"/><Relationship Id="rId200" Type="http://schemas.openxmlformats.org/officeDocument/2006/relationships/slide" Target="slides/slide31.xml"/><Relationship Id="rId201" Type="http://schemas.openxmlformats.org/officeDocument/2006/relationships/slide" Target="slides/slide32.xml"/><Relationship Id="rId202" Type="http://schemas.openxmlformats.org/officeDocument/2006/relationships/slide" Target="slides/slide33.xml"/><Relationship Id="rId203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A43CA-EE69-4B9A-80F8-91B7489D0DD8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9165C-7370-4B52-8859-B50CCB89355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8613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Use this worked example within the scheduled Teach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  <a:p>
            <a:r>
              <a:t>Use this worked example within the scheduled Teach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today’s math topics and review the timetable.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PHASE TIMING: Start, 12:45 PM–12:50 PM.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PHASE TIMING: Recall, 12:50 PM–12:55 PM.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12:55 PM–1:10 PM.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Chapter 3 pp.44–51; Chapter 9 p.140; Chapter 10 pp.154–157</a:t>
            </a:r>
          </a:p>
          <a:p>
            <a:r>
              <a:t>ACCESS Trades Numeracy Textbook p.140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12:55 PM–1:10 PM.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Chapter 3 pp.44–51; Chapter 9 p.140; Chapter 10 pp.154–157</a:t>
            </a:r>
          </a:p>
          <a:p>
            <a:r>
              <a:t>ACCESS Trades Numeracy Textbook p.140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12:55 PM–1:10 PM. All slides with this phase share these 15 minutes; do not restart the time allocation for each slide.</a:t>
            </a:r>
          </a:p>
          <a:p/>
          <a:p>
            <a:r>
              <a:t>Textbook visual: Example 9.1: label the boundary before calculating a perimeter.</a:t>
            </a:r>
          </a:p>
          <a:p>
            <a:r>
              <a:t>Exact PDF/printed page: 140. ACCESS Textbook excerpt.</a:t>
            </a:r>
          </a:p>
          <a:p>
            <a:r>
              <a:t>Example 9.1: labelled rectangular guard frame and perimeter method. Focus on the example and use it to connect a labelled boundary to the scheduled floor calculation.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PHASE TIMING: Teach, 12:55 PM–1:10 PM. All slides with this phase share these 15 minutes; do not restart the time allocation for each slide.</a:t>
            </a:r>
          </a:p>
          <a:p/>
          <a:p>
            <a:r>
              <a:t>Pause on the prompt before discussing the correction. This is included within the scheduled Teach block, not an additional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1:10 PM–1:25 PM. All slides with this phase share these 15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1:10 PM–1:25 PM. All slides with this phase share these 15 minutes; do not restart the time allocation for each slide.</a:t>
            </a:r>
          </a:p>
          <a:p/>
          <a:p>
            <a:r>
              <a:t>ACCESS EXERCISE BOOK: 3C-Q3</a:t>
            </a:r>
          </a:p>
          <a:p>
            <a:r>
              <a:t>Exact question: Four 1,200 mm pieces are cut from a 6,000 mm bar with four cuts. The kerf is 3 mm. The offcut is 6,000 − (4 × 1,200 + 4 × 3). Find it.</a:t>
            </a:r>
          </a:p>
          <a:p>
            <a:r>
              <a:t>Instructor answer: 1,188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1:10 PM–1:25 PM. All slides with this phase share these 15 minutes; do not restart the time allocation for each slide.</a:t>
            </a:r>
          </a:p>
          <a:p/>
          <a:p>
            <a:r>
              <a:t>ACCESS EXERCISE BOOK: 3C-Q3</a:t>
            </a:r>
          </a:p>
          <a:p>
            <a:r>
              <a:t>Exact question: Four 1,200 mm pieces are cut from a 6,000 mm bar with four cuts. The kerf is 3 mm. The offcut is 6,000 − (4 × 1,200 + 4 × 3). Find it.</a:t>
            </a:r>
          </a:p>
          <a:p>
            <a:r>
              <a:t>Instructor answer: 1,188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1:25 PM–1:45 PM. All slides with this phase share these 20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1:25 PM–1:45 PM. All slides with this phase share these 20 minutes; do not restart the time allocation for each slide.</a:t>
            </a:r>
          </a:p>
          <a:p/>
          <a:p>
            <a:r>
              <a:t>Demonstrate navigation, then open the tool and use the assigned values. Keep worked answers hidden until learners attempt the task. Include this activity within the allocated practice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1:25 PM–1:45 PM. All slides with this phase share these 20 minutes; do not restart the time allocation for each slide.</a:t>
            </a:r>
          </a:p>
          <a:p/>
          <a:p>
            <a:r>
              <a:t>Exact scheduled tool activity: Shape Canvas: set m units; draw the 7.2 m × 3.6 m floor rectangle from Exercise Book 10B Q1. Add a Text cut-list note. Numeracy Hub Calculator for numerical checks.</a:t>
            </a:r>
          </a:p>
          <a:p>
            <a:r>
              <a:t>In Shape Canvas, set units to m and draw the 7.2 m × 3.6 m floor rectangle; label the dimensions.</a:t>
            </a:r>
          </a:p>
          <a:p>
            <a:r>
              <a:t>Add a Text cut-list note that keeps the separate 6,000 mm stock problem, four cuts and 3 mm kerf explicit; retain the written equations and assumptions.</a:t>
            </a:r>
          </a:p>
          <a:p>
            <a:r>
              <a:t>After the paper calculations, use Numeracy Hub Calculator for numerical checks. Save the labelled floor sketch and assumptions for the next material-order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1:25 PM–1:45 PM. All slides with this phase share these 20 minutes; do not restart the time allocation for each slide.</a:t>
            </a:r>
          </a:p>
          <a:p/>
          <a:p>
            <a:r>
              <a:t>ACCESS EXERCISE BOOK: 3C-Q3</a:t>
            </a:r>
          </a:p>
          <a:p>
            <a:r>
              <a:t>Exact question: Four 1,200 mm pieces are cut from a 6,000 mm bar with four cuts. The kerf is 3 mm. The offcut is 6,000 − (4 × 1,200 + 4 × 3). Find it.</a:t>
            </a:r>
          </a:p>
          <a:p>
            <a:r>
              <a:t>Instructor answer: 1,188 mm</a:t>
            </a:r>
          </a:p>
          <a:p>
            <a:r>
              <a:t>Working: 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PHASE TIMING: Check, 1:45 PM–1:55 PM. All slides with this phase share these 10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W07-L01 | 2026-12-07 | 12:45 PM–2:00 PM | 75 minutes</a:t>
            </a:r>
          </a:p>
          <a:p>
            <a:r>
              <a:t>Carpentry drawing: floor layout and cut list</a:t>
            </a:r>
          </a:p>
          <a:p>
            <a:r>
              <a:t>Mode: Math</a:t>
            </a:r>
          </a:p>
          <a:p>
            <a:r>
              <a:t>Goal: Extract dimensions from a drawing, calculate a perimeter and offcut, and explain assumptions in a cut list.</a:t>
            </a:r>
          </a:p>
          <a:p>
            <a:r>
              <a:t>Read: Textbook Chapter 3 pp.44–51; Chapter 9 p.140; Chapter 10 pp.154–157</a:t>
            </a:r>
          </a:p>
          <a:p>
            <a:r>
              <a:t>Practise: Exercise Book 10B Q1 (p.65); 3C Q3 (p.23); 12B Q5 (p.78)</a:t>
            </a:r>
          </a:p>
          <a:p>
            <a:r>
              <a:t>Tool: Shape Canvas: set m units; draw the 7.2 m × 3.6 m floor rectangle from Exercise Book 10B Q1. Add a Text cut-list note. Numeracy Hub Calculator for numerical checks.</a:t>
            </a:r>
          </a:p>
          <a:p/>
          <a:p>
            <a:r>
              <a:t>EXACT SCHEDULED STEPS</a:t>
            </a:r>
          </a:p>
          <a:p>
            <a:r>
              <a:t>12:45 PM–12:50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12:50 PM–12:55 PM | 2 Recall | 5 min</a:t>
            </a:r>
          </a:p>
          <a:p>
            <a:r>
              <a:t>Instructor: Ask which dimensions are needed for perimeter, area and diagonal; retrieve one kerf calculation.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12:55 PM–1:10 PM | 3 Teach | 15 min</a:t>
            </a:r>
          </a:p>
          <a:p>
            <a:r>
              <a:t>Instructor: Introduce an instructor-designed carpentry adaptation of Exercise Book 10B Q1: same dimensions, using plywood rather than checker plate. Keep no-waste and rectangular-layout assumptions explicit.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1:10 PM–1:25 PM | 4 Together | 15 min</a:t>
            </a:r>
          </a:p>
          <a:p>
            <a:r>
              <a:t>Instructor: Partners annotate the floor rectangle and a separate 6,000 mm stock sketch from Exercise Book 3C Q3. Decide which information belongs to each calculation.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1:25 PM–1:45 PM | 5 Practise | 20 min</a:t>
            </a:r>
          </a:p>
          <a:p>
            <a:r>
              <a:t>Instructor: Draw and label the floor in Shape Canvas. Calculate perimeter, floor area and diagonal; solve Exercise Book 3C Q3 without changing its four cuts or 3 mm kerf. Record units and assumptions; do not mix the two problem contexts.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1:45 PM–1:55 PM | 6 Check | 10 min</a:t>
            </a:r>
          </a:p>
          <a:p>
            <a:r>
              <a:t>Instructor: Submit the labelled floor plan, perimeter calculation and stock offcut equation.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1:55 PM–2:00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Instructor adaptation: perimeter 21.6 m; area 25.92 m²; diagonal √(7.2²+3.6²) ≈ 8.05 m. Exercise Book 3C Q3 offcut = 1,188 mm (Answer Key p.10). Floor area: Answer Key p.28. Answer Key pp.10,28,32</a:t>
            </a:r>
          </a:p>
          <a:p/>
          <a:p>
            <a:r>
              <a:t>Bring the saved sketch and written assumptions into the material-order calculation session.</a:t>
            </a:r>
          </a:p>
          <a:p/>
          <a:p>
            <a:r>
              <a:t>Keep activities within the allocated phase time.</a:t>
            </a:r>
          </a:p>
          <a:p>
            <a:r>
              <a:t>PHASE TIMING: Wrap up, 1:55 PM–2:00 PM. All slides with this phase share these 5 minutes; do not restart the time allocation for each slide.</a:t>
            </a:r>
          </a:p>
          <a:p/>
          <a:p>
            <a:r>
              <a:t>Next scheduled learning: Bring the saved sketch and written assumptions into the material-order calculation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Scheduled break, 15 minutes. Resume at 2:15 PM. Do not move the following math block into the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  <a:p>
            <a:r>
              <a:t>PHASE TIMING: Start, 2:15 PM–2:20 PM.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  <a:p>
            <a:r>
              <a:t>PHASE TIMING: Recall, 2:20 PM–2:25 PM. All slides with this phase share these 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sections 6.4 pp.96–97; Chapter 10 pp.154–164</a:t>
            </a:r>
          </a:p>
          <a:p>
            <a:r>
              <a:t>ACCESS Trades Numeracy Textbook p.96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Teaching references:</a:t>
            </a:r>
          </a:p>
          <a:p>
            <a:r>
              <a:t>Textbook sections 6.4 pp.96–97; Chapter 10 pp.154–164</a:t>
            </a:r>
          </a:p>
          <a:p>
            <a:r>
              <a:t>ACCESS Trades Numeracy Textbook p.96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Textbook visual: Example 6.5: a stated allowance is added to the original quantity.</a:t>
            </a:r>
          </a:p>
          <a:p>
            <a:r>
              <a:t>Exact PDF/printed page: 96. ACCESS Textbook excerpt.</a:t>
            </a:r>
          </a:p>
          <a:p>
            <a:r>
              <a:t>Example 6.5: visual of 85 m plus a stated 10% allowance and whole-length rounding. Focus on the example. This is a reference illustration of the method; retain the scheduled floor quantities and explicitly classroom-only 10% allowance.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Textbook visual: Example 6.5: compare calculator entries and the whole-length order.</a:t>
            </a:r>
          </a:p>
          <a:p>
            <a:r>
              <a:t>Exact PDF/printed page: 96. ACCESS Textbook excerpt.</a:t>
            </a:r>
          </a:p>
          <a:p>
            <a:r>
              <a:t>Example 6.5: visual of 85 m plus a stated 10% allowance and whole-length rounding. Focus on the example. This is a reference illustration of the method; retain the scheduled floor quantities and explicitly classroom-only 10% allowance.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  <a:p>
            <a:r>
              <a:t>PHASE TIMING: Teach, 2:25 PM–2:40 PM. All slides with this phase share these 15 minutes; do not restart the time allocation for each slide.</a:t>
            </a:r>
          </a:p>
          <a:p/>
          <a:p>
            <a:r>
              <a:t>Pause on the prompt before discussing the correction. This is included within the scheduled Teach block, not an additional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  <a:p>
            <a:r>
              <a:t>PHASE TIMING: Together, 2:40 PM–2:55 PM. All slides with this phase share these 15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  <a:p/>
          <a:p>
            <a:r>
              <a:t>Demonstrate navigation, then open the tool and use the assigned values. Keep worked answers hidden until learners attempt the task. Include this activity within the allocated practice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  <a:p/>
          <a:p>
            <a:r>
              <a:t>Exact scheduled tool activity: Shape Canvas: use the floor sketch and 1.2 m × 2.4 m sheet rectangles. Numeracy Hub Calculator: compare the no-waste sheet count with the allowance calculation.</a:t>
            </a:r>
          </a:p>
          <a:p>
            <a:r>
              <a:t>Open the floor sketch in Shape Canvas and use 1.2 m × 2.4 m sheet rectangles to recreate the scheduled 3 × 3 arrangement.</a:t>
            </a:r>
          </a:p>
          <a:p>
            <a:r>
              <a:t>Check the arrangement against the 7.2 m and 3.6 m floor dimensions; record the floor area, sheet area and nine-sheet base in the written quantity note.</a:t>
            </a:r>
          </a:p>
          <a:p>
            <a:r>
              <a:t>Use Numeracy Hub Calculator after paper working to compare the no-waste count with 9 × 1.10. Record the stated allowance and final whole-sheet rounding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  <a:p>
            <a:r>
              <a:t>PHASE TIMING: Practise, 2:55 PM–3:15 PM. All slides with this phase share these 20 minutes; do not restart the time allocation for each slide.</a:t>
            </a:r>
          </a:p>
          <a:p/>
          <a:p>
            <a:r>
              <a:t>ACCESS EXERCISE BOOK: 10B-Q2</a:t>
            </a:r>
          </a:p>
          <a:p>
            <a:r>
              <a:t>Exact question: Four plates, each 2.5 m by 1.6 m, are primed on both sides. The primer label says 1 L covers 7 m². Primer is sold in 1 L tins. How many tins do you buy? Give the litres to two decimal places.</a:t>
            </a:r>
          </a:p>
          <a:p>
            <a:r>
              <a:t>Instructor answer: 4.57 L, so 5 tins</a:t>
            </a:r>
          </a:p>
          <a:p>
            <a:r>
              <a:t>Working: Area 2 × 4 × 4 = 32 m², 32 ÷ 7</a:t>
            </a:r>
          </a:p>
          <a:p>
            <a:r>
              <a:t>The projected item is part of the full scheduled assignment shown in this block. All other assigned questions remain in the Exercise 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  <a:p>
            <a:r>
              <a:t>PHASE TIMING: Check, 3:15 PM–3:25 PM. All slides with this phase share these 10 minutes; do not restart the time allocation for each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W07-L02 | 2026-12-07 | 2:15 PM–3:30 PM | 75 minutes</a:t>
            </a:r>
          </a:p>
          <a:p>
            <a:r>
              <a:t>Materials practice: sheeting and allowance</a:t>
            </a:r>
          </a:p>
          <a:p>
            <a:r>
              <a:t>Mode: Calculation Practice</a:t>
            </a:r>
          </a:p>
          <a:p>
            <a:r>
              <a:t>Goal: Use area and a stated classroom allowance to build a material quantity and distinguish an estimate from a cutting layout.</a:t>
            </a:r>
          </a:p>
          <a:p>
            <a:r>
              <a:t>Read: Textbook sections 6.4 pp.96–97; Chapter 10 pp.154–164</a:t>
            </a:r>
          </a:p>
          <a:p>
            <a:r>
              <a:t>Practise: Exercise Book 10B Q1–2 (p.65); 6B Q2 (p.41)</a:t>
            </a:r>
          </a:p>
          <a:p>
            <a:r>
              <a:t>Tool: Shape Canvas: use the floor sketch and 1.2 m × 2.4 m sheet rectangles. Numeracy Hub Calculator: compare the no-waste sheet count with the allowance calculation.</a:t>
            </a:r>
          </a:p>
          <a:p/>
          <a:p>
            <a:r>
              <a:t>EXACT SCHEDULED STEPS</a:t>
            </a:r>
          </a:p>
          <a:p>
            <a:r>
              <a:t>2:15 PM–2:20 PM | 1 Start | 5 min</a:t>
            </a:r>
          </a:p>
          <a:p>
            <a:r>
              <a:t>Instructor: State the objective and connect this block to the previous work. Confirm the role of paper working and tool checking.</a:t>
            </a:r>
          </a:p>
          <a:p>
            <a:r>
              <a:t>Learners: Identify one target skill and the checking habit to use today.</a:t>
            </a:r>
          </a:p>
          <a:p>
            <a:r>
              <a:t>Materials/check: Notebook; calculator</a:t>
            </a:r>
          </a:p>
          <a:p/>
          <a:p>
            <a:r>
              <a:t>2:20 PM–2:25 PM | 2 Recall | 5 min</a:t>
            </a:r>
          </a:p>
          <a:p>
            <a:r>
              <a:t>Instructor: Retrieve the floor area and one-sheet area from the previous block. Ask why a fractional purchase quantity rounds up.</a:t>
            </a:r>
          </a:p>
          <a:p>
            <a:r>
              <a:t>Learners: Review previous feedback and attempt the retrieval prompt without displayed solutions.</a:t>
            </a:r>
          </a:p>
          <a:p>
            <a:r>
              <a:t>Materials/check: Identify support needs</a:t>
            </a:r>
          </a:p>
          <a:p/>
          <a:p>
            <a:r>
              <a:t>2:25 PM–2:40 PM | 3 Teach | 15 min</a:t>
            </a:r>
          </a:p>
          <a:p>
            <a:r>
              <a:t>Instructor: Work the no-waste floor quantity from Exercise Book 10B Q1. Add an explicitly instructor-designed 10% classroom allowance; this is a planning exercise, not a standard site allowance.</a:t>
            </a:r>
          </a:p>
          <a:p>
            <a:r>
              <a:t>Learners: Annotate the example or response expectations; ask about unclear steps.</a:t>
            </a:r>
          </a:p>
          <a:p>
            <a:r>
              <a:t>Materials/check: Textbook; worked example</a:t>
            </a:r>
          </a:p>
          <a:p/>
          <a:p>
            <a:r>
              <a:t>2:40 PM–2:55 PM | 4 Together | 15 min</a:t>
            </a:r>
          </a:p>
          <a:p>
            <a:r>
              <a:t>Instructor: Pairs lay out nine sheets as three 2.4 m lengths by three 1.2 m widths. Compare the verified no-waste layout with the separate allowance quantity.</a:t>
            </a:r>
          </a:p>
          <a:p>
            <a:r>
              <a:t>Learners: Explain the method and check directions; work with a partner only where permitted.</a:t>
            </a:r>
          </a:p>
          <a:p>
            <a:r>
              <a:t>Materials/check: Exercise Book; tool above</a:t>
            </a:r>
          </a:p>
          <a:p/>
          <a:p>
            <a:r>
              <a:t>2:55 PM–3:15 PM | 5 Practise | 20 min</a:t>
            </a:r>
          </a:p>
          <a:p>
            <a:r>
              <a:t>Instructor: Prepare a quantity note: floor area, sheet area, nine-sheet base and stated 10% allowance. Then solve Exercise Book 10B Q2 for coating tins. Check units, final rounding and assumptions; no prices are assumed.</a:t>
            </a:r>
          </a:p>
          <a:p>
            <a:r>
              <a:t>Learners: Keep numbered written solutions and units. Use tools only under the conditions stated for this block.</a:t>
            </a:r>
          </a:p>
          <a:p>
            <a:r>
              <a:t>Materials/check: Paper first; tool second</a:t>
            </a:r>
          </a:p>
          <a:p/>
          <a:p>
            <a:r>
              <a:t>3:15 PM–3:25 PM | 6 Check | 10 min</a:t>
            </a:r>
          </a:p>
          <a:p>
            <a:r>
              <a:t>Instructor: Explain the nine-sheet base, allowance order, and why an area estimate alone does not prove every cutting layout.</a:t>
            </a:r>
          </a:p>
          <a:p>
            <a:r>
              <a:t>Learners: Submit work and demonstrate the checking strategy; identify a remaining difficulty.</a:t>
            </a:r>
          </a:p>
          <a:p>
            <a:r>
              <a:t>Materials/check: Teacher answers below</a:t>
            </a:r>
          </a:p>
          <a:p/>
          <a:p>
            <a:r>
              <a:t>3:25 PM–3:30 PM | 7 Wrap up | 5 min</a:t>
            </a:r>
          </a:p>
          <a:p>
            <a:r>
              <a:t>Instructor: Ask what improved, what needs another attempt and which resource will support the next step.</a:t>
            </a:r>
          </a:p>
          <a:p>
            <a:r>
              <a:t>Learners: Name the math and another essential skill used; record a concrete follow-up action.</a:t>
            </a:r>
          </a:p>
          <a:p>
            <a:r>
              <a:t>Materials/check: Notebook / error log</a:t>
            </a:r>
          </a:p>
          <a:p/>
          <a:p>
            <a:r>
              <a:t>INSTRUCTOR ONLY: REVEAL ASSESSMENT ANSWERS AFTER THE ATTEMPT</a:t>
            </a:r>
          </a:p>
          <a:p>
            <a:r>
              <a:t>Base: 25.92/2.88 = 9 sheets. Instructor 10% allowance: 9 × 1.10 = 9.9, rounded up to 10 sheets. 10B Q2: 4.57 L, so buy 5 tins (Answer Key p.28). Answer Key pp.19,28</a:t>
            </a:r>
          </a:p>
          <a:p/>
          <a:p>
            <a:r>
              <a:t>Use the drawing and quantity note to identify individual needs for Thursday’s targeted practice.</a:t>
            </a:r>
          </a:p>
          <a:p/>
          <a:p>
            <a:r>
              <a:t>Keep activities within the allocated phase time.</a:t>
            </a:r>
          </a:p>
          <a:p>
            <a:r>
              <a:t>PHASE TIMING: Wrap up, 3:25 PM–3:30 PM. All slides with this phase share these 5 minutes; do not restart the time allocation for each slide.</a:t>
            </a:r>
          </a:p>
          <a:p/>
          <a:p>
            <a:r>
              <a:t>Next scheduled learning: Use the drawing and quantity note to identify individual needs for Thursday’s targeted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" TargetMode="External"/><Relationship Id="rId5" Type="http://schemas.openxmlformats.org/officeDocument/2006/relationships/hyperlink" Target="../../../books/ACCESS-Trades-Numeracy-Exercise-Book.pdf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44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44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44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44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44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44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hyperlink" Target="../../../books/ACCESS-Trades-Numeracy-Textbook.pdf#page=140" TargetMode="External"/><Relationship Id="rId6" Type="http://schemas.openxmlformats.org/officeDocument/2006/relationships/hyperlink" Target="../../../books/ACCESS-Trades-Numeracy-Exercise-Book.pdf#page=6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44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44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hyperlink" Target="../../../books/ACCESS-Trades-Numeracy-Textbook.pdf#page=44" TargetMode="External"/><Relationship Id="rId6" Type="http://schemas.openxmlformats.org/officeDocument/2006/relationships/hyperlink" Target="../../../books/ACCESS-Trades-Numeracy-Exercise-Book.pdf#page=23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hyperlink" Target="../../../books/ACCESS-Trades-Numeracy-Textbook.pdf#page=44" TargetMode="External"/><Relationship Id="rId6" Type="http://schemas.openxmlformats.org/officeDocument/2006/relationships/hyperlink" Target="../../../books/ACCESS-Trades-Numeracy-Exercise-Book.pdf#page=23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44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hyperlink" Target="../../../books/ACCESS-Trades-Numeracy-Textbook.pdf#page=44" TargetMode="External"/><Relationship Id="rId6" Type="http://schemas.openxmlformats.org/officeDocument/2006/relationships/hyperlink" Target="../../../books/ACCESS-Trades-Numeracy-Exercise-Book.pdf#page=6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44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hyperlink" Target="../../../books/ACCESS-Trades-Numeracy-Textbook.pdf#page=44" TargetMode="External"/><Relationship Id="rId6" Type="http://schemas.openxmlformats.org/officeDocument/2006/relationships/hyperlink" Target="../../../books/ACCESS-Trades-Numeracy-Exercise-Book.pdf#page=23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44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44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" TargetMode="External"/><Relationship Id="rId5" Type="http://schemas.openxmlformats.org/officeDocument/2006/relationships/hyperlink" Target="../../../books/ACCESS-Trades-Numeracy-Exercise-Book.pdf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96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96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96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96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96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hyperlink" Target="../../../books/ACCESS-Trades-Numeracy-Textbook.pdf#page=96" TargetMode="External"/><Relationship Id="rId6" Type="http://schemas.openxmlformats.org/officeDocument/2006/relationships/hyperlink" Target="../../../books/ACCESS-Trades-Numeracy-Exercise-Book.pdf#page=6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hyperlink" Target="../../../books/ACCESS-Trades-Numeracy-Textbook.pdf#page=96" TargetMode="External"/><Relationship Id="rId6" Type="http://schemas.openxmlformats.org/officeDocument/2006/relationships/hyperlink" Target="../../../books/ACCESS-Trades-Numeracy-Exercise-Book.pdf#page=6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96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96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96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hyperlink" Target="../../../books/ACCESS-Trades-Numeracy-Textbook.pdf#page=96" TargetMode="External"/><Relationship Id="rId6" Type="http://schemas.openxmlformats.org/officeDocument/2006/relationships/hyperlink" Target="../../../books/ACCESS-Trades-Numeracy-Exercise-Book.pdf#page=6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96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../../../books/ACCESS-Trades-Numeracy-Textbook.pdf#page=96" TargetMode="External"/><Relationship Id="rId6" Type="http://schemas.openxmlformats.org/officeDocument/2006/relationships/hyperlink" Target="../../../books/ACCESS-Trades-Numeracy-Exercise-Book.pdf#page=65" TargetMode="External"/><Relationship Id="rId7" Type="http://schemas.openxmlformats.org/officeDocument/2006/relationships/hyperlink" Target="../../../numeracy-hub/index.html" TargetMode="External"/><Relationship Id="rId8" Type="http://schemas.openxmlformats.org/officeDocument/2006/relationships/hyperlink" Target="../../../shape-canvas/index.html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96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7.png"/><Relationship Id="rId4" Type="http://schemas.openxmlformats.org/officeDocument/2006/relationships/hyperlink" Target="../../../books/ACCESS-Trades-Numeracy-Textbook.pdf#page=96" TargetMode="External"/><Relationship Id="rId5" Type="http://schemas.openxmlformats.org/officeDocument/2006/relationships/hyperlink" Target="../../../books/ACCESS-Trades-Numeracy-Exercise-Book.pdf#page=65" TargetMode="External"/><Relationship Id="rId6" Type="http://schemas.openxmlformats.org/officeDocument/2006/relationships/hyperlink" Target="../../../numeracy-hub/index.html" TargetMode="External"/><Relationship Id="rId7" Type="http://schemas.openxmlformats.org/officeDocument/2006/relationships/hyperlink" Target="../../../shape-canvas/index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D2181F"/>
                </a:solidFill>
                <a:latin typeface="Arial"/>
              </a:defRPr>
            </a:pPr>
            <a:r>
              <a:t>ACCESS  /  CARPENTRY FOUNDATION  /  INTAKE 141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1430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600" b="1">
                <a:solidFill>
                  <a:srgbClr val="1A1A1A"/>
                </a:solidFill>
                <a:latin typeface="Arial"/>
              </a:defRPr>
            </a:pPr>
            <a:r>
              <a:t>Day 23  | 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88366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0">
                <a:solidFill>
                  <a:srgbClr val="4A4E54"/>
                </a:solidFill>
                <a:latin typeface="Arial"/>
              </a:defRPr>
            </a:pPr>
            <a:r>
              <a:t>December 7,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2633472"/>
            <a:ext cx="109728" cy="2194560"/>
          </a:xfrm>
          <a:prstGeom prst="rect">
            <a:avLst/>
          </a:prstGeom>
          <a:solidFill>
            <a:srgbClr val="D218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32688" y="2743200"/>
            <a:ext cx="10287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t>Carpentry drawing: floor layout and cut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20040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t>12:45 PM–2:00 PM  •  Math  •  75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40480"/>
            <a:ext cx="10287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t>Materials practice: sheeting and allowance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2976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t>2:15 PM–3:30 PM  •  Calculation Practice  •  75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44068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D2181F"/>
                </a:solidFill>
                <a:latin typeface="Arial"/>
              </a:defRPr>
            </a:pPr>
            <a:r>
              <a:t>Week 7  •  2 scheduled blocks  •  150 teaching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t>Estimate. Show the method. Label units. Check the result.</a:t>
            </a:r>
          </a:p>
        </p:txBody>
      </p:sp>
      <p:pic>
        <p:nvPicPr>
          <p:cNvPr id="12" name="Picture 11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t>Day 23  •  2026-12-07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9418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D2181F"/>
                </a:solidFill>
                <a:latin typeface="Arial"/>
              </a:defRPr>
            </a:pPr>
            <a:r>
              <a:rPr/>
              <a:t>DAY 23  /  WEEK 7  /  CLASS TIMETABLE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77824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000" b="1">
                <a:solidFill>
                  <a:srgbClr val="1A1A1A"/>
                </a:solidFill>
                <a:latin typeface="Arial"/>
              </a:defRPr>
            </a:pPr>
            <a:r>
              <a:rPr/>
              <a:t>Today’s exact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627632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D2181F"/>
                </a:solidFill>
                <a:latin typeface="Arial"/>
              </a:defRPr>
            </a:pPr>
            <a:r>
              <a:rPr/>
              <a:t>12:45 PM–2:00 PM  •  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048256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A1A1A"/>
                </a:solidFill>
                <a:latin typeface="Arial"/>
              </a:defRPr>
            </a:pPr>
            <a:r>
              <a:rPr/>
              <a:t>Carpentry drawing: floor layout and cut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8529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12:45 PM–12:50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8648" y="28529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7528" y="28529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20954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12:50 PM–12:55 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320954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32095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5661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12:55 PM–1:10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35661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3566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92277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1:10 PM–1:25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392277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Together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39227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27939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1:25 PM–1:45 PM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Practise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4279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636007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1:45 PM–1:55 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8648" y="4636007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463600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992623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1:55 PM–2:00 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8648" y="4992623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Wrap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99262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522976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Math  •  Math Week 7, Lesson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1627632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D2181F"/>
                </a:solidFill>
                <a:latin typeface="Arial"/>
              </a:defRPr>
            </a:pPr>
            <a:r>
              <a:rPr/>
              <a:t>2:15 PM–3:30 PM  •  75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2048256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A1A1A"/>
                </a:solidFill>
                <a:latin typeface="Arial"/>
              </a:defRPr>
            </a:pPr>
            <a:r>
              <a:rPr/>
              <a:t>Materials practice: sheeting and allowance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28529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2:15 PM–2:20 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2852928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Start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91088" y="28529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320954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2:20 PM–2:25 PM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209544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Recall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91088" y="32095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35661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2:25 PM–2:40 PM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356616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Teach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91088" y="3566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392277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2:40 PM–2:55 PM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22208" y="392277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Together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91088" y="39227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427939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2:55 PM–3:15 PM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8" y="4279392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Practise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91088" y="42793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4636007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3:15 PM–3:25 PM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22208" y="4636007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Check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91088" y="4636007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4992623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3:25 PM–3:30 PM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2208" y="4992623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Wrap 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91088" y="4992623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2181F"/>
                </a:solidFill>
                <a:latin typeface="Arial"/>
              </a:defRPr>
            </a:pPr>
            <a:r>
              <a:rPr/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5522976"/>
            <a:ext cx="5349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A4E54"/>
                </a:solidFill>
                <a:latin typeface="Arial"/>
              </a:defRPr>
            </a:pPr>
            <a:r>
              <a:rPr/>
              <a:t>Calculation Practice  •  Math Week 7, Lesson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6053328"/>
            <a:ext cx="10927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1A1A1A"/>
                </a:solidFill>
                <a:latin typeface="Arial"/>
              </a:defRPr>
            </a:pPr>
            <a:r>
              <a:rPr/>
              <a:t>Break: 2:00 PM–2:15 PM  •  15 minutes  •  excluded from teaching time</a:t>
            </a:r>
          </a:p>
        </p:txBody>
      </p:sp>
      <p:pic>
        <p:nvPicPr>
          <p:cNvPr id="53" name="Picture 5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55" name="TextBox 5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W07-L01  •  START  •  12:45 PM–12:50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Carpentry drawing: floor layout and cut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56231"/>
            <a:ext cx="10927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rPr/>
              <a:t>Today’s goal: Extract dimensions from a drawing, calculate a perimeter and offcut, and explain assumptions in a cut 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154680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Identify one target skill and the checking habit to use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4114800"/>
            <a:ext cx="10927080" cy="13716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A1A1A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9011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rPr/>
              <a:t>Exercise Book 10B Q1 (p.65); 3C Q3 (p.23); 12B Q5 (p.78)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80644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D2181F"/>
                </a:solidFill>
                <a:latin typeface="Arial"/>
              </a:defRPr>
            </a:pPr>
            <a:r>
              <a:rPr/>
              <a:t>Keep your notebook, assigned ACCESS books and chosen calculator ready.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W07-L01  •  RECALL  •  12:50 PM–12:55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Recall and reconnect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Discuss which dimensions are needed for perimeter, area and diagonal; retrieve one kerf calculation.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Review previous feedback and attempt the retrieval prompt without displayed solutions.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10B Q1 (p.65); 3C Q3 (p.23); 12B Q5 (p.78)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W07-L01  •  TEACH  •  12:55 PM–1:10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Match each floor measurement to its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The floor is a 7.2 m × 3.6 m rectangle: label both dimensions before choosing a calculation.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Perimeter measures the boundary: 2(7.2 + 3.6) = 21.6 m. Area measures coverage: 7.2 × 3.6 = 25.92 m².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The diagonal crosses the rectangle: √(7.2² + 3.6²) ≈ 8.05 m. It is a length, not an area.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Keep the rectangular layout and no-waste assumptions visible. This is the instructor’s plywood adaptation of 10B Q1.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W07-L01  •  TEACH  •  12:55 PM–1:10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Keep the floor and stock calculations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Exercise Book 3C Q3 is a separate 6,000 mm stock problem; its dimensions do not come from the floor drawing.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Keep all four stated cuts and the 3 mm kerf in the stock equation: stock − total pieces − total kerf = offcut.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Check backwards: total pieces + total kerf + offcut must equal the original stock length.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Use metres for the floor and millimetres for the stock. Attach each unit and assumption to the correct sketch.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09585" y="381000"/>
            <a:ext cx="94183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 sz="1150">
                <a:solidFill>
                  <a:srgbClr val="D2181F"/>
                </a:solidFill>
                <a:latin typeface="Arial"/>
              </a:defRPr>
            </a:pPr>
            <a:r>
              <a:rPr/>
              <a:t>W07-L01  •  TEACH  •  12:55 PM–1:10 PM  •  15 MIN TOTAL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781050"/>
            <a:ext cx="1097252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floor, three different measurements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52476" y="2333625"/>
            <a:ext cx="3809905" cy="1905000"/>
          </a:xfrm>
          <a:prstGeom prst="rect">
            <a:avLst/>
          </a:prstGeom>
          <a:solidFill>
            <a:srgbClr val="F3F4F5"/>
          </a:solidFill>
          <a:ln w="28575">
            <a:solidFill>
              <a:srgbClr val="C6001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2143071" y="1857375"/>
            <a:ext cx="23811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 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952876" y="3095625"/>
            <a:ext cx="114297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 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2581" y="1952625"/>
            <a:ext cx="4667133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Boundary: P = 2(7.2 + 3.6)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21.6 m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Coverage: A = 7.2 × 3.6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25.92 m²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" y="4667250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Diagonal: √(7.2² + 3.6²) ≈ 8.05 m.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rectangular-layout and no-waste assumptions explicit.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585" y="5572125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• Annotate this floor and a separate 6,000 mm stock sketch.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which information belongs in each calculation before using tools.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585" y="6345936"/>
            <a:ext cx="108813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carpentry adaptation of 10B Q1; plywood replaces checker plate • Shape Canvas units: m • Schematic</a:t>
            </a:r>
            <a:endParaRPr lang="en-US" sz="1050" dirty="0"/>
          </a:p>
        </p:txBody>
      </p:sp>
      <p:pic>
        <p:nvPicPr>
          <p:cNvPr id="12" name="Picture 11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07</a:t>
            </a:r>
          </a:p>
        </p:txBody>
      </p:sp>
    </p:spTree>
    <p:extLst>
      <p:ext uri="{BB962C8B-B14F-4D97-AF65-F5344CB8AC3E}">
        <p14:creationId xmlns:p14="http://schemas.microsoft.com/office/powerpoint/2010/main" val="50267720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W07-L01  •  TEACH  •  12:55 PM–1:10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pic>
        <p:nvPicPr>
          <p:cNvPr id="5" name="Picture 4" descr="W07-L0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36150"/>
            <a:ext cx="10698480" cy="3180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Example 9.1: label the boundary before calculating a perimeter.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W07-L01  •  TEACH  •  12:55 PM–1:10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Spot the mistake. Explain the correction.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47088"/>
            <a:ext cx="10927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A1A1A"/>
                </a:solidFill>
                <a:latin typeface="Arial"/>
              </a:defRPr>
            </a:pPr>
            <a:r>
              <a:rPr/>
              <a:t>A cut-list equation subtracts the required pieces from 6,000 mm but has no kerf term. What quantity is missing?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0332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D2181F"/>
                </a:solidFill>
                <a:latin typeface="Arial"/>
              </a:defRPr>
            </a:pPr>
            <a:r>
              <a:rPr/>
              <a:t>Discuss the method before checking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617720"/>
            <a:ext cx="10927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4A4E54"/>
                </a:solidFill>
                <a:latin typeface="Arial"/>
              </a:defRPr>
            </a:pPr>
            <a:r>
              <a:rPr/>
              <a:t>Include the material lost to all four stated cuts at 3 mm per cut. Keep this stock calculation separate from the floor, then check that pieces, kerf and offcut total 6,000 mm.</a:t>
            </a:r>
          </a:p>
        </p:txBody>
      </p:sp>
      <p:pic>
        <p:nvPicPr>
          <p:cNvPr id="8" name="Picture 7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W07-L01  •  TOGETHER  •  1:10 PM–1:25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Partners annotate the floor rectangle and a separate 6,000 mm stock sketch from Exercise Book 3C Q3. Decide which information belongs to each calculation.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Explain the method and check directions; work with a partner only where permitted.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10B Q1 (p.65); 3C Q3 (p.23); 12B Q5 (p.78)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W07-L01  •  TOGETHER  •  1:10 PM–1:25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Guided practice  |  3C 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pic>
        <p:nvPicPr>
          <p:cNvPr id="5" name="Picture 4" descr="3C-Q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88" y="1773936"/>
            <a:ext cx="10486103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Work with a partner. Take turns explaining the next step.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W07-L01  •  TOGETHER  •  1:10 PM–1:25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Compare your method  |  3C 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pic>
        <p:nvPicPr>
          <p:cNvPr id="5" name="Picture 4" descr="3C-Q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904" y="1783080"/>
            <a:ext cx="4380270" cy="1508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61188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D2181F"/>
                </a:solidFill>
                <a:latin typeface="Arial"/>
              </a:defRPr>
            </a:pPr>
            <a:r>
              <a:rPr/>
              <a:t>CHECK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A1A1A"/>
                </a:solidFill>
                <a:latin typeface="Arial"/>
              </a:defRPr>
            </a:pPr>
            <a:r>
              <a:rPr/>
              <a:t>1,188 mm</a:t>
            </a:r>
          </a:p>
        </p:txBody>
      </p:sp>
      <p:pic>
        <p:nvPicPr>
          <p:cNvPr id="8" name="Picture 7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W07-L01  •  PRACTISE  •  1:25 PM–1:45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scheduled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Draw and label the floor in Shape Canvas. Calculate perimeter, floor area and diagonal; solve Exercise Book 3C Q3 without changing its four cuts or 3 mm kerf. Record units and assumptions; do not mix the two problem contexts.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Keep numbered written solutions and units. Use tools only under the conditions stated for this block.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10B Q1 (p.65); 3C Q3 (p.23); 12B Q5 (p.78)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W07-L01  •  PRACTISE  •  1:25 PM–1:45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Open the ACCESS tool for this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pic>
        <p:nvPicPr>
          <p:cNvPr id="5" name="Picture 4" descr="shape-rect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776" y="1664208"/>
            <a:ext cx="6122822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5998464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50" b="0">
                <a:solidFill>
                  <a:srgbClr val="4A4E54"/>
                </a:solidFill>
                <a:latin typeface="Arial"/>
              </a:defRPr>
            </a:pPr>
            <a:r>
              <a:rPr/>
              <a:t>Navigation example. Use the values and units in the assigned task.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W07-L01  •  PRACTISE  •  1:25 PM–1:45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tool activity: try, compare and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828800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In Shape Canvas, set units to m and draw the 7.2 m × 3.6 m floor rectangle; label the dimensions.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127248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127248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Add a Text cut-list note that keeps the separate 6,000 mm stock problem, four cuts and 3 mm kerf explicit; retain the written equations and assumptions.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425696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25696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A1A1A"/>
                </a:solidFill>
                <a:latin typeface="Arial"/>
              </a:defRPr>
            </a:pPr>
            <a:r>
              <a:rPr/>
              <a:t>After the paper calculations, use Numeracy Hub Calculator for numerical checks. Save the labelled floor sketch and assumptions for the next material-order block.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W07-L01  •  PRACTISE  •  1:25 PM–1:45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3C 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pic>
        <p:nvPicPr>
          <p:cNvPr id="5" name="Picture 4" descr="3C-Q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88" y="1773936"/>
            <a:ext cx="10486103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W07-L01  •  CHECK  •  1:45 PM–1:55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Check independently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Submit the labelled floor plan, perimeter calculation and stock offcut equation.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Submit work and demonstrate the checking strategy; identify a remaining difficulty.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10B Q1 (p.65); 3C Q3 (p.23); 12B Q5 (p.78)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W07-L01  •  WRAP UP  •  1:55 PM–2:00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Wrap up and choose the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Chapter 3 pp.44–51; Chapter 9 p.140; Chapter 10 pp.154–157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Identify what improved, what needs another attempt and which resource will support the next step.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Name the math and another essential skill used; record a concrete follow-up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10B Q1 (p.65); 3C Q3 (p.23); 12B Q5 (p.78)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D2181F"/>
                </a:solidFill>
                <a:latin typeface="Arial"/>
              </a:defRPr>
            </a:pPr>
            <a:r>
              <a:t>DAY 23  •  SCHEDULED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3716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4400" b="1">
                <a:solidFill>
                  <a:srgbClr val="1A1A1A"/>
                </a:solidFill>
                <a:latin typeface="Arial"/>
              </a:defRPr>
            </a:pPr>
            <a:r>
              <a:t>Break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743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3200" b="0">
                <a:solidFill>
                  <a:srgbClr val="D2181F"/>
                </a:solidFill>
                <a:latin typeface="Arial"/>
              </a:defRPr>
            </a:pPr>
            <a:r>
              <a:t>2:00 PM–2:15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794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300" b="0">
                <a:solidFill>
                  <a:srgbClr val="1A1A1A"/>
                </a:solidFill>
                <a:latin typeface="Arial"/>
              </a:defRPr>
            </a:pPr>
            <a:r>
              <a:t>Return ready for: Materials practice: sheeting and allowance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5212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4A4E54"/>
                </a:solidFill>
                <a:latin typeface="Arial"/>
              </a:defRPr>
            </a:pPr>
            <a:r>
              <a:t>This break is excluded from teaching minutes.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t>Day 23  •  2026-12-07  •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W07-L02  •  START  •  2:15 PM–2:20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Materials practice: sheeting and allowance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6.4 pp.96–97; Chapter 10 pp.154–164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56231"/>
            <a:ext cx="10927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1A1A1A"/>
                </a:solidFill>
                <a:latin typeface="Arial"/>
              </a:defRPr>
            </a:pPr>
            <a:r>
              <a:rPr/>
              <a:t>Today’s goal: Use area and a stated classroom allowance to build a material quantity and distinguish an estimate from a cutting layout.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154680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Identify one target skill and the checking habit to use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4114800"/>
            <a:ext cx="10927080" cy="137160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41248" y="42976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1A1A1A"/>
                </a:solidFill>
                <a:latin typeface="Arial"/>
              </a:defRPr>
            </a:pPr>
            <a:r>
              <a:rPr/>
              <a:t>Textbook sections 6.4 pp.96–97; Chapter 10 pp.154–164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9011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4A4E54"/>
                </a:solidFill>
                <a:latin typeface="Arial"/>
              </a:defRPr>
            </a:pPr>
            <a:r>
              <a:rPr/>
              <a:t>Exercise Book 10B Q1–2 (p.65); 6B Q2 (p.41)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80644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D2181F"/>
                </a:solidFill>
                <a:latin typeface="Arial"/>
              </a:defRPr>
            </a:pPr>
            <a:r>
              <a:rPr/>
              <a:t>Keep your notebook, assigned ACCESS books and chosen calculator ready.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W07-L02  •  RECALL  •  2:20 PM–2:25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Recall and reconnect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6.4 pp.96–97; Chapter 10 pp.154–164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Retrieve the floor area and one-sheet area from the previous block. Explain why a fractional purchase quantity rounds 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Review previous feedback and attempt the retrieval prompt without displayed solutions.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10B Q1–2 (p.65); 6B Q2 (p.41)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W07-L02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An area count needs a matching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6.4 pp.96–97; Chapter 10 pp.154–164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The floor area is 25.92 m². One 1.2 m × 2.4 m sheet covers 2.88 m².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The no-waste area calculation gives 25.92 ÷ 2.88 = 9 sheets.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Three 2.4 m lengths make 7.2 m; three 1.2 m widths make 3.6 m. This 3 × 3 arrangement verifies the nine-sheet rectangular layout.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An area estimate alone does not prove that every cutting layout will fit. Here, both dimensions are checked against the arrangement.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W07-L02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Separate the base quantity from the allowance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6.4 pp.96–97; Chapter 10 pp.154–164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0195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7451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Keep the nine-sheet no-waste base visible before adding any allowance.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207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3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For this classroom exercise only, the stated 10% allowance gives 9 × 1.10 = 9.9 sheets.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822191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5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An order needs whole sheets, so round 9.9 up to 10. The additional sheet belongs to the allowance calculation.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82312"/>
            <a:ext cx="329184" cy="329184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1A1A1A"/>
                </a:solidFill>
                <a:latin typeface="Arial"/>
              </a:defRPr>
            </a:pPr>
            <a:r>
              <a:rPr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The 10% is instructor-provided problem data, not a universal site allowance. Do not add prices or other unstated job assumptions.</a:t>
            </a:r>
          </a:p>
        </p:txBody>
      </p:sp>
      <p:pic>
        <p:nvPicPr>
          <p:cNvPr id="13" name="Picture 12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609585" y="381000"/>
            <a:ext cx="94183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 sz="1150">
                <a:solidFill>
                  <a:srgbClr val="D2181F"/>
                </a:solidFill>
                <a:latin typeface="Arial"/>
              </a:defRPr>
            </a:pPr>
            <a:r>
              <a:rPr/>
              <a:t>W07-L02  •  TEACH  •  2:25 PM–2:40 PM  •  15 MIN TOTAL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781050"/>
            <a:ext cx="1097252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base layout before adding allowance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04852" y="2286000"/>
            <a:ext cx="4286143" cy="2143125"/>
          </a:xfrm>
          <a:prstGeom prst="rect">
            <a:avLst/>
          </a:prstGeom>
          <a:solidFill>
            <a:srgbClr val="F3F4F5"/>
          </a:solidFill>
          <a:ln w="28575">
            <a:solidFill>
              <a:srgbClr val="C6001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2333567" y="2286000"/>
            <a:ext cx="19050" cy="2143125"/>
          </a:xfrm>
          <a:prstGeom prst="rect">
            <a:avLst/>
          </a:prstGeom>
          <a:solidFill>
            <a:srgbClr val="C600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3762281" y="2286000"/>
            <a:ext cx="19050" cy="2143125"/>
          </a:xfrm>
          <a:prstGeom prst="rect">
            <a:avLst/>
          </a:prstGeom>
          <a:solidFill>
            <a:srgbClr val="C600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904852" y="3000375"/>
            <a:ext cx="4286143" cy="19050"/>
          </a:xfrm>
          <a:prstGeom prst="rect">
            <a:avLst/>
          </a:prstGeom>
          <a:solidFill>
            <a:srgbClr val="C600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904852" y="3714750"/>
            <a:ext cx="4286143" cy="19050"/>
          </a:xfrm>
          <a:prstGeom prst="rect">
            <a:avLst/>
          </a:prstGeom>
          <a:solidFill>
            <a:srgbClr val="C6001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904852" y="1762125"/>
            <a:ext cx="48576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2.4 m = 7.2 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4852" y="4619625"/>
            <a:ext cx="48576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1.2 m = 3.6 m • 9 sheets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76838" y="1952625"/>
            <a:ext cx="4952876" cy="111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25.92 ÷ 2.88 = 9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10%: 9 × 1.10 = 9.9</a:t>
            </a:r>
            <a:endParaRPr lang="en-US" sz="2100" dirty="0"/>
          </a:p>
          <a:p>
            <a:pPr marL="0" indent="0" algn="l">
              <a:buNone/>
            </a:pPr>
            <a:r>
              <a:rPr lang="en-US" sz="21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Whole-sheet order: 10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76838" y="3524250"/>
            <a:ext cx="4952876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nine-sheet arrangement verifies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simple rectangular base layout.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tenth sheet is the stated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planning allowance.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585" y="5476875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• Recreate the 3 × 3 layout in Shape Canvas. Compare the exact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no-waste layout with the separate allowance quantity; explain final rounding.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585" y="6345936"/>
            <a:ext cx="108813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818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adaptation • Sheet size 1.2 m × 2.4 m • 10% is classroom data, not a universal job allowance</a:t>
            </a:r>
            <a:endParaRPr lang="en-US" sz="1050" dirty="0"/>
          </a:p>
        </p:txBody>
      </p:sp>
      <p:pic>
        <p:nvPicPr>
          <p:cNvPr id="16" name="Picture 15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24</a:t>
            </a:r>
          </a:p>
        </p:txBody>
      </p:sp>
    </p:spTree>
    <p:extLst>
      <p:ext uri="{BB962C8B-B14F-4D97-AF65-F5344CB8AC3E}">
        <p14:creationId xmlns:p14="http://schemas.microsoft.com/office/powerpoint/2010/main" val="1371028029"/>
      </p:ext>
    </p:extLst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W07-L02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6.4 pp.96–97; Chapter 10 pp.154–164</a:t>
            </a:r>
          </a:p>
        </p:txBody>
      </p:sp>
      <p:pic>
        <p:nvPicPr>
          <p:cNvPr id="5" name="Picture 4" descr="W07-L0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60292"/>
            <a:ext cx="10698480" cy="3131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Example 6.5: a stated allowance is added to the original quantity.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W07-L02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ACCESS Textbook  |  page 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6.4 pp.96–97; Chapter 10 pp.154–164</a:t>
            </a:r>
          </a:p>
        </p:txBody>
      </p:sp>
      <p:pic>
        <p:nvPicPr>
          <p:cNvPr id="5" name="Picture 4" descr="W07-L02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68959"/>
            <a:ext cx="10698479" cy="37144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852160"/>
            <a:ext cx="106984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4A4E54"/>
                </a:solidFill>
                <a:latin typeface="Arial"/>
              </a:defRPr>
            </a:pPr>
            <a:r>
              <a:rPr/>
              <a:t>Example 6.5: compare calculator entries and the whole-length order.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W07-L02  •  TEACH  •  2:25 PM–2:40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Spot the mistake. Explain the correction.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6.4 pp.96–97; Chapter 10 pp.154–164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47088"/>
            <a:ext cx="10927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600" b="1">
                <a:solidFill>
                  <a:srgbClr val="1A1A1A"/>
                </a:solidFill>
                <a:latin typeface="Arial"/>
              </a:defRPr>
            </a:pPr>
            <a:r>
              <a:rPr/>
              <a:t>A quantity note shows 9.9 sheets and orders 9 because the base layout used nine. Why is the order short?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03320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D2181F"/>
                </a:solidFill>
                <a:latin typeface="Arial"/>
              </a:defRPr>
            </a:pPr>
            <a:r>
              <a:rPr/>
              <a:t>Discuss the method before checking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617720"/>
            <a:ext cx="10927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4A4E54"/>
                </a:solidFill>
                <a:latin typeface="Arial"/>
              </a:defRPr>
            </a:pPr>
            <a:r>
              <a:rPr/>
              <a:t>The verified base and the allowance order answer different questions. Keep the base at nine, retain the stated 10% calculation, and round the final purchase quantity up to ten whole sheets.</a:t>
            </a:r>
          </a:p>
        </p:txBody>
      </p:sp>
      <p:pic>
        <p:nvPicPr>
          <p:cNvPr id="8" name="Picture 7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W07-L02  •  TOGETHER  •  2:40 PM–2:55 PM  •  15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6.4 pp.96–97; Chapter 10 pp.154–164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Pairs lay out nine sheets as three 2.4 m lengths by three 1.2 m widths. Compare the verified no-waste layout with the separate allowance quantity.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Explain the method and check directions; work with a partner only where permitted.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10B Q1–2 (p.65); 6B Q2 (p.41)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W07-L02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scheduled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6.4 pp.96–97; Chapter 10 pp.154–164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Prepare a quantity note: floor area, sheet area, nine-sheet base and stated 10% allowance. Then solve Exercise Book 10B Q2 for coating tins. Check units, final rounding and assumptions; no prices are assumed.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Keep numbered written solutions and units. Use tools only under the conditions stated for this block.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10B Q1–2 (p.65); 6B Q2 (p.41)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W07-L02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Open the ACCESS tool for this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6.4 pp.96–97; Chapter 10 pp.154–164</a:t>
            </a:r>
          </a:p>
        </p:txBody>
      </p:sp>
      <p:pic>
        <p:nvPicPr>
          <p:cNvPr id="5" name="Picture 4" descr="shape-rect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776" y="1664208"/>
            <a:ext cx="6122822" cy="4251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5998464"/>
            <a:ext cx="10927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350" b="0">
                <a:solidFill>
                  <a:srgbClr val="4A4E54"/>
                </a:solidFill>
                <a:latin typeface="Arial"/>
              </a:defRPr>
            </a:pPr>
            <a:r>
              <a:rPr/>
              <a:t>Navigation example. Use the values and units in the assigned task.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W07-L02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Your tool activity: try, compare and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6.4 pp.96–97; Chapter 10 pp.154–164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28800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828800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Open the floor sketch in Shape Canvas and use 1.2 m × 2.4 m sheet rectangles to recreate the scheduled 3 × 3 arrangement.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127248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127248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200" b="0">
                <a:solidFill>
                  <a:srgbClr val="1A1A1A"/>
                </a:solidFill>
                <a:latin typeface="Arial"/>
              </a:defRPr>
            </a:pPr>
            <a:r>
              <a:rPr/>
              <a:t>Check the arrangement against the 7.2 m and 3.6 m floor dimensions; record the floor area, sheet area and nine-sheet base in the written quantity note.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425696"/>
            <a:ext cx="365760" cy="365760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A1A1A"/>
                </a:solidFill>
                <a:latin typeface="Arial"/>
              </a:defRPr>
            </a:pPr>
            <a:r>
              <a:rPr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425696"/>
            <a:ext cx="10149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1A1A1A"/>
                </a:solidFill>
                <a:latin typeface="Arial"/>
              </a:defRPr>
            </a:pPr>
            <a:r>
              <a:rPr/>
              <a:t>Use Numeracy Hub Calculator after paper working to compare the no-waste count with 9 × 1.10. Record the stated allowance and final whole-sheet rounding separately.</a:t>
            </a:r>
          </a:p>
        </p:txBody>
      </p:sp>
      <p:pic>
        <p:nvPicPr>
          <p:cNvPr id="11" name="Picture 10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W07-L02  •  PRACTISE  •  2:55 PM–3:15 PM  •  20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Practise from the Exercise Book  |  10B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6.4 pp.96–97; Chapter 10 pp.154–164</a:t>
            </a:r>
          </a:p>
        </p:txBody>
      </p:sp>
      <p:pic>
        <p:nvPicPr>
          <p:cNvPr id="5" name="Picture 4" descr="10B-Q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58618"/>
            <a:ext cx="10698480" cy="18425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59612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4A4E54"/>
                </a:solidFill>
                <a:latin typeface="Arial"/>
              </a:defRPr>
            </a:pPr>
            <a:r>
              <a:rPr/>
              <a:t>Write the operation, working and units before checking.</a:t>
            </a:r>
          </a:p>
        </p:txBody>
      </p:sp>
      <p:pic>
        <p:nvPicPr>
          <p:cNvPr id="7" name="Picture 6" descr="acc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Textbook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Exercise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Numeracy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8"/>
              </a:rPr>
              <a:t>Shape Canvas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W07-L02  •  CHECK  •  3:15 PM–3:25 PM  •  10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Check independently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6.4 pp.96–97; Chapter 10 pp.154–164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Explain the nine-sheet base, allowance order, and why an area estimate alone does not prove every cutting layout.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Submit work and demonstrate the checking strategy; identify a remaining difficulty.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10B Q1–2 (p.65); 6B Q2 (p.41)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02336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150" b="1">
                <a:solidFill>
                  <a:srgbClr val="D2181F"/>
                </a:solidFill>
                <a:latin typeface="Arial"/>
              </a:defRPr>
            </a:pPr>
            <a:r>
              <a:rPr/>
              <a:t>W07-L02  •  WRAP UP  •  3:25 PM–3:30 PM  •  5 MIN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32688"/>
            <a:ext cx="1092708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A1A1A"/>
                </a:solidFill>
                <a:latin typeface="Arial"/>
              </a:defRPr>
            </a:pPr>
            <a:r>
              <a:rPr/>
              <a:t>Wrap up and choose the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327648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4A4E54"/>
                </a:solidFill>
                <a:latin typeface="Arial"/>
              </a:defRPr>
            </a:pPr>
            <a:r>
              <a:rPr/>
              <a:t>Textbook sections 6.4 pp.96–97; Chapter 10 pp.154–164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874519"/>
            <a:ext cx="109270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1A1A1A"/>
                </a:solidFill>
                <a:latin typeface="Arial"/>
              </a:defRPr>
            </a:pPr>
            <a:r>
              <a:rPr/>
              <a:t>Identify what improved, what needs another attempt and which resource will support the next step.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4251960"/>
            <a:ext cx="10927080" cy="1280160"/>
          </a:xfrm>
          <a:prstGeom prst="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59536" y="446227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1A1A1A"/>
                </a:solidFill>
                <a:latin typeface="Arial"/>
              </a:defRPr>
            </a:pPr>
            <a:r>
              <a:rPr/>
              <a:t>Name the math and another essential skill used; record a concrete follow-up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788152"/>
            <a:ext cx="10927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250" b="0">
                <a:solidFill>
                  <a:srgbClr val="4A4E54"/>
                </a:solidFill>
                <a:latin typeface="Arial"/>
              </a:defRPr>
            </a:pPr>
            <a:r>
              <a:rPr/>
              <a:t>Resources: Exercise Book 10B Q1–2 (p.65); 6B Q2 (p.41)</a:t>
            </a:r>
          </a:p>
        </p:txBody>
      </p:sp>
      <p:pic>
        <p:nvPicPr>
          <p:cNvPr id="9" name="Picture 8" descr="acces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146304"/>
            <a:ext cx="1371600" cy="6891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" y="6601968"/>
            <a:ext cx="10972800" cy="16459"/>
          </a:xfrm>
          <a:prstGeom prst="rect">
            <a:avLst/>
          </a:prstGeom>
          <a:solidFill>
            <a:srgbClr val="FFB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1A1A1A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12648" y="665683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4"/>
              </a:rPr>
              <a:t>Textbook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66568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5"/>
              </a:rPr>
              <a:t>Exercise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665683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6"/>
              </a:rPr>
              <a:t>Numeracy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66568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1050" b="0">
                <a:solidFill>
                  <a:srgbClr val="C60016"/>
                </a:solidFill>
                <a:latin typeface="Arial"/>
              </a:defRPr>
            </a:pPr>
            <a:r>
              <a:rPr>
                <a:hlinkClick r:id="rId7"/>
              </a:rPr>
              <a:t>Shape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6656832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defRPr sz="950" b="0">
                <a:solidFill>
                  <a:srgbClr val="4A4E54"/>
                </a:solidFill>
                <a:latin typeface="Arial"/>
              </a:defRPr>
            </a:pPr>
            <a:r>
              <a:rPr/>
              <a:t>Day 23  •  2026-12-07  • 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34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0FB143F-4C5F-4CFA-83D4-CE599B274CB0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15ce61c-59d5-4165-9b38-ae3aa70e2273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96CE026-134B-41F5-918B-2FB126868299}">
  <we:reference id="wa200010215" version="2.0.0.1" store="en-US" storeType="OMEX"/>
  <we:alternateReferences>
    <we:reference id="WA200010215" version="2.0.0.1" store="" storeType="OMEX"/>
  </we:alternateReferences>
  <we:properties>
    <we:property name="bps.codex_control.document_id" value="&quot;fd5b780e-6113-4733-b1f1-d8726169f48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34</Slides>
  <Notes>34</Notes>
  <HiddenSlides>0</Hidden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 Carpentry Math | Full Day 23 | 2026-12-07</dc:title>
  <dc:creator>ACCESS Trades</dc:creator>
  <dc:subject>Carpentry drawing: floor layout and cut list; Materials practice: sheeting and allowance</dc:subject>
</cp:coreProperties>
</file>