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40.xml" ContentType="application/vnd.openxmlformats-officedocument.presentationml.notesSlide+xml"/>
  <Override PartName="/ppt/notesSlides/notesSlide143.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409" r:id="rId141"/>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12" r:id="rId144"/>
    <p:sldId id="457" r:id="rId194"/>
    <p:sldId id="458" r:id="rId195"/>
    <p:sldId id="459" r:id="rId196"/>
    <p:sldId id="460" r:id="rId197"/>
    <p:sldId id="461" r:id="rId198"/>
    <p:sldId id="462" r:id="rId199"/>
    <p:sldId id="463" r:id="rId200"/>
    <p:sldId id="464" r:id="rId201"/>
    <p:sldId id="465" r:id="rId202"/>
    <p:sldId id="466" r:id="rId20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41" Type="http://schemas.openxmlformats.org/officeDocument/2006/relationships/slide" Target="slides/slide7.xml"/><Relationship Id="rId144" Type="http://schemas.openxmlformats.org/officeDocument/2006/relationships/slide" Target="slides/slide24.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8.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5.xml"/><Relationship Id="rId195" Type="http://schemas.openxmlformats.org/officeDocument/2006/relationships/slide" Target="slides/slide26.xml"/><Relationship Id="rId196" Type="http://schemas.openxmlformats.org/officeDocument/2006/relationships/slide" Target="slides/slide27.xml"/><Relationship Id="rId197" Type="http://schemas.openxmlformats.org/officeDocument/2006/relationships/slide" Target="slides/slide28.xml"/><Relationship Id="rId198" Type="http://schemas.openxmlformats.org/officeDocument/2006/relationships/slide" Target="slides/slide29.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W07-L01 | 2026-12-07 | 12:45 PM–2:00 PM | 75 minutes</a:t>
            </a:r>
          </a:p>
          <a:p>
            <a:r>
              <a:t>Carpentry drawing: floor layout and cut list</a:t>
            </a:r>
          </a:p>
          <a:p>
            <a:r>
              <a:t>Mode: Math</a:t>
            </a:r>
          </a:p>
          <a:p>
            <a:r>
              <a:t>Goal: Extract dimensions from a drawing, calculate a perimeter and offcut, and explain assumptions in a cut list.</a:t>
            </a:r>
          </a:p>
          <a:p>
            <a:r>
              <a:t>Read: Textbook Chapter 3 pp.44–51; Chapter 9 p.140; Chapter 10 pp.154–157</a:t>
            </a:r>
          </a:p>
          <a:p>
            <a:r>
              <a:t>Practise: Exercise Book 10B Q1 (p.65); 3C Q3 (p.23); 12B Q5 (p.78)</a:t>
            </a:r>
          </a:p>
          <a:p>
            <a:r>
              <a:t>Tool: Shape Canvas: set m units; draw the 7.2 m × 3.6 m floor rectangle from Exercise Book 10B Q1. Add a Text cut-list note. Numeracy Hub Calculator for numerical checks.</a:t>
            </a:r>
          </a:p>
          <a:p/>
          <a:p>
            <a:r>
              <a:t>EXACT SCHEDULED STEPS</a:t>
            </a:r>
          </a:p>
          <a:p>
            <a:r>
              <a:t>12:45 PM–12:50 PM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7'!A25:F25</a:t>
            </a:r>
          </a:p>
          <a:p/>
          <a:p>
            <a:r>
              <a:t>12:50 PM–12:55 PM | 2 Recall | 5 min</a:t>
            </a:r>
          </a:p>
          <a:p>
            <a:r>
              <a:t>Instructor: Ask which dimensions are needed for perimeter, area and diagonal; retrieve one kerf calculation.</a:t>
            </a:r>
          </a:p>
          <a:p>
            <a:r>
              <a:t>Learners: Review previous feedback and attempt the retrieval prompt without displayed solutions.</a:t>
            </a:r>
          </a:p>
          <a:p>
            <a:r>
              <a:t>Materials/check: Identify support needs</a:t>
            </a:r>
          </a:p>
          <a:p>
            <a:r>
              <a:t>Source: 'Math Week 7'!A26:F26</a:t>
            </a:r>
          </a:p>
          <a:p/>
          <a:p>
            <a:r>
              <a:t>12:55 PM–1:10 PM | 3 Teach | 15 min</a:t>
            </a:r>
          </a:p>
          <a:p>
            <a:r>
              <a:t>Instructor: Introduce an instructor-designed carpentry adaptation of Exercise Book 10B Q1: same dimensions, using plywood rather than checker plate. Keep no-waste and rectangular-layout assumptions explicit.</a:t>
            </a:r>
          </a:p>
          <a:p>
            <a:r>
              <a:t>Learners: Annotate the example or response expectations; ask about unclear steps.</a:t>
            </a:r>
          </a:p>
          <a:p>
            <a:r>
              <a:t>Materials/check: Textbook; worked example</a:t>
            </a:r>
          </a:p>
          <a:p>
            <a:r>
              <a:t>Source: 'Math Week 7'!A27:F27</a:t>
            </a:r>
          </a:p>
          <a:p/>
          <a:p>
            <a:r>
              <a:t>1:10 PM–1:25 PM | 4 Together | 15 min</a:t>
            </a:r>
          </a:p>
          <a:p>
            <a:r>
              <a:t>Instructor: Partners annotate the floor rectangle and a separate 6,000 mm stock sketch from Exercise Book 3C Q3. Decide which information belongs to each calculation.</a:t>
            </a:r>
          </a:p>
          <a:p>
            <a:r>
              <a:t>Learners: Explain the method and check directions; work with a partner only where permitted.</a:t>
            </a:r>
          </a:p>
          <a:p>
            <a:r>
              <a:t>Materials/check: Exercise Book; tool above</a:t>
            </a:r>
          </a:p>
          <a:p>
            <a:r>
              <a:t>Source: 'Math Week 7'!A28:F28</a:t>
            </a:r>
          </a:p>
          <a:p/>
          <a:p>
            <a:r>
              <a:t>1:25 PM–1:45 PM | 5 Practise | 20 min</a:t>
            </a:r>
          </a:p>
          <a:p>
            <a:r>
              <a:t>Instructor: Draw and label the floor in Shape Canvas. Calculate perimeter, floor area and diagonal; solve Exercise Book 3C Q3 without changing its four cuts or 3 mm kerf. Record units and assumptions; do not mix the two problem contexts.</a:t>
            </a:r>
          </a:p>
          <a:p>
            <a:r>
              <a:t>Learners: Keep numbered written solutions and units. Use tools only under the conditions stated for this block.</a:t>
            </a:r>
          </a:p>
          <a:p>
            <a:r>
              <a:t>Materials/check: Paper first; tool second</a:t>
            </a:r>
          </a:p>
          <a:p>
            <a:r>
              <a:t>Source: 'Math Week 7'!A29:F29</a:t>
            </a:r>
          </a:p>
          <a:p/>
          <a:p>
            <a:r>
              <a:t>1:45 PM–1:55 PM | 6 Check | 10 min</a:t>
            </a:r>
          </a:p>
          <a:p>
            <a:r>
              <a:t>Instructor: Submit the labelled floor plan, perimeter calculation and stock offcut equation.</a:t>
            </a:r>
          </a:p>
          <a:p>
            <a:r>
              <a:t>Learners: Submit work and demonstrate the checking strategy; identify a remaining difficulty.</a:t>
            </a:r>
          </a:p>
          <a:p>
            <a:r>
              <a:t>Materials/check: Teacher answers below</a:t>
            </a:r>
          </a:p>
          <a:p>
            <a:r>
              <a:t>Source: 'Math Week 7'!A30:F30</a:t>
            </a:r>
          </a:p>
          <a:p/>
          <a:p>
            <a:r>
              <a:t>1:55 PM–2:00 PM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7'!A31:F31</a:t>
            </a:r>
          </a:p>
          <a:p/>
          <a:p>
            <a:r>
              <a:t>INSTRUCTOR ONLY: REVEAL ASSESSMENT ANSWERS AFTER THE ATTEMPT</a:t>
            </a:r>
          </a:p>
          <a:p>
            <a:r>
              <a:t>Instructor adaptation: perimeter 21.6 m; area 25.92 m²; diagonal √(7.2²+3.6²) ≈ 8.05 m. Exercise Book 3C Q3 offcut = 1,188 mm (Answer Key p.10). Floor area: Answer Key p.28. Answer Key pp.10,28,32</a:t>
            </a:r>
          </a:p>
          <a:p/>
          <a:p>
            <a:r>
              <a:t>Bring the saved sketch and written assumptions into the material-order calculation session.</a:t>
            </a:r>
          </a:p>
          <a:p/>
          <a:p>
            <a:r>
              <a:t>Sources: 'Math Week 7'!A10:E10; 'Carpentry Schedule'!B70; 'Math Week 7'!A19</a:t>
            </a:r>
          </a:p>
          <a:p>
            <a:r>
              <a:t>Navigation/resource slides support these scheduled steps and do not add instructional time.</a:t>
            </a:r>
          </a:p>
          <a:p>
            <a:r>
              <a:t>Worked teaching example retained from original slide 140. Use within the scheduled Teach block.</a:t>
            </a:r>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W07-L02 | 2026-12-07 | 2:15 PM–3:30 PM | 75 minutes</a:t>
            </a:r>
          </a:p>
          <a:p>
            <a:r>
              <a:t>Materials practice: sheeting and allowance</a:t>
            </a:r>
          </a:p>
          <a:p>
            <a:r>
              <a:t>Mode: Calculation Practice</a:t>
            </a:r>
          </a:p>
          <a:p>
            <a:r>
              <a:t>Goal: Use area and a stated classroom allowance to build a material quantity and distinguish an estimate from a cutting layout.</a:t>
            </a:r>
          </a:p>
          <a:p>
            <a:r>
              <a:t>Read: Textbook sections 6.4 pp.96–97; Chapter 10 pp.154–164</a:t>
            </a:r>
          </a:p>
          <a:p>
            <a:r>
              <a:t>Practise: Exercise Book 10B Q1–2 (p.65); 6B Q2 (p.41)</a:t>
            </a:r>
          </a:p>
          <a:p>
            <a:r>
              <a:t>Tool: Shape Canvas: use the floor sketch and 1.2 m × 2.4 m sheet rectangles. Numeracy Hub Calculator: compare the no-waste sheet count with the allowance calculation.</a:t>
            </a:r>
          </a:p>
          <a:p/>
          <a:p>
            <a:r>
              <a:t>EXACT SCHEDULED STEPS</a:t>
            </a:r>
          </a:p>
          <a:p>
            <a:r>
              <a:t>2:15 PM–2:20 PM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7'!A42:F42</a:t>
            </a:r>
          </a:p>
          <a:p/>
          <a:p>
            <a:r>
              <a:t>2:20 PM–2:25 PM | 2 Recall | 5 min</a:t>
            </a:r>
          </a:p>
          <a:p>
            <a:r>
              <a:t>Instructor: Retrieve the floor area and one-sheet area from the previous block. Ask why a fractional purchase quantity rounds up.</a:t>
            </a:r>
          </a:p>
          <a:p>
            <a:r>
              <a:t>Learners: Review previous feedback and attempt the retrieval prompt without displayed solutions.</a:t>
            </a:r>
          </a:p>
          <a:p>
            <a:r>
              <a:t>Materials/check: Identify support needs</a:t>
            </a:r>
          </a:p>
          <a:p>
            <a:r>
              <a:t>Source: 'Math Week 7'!A43:F43</a:t>
            </a:r>
          </a:p>
          <a:p/>
          <a:p>
            <a:r>
              <a:t>2:25 PM–2:40 PM | 3 Teach | 15 min</a:t>
            </a:r>
          </a:p>
          <a:p>
            <a:r>
              <a:t>Instructor: Work the no-waste floor quantity from Exercise Book 10B Q1. Add an explicitly instructor-designed 10% classroom allowance; this is a planning exercise, not a standard site allowance.</a:t>
            </a:r>
          </a:p>
          <a:p>
            <a:r>
              <a:t>Learners: Annotate the example or response expectations; ask about unclear steps.</a:t>
            </a:r>
          </a:p>
          <a:p>
            <a:r>
              <a:t>Materials/check: Textbook; worked example</a:t>
            </a:r>
          </a:p>
          <a:p>
            <a:r>
              <a:t>Source: 'Math Week 7'!A44:F44</a:t>
            </a:r>
          </a:p>
          <a:p/>
          <a:p>
            <a:r>
              <a:t>2:40 PM–2:55 PM | 4 Together | 15 min</a:t>
            </a:r>
          </a:p>
          <a:p>
            <a:r>
              <a:t>Instructor: Pairs lay out nine sheets as three 2.4 m lengths by three 1.2 m widths. Compare the verified no-waste layout with the separate allowance quantity.</a:t>
            </a:r>
          </a:p>
          <a:p>
            <a:r>
              <a:t>Learners: Explain the method and check directions; work with a partner only where permitted.</a:t>
            </a:r>
          </a:p>
          <a:p>
            <a:r>
              <a:t>Materials/check: Exercise Book; tool above</a:t>
            </a:r>
          </a:p>
          <a:p>
            <a:r>
              <a:t>Source: 'Math Week 7'!A45:F45</a:t>
            </a:r>
          </a:p>
          <a:p/>
          <a:p>
            <a:r>
              <a:t>2:55 PM–3:15 PM | 5 Practise | 20 min</a:t>
            </a:r>
          </a:p>
          <a:p>
            <a:r>
              <a:t>Instructor: Prepare a quantity note: floor area, sheet area, nine-sheet base and stated 10% allowance. Then solve Exercise Book 10B Q2 for coating tins. Check units, final rounding and assumptions; no prices are assumed.</a:t>
            </a:r>
          </a:p>
          <a:p>
            <a:r>
              <a:t>Learners: Keep numbered written solutions and units. Use tools only under the conditions stated for this block.</a:t>
            </a:r>
          </a:p>
          <a:p>
            <a:r>
              <a:t>Materials/check: Paper first; tool second</a:t>
            </a:r>
          </a:p>
          <a:p>
            <a:r>
              <a:t>Source: 'Math Week 7'!A46:F46</a:t>
            </a:r>
          </a:p>
          <a:p/>
          <a:p>
            <a:r>
              <a:t>3:15 PM–3:25 PM | 6 Check | 10 min</a:t>
            </a:r>
          </a:p>
          <a:p>
            <a:r>
              <a:t>Instructor: Explain the nine-sheet base, allowance order, and why an area estimate alone does not prove every cutting layout.</a:t>
            </a:r>
          </a:p>
          <a:p>
            <a:r>
              <a:t>Learners: Submit work and demonstrate the checking strategy; identify a remaining difficulty.</a:t>
            </a:r>
          </a:p>
          <a:p>
            <a:r>
              <a:t>Materials/check: Teacher answers below</a:t>
            </a:r>
          </a:p>
          <a:p>
            <a:r>
              <a:t>Source: 'Math Week 7'!A47:F47</a:t>
            </a:r>
          </a:p>
          <a:p/>
          <a:p>
            <a:r>
              <a:t>3:25 PM–3:30 PM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7'!A48:F48</a:t>
            </a:r>
          </a:p>
          <a:p/>
          <a:p>
            <a:r>
              <a:t>INSTRUCTOR ONLY: REVEAL ASSESSMENT ANSWERS AFTER THE ATTEMPT</a:t>
            </a:r>
          </a:p>
          <a:p>
            <a:r>
              <a:t>Base: 25.92/2.88 = 9 sheets. Instructor 10% allowance: 9 × 1.10 = 9.9, rounded up to 10 sheets. 10B Q2: 4.57 L, so buy 5 tins (Answer Key p.28). Answer Key pp.19,28</a:t>
            </a:r>
          </a:p>
          <a:p/>
          <a:p>
            <a:r>
              <a:t>Use the drawing and quantity note to identify individual needs for Thursday’s targeted practice.</a:t>
            </a:r>
          </a:p>
          <a:p/>
          <a:p>
            <a:r>
              <a:t>Sources: 'Math Week 7'!A11:E11; 'Carpentry Schedule'!B72; 'Math Week 7'!A36</a:t>
            </a:r>
          </a:p>
          <a:p>
            <a:r>
              <a:t>Navigation/resource slides support these scheduled steps and do not add instructional time.</a:t>
            </a:r>
          </a:p>
          <a:p>
            <a:r>
              <a:t>Worked teaching example retained from original slide 143. Use within the scheduled Teach block.</a:t>
            </a:r>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Daily deck uses only this date’s math blocks from the current visible Carpentry Schedule and Math Week sheets.</a:t>
            </a:r>
          </a:p>
          <a:p>
            <a:r>
              <a:t>'Carpentry Schedule'!B70 | 'Math Week 7'!A19</a:t>
            </a:r>
          </a:p>
          <a:p>
            <a:r>
              <a:t>'Carpentry Schedule'!B72 | 'Math Week 7'!A36</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W07-L01 | 2026-12-07 | 12:45 PM–2:00 PM | 75 minutes</a:t>
            </a:r>
          </a:p>
          <a:p>
            <a:r>
              <a:t>Carpentry drawing: floor layout and cut list</a:t>
            </a:r>
          </a:p>
          <a:p>
            <a:r>
              <a:t>Mode: Math</a:t>
            </a:r>
          </a:p>
          <a:p>
            <a:r>
              <a:t>Goal: Extract dimensions from a drawing, calculate a perimeter and offcut, and explain assumptions in a cut list.</a:t>
            </a:r>
          </a:p>
          <a:p>
            <a:r>
              <a:t>Read: Textbook Chapter 3 pp.44–51; Chapter 9 p.140; Chapter 10 pp.154–157</a:t>
            </a:r>
          </a:p>
          <a:p>
            <a:r>
              <a:t>Practise: Exercise Book 10B Q1 (p.65); 3C Q3 (p.23); 12B Q5 (p.78)</a:t>
            </a:r>
          </a:p>
          <a:p>
            <a:r>
              <a:t>Tool: Shape Canvas: set m units; draw the 7.2 m × 3.6 m floor rectangle from Exercise Book 10B Q1. Add a Text cut-list note. Numeracy Hub Calculator for numerical checks.</a:t>
            </a:r>
          </a:p>
          <a:p/>
          <a:p>
            <a:r>
              <a:t>EXACT SCHEDULED STEPS</a:t>
            </a:r>
          </a:p>
          <a:p>
            <a:r>
              <a:t>12:45 PM–12:50 PM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7'!A25:F25</a:t>
            </a:r>
          </a:p>
          <a:p/>
          <a:p>
            <a:r>
              <a:t>12:50 PM–12:55 PM | 2 Recall | 5 min</a:t>
            </a:r>
          </a:p>
          <a:p>
            <a:r>
              <a:t>Instructor: Ask which dimensions are needed for perimeter, area and diagonal; retrieve one kerf calculation.</a:t>
            </a:r>
          </a:p>
          <a:p>
            <a:r>
              <a:t>Learners: Review previous feedback and attempt the retrieval prompt without displayed solutions.</a:t>
            </a:r>
          </a:p>
          <a:p>
            <a:r>
              <a:t>Materials/check: Identify support needs</a:t>
            </a:r>
          </a:p>
          <a:p>
            <a:r>
              <a:t>Source: 'Math Week 7'!A26:F26</a:t>
            </a:r>
          </a:p>
          <a:p/>
          <a:p>
            <a:r>
              <a:t>12:55 PM–1:10 PM | 3 Teach | 15 min</a:t>
            </a:r>
          </a:p>
          <a:p>
            <a:r>
              <a:t>Instructor: Introduce an instructor-designed carpentry adaptation of Exercise Book 10B Q1: same dimensions, using plywood rather than checker plate. Keep no-waste and rectangular-layout assumptions explicit.</a:t>
            </a:r>
          </a:p>
          <a:p>
            <a:r>
              <a:t>Learners: Annotate the example or response expectations; ask about unclear steps.</a:t>
            </a:r>
          </a:p>
          <a:p>
            <a:r>
              <a:t>Materials/check: Textbook; worked example</a:t>
            </a:r>
          </a:p>
          <a:p>
            <a:r>
              <a:t>Source: 'Math Week 7'!A27:F27</a:t>
            </a:r>
          </a:p>
          <a:p/>
          <a:p>
            <a:r>
              <a:t>1:10 PM–1:25 PM | 4 Together | 15 min</a:t>
            </a:r>
          </a:p>
          <a:p>
            <a:r>
              <a:t>Instructor: Partners annotate the floor rectangle and a separate 6,000 mm stock sketch from Exercise Book 3C Q3. Decide which information belongs to each calculation.</a:t>
            </a:r>
          </a:p>
          <a:p>
            <a:r>
              <a:t>Learners: Explain the method and check directions; work with a partner only where permitted.</a:t>
            </a:r>
          </a:p>
          <a:p>
            <a:r>
              <a:t>Materials/check: Exercise Book; tool above</a:t>
            </a:r>
          </a:p>
          <a:p>
            <a:r>
              <a:t>Source: 'Math Week 7'!A28:F28</a:t>
            </a:r>
          </a:p>
          <a:p/>
          <a:p>
            <a:r>
              <a:t>1:25 PM–1:45 PM | 5 Practise | 20 min</a:t>
            </a:r>
          </a:p>
          <a:p>
            <a:r>
              <a:t>Instructor: Draw and label the floor in Shape Canvas. Calculate perimeter, floor area and diagonal; solve Exercise Book 3C Q3 without changing its four cuts or 3 mm kerf. Record units and assumptions; do not mix the two problem contexts.</a:t>
            </a:r>
          </a:p>
          <a:p>
            <a:r>
              <a:t>Learners: Keep numbered written solutions and units. Use tools only under the conditions stated for this block.</a:t>
            </a:r>
          </a:p>
          <a:p>
            <a:r>
              <a:t>Materials/check: Paper first; tool second</a:t>
            </a:r>
          </a:p>
          <a:p>
            <a:r>
              <a:t>Source: 'Math Week 7'!A29:F29</a:t>
            </a:r>
          </a:p>
          <a:p/>
          <a:p>
            <a:r>
              <a:t>1:45 PM–1:55 PM | 6 Check | 10 min</a:t>
            </a:r>
          </a:p>
          <a:p>
            <a:r>
              <a:t>Instructor: Submit the labelled floor plan, perimeter calculation and stock offcut equation.</a:t>
            </a:r>
          </a:p>
          <a:p>
            <a:r>
              <a:t>Learners: Submit work and demonstrate the checking strategy; identify a remaining difficulty.</a:t>
            </a:r>
          </a:p>
          <a:p>
            <a:r>
              <a:t>Materials/check: Teacher answers below</a:t>
            </a:r>
          </a:p>
          <a:p>
            <a:r>
              <a:t>Source: 'Math Week 7'!A30:F30</a:t>
            </a:r>
          </a:p>
          <a:p/>
          <a:p>
            <a:r>
              <a:t>1:55 PM–2:00 PM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7'!A31:F31</a:t>
            </a:r>
          </a:p>
          <a:p/>
          <a:p>
            <a:r>
              <a:t>INSTRUCTOR ONLY: REVEAL ASSESSMENT ANSWERS AFTER THE ATTEMPT</a:t>
            </a:r>
          </a:p>
          <a:p>
            <a:r>
              <a:t>Instructor adaptation: perimeter 21.6 m; area 25.92 m²; diagonal √(7.2²+3.6²) ≈ 8.05 m. Exercise Book 3C Q3 offcut = 1,188 mm (Answer Key p.10). Floor area: Answer Key p.28. Answer Key pp.10,28,32</a:t>
            </a:r>
          </a:p>
          <a:p/>
          <a:p>
            <a:r>
              <a:t>Bring the saved sketch and written assumptions into the material-order calculation session.</a:t>
            </a:r>
          </a:p>
          <a:p/>
          <a:p>
            <a:r>
              <a:t>Sources: 'Math Week 7'!A10:E10; 'Carpentry Schedule'!B70; 'Math Week 7'!A19</a:t>
            </a:r>
          </a:p>
          <a:p>
            <a:r>
              <a:t>Navigation/resource slides support these scheduled steps and do not add instructional time.</a:t>
            </a:r>
          </a:p>
          <a:p/>
          <a:p>
            <a:r>
              <a:t>W07-L02 | 2026-12-07 | 2:15 PM–3:30 PM | 75 minutes</a:t>
            </a:r>
          </a:p>
          <a:p>
            <a:r>
              <a:t>Materials practice: sheeting and allowance</a:t>
            </a:r>
          </a:p>
          <a:p>
            <a:r>
              <a:t>Mode: Calculation Practice</a:t>
            </a:r>
          </a:p>
          <a:p>
            <a:r>
              <a:t>Goal: Use area and a stated classroom allowance to build a material quantity and distinguish an estimate from a cutting layout.</a:t>
            </a:r>
          </a:p>
          <a:p>
            <a:r>
              <a:t>Read: Textbook sections 6.4 pp.96–97; Chapter 10 pp.154–164</a:t>
            </a:r>
          </a:p>
          <a:p>
            <a:r>
              <a:t>Practise: Exercise Book 10B Q1–2 (p.65); 6B Q2 (p.41)</a:t>
            </a:r>
          </a:p>
          <a:p>
            <a:r>
              <a:t>Tool: Shape Canvas: use the floor sketch and 1.2 m × 2.4 m sheet rectangles. Numeracy Hub Calculator: compare the no-waste sheet count with the allowance calculation.</a:t>
            </a:r>
          </a:p>
          <a:p/>
          <a:p>
            <a:r>
              <a:t>EXACT SCHEDULED STEPS</a:t>
            </a:r>
          </a:p>
          <a:p>
            <a:r>
              <a:t>2:15 PM–2:20 PM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7'!A42:F42</a:t>
            </a:r>
          </a:p>
          <a:p/>
          <a:p>
            <a:r>
              <a:t>2:20 PM–2:25 PM | 2 Recall | 5 min</a:t>
            </a:r>
          </a:p>
          <a:p>
            <a:r>
              <a:t>Instructor: Retrieve the floor area and one-sheet area from the previous block. Ask why a fractional purchase quantity rounds up.</a:t>
            </a:r>
          </a:p>
          <a:p>
            <a:r>
              <a:t>Learners: Review previous feedback and attempt the retrieval prompt without displayed solutions.</a:t>
            </a:r>
          </a:p>
          <a:p>
            <a:r>
              <a:t>Materials/check: Identify support needs</a:t>
            </a:r>
          </a:p>
          <a:p>
            <a:r>
              <a:t>Source: 'Math Week 7'!A43:F43</a:t>
            </a:r>
          </a:p>
          <a:p/>
          <a:p>
            <a:r>
              <a:t>2:25 PM–2:40 PM | 3 Teach | 15 min</a:t>
            </a:r>
          </a:p>
          <a:p>
            <a:r>
              <a:t>Instructor: Work the no-waste floor quantity from Exercise Book 10B Q1. Add an explicitly instructor-designed 10% classroom allowance; this is a planning exercise, not a standard site allowance.</a:t>
            </a:r>
          </a:p>
          <a:p>
            <a:r>
              <a:t>Learners: Annotate the example or response expectations; ask about unclear steps.</a:t>
            </a:r>
          </a:p>
          <a:p>
            <a:r>
              <a:t>Materials/check: Textbook; worked example</a:t>
            </a:r>
          </a:p>
          <a:p>
            <a:r>
              <a:t>Source: 'Math Week 7'!A44:F44</a:t>
            </a:r>
          </a:p>
          <a:p/>
          <a:p>
            <a:r>
              <a:t>2:40 PM–2:55 PM | 4 Together | 15 min</a:t>
            </a:r>
          </a:p>
          <a:p>
            <a:r>
              <a:t>Instructor: Pairs lay out nine sheets as three 2.4 m lengths by three 1.2 m widths. Compare the verified no-waste layout with the separate allowance quantity.</a:t>
            </a:r>
          </a:p>
          <a:p>
            <a:r>
              <a:t>Learners: Explain the method and check directions; work with a partner only where permitted.</a:t>
            </a:r>
          </a:p>
          <a:p>
            <a:r>
              <a:t>Materials/check: Exercise Book; tool above</a:t>
            </a:r>
          </a:p>
          <a:p>
            <a:r>
              <a:t>Source: 'Math Week 7'!A45:F45</a:t>
            </a:r>
          </a:p>
          <a:p/>
          <a:p>
            <a:r>
              <a:t>2:55 PM–3:15 PM | 5 Practise | 20 min</a:t>
            </a:r>
          </a:p>
          <a:p>
            <a:r>
              <a:t>Instructor: Prepare a quantity note: floor area, sheet area, nine-sheet base and stated 10% allowance. Then solve Exercise Book 10B Q2 for coating tins. Check units, final rounding and assumptions; no prices are assumed.</a:t>
            </a:r>
          </a:p>
          <a:p>
            <a:r>
              <a:t>Learners: Keep numbered written solutions and units. Use tools only under the conditions stated for this block.</a:t>
            </a:r>
          </a:p>
          <a:p>
            <a:r>
              <a:t>Materials/check: Paper first; tool second</a:t>
            </a:r>
          </a:p>
          <a:p>
            <a:r>
              <a:t>Source: 'Math Week 7'!A46:F46</a:t>
            </a:r>
          </a:p>
          <a:p/>
          <a:p>
            <a:r>
              <a:t>3:15 PM–3:25 PM | 6 Check | 10 min</a:t>
            </a:r>
          </a:p>
          <a:p>
            <a:r>
              <a:t>Instructor: Explain the nine-sheet base, allowance order, and why an area estimate alone does not prove every cutting layout.</a:t>
            </a:r>
          </a:p>
          <a:p>
            <a:r>
              <a:t>Learners: Submit work and demonstrate the checking strategy; identify a remaining difficulty.</a:t>
            </a:r>
          </a:p>
          <a:p>
            <a:r>
              <a:t>Materials/check: Teacher answers below</a:t>
            </a:r>
          </a:p>
          <a:p>
            <a:r>
              <a:t>Source: 'Math Week 7'!A47:F47</a:t>
            </a:r>
          </a:p>
          <a:p/>
          <a:p>
            <a:r>
              <a:t>3:25 PM–3:30 PM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7'!A48:F48</a:t>
            </a:r>
          </a:p>
          <a:p/>
          <a:p>
            <a:r>
              <a:t>INSTRUCTOR ONLY: REVEAL ASSESSMENT ANSWERS AFTER THE ATTEMPT</a:t>
            </a:r>
          </a:p>
          <a:p>
            <a:r>
              <a:t>Base: 25.92/2.88 = 9 sheets. Instructor 10% allowance: 9 × 1.10 = 9.9, rounded up to 10 sheets. 10B Q2: 4.57 L, so buy 5 tins (Answer Key p.28). Answer Key pp.19,28</a:t>
            </a:r>
          </a:p>
          <a:p/>
          <a:p>
            <a:r>
              <a:t>Use the drawing and quantity note to identify individual needs for Thursday’s targeted practice.</a:t>
            </a:r>
          </a:p>
          <a:p/>
          <a:p>
            <a:r>
              <a:t>Sources: 'Math Week 7'!A11:E11; 'Carpentry Schedule'!B72; 'Math Week 7'!A36</a:t>
            </a:r>
          </a:p>
          <a:p>
            <a:r>
              <a:t>Navigation/resource slides support these scheduled steps and do not add instructional time.</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W07-L01 | 2026-12-07 | 12:45 PM–2:00 PM | 75 minutes</a:t>
            </a:r>
          </a:p>
          <a:p>
            <a:r>
              <a:t>Carpentry drawing: floor layout and cut list</a:t>
            </a:r>
          </a:p>
          <a:p>
            <a:r>
              <a:t>Mode: Math</a:t>
            </a:r>
          </a:p>
          <a:p>
            <a:r>
              <a:t>Goal: Extract dimensions from a drawing, calculate a perimeter and offcut, and explain assumptions in a cut list.</a:t>
            </a:r>
          </a:p>
          <a:p>
            <a:r>
              <a:t>Read: Textbook Chapter 3 pp.44–51; Chapter 9 p.140; Chapter 10 pp.154–157</a:t>
            </a:r>
          </a:p>
          <a:p>
            <a:r>
              <a:t>Practise: Exercise Book 10B Q1 (p.65); 3C Q3 (p.23); 12B Q5 (p.78)</a:t>
            </a:r>
          </a:p>
          <a:p>
            <a:r>
              <a:t>Tool: Shape Canvas: set m units; draw the 7.2 m × 3.6 m floor rectangle from Exercise Book 10B Q1. Add a Text cut-list note. Numeracy Hub Calculator for numerical checks.</a:t>
            </a:r>
          </a:p>
          <a:p/>
          <a:p>
            <a:r>
              <a:t>EXACT SCHEDULED STEPS</a:t>
            </a:r>
          </a:p>
          <a:p>
            <a:r>
              <a:t>12:45 PM–12:50 PM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7'!A25:F25</a:t>
            </a:r>
          </a:p>
          <a:p/>
          <a:p>
            <a:r>
              <a:t>12:50 PM–12:55 PM | 2 Recall | 5 min</a:t>
            </a:r>
          </a:p>
          <a:p>
            <a:r>
              <a:t>Instructor: Ask which dimensions are needed for perimeter, area and diagonal; retrieve one kerf calculation.</a:t>
            </a:r>
          </a:p>
          <a:p>
            <a:r>
              <a:t>Learners: Review previous feedback and attempt the retrieval prompt without displayed solutions.</a:t>
            </a:r>
          </a:p>
          <a:p>
            <a:r>
              <a:t>Materials/check: Identify support needs</a:t>
            </a:r>
          </a:p>
          <a:p>
            <a:r>
              <a:t>Source: 'Math Week 7'!A26:F26</a:t>
            </a:r>
          </a:p>
          <a:p/>
          <a:p>
            <a:r>
              <a:t>12:55 PM–1:10 PM | 3 Teach | 15 min</a:t>
            </a:r>
          </a:p>
          <a:p>
            <a:r>
              <a:t>Instructor: Introduce an instructor-designed carpentry adaptation of Exercise Book 10B Q1: same dimensions, using plywood rather than checker plate. Keep no-waste and rectangular-layout assumptions explicit.</a:t>
            </a:r>
          </a:p>
          <a:p>
            <a:r>
              <a:t>Learners: Annotate the example or response expectations; ask about unclear steps.</a:t>
            </a:r>
          </a:p>
          <a:p>
            <a:r>
              <a:t>Materials/check: Textbook; worked example</a:t>
            </a:r>
          </a:p>
          <a:p>
            <a:r>
              <a:t>Source: 'Math Week 7'!A27:F27</a:t>
            </a:r>
          </a:p>
          <a:p/>
          <a:p>
            <a:r>
              <a:t>1:10 PM–1:25 PM | 4 Together | 15 min</a:t>
            </a:r>
          </a:p>
          <a:p>
            <a:r>
              <a:t>Instructor: Partners annotate the floor rectangle and a separate 6,000 mm stock sketch from Exercise Book 3C Q3. Decide which information belongs to each calculation.</a:t>
            </a:r>
          </a:p>
          <a:p>
            <a:r>
              <a:t>Learners: Explain the method and check directions; work with a partner only where permitted.</a:t>
            </a:r>
          </a:p>
          <a:p>
            <a:r>
              <a:t>Materials/check: Exercise Book; tool above</a:t>
            </a:r>
          </a:p>
          <a:p>
            <a:r>
              <a:t>Source: 'Math Week 7'!A28:F28</a:t>
            </a:r>
          </a:p>
          <a:p/>
          <a:p>
            <a:r>
              <a:t>1:25 PM–1:45 PM | 5 Practise | 20 min</a:t>
            </a:r>
          </a:p>
          <a:p>
            <a:r>
              <a:t>Instructor: Draw and label the floor in Shape Canvas. Calculate perimeter, floor area and diagonal; solve Exercise Book 3C Q3 without changing its four cuts or 3 mm kerf. Record units and assumptions; do not mix the two problem contexts.</a:t>
            </a:r>
          </a:p>
          <a:p>
            <a:r>
              <a:t>Learners: Keep numbered written solutions and units. Use tools only under the conditions stated for this block.</a:t>
            </a:r>
          </a:p>
          <a:p>
            <a:r>
              <a:t>Materials/check: Paper first; tool second</a:t>
            </a:r>
          </a:p>
          <a:p>
            <a:r>
              <a:t>Source: 'Math Week 7'!A29:F29</a:t>
            </a:r>
          </a:p>
          <a:p/>
          <a:p>
            <a:r>
              <a:t>1:45 PM–1:55 PM | 6 Check | 10 min</a:t>
            </a:r>
          </a:p>
          <a:p>
            <a:r>
              <a:t>Instructor: Submit the labelled floor plan, perimeter calculation and stock offcut equation.</a:t>
            </a:r>
          </a:p>
          <a:p>
            <a:r>
              <a:t>Learners: Submit work and demonstrate the checking strategy; identify a remaining difficulty.</a:t>
            </a:r>
          </a:p>
          <a:p>
            <a:r>
              <a:t>Materials/check: Teacher answers below</a:t>
            </a:r>
          </a:p>
          <a:p>
            <a:r>
              <a:t>Source: 'Math Week 7'!A30:F30</a:t>
            </a:r>
          </a:p>
          <a:p/>
          <a:p>
            <a:r>
              <a:t>1:55 PM–2:00 PM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7'!A31:F31</a:t>
            </a:r>
          </a:p>
          <a:p/>
          <a:p>
            <a:r>
              <a:t>INSTRUCTOR ONLY: REVEAL ASSESSMENT ANSWERS AFTER THE ATTEMPT</a:t>
            </a:r>
          </a:p>
          <a:p>
            <a:r>
              <a:t>Instructor adaptation: perimeter 21.6 m; area 25.92 m²; diagonal √(7.2²+3.6²) ≈ 8.05 m. Exercise Book 3C Q3 offcut = 1,188 mm (Answer Key p.10). Floor area: Answer Key p.28. Answer Key pp.10,28,32</a:t>
            </a:r>
          </a:p>
          <a:p/>
          <a:p>
            <a:r>
              <a:t>Bring the saved sketch and written assumptions into the material-order calculation session.</a:t>
            </a:r>
          </a:p>
          <a:p/>
          <a:p>
            <a:r>
              <a:t>Sources: 'Math Week 7'!A10:E10; 'Carpentry Schedule'!B70; 'Math Week 7'!A19</a:t>
            </a:r>
          </a:p>
          <a:p>
            <a:r>
              <a:t>Navigation/resource slides support these scheduled steps and do not add instructional time.</a:t>
            </a:r>
          </a:p>
          <a:p>
            <a:r>
              <a:t>SLIDE PLACEMENT: Start, 12:45 PM–12:50 PM.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W07-L01 | 2026-12-07 | 12:45 PM–2:00 PM | 75 minutes</a:t>
            </a:r>
          </a:p>
          <a:p>
            <a:r>
              <a:t>Carpentry drawing: floor layout and cut list</a:t>
            </a:r>
          </a:p>
          <a:p>
            <a:r>
              <a:t>Mode: Math</a:t>
            </a:r>
          </a:p>
          <a:p>
            <a:r>
              <a:t>Goal: Extract dimensions from a drawing, calculate a perimeter and offcut, and explain assumptions in a cut list.</a:t>
            </a:r>
          </a:p>
          <a:p>
            <a:r>
              <a:t>Read: Textbook Chapter 3 pp.44–51; Chapter 9 p.140; Chapter 10 pp.154–157</a:t>
            </a:r>
          </a:p>
          <a:p>
            <a:r>
              <a:t>Practise: Exercise Book 10B Q1 (p.65); 3C Q3 (p.23); 12B Q5 (p.78)</a:t>
            </a:r>
          </a:p>
          <a:p>
            <a:r>
              <a:t>Tool: Shape Canvas: set m units; draw the 7.2 m × 3.6 m floor rectangle from Exercise Book 10B Q1. Add a Text cut-list note. Numeracy Hub Calculator for numerical checks.</a:t>
            </a:r>
          </a:p>
          <a:p/>
          <a:p>
            <a:r>
              <a:t>EXACT SCHEDULED STEPS</a:t>
            </a:r>
          </a:p>
          <a:p>
            <a:r>
              <a:t>12:45 PM–12:50 PM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7'!A25:F25</a:t>
            </a:r>
          </a:p>
          <a:p/>
          <a:p>
            <a:r>
              <a:t>12:50 PM–12:55 PM | 2 Recall | 5 min</a:t>
            </a:r>
          </a:p>
          <a:p>
            <a:r>
              <a:t>Instructor: Ask which dimensions are needed for perimeter, area and diagonal; retrieve one kerf calculation.</a:t>
            </a:r>
          </a:p>
          <a:p>
            <a:r>
              <a:t>Learners: Review previous feedback and attempt the retrieval prompt without displayed solutions.</a:t>
            </a:r>
          </a:p>
          <a:p>
            <a:r>
              <a:t>Materials/check: Identify support needs</a:t>
            </a:r>
          </a:p>
          <a:p>
            <a:r>
              <a:t>Source: 'Math Week 7'!A26:F26</a:t>
            </a:r>
          </a:p>
          <a:p/>
          <a:p>
            <a:r>
              <a:t>12:55 PM–1:10 PM | 3 Teach | 15 min</a:t>
            </a:r>
          </a:p>
          <a:p>
            <a:r>
              <a:t>Instructor: Introduce an instructor-designed carpentry adaptation of Exercise Book 10B Q1: same dimensions, using plywood rather than checker plate. Keep no-waste and rectangular-layout assumptions explicit.</a:t>
            </a:r>
          </a:p>
          <a:p>
            <a:r>
              <a:t>Learners: Annotate the example or response expectations; ask about unclear steps.</a:t>
            </a:r>
          </a:p>
          <a:p>
            <a:r>
              <a:t>Materials/check: Textbook; worked example</a:t>
            </a:r>
          </a:p>
          <a:p>
            <a:r>
              <a:t>Source: 'Math Week 7'!A27:F27</a:t>
            </a:r>
          </a:p>
          <a:p/>
          <a:p>
            <a:r>
              <a:t>1:10 PM–1:25 PM | 4 Together | 15 min</a:t>
            </a:r>
          </a:p>
          <a:p>
            <a:r>
              <a:t>Instructor: Partners annotate the floor rectangle and a separate 6,000 mm stock sketch from Exercise Book 3C Q3. Decide which information belongs to each calculation.</a:t>
            </a:r>
          </a:p>
          <a:p>
            <a:r>
              <a:t>Learners: Explain the method and check directions; work with a partner only where permitted.</a:t>
            </a:r>
          </a:p>
          <a:p>
            <a:r>
              <a:t>Materials/check: Exercise Book; tool above</a:t>
            </a:r>
          </a:p>
          <a:p>
            <a:r>
              <a:t>Source: 'Math Week 7'!A28:F28</a:t>
            </a:r>
          </a:p>
          <a:p/>
          <a:p>
            <a:r>
              <a:t>1:25 PM–1:45 PM | 5 Practise | 20 min</a:t>
            </a:r>
          </a:p>
          <a:p>
            <a:r>
              <a:t>Instructor: Draw and label the floor in Shape Canvas. Calculate perimeter, floor area and diagonal; solve Exercise Book 3C Q3 without changing its four cuts or 3 mm kerf. Record units and assumptions; do not mix the two problem contexts.</a:t>
            </a:r>
          </a:p>
          <a:p>
            <a:r>
              <a:t>Learners: Keep numbered written solutions and units. Use tools only under the conditions stated for this block.</a:t>
            </a:r>
          </a:p>
          <a:p>
            <a:r>
              <a:t>Materials/check: Paper first; tool second</a:t>
            </a:r>
          </a:p>
          <a:p>
            <a:r>
              <a:t>Source: 'Math Week 7'!A29:F29</a:t>
            </a:r>
          </a:p>
          <a:p/>
          <a:p>
            <a:r>
              <a:t>1:45 PM–1:55 PM | 6 Check | 10 min</a:t>
            </a:r>
          </a:p>
          <a:p>
            <a:r>
              <a:t>Instructor: Submit the labelled floor plan, perimeter calculation and stock offcut equation.</a:t>
            </a:r>
          </a:p>
          <a:p>
            <a:r>
              <a:t>Learners: Submit work and demonstrate the checking strategy; identify a remaining difficulty.</a:t>
            </a:r>
          </a:p>
          <a:p>
            <a:r>
              <a:t>Materials/check: Teacher answers below</a:t>
            </a:r>
          </a:p>
          <a:p>
            <a:r>
              <a:t>Source: 'Math Week 7'!A30:F30</a:t>
            </a:r>
          </a:p>
          <a:p/>
          <a:p>
            <a:r>
              <a:t>1:55 PM–2:00 PM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7'!A31:F31</a:t>
            </a:r>
          </a:p>
          <a:p/>
          <a:p>
            <a:r>
              <a:t>INSTRUCTOR ONLY: REVEAL ASSESSMENT ANSWERS AFTER THE ATTEMPT</a:t>
            </a:r>
          </a:p>
          <a:p>
            <a:r>
              <a:t>Instructor adaptation: perimeter 21.6 m; area 25.92 m²; diagonal √(7.2²+3.6²) ≈ 8.05 m. Exercise Book 3C Q3 offcut = 1,188 mm (Answer Key p.10). Floor area: Answer Key p.28. Answer Key pp.10,28,32</a:t>
            </a:r>
          </a:p>
          <a:p/>
          <a:p>
            <a:r>
              <a:t>Bring the saved sketch and written assumptions into the material-order calculation session.</a:t>
            </a:r>
          </a:p>
          <a:p/>
          <a:p>
            <a:r>
              <a:t>Sources: 'Math Week 7'!A10:E10; 'Carpentry Schedule'!B70; 'Math Week 7'!A19</a:t>
            </a:r>
          </a:p>
          <a:p>
            <a:r>
              <a:t>Navigation/resource slides support these scheduled steps and do not add instructional time.</a:t>
            </a:r>
          </a:p>
          <a:p>
            <a:r>
              <a:t>SLIDE PLACEMENT: Recall, 12:50 PM–12:55 PM.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W07-L01 | 2026-12-07 | 12:45 PM–2:00 PM | 75 minutes</a:t>
            </a:r>
          </a:p>
          <a:p>
            <a:r>
              <a:t>Carpentry drawing: floor layout and cut list</a:t>
            </a:r>
          </a:p>
          <a:p>
            <a:r>
              <a:t>Mode: Math</a:t>
            </a:r>
          </a:p>
          <a:p>
            <a:r>
              <a:t>Goal: Extract dimensions from a drawing, calculate a perimeter and offcut, and explain assumptions in a cut list.</a:t>
            </a:r>
          </a:p>
          <a:p>
            <a:r>
              <a:t>Read: Textbook Chapter 3 pp.44–51; Chapter 9 p.140; Chapter 10 pp.154–157</a:t>
            </a:r>
          </a:p>
          <a:p>
            <a:r>
              <a:t>Practise: Exercise Book 10B Q1 (p.65); 3C Q3 (p.23); 12B Q5 (p.78)</a:t>
            </a:r>
          </a:p>
          <a:p>
            <a:r>
              <a:t>Tool: Shape Canvas: set m units; draw the 7.2 m × 3.6 m floor rectangle from Exercise Book 10B Q1. Add a Text cut-list note. Numeracy Hub Calculator for numerical checks.</a:t>
            </a:r>
          </a:p>
          <a:p/>
          <a:p>
            <a:r>
              <a:t>EXACT SCHEDULED STEPS</a:t>
            </a:r>
          </a:p>
          <a:p>
            <a:r>
              <a:t>12:45 PM–12:50 PM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7'!A25:F25</a:t>
            </a:r>
          </a:p>
          <a:p/>
          <a:p>
            <a:r>
              <a:t>12:50 PM–12:55 PM | 2 Recall | 5 min</a:t>
            </a:r>
          </a:p>
          <a:p>
            <a:r>
              <a:t>Instructor: Ask which dimensions are needed for perimeter, area and diagonal; retrieve one kerf calculation.</a:t>
            </a:r>
          </a:p>
          <a:p>
            <a:r>
              <a:t>Learners: Review previous feedback and attempt the retrieval prompt without displayed solutions.</a:t>
            </a:r>
          </a:p>
          <a:p>
            <a:r>
              <a:t>Materials/check: Identify support needs</a:t>
            </a:r>
          </a:p>
          <a:p>
            <a:r>
              <a:t>Source: 'Math Week 7'!A26:F26</a:t>
            </a:r>
          </a:p>
          <a:p/>
          <a:p>
            <a:r>
              <a:t>12:55 PM–1:10 PM | 3 Teach | 15 min</a:t>
            </a:r>
          </a:p>
          <a:p>
            <a:r>
              <a:t>Instructor: Introduce an instructor-designed carpentry adaptation of Exercise Book 10B Q1: same dimensions, using plywood rather than checker plate. Keep no-waste and rectangular-layout assumptions explicit.</a:t>
            </a:r>
          </a:p>
          <a:p>
            <a:r>
              <a:t>Learners: Annotate the example or response expectations; ask about unclear steps.</a:t>
            </a:r>
          </a:p>
          <a:p>
            <a:r>
              <a:t>Materials/check: Textbook; worked example</a:t>
            </a:r>
          </a:p>
          <a:p>
            <a:r>
              <a:t>Source: 'Math Week 7'!A27:F27</a:t>
            </a:r>
          </a:p>
          <a:p/>
          <a:p>
            <a:r>
              <a:t>1:10 PM–1:25 PM | 4 Together | 15 min</a:t>
            </a:r>
          </a:p>
          <a:p>
            <a:r>
              <a:t>Instructor: Partners annotate the floor rectangle and a separate 6,000 mm stock sketch from Exercise Book 3C Q3. Decide which information belongs to each calculation.</a:t>
            </a:r>
          </a:p>
          <a:p>
            <a:r>
              <a:t>Learners: Explain the method and check directions; work with a partner only where permitted.</a:t>
            </a:r>
          </a:p>
          <a:p>
            <a:r>
              <a:t>Materials/check: Exercise Book; tool above</a:t>
            </a:r>
          </a:p>
          <a:p>
            <a:r>
              <a:t>Source: 'Math Week 7'!A28:F28</a:t>
            </a:r>
          </a:p>
          <a:p/>
          <a:p>
            <a:r>
              <a:t>1:25 PM–1:45 PM | 5 Practise | 20 min</a:t>
            </a:r>
          </a:p>
          <a:p>
            <a:r>
              <a:t>Instructor: Draw and label the floor in Shape Canvas. Calculate perimeter, floor area and diagonal; solve Exercise Book 3C Q3 without changing its four cuts or 3 mm kerf. Record units and assumptions; do not mix the two problem contexts.</a:t>
            </a:r>
          </a:p>
          <a:p>
            <a:r>
              <a:t>Learners: Keep numbered written solutions and units. Use tools only under the conditions stated for this block.</a:t>
            </a:r>
          </a:p>
          <a:p>
            <a:r>
              <a:t>Materials/check: Paper first; tool second</a:t>
            </a:r>
          </a:p>
          <a:p>
            <a:r>
              <a:t>Source: 'Math Week 7'!A29:F29</a:t>
            </a:r>
          </a:p>
          <a:p/>
          <a:p>
            <a:r>
              <a:t>1:45 PM–1:55 PM | 6 Check | 10 min</a:t>
            </a:r>
          </a:p>
          <a:p>
            <a:r>
              <a:t>Instructor: Submit the labelled floor plan, perimeter calculation and stock offcut equation.</a:t>
            </a:r>
          </a:p>
          <a:p>
            <a:r>
              <a:t>Learners: Submit work and demonstrate the checking strategy; identify a remaining difficulty.</a:t>
            </a:r>
          </a:p>
          <a:p>
            <a:r>
              <a:t>Materials/check: Teacher answers below</a:t>
            </a:r>
          </a:p>
          <a:p>
            <a:r>
              <a:t>Source: 'Math Week 7'!A30:F30</a:t>
            </a:r>
          </a:p>
          <a:p/>
          <a:p>
            <a:r>
              <a:t>1:55 PM–2:00 PM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7'!A31:F31</a:t>
            </a:r>
          </a:p>
          <a:p/>
          <a:p>
            <a:r>
              <a:t>INSTRUCTOR ONLY: REVEAL ASSESSMENT ANSWERS AFTER THE ATTEMPT</a:t>
            </a:r>
          </a:p>
          <a:p>
            <a:r>
              <a:t>Instructor adaptation: perimeter 21.6 m; area 25.92 m²; diagonal √(7.2²+3.6²) ≈ 8.05 m. Exercise Book 3C Q3 offcut = 1,188 mm (Answer Key p.10). Floor area: Answer Key p.28. Answer Key pp.10,28,32</a:t>
            </a:r>
          </a:p>
          <a:p/>
          <a:p>
            <a:r>
              <a:t>Bring the saved sketch and written assumptions into the material-order calculation session.</a:t>
            </a:r>
          </a:p>
          <a:p/>
          <a:p>
            <a:r>
              <a:t>Sources: 'Math Week 7'!A10:E10; 'Carpentry Schedule'!B70; 'Math Week 7'!A19</a:t>
            </a:r>
          </a:p>
          <a:p>
            <a:r>
              <a:t>Navigation/resource slides support these scheduled steps and do not add instructional time.</a:t>
            </a:r>
          </a:p>
          <a:p>
            <a:r>
              <a:t>SLIDE PLACEMENT: Teach, 12:55 PM–1:10 PM. All slides with this phase share these 15 minutes; do not restart the time allocation for each slide.</a:t>
            </a:r>
          </a:p>
          <a:p/>
          <a:p>
            <a:r>
              <a:t>Teaching content sources:</a:t>
            </a:r>
          </a:p>
          <a:p>
            <a:r>
              <a:t>schedule_math_audit.json: 'Math Week 7'!A19</a:t>
            </a:r>
          </a:p>
          <a:p>
            <a:r>
              <a:t>schedule_math_audit.json: 'Math Week 7'!B21; 'Math Week 7'!B22; 'Math Week 7'!B23</a:t>
            </a:r>
          </a:p>
          <a:p>
            <a:r>
              <a:t>schedule_math_audit.json: 'Math Week 7'!A26:F26, 'Math Week 7'!A27:F27, 'Math Week 7'!A28:F28, 'Math Week 7'!A29:F29, 'Math Week 7'!A30:F30</a:t>
            </a:r>
          </a:p>
          <a:p>
            <a:r>
              <a:t>source_deck_audit.json: ACCESS CARPENTRY SLIDES.pptx slides 139, 140, 141</a:t>
            </a:r>
          </a:p>
          <a:p>
            <a:r>
              <a:t>Textbook Chapter 3 pp.44–51; Chapter 9 p.140; Chapter 10 pp.154–157</a:t>
            </a:r>
          </a:p>
          <a:p>
            <a:r>
              <a:t>ACCESS-Trades-Numeracy-Textbook.pdf printed/PDF p.140; selected visual verified in actual PDF text and rendered page</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W07-L01 | 2026-12-07 | 12:45 PM–2:00 PM | 75 minutes</a:t>
            </a:r>
          </a:p>
          <a:p>
            <a:r>
              <a:t>Carpentry drawing: floor layout and cut list</a:t>
            </a:r>
          </a:p>
          <a:p>
            <a:r>
              <a:t>Mode: Math</a:t>
            </a:r>
          </a:p>
          <a:p>
            <a:r>
              <a:t>Goal: Extract dimensions from a drawing, calculate a perimeter and offcut, and explain assumptions in a cut list.</a:t>
            </a:r>
          </a:p>
          <a:p>
            <a:r>
              <a:t>Read: Textbook Chapter 3 pp.44–51; Chapter 9 p.140; Chapter 10 pp.154–157</a:t>
            </a:r>
          </a:p>
          <a:p>
            <a:r>
              <a:t>Practise: Exercise Book 10B Q1 (p.65); 3C Q3 (p.23); 12B Q5 (p.78)</a:t>
            </a:r>
          </a:p>
          <a:p>
            <a:r>
              <a:t>Tool: Shape Canvas: set m units; draw the 7.2 m × 3.6 m floor rectangle from Exercise Book 10B Q1. Add a Text cut-list note. Numeracy Hub Calculator for numerical checks.</a:t>
            </a:r>
          </a:p>
          <a:p/>
          <a:p>
            <a:r>
              <a:t>EXACT SCHEDULED STEPS</a:t>
            </a:r>
          </a:p>
          <a:p>
            <a:r>
              <a:t>12:45 PM–12:50 PM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7'!A25:F25</a:t>
            </a:r>
          </a:p>
          <a:p/>
          <a:p>
            <a:r>
              <a:t>12:50 PM–12:55 PM | 2 Recall | 5 min</a:t>
            </a:r>
          </a:p>
          <a:p>
            <a:r>
              <a:t>Instructor: Ask which dimensions are needed for perimeter, area and diagonal; retrieve one kerf calculation.</a:t>
            </a:r>
          </a:p>
          <a:p>
            <a:r>
              <a:t>Learners: Review previous feedback and attempt the retrieval prompt without displayed solutions.</a:t>
            </a:r>
          </a:p>
          <a:p>
            <a:r>
              <a:t>Materials/check: Identify support needs</a:t>
            </a:r>
          </a:p>
          <a:p>
            <a:r>
              <a:t>Source: 'Math Week 7'!A26:F26</a:t>
            </a:r>
          </a:p>
          <a:p/>
          <a:p>
            <a:r>
              <a:t>12:55 PM–1:10 PM | 3 Teach | 15 min</a:t>
            </a:r>
          </a:p>
          <a:p>
            <a:r>
              <a:t>Instructor: Introduce an instructor-designed carpentry adaptation of Exercise Book 10B Q1: same dimensions, using plywood rather than checker plate. Keep no-waste and rectangular-layout assumptions explicit.</a:t>
            </a:r>
          </a:p>
          <a:p>
            <a:r>
              <a:t>Learners: Annotate the example or response expectations; ask about unclear steps.</a:t>
            </a:r>
          </a:p>
          <a:p>
            <a:r>
              <a:t>Materials/check: Textbook; worked example</a:t>
            </a:r>
          </a:p>
          <a:p>
            <a:r>
              <a:t>Source: 'Math Week 7'!A27:F27</a:t>
            </a:r>
          </a:p>
          <a:p/>
          <a:p>
            <a:r>
              <a:t>1:10 PM–1:25 PM | 4 Together | 15 min</a:t>
            </a:r>
          </a:p>
          <a:p>
            <a:r>
              <a:t>Instructor: Partners annotate the floor rectangle and a separate 6,000 mm stock sketch from Exercise Book 3C Q3. Decide which information belongs to each calculation.</a:t>
            </a:r>
          </a:p>
          <a:p>
            <a:r>
              <a:t>Learners: Explain the method and check directions; work with a partner only where permitted.</a:t>
            </a:r>
          </a:p>
          <a:p>
            <a:r>
              <a:t>Materials/check: Exercise Book; tool above</a:t>
            </a:r>
          </a:p>
          <a:p>
            <a:r>
              <a:t>Source: 'Math Week 7'!A28:F28</a:t>
            </a:r>
          </a:p>
          <a:p/>
          <a:p>
            <a:r>
              <a:t>1:25 PM–1:45 PM | 5 Practise | 20 min</a:t>
            </a:r>
          </a:p>
          <a:p>
            <a:r>
              <a:t>Instructor: Draw and label the floor in Shape Canvas. Calculate perimeter, floor area and diagonal; solve Exercise Book 3C Q3 without changing its four cuts or 3 mm kerf. Record units and assumptions; do not mix the two problem contexts.</a:t>
            </a:r>
          </a:p>
          <a:p>
            <a:r>
              <a:t>Learners: Keep numbered written solutions and units. Use tools only under the conditions stated for this block.</a:t>
            </a:r>
          </a:p>
          <a:p>
            <a:r>
              <a:t>Materials/check: Paper first; tool second</a:t>
            </a:r>
          </a:p>
          <a:p>
            <a:r>
              <a:t>Source: 'Math Week 7'!A29:F29</a:t>
            </a:r>
          </a:p>
          <a:p/>
          <a:p>
            <a:r>
              <a:t>1:45 PM–1:55 PM | 6 Check | 10 min</a:t>
            </a:r>
          </a:p>
          <a:p>
            <a:r>
              <a:t>Instructor: Submit the labelled floor plan, perimeter calculation and stock offcut equation.</a:t>
            </a:r>
          </a:p>
          <a:p>
            <a:r>
              <a:t>Learners: Submit work and demonstrate the checking strategy; identify a remaining difficulty.</a:t>
            </a:r>
          </a:p>
          <a:p>
            <a:r>
              <a:t>Materials/check: Teacher answers below</a:t>
            </a:r>
          </a:p>
          <a:p>
            <a:r>
              <a:t>Source: 'Math Week 7'!A30:F30</a:t>
            </a:r>
          </a:p>
          <a:p/>
          <a:p>
            <a:r>
              <a:t>1:55 PM–2:00 PM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7'!A31:F31</a:t>
            </a:r>
          </a:p>
          <a:p/>
          <a:p>
            <a:r>
              <a:t>INSTRUCTOR ONLY: REVEAL ASSESSMENT ANSWERS AFTER THE ATTEMPT</a:t>
            </a:r>
          </a:p>
          <a:p>
            <a:r>
              <a:t>Instructor adaptation: perimeter 21.6 m; area 25.92 m²; diagonal √(7.2²+3.6²) ≈ 8.05 m. Exercise Book 3C Q3 offcut = 1,188 mm (Answer Key p.10). Floor area: Answer Key p.28. Answer Key pp.10,28,32</a:t>
            </a:r>
          </a:p>
          <a:p/>
          <a:p>
            <a:r>
              <a:t>Bring the saved sketch and written assumptions into the material-order calculation session.</a:t>
            </a:r>
          </a:p>
          <a:p/>
          <a:p>
            <a:r>
              <a:t>Sources: 'Math Week 7'!A10:E10; 'Carpentry Schedule'!B70; 'Math Week 7'!A19</a:t>
            </a:r>
          </a:p>
          <a:p>
            <a:r>
              <a:t>Navigation/resource slides support these scheduled steps and do not add instructional time.</a:t>
            </a:r>
          </a:p>
          <a:p>
            <a:r>
              <a:t>SLIDE PLACEMENT: Teach, 12:55 PM–1:10 PM. All slides with this phase share these 15 minutes; do not restart the time allocation for each slide.</a:t>
            </a:r>
          </a:p>
          <a:p/>
          <a:p>
            <a:r>
              <a:t>Teaching content sources:</a:t>
            </a:r>
          </a:p>
          <a:p>
            <a:r>
              <a:t>schedule_math_audit.json: 'Math Week 7'!A19</a:t>
            </a:r>
          </a:p>
          <a:p>
            <a:r>
              <a:t>schedule_math_audit.json: 'Math Week 7'!B21; 'Math Week 7'!B22; 'Math Week 7'!B23</a:t>
            </a:r>
          </a:p>
          <a:p>
            <a:r>
              <a:t>schedule_math_audit.json: 'Math Week 7'!A26:F26, 'Math Week 7'!A27:F27, 'Math Week 7'!A28:F28, 'Math Week 7'!A29:F29, 'Math Week 7'!A30:F30</a:t>
            </a:r>
          </a:p>
          <a:p>
            <a:r>
              <a:t>source_deck_audit.json: ACCESS CARPENTRY SLIDES.pptx slides 139, 140, 141</a:t>
            </a:r>
          </a:p>
          <a:p>
            <a:r>
              <a:t>Textbook Chapter 3 pp.44–51; Chapter 9 p.140; Chapter 10 pp.154–157</a:t>
            </a:r>
          </a:p>
          <a:p>
            <a:r>
              <a:t>ACCESS-Trades-Numeracy-Textbook.pdf printed/PDF p.140; selected visual verified in actual PDF text and rendered page</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W07-L01 | 2026-12-07 | 12:45 PM–2:00 PM | 75 minutes</a:t>
            </a:r>
          </a:p>
          <a:p>
            <a:r>
              <a:t>Carpentry drawing: floor layout and cut list</a:t>
            </a:r>
          </a:p>
          <a:p>
            <a:r>
              <a:t>Mode: Math</a:t>
            </a:r>
          </a:p>
          <a:p>
            <a:r>
              <a:t>Goal: Extract dimensions from a drawing, calculate a perimeter and offcut, and explain assumptions in a cut list.</a:t>
            </a:r>
          </a:p>
          <a:p>
            <a:r>
              <a:t>Read: Textbook Chapter 3 pp.44–51; Chapter 9 p.140; Chapter 10 pp.154–157</a:t>
            </a:r>
          </a:p>
          <a:p>
            <a:r>
              <a:t>Practise: Exercise Book 10B Q1 (p.65); 3C Q3 (p.23); 12B Q5 (p.78)</a:t>
            </a:r>
          </a:p>
          <a:p>
            <a:r>
              <a:t>Tool: Shape Canvas: set m units; draw the 7.2 m × 3.6 m floor rectangle from Exercise Book 10B Q1. Add a Text cut-list note. Numeracy Hub Calculator for numerical checks.</a:t>
            </a:r>
          </a:p>
          <a:p/>
          <a:p>
            <a:r>
              <a:t>EXACT SCHEDULED STEPS</a:t>
            </a:r>
          </a:p>
          <a:p>
            <a:r>
              <a:t>12:45 PM–12:50 PM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7'!A25:F25</a:t>
            </a:r>
          </a:p>
          <a:p/>
          <a:p>
            <a:r>
              <a:t>12:50 PM–12:55 PM | 2 Recall | 5 min</a:t>
            </a:r>
          </a:p>
          <a:p>
            <a:r>
              <a:t>Instructor: Ask which dimensions are needed for perimeter, area and diagonal; retrieve one kerf calculation.</a:t>
            </a:r>
          </a:p>
          <a:p>
            <a:r>
              <a:t>Learners: Review previous feedback and attempt the retrieval prompt without displayed solutions.</a:t>
            </a:r>
          </a:p>
          <a:p>
            <a:r>
              <a:t>Materials/check: Identify support needs</a:t>
            </a:r>
          </a:p>
          <a:p>
            <a:r>
              <a:t>Source: 'Math Week 7'!A26:F26</a:t>
            </a:r>
          </a:p>
          <a:p/>
          <a:p>
            <a:r>
              <a:t>12:55 PM–1:10 PM | 3 Teach | 15 min</a:t>
            </a:r>
          </a:p>
          <a:p>
            <a:r>
              <a:t>Instructor: Introduce an instructor-designed carpentry adaptation of Exercise Book 10B Q1: same dimensions, using plywood rather than checker plate. Keep no-waste and rectangular-layout assumptions explicit.</a:t>
            </a:r>
          </a:p>
          <a:p>
            <a:r>
              <a:t>Learners: Annotate the example or response expectations; ask about unclear steps.</a:t>
            </a:r>
          </a:p>
          <a:p>
            <a:r>
              <a:t>Materials/check: Textbook; worked example</a:t>
            </a:r>
          </a:p>
          <a:p>
            <a:r>
              <a:t>Source: 'Math Week 7'!A27:F27</a:t>
            </a:r>
          </a:p>
          <a:p/>
          <a:p>
            <a:r>
              <a:t>1:10 PM–1:25 PM | 4 Together | 15 min</a:t>
            </a:r>
          </a:p>
          <a:p>
            <a:r>
              <a:t>Instructor: Partners annotate the floor rectangle and a separate 6,000 mm stock sketch from Exercise Book 3C Q3. Decide which information belongs to each calculation.</a:t>
            </a:r>
          </a:p>
          <a:p>
            <a:r>
              <a:t>Learners: Explain the method and check directions; work with a partner only where permitted.</a:t>
            </a:r>
          </a:p>
          <a:p>
            <a:r>
              <a:t>Materials/check: Exercise Book; tool above</a:t>
            </a:r>
          </a:p>
          <a:p>
            <a:r>
              <a:t>Source: 'Math Week 7'!A28:F28</a:t>
            </a:r>
          </a:p>
          <a:p/>
          <a:p>
            <a:r>
              <a:t>1:25 PM–1:45 PM | 5 Practise | 20 min</a:t>
            </a:r>
          </a:p>
          <a:p>
            <a:r>
              <a:t>Instructor: Draw and label the floor in Shape Canvas. Calculate perimeter, floor area and diagonal; solve Exercise Book 3C Q3 without changing its four cuts or 3 mm kerf. Record units and assumptions; do not mix the two problem contexts.</a:t>
            </a:r>
          </a:p>
          <a:p>
            <a:r>
              <a:t>Learners: Keep numbered written solutions and units. Use tools only under the conditions stated for this block.</a:t>
            </a:r>
          </a:p>
          <a:p>
            <a:r>
              <a:t>Materials/check: Paper first; tool second</a:t>
            </a:r>
          </a:p>
          <a:p>
            <a:r>
              <a:t>Source: 'Math Week 7'!A29:F29</a:t>
            </a:r>
          </a:p>
          <a:p/>
          <a:p>
            <a:r>
              <a:t>1:45 PM–1:55 PM | 6 Check | 10 min</a:t>
            </a:r>
          </a:p>
          <a:p>
            <a:r>
              <a:t>Instructor: Submit the labelled floor plan, perimeter calculation and stock offcut equation.</a:t>
            </a:r>
          </a:p>
          <a:p>
            <a:r>
              <a:t>Learners: Submit work and demonstrate the checking strategy; identify a remaining difficulty.</a:t>
            </a:r>
          </a:p>
          <a:p>
            <a:r>
              <a:t>Materials/check: Teacher answers below</a:t>
            </a:r>
          </a:p>
          <a:p>
            <a:r>
              <a:t>Source: 'Math Week 7'!A30:F30</a:t>
            </a:r>
          </a:p>
          <a:p/>
          <a:p>
            <a:r>
              <a:t>1:55 PM–2:00 PM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7'!A31:F31</a:t>
            </a:r>
          </a:p>
          <a:p/>
          <a:p>
            <a:r>
              <a:t>INSTRUCTOR ONLY: REVEAL ASSESSMENT ANSWERS AFTER THE ATTEMPT</a:t>
            </a:r>
          </a:p>
          <a:p>
            <a:r>
              <a:t>Instructor adaptation: perimeter 21.6 m; area 25.92 m²; diagonal √(7.2²+3.6²) ≈ 8.05 m. Exercise Book 3C Q3 offcut = 1,188 mm (Answer Key p.10). Floor area: Answer Key p.28. Answer Key pp.10,28,32</a:t>
            </a:r>
          </a:p>
          <a:p/>
          <a:p>
            <a:r>
              <a:t>Bring the saved sketch and written assumptions into the material-order calculation session.</a:t>
            </a:r>
          </a:p>
          <a:p/>
          <a:p>
            <a:r>
              <a:t>Sources: 'Math Week 7'!A10:E10; 'Carpentry Schedule'!B70; 'Math Week 7'!A19</a:t>
            </a:r>
          </a:p>
          <a:p>
            <a:r>
              <a:t>Navigation/resource slides support these scheduled steps and do not add instructional time.</a:t>
            </a:r>
          </a:p>
          <a:p>
            <a:r>
              <a:t>SLIDE PLACEMENT: Teach, 12:55 PM–1:10 PM. All slides with this phase share these 15 minutes; do not restart the time allocation for each slide.</a:t>
            </a:r>
          </a:p>
          <a:p/>
          <a:p>
            <a:r>
              <a:t>Textbook visual: Example 9.1: label the boundary before calculating a perimeter.</a:t>
            </a:r>
          </a:p>
          <a:p>
            <a:r>
              <a:t>Exact PDF/printed page: 140. Excerpt reproduced from the supplied ACCESS Textbook.</a:t>
            </a:r>
          </a:p>
          <a:p>
            <a:r>
              <a:t>Example 9.1: labelled rectangular guard frame and perimeter method. Crop to the example and use it to connect a labelled boundary to the scheduled floor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W07-L01 | 2026-12-07 | 12:45 PM–2:00 PM | 75 minutes</a:t>
            </a:r>
          </a:p>
          <a:p>
            <a:r>
              <a:t>Carpentry drawing: floor layout and cut list</a:t>
            </a:r>
          </a:p>
          <a:p>
            <a:r>
              <a:t>Mode: Math</a:t>
            </a:r>
          </a:p>
          <a:p>
            <a:r>
              <a:t>Goal: Extract dimensions from a drawing, calculate a perimeter and offcut, and explain assumptions in a cut list.</a:t>
            </a:r>
          </a:p>
          <a:p>
            <a:r>
              <a:t>Read: Textbook Chapter 3 pp.44–51; Chapter 9 p.140; Chapter 10 pp.154–157</a:t>
            </a:r>
          </a:p>
          <a:p>
            <a:r>
              <a:t>Practise: Exercise Book 10B Q1 (p.65); 3C Q3 (p.23); 12B Q5 (p.78)</a:t>
            </a:r>
          </a:p>
          <a:p>
            <a:r>
              <a:t>Tool: Shape Canvas: set m units; draw the 7.2 m × 3.6 m floor rectangle from Exercise Book 10B Q1. Add a Text cut-list note. Numeracy Hub Calculator for numerical checks.</a:t>
            </a:r>
          </a:p>
          <a:p/>
          <a:p>
            <a:r>
              <a:t>EXACT SCHEDULED STEPS</a:t>
            </a:r>
          </a:p>
          <a:p>
            <a:r>
              <a:t>12:45 PM–12:50 PM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7'!A25:F25</a:t>
            </a:r>
          </a:p>
          <a:p/>
          <a:p>
            <a:r>
              <a:t>12:50 PM–12:55 PM | 2 Recall | 5 min</a:t>
            </a:r>
          </a:p>
          <a:p>
            <a:r>
              <a:t>Instructor: Ask which dimensions are needed for perimeter, area and diagonal; retrieve one kerf calculation.</a:t>
            </a:r>
          </a:p>
          <a:p>
            <a:r>
              <a:t>Learners: Review previous feedback and attempt the retrieval prompt without displayed solutions.</a:t>
            </a:r>
          </a:p>
          <a:p>
            <a:r>
              <a:t>Materials/check: Identify support needs</a:t>
            </a:r>
          </a:p>
          <a:p>
            <a:r>
              <a:t>Source: 'Math Week 7'!A26:F26</a:t>
            </a:r>
          </a:p>
          <a:p/>
          <a:p>
            <a:r>
              <a:t>12:55 PM–1:10 PM | 3 Teach | 15 min</a:t>
            </a:r>
          </a:p>
          <a:p>
            <a:r>
              <a:t>Instructor: Introduce an instructor-designed carpentry adaptation of Exercise Book 10B Q1: same dimensions, using plywood rather than checker plate. Keep no-waste and rectangular-layout assumptions explicit.</a:t>
            </a:r>
          </a:p>
          <a:p>
            <a:r>
              <a:t>Learners: Annotate the example or response expectations; ask about unclear steps.</a:t>
            </a:r>
          </a:p>
          <a:p>
            <a:r>
              <a:t>Materials/check: Textbook; worked example</a:t>
            </a:r>
          </a:p>
          <a:p>
            <a:r>
              <a:t>Source: 'Math Week 7'!A27:F27</a:t>
            </a:r>
          </a:p>
          <a:p/>
          <a:p>
            <a:r>
              <a:t>1:10 PM–1:25 PM | 4 Together | 15 min</a:t>
            </a:r>
          </a:p>
          <a:p>
            <a:r>
              <a:t>Instructor: Partners annotate the floor rectangle and a separate 6,000 mm stock sketch from Exercise Book 3C Q3. Decide which information belongs to each calculation.</a:t>
            </a:r>
          </a:p>
          <a:p>
            <a:r>
              <a:t>Learners: Explain the method and check directions; work with a partner only where permitted.</a:t>
            </a:r>
          </a:p>
          <a:p>
            <a:r>
              <a:t>Materials/check: Exercise Book; tool above</a:t>
            </a:r>
          </a:p>
          <a:p>
            <a:r>
              <a:t>Source: 'Math Week 7'!A28:F28</a:t>
            </a:r>
          </a:p>
          <a:p/>
          <a:p>
            <a:r>
              <a:t>1:25 PM–1:45 PM | 5 Practise | 20 min</a:t>
            </a:r>
          </a:p>
          <a:p>
            <a:r>
              <a:t>Instructor: Draw and label the floor in Shape Canvas. Calculate perimeter, floor area and diagonal; solve Exercise Book 3C Q3 without changing its four cuts or 3 mm kerf. Record units and assumptions; do not mix the two problem contexts.</a:t>
            </a:r>
          </a:p>
          <a:p>
            <a:r>
              <a:t>Learners: Keep numbered written solutions and units. Use tools only under the conditions stated for this block.</a:t>
            </a:r>
          </a:p>
          <a:p>
            <a:r>
              <a:t>Materials/check: Paper first; tool second</a:t>
            </a:r>
          </a:p>
          <a:p>
            <a:r>
              <a:t>Source: 'Math Week 7'!A29:F29</a:t>
            </a:r>
          </a:p>
          <a:p/>
          <a:p>
            <a:r>
              <a:t>1:45 PM–1:55 PM | 6 Check | 10 min</a:t>
            </a:r>
          </a:p>
          <a:p>
            <a:r>
              <a:t>Instructor: Submit the labelled floor plan, perimeter calculation and stock offcut equation.</a:t>
            </a:r>
          </a:p>
          <a:p>
            <a:r>
              <a:t>Learners: Submit work and demonstrate the checking strategy; identify a remaining difficulty.</a:t>
            </a:r>
          </a:p>
          <a:p>
            <a:r>
              <a:t>Materials/check: Teacher answers below</a:t>
            </a:r>
          </a:p>
          <a:p>
            <a:r>
              <a:t>Source: 'Math Week 7'!A30:F30</a:t>
            </a:r>
          </a:p>
          <a:p/>
          <a:p>
            <a:r>
              <a:t>1:55 PM–2:00 PM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7'!A31:F31</a:t>
            </a:r>
          </a:p>
          <a:p/>
          <a:p>
            <a:r>
              <a:t>INSTRUCTOR ONLY: REVEAL ASSESSMENT ANSWERS AFTER THE ATTEMPT</a:t>
            </a:r>
          </a:p>
          <a:p>
            <a:r>
              <a:t>Instructor adaptation: perimeter 21.6 m; area 25.92 m²; diagonal √(7.2²+3.6²) ≈ 8.05 m. Exercise Book 3C Q3 offcut = 1,188 mm (Answer Key p.10). Floor area: Answer Key p.28. Answer Key pp.10,28,32</a:t>
            </a:r>
          </a:p>
          <a:p/>
          <a:p>
            <a:r>
              <a:t>Bring the saved sketch and written assumptions into the material-order calculation session.</a:t>
            </a:r>
          </a:p>
          <a:p/>
          <a:p>
            <a:r>
              <a:t>Sources: 'Math Week 7'!A10:E10; 'Carpentry Schedule'!B70; 'Math Week 7'!A19</a:t>
            </a:r>
          </a:p>
          <a:p>
            <a:r>
              <a:t>Navigation/resource slides support these scheduled steps and do not add instructional time.</a:t>
            </a:r>
          </a:p>
          <a:p>
            <a:r>
              <a:t>SLIDE PLACEMENT: Teach, 12:55 PM–1:10 PM. All slides with this phase share these 15 minutes; do not restart the time allocation for each slide.</a:t>
            </a:r>
          </a:p>
          <a:p/>
          <a:p>
            <a:r>
              <a:t>Pause on the prompt before discussing the correction. This is included within the scheduled Teach block, not an additional assessment.</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W07-L01 | 2026-12-07 | 12:45 PM–2:00 PM | 75 minutes</a:t>
            </a:r>
          </a:p>
          <a:p>
            <a:r>
              <a:t>Carpentry drawing: floor layout and cut list</a:t>
            </a:r>
          </a:p>
          <a:p>
            <a:r>
              <a:t>Mode: Math</a:t>
            </a:r>
          </a:p>
          <a:p>
            <a:r>
              <a:t>Goal: Extract dimensions from a drawing, calculate a perimeter and offcut, and explain assumptions in a cut list.</a:t>
            </a:r>
          </a:p>
          <a:p>
            <a:r>
              <a:t>Read: Textbook Chapter 3 pp.44–51; Chapter 9 p.140; Chapter 10 pp.154–157</a:t>
            </a:r>
          </a:p>
          <a:p>
            <a:r>
              <a:t>Practise: Exercise Book 10B Q1 (p.65); 3C Q3 (p.23); 12B Q5 (p.78)</a:t>
            </a:r>
          </a:p>
          <a:p>
            <a:r>
              <a:t>Tool: Shape Canvas: set m units; draw the 7.2 m × 3.6 m floor rectangle from Exercise Book 10B Q1. Add a Text cut-list note. Numeracy Hub Calculator for numerical checks.</a:t>
            </a:r>
          </a:p>
          <a:p/>
          <a:p>
            <a:r>
              <a:t>EXACT SCHEDULED STEPS</a:t>
            </a:r>
          </a:p>
          <a:p>
            <a:r>
              <a:t>12:45 PM–12:50 PM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7'!A25:F25</a:t>
            </a:r>
          </a:p>
          <a:p/>
          <a:p>
            <a:r>
              <a:t>12:50 PM–12:55 PM | 2 Recall | 5 min</a:t>
            </a:r>
          </a:p>
          <a:p>
            <a:r>
              <a:t>Instructor: Ask which dimensions are needed for perimeter, area and diagonal; retrieve one kerf calculation.</a:t>
            </a:r>
          </a:p>
          <a:p>
            <a:r>
              <a:t>Learners: Review previous feedback and attempt the retrieval prompt without displayed solutions.</a:t>
            </a:r>
          </a:p>
          <a:p>
            <a:r>
              <a:t>Materials/check: Identify support needs</a:t>
            </a:r>
          </a:p>
          <a:p>
            <a:r>
              <a:t>Source: 'Math Week 7'!A26:F26</a:t>
            </a:r>
          </a:p>
          <a:p/>
          <a:p>
            <a:r>
              <a:t>12:55 PM–1:10 PM | 3 Teach | 15 min</a:t>
            </a:r>
          </a:p>
          <a:p>
            <a:r>
              <a:t>Instructor: Introduce an instructor-designed carpentry adaptation of Exercise Book 10B Q1: same dimensions, using plywood rather than checker plate. Keep no-waste and rectangular-layout assumptions explicit.</a:t>
            </a:r>
          </a:p>
          <a:p>
            <a:r>
              <a:t>Learners: Annotate the example or response expectations; ask about unclear steps.</a:t>
            </a:r>
          </a:p>
          <a:p>
            <a:r>
              <a:t>Materials/check: Textbook; worked example</a:t>
            </a:r>
          </a:p>
          <a:p>
            <a:r>
              <a:t>Source: 'Math Week 7'!A27:F27</a:t>
            </a:r>
          </a:p>
          <a:p/>
          <a:p>
            <a:r>
              <a:t>1:10 PM–1:25 PM | 4 Together | 15 min</a:t>
            </a:r>
          </a:p>
          <a:p>
            <a:r>
              <a:t>Instructor: Partners annotate the floor rectangle and a separate 6,000 mm stock sketch from Exercise Book 3C Q3. Decide which information belongs to each calculation.</a:t>
            </a:r>
          </a:p>
          <a:p>
            <a:r>
              <a:t>Learners: Explain the method and check directions; work with a partner only where permitted.</a:t>
            </a:r>
          </a:p>
          <a:p>
            <a:r>
              <a:t>Materials/check: Exercise Book; tool above</a:t>
            </a:r>
          </a:p>
          <a:p>
            <a:r>
              <a:t>Source: 'Math Week 7'!A28:F28</a:t>
            </a:r>
          </a:p>
          <a:p/>
          <a:p>
            <a:r>
              <a:t>1:25 PM–1:45 PM | 5 Practise | 20 min</a:t>
            </a:r>
          </a:p>
          <a:p>
            <a:r>
              <a:t>Instructor: Draw and label the floor in Shape Canvas. Calculate perimeter, floor area and diagonal; solve Exercise Book 3C Q3 without changing its four cuts or 3 mm kerf. Record units and assumptions; do not mix the two problem contexts.</a:t>
            </a:r>
          </a:p>
          <a:p>
            <a:r>
              <a:t>Learners: Keep numbered written solutions and units. Use tools only under the conditions stated for this block.</a:t>
            </a:r>
          </a:p>
          <a:p>
            <a:r>
              <a:t>Materials/check: Paper first; tool second</a:t>
            </a:r>
          </a:p>
          <a:p>
            <a:r>
              <a:t>Source: 'Math Week 7'!A29:F29</a:t>
            </a:r>
          </a:p>
          <a:p/>
          <a:p>
            <a:r>
              <a:t>1:45 PM–1:55 PM | 6 Check | 10 min</a:t>
            </a:r>
          </a:p>
          <a:p>
            <a:r>
              <a:t>Instructor: Submit the labelled floor plan, perimeter calculation and stock offcut equation.</a:t>
            </a:r>
          </a:p>
          <a:p>
            <a:r>
              <a:t>Learners: Submit work and demonstrate the checking strategy; identify a remaining difficulty.</a:t>
            </a:r>
          </a:p>
          <a:p>
            <a:r>
              <a:t>Materials/check: Teacher answers below</a:t>
            </a:r>
          </a:p>
          <a:p>
            <a:r>
              <a:t>Source: 'Math Week 7'!A30:F30</a:t>
            </a:r>
          </a:p>
          <a:p/>
          <a:p>
            <a:r>
              <a:t>1:55 PM–2:00 PM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7'!A31:F31</a:t>
            </a:r>
          </a:p>
          <a:p/>
          <a:p>
            <a:r>
              <a:t>INSTRUCTOR ONLY: REVEAL ASSESSMENT ANSWERS AFTER THE ATTEMPT</a:t>
            </a:r>
          </a:p>
          <a:p>
            <a:r>
              <a:t>Instructor adaptation: perimeter 21.6 m; area 25.92 m²; diagonal √(7.2²+3.6²) ≈ 8.05 m. Exercise Book 3C Q3 offcut = 1,188 mm (Answer Key p.10). Floor area: Answer Key p.28. Answer Key pp.10,28,32</a:t>
            </a:r>
          </a:p>
          <a:p/>
          <a:p>
            <a:r>
              <a:t>Bring the saved sketch and written assumptions into the material-order calculation session.</a:t>
            </a:r>
          </a:p>
          <a:p/>
          <a:p>
            <a:r>
              <a:t>Sources: 'Math Week 7'!A10:E10; 'Carpentry Schedule'!B70; 'Math Week 7'!A19</a:t>
            </a:r>
          </a:p>
          <a:p>
            <a:r>
              <a:t>Navigation/resource slides support these scheduled steps and do not add instructional time.</a:t>
            </a:r>
          </a:p>
          <a:p>
            <a:r>
              <a:t>SLIDE PLACEMENT: Together, 1:10 PM–1:25 PM. All slides with this phase share these 15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W07-L01 | 2026-12-07 | 12:45 PM–2:00 PM | 75 minutes</a:t>
            </a:r>
          </a:p>
          <a:p>
            <a:r>
              <a:t>Carpentry drawing: floor layout and cut list</a:t>
            </a:r>
          </a:p>
          <a:p>
            <a:r>
              <a:t>Mode: Math</a:t>
            </a:r>
          </a:p>
          <a:p>
            <a:r>
              <a:t>Goal: Extract dimensions from a drawing, calculate a perimeter and offcut, and explain assumptions in a cut list.</a:t>
            </a:r>
          </a:p>
          <a:p>
            <a:r>
              <a:t>Read: Textbook Chapter 3 pp.44–51; Chapter 9 p.140; Chapter 10 pp.154–157</a:t>
            </a:r>
          </a:p>
          <a:p>
            <a:r>
              <a:t>Practise: Exercise Book 10B Q1 (p.65); 3C Q3 (p.23); 12B Q5 (p.78)</a:t>
            </a:r>
          </a:p>
          <a:p>
            <a:r>
              <a:t>Tool: Shape Canvas: set m units; draw the 7.2 m × 3.6 m floor rectangle from Exercise Book 10B Q1. Add a Text cut-list note. Numeracy Hub Calculator for numerical checks.</a:t>
            </a:r>
          </a:p>
          <a:p/>
          <a:p>
            <a:r>
              <a:t>EXACT SCHEDULED STEPS</a:t>
            </a:r>
          </a:p>
          <a:p>
            <a:r>
              <a:t>12:45 PM–12:50 PM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7'!A25:F25</a:t>
            </a:r>
          </a:p>
          <a:p/>
          <a:p>
            <a:r>
              <a:t>12:50 PM–12:55 PM | 2 Recall | 5 min</a:t>
            </a:r>
          </a:p>
          <a:p>
            <a:r>
              <a:t>Instructor: Ask which dimensions are needed for perimeter, area and diagonal; retrieve one kerf calculation.</a:t>
            </a:r>
          </a:p>
          <a:p>
            <a:r>
              <a:t>Learners: Review previous feedback and attempt the retrieval prompt without displayed solutions.</a:t>
            </a:r>
          </a:p>
          <a:p>
            <a:r>
              <a:t>Materials/check: Identify support needs</a:t>
            </a:r>
          </a:p>
          <a:p>
            <a:r>
              <a:t>Source: 'Math Week 7'!A26:F26</a:t>
            </a:r>
          </a:p>
          <a:p/>
          <a:p>
            <a:r>
              <a:t>12:55 PM–1:10 PM | 3 Teach | 15 min</a:t>
            </a:r>
          </a:p>
          <a:p>
            <a:r>
              <a:t>Instructor: Introduce an instructor-designed carpentry adaptation of Exercise Book 10B Q1: same dimensions, using plywood rather than checker plate. Keep no-waste and rectangular-layout assumptions explicit.</a:t>
            </a:r>
          </a:p>
          <a:p>
            <a:r>
              <a:t>Learners: Annotate the example or response expectations; ask about unclear steps.</a:t>
            </a:r>
          </a:p>
          <a:p>
            <a:r>
              <a:t>Materials/check: Textbook; worked example</a:t>
            </a:r>
          </a:p>
          <a:p>
            <a:r>
              <a:t>Source: 'Math Week 7'!A27:F27</a:t>
            </a:r>
          </a:p>
          <a:p/>
          <a:p>
            <a:r>
              <a:t>1:10 PM–1:25 PM | 4 Together | 15 min</a:t>
            </a:r>
          </a:p>
          <a:p>
            <a:r>
              <a:t>Instructor: Partners annotate the floor rectangle and a separate 6,000 mm stock sketch from Exercise Book 3C Q3. Decide which information belongs to each calculation.</a:t>
            </a:r>
          </a:p>
          <a:p>
            <a:r>
              <a:t>Learners: Explain the method and check directions; work with a partner only where permitted.</a:t>
            </a:r>
          </a:p>
          <a:p>
            <a:r>
              <a:t>Materials/check: Exercise Book; tool above</a:t>
            </a:r>
          </a:p>
          <a:p>
            <a:r>
              <a:t>Source: 'Math Week 7'!A28:F28</a:t>
            </a:r>
          </a:p>
          <a:p/>
          <a:p>
            <a:r>
              <a:t>1:25 PM–1:45 PM | 5 Practise | 20 min</a:t>
            </a:r>
          </a:p>
          <a:p>
            <a:r>
              <a:t>Instructor: Draw and label the floor in Shape Canvas. Calculate perimeter, floor area and diagonal; solve Exercise Book 3C Q3 without changing its four cuts or 3 mm kerf. Record units and assumptions; do not mix the two problem contexts.</a:t>
            </a:r>
          </a:p>
          <a:p>
            <a:r>
              <a:t>Learners: Keep numbered written solutions and units. Use tools only under the conditions stated for this block.</a:t>
            </a:r>
          </a:p>
          <a:p>
            <a:r>
              <a:t>Materials/check: Paper first; tool second</a:t>
            </a:r>
          </a:p>
          <a:p>
            <a:r>
              <a:t>Source: 'Math Week 7'!A29:F29</a:t>
            </a:r>
          </a:p>
          <a:p/>
          <a:p>
            <a:r>
              <a:t>1:45 PM–1:55 PM | 6 Check | 10 min</a:t>
            </a:r>
          </a:p>
          <a:p>
            <a:r>
              <a:t>Instructor: Submit the labelled floor plan, perimeter calculation and stock offcut equation.</a:t>
            </a:r>
          </a:p>
          <a:p>
            <a:r>
              <a:t>Learners: Submit work and demonstrate the checking strategy; identify a remaining difficulty.</a:t>
            </a:r>
          </a:p>
          <a:p>
            <a:r>
              <a:t>Materials/check: Teacher answers below</a:t>
            </a:r>
          </a:p>
          <a:p>
            <a:r>
              <a:t>Source: 'Math Week 7'!A30:F30</a:t>
            </a:r>
          </a:p>
          <a:p/>
          <a:p>
            <a:r>
              <a:t>1:55 PM–2:00 PM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7'!A31:F31</a:t>
            </a:r>
          </a:p>
          <a:p/>
          <a:p>
            <a:r>
              <a:t>INSTRUCTOR ONLY: REVEAL ASSESSMENT ANSWERS AFTER THE ATTEMPT</a:t>
            </a:r>
          </a:p>
          <a:p>
            <a:r>
              <a:t>Instructor adaptation: perimeter 21.6 m; area 25.92 m²; diagonal √(7.2²+3.6²) ≈ 8.05 m. Exercise Book 3C Q3 offcut = 1,188 mm (Answer Key p.10). Floor area: Answer Key p.28. Answer Key pp.10,28,32</a:t>
            </a:r>
          </a:p>
          <a:p/>
          <a:p>
            <a:r>
              <a:t>Bring the saved sketch and written assumptions into the material-order calculation session.</a:t>
            </a:r>
          </a:p>
          <a:p/>
          <a:p>
            <a:r>
              <a:t>Sources: 'Math Week 7'!A10:E10; 'Carpentry Schedule'!B70; 'Math Week 7'!A19</a:t>
            </a:r>
          </a:p>
          <a:p>
            <a:r>
              <a:t>Navigation/resource slides support these scheduled steps and do not add instructional time.</a:t>
            </a:r>
          </a:p>
          <a:p>
            <a:r>
              <a:t>SLIDE PLACEMENT: Together, 1:10 PM–1:25 PM. All slides with this phase share these 15 minutes; do not restart the time allocation for each slide.</a:t>
            </a:r>
          </a:p>
          <a:p/>
          <a:p>
            <a:r>
              <a:t>ACCESS EXERCISE BOOK: 3C-Q3</a:t>
            </a:r>
          </a:p>
          <a:p>
            <a:r>
              <a:t>Exact question: Four 1,200 mm pieces are cut from a 6,000 mm bar with four cuts. The kerf is 3 mm. The offcut is 6,000 − (4 × 1,200 + 4 × 3). Find it.</a:t>
            </a:r>
          </a:p>
          <a:p>
            <a:r>
              <a:t>Instructor answer: 1,188 mm</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W07-L01 | 2026-12-07 | 12:45 PM–2:00 PM | 75 minutes</a:t>
            </a:r>
          </a:p>
          <a:p>
            <a:r>
              <a:t>Carpentry drawing: floor layout and cut list</a:t>
            </a:r>
          </a:p>
          <a:p>
            <a:r>
              <a:t>Mode: Math</a:t>
            </a:r>
          </a:p>
          <a:p>
            <a:r>
              <a:t>Goal: Extract dimensions from a drawing, calculate a perimeter and offcut, and explain assumptions in a cut list.</a:t>
            </a:r>
          </a:p>
          <a:p>
            <a:r>
              <a:t>Read: Textbook Chapter 3 pp.44–51; Chapter 9 p.140; Chapter 10 pp.154–157</a:t>
            </a:r>
          </a:p>
          <a:p>
            <a:r>
              <a:t>Practise: Exercise Book 10B Q1 (p.65); 3C Q3 (p.23); 12B Q5 (p.78)</a:t>
            </a:r>
          </a:p>
          <a:p>
            <a:r>
              <a:t>Tool: Shape Canvas: set m units; draw the 7.2 m × 3.6 m floor rectangle from Exercise Book 10B Q1. Add a Text cut-list note. Numeracy Hub Calculator for numerical checks.</a:t>
            </a:r>
          </a:p>
          <a:p/>
          <a:p>
            <a:r>
              <a:t>EXACT SCHEDULED STEPS</a:t>
            </a:r>
          </a:p>
          <a:p>
            <a:r>
              <a:t>12:45 PM–12:50 PM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7'!A25:F25</a:t>
            </a:r>
          </a:p>
          <a:p/>
          <a:p>
            <a:r>
              <a:t>12:50 PM–12:55 PM | 2 Recall | 5 min</a:t>
            </a:r>
          </a:p>
          <a:p>
            <a:r>
              <a:t>Instructor: Ask which dimensions are needed for perimeter, area and diagonal; retrieve one kerf calculation.</a:t>
            </a:r>
          </a:p>
          <a:p>
            <a:r>
              <a:t>Learners: Review previous feedback and attempt the retrieval prompt without displayed solutions.</a:t>
            </a:r>
          </a:p>
          <a:p>
            <a:r>
              <a:t>Materials/check: Identify support needs</a:t>
            </a:r>
          </a:p>
          <a:p>
            <a:r>
              <a:t>Source: 'Math Week 7'!A26:F26</a:t>
            </a:r>
          </a:p>
          <a:p/>
          <a:p>
            <a:r>
              <a:t>12:55 PM–1:10 PM | 3 Teach | 15 min</a:t>
            </a:r>
          </a:p>
          <a:p>
            <a:r>
              <a:t>Instructor: Introduce an instructor-designed carpentry adaptation of Exercise Book 10B Q1: same dimensions, using plywood rather than checker plate. Keep no-waste and rectangular-layout assumptions explicit.</a:t>
            </a:r>
          </a:p>
          <a:p>
            <a:r>
              <a:t>Learners: Annotate the example or response expectations; ask about unclear steps.</a:t>
            </a:r>
          </a:p>
          <a:p>
            <a:r>
              <a:t>Materials/check: Textbook; worked example</a:t>
            </a:r>
          </a:p>
          <a:p>
            <a:r>
              <a:t>Source: 'Math Week 7'!A27:F27</a:t>
            </a:r>
          </a:p>
          <a:p/>
          <a:p>
            <a:r>
              <a:t>1:10 PM–1:25 PM | 4 Together | 15 min</a:t>
            </a:r>
          </a:p>
          <a:p>
            <a:r>
              <a:t>Instructor: Partners annotate the floor rectangle and a separate 6,000 mm stock sketch from Exercise Book 3C Q3. Decide which information belongs to each calculation.</a:t>
            </a:r>
          </a:p>
          <a:p>
            <a:r>
              <a:t>Learners: Explain the method and check directions; work with a partner only where permitted.</a:t>
            </a:r>
          </a:p>
          <a:p>
            <a:r>
              <a:t>Materials/check: Exercise Book; tool above</a:t>
            </a:r>
          </a:p>
          <a:p>
            <a:r>
              <a:t>Source: 'Math Week 7'!A28:F28</a:t>
            </a:r>
          </a:p>
          <a:p/>
          <a:p>
            <a:r>
              <a:t>1:25 PM–1:45 PM | 5 Practise | 20 min</a:t>
            </a:r>
          </a:p>
          <a:p>
            <a:r>
              <a:t>Instructor: Draw and label the floor in Shape Canvas. Calculate perimeter, floor area and diagonal; solve Exercise Book 3C Q3 without changing its four cuts or 3 mm kerf. Record units and assumptions; do not mix the two problem contexts.</a:t>
            </a:r>
          </a:p>
          <a:p>
            <a:r>
              <a:t>Learners: Keep numbered written solutions and units. Use tools only under the conditions stated for this block.</a:t>
            </a:r>
          </a:p>
          <a:p>
            <a:r>
              <a:t>Materials/check: Paper first; tool second</a:t>
            </a:r>
          </a:p>
          <a:p>
            <a:r>
              <a:t>Source: 'Math Week 7'!A29:F29</a:t>
            </a:r>
          </a:p>
          <a:p/>
          <a:p>
            <a:r>
              <a:t>1:45 PM–1:55 PM | 6 Check | 10 min</a:t>
            </a:r>
          </a:p>
          <a:p>
            <a:r>
              <a:t>Instructor: Submit the labelled floor plan, perimeter calculation and stock offcut equation.</a:t>
            </a:r>
          </a:p>
          <a:p>
            <a:r>
              <a:t>Learners: Submit work and demonstrate the checking strategy; identify a remaining difficulty.</a:t>
            </a:r>
          </a:p>
          <a:p>
            <a:r>
              <a:t>Materials/check: Teacher answers below</a:t>
            </a:r>
          </a:p>
          <a:p>
            <a:r>
              <a:t>Source: 'Math Week 7'!A30:F30</a:t>
            </a:r>
          </a:p>
          <a:p/>
          <a:p>
            <a:r>
              <a:t>1:55 PM–2:00 PM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7'!A31:F31</a:t>
            </a:r>
          </a:p>
          <a:p/>
          <a:p>
            <a:r>
              <a:t>INSTRUCTOR ONLY: REVEAL ASSESSMENT ANSWERS AFTER THE ATTEMPT</a:t>
            </a:r>
          </a:p>
          <a:p>
            <a:r>
              <a:t>Instructor adaptation: perimeter 21.6 m; area 25.92 m²; diagonal √(7.2²+3.6²) ≈ 8.05 m. Exercise Book 3C Q3 offcut = 1,188 mm (Answer Key p.10). Floor area: Answer Key p.28. Answer Key pp.10,28,32</a:t>
            </a:r>
          </a:p>
          <a:p/>
          <a:p>
            <a:r>
              <a:t>Bring the saved sketch and written assumptions into the material-order calculation session.</a:t>
            </a:r>
          </a:p>
          <a:p/>
          <a:p>
            <a:r>
              <a:t>Sources: 'Math Week 7'!A10:E10; 'Carpentry Schedule'!B70; 'Math Week 7'!A19</a:t>
            </a:r>
          </a:p>
          <a:p>
            <a:r>
              <a:t>Navigation/resource slides support these scheduled steps and do not add instructional time.</a:t>
            </a:r>
          </a:p>
          <a:p>
            <a:r>
              <a:t>SLIDE PLACEMENT: Together, 1:10 PM–1:25 PM. All slides with this phase share these 15 minutes; do not restart the time allocation for each slide.</a:t>
            </a:r>
          </a:p>
          <a:p/>
          <a:p>
            <a:r>
              <a:t>ACCESS EXERCISE BOOK: 3C-Q3</a:t>
            </a:r>
          </a:p>
          <a:p>
            <a:r>
              <a:t>Exact question: Four 1,200 mm pieces are cut from a 6,000 mm bar with four cuts. The kerf is 3 mm. The offcut is 6,000 − (4 × 1,200 + 4 × 3). Find it.</a:t>
            </a:r>
          </a:p>
          <a:p>
            <a:r>
              <a:t>Instructor answer: 1,188 mm</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W07-L01 | 2026-12-07 | 12:45 PM–2:00 PM | 75 minutes</a:t>
            </a:r>
          </a:p>
          <a:p>
            <a:r>
              <a:t>Carpentry drawing: floor layout and cut list</a:t>
            </a:r>
          </a:p>
          <a:p>
            <a:r>
              <a:t>Mode: Math</a:t>
            </a:r>
          </a:p>
          <a:p>
            <a:r>
              <a:t>Goal: Extract dimensions from a drawing, calculate a perimeter and offcut, and explain assumptions in a cut list.</a:t>
            </a:r>
          </a:p>
          <a:p>
            <a:r>
              <a:t>Read: Textbook Chapter 3 pp.44–51; Chapter 9 p.140; Chapter 10 pp.154–157</a:t>
            </a:r>
          </a:p>
          <a:p>
            <a:r>
              <a:t>Practise: Exercise Book 10B Q1 (p.65); 3C Q3 (p.23); 12B Q5 (p.78)</a:t>
            </a:r>
          </a:p>
          <a:p>
            <a:r>
              <a:t>Tool: Shape Canvas: set m units; draw the 7.2 m × 3.6 m floor rectangle from Exercise Book 10B Q1. Add a Text cut-list note. Numeracy Hub Calculator for numerical checks.</a:t>
            </a:r>
          </a:p>
          <a:p/>
          <a:p>
            <a:r>
              <a:t>EXACT SCHEDULED STEPS</a:t>
            </a:r>
          </a:p>
          <a:p>
            <a:r>
              <a:t>12:45 PM–12:50 PM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7'!A25:F25</a:t>
            </a:r>
          </a:p>
          <a:p/>
          <a:p>
            <a:r>
              <a:t>12:50 PM–12:55 PM | 2 Recall | 5 min</a:t>
            </a:r>
          </a:p>
          <a:p>
            <a:r>
              <a:t>Instructor: Ask which dimensions are needed for perimeter, area and diagonal; retrieve one kerf calculation.</a:t>
            </a:r>
          </a:p>
          <a:p>
            <a:r>
              <a:t>Learners: Review previous feedback and attempt the retrieval prompt without displayed solutions.</a:t>
            </a:r>
          </a:p>
          <a:p>
            <a:r>
              <a:t>Materials/check: Identify support needs</a:t>
            </a:r>
          </a:p>
          <a:p>
            <a:r>
              <a:t>Source: 'Math Week 7'!A26:F26</a:t>
            </a:r>
          </a:p>
          <a:p/>
          <a:p>
            <a:r>
              <a:t>12:55 PM–1:10 PM | 3 Teach | 15 min</a:t>
            </a:r>
          </a:p>
          <a:p>
            <a:r>
              <a:t>Instructor: Introduce an instructor-designed carpentry adaptation of Exercise Book 10B Q1: same dimensions, using plywood rather than checker plate. Keep no-waste and rectangular-layout assumptions explicit.</a:t>
            </a:r>
          </a:p>
          <a:p>
            <a:r>
              <a:t>Learners: Annotate the example or response expectations; ask about unclear steps.</a:t>
            </a:r>
          </a:p>
          <a:p>
            <a:r>
              <a:t>Materials/check: Textbook; worked example</a:t>
            </a:r>
          </a:p>
          <a:p>
            <a:r>
              <a:t>Source: 'Math Week 7'!A27:F27</a:t>
            </a:r>
          </a:p>
          <a:p/>
          <a:p>
            <a:r>
              <a:t>1:10 PM–1:25 PM | 4 Together | 15 min</a:t>
            </a:r>
          </a:p>
          <a:p>
            <a:r>
              <a:t>Instructor: Partners annotate the floor rectangle and a separate 6,000 mm stock sketch from Exercise Book 3C Q3. Decide which information belongs to each calculation.</a:t>
            </a:r>
          </a:p>
          <a:p>
            <a:r>
              <a:t>Learners: Explain the method and check directions; work with a partner only where permitted.</a:t>
            </a:r>
          </a:p>
          <a:p>
            <a:r>
              <a:t>Materials/check: Exercise Book; tool above</a:t>
            </a:r>
          </a:p>
          <a:p>
            <a:r>
              <a:t>Source: 'Math Week 7'!A28:F28</a:t>
            </a:r>
          </a:p>
          <a:p/>
          <a:p>
            <a:r>
              <a:t>1:25 PM–1:45 PM | 5 Practise | 20 min</a:t>
            </a:r>
          </a:p>
          <a:p>
            <a:r>
              <a:t>Instructor: Draw and label the floor in Shape Canvas. Calculate perimeter, floor area and diagonal; solve Exercise Book 3C Q3 without changing its four cuts or 3 mm kerf. Record units and assumptions; do not mix the two problem contexts.</a:t>
            </a:r>
          </a:p>
          <a:p>
            <a:r>
              <a:t>Learners: Keep numbered written solutions and units. Use tools only under the conditions stated for this block.</a:t>
            </a:r>
          </a:p>
          <a:p>
            <a:r>
              <a:t>Materials/check: Paper first; tool second</a:t>
            </a:r>
          </a:p>
          <a:p>
            <a:r>
              <a:t>Source: 'Math Week 7'!A29:F29</a:t>
            </a:r>
          </a:p>
          <a:p/>
          <a:p>
            <a:r>
              <a:t>1:45 PM–1:55 PM | 6 Check | 10 min</a:t>
            </a:r>
          </a:p>
          <a:p>
            <a:r>
              <a:t>Instructor: Submit the labelled floor plan, perimeter calculation and stock offcut equation.</a:t>
            </a:r>
          </a:p>
          <a:p>
            <a:r>
              <a:t>Learners: Submit work and demonstrate the checking strategy; identify a remaining difficulty.</a:t>
            </a:r>
          </a:p>
          <a:p>
            <a:r>
              <a:t>Materials/check: Teacher answers below</a:t>
            </a:r>
          </a:p>
          <a:p>
            <a:r>
              <a:t>Source: 'Math Week 7'!A30:F30</a:t>
            </a:r>
          </a:p>
          <a:p/>
          <a:p>
            <a:r>
              <a:t>1:55 PM–2:00 PM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7'!A31:F31</a:t>
            </a:r>
          </a:p>
          <a:p/>
          <a:p>
            <a:r>
              <a:t>INSTRUCTOR ONLY: REVEAL ASSESSMENT ANSWERS AFTER THE ATTEMPT</a:t>
            </a:r>
          </a:p>
          <a:p>
            <a:r>
              <a:t>Instructor adaptation: perimeter 21.6 m; area 25.92 m²; diagonal √(7.2²+3.6²) ≈ 8.05 m. Exercise Book 3C Q3 offcut = 1,188 mm (Answer Key p.10). Floor area: Answer Key p.28. Answer Key pp.10,28,32</a:t>
            </a:r>
          </a:p>
          <a:p/>
          <a:p>
            <a:r>
              <a:t>Bring the saved sketch and written assumptions into the material-order calculation session.</a:t>
            </a:r>
          </a:p>
          <a:p/>
          <a:p>
            <a:r>
              <a:t>Sources: 'Math Week 7'!A10:E10; 'Carpentry Schedule'!B70; 'Math Week 7'!A19</a:t>
            </a:r>
          </a:p>
          <a:p>
            <a:r>
              <a:t>Navigation/resource slides support these scheduled steps and do not add instructional time.</a:t>
            </a:r>
          </a:p>
          <a:p>
            <a:r>
              <a:t>SLIDE PLACEMENT: Practise, 1:25 PM–1:45 PM. All slides with this phase share these 20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W07-L01 | 2026-12-07 | 12:45 PM–2:00 PM | 75 minutes</a:t>
            </a:r>
          </a:p>
          <a:p>
            <a:r>
              <a:t>Carpentry drawing: floor layout and cut list</a:t>
            </a:r>
          </a:p>
          <a:p>
            <a:r>
              <a:t>Mode: Math</a:t>
            </a:r>
          </a:p>
          <a:p>
            <a:r>
              <a:t>Goal: Extract dimensions from a drawing, calculate a perimeter and offcut, and explain assumptions in a cut list.</a:t>
            </a:r>
          </a:p>
          <a:p>
            <a:r>
              <a:t>Read: Textbook Chapter 3 pp.44–51; Chapter 9 p.140; Chapter 10 pp.154–157</a:t>
            </a:r>
          </a:p>
          <a:p>
            <a:r>
              <a:t>Practise: Exercise Book 10B Q1 (p.65); 3C Q3 (p.23); 12B Q5 (p.78)</a:t>
            </a:r>
          </a:p>
          <a:p>
            <a:r>
              <a:t>Tool: Shape Canvas: set m units; draw the 7.2 m × 3.6 m floor rectangle from Exercise Book 10B Q1. Add a Text cut-list note. Numeracy Hub Calculator for numerical checks.</a:t>
            </a:r>
          </a:p>
          <a:p/>
          <a:p>
            <a:r>
              <a:t>EXACT SCHEDULED STEPS</a:t>
            </a:r>
          </a:p>
          <a:p>
            <a:r>
              <a:t>12:45 PM–12:50 PM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7'!A25:F25</a:t>
            </a:r>
          </a:p>
          <a:p/>
          <a:p>
            <a:r>
              <a:t>12:50 PM–12:55 PM | 2 Recall | 5 min</a:t>
            </a:r>
          </a:p>
          <a:p>
            <a:r>
              <a:t>Instructor: Ask which dimensions are needed for perimeter, area and diagonal; retrieve one kerf calculation.</a:t>
            </a:r>
          </a:p>
          <a:p>
            <a:r>
              <a:t>Learners: Review previous feedback and attempt the retrieval prompt without displayed solutions.</a:t>
            </a:r>
          </a:p>
          <a:p>
            <a:r>
              <a:t>Materials/check: Identify support needs</a:t>
            </a:r>
          </a:p>
          <a:p>
            <a:r>
              <a:t>Source: 'Math Week 7'!A26:F26</a:t>
            </a:r>
          </a:p>
          <a:p/>
          <a:p>
            <a:r>
              <a:t>12:55 PM–1:10 PM | 3 Teach | 15 min</a:t>
            </a:r>
          </a:p>
          <a:p>
            <a:r>
              <a:t>Instructor: Introduce an instructor-designed carpentry adaptation of Exercise Book 10B Q1: same dimensions, using plywood rather than checker plate. Keep no-waste and rectangular-layout assumptions explicit.</a:t>
            </a:r>
          </a:p>
          <a:p>
            <a:r>
              <a:t>Learners: Annotate the example or response expectations; ask about unclear steps.</a:t>
            </a:r>
          </a:p>
          <a:p>
            <a:r>
              <a:t>Materials/check: Textbook; worked example</a:t>
            </a:r>
          </a:p>
          <a:p>
            <a:r>
              <a:t>Source: 'Math Week 7'!A27:F27</a:t>
            </a:r>
          </a:p>
          <a:p/>
          <a:p>
            <a:r>
              <a:t>1:10 PM–1:25 PM | 4 Together | 15 min</a:t>
            </a:r>
          </a:p>
          <a:p>
            <a:r>
              <a:t>Instructor: Partners annotate the floor rectangle and a separate 6,000 mm stock sketch from Exercise Book 3C Q3. Decide which information belongs to each calculation.</a:t>
            </a:r>
          </a:p>
          <a:p>
            <a:r>
              <a:t>Learners: Explain the method and check directions; work with a partner only where permitted.</a:t>
            </a:r>
          </a:p>
          <a:p>
            <a:r>
              <a:t>Materials/check: Exercise Book; tool above</a:t>
            </a:r>
          </a:p>
          <a:p>
            <a:r>
              <a:t>Source: 'Math Week 7'!A28:F28</a:t>
            </a:r>
          </a:p>
          <a:p/>
          <a:p>
            <a:r>
              <a:t>1:25 PM–1:45 PM | 5 Practise | 20 min</a:t>
            </a:r>
          </a:p>
          <a:p>
            <a:r>
              <a:t>Instructor: Draw and label the floor in Shape Canvas. Calculate perimeter, floor area and diagonal; solve Exercise Book 3C Q3 without changing its four cuts or 3 mm kerf. Record units and assumptions; do not mix the two problem contexts.</a:t>
            </a:r>
          </a:p>
          <a:p>
            <a:r>
              <a:t>Learners: Keep numbered written solutions and units. Use tools only under the conditions stated for this block.</a:t>
            </a:r>
          </a:p>
          <a:p>
            <a:r>
              <a:t>Materials/check: Paper first; tool second</a:t>
            </a:r>
          </a:p>
          <a:p>
            <a:r>
              <a:t>Source: 'Math Week 7'!A29:F29</a:t>
            </a:r>
          </a:p>
          <a:p/>
          <a:p>
            <a:r>
              <a:t>1:45 PM–1:55 PM | 6 Check | 10 min</a:t>
            </a:r>
          </a:p>
          <a:p>
            <a:r>
              <a:t>Instructor: Submit the labelled floor plan, perimeter calculation and stock offcut equation.</a:t>
            </a:r>
          </a:p>
          <a:p>
            <a:r>
              <a:t>Learners: Submit work and demonstrate the checking strategy; identify a remaining difficulty.</a:t>
            </a:r>
          </a:p>
          <a:p>
            <a:r>
              <a:t>Materials/check: Teacher answers below</a:t>
            </a:r>
          </a:p>
          <a:p>
            <a:r>
              <a:t>Source: 'Math Week 7'!A30:F30</a:t>
            </a:r>
          </a:p>
          <a:p/>
          <a:p>
            <a:r>
              <a:t>1:55 PM–2:00 PM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7'!A31:F31</a:t>
            </a:r>
          </a:p>
          <a:p/>
          <a:p>
            <a:r>
              <a:t>INSTRUCTOR ONLY: REVEAL ASSESSMENT ANSWERS AFTER THE ATTEMPT</a:t>
            </a:r>
          </a:p>
          <a:p>
            <a:r>
              <a:t>Instructor adaptation: perimeter 21.6 m; area 25.92 m²; diagonal √(7.2²+3.6²) ≈ 8.05 m. Exercise Book 3C Q3 offcut = 1,188 mm (Answer Key p.10). Floor area: Answer Key p.28. Answer Key pp.10,28,32</a:t>
            </a:r>
          </a:p>
          <a:p/>
          <a:p>
            <a:r>
              <a:t>Bring the saved sketch and written assumptions into the material-order calculation session.</a:t>
            </a:r>
          </a:p>
          <a:p/>
          <a:p>
            <a:r>
              <a:t>Sources: 'Math Week 7'!A10:E10; 'Carpentry Schedule'!B70; 'Math Week 7'!A19</a:t>
            </a:r>
          </a:p>
          <a:p>
            <a:r>
              <a:t>Navigation/resource slides support these scheduled steps and do not add instructional time.</a:t>
            </a:r>
          </a:p>
          <a:p>
            <a:r>
              <a:t>SLIDE PLACEMENT: Practise, 1:25 PM–1:45 PM. All slides with this phase share these 20 minutes; do not restart the time allocation for each slide.</a:t>
            </a:r>
          </a:p>
          <a:p/>
          <a:p>
            <a:r>
              <a:t>Live-tool screenshot, not an answer to the scheduled task. Open the resource link and follow the exact values in the assignment. Keep worked answers hidden until learners attempt the task. Screenshot illustrates navigation and occupies time within the same scheduled practice phase.</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W07-L01 | 2026-12-07 | 12:45 PM–2:00 PM | 75 minutes</a:t>
            </a:r>
          </a:p>
          <a:p>
            <a:r>
              <a:t>Carpentry drawing: floor layout and cut list</a:t>
            </a:r>
          </a:p>
          <a:p>
            <a:r>
              <a:t>Mode: Math</a:t>
            </a:r>
          </a:p>
          <a:p>
            <a:r>
              <a:t>Goal: Extract dimensions from a drawing, calculate a perimeter and offcut, and explain assumptions in a cut list.</a:t>
            </a:r>
          </a:p>
          <a:p>
            <a:r>
              <a:t>Read: Textbook Chapter 3 pp.44–51; Chapter 9 p.140; Chapter 10 pp.154–157</a:t>
            </a:r>
          </a:p>
          <a:p>
            <a:r>
              <a:t>Practise: Exercise Book 10B Q1 (p.65); 3C Q3 (p.23); 12B Q5 (p.78)</a:t>
            </a:r>
          </a:p>
          <a:p>
            <a:r>
              <a:t>Tool: Shape Canvas: set m units; draw the 7.2 m × 3.6 m floor rectangle from Exercise Book 10B Q1. Add a Text cut-list note. Numeracy Hub Calculator for numerical checks.</a:t>
            </a:r>
          </a:p>
          <a:p/>
          <a:p>
            <a:r>
              <a:t>EXACT SCHEDULED STEPS</a:t>
            </a:r>
          </a:p>
          <a:p>
            <a:r>
              <a:t>12:45 PM–12:50 PM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7'!A25:F25</a:t>
            </a:r>
          </a:p>
          <a:p/>
          <a:p>
            <a:r>
              <a:t>12:50 PM–12:55 PM | 2 Recall | 5 min</a:t>
            </a:r>
          </a:p>
          <a:p>
            <a:r>
              <a:t>Instructor: Ask which dimensions are needed for perimeter, area and diagonal; retrieve one kerf calculation.</a:t>
            </a:r>
          </a:p>
          <a:p>
            <a:r>
              <a:t>Learners: Review previous feedback and attempt the retrieval prompt without displayed solutions.</a:t>
            </a:r>
          </a:p>
          <a:p>
            <a:r>
              <a:t>Materials/check: Identify support needs</a:t>
            </a:r>
          </a:p>
          <a:p>
            <a:r>
              <a:t>Source: 'Math Week 7'!A26:F26</a:t>
            </a:r>
          </a:p>
          <a:p/>
          <a:p>
            <a:r>
              <a:t>12:55 PM–1:10 PM | 3 Teach | 15 min</a:t>
            </a:r>
          </a:p>
          <a:p>
            <a:r>
              <a:t>Instructor: Introduce an instructor-designed carpentry adaptation of Exercise Book 10B Q1: same dimensions, using plywood rather than checker plate. Keep no-waste and rectangular-layout assumptions explicit.</a:t>
            </a:r>
          </a:p>
          <a:p>
            <a:r>
              <a:t>Learners: Annotate the example or response expectations; ask about unclear steps.</a:t>
            </a:r>
          </a:p>
          <a:p>
            <a:r>
              <a:t>Materials/check: Textbook; worked example</a:t>
            </a:r>
          </a:p>
          <a:p>
            <a:r>
              <a:t>Source: 'Math Week 7'!A27:F27</a:t>
            </a:r>
          </a:p>
          <a:p/>
          <a:p>
            <a:r>
              <a:t>1:10 PM–1:25 PM | 4 Together | 15 min</a:t>
            </a:r>
          </a:p>
          <a:p>
            <a:r>
              <a:t>Instructor: Partners annotate the floor rectangle and a separate 6,000 mm stock sketch from Exercise Book 3C Q3. Decide which information belongs to each calculation.</a:t>
            </a:r>
          </a:p>
          <a:p>
            <a:r>
              <a:t>Learners: Explain the method and check directions; work with a partner only where permitted.</a:t>
            </a:r>
          </a:p>
          <a:p>
            <a:r>
              <a:t>Materials/check: Exercise Book; tool above</a:t>
            </a:r>
          </a:p>
          <a:p>
            <a:r>
              <a:t>Source: 'Math Week 7'!A28:F28</a:t>
            </a:r>
          </a:p>
          <a:p/>
          <a:p>
            <a:r>
              <a:t>1:25 PM–1:45 PM | 5 Practise | 20 min</a:t>
            </a:r>
          </a:p>
          <a:p>
            <a:r>
              <a:t>Instructor: Draw and label the floor in Shape Canvas. Calculate perimeter, floor area and diagonal; solve Exercise Book 3C Q3 without changing its four cuts or 3 mm kerf. Record units and assumptions; do not mix the two problem contexts.</a:t>
            </a:r>
          </a:p>
          <a:p>
            <a:r>
              <a:t>Learners: Keep numbered written solutions and units. Use tools only under the conditions stated for this block.</a:t>
            </a:r>
          </a:p>
          <a:p>
            <a:r>
              <a:t>Materials/check: Paper first; tool second</a:t>
            </a:r>
          </a:p>
          <a:p>
            <a:r>
              <a:t>Source: 'Math Week 7'!A29:F29</a:t>
            </a:r>
          </a:p>
          <a:p/>
          <a:p>
            <a:r>
              <a:t>1:45 PM–1:55 PM | 6 Check | 10 min</a:t>
            </a:r>
          </a:p>
          <a:p>
            <a:r>
              <a:t>Instructor: Submit the labelled floor plan, perimeter calculation and stock offcut equation.</a:t>
            </a:r>
          </a:p>
          <a:p>
            <a:r>
              <a:t>Learners: Submit work and demonstrate the checking strategy; identify a remaining difficulty.</a:t>
            </a:r>
          </a:p>
          <a:p>
            <a:r>
              <a:t>Materials/check: Teacher answers below</a:t>
            </a:r>
          </a:p>
          <a:p>
            <a:r>
              <a:t>Source: 'Math Week 7'!A30:F30</a:t>
            </a:r>
          </a:p>
          <a:p/>
          <a:p>
            <a:r>
              <a:t>1:55 PM–2:00 PM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7'!A31:F31</a:t>
            </a:r>
          </a:p>
          <a:p/>
          <a:p>
            <a:r>
              <a:t>INSTRUCTOR ONLY: REVEAL ASSESSMENT ANSWERS AFTER THE ATTEMPT</a:t>
            </a:r>
          </a:p>
          <a:p>
            <a:r>
              <a:t>Instructor adaptation: perimeter 21.6 m; area 25.92 m²; diagonal √(7.2²+3.6²) ≈ 8.05 m. Exercise Book 3C Q3 offcut = 1,188 mm (Answer Key p.10). Floor area: Answer Key p.28. Answer Key pp.10,28,32</a:t>
            </a:r>
          </a:p>
          <a:p/>
          <a:p>
            <a:r>
              <a:t>Bring the saved sketch and written assumptions into the material-order calculation session.</a:t>
            </a:r>
          </a:p>
          <a:p/>
          <a:p>
            <a:r>
              <a:t>Sources: 'Math Week 7'!A10:E10; 'Carpentry Schedule'!B70; 'Math Week 7'!A19</a:t>
            </a:r>
          </a:p>
          <a:p>
            <a:r>
              <a:t>Navigation/resource slides support these scheduled steps and do not add instructional time.</a:t>
            </a:r>
          </a:p>
          <a:p>
            <a:r>
              <a:t>SLIDE PLACEMENT: Practise, 1:25 PM–1:45 PM. All slides with this phase share these 20 minutes; do not restart the time allocation for each slide.</a:t>
            </a:r>
          </a:p>
          <a:p/>
          <a:p>
            <a:r>
              <a:t>Exact scheduled tool activity: Shape Canvas: set m units; draw the 7.2 m × 3.6 m floor rectangle from Exercise Book 10B Q1. Add a Text cut-list note. Numeracy Hub Calculator for numerical checks.</a:t>
            </a:r>
          </a:p>
          <a:p>
            <a:r>
              <a:t>In Shape Canvas, set units to m and draw the 7.2 m × 3.6 m floor rectangle; label the dimensions.</a:t>
            </a:r>
          </a:p>
          <a:p>
            <a:r>
              <a:t>Add a Text cut-list note that keeps the separate 6,000 mm stock problem, four cuts and 3 mm kerf explicit; retain the written equations and assumptions.</a:t>
            </a:r>
          </a:p>
          <a:p>
            <a:r>
              <a:t>After the paper calculations, use Numeracy Hub Calculator for numerical checks. Save the labelled floor sketch and assumptions for the next material-order block.</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W07-L01 | 2026-12-07 | 12:45 PM–2:00 PM | 75 minutes</a:t>
            </a:r>
          </a:p>
          <a:p>
            <a:r>
              <a:t>Carpentry drawing: floor layout and cut list</a:t>
            </a:r>
          </a:p>
          <a:p>
            <a:r>
              <a:t>Mode: Math</a:t>
            </a:r>
          </a:p>
          <a:p>
            <a:r>
              <a:t>Goal: Extract dimensions from a drawing, calculate a perimeter and offcut, and explain assumptions in a cut list.</a:t>
            </a:r>
          </a:p>
          <a:p>
            <a:r>
              <a:t>Read: Textbook Chapter 3 pp.44–51; Chapter 9 p.140; Chapter 10 pp.154–157</a:t>
            </a:r>
          </a:p>
          <a:p>
            <a:r>
              <a:t>Practise: Exercise Book 10B Q1 (p.65); 3C Q3 (p.23); 12B Q5 (p.78)</a:t>
            </a:r>
          </a:p>
          <a:p>
            <a:r>
              <a:t>Tool: Shape Canvas: set m units; draw the 7.2 m × 3.6 m floor rectangle from Exercise Book 10B Q1. Add a Text cut-list note. Numeracy Hub Calculator for numerical checks.</a:t>
            </a:r>
          </a:p>
          <a:p/>
          <a:p>
            <a:r>
              <a:t>EXACT SCHEDULED STEPS</a:t>
            </a:r>
          </a:p>
          <a:p>
            <a:r>
              <a:t>12:45 PM–12:50 PM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7'!A25:F25</a:t>
            </a:r>
          </a:p>
          <a:p/>
          <a:p>
            <a:r>
              <a:t>12:50 PM–12:55 PM | 2 Recall | 5 min</a:t>
            </a:r>
          </a:p>
          <a:p>
            <a:r>
              <a:t>Instructor: Ask which dimensions are needed for perimeter, area and diagonal; retrieve one kerf calculation.</a:t>
            </a:r>
          </a:p>
          <a:p>
            <a:r>
              <a:t>Learners: Review previous feedback and attempt the retrieval prompt without displayed solutions.</a:t>
            </a:r>
          </a:p>
          <a:p>
            <a:r>
              <a:t>Materials/check: Identify support needs</a:t>
            </a:r>
          </a:p>
          <a:p>
            <a:r>
              <a:t>Source: 'Math Week 7'!A26:F26</a:t>
            </a:r>
          </a:p>
          <a:p/>
          <a:p>
            <a:r>
              <a:t>12:55 PM–1:10 PM | 3 Teach | 15 min</a:t>
            </a:r>
          </a:p>
          <a:p>
            <a:r>
              <a:t>Instructor: Introduce an instructor-designed carpentry adaptation of Exercise Book 10B Q1: same dimensions, using plywood rather than checker plate. Keep no-waste and rectangular-layout assumptions explicit.</a:t>
            </a:r>
          </a:p>
          <a:p>
            <a:r>
              <a:t>Learners: Annotate the example or response expectations; ask about unclear steps.</a:t>
            </a:r>
          </a:p>
          <a:p>
            <a:r>
              <a:t>Materials/check: Textbook; worked example</a:t>
            </a:r>
          </a:p>
          <a:p>
            <a:r>
              <a:t>Source: 'Math Week 7'!A27:F27</a:t>
            </a:r>
          </a:p>
          <a:p/>
          <a:p>
            <a:r>
              <a:t>1:10 PM–1:25 PM | 4 Together | 15 min</a:t>
            </a:r>
          </a:p>
          <a:p>
            <a:r>
              <a:t>Instructor: Partners annotate the floor rectangle and a separate 6,000 mm stock sketch from Exercise Book 3C Q3. Decide which information belongs to each calculation.</a:t>
            </a:r>
          </a:p>
          <a:p>
            <a:r>
              <a:t>Learners: Explain the method and check directions; work with a partner only where permitted.</a:t>
            </a:r>
          </a:p>
          <a:p>
            <a:r>
              <a:t>Materials/check: Exercise Book; tool above</a:t>
            </a:r>
          </a:p>
          <a:p>
            <a:r>
              <a:t>Source: 'Math Week 7'!A28:F28</a:t>
            </a:r>
          </a:p>
          <a:p/>
          <a:p>
            <a:r>
              <a:t>1:25 PM–1:45 PM | 5 Practise | 20 min</a:t>
            </a:r>
          </a:p>
          <a:p>
            <a:r>
              <a:t>Instructor: Draw and label the floor in Shape Canvas. Calculate perimeter, floor area and diagonal; solve Exercise Book 3C Q3 without changing its four cuts or 3 mm kerf. Record units and assumptions; do not mix the two problem contexts.</a:t>
            </a:r>
          </a:p>
          <a:p>
            <a:r>
              <a:t>Learners: Keep numbered written solutions and units. Use tools only under the conditions stated for this block.</a:t>
            </a:r>
          </a:p>
          <a:p>
            <a:r>
              <a:t>Materials/check: Paper first; tool second</a:t>
            </a:r>
          </a:p>
          <a:p>
            <a:r>
              <a:t>Source: 'Math Week 7'!A29:F29</a:t>
            </a:r>
          </a:p>
          <a:p/>
          <a:p>
            <a:r>
              <a:t>1:45 PM–1:55 PM | 6 Check | 10 min</a:t>
            </a:r>
          </a:p>
          <a:p>
            <a:r>
              <a:t>Instructor: Submit the labelled floor plan, perimeter calculation and stock offcut equation.</a:t>
            </a:r>
          </a:p>
          <a:p>
            <a:r>
              <a:t>Learners: Submit work and demonstrate the checking strategy; identify a remaining difficulty.</a:t>
            </a:r>
          </a:p>
          <a:p>
            <a:r>
              <a:t>Materials/check: Teacher answers below</a:t>
            </a:r>
          </a:p>
          <a:p>
            <a:r>
              <a:t>Source: 'Math Week 7'!A30:F30</a:t>
            </a:r>
          </a:p>
          <a:p/>
          <a:p>
            <a:r>
              <a:t>1:55 PM–2:00 PM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7'!A31:F31</a:t>
            </a:r>
          </a:p>
          <a:p/>
          <a:p>
            <a:r>
              <a:t>INSTRUCTOR ONLY: REVEAL ASSESSMENT ANSWERS AFTER THE ATTEMPT</a:t>
            </a:r>
          </a:p>
          <a:p>
            <a:r>
              <a:t>Instructor adaptation: perimeter 21.6 m; area 25.92 m²; diagonal √(7.2²+3.6²) ≈ 8.05 m. Exercise Book 3C Q3 offcut = 1,188 mm (Answer Key p.10). Floor area: Answer Key p.28. Answer Key pp.10,28,32</a:t>
            </a:r>
          </a:p>
          <a:p/>
          <a:p>
            <a:r>
              <a:t>Bring the saved sketch and written assumptions into the material-order calculation session.</a:t>
            </a:r>
          </a:p>
          <a:p/>
          <a:p>
            <a:r>
              <a:t>Sources: 'Math Week 7'!A10:E10; 'Carpentry Schedule'!B70; 'Math Week 7'!A19</a:t>
            </a:r>
          </a:p>
          <a:p>
            <a:r>
              <a:t>Navigation/resource slides support these scheduled steps and do not add instructional time.</a:t>
            </a:r>
          </a:p>
          <a:p>
            <a:r>
              <a:t>SLIDE PLACEMENT: Practise, 1:25 PM–1:45 PM. All slides with this phase share these 20 minutes; do not restart the time allocation for each slide.</a:t>
            </a:r>
          </a:p>
          <a:p/>
          <a:p>
            <a:r>
              <a:t>ACCESS EXERCISE BOOK: 3C-Q3</a:t>
            </a:r>
          </a:p>
          <a:p>
            <a:r>
              <a:t>Exact question: Four 1,200 mm pieces are cut from a 6,000 mm bar with four cuts. The kerf is 3 mm. The offcut is 6,000 − (4 × 1,200 + 4 × 3). Find it.</a:t>
            </a:r>
          </a:p>
          <a:p>
            <a:r>
              <a:t>Instructor answer: 1,188 mm</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W07-L01 | 2026-12-07 | 12:45 PM–2:00 PM | 75 minutes</a:t>
            </a:r>
          </a:p>
          <a:p>
            <a:r>
              <a:t>Carpentry drawing: floor layout and cut list</a:t>
            </a:r>
          </a:p>
          <a:p>
            <a:r>
              <a:t>Mode: Math</a:t>
            </a:r>
          </a:p>
          <a:p>
            <a:r>
              <a:t>Goal: Extract dimensions from a drawing, calculate a perimeter and offcut, and explain assumptions in a cut list.</a:t>
            </a:r>
          </a:p>
          <a:p>
            <a:r>
              <a:t>Read: Textbook Chapter 3 pp.44–51; Chapter 9 p.140; Chapter 10 pp.154–157</a:t>
            </a:r>
          </a:p>
          <a:p>
            <a:r>
              <a:t>Practise: Exercise Book 10B Q1 (p.65); 3C Q3 (p.23); 12B Q5 (p.78)</a:t>
            </a:r>
          </a:p>
          <a:p>
            <a:r>
              <a:t>Tool: Shape Canvas: set m units; draw the 7.2 m × 3.6 m floor rectangle from Exercise Book 10B Q1. Add a Text cut-list note. Numeracy Hub Calculator for numerical checks.</a:t>
            </a:r>
          </a:p>
          <a:p/>
          <a:p>
            <a:r>
              <a:t>EXACT SCHEDULED STEPS</a:t>
            </a:r>
          </a:p>
          <a:p>
            <a:r>
              <a:t>12:45 PM–12:50 PM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7'!A25:F25</a:t>
            </a:r>
          </a:p>
          <a:p/>
          <a:p>
            <a:r>
              <a:t>12:50 PM–12:55 PM | 2 Recall | 5 min</a:t>
            </a:r>
          </a:p>
          <a:p>
            <a:r>
              <a:t>Instructor: Ask which dimensions are needed for perimeter, area and diagonal; retrieve one kerf calculation.</a:t>
            </a:r>
          </a:p>
          <a:p>
            <a:r>
              <a:t>Learners: Review previous feedback and attempt the retrieval prompt without displayed solutions.</a:t>
            </a:r>
          </a:p>
          <a:p>
            <a:r>
              <a:t>Materials/check: Identify support needs</a:t>
            </a:r>
          </a:p>
          <a:p>
            <a:r>
              <a:t>Source: 'Math Week 7'!A26:F26</a:t>
            </a:r>
          </a:p>
          <a:p/>
          <a:p>
            <a:r>
              <a:t>12:55 PM–1:10 PM | 3 Teach | 15 min</a:t>
            </a:r>
          </a:p>
          <a:p>
            <a:r>
              <a:t>Instructor: Introduce an instructor-designed carpentry adaptation of Exercise Book 10B Q1: same dimensions, using plywood rather than checker plate. Keep no-waste and rectangular-layout assumptions explicit.</a:t>
            </a:r>
          </a:p>
          <a:p>
            <a:r>
              <a:t>Learners: Annotate the example or response expectations; ask about unclear steps.</a:t>
            </a:r>
          </a:p>
          <a:p>
            <a:r>
              <a:t>Materials/check: Textbook; worked example</a:t>
            </a:r>
          </a:p>
          <a:p>
            <a:r>
              <a:t>Source: 'Math Week 7'!A27:F27</a:t>
            </a:r>
          </a:p>
          <a:p/>
          <a:p>
            <a:r>
              <a:t>1:10 PM–1:25 PM | 4 Together | 15 min</a:t>
            </a:r>
          </a:p>
          <a:p>
            <a:r>
              <a:t>Instructor: Partners annotate the floor rectangle and a separate 6,000 mm stock sketch from Exercise Book 3C Q3. Decide which information belongs to each calculation.</a:t>
            </a:r>
          </a:p>
          <a:p>
            <a:r>
              <a:t>Learners: Explain the method and check directions; work with a partner only where permitted.</a:t>
            </a:r>
          </a:p>
          <a:p>
            <a:r>
              <a:t>Materials/check: Exercise Book; tool above</a:t>
            </a:r>
          </a:p>
          <a:p>
            <a:r>
              <a:t>Source: 'Math Week 7'!A28:F28</a:t>
            </a:r>
          </a:p>
          <a:p/>
          <a:p>
            <a:r>
              <a:t>1:25 PM–1:45 PM | 5 Practise | 20 min</a:t>
            </a:r>
          </a:p>
          <a:p>
            <a:r>
              <a:t>Instructor: Draw and label the floor in Shape Canvas. Calculate perimeter, floor area and diagonal; solve Exercise Book 3C Q3 without changing its four cuts or 3 mm kerf. Record units and assumptions; do not mix the two problem contexts.</a:t>
            </a:r>
          </a:p>
          <a:p>
            <a:r>
              <a:t>Learners: Keep numbered written solutions and units. Use tools only under the conditions stated for this block.</a:t>
            </a:r>
          </a:p>
          <a:p>
            <a:r>
              <a:t>Materials/check: Paper first; tool second</a:t>
            </a:r>
          </a:p>
          <a:p>
            <a:r>
              <a:t>Source: 'Math Week 7'!A29:F29</a:t>
            </a:r>
          </a:p>
          <a:p/>
          <a:p>
            <a:r>
              <a:t>1:45 PM–1:55 PM | 6 Check | 10 min</a:t>
            </a:r>
          </a:p>
          <a:p>
            <a:r>
              <a:t>Instructor: Submit the labelled floor plan, perimeter calculation and stock offcut equation.</a:t>
            </a:r>
          </a:p>
          <a:p>
            <a:r>
              <a:t>Learners: Submit work and demonstrate the checking strategy; identify a remaining difficulty.</a:t>
            </a:r>
          </a:p>
          <a:p>
            <a:r>
              <a:t>Materials/check: Teacher answers below</a:t>
            </a:r>
          </a:p>
          <a:p>
            <a:r>
              <a:t>Source: 'Math Week 7'!A30:F30</a:t>
            </a:r>
          </a:p>
          <a:p/>
          <a:p>
            <a:r>
              <a:t>1:55 PM–2:00 PM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7'!A31:F31</a:t>
            </a:r>
          </a:p>
          <a:p/>
          <a:p>
            <a:r>
              <a:t>INSTRUCTOR ONLY: REVEAL ASSESSMENT ANSWERS AFTER THE ATTEMPT</a:t>
            </a:r>
          </a:p>
          <a:p>
            <a:r>
              <a:t>Instructor adaptation: perimeter 21.6 m; area 25.92 m²; diagonal √(7.2²+3.6²) ≈ 8.05 m. Exercise Book 3C Q3 offcut = 1,188 mm (Answer Key p.10). Floor area: Answer Key p.28. Answer Key pp.10,28,32</a:t>
            </a:r>
          </a:p>
          <a:p/>
          <a:p>
            <a:r>
              <a:t>Bring the saved sketch and written assumptions into the material-order calculation session.</a:t>
            </a:r>
          </a:p>
          <a:p/>
          <a:p>
            <a:r>
              <a:t>Sources: 'Math Week 7'!A10:E10; 'Carpentry Schedule'!B70; 'Math Week 7'!A19</a:t>
            </a:r>
          </a:p>
          <a:p>
            <a:r>
              <a:t>Navigation/resource slides support these scheduled steps and do not add instructional time.</a:t>
            </a:r>
          </a:p>
          <a:p>
            <a:r>
              <a:t>SLIDE PLACEMENT: Check, 1:45 PM–1:55 PM. All slides with this phase share these 10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W07-L01 | 2026-12-07 | 12:45 PM–2:00 PM | 75 minutes</a:t>
            </a:r>
          </a:p>
          <a:p>
            <a:r>
              <a:t>Carpentry drawing: floor layout and cut list</a:t>
            </a:r>
          </a:p>
          <a:p>
            <a:r>
              <a:t>Mode: Math</a:t>
            </a:r>
          </a:p>
          <a:p>
            <a:r>
              <a:t>Goal: Extract dimensions from a drawing, calculate a perimeter and offcut, and explain assumptions in a cut list.</a:t>
            </a:r>
          </a:p>
          <a:p>
            <a:r>
              <a:t>Read: Textbook Chapter 3 pp.44–51; Chapter 9 p.140; Chapter 10 pp.154–157</a:t>
            </a:r>
          </a:p>
          <a:p>
            <a:r>
              <a:t>Practise: Exercise Book 10B Q1 (p.65); 3C Q3 (p.23); 12B Q5 (p.78)</a:t>
            </a:r>
          </a:p>
          <a:p>
            <a:r>
              <a:t>Tool: Shape Canvas: set m units; draw the 7.2 m × 3.6 m floor rectangle from Exercise Book 10B Q1. Add a Text cut-list note. Numeracy Hub Calculator for numerical checks.</a:t>
            </a:r>
          </a:p>
          <a:p/>
          <a:p>
            <a:r>
              <a:t>EXACT SCHEDULED STEPS</a:t>
            </a:r>
          </a:p>
          <a:p>
            <a:r>
              <a:t>12:45 PM–12:50 PM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7'!A25:F25</a:t>
            </a:r>
          </a:p>
          <a:p/>
          <a:p>
            <a:r>
              <a:t>12:50 PM–12:55 PM | 2 Recall | 5 min</a:t>
            </a:r>
          </a:p>
          <a:p>
            <a:r>
              <a:t>Instructor: Ask which dimensions are needed for perimeter, area and diagonal; retrieve one kerf calculation.</a:t>
            </a:r>
          </a:p>
          <a:p>
            <a:r>
              <a:t>Learners: Review previous feedback and attempt the retrieval prompt without displayed solutions.</a:t>
            </a:r>
          </a:p>
          <a:p>
            <a:r>
              <a:t>Materials/check: Identify support needs</a:t>
            </a:r>
          </a:p>
          <a:p>
            <a:r>
              <a:t>Source: 'Math Week 7'!A26:F26</a:t>
            </a:r>
          </a:p>
          <a:p/>
          <a:p>
            <a:r>
              <a:t>12:55 PM–1:10 PM | 3 Teach | 15 min</a:t>
            </a:r>
          </a:p>
          <a:p>
            <a:r>
              <a:t>Instructor: Introduce an instructor-designed carpentry adaptation of Exercise Book 10B Q1: same dimensions, using plywood rather than checker plate. Keep no-waste and rectangular-layout assumptions explicit.</a:t>
            </a:r>
          </a:p>
          <a:p>
            <a:r>
              <a:t>Learners: Annotate the example or response expectations; ask about unclear steps.</a:t>
            </a:r>
          </a:p>
          <a:p>
            <a:r>
              <a:t>Materials/check: Textbook; worked example</a:t>
            </a:r>
          </a:p>
          <a:p>
            <a:r>
              <a:t>Source: 'Math Week 7'!A27:F27</a:t>
            </a:r>
          </a:p>
          <a:p/>
          <a:p>
            <a:r>
              <a:t>1:10 PM–1:25 PM | 4 Together | 15 min</a:t>
            </a:r>
          </a:p>
          <a:p>
            <a:r>
              <a:t>Instructor: Partners annotate the floor rectangle and a separate 6,000 mm stock sketch from Exercise Book 3C Q3. Decide which information belongs to each calculation.</a:t>
            </a:r>
          </a:p>
          <a:p>
            <a:r>
              <a:t>Learners: Explain the method and check directions; work with a partner only where permitted.</a:t>
            </a:r>
          </a:p>
          <a:p>
            <a:r>
              <a:t>Materials/check: Exercise Book; tool above</a:t>
            </a:r>
          </a:p>
          <a:p>
            <a:r>
              <a:t>Source: 'Math Week 7'!A28:F28</a:t>
            </a:r>
          </a:p>
          <a:p/>
          <a:p>
            <a:r>
              <a:t>1:25 PM–1:45 PM | 5 Practise | 20 min</a:t>
            </a:r>
          </a:p>
          <a:p>
            <a:r>
              <a:t>Instructor: Draw and label the floor in Shape Canvas. Calculate perimeter, floor area and diagonal; solve Exercise Book 3C Q3 without changing its four cuts or 3 mm kerf. Record units and assumptions; do not mix the two problem contexts.</a:t>
            </a:r>
          </a:p>
          <a:p>
            <a:r>
              <a:t>Learners: Keep numbered written solutions and units. Use tools only under the conditions stated for this block.</a:t>
            </a:r>
          </a:p>
          <a:p>
            <a:r>
              <a:t>Materials/check: Paper first; tool second</a:t>
            </a:r>
          </a:p>
          <a:p>
            <a:r>
              <a:t>Source: 'Math Week 7'!A29:F29</a:t>
            </a:r>
          </a:p>
          <a:p/>
          <a:p>
            <a:r>
              <a:t>1:45 PM–1:55 PM | 6 Check | 10 min</a:t>
            </a:r>
          </a:p>
          <a:p>
            <a:r>
              <a:t>Instructor: Submit the labelled floor plan, perimeter calculation and stock offcut equation.</a:t>
            </a:r>
          </a:p>
          <a:p>
            <a:r>
              <a:t>Learners: Submit work and demonstrate the checking strategy; identify a remaining difficulty.</a:t>
            </a:r>
          </a:p>
          <a:p>
            <a:r>
              <a:t>Materials/check: Teacher answers below</a:t>
            </a:r>
          </a:p>
          <a:p>
            <a:r>
              <a:t>Source: 'Math Week 7'!A30:F30</a:t>
            </a:r>
          </a:p>
          <a:p/>
          <a:p>
            <a:r>
              <a:t>1:55 PM–2:00 PM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7'!A31:F31</a:t>
            </a:r>
          </a:p>
          <a:p/>
          <a:p>
            <a:r>
              <a:t>INSTRUCTOR ONLY: REVEAL ASSESSMENT ANSWERS AFTER THE ATTEMPT</a:t>
            </a:r>
          </a:p>
          <a:p>
            <a:r>
              <a:t>Instructor adaptation: perimeter 21.6 m; area 25.92 m²; diagonal √(7.2²+3.6²) ≈ 8.05 m. Exercise Book 3C Q3 offcut = 1,188 mm (Answer Key p.10). Floor area: Answer Key p.28. Answer Key pp.10,28,32</a:t>
            </a:r>
          </a:p>
          <a:p/>
          <a:p>
            <a:r>
              <a:t>Bring the saved sketch and written assumptions into the material-order calculation session.</a:t>
            </a:r>
          </a:p>
          <a:p/>
          <a:p>
            <a:r>
              <a:t>Sources: 'Math Week 7'!A10:E10; 'Carpentry Schedule'!B70; 'Math Week 7'!A19</a:t>
            </a:r>
          </a:p>
          <a:p>
            <a:r>
              <a:t>Navigation/resource slides support these scheduled steps and do not add instructional time.</a:t>
            </a:r>
          </a:p>
          <a:p>
            <a:r>
              <a:t>SLIDE PLACEMENT: Wrap up, 1:55 PM–2:00 PM. All slides with this phase share these 5 minutes; do not restart the time allocation for each slide.</a:t>
            </a:r>
          </a:p>
          <a:p/>
          <a:p>
            <a:r>
              <a:t>Next scheduled learning: Bring the saved sketch and written assumptions into the material-order calculation session.</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Scheduled break, 15 minutes. Resume at 2:15 PM. Do not move the following math block into the break.</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W07-L02 | 2026-12-07 | 2:15 PM–3:30 PM | 75 minutes</a:t>
            </a:r>
          </a:p>
          <a:p>
            <a:r>
              <a:t>Materials practice: sheeting and allowance</a:t>
            </a:r>
          </a:p>
          <a:p>
            <a:r>
              <a:t>Mode: Calculation Practice</a:t>
            </a:r>
          </a:p>
          <a:p>
            <a:r>
              <a:t>Goal: Use area and a stated classroom allowance to build a material quantity and distinguish an estimate from a cutting layout.</a:t>
            </a:r>
          </a:p>
          <a:p>
            <a:r>
              <a:t>Read: Textbook sections 6.4 pp.96–97; Chapter 10 pp.154–164</a:t>
            </a:r>
          </a:p>
          <a:p>
            <a:r>
              <a:t>Practise: Exercise Book 10B Q1–2 (p.65); 6B Q2 (p.41)</a:t>
            </a:r>
          </a:p>
          <a:p>
            <a:r>
              <a:t>Tool: Shape Canvas: use the floor sketch and 1.2 m × 2.4 m sheet rectangles. Numeracy Hub Calculator: compare the no-waste sheet count with the allowance calculation.</a:t>
            </a:r>
          </a:p>
          <a:p/>
          <a:p>
            <a:r>
              <a:t>EXACT SCHEDULED STEPS</a:t>
            </a:r>
          </a:p>
          <a:p>
            <a:r>
              <a:t>2:15 PM–2:20 PM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7'!A42:F42</a:t>
            </a:r>
          </a:p>
          <a:p/>
          <a:p>
            <a:r>
              <a:t>2:20 PM–2:25 PM | 2 Recall | 5 min</a:t>
            </a:r>
          </a:p>
          <a:p>
            <a:r>
              <a:t>Instructor: Retrieve the floor area and one-sheet area from the previous block. Ask why a fractional purchase quantity rounds up.</a:t>
            </a:r>
          </a:p>
          <a:p>
            <a:r>
              <a:t>Learners: Review previous feedback and attempt the retrieval prompt without displayed solutions.</a:t>
            </a:r>
          </a:p>
          <a:p>
            <a:r>
              <a:t>Materials/check: Identify support needs</a:t>
            </a:r>
          </a:p>
          <a:p>
            <a:r>
              <a:t>Source: 'Math Week 7'!A43:F43</a:t>
            </a:r>
          </a:p>
          <a:p/>
          <a:p>
            <a:r>
              <a:t>2:25 PM–2:40 PM | 3 Teach | 15 min</a:t>
            </a:r>
          </a:p>
          <a:p>
            <a:r>
              <a:t>Instructor: Work the no-waste floor quantity from Exercise Book 10B Q1. Add an explicitly instructor-designed 10% classroom allowance; this is a planning exercise, not a standard site allowance.</a:t>
            </a:r>
          </a:p>
          <a:p>
            <a:r>
              <a:t>Learners: Annotate the example or response expectations; ask about unclear steps.</a:t>
            </a:r>
          </a:p>
          <a:p>
            <a:r>
              <a:t>Materials/check: Textbook; worked example</a:t>
            </a:r>
          </a:p>
          <a:p>
            <a:r>
              <a:t>Source: 'Math Week 7'!A44:F44</a:t>
            </a:r>
          </a:p>
          <a:p/>
          <a:p>
            <a:r>
              <a:t>2:40 PM–2:55 PM | 4 Together | 15 min</a:t>
            </a:r>
          </a:p>
          <a:p>
            <a:r>
              <a:t>Instructor: Pairs lay out nine sheets as three 2.4 m lengths by three 1.2 m widths. Compare the verified no-waste layout with the separate allowance quantity.</a:t>
            </a:r>
          </a:p>
          <a:p>
            <a:r>
              <a:t>Learners: Explain the method and check directions; work with a partner only where permitted.</a:t>
            </a:r>
          </a:p>
          <a:p>
            <a:r>
              <a:t>Materials/check: Exercise Book; tool above</a:t>
            </a:r>
          </a:p>
          <a:p>
            <a:r>
              <a:t>Source: 'Math Week 7'!A45:F45</a:t>
            </a:r>
          </a:p>
          <a:p/>
          <a:p>
            <a:r>
              <a:t>2:55 PM–3:15 PM | 5 Practise | 20 min</a:t>
            </a:r>
          </a:p>
          <a:p>
            <a:r>
              <a:t>Instructor: Prepare a quantity note: floor area, sheet area, nine-sheet base and stated 10% allowance. Then solve Exercise Book 10B Q2 for coating tins. Check units, final rounding and assumptions; no prices are assumed.</a:t>
            </a:r>
          </a:p>
          <a:p>
            <a:r>
              <a:t>Learners: Keep numbered written solutions and units. Use tools only under the conditions stated for this block.</a:t>
            </a:r>
          </a:p>
          <a:p>
            <a:r>
              <a:t>Materials/check: Paper first; tool second</a:t>
            </a:r>
          </a:p>
          <a:p>
            <a:r>
              <a:t>Source: 'Math Week 7'!A46:F46</a:t>
            </a:r>
          </a:p>
          <a:p/>
          <a:p>
            <a:r>
              <a:t>3:15 PM–3:25 PM | 6 Check | 10 min</a:t>
            </a:r>
          </a:p>
          <a:p>
            <a:r>
              <a:t>Instructor: Explain the nine-sheet base, allowance order, and why an area estimate alone does not prove every cutting layout.</a:t>
            </a:r>
          </a:p>
          <a:p>
            <a:r>
              <a:t>Learners: Submit work and demonstrate the checking strategy; identify a remaining difficulty.</a:t>
            </a:r>
          </a:p>
          <a:p>
            <a:r>
              <a:t>Materials/check: Teacher answers below</a:t>
            </a:r>
          </a:p>
          <a:p>
            <a:r>
              <a:t>Source: 'Math Week 7'!A47:F47</a:t>
            </a:r>
          </a:p>
          <a:p/>
          <a:p>
            <a:r>
              <a:t>3:25 PM–3:30 PM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7'!A48:F48</a:t>
            </a:r>
          </a:p>
          <a:p/>
          <a:p>
            <a:r>
              <a:t>INSTRUCTOR ONLY: REVEAL ASSESSMENT ANSWERS AFTER THE ATTEMPT</a:t>
            </a:r>
          </a:p>
          <a:p>
            <a:r>
              <a:t>Base: 25.92/2.88 = 9 sheets. Instructor 10% allowance: 9 × 1.10 = 9.9, rounded up to 10 sheets. 10B Q2: 4.57 L, so buy 5 tins (Answer Key p.28). Answer Key pp.19,28</a:t>
            </a:r>
          </a:p>
          <a:p/>
          <a:p>
            <a:r>
              <a:t>Use the drawing and quantity note to identify individual needs for Thursday’s targeted practice.</a:t>
            </a:r>
          </a:p>
          <a:p/>
          <a:p>
            <a:r>
              <a:t>Sources: 'Math Week 7'!A11:E11; 'Carpentry Schedule'!B72; 'Math Week 7'!A36</a:t>
            </a:r>
          </a:p>
          <a:p>
            <a:r>
              <a:t>Navigation/resource slides support these scheduled steps and do not add instructional time.</a:t>
            </a:r>
          </a:p>
          <a:p>
            <a:r>
              <a:t>SLIDE PLACEMENT: Start, 2:15 PM–2:20 PM.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W07-L02 | 2026-12-07 | 2:15 PM–3:30 PM | 75 minutes</a:t>
            </a:r>
          </a:p>
          <a:p>
            <a:r>
              <a:t>Materials practice: sheeting and allowance</a:t>
            </a:r>
          </a:p>
          <a:p>
            <a:r>
              <a:t>Mode: Calculation Practice</a:t>
            </a:r>
          </a:p>
          <a:p>
            <a:r>
              <a:t>Goal: Use area and a stated classroom allowance to build a material quantity and distinguish an estimate from a cutting layout.</a:t>
            </a:r>
          </a:p>
          <a:p>
            <a:r>
              <a:t>Read: Textbook sections 6.4 pp.96–97; Chapter 10 pp.154–164</a:t>
            </a:r>
          </a:p>
          <a:p>
            <a:r>
              <a:t>Practise: Exercise Book 10B Q1–2 (p.65); 6B Q2 (p.41)</a:t>
            </a:r>
          </a:p>
          <a:p>
            <a:r>
              <a:t>Tool: Shape Canvas: use the floor sketch and 1.2 m × 2.4 m sheet rectangles. Numeracy Hub Calculator: compare the no-waste sheet count with the allowance calculation.</a:t>
            </a:r>
          </a:p>
          <a:p/>
          <a:p>
            <a:r>
              <a:t>EXACT SCHEDULED STEPS</a:t>
            </a:r>
          </a:p>
          <a:p>
            <a:r>
              <a:t>2:15 PM–2:20 PM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7'!A42:F42</a:t>
            </a:r>
          </a:p>
          <a:p/>
          <a:p>
            <a:r>
              <a:t>2:20 PM–2:25 PM | 2 Recall | 5 min</a:t>
            </a:r>
          </a:p>
          <a:p>
            <a:r>
              <a:t>Instructor: Retrieve the floor area and one-sheet area from the previous block. Ask why a fractional purchase quantity rounds up.</a:t>
            </a:r>
          </a:p>
          <a:p>
            <a:r>
              <a:t>Learners: Review previous feedback and attempt the retrieval prompt without displayed solutions.</a:t>
            </a:r>
          </a:p>
          <a:p>
            <a:r>
              <a:t>Materials/check: Identify support needs</a:t>
            </a:r>
          </a:p>
          <a:p>
            <a:r>
              <a:t>Source: 'Math Week 7'!A43:F43</a:t>
            </a:r>
          </a:p>
          <a:p/>
          <a:p>
            <a:r>
              <a:t>2:25 PM–2:40 PM | 3 Teach | 15 min</a:t>
            </a:r>
          </a:p>
          <a:p>
            <a:r>
              <a:t>Instructor: Work the no-waste floor quantity from Exercise Book 10B Q1. Add an explicitly instructor-designed 10% classroom allowance; this is a planning exercise, not a standard site allowance.</a:t>
            </a:r>
          </a:p>
          <a:p>
            <a:r>
              <a:t>Learners: Annotate the example or response expectations; ask about unclear steps.</a:t>
            </a:r>
          </a:p>
          <a:p>
            <a:r>
              <a:t>Materials/check: Textbook; worked example</a:t>
            </a:r>
          </a:p>
          <a:p>
            <a:r>
              <a:t>Source: 'Math Week 7'!A44:F44</a:t>
            </a:r>
          </a:p>
          <a:p/>
          <a:p>
            <a:r>
              <a:t>2:40 PM–2:55 PM | 4 Together | 15 min</a:t>
            </a:r>
          </a:p>
          <a:p>
            <a:r>
              <a:t>Instructor: Pairs lay out nine sheets as three 2.4 m lengths by three 1.2 m widths. Compare the verified no-waste layout with the separate allowance quantity.</a:t>
            </a:r>
          </a:p>
          <a:p>
            <a:r>
              <a:t>Learners: Explain the method and check directions; work with a partner only where permitted.</a:t>
            </a:r>
          </a:p>
          <a:p>
            <a:r>
              <a:t>Materials/check: Exercise Book; tool above</a:t>
            </a:r>
          </a:p>
          <a:p>
            <a:r>
              <a:t>Source: 'Math Week 7'!A45:F45</a:t>
            </a:r>
          </a:p>
          <a:p/>
          <a:p>
            <a:r>
              <a:t>2:55 PM–3:15 PM | 5 Practise | 20 min</a:t>
            </a:r>
          </a:p>
          <a:p>
            <a:r>
              <a:t>Instructor: Prepare a quantity note: floor area, sheet area, nine-sheet base and stated 10% allowance. Then solve Exercise Book 10B Q2 for coating tins. Check units, final rounding and assumptions; no prices are assumed.</a:t>
            </a:r>
          </a:p>
          <a:p>
            <a:r>
              <a:t>Learners: Keep numbered written solutions and units. Use tools only under the conditions stated for this block.</a:t>
            </a:r>
          </a:p>
          <a:p>
            <a:r>
              <a:t>Materials/check: Paper first; tool second</a:t>
            </a:r>
          </a:p>
          <a:p>
            <a:r>
              <a:t>Source: 'Math Week 7'!A46:F46</a:t>
            </a:r>
          </a:p>
          <a:p/>
          <a:p>
            <a:r>
              <a:t>3:15 PM–3:25 PM | 6 Check | 10 min</a:t>
            </a:r>
          </a:p>
          <a:p>
            <a:r>
              <a:t>Instructor: Explain the nine-sheet base, allowance order, and why an area estimate alone does not prove every cutting layout.</a:t>
            </a:r>
          </a:p>
          <a:p>
            <a:r>
              <a:t>Learners: Submit work and demonstrate the checking strategy; identify a remaining difficulty.</a:t>
            </a:r>
          </a:p>
          <a:p>
            <a:r>
              <a:t>Materials/check: Teacher answers below</a:t>
            </a:r>
          </a:p>
          <a:p>
            <a:r>
              <a:t>Source: 'Math Week 7'!A47:F47</a:t>
            </a:r>
          </a:p>
          <a:p/>
          <a:p>
            <a:r>
              <a:t>3:25 PM–3:30 PM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7'!A48:F48</a:t>
            </a:r>
          </a:p>
          <a:p/>
          <a:p>
            <a:r>
              <a:t>INSTRUCTOR ONLY: REVEAL ASSESSMENT ANSWERS AFTER THE ATTEMPT</a:t>
            </a:r>
          </a:p>
          <a:p>
            <a:r>
              <a:t>Base: 25.92/2.88 = 9 sheets. Instructor 10% allowance: 9 × 1.10 = 9.9, rounded up to 10 sheets. 10B Q2: 4.57 L, so buy 5 tins (Answer Key p.28). Answer Key pp.19,28</a:t>
            </a:r>
          </a:p>
          <a:p/>
          <a:p>
            <a:r>
              <a:t>Use the drawing and quantity note to identify individual needs for Thursday’s targeted practice.</a:t>
            </a:r>
          </a:p>
          <a:p/>
          <a:p>
            <a:r>
              <a:t>Sources: 'Math Week 7'!A11:E11; 'Carpentry Schedule'!B72; 'Math Week 7'!A36</a:t>
            </a:r>
          </a:p>
          <a:p>
            <a:r>
              <a:t>Navigation/resource slides support these scheduled steps and do not add instructional time.</a:t>
            </a:r>
          </a:p>
          <a:p>
            <a:r>
              <a:t>SLIDE PLACEMENT: Recall, 2:20 PM–2:25 PM.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W07-L02 | 2026-12-07 | 2:15 PM–3:30 PM | 75 minutes</a:t>
            </a:r>
          </a:p>
          <a:p>
            <a:r>
              <a:t>Materials practice: sheeting and allowance</a:t>
            </a:r>
          </a:p>
          <a:p>
            <a:r>
              <a:t>Mode: Calculation Practice</a:t>
            </a:r>
          </a:p>
          <a:p>
            <a:r>
              <a:t>Goal: Use area and a stated classroom allowance to build a material quantity and distinguish an estimate from a cutting layout.</a:t>
            </a:r>
          </a:p>
          <a:p>
            <a:r>
              <a:t>Read: Textbook sections 6.4 pp.96–97; Chapter 10 pp.154–164</a:t>
            </a:r>
          </a:p>
          <a:p>
            <a:r>
              <a:t>Practise: Exercise Book 10B Q1–2 (p.65); 6B Q2 (p.41)</a:t>
            </a:r>
          </a:p>
          <a:p>
            <a:r>
              <a:t>Tool: Shape Canvas: use the floor sketch and 1.2 m × 2.4 m sheet rectangles. Numeracy Hub Calculator: compare the no-waste sheet count with the allowance calculation.</a:t>
            </a:r>
          </a:p>
          <a:p/>
          <a:p>
            <a:r>
              <a:t>EXACT SCHEDULED STEPS</a:t>
            </a:r>
          </a:p>
          <a:p>
            <a:r>
              <a:t>2:15 PM–2:20 PM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7'!A42:F42</a:t>
            </a:r>
          </a:p>
          <a:p/>
          <a:p>
            <a:r>
              <a:t>2:20 PM–2:25 PM | 2 Recall | 5 min</a:t>
            </a:r>
          </a:p>
          <a:p>
            <a:r>
              <a:t>Instructor: Retrieve the floor area and one-sheet area from the previous block. Ask why a fractional purchase quantity rounds up.</a:t>
            </a:r>
          </a:p>
          <a:p>
            <a:r>
              <a:t>Learners: Review previous feedback and attempt the retrieval prompt without displayed solutions.</a:t>
            </a:r>
          </a:p>
          <a:p>
            <a:r>
              <a:t>Materials/check: Identify support needs</a:t>
            </a:r>
          </a:p>
          <a:p>
            <a:r>
              <a:t>Source: 'Math Week 7'!A43:F43</a:t>
            </a:r>
          </a:p>
          <a:p/>
          <a:p>
            <a:r>
              <a:t>2:25 PM–2:40 PM | 3 Teach | 15 min</a:t>
            </a:r>
          </a:p>
          <a:p>
            <a:r>
              <a:t>Instructor: Work the no-waste floor quantity from Exercise Book 10B Q1. Add an explicitly instructor-designed 10% classroom allowance; this is a planning exercise, not a standard site allowance.</a:t>
            </a:r>
          </a:p>
          <a:p>
            <a:r>
              <a:t>Learners: Annotate the example or response expectations; ask about unclear steps.</a:t>
            </a:r>
          </a:p>
          <a:p>
            <a:r>
              <a:t>Materials/check: Textbook; worked example</a:t>
            </a:r>
          </a:p>
          <a:p>
            <a:r>
              <a:t>Source: 'Math Week 7'!A44:F44</a:t>
            </a:r>
          </a:p>
          <a:p/>
          <a:p>
            <a:r>
              <a:t>2:40 PM–2:55 PM | 4 Together | 15 min</a:t>
            </a:r>
          </a:p>
          <a:p>
            <a:r>
              <a:t>Instructor: Pairs lay out nine sheets as three 2.4 m lengths by three 1.2 m widths. Compare the verified no-waste layout with the separate allowance quantity.</a:t>
            </a:r>
          </a:p>
          <a:p>
            <a:r>
              <a:t>Learners: Explain the method and check directions; work with a partner only where permitted.</a:t>
            </a:r>
          </a:p>
          <a:p>
            <a:r>
              <a:t>Materials/check: Exercise Book; tool above</a:t>
            </a:r>
          </a:p>
          <a:p>
            <a:r>
              <a:t>Source: 'Math Week 7'!A45:F45</a:t>
            </a:r>
          </a:p>
          <a:p/>
          <a:p>
            <a:r>
              <a:t>2:55 PM–3:15 PM | 5 Practise | 20 min</a:t>
            </a:r>
          </a:p>
          <a:p>
            <a:r>
              <a:t>Instructor: Prepare a quantity note: floor area, sheet area, nine-sheet base and stated 10% allowance. Then solve Exercise Book 10B Q2 for coating tins. Check units, final rounding and assumptions; no prices are assumed.</a:t>
            </a:r>
          </a:p>
          <a:p>
            <a:r>
              <a:t>Learners: Keep numbered written solutions and units. Use tools only under the conditions stated for this block.</a:t>
            </a:r>
          </a:p>
          <a:p>
            <a:r>
              <a:t>Materials/check: Paper first; tool second</a:t>
            </a:r>
          </a:p>
          <a:p>
            <a:r>
              <a:t>Source: 'Math Week 7'!A46:F46</a:t>
            </a:r>
          </a:p>
          <a:p/>
          <a:p>
            <a:r>
              <a:t>3:15 PM–3:25 PM | 6 Check | 10 min</a:t>
            </a:r>
          </a:p>
          <a:p>
            <a:r>
              <a:t>Instructor: Explain the nine-sheet base, allowance order, and why an area estimate alone does not prove every cutting layout.</a:t>
            </a:r>
          </a:p>
          <a:p>
            <a:r>
              <a:t>Learners: Submit work and demonstrate the checking strategy; identify a remaining difficulty.</a:t>
            </a:r>
          </a:p>
          <a:p>
            <a:r>
              <a:t>Materials/check: Teacher answers below</a:t>
            </a:r>
          </a:p>
          <a:p>
            <a:r>
              <a:t>Source: 'Math Week 7'!A47:F47</a:t>
            </a:r>
          </a:p>
          <a:p/>
          <a:p>
            <a:r>
              <a:t>3:25 PM–3:30 PM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7'!A48:F48</a:t>
            </a:r>
          </a:p>
          <a:p/>
          <a:p>
            <a:r>
              <a:t>INSTRUCTOR ONLY: REVEAL ASSESSMENT ANSWERS AFTER THE ATTEMPT</a:t>
            </a:r>
          </a:p>
          <a:p>
            <a:r>
              <a:t>Base: 25.92/2.88 = 9 sheets. Instructor 10% allowance: 9 × 1.10 = 9.9, rounded up to 10 sheets. 10B Q2: 4.57 L, so buy 5 tins (Answer Key p.28). Answer Key pp.19,28</a:t>
            </a:r>
          </a:p>
          <a:p/>
          <a:p>
            <a:r>
              <a:t>Use the drawing and quantity note to identify individual needs for Thursday’s targeted practice.</a:t>
            </a:r>
          </a:p>
          <a:p/>
          <a:p>
            <a:r>
              <a:t>Sources: 'Math Week 7'!A11:E11; 'Carpentry Schedule'!B72; 'Math Week 7'!A36</a:t>
            </a:r>
          </a:p>
          <a:p>
            <a:r>
              <a:t>Navigation/resource slides support these scheduled steps and do not add instructional time.</a:t>
            </a:r>
          </a:p>
          <a:p>
            <a:r>
              <a:t>SLIDE PLACEMENT: Teach, 2:25 PM–2:40 PM. All slides with this phase share these 15 minutes; do not restart the time allocation for each slide.</a:t>
            </a:r>
          </a:p>
          <a:p/>
          <a:p>
            <a:r>
              <a:t>Teaching content sources:</a:t>
            </a:r>
          </a:p>
          <a:p>
            <a:r>
              <a:t>schedule_math_audit.json: 'Math Week 7'!A36</a:t>
            </a:r>
          </a:p>
          <a:p>
            <a:r>
              <a:t>schedule_math_audit.json: 'Math Week 7'!B38; 'Math Week 7'!B39; 'Math Week 7'!B40</a:t>
            </a:r>
          </a:p>
          <a:p>
            <a:r>
              <a:t>schedule_math_audit.json: 'Math Week 7'!A43:F43, 'Math Week 7'!A44:F44, 'Math Week 7'!A45:F45, 'Math Week 7'!A46:F46, 'Math Week 7'!A47:F47</a:t>
            </a:r>
          </a:p>
          <a:p>
            <a:r>
              <a:t>source_deck_audit.json: ACCESS CARPENTRY SLIDES.pptx slides 142, 143, 144</a:t>
            </a:r>
          </a:p>
          <a:p>
            <a:r>
              <a:t>Textbook sections 6.4 pp.96–97; Chapter 10 pp.154–164</a:t>
            </a:r>
          </a:p>
          <a:p>
            <a:r>
              <a:t>ACCESS-Trades-Numeracy-Textbook.pdf printed/PDF p.96; selected visual verified in actual PDF text and rendered page</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W07-L02 | 2026-12-07 | 2:15 PM–3:30 PM | 75 minutes</a:t>
            </a:r>
          </a:p>
          <a:p>
            <a:r>
              <a:t>Materials practice: sheeting and allowance</a:t>
            </a:r>
          </a:p>
          <a:p>
            <a:r>
              <a:t>Mode: Calculation Practice</a:t>
            </a:r>
          </a:p>
          <a:p>
            <a:r>
              <a:t>Goal: Use area and a stated classroom allowance to build a material quantity and distinguish an estimate from a cutting layout.</a:t>
            </a:r>
          </a:p>
          <a:p>
            <a:r>
              <a:t>Read: Textbook sections 6.4 pp.96–97; Chapter 10 pp.154–164</a:t>
            </a:r>
          </a:p>
          <a:p>
            <a:r>
              <a:t>Practise: Exercise Book 10B Q1–2 (p.65); 6B Q2 (p.41)</a:t>
            </a:r>
          </a:p>
          <a:p>
            <a:r>
              <a:t>Tool: Shape Canvas: use the floor sketch and 1.2 m × 2.4 m sheet rectangles. Numeracy Hub Calculator: compare the no-waste sheet count with the allowance calculation.</a:t>
            </a:r>
          </a:p>
          <a:p/>
          <a:p>
            <a:r>
              <a:t>EXACT SCHEDULED STEPS</a:t>
            </a:r>
          </a:p>
          <a:p>
            <a:r>
              <a:t>2:15 PM–2:20 PM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7'!A42:F42</a:t>
            </a:r>
          </a:p>
          <a:p/>
          <a:p>
            <a:r>
              <a:t>2:20 PM–2:25 PM | 2 Recall | 5 min</a:t>
            </a:r>
          </a:p>
          <a:p>
            <a:r>
              <a:t>Instructor: Retrieve the floor area and one-sheet area from the previous block. Ask why a fractional purchase quantity rounds up.</a:t>
            </a:r>
          </a:p>
          <a:p>
            <a:r>
              <a:t>Learners: Review previous feedback and attempt the retrieval prompt without displayed solutions.</a:t>
            </a:r>
          </a:p>
          <a:p>
            <a:r>
              <a:t>Materials/check: Identify support needs</a:t>
            </a:r>
          </a:p>
          <a:p>
            <a:r>
              <a:t>Source: 'Math Week 7'!A43:F43</a:t>
            </a:r>
          </a:p>
          <a:p/>
          <a:p>
            <a:r>
              <a:t>2:25 PM–2:40 PM | 3 Teach | 15 min</a:t>
            </a:r>
          </a:p>
          <a:p>
            <a:r>
              <a:t>Instructor: Work the no-waste floor quantity from Exercise Book 10B Q1. Add an explicitly instructor-designed 10% classroom allowance; this is a planning exercise, not a standard site allowance.</a:t>
            </a:r>
          </a:p>
          <a:p>
            <a:r>
              <a:t>Learners: Annotate the example or response expectations; ask about unclear steps.</a:t>
            </a:r>
          </a:p>
          <a:p>
            <a:r>
              <a:t>Materials/check: Textbook; worked example</a:t>
            </a:r>
          </a:p>
          <a:p>
            <a:r>
              <a:t>Source: 'Math Week 7'!A44:F44</a:t>
            </a:r>
          </a:p>
          <a:p/>
          <a:p>
            <a:r>
              <a:t>2:40 PM–2:55 PM | 4 Together | 15 min</a:t>
            </a:r>
          </a:p>
          <a:p>
            <a:r>
              <a:t>Instructor: Pairs lay out nine sheets as three 2.4 m lengths by three 1.2 m widths. Compare the verified no-waste layout with the separate allowance quantity.</a:t>
            </a:r>
          </a:p>
          <a:p>
            <a:r>
              <a:t>Learners: Explain the method and check directions; work with a partner only where permitted.</a:t>
            </a:r>
          </a:p>
          <a:p>
            <a:r>
              <a:t>Materials/check: Exercise Book; tool above</a:t>
            </a:r>
          </a:p>
          <a:p>
            <a:r>
              <a:t>Source: 'Math Week 7'!A45:F45</a:t>
            </a:r>
          </a:p>
          <a:p/>
          <a:p>
            <a:r>
              <a:t>2:55 PM–3:15 PM | 5 Practise | 20 min</a:t>
            </a:r>
          </a:p>
          <a:p>
            <a:r>
              <a:t>Instructor: Prepare a quantity note: floor area, sheet area, nine-sheet base and stated 10% allowance. Then solve Exercise Book 10B Q2 for coating tins. Check units, final rounding and assumptions; no prices are assumed.</a:t>
            </a:r>
          </a:p>
          <a:p>
            <a:r>
              <a:t>Learners: Keep numbered written solutions and units. Use tools only under the conditions stated for this block.</a:t>
            </a:r>
          </a:p>
          <a:p>
            <a:r>
              <a:t>Materials/check: Paper first; tool second</a:t>
            </a:r>
          </a:p>
          <a:p>
            <a:r>
              <a:t>Source: 'Math Week 7'!A46:F46</a:t>
            </a:r>
          </a:p>
          <a:p/>
          <a:p>
            <a:r>
              <a:t>3:15 PM–3:25 PM | 6 Check | 10 min</a:t>
            </a:r>
          </a:p>
          <a:p>
            <a:r>
              <a:t>Instructor: Explain the nine-sheet base, allowance order, and why an area estimate alone does not prove every cutting layout.</a:t>
            </a:r>
          </a:p>
          <a:p>
            <a:r>
              <a:t>Learners: Submit work and demonstrate the checking strategy; identify a remaining difficulty.</a:t>
            </a:r>
          </a:p>
          <a:p>
            <a:r>
              <a:t>Materials/check: Teacher answers below</a:t>
            </a:r>
          </a:p>
          <a:p>
            <a:r>
              <a:t>Source: 'Math Week 7'!A47:F47</a:t>
            </a:r>
          </a:p>
          <a:p/>
          <a:p>
            <a:r>
              <a:t>3:25 PM–3:30 PM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7'!A48:F48</a:t>
            </a:r>
          </a:p>
          <a:p/>
          <a:p>
            <a:r>
              <a:t>INSTRUCTOR ONLY: REVEAL ASSESSMENT ANSWERS AFTER THE ATTEMPT</a:t>
            </a:r>
          </a:p>
          <a:p>
            <a:r>
              <a:t>Base: 25.92/2.88 = 9 sheets. Instructor 10% allowance: 9 × 1.10 = 9.9, rounded up to 10 sheets. 10B Q2: 4.57 L, so buy 5 tins (Answer Key p.28). Answer Key pp.19,28</a:t>
            </a:r>
          </a:p>
          <a:p/>
          <a:p>
            <a:r>
              <a:t>Use the drawing and quantity note to identify individual needs for Thursday’s targeted practice.</a:t>
            </a:r>
          </a:p>
          <a:p/>
          <a:p>
            <a:r>
              <a:t>Sources: 'Math Week 7'!A11:E11; 'Carpentry Schedule'!B72; 'Math Week 7'!A36</a:t>
            </a:r>
          </a:p>
          <a:p>
            <a:r>
              <a:t>Navigation/resource slides support these scheduled steps and do not add instructional time.</a:t>
            </a:r>
          </a:p>
          <a:p>
            <a:r>
              <a:t>SLIDE PLACEMENT: Teach, 2:25 PM–2:40 PM. All slides with this phase share these 15 minutes; do not restart the time allocation for each slide.</a:t>
            </a:r>
          </a:p>
          <a:p/>
          <a:p>
            <a:r>
              <a:t>Teaching content sources:</a:t>
            </a:r>
          </a:p>
          <a:p>
            <a:r>
              <a:t>schedule_math_audit.json: 'Math Week 7'!A36</a:t>
            </a:r>
          </a:p>
          <a:p>
            <a:r>
              <a:t>schedule_math_audit.json: 'Math Week 7'!B38; 'Math Week 7'!B39; 'Math Week 7'!B40</a:t>
            </a:r>
          </a:p>
          <a:p>
            <a:r>
              <a:t>schedule_math_audit.json: 'Math Week 7'!A43:F43, 'Math Week 7'!A44:F44, 'Math Week 7'!A45:F45, 'Math Week 7'!A46:F46, 'Math Week 7'!A47:F47</a:t>
            </a:r>
          </a:p>
          <a:p>
            <a:r>
              <a:t>source_deck_audit.json: ACCESS CARPENTRY SLIDES.pptx slides 142, 143, 144</a:t>
            </a:r>
          </a:p>
          <a:p>
            <a:r>
              <a:t>Textbook sections 6.4 pp.96–97; Chapter 10 pp.154–164</a:t>
            </a:r>
          </a:p>
          <a:p>
            <a:r>
              <a:t>ACCESS-Trades-Numeracy-Textbook.pdf printed/PDF p.96; selected visual verified in actual PDF text and rendered page</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W07-L02 | 2026-12-07 | 2:15 PM–3:30 PM | 75 minutes</a:t>
            </a:r>
          </a:p>
          <a:p>
            <a:r>
              <a:t>Materials practice: sheeting and allowance</a:t>
            </a:r>
          </a:p>
          <a:p>
            <a:r>
              <a:t>Mode: Calculation Practice</a:t>
            </a:r>
          </a:p>
          <a:p>
            <a:r>
              <a:t>Goal: Use area and a stated classroom allowance to build a material quantity and distinguish an estimate from a cutting layout.</a:t>
            </a:r>
          </a:p>
          <a:p>
            <a:r>
              <a:t>Read: Textbook sections 6.4 pp.96–97; Chapter 10 pp.154–164</a:t>
            </a:r>
          </a:p>
          <a:p>
            <a:r>
              <a:t>Practise: Exercise Book 10B Q1–2 (p.65); 6B Q2 (p.41)</a:t>
            </a:r>
          </a:p>
          <a:p>
            <a:r>
              <a:t>Tool: Shape Canvas: use the floor sketch and 1.2 m × 2.4 m sheet rectangles. Numeracy Hub Calculator: compare the no-waste sheet count with the allowance calculation.</a:t>
            </a:r>
          </a:p>
          <a:p/>
          <a:p>
            <a:r>
              <a:t>EXACT SCHEDULED STEPS</a:t>
            </a:r>
          </a:p>
          <a:p>
            <a:r>
              <a:t>2:15 PM–2:20 PM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7'!A42:F42</a:t>
            </a:r>
          </a:p>
          <a:p/>
          <a:p>
            <a:r>
              <a:t>2:20 PM–2:25 PM | 2 Recall | 5 min</a:t>
            </a:r>
          </a:p>
          <a:p>
            <a:r>
              <a:t>Instructor: Retrieve the floor area and one-sheet area from the previous block. Ask why a fractional purchase quantity rounds up.</a:t>
            </a:r>
          </a:p>
          <a:p>
            <a:r>
              <a:t>Learners: Review previous feedback and attempt the retrieval prompt without displayed solutions.</a:t>
            </a:r>
          </a:p>
          <a:p>
            <a:r>
              <a:t>Materials/check: Identify support needs</a:t>
            </a:r>
          </a:p>
          <a:p>
            <a:r>
              <a:t>Source: 'Math Week 7'!A43:F43</a:t>
            </a:r>
          </a:p>
          <a:p/>
          <a:p>
            <a:r>
              <a:t>2:25 PM–2:40 PM | 3 Teach | 15 min</a:t>
            </a:r>
          </a:p>
          <a:p>
            <a:r>
              <a:t>Instructor: Work the no-waste floor quantity from Exercise Book 10B Q1. Add an explicitly instructor-designed 10% classroom allowance; this is a planning exercise, not a standard site allowance.</a:t>
            </a:r>
          </a:p>
          <a:p>
            <a:r>
              <a:t>Learners: Annotate the example or response expectations; ask about unclear steps.</a:t>
            </a:r>
          </a:p>
          <a:p>
            <a:r>
              <a:t>Materials/check: Textbook; worked example</a:t>
            </a:r>
          </a:p>
          <a:p>
            <a:r>
              <a:t>Source: 'Math Week 7'!A44:F44</a:t>
            </a:r>
          </a:p>
          <a:p/>
          <a:p>
            <a:r>
              <a:t>2:40 PM–2:55 PM | 4 Together | 15 min</a:t>
            </a:r>
          </a:p>
          <a:p>
            <a:r>
              <a:t>Instructor: Pairs lay out nine sheets as three 2.4 m lengths by three 1.2 m widths. Compare the verified no-waste layout with the separate allowance quantity.</a:t>
            </a:r>
          </a:p>
          <a:p>
            <a:r>
              <a:t>Learners: Explain the method and check directions; work with a partner only where permitted.</a:t>
            </a:r>
          </a:p>
          <a:p>
            <a:r>
              <a:t>Materials/check: Exercise Book; tool above</a:t>
            </a:r>
          </a:p>
          <a:p>
            <a:r>
              <a:t>Source: 'Math Week 7'!A45:F45</a:t>
            </a:r>
          </a:p>
          <a:p/>
          <a:p>
            <a:r>
              <a:t>2:55 PM–3:15 PM | 5 Practise | 20 min</a:t>
            </a:r>
          </a:p>
          <a:p>
            <a:r>
              <a:t>Instructor: Prepare a quantity note: floor area, sheet area, nine-sheet base and stated 10% allowance. Then solve Exercise Book 10B Q2 for coating tins. Check units, final rounding and assumptions; no prices are assumed.</a:t>
            </a:r>
          </a:p>
          <a:p>
            <a:r>
              <a:t>Learners: Keep numbered written solutions and units. Use tools only under the conditions stated for this block.</a:t>
            </a:r>
          </a:p>
          <a:p>
            <a:r>
              <a:t>Materials/check: Paper first; tool second</a:t>
            </a:r>
          </a:p>
          <a:p>
            <a:r>
              <a:t>Source: 'Math Week 7'!A46:F46</a:t>
            </a:r>
          </a:p>
          <a:p/>
          <a:p>
            <a:r>
              <a:t>3:15 PM–3:25 PM | 6 Check | 10 min</a:t>
            </a:r>
          </a:p>
          <a:p>
            <a:r>
              <a:t>Instructor: Explain the nine-sheet base, allowance order, and why an area estimate alone does not prove every cutting layout.</a:t>
            </a:r>
          </a:p>
          <a:p>
            <a:r>
              <a:t>Learners: Submit work and demonstrate the checking strategy; identify a remaining difficulty.</a:t>
            </a:r>
          </a:p>
          <a:p>
            <a:r>
              <a:t>Materials/check: Teacher answers below</a:t>
            </a:r>
          </a:p>
          <a:p>
            <a:r>
              <a:t>Source: 'Math Week 7'!A47:F47</a:t>
            </a:r>
          </a:p>
          <a:p/>
          <a:p>
            <a:r>
              <a:t>3:25 PM–3:30 PM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7'!A48:F48</a:t>
            </a:r>
          </a:p>
          <a:p/>
          <a:p>
            <a:r>
              <a:t>INSTRUCTOR ONLY: REVEAL ASSESSMENT ANSWERS AFTER THE ATTEMPT</a:t>
            </a:r>
          </a:p>
          <a:p>
            <a:r>
              <a:t>Base: 25.92/2.88 = 9 sheets. Instructor 10% allowance: 9 × 1.10 = 9.9, rounded up to 10 sheets. 10B Q2: 4.57 L, so buy 5 tins (Answer Key p.28). Answer Key pp.19,28</a:t>
            </a:r>
          </a:p>
          <a:p/>
          <a:p>
            <a:r>
              <a:t>Use the drawing and quantity note to identify individual needs for Thursday’s targeted practice.</a:t>
            </a:r>
          </a:p>
          <a:p/>
          <a:p>
            <a:r>
              <a:t>Sources: 'Math Week 7'!A11:E11; 'Carpentry Schedule'!B72; 'Math Week 7'!A36</a:t>
            </a:r>
          </a:p>
          <a:p>
            <a:r>
              <a:t>Navigation/resource slides support these scheduled steps and do not add instructional time.</a:t>
            </a:r>
          </a:p>
          <a:p>
            <a:r>
              <a:t>SLIDE PLACEMENT: Teach, 2:25 PM–2:40 PM. All slides with this phase share these 15 minutes; do not restart the time allocation for each slide.</a:t>
            </a:r>
          </a:p>
          <a:p/>
          <a:p>
            <a:r>
              <a:t>Textbook visual: Example 6.5: a stated allowance is added to the original quantity.</a:t>
            </a:r>
          </a:p>
          <a:p>
            <a:r>
              <a:t>Exact PDF/printed page: 96. Excerpt reproduced from the supplied ACCESS Textbook.</a:t>
            </a:r>
          </a:p>
          <a:p>
            <a:r>
              <a:t>Example 6.5: visual of 85 m plus a stated 10% allowance and whole-length rounding. Crop to the example. This is a reference illustration of the method; retain the scheduled floor quantities and explicitly classroom-only 10% allowance.</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W07-L02 | 2026-12-07 | 2:15 PM–3:30 PM | 75 minutes</a:t>
            </a:r>
          </a:p>
          <a:p>
            <a:r>
              <a:t>Materials practice: sheeting and allowance</a:t>
            </a:r>
          </a:p>
          <a:p>
            <a:r>
              <a:t>Mode: Calculation Practice</a:t>
            </a:r>
          </a:p>
          <a:p>
            <a:r>
              <a:t>Goal: Use area and a stated classroom allowance to build a material quantity and distinguish an estimate from a cutting layout.</a:t>
            </a:r>
          </a:p>
          <a:p>
            <a:r>
              <a:t>Read: Textbook sections 6.4 pp.96–97; Chapter 10 pp.154–164</a:t>
            </a:r>
          </a:p>
          <a:p>
            <a:r>
              <a:t>Practise: Exercise Book 10B Q1–2 (p.65); 6B Q2 (p.41)</a:t>
            </a:r>
          </a:p>
          <a:p>
            <a:r>
              <a:t>Tool: Shape Canvas: use the floor sketch and 1.2 m × 2.4 m sheet rectangles. Numeracy Hub Calculator: compare the no-waste sheet count with the allowance calculation.</a:t>
            </a:r>
          </a:p>
          <a:p/>
          <a:p>
            <a:r>
              <a:t>EXACT SCHEDULED STEPS</a:t>
            </a:r>
          </a:p>
          <a:p>
            <a:r>
              <a:t>2:15 PM–2:20 PM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7'!A42:F42</a:t>
            </a:r>
          </a:p>
          <a:p/>
          <a:p>
            <a:r>
              <a:t>2:20 PM–2:25 PM | 2 Recall | 5 min</a:t>
            </a:r>
          </a:p>
          <a:p>
            <a:r>
              <a:t>Instructor: Retrieve the floor area and one-sheet area from the previous block. Ask why a fractional purchase quantity rounds up.</a:t>
            </a:r>
          </a:p>
          <a:p>
            <a:r>
              <a:t>Learners: Review previous feedback and attempt the retrieval prompt without displayed solutions.</a:t>
            </a:r>
          </a:p>
          <a:p>
            <a:r>
              <a:t>Materials/check: Identify support needs</a:t>
            </a:r>
          </a:p>
          <a:p>
            <a:r>
              <a:t>Source: 'Math Week 7'!A43:F43</a:t>
            </a:r>
          </a:p>
          <a:p/>
          <a:p>
            <a:r>
              <a:t>2:25 PM–2:40 PM | 3 Teach | 15 min</a:t>
            </a:r>
          </a:p>
          <a:p>
            <a:r>
              <a:t>Instructor: Work the no-waste floor quantity from Exercise Book 10B Q1. Add an explicitly instructor-designed 10% classroom allowance; this is a planning exercise, not a standard site allowance.</a:t>
            </a:r>
          </a:p>
          <a:p>
            <a:r>
              <a:t>Learners: Annotate the example or response expectations; ask about unclear steps.</a:t>
            </a:r>
          </a:p>
          <a:p>
            <a:r>
              <a:t>Materials/check: Textbook; worked example</a:t>
            </a:r>
          </a:p>
          <a:p>
            <a:r>
              <a:t>Source: 'Math Week 7'!A44:F44</a:t>
            </a:r>
          </a:p>
          <a:p/>
          <a:p>
            <a:r>
              <a:t>2:40 PM–2:55 PM | 4 Together | 15 min</a:t>
            </a:r>
          </a:p>
          <a:p>
            <a:r>
              <a:t>Instructor: Pairs lay out nine sheets as three 2.4 m lengths by three 1.2 m widths. Compare the verified no-waste layout with the separate allowance quantity.</a:t>
            </a:r>
          </a:p>
          <a:p>
            <a:r>
              <a:t>Learners: Explain the method and check directions; work with a partner only where permitted.</a:t>
            </a:r>
          </a:p>
          <a:p>
            <a:r>
              <a:t>Materials/check: Exercise Book; tool above</a:t>
            </a:r>
          </a:p>
          <a:p>
            <a:r>
              <a:t>Source: 'Math Week 7'!A45:F45</a:t>
            </a:r>
          </a:p>
          <a:p/>
          <a:p>
            <a:r>
              <a:t>2:55 PM–3:15 PM | 5 Practise | 20 min</a:t>
            </a:r>
          </a:p>
          <a:p>
            <a:r>
              <a:t>Instructor: Prepare a quantity note: floor area, sheet area, nine-sheet base and stated 10% allowance. Then solve Exercise Book 10B Q2 for coating tins. Check units, final rounding and assumptions; no prices are assumed.</a:t>
            </a:r>
          </a:p>
          <a:p>
            <a:r>
              <a:t>Learners: Keep numbered written solutions and units. Use tools only under the conditions stated for this block.</a:t>
            </a:r>
          </a:p>
          <a:p>
            <a:r>
              <a:t>Materials/check: Paper first; tool second</a:t>
            </a:r>
          </a:p>
          <a:p>
            <a:r>
              <a:t>Source: 'Math Week 7'!A46:F46</a:t>
            </a:r>
          </a:p>
          <a:p/>
          <a:p>
            <a:r>
              <a:t>3:15 PM–3:25 PM | 6 Check | 10 min</a:t>
            </a:r>
          </a:p>
          <a:p>
            <a:r>
              <a:t>Instructor: Explain the nine-sheet base, allowance order, and why an area estimate alone does not prove every cutting layout.</a:t>
            </a:r>
          </a:p>
          <a:p>
            <a:r>
              <a:t>Learners: Submit work and demonstrate the checking strategy; identify a remaining difficulty.</a:t>
            </a:r>
          </a:p>
          <a:p>
            <a:r>
              <a:t>Materials/check: Teacher answers below</a:t>
            </a:r>
          </a:p>
          <a:p>
            <a:r>
              <a:t>Source: 'Math Week 7'!A47:F47</a:t>
            </a:r>
          </a:p>
          <a:p/>
          <a:p>
            <a:r>
              <a:t>3:25 PM–3:30 PM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7'!A48:F48</a:t>
            </a:r>
          </a:p>
          <a:p/>
          <a:p>
            <a:r>
              <a:t>INSTRUCTOR ONLY: REVEAL ASSESSMENT ANSWERS AFTER THE ATTEMPT</a:t>
            </a:r>
          </a:p>
          <a:p>
            <a:r>
              <a:t>Base: 25.92/2.88 = 9 sheets. Instructor 10% allowance: 9 × 1.10 = 9.9, rounded up to 10 sheets. 10B Q2: 4.57 L, so buy 5 tins (Answer Key p.28). Answer Key pp.19,28</a:t>
            </a:r>
          </a:p>
          <a:p/>
          <a:p>
            <a:r>
              <a:t>Use the drawing and quantity note to identify individual needs for Thursday’s targeted practice.</a:t>
            </a:r>
          </a:p>
          <a:p/>
          <a:p>
            <a:r>
              <a:t>Sources: 'Math Week 7'!A11:E11; 'Carpentry Schedule'!B72; 'Math Week 7'!A36</a:t>
            </a:r>
          </a:p>
          <a:p>
            <a:r>
              <a:t>Navigation/resource slides support these scheduled steps and do not add instructional time.</a:t>
            </a:r>
          </a:p>
          <a:p>
            <a:r>
              <a:t>SLIDE PLACEMENT: Teach, 2:25 PM–2:40 PM. All slides with this phase share these 15 minutes; do not restart the time allocation for each slide.</a:t>
            </a:r>
          </a:p>
          <a:p/>
          <a:p>
            <a:r>
              <a:t>Textbook visual: Example 6.5: compare calculator entries and the whole-length order.</a:t>
            </a:r>
          </a:p>
          <a:p>
            <a:r>
              <a:t>Exact PDF/printed page: 96. Excerpt reproduced from the supplied ACCESS Textbook.</a:t>
            </a:r>
          </a:p>
          <a:p>
            <a:r>
              <a:t>Example 6.5: visual of 85 m plus a stated 10% allowance and whole-length rounding. Crop to the example. This is a reference illustration of the method; retain the scheduled floor quantities and explicitly classroom-only 10% allowance.</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W07-L02 | 2026-12-07 | 2:15 PM–3:30 PM | 75 minutes</a:t>
            </a:r>
          </a:p>
          <a:p>
            <a:r>
              <a:t>Materials practice: sheeting and allowance</a:t>
            </a:r>
          </a:p>
          <a:p>
            <a:r>
              <a:t>Mode: Calculation Practice</a:t>
            </a:r>
          </a:p>
          <a:p>
            <a:r>
              <a:t>Goal: Use area and a stated classroom allowance to build a material quantity and distinguish an estimate from a cutting layout.</a:t>
            </a:r>
          </a:p>
          <a:p>
            <a:r>
              <a:t>Read: Textbook sections 6.4 pp.96–97; Chapter 10 pp.154–164</a:t>
            </a:r>
          </a:p>
          <a:p>
            <a:r>
              <a:t>Practise: Exercise Book 10B Q1–2 (p.65); 6B Q2 (p.41)</a:t>
            </a:r>
          </a:p>
          <a:p>
            <a:r>
              <a:t>Tool: Shape Canvas: use the floor sketch and 1.2 m × 2.4 m sheet rectangles. Numeracy Hub Calculator: compare the no-waste sheet count with the allowance calculation.</a:t>
            </a:r>
          </a:p>
          <a:p/>
          <a:p>
            <a:r>
              <a:t>EXACT SCHEDULED STEPS</a:t>
            </a:r>
          </a:p>
          <a:p>
            <a:r>
              <a:t>2:15 PM–2:20 PM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7'!A42:F42</a:t>
            </a:r>
          </a:p>
          <a:p/>
          <a:p>
            <a:r>
              <a:t>2:20 PM–2:25 PM | 2 Recall | 5 min</a:t>
            </a:r>
          </a:p>
          <a:p>
            <a:r>
              <a:t>Instructor: Retrieve the floor area and one-sheet area from the previous block. Ask why a fractional purchase quantity rounds up.</a:t>
            </a:r>
          </a:p>
          <a:p>
            <a:r>
              <a:t>Learners: Review previous feedback and attempt the retrieval prompt without displayed solutions.</a:t>
            </a:r>
          </a:p>
          <a:p>
            <a:r>
              <a:t>Materials/check: Identify support needs</a:t>
            </a:r>
          </a:p>
          <a:p>
            <a:r>
              <a:t>Source: 'Math Week 7'!A43:F43</a:t>
            </a:r>
          </a:p>
          <a:p/>
          <a:p>
            <a:r>
              <a:t>2:25 PM–2:40 PM | 3 Teach | 15 min</a:t>
            </a:r>
          </a:p>
          <a:p>
            <a:r>
              <a:t>Instructor: Work the no-waste floor quantity from Exercise Book 10B Q1. Add an explicitly instructor-designed 10% classroom allowance; this is a planning exercise, not a standard site allowance.</a:t>
            </a:r>
          </a:p>
          <a:p>
            <a:r>
              <a:t>Learners: Annotate the example or response expectations; ask about unclear steps.</a:t>
            </a:r>
          </a:p>
          <a:p>
            <a:r>
              <a:t>Materials/check: Textbook; worked example</a:t>
            </a:r>
          </a:p>
          <a:p>
            <a:r>
              <a:t>Source: 'Math Week 7'!A44:F44</a:t>
            </a:r>
          </a:p>
          <a:p/>
          <a:p>
            <a:r>
              <a:t>2:40 PM–2:55 PM | 4 Together | 15 min</a:t>
            </a:r>
          </a:p>
          <a:p>
            <a:r>
              <a:t>Instructor: Pairs lay out nine sheets as three 2.4 m lengths by three 1.2 m widths. Compare the verified no-waste layout with the separate allowance quantity.</a:t>
            </a:r>
          </a:p>
          <a:p>
            <a:r>
              <a:t>Learners: Explain the method and check directions; work with a partner only where permitted.</a:t>
            </a:r>
          </a:p>
          <a:p>
            <a:r>
              <a:t>Materials/check: Exercise Book; tool above</a:t>
            </a:r>
          </a:p>
          <a:p>
            <a:r>
              <a:t>Source: 'Math Week 7'!A45:F45</a:t>
            </a:r>
          </a:p>
          <a:p/>
          <a:p>
            <a:r>
              <a:t>2:55 PM–3:15 PM | 5 Practise | 20 min</a:t>
            </a:r>
          </a:p>
          <a:p>
            <a:r>
              <a:t>Instructor: Prepare a quantity note: floor area, sheet area, nine-sheet base and stated 10% allowance. Then solve Exercise Book 10B Q2 for coating tins. Check units, final rounding and assumptions; no prices are assumed.</a:t>
            </a:r>
          </a:p>
          <a:p>
            <a:r>
              <a:t>Learners: Keep numbered written solutions and units. Use tools only under the conditions stated for this block.</a:t>
            </a:r>
          </a:p>
          <a:p>
            <a:r>
              <a:t>Materials/check: Paper first; tool second</a:t>
            </a:r>
          </a:p>
          <a:p>
            <a:r>
              <a:t>Source: 'Math Week 7'!A46:F46</a:t>
            </a:r>
          </a:p>
          <a:p/>
          <a:p>
            <a:r>
              <a:t>3:15 PM–3:25 PM | 6 Check | 10 min</a:t>
            </a:r>
          </a:p>
          <a:p>
            <a:r>
              <a:t>Instructor: Explain the nine-sheet base, allowance order, and why an area estimate alone does not prove every cutting layout.</a:t>
            </a:r>
          </a:p>
          <a:p>
            <a:r>
              <a:t>Learners: Submit work and demonstrate the checking strategy; identify a remaining difficulty.</a:t>
            </a:r>
          </a:p>
          <a:p>
            <a:r>
              <a:t>Materials/check: Teacher answers below</a:t>
            </a:r>
          </a:p>
          <a:p>
            <a:r>
              <a:t>Source: 'Math Week 7'!A47:F47</a:t>
            </a:r>
          </a:p>
          <a:p/>
          <a:p>
            <a:r>
              <a:t>3:25 PM–3:30 PM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7'!A48:F48</a:t>
            </a:r>
          </a:p>
          <a:p/>
          <a:p>
            <a:r>
              <a:t>INSTRUCTOR ONLY: REVEAL ASSESSMENT ANSWERS AFTER THE ATTEMPT</a:t>
            </a:r>
          </a:p>
          <a:p>
            <a:r>
              <a:t>Base: 25.92/2.88 = 9 sheets. Instructor 10% allowance: 9 × 1.10 = 9.9, rounded up to 10 sheets. 10B Q2: 4.57 L, so buy 5 tins (Answer Key p.28). Answer Key pp.19,28</a:t>
            </a:r>
          </a:p>
          <a:p/>
          <a:p>
            <a:r>
              <a:t>Use the drawing and quantity note to identify individual needs for Thursday’s targeted practice.</a:t>
            </a:r>
          </a:p>
          <a:p/>
          <a:p>
            <a:r>
              <a:t>Sources: 'Math Week 7'!A11:E11; 'Carpentry Schedule'!B72; 'Math Week 7'!A36</a:t>
            </a:r>
          </a:p>
          <a:p>
            <a:r>
              <a:t>Navigation/resource slides support these scheduled steps and do not add instructional time.</a:t>
            </a:r>
          </a:p>
          <a:p>
            <a:r>
              <a:t>SLIDE PLACEMENT: Teach, 2:25 PM–2:40 PM. All slides with this phase share these 15 minutes; do not restart the time allocation for each slide.</a:t>
            </a:r>
          </a:p>
          <a:p/>
          <a:p>
            <a:r>
              <a:t>Pause on the prompt before discussing the correction. This is included within the scheduled Teach block, not an additional assessment.</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W07-L02 | 2026-12-07 | 2:15 PM–3:30 PM | 75 minutes</a:t>
            </a:r>
          </a:p>
          <a:p>
            <a:r>
              <a:t>Materials practice: sheeting and allowance</a:t>
            </a:r>
          </a:p>
          <a:p>
            <a:r>
              <a:t>Mode: Calculation Practice</a:t>
            </a:r>
          </a:p>
          <a:p>
            <a:r>
              <a:t>Goal: Use area and a stated classroom allowance to build a material quantity and distinguish an estimate from a cutting layout.</a:t>
            </a:r>
          </a:p>
          <a:p>
            <a:r>
              <a:t>Read: Textbook sections 6.4 pp.96–97; Chapter 10 pp.154–164</a:t>
            </a:r>
          </a:p>
          <a:p>
            <a:r>
              <a:t>Practise: Exercise Book 10B Q1–2 (p.65); 6B Q2 (p.41)</a:t>
            </a:r>
          </a:p>
          <a:p>
            <a:r>
              <a:t>Tool: Shape Canvas: use the floor sketch and 1.2 m × 2.4 m sheet rectangles. Numeracy Hub Calculator: compare the no-waste sheet count with the allowance calculation.</a:t>
            </a:r>
          </a:p>
          <a:p/>
          <a:p>
            <a:r>
              <a:t>EXACT SCHEDULED STEPS</a:t>
            </a:r>
          </a:p>
          <a:p>
            <a:r>
              <a:t>2:15 PM–2:20 PM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7'!A42:F42</a:t>
            </a:r>
          </a:p>
          <a:p/>
          <a:p>
            <a:r>
              <a:t>2:20 PM–2:25 PM | 2 Recall | 5 min</a:t>
            </a:r>
          </a:p>
          <a:p>
            <a:r>
              <a:t>Instructor: Retrieve the floor area and one-sheet area from the previous block. Ask why a fractional purchase quantity rounds up.</a:t>
            </a:r>
          </a:p>
          <a:p>
            <a:r>
              <a:t>Learners: Review previous feedback and attempt the retrieval prompt without displayed solutions.</a:t>
            </a:r>
          </a:p>
          <a:p>
            <a:r>
              <a:t>Materials/check: Identify support needs</a:t>
            </a:r>
          </a:p>
          <a:p>
            <a:r>
              <a:t>Source: 'Math Week 7'!A43:F43</a:t>
            </a:r>
          </a:p>
          <a:p/>
          <a:p>
            <a:r>
              <a:t>2:25 PM–2:40 PM | 3 Teach | 15 min</a:t>
            </a:r>
          </a:p>
          <a:p>
            <a:r>
              <a:t>Instructor: Work the no-waste floor quantity from Exercise Book 10B Q1. Add an explicitly instructor-designed 10% classroom allowance; this is a planning exercise, not a standard site allowance.</a:t>
            </a:r>
          </a:p>
          <a:p>
            <a:r>
              <a:t>Learners: Annotate the example or response expectations; ask about unclear steps.</a:t>
            </a:r>
          </a:p>
          <a:p>
            <a:r>
              <a:t>Materials/check: Textbook; worked example</a:t>
            </a:r>
          </a:p>
          <a:p>
            <a:r>
              <a:t>Source: 'Math Week 7'!A44:F44</a:t>
            </a:r>
          </a:p>
          <a:p/>
          <a:p>
            <a:r>
              <a:t>2:40 PM–2:55 PM | 4 Together | 15 min</a:t>
            </a:r>
          </a:p>
          <a:p>
            <a:r>
              <a:t>Instructor: Pairs lay out nine sheets as three 2.4 m lengths by three 1.2 m widths. Compare the verified no-waste layout with the separate allowance quantity.</a:t>
            </a:r>
          </a:p>
          <a:p>
            <a:r>
              <a:t>Learners: Explain the method and check directions; work with a partner only where permitted.</a:t>
            </a:r>
          </a:p>
          <a:p>
            <a:r>
              <a:t>Materials/check: Exercise Book; tool above</a:t>
            </a:r>
          </a:p>
          <a:p>
            <a:r>
              <a:t>Source: 'Math Week 7'!A45:F45</a:t>
            </a:r>
          </a:p>
          <a:p/>
          <a:p>
            <a:r>
              <a:t>2:55 PM–3:15 PM | 5 Practise | 20 min</a:t>
            </a:r>
          </a:p>
          <a:p>
            <a:r>
              <a:t>Instructor: Prepare a quantity note: floor area, sheet area, nine-sheet base and stated 10% allowance. Then solve Exercise Book 10B Q2 for coating tins. Check units, final rounding and assumptions; no prices are assumed.</a:t>
            </a:r>
          </a:p>
          <a:p>
            <a:r>
              <a:t>Learners: Keep numbered written solutions and units. Use tools only under the conditions stated for this block.</a:t>
            </a:r>
          </a:p>
          <a:p>
            <a:r>
              <a:t>Materials/check: Paper first; tool second</a:t>
            </a:r>
          </a:p>
          <a:p>
            <a:r>
              <a:t>Source: 'Math Week 7'!A46:F46</a:t>
            </a:r>
          </a:p>
          <a:p/>
          <a:p>
            <a:r>
              <a:t>3:15 PM–3:25 PM | 6 Check | 10 min</a:t>
            </a:r>
          </a:p>
          <a:p>
            <a:r>
              <a:t>Instructor: Explain the nine-sheet base, allowance order, and why an area estimate alone does not prove every cutting layout.</a:t>
            </a:r>
          </a:p>
          <a:p>
            <a:r>
              <a:t>Learners: Submit work and demonstrate the checking strategy; identify a remaining difficulty.</a:t>
            </a:r>
          </a:p>
          <a:p>
            <a:r>
              <a:t>Materials/check: Teacher answers below</a:t>
            </a:r>
          </a:p>
          <a:p>
            <a:r>
              <a:t>Source: 'Math Week 7'!A47:F47</a:t>
            </a:r>
          </a:p>
          <a:p/>
          <a:p>
            <a:r>
              <a:t>3:25 PM–3:30 PM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7'!A48:F48</a:t>
            </a:r>
          </a:p>
          <a:p/>
          <a:p>
            <a:r>
              <a:t>INSTRUCTOR ONLY: REVEAL ASSESSMENT ANSWERS AFTER THE ATTEMPT</a:t>
            </a:r>
          </a:p>
          <a:p>
            <a:r>
              <a:t>Base: 25.92/2.88 = 9 sheets. Instructor 10% allowance: 9 × 1.10 = 9.9, rounded up to 10 sheets. 10B Q2: 4.57 L, so buy 5 tins (Answer Key p.28). Answer Key pp.19,28</a:t>
            </a:r>
          </a:p>
          <a:p/>
          <a:p>
            <a:r>
              <a:t>Use the drawing and quantity note to identify individual needs for Thursday’s targeted practice.</a:t>
            </a:r>
          </a:p>
          <a:p/>
          <a:p>
            <a:r>
              <a:t>Sources: 'Math Week 7'!A11:E11; 'Carpentry Schedule'!B72; 'Math Week 7'!A36</a:t>
            </a:r>
          </a:p>
          <a:p>
            <a:r>
              <a:t>Navigation/resource slides support these scheduled steps and do not add instructional time.</a:t>
            </a:r>
          </a:p>
          <a:p>
            <a:r>
              <a:t>SLIDE PLACEMENT: Together, 2:40 PM–2:55 PM. All slides with this phase share these 15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W07-L02 | 2026-12-07 | 2:15 PM–3:30 PM | 75 minutes</a:t>
            </a:r>
          </a:p>
          <a:p>
            <a:r>
              <a:t>Materials practice: sheeting and allowance</a:t>
            </a:r>
          </a:p>
          <a:p>
            <a:r>
              <a:t>Mode: Calculation Practice</a:t>
            </a:r>
          </a:p>
          <a:p>
            <a:r>
              <a:t>Goal: Use area and a stated classroom allowance to build a material quantity and distinguish an estimate from a cutting layout.</a:t>
            </a:r>
          </a:p>
          <a:p>
            <a:r>
              <a:t>Read: Textbook sections 6.4 pp.96–97; Chapter 10 pp.154–164</a:t>
            </a:r>
          </a:p>
          <a:p>
            <a:r>
              <a:t>Practise: Exercise Book 10B Q1–2 (p.65); 6B Q2 (p.41)</a:t>
            </a:r>
          </a:p>
          <a:p>
            <a:r>
              <a:t>Tool: Shape Canvas: use the floor sketch and 1.2 m × 2.4 m sheet rectangles. Numeracy Hub Calculator: compare the no-waste sheet count with the allowance calculation.</a:t>
            </a:r>
          </a:p>
          <a:p/>
          <a:p>
            <a:r>
              <a:t>EXACT SCHEDULED STEPS</a:t>
            </a:r>
          </a:p>
          <a:p>
            <a:r>
              <a:t>2:15 PM–2:20 PM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7'!A42:F42</a:t>
            </a:r>
          </a:p>
          <a:p/>
          <a:p>
            <a:r>
              <a:t>2:20 PM–2:25 PM | 2 Recall | 5 min</a:t>
            </a:r>
          </a:p>
          <a:p>
            <a:r>
              <a:t>Instructor: Retrieve the floor area and one-sheet area from the previous block. Ask why a fractional purchase quantity rounds up.</a:t>
            </a:r>
          </a:p>
          <a:p>
            <a:r>
              <a:t>Learners: Review previous feedback and attempt the retrieval prompt without displayed solutions.</a:t>
            </a:r>
          </a:p>
          <a:p>
            <a:r>
              <a:t>Materials/check: Identify support needs</a:t>
            </a:r>
          </a:p>
          <a:p>
            <a:r>
              <a:t>Source: 'Math Week 7'!A43:F43</a:t>
            </a:r>
          </a:p>
          <a:p/>
          <a:p>
            <a:r>
              <a:t>2:25 PM–2:40 PM | 3 Teach | 15 min</a:t>
            </a:r>
          </a:p>
          <a:p>
            <a:r>
              <a:t>Instructor: Work the no-waste floor quantity from Exercise Book 10B Q1. Add an explicitly instructor-designed 10% classroom allowance; this is a planning exercise, not a standard site allowance.</a:t>
            </a:r>
          </a:p>
          <a:p>
            <a:r>
              <a:t>Learners: Annotate the example or response expectations; ask about unclear steps.</a:t>
            </a:r>
          </a:p>
          <a:p>
            <a:r>
              <a:t>Materials/check: Textbook; worked example</a:t>
            </a:r>
          </a:p>
          <a:p>
            <a:r>
              <a:t>Source: 'Math Week 7'!A44:F44</a:t>
            </a:r>
          </a:p>
          <a:p/>
          <a:p>
            <a:r>
              <a:t>2:40 PM–2:55 PM | 4 Together | 15 min</a:t>
            </a:r>
          </a:p>
          <a:p>
            <a:r>
              <a:t>Instructor: Pairs lay out nine sheets as three 2.4 m lengths by three 1.2 m widths. Compare the verified no-waste layout with the separate allowance quantity.</a:t>
            </a:r>
          </a:p>
          <a:p>
            <a:r>
              <a:t>Learners: Explain the method and check directions; work with a partner only where permitted.</a:t>
            </a:r>
          </a:p>
          <a:p>
            <a:r>
              <a:t>Materials/check: Exercise Book; tool above</a:t>
            </a:r>
          </a:p>
          <a:p>
            <a:r>
              <a:t>Source: 'Math Week 7'!A45:F45</a:t>
            </a:r>
          </a:p>
          <a:p/>
          <a:p>
            <a:r>
              <a:t>2:55 PM–3:15 PM | 5 Practise | 20 min</a:t>
            </a:r>
          </a:p>
          <a:p>
            <a:r>
              <a:t>Instructor: Prepare a quantity note: floor area, sheet area, nine-sheet base and stated 10% allowance. Then solve Exercise Book 10B Q2 for coating tins. Check units, final rounding and assumptions; no prices are assumed.</a:t>
            </a:r>
          </a:p>
          <a:p>
            <a:r>
              <a:t>Learners: Keep numbered written solutions and units. Use tools only under the conditions stated for this block.</a:t>
            </a:r>
          </a:p>
          <a:p>
            <a:r>
              <a:t>Materials/check: Paper first; tool second</a:t>
            </a:r>
          </a:p>
          <a:p>
            <a:r>
              <a:t>Source: 'Math Week 7'!A46:F46</a:t>
            </a:r>
          </a:p>
          <a:p/>
          <a:p>
            <a:r>
              <a:t>3:15 PM–3:25 PM | 6 Check | 10 min</a:t>
            </a:r>
          </a:p>
          <a:p>
            <a:r>
              <a:t>Instructor: Explain the nine-sheet base, allowance order, and why an area estimate alone does not prove every cutting layout.</a:t>
            </a:r>
          </a:p>
          <a:p>
            <a:r>
              <a:t>Learners: Submit work and demonstrate the checking strategy; identify a remaining difficulty.</a:t>
            </a:r>
          </a:p>
          <a:p>
            <a:r>
              <a:t>Materials/check: Teacher answers below</a:t>
            </a:r>
          </a:p>
          <a:p>
            <a:r>
              <a:t>Source: 'Math Week 7'!A47:F47</a:t>
            </a:r>
          </a:p>
          <a:p/>
          <a:p>
            <a:r>
              <a:t>3:25 PM–3:30 PM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7'!A48:F48</a:t>
            </a:r>
          </a:p>
          <a:p/>
          <a:p>
            <a:r>
              <a:t>INSTRUCTOR ONLY: REVEAL ASSESSMENT ANSWERS AFTER THE ATTEMPT</a:t>
            </a:r>
          </a:p>
          <a:p>
            <a:r>
              <a:t>Base: 25.92/2.88 = 9 sheets. Instructor 10% allowance: 9 × 1.10 = 9.9, rounded up to 10 sheets. 10B Q2: 4.57 L, so buy 5 tins (Answer Key p.28). Answer Key pp.19,28</a:t>
            </a:r>
          </a:p>
          <a:p/>
          <a:p>
            <a:r>
              <a:t>Use the drawing and quantity note to identify individual needs for Thursday’s targeted practice.</a:t>
            </a:r>
          </a:p>
          <a:p/>
          <a:p>
            <a:r>
              <a:t>Sources: 'Math Week 7'!A11:E11; 'Carpentry Schedule'!B72; 'Math Week 7'!A36</a:t>
            </a:r>
          </a:p>
          <a:p>
            <a:r>
              <a:t>Navigation/resource slides support these scheduled steps and do not add instructional time.</a:t>
            </a:r>
          </a:p>
          <a:p>
            <a:r>
              <a:t>SLIDE PLACEMENT: Practise, 2:55 PM–3:15 PM. All slides with this phase share these 20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W07-L02 | 2026-12-07 | 2:15 PM–3:30 PM | 75 minutes</a:t>
            </a:r>
          </a:p>
          <a:p>
            <a:r>
              <a:t>Materials practice: sheeting and allowance</a:t>
            </a:r>
          </a:p>
          <a:p>
            <a:r>
              <a:t>Mode: Calculation Practice</a:t>
            </a:r>
          </a:p>
          <a:p>
            <a:r>
              <a:t>Goal: Use area and a stated classroom allowance to build a material quantity and distinguish an estimate from a cutting layout.</a:t>
            </a:r>
          </a:p>
          <a:p>
            <a:r>
              <a:t>Read: Textbook sections 6.4 pp.96–97; Chapter 10 pp.154–164</a:t>
            </a:r>
          </a:p>
          <a:p>
            <a:r>
              <a:t>Practise: Exercise Book 10B Q1–2 (p.65); 6B Q2 (p.41)</a:t>
            </a:r>
          </a:p>
          <a:p>
            <a:r>
              <a:t>Tool: Shape Canvas: use the floor sketch and 1.2 m × 2.4 m sheet rectangles. Numeracy Hub Calculator: compare the no-waste sheet count with the allowance calculation.</a:t>
            </a:r>
          </a:p>
          <a:p/>
          <a:p>
            <a:r>
              <a:t>EXACT SCHEDULED STEPS</a:t>
            </a:r>
          </a:p>
          <a:p>
            <a:r>
              <a:t>2:15 PM–2:20 PM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7'!A42:F42</a:t>
            </a:r>
          </a:p>
          <a:p/>
          <a:p>
            <a:r>
              <a:t>2:20 PM–2:25 PM | 2 Recall | 5 min</a:t>
            </a:r>
          </a:p>
          <a:p>
            <a:r>
              <a:t>Instructor: Retrieve the floor area and one-sheet area from the previous block. Ask why a fractional purchase quantity rounds up.</a:t>
            </a:r>
          </a:p>
          <a:p>
            <a:r>
              <a:t>Learners: Review previous feedback and attempt the retrieval prompt without displayed solutions.</a:t>
            </a:r>
          </a:p>
          <a:p>
            <a:r>
              <a:t>Materials/check: Identify support needs</a:t>
            </a:r>
          </a:p>
          <a:p>
            <a:r>
              <a:t>Source: 'Math Week 7'!A43:F43</a:t>
            </a:r>
          </a:p>
          <a:p/>
          <a:p>
            <a:r>
              <a:t>2:25 PM–2:40 PM | 3 Teach | 15 min</a:t>
            </a:r>
          </a:p>
          <a:p>
            <a:r>
              <a:t>Instructor: Work the no-waste floor quantity from Exercise Book 10B Q1. Add an explicitly instructor-designed 10% classroom allowance; this is a planning exercise, not a standard site allowance.</a:t>
            </a:r>
          </a:p>
          <a:p>
            <a:r>
              <a:t>Learners: Annotate the example or response expectations; ask about unclear steps.</a:t>
            </a:r>
          </a:p>
          <a:p>
            <a:r>
              <a:t>Materials/check: Textbook; worked example</a:t>
            </a:r>
          </a:p>
          <a:p>
            <a:r>
              <a:t>Source: 'Math Week 7'!A44:F44</a:t>
            </a:r>
          </a:p>
          <a:p/>
          <a:p>
            <a:r>
              <a:t>2:40 PM–2:55 PM | 4 Together | 15 min</a:t>
            </a:r>
          </a:p>
          <a:p>
            <a:r>
              <a:t>Instructor: Pairs lay out nine sheets as three 2.4 m lengths by three 1.2 m widths. Compare the verified no-waste layout with the separate allowance quantity.</a:t>
            </a:r>
          </a:p>
          <a:p>
            <a:r>
              <a:t>Learners: Explain the method and check directions; work with a partner only where permitted.</a:t>
            </a:r>
          </a:p>
          <a:p>
            <a:r>
              <a:t>Materials/check: Exercise Book; tool above</a:t>
            </a:r>
          </a:p>
          <a:p>
            <a:r>
              <a:t>Source: 'Math Week 7'!A45:F45</a:t>
            </a:r>
          </a:p>
          <a:p/>
          <a:p>
            <a:r>
              <a:t>2:55 PM–3:15 PM | 5 Practise | 20 min</a:t>
            </a:r>
          </a:p>
          <a:p>
            <a:r>
              <a:t>Instructor: Prepare a quantity note: floor area, sheet area, nine-sheet base and stated 10% allowance. Then solve Exercise Book 10B Q2 for coating tins. Check units, final rounding and assumptions; no prices are assumed.</a:t>
            </a:r>
          </a:p>
          <a:p>
            <a:r>
              <a:t>Learners: Keep numbered written solutions and units. Use tools only under the conditions stated for this block.</a:t>
            </a:r>
          </a:p>
          <a:p>
            <a:r>
              <a:t>Materials/check: Paper first; tool second</a:t>
            </a:r>
          </a:p>
          <a:p>
            <a:r>
              <a:t>Source: 'Math Week 7'!A46:F46</a:t>
            </a:r>
          </a:p>
          <a:p/>
          <a:p>
            <a:r>
              <a:t>3:15 PM–3:25 PM | 6 Check | 10 min</a:t>
            </a:r>
          </a:p>
          <a:p>
            <a:r>
              <a:t>Instructor: Explain the nine-sheet base, allowance order, and why an area estimate alone does not prove every cutting layout.</a:t>
            </a:r>
          </a:p>
          <a:p>
            <a:r>
              <a:t>Learners: Submit work and demonstrate the checking strategy; identify a remaining difficulty.</a:t>
            </a:r>
          </a:p>
          <a:p>
            <a:r>
              <a:t>Materials/check: Teacher answers below</a:t>
            </a:r>
          </a:p>
          <a:p>
            <a:r>
              <a:t>Source: 'Math Week 7'!A47:F47</a:t>
            </a:r>
          </a:p>
          <a:p/>
          <a:p>
            <a:r>
              <a:t>3:25 PM–3:30 PM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7'!A48:F48</a:t>
            </a:r>
          </a:p>
          <a:p/>
          <a:p>
            <a:r>
              <a:t>INSTRUCTOR ONLY: REVEAL ASSESSMENT ANSWERS AFTER THE ATTEMPT</a:t>
            </a:r>
          </a:p>
          <a:p>
            <a:r>
              <a:t>Base: 25.92/2.88 = 9 sheets. Instructor 10% allowance: 9 × 1.10 = 9.9, rounded up to 10 sheets. 10B Q2: 4.57 L, so buy 5 tins (Answer Key p.28). Answer Key pp.19,28</a:t>
            </a:r>
          </a:p>
          <a:p/>
          <a:p>
            <a:r>
              <a:t>Use the drawing and quantity note to identify individual needs for Thursday’s targeted practice.</a:t>
            </a:r>
          </a:p>
          <a:p/>
          <a:p>
            <a:r>
              <a:t>Sources: 'Math Week 7'!A11:E11; 'Carpentry Schedule'!B72; 'Math Week 7'!A36</a:t>
            </a:r>
          </a:p>
          <a:p>
            <a:r>
              <a:t>Navigation/resource slides support these scheduled steps and do not add instructional time.</a:t>
            </a:r>
          </a:p>
          <a:p>
            <a:r>
              <a:t>SLIDE PLACEMENT: Practise, 2:55 PM–3:15 PM. All slides with this phase share these 20 minutes; do not restart the time allocation for each slide.</a:t>
            </a:r>
          </a:p>
          <a:p/>
          <a:p>
            <a:r>
              <a:t>Live-tool screenshot, not an answer to the scheduled task. Open the resource link and follow the exact values in the assignment. Keep worked answers hidden until learners attempt the task. Screenshot illustrates navigation and occupies time within the same scheduled practice phase.</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W07-L02 | 2026-12-07 | 2:15 PM–3:30 PM | 75 minutes</a:t>
            </a:r>
          </a:p>
          <a:p>
            <a:r>
              <a:t>Materials practice: sheeting and allowance</a:t>
            </a:r>
          </a:p>
          <a:p>
            <a:r>
              <a:t>Mode: Calculation Practice</a:t>
            </a:r>
          </a:p>
          <a:p>
            <a:r>
              <a:t>Goal: Use area and a stated classroom allowance to build a material quantity and distinguish an estimate from a cutting layout.</a:t>
            </a:r>
          </a:p>
          <a:p>
            <a:r>
              <a:t>Read: Textbook sections 6.4 pp.96–97; Chapter 10 pp.154–164</a:t>
            </a:r>
          </a:p>
          <a:p>
            <a:r>
              <a:t>Practise: Exercise Book 10B Q1–2 (p.65); 6B Q2 (p.41)</a:t>
            </a:r>
          </a:p>
          <a:p>
            <a:r>
              <a:t>Tool: Shape Canvas: use the floor sketch and 1.2 m × 2.4 m sheet rectangles. Numeracy Hub Calculator: compare the no-waste sheet count with the allowance calculation.</a:t>
            </a:r>
          </a:p>
          <a:p/>
          <a:p>
            <a:r>
              <a:t>EXACT SCHEDULED STEPS</a:t>
            </a:r>
          </a:p>
          <a:p>
            <a:r>
              <a:t>2:15 PM–2:20 PM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7'!A42:F42</a:t>
            </a:r>
          </a:p>
          <a:p/>
          <a:p>
            <a:r>
              <a:t>2:20 PM–2:25 PM | 2 Recall | 5 min</a:t>
            </a:r>
          </a:p>
          <a:p>
            <a:r>
              <a:t>Instructor: Retrieve the floor area and one-sheet area from the previous block. Ask why a fractional purchase quantity rounds up.</a:t>
            </a:r>
          </a:p>
          <a:p>
            <a:r>
              <a:t>Learners: Review previous feedback and attempt the retrieval prompt without displayed solutions.</a:t>
            </a:r>
          </a:p>
          <a:p>
            <a:r>
              <a:t>Materials/check: Identify support needs</a:t>
            </a:r>
          </a:p>
          <a:p>
            <a:r>
              <a:t>Source: 'Math Week 7'!A43:F43</a:t>
            </a:r>
          </a:p>
          <a:p/>
          <a:p>
            <a:r>
              <a:t>2:25 PM–2:40 PM | 3 Teach | 15 min</a:t>
            </a:r>
          </a:p>
          <a:p>
            <a:r>
              <a:t>Instructor: Work the no-waste floor quantity from Exercise Book 10B Q1. Add an explicitly instructor-designed 10% classroom allowance; this is a planning exercise, not a standard site allowance.</a:t>
            </a:r>
          </a:p>
          <a:p>
            <a:r>
              <a:t>Learners: Annotate the example or response expectations; ask about unclear steps.</a:t>
            </a:r>
          </a:p>
          <a:p>
            <a:r>
              <a:t>Materials/check: Textbook; worked example</a:t>
            </a:r>
          </a:p>
          <a:p>
            <a:r>
              <a:t>Source: 'Math Week 7'!A44:F44</a:t>
            </a:r>
          </a:p>
          <a:p/>
          <a:p>
            <a:r>
              <a:t>2:40 PM–2:55 PM | 4 Together | 15 min</a:t>
            </a:r>
          </a:p>
          <a:p>
            <a:r>
              <a:t>Instructor: Pairs lay out nine sheets as three 2.4 m lengths by three 1.2 m widths. Compare the verified no-waste layout with the separate allowance quantity.</a:t>
            </a:r>
          </a:p>
          <a:p>
            <a:r>
              <a:t>Learners: Explain the method and check directions; work with a partner only where permitted.</a:t>
            </a:r>
          </a:p>
          <a:p>
            <a:r>
              <a:t>Materials/check: Exercise Book; tool above</a:t>
            </a:r>
          </a:p>
          <a:p>
            <a:r>
              <a:t>Source: 'Math Week 7'!A45:F45</a:t>
            </a:r>
          </a:p>
          <a:p/>
          <a:p>
            <a:r>
              <a:t>2:55 PM–3:15 PM | 5 Practise | 20 min</a:t>
            </a:r>
          </a:p>
          <a:p>
            <a:r>
              <a:t>Instructor: Prepare a quantity note: floor area, sheet area, nine-sheet base and stated 10% allowance. Then solve Exercise Book 10B Q2 for coating tins. Check units, final rounding and assumptions; no prices are assumed.</a:t>
            </a:r>
          </a:p>
          <a:p>
            <a:r>
              <a:t>Learners: Keep numbered written solutions and units. Use tools only under the conditions stated for this block.</a:t>
            </a:r>
          </a:p>
          <a:p>
            <a:r>
              <a:t>Materials/check: Paper first; tool second</a:t>
            </a:r>
          </a:p>
          <a:p>
            <a:r>
              <a:t>Source: 'Math Week 7'!A46:F46</a:t>
            </a:r>
          </a:p>
          <a:p/>
          <a:p>
            <a:r>
              <a:t>3:15 PM–3:25 PM | 6 Check | 10 min</a:t>
            </a:r>
          </a:p>
          <a:p>
            <a:r>
              <a:t>Instructor: Explain the nine-sheet base, allowance order, and why an area estimate alone does not prove every cutting layout.</a:t>
            </a:r>
          </a:p>
          <a:p>
            <a:r>
              <a:t>Learners: Submit work and demonstrate the checking strategy; identify a remaining difficulty.</a:t>
            </a:r>
          </a:p>
          <a:p>
            <a:r>
              <a:t>Materials/check: Teacher answers below</a:t>
            </a:r>
          </a:p>
          <a:p>
            <a:r>
              <a:t>Source: 'Math Week 7'!A47:F47</a:t>
            </a:r>
          </a:p>
          <a:p/>
          <a:p>
            <a:r>
              <a:t>3:25 PM–3:30 PM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7'!A48:F48</a:t>
            </a:r>
          </a:p>
          <a:p/>
          <a:p>
            <a:r>
              <a:t>INSTRUCTOR ONLY: REVEAL ASSESSMENT ANSWERS AFTER THE ATTEMPT</a:t>
            </a:r>
          </a:p>
          <a:p>
            <a:r>
              <a:t>Base: 25.92/2.88 = 9 sheets. Instructor 10% allowance: 9 × 1.10 = 9.9, rounded up to 10 sheets. 10B Q2: 4.57 L, so buy 5 tins (Answer Key p.28). Answer Key pp.19,28</a:t>
            </a:r>
          </a:p>
          <a:p/>
          <a:p>
            <a:r>
              <a:t>Use the drawing and quantity note to identify individual needs for Thursday’s targeted practice.</a:t>
            </a:r>
          </a:p>
          <a:p/>
          <a:p>
            <a:r>
              <a:t>Sources: 'Math Week 7'!A11:E11; 'Carpentry Schedule'!B72; 'Math Week 7'!A36</a:t>
            </a:r>
          </a:p>
          <a:p>
            <a:r>
              <a:t>Navigation/resource slides support these scheduled steps and do not add instructional time.</a:t>
            </a:r>
          </a:p>
          <a:p>
            <a:r>
              <a:t>SLIDE PLACEMENT: Practise, 2:55 PM–3:15 PM. All slides with this phase share these 20 minutes; do not restart the time allocation for each slide.</a:t>
            </a:r>
          </a:p>
          <a:p/>
          <a:p>
            <a:r>
              <a:t>Exact scheduled tool activity: Shape Canvas: use the floor sketch and 1.2 m × 2.4 m sheet rectangles. Numeracy Hub Calculator: compare the no-waste sheet count with the allowance calculation.</a:t>
            </a:r>
          </a:p>
          <a:p>
            <a:r>
              <a:t>Open the floor sketch in Shape Canvas and use 1.2 m × 2.4 m sheet rectangles to recreate the scheduled 3 × 3 arrangement.</a:t>
            </a:r>
          </a:p>
          <a:p>
            <a:r>
              <a:t>Check the arrangement against the 7.2 m and 3.6 m floor dimensions; record the floor area, sheet area and nine-sheet base in the written quantity note.</a:t>
            </a:r>
          </a:p>
          <a:p>
            <a:r>
              <a:t>Use Numeracy Hub Calculator after paper working to compare the no-waste count with 9 × 1.10. Record the stated allowance and final whole-sheet rounding separately.</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W07-L02 | 2026-12-07 | 2:15 PM–3:30 PM | 75 minutes</a:t>
            </a:r>
          </a:p>
          <a:p>
            <a:r>
              <a:t>Materials practice: sheeting and allowance</a:t>
            </a:r>
          </a:p>
          <a:p>
            <a:r>
              <a:t>Mode: Calculation Practice</a:t>
            </a:r>
          </a:p>
          <a:p>
            <a:r>
              <a:t>Goal: Use area and a stated classroom allowance to build a material quantity and distinguish an estimate from a cutting layout.</a:t>
            </a:r>
          </a:p>
          <a:p>
            <a:r>
              <a:t>Read: Textbook sections 6.4 pp.96–97; Chapter 10 pp.154–164</a:t>
            </a:r>
          </a:p>
          <a:p>
            <a:r>
              <a:t>Practise: Exercise Book 10B Q1–2 (p.65); 6B Q2 (p.41)</a:t>
            </a:r>
          </a:p>
          <a:p>
            <a:r>
              <a:t>Tool: Shape Canvas: use the floor sketch and 1.2 m × 2.4 m sheet rectangles. Numeracy Hub Calculator: compare the no-waste sheet count with the allowance calculation.</a:t>
            </a:r>
          </a:p>
          <a:p/>
          <a:p>
            <a:r>
              <a:t>EXACT SCHEDULED STEPS</a:t>
            </a:r>
          </a:p>
          <a:p>
            <a:r>
              <a:t>2:15 PM–2:20 PM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7'!A42:F42</a:t>
            </a:r>
          </a:p>
          <a:p/>
          <a:p>
            <a:r>
              <a:t>2:20 PM–2:25 PM | 2 Recall | 5 min</a:t>
            </a:r>
          </a:p>
          <a:p>
            <a:r>
              <a:t>Instructor: Retrieve the floor area and one-sheet area from the previous block. Ask why a fractional purchase quantity rounds up.</a:t>
            </a:r>
          </a:p>
          <a:p>
            <a:r>
              <a:t>Learners: Review previous feedback and attempt the retrieval prompt without displayed solutions.</a:t>
            </a:r>
          </a:p>
          <a:p>
            <a:r>
              <a:t>Materials/check: Identify support needs</a:t>
            </a:r>
          </a:p>
          <a:p>
            <a:r>
              <a:t>Source: 'Math Week 7'!A43:F43</a:t>
            </a:r>
          </a:p>
          <a:p/>
          <a:p>
            <a:r>
              <a:t>2:25 PM–2:40 PM | 3 Teach | 15 min</a:t>
            </a:r>
          </a:p>
          <a:p>
            <a:r>
              <a:t>Instructor: Work the no-waste floor quantity from Exercise Book 10B Q1. Add an explicitly instructor-designed 10% classroom allowance; this is a planning exercise, not a standard site allowance.</a:t>
            </a:r>
          </a:p>
          <a:p>
            <a:r>
              <a:t>Learners: Annotate the example or response expectations; ask about unclear steps.</a:t>
            </a:r>
          </a:p>
          <a:p>
            <a:r>
              <a:t>Materials/check: Textbook; worked example</a:t>
            </a:r>
          </a:p>
          <a:p>
            <a:r>
              <a:t>Source: 'Math Week 7'!A44:F44</a:t>
            </a:r>
          </a:p>
          <a:p/>
          <a:p>
            <a:r>
              <a:t>2:40 PM–2:55 PM | 4 Together | 15 min</a:t>
            </a:r>
          </a:p>
          <a:p>
            <a:r>
              <a:t>Instructor: Pairs lay out nine sheets as three 2.4 m lengths by three 1.2 m widths. Compare the verified no-waste layout with the separate allowance quantity.</a:t>
            </a:r>
          </a:p>
          <a:p>
            <a:r>
              <a:t>Learners: Explain the method and check directions; work with a partner only where permitted.</a:t>
            </a:r>
          </a:p>
          <a:p>
            <a:r>
              <a:t>Materials/check: Exercise Book; tool above</a:t>
            </a:r>
          </a:p>
          <a:p>
            <a:r>
              <a:t>Source: 'Math Week 7'!A45:F45</a:t>
            </a:r>
          </a:p>
          <a:p/>
          <a:p>
            <a:r>
              <a:t>2:55 PM–3:15 PM | 5 Practise | 20 min</a:t>
            </a:r>
          </a:p>
          <a:p>
            <a:r>
              <a:t>Instructor: Prepare a quantity note: floor area, sheet area, nine-sheet base and stated 10% allowance. Then solve Exercise Book 10B Q2 for coating tins. Check units, final rounding and assumptions; no prices are assumed.</a:t>
            </a:r>
          </a:p>
          <a:p>
            <a:r>
              <a:t>Learners: Keep numbered written solutions and units. Use tools only under the conditions stated for this block.</a:t>
            </a:r>
          </a:p>
          <a:p>
            <a:r>
              <a:t>Materials/check: Paper first; tool second</a:t>
            </a:r>
          </a:p>
          <a:p>
            <a:r>
              <a:t>Source: 'Math Week 7'!A46:F46</a:t>
            </a:r>
          </a:p>
          <a:p/>
          <a:p>
            <a:r>
              <a:t>3:15 PM–3:25 PM | 6 Check | 10 min</a:t>
            </a:r>
          </a:p>
          <a:p>
            <a:r>
              <a:t>Instructor: Explain the nine-sheet base, allowance order, and why an area estimate alone does not prove every cutting layout.</a:t>
            </a:r>
          </a:p>
          <a:p>
            <a:r>
              <a:t>Learners: Submit work and demonstrate the checking strategy; identify a remaining difficulty.</a:t>
            </a:r>
          </a:p>
          <a:p>
            <a:r>
              <a:t>Materials/check: Teacher answers below</a:t>
            </a:r>
          </a:p>
          <a:p>
            <a:r>
              <a:t>Source: 'Math Week 7'!A47:F47</a:t>
            </a:r>
          </a:p>
          <a:p/>
          <a:p>
            <a:r>
              <a:t>3:25 PM–3:30 PM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7'!A48:F48</a:t>
            </a:r>
          </a:p>
          <a:p/>
          <a:p>
            <a:r>
              <a:t>INSTRUCTOR ONLY: REVEAL ASSESSMENT ANSWERS AFTER THE ATTEMPT</a:t>
            </a:r>
          </a:p>
          <a:p>
            <a:r>
              <a:t>Base: 25.92/2.88 = 9 sheets. Instructor 10% allowance: 9 × 1.10 = 9.9, rounded up to 10 sheets. 10B Q2: 4.57 L, so buy 5 tins (Answer Key p.28). Answer Key pp.19,28</a:t>
            </a:r>
          </a:p>
          <a:p/>
          <a:p>
            <a:r>
              <a:t>Use the drawing and quantity note to identify individual needs for Thursday’s targeted practice.</a:t>
            </a:r>
          </a:p>
          <a:p/>
          <a:p>
            <a:r>
              <a:t>Sources: 'Math Week 7'!A11:E11; 'Carpentry Schedule'!B72; 'Math Week 7'!A36</a:t>
            </a:r>
          </a:p>
          <a:p>
            <a:r>
              <a:t>Navigation/resource slides support these scheduled steps and do not add instructional time.</a:t>
            </a:r>
          </a:p>
          <a:p>
            <a:r>
              <a:t>SLIDE PLACEMENT: Practise, 2:55 PM–3:15 PM. All slides with this phase share these 20 minutes; do not restart the time allocation for each slide.</a:t>
            </a:r>
          </a:p>
          <a:p/>
          <a:p>
            <a:r>
              <a:t>ACCESS EXERCISE BOOK: 10B-Q2</a:t>
            </a:r>
          </a:p>
          <a:p>
            <a:r>
              <a:t>Exact question: Four plates, each 2.5 m by 1.6 m, are primed on both sides. The primer label says 1 L covers 7 m². Primer is sold in 1 L tins. How many tins do you buy? Give the litres to two decimal places.</a:t>
            </a:r>
          </a:p>
          <a:p>
            <a:r>
              <a:t>Instructor answer: 4.57 L, so 5 tins</a:t>
            </a:r>
          </a:p>
          <a:p>
            <a:r>
              <a:t>Working: Area 2 × 4 × 4 = 32 m², 32 ÷ 7</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W07-L02 | 2026-12-07 | 2:15 PM–3:30 PM | 75 minutes</a:t>
            </a:r>
          </a:p>
          <a:p>
            <a:r>
              <a:t>Materials practice: sheeting and allowance</a:t>
            </a:r>
          </a:p>
          <a:p>
            <a:r>
              <a:t>Mode: Calculation Practice</a:t>
            </a:r>
          </a:p>
          <a:p>
            <a:r>
              <a:t>Goal: Use area and a stated classroom allowance to build a material quantity and distinguish an estimate from a cutting layout.</a:t>
            </a:r>
          </a:p>
          <a:p>
            <a:r>
              <a:t>Read: Textbook sections 6.4 pp.96–97; Chapter 10 pp.154–164</a:t>
            </a:r>
          </a:p>
          <a:p>
            <a:r>
              <a:t>Practise: Exercise Book 10B Q1–2 (p.65); 6B Q2 (p.41)</a:t>
            </a:r>
          </a:p>
          <a:p>
            <a:r>
              <a:t>Tool: Shape Canvas: use the floor sketch and 1.2 m × 2.4 m sheet rectangles. Numeracy Hub Calculator: compare the no-waste sheet count with the allowance calculation.</a:t>
            </a:r>
          </a:p>
          <a:p/>
          <a:p>
            <a:r>
              <a:t>EXACT SCHEDULED STEPS</a:t>
            </a:r>
          </a:p>
          <a:p>
            <a:r>
              <a:t>2:15 PM–2:20 PM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7'!A42:F42</a:t>
            </a:r>
          </a:p>
          <a:p/>
          <a:p>
            <a:r>
              <a:t>2:20 PM–2:25 PM | 2 Recall | 5 min</a:t>
            </a:r>
          </a:p>
          <a:p>
            <a:r>
              <a:t>Instructor: Retrieve the floor area and one-sheet area from the previous block. Ask why a fractional purchase quantity rounds up.</a:t>
            </a:r>
          </a:p>
          <a:p>
            <a:r>
              <a:t>Learners: Review previous feedback and attempt the retrieval prompt without displayed solutions.</a:t>
            </a:r>
          </a:p>
          <a:p>
            <a:r>
              <a:t>Materials/check: Identify support needs</a:t>
            </a:r>
          </a:p>
          <a:p>
            <a:r>
              <a:t>Source: 'Math Week 7'!A43:F43</a:t>
            </a:r>
          </a:p>
          <a:p/>
          <a:p>
            <a:r>
              <a:t>2:25 PM–2:40 PM | 3 Teach | 15 min</a:t>
            </a:r>
          </a:p>
          <a:p>
            <a:r>
              <a:t>Instructor: Work the no-waste floor quantity from Exercise Book 10B Q1. Add an explicitly instructor-designed 10% classroom allowance; this is a planning exercise, not a standard site allowance.</a:t>
            </a:r>
          </a:p>
          <a:p>
            <a:r>
              <a:t>Learners: Annotate the example or response expectations; ask about unclear steps.</a:t>
            </a:r>
          </a:p>
          <a:p>
            <a:r>
              <a:t>Materials/check: Textbook; worked example</a:t>
            </a:r>
          </a:p>
          <a:p>
            <a:r>
              <a:t>Source: 'Math Week 7'!A44:F44</a:t>
            </a:r>
          </a:p>
          <a:p/>
          <a:p>
            <a:r>
              <a:t>2:40 PM–2:55 PM | 4 Together | 15 min</a:t>
            </a:r>
          </a:p>
          <a:p>
            <a:r>
              <a:t>Instructor: Pairs lay out nine sheets as three 2.4 m lengths by three 1.2 m widths. Compare the verified no-waste layout with the separate allowance quantity.</a:t>
            </a:r>
          </a:p>
          <a:p>
            <a:r>
              <a:t>Learners: Explain the method and check directions; work with a partner only where permitted.</a:t>
            </a:r>
          </a:p>
          <a:p>
            <a:r>
              <a:t>Materials/check: Exercise Book; tool above</a:t>
            </a:r>
          </a:p>
          <a:p>
            <a:r>
              <a:t>Source: 'Math Week 7'!A45:F45</a:t>
            </a:r>
          </a:p>
          <a:p/>
          <a:p>
            <a:r>
              <a:t>2:55 PM–3:15 PM | 5 Practise | 20 min</a:t>
            </a:r>
          </a:p>
          <a:p>
            <a:r>
              <a:t>Instructor: Prepare a quantity note: floor area, sheet area, nine-sheet base and stated 10% allowance. Then solve Exercise Book 10B Q2 for coating tins. Check units, final rounding and assumptions; no prices are assumed.</a:t>
            </a:r>
          </a:p>
          <a:p>
            <a:r>
              <a:t>Learners: Keep numbered written solutions and units. Use tools only under the conditions stated for this block.</a:t>
            </a:r>
          </a:p>
          <a:p>
            <a:r>
              <a:t>Materials/check: Paper first; tool second</a:t>
            </a:r>
          </a:p>
          <a:p>
            <a:r>
              <a:t>Source: 'Math Week 7'!A46:F46</a:t>
            </a:r>
          </a:p>
          <a:p/>
          <a:p>
            <a:r>
              <a:t>3:15 PM–3:25 PM | 6 Check | 10 min</a:t>
            </a:r>
          </a:p>
          <a:p>
            <a:r>
              <a:t>Instructor: Explain the nine-sheet base, allowance order, and why an area estimate alone does not prove every cutting layout.</a:t>
            </a:r>
          </a:p>
          <a:p>
            <a:r>
              <a:t>Learners: Submit work and demonstrate the checking strategy; identify a remaining difficulty.</a:t>
            </a:r>
          </a:p>
          <a:p>
            <a:r>
              <a:t>Materials/check: Teacher answers below</a:t>
            </a:r>
          </a:p>
          <a:p>
            <a:r>
              <a:t>Source: 'Math Week 7'!A47:F47</a:t>
            </a:r>
          </a:p>
          <a:p/>
          <a:p>
            <a:r>
              <a:t>3:25 PM–3:30 PM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7'!A48:F48</a:t>
            </a:r>
          </a:p>
          <a:p/>
          <a:p>
            <a:r>
              <a:t>INSTRUCTOR ONLY: REVEAL ASSESSMENT ANSWERS AFTER THE ATTEMPT</a:t>
            </a:r>
          </a:p>
          <a:p>
            <a:r>
              <a:t>Base: 25.92/2.88 = 9 sheets. Instructor 10% allowance: 9 × 1.10 = 9.9, rounded up to 10 sheets. 10B Q2: 4.57 L, so buy 5 tins (Answer Key p.28). Answer Key pp.19,28</a:t>
            </a:r>
          </a:p>
          <a:p/>
          <a:p>
            <a:r>
              <a:t>Use the drawing and quantity note to identify individual needs for Thursday’s targeted practice.</a:t>
            </a:r>
          </a:p>
          <a:p/>
          <a:p>
            <a:r>
              <a:t>Sources: 'Math Week 7'!A11:E11; 'Carpentry Schedule'!B72; 'Math Week 7'!A36</a:t>
            </a:r>
          </a:p>
          <a:p>
            <a:r>
              <a:t>Navigation/resource slides support these scheduled steps and do not add instructional time.</a:t>
            </a:r>
          </a:p>
          <a:p>
            <a:r>
              <a:t>SLIDE PLACEMENT: Check, 3:15 PM–3:25 PM. All slides with this phase share these 10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W07-L02 | 2026-12-07 | 2:15 PM–3:30 PM | 75 minutes</a:t>
            </a:r>
          </a:p>
          <a:p>
            <a:r>
              <a:t>Materials practice: sheeting and allowance</a:t>
            </a:r>
          </a:p>
          <a:p>
            <a:r>
              <a:t>Mode: Calculation Practice</a:t>
            </a:r>
          </a:p>
          <a:p>
            <a:r>
              <a:t>Goal: Use area and a stated classroom allowance to build a material quantity and distinguish an estimate from a cutting layout.</a:t>
            </a:r>
          </a:p>
          <a:p>
            <a:r>
              <a:t>Read: Textbook sections 6.4 pp.96–97; Chapter 10 pp.154–164</a:t>
            </a:r>
          </a:p>
          <a:p>
            <a:r>
              <a:t>Practise: Exercise Book 10B Q1–2 (p.65); 6B Q2 (p.41)</a:t>
            </a:r>
          </a:p>
          <a:p>
            <a:r>
              <a:t>Tool: Shape Canvas: use the floor sketch and 1.2 m × 2.4 m sheet rectangles. Numeracy Hub Calculator: compare the no-waste sheet count with the allowance calculation.</a:t>
            </a:r>
          </a:p>
          <a:p/>
          <a:p>
            <a:r>
              <a:t>EXACT SCHEDULED STEPS</a:t>
            </a:r>
          </a:p>
          <a:p>
            <a:r>
              <a:t>2:15 PM–2:20 PM | 1 Start | 5 min</a:t>
            </a:r>
          </a:p>
          <a:p>
            <a:r>
              <a:t>Instructor: State the objective and connect this block to the previous work. Confirm the role of paper working and tool checking.</a:t>
            </a:r>
          </a:p>
          <a:p>
            <a:r>
              <a:t>Learners: Identify one target skill and the checking habit to use today.</a:t>
            </a:r>
          </a:p>
          <a:p>
            <a:r>
              <a:t>Materials/check: Notebook; calculator</a:t>
            </a:r>
          </a:p>
          <a:p>
            <a:r>
              <a:t>Source: 'Math Week 7'!A42:F42</a:t>
            </a:r>
          </a:p>
          <a:p/>
          <a:p>
            <a:r>
              <a:t>2:20 PM–2:25 PM | 2 Recall | 5 min</a:t>
            </a:r>
          </a:p>
          <a:p>
            <a:r>
              <a:t>Instructor: Retrieve the floor area and one-sheet area from the previous block. Ask why a fractional purchase quantity rounds up.</a:t>
            </a:r>
          </a:p>
          <a:p>
            <a:r>
              <a:t>Learners: Review previous feedback and attempt the retrieval prompt without displayed solutions.</a:t>
            </a:r>
          </a:p>
          <a:p>
            <a:r>
              <a:t>Materials/check: Identify support needs</a:t>
            </a:r>
          </a:p>
          <a:p>
            <a:r>
              <a:t>Source: 'Math Week 7'!A43:F43</a:t>
            </a:r>
          </a:p>
          <a:p/>
          <a:p>
            <a:r>
              <a:t>2:25 PM–2:40 PM | 3 Teach | 15 min</a:t>
            </a:r>
          </a:p>
          <a:p>
            <a:r>
              <a:t>Instructor: Work the no-waste floor quantity from Exercise Book 10B Q1. Add an explicitly instructor-designed 10% classroom allowance; this is a planning exercise, not a standard site allowance.</a:t>
            </a:r>
          </a:p>
          <a:p>
            <a:r>
              <a:t>Learners: Annotate the example or response expectations; ask about unclear steps.</a:t>
            </a:r>
          </a:p>
          <a:p>
            <a:r>
              <a:t>Materials/check: Textbook; worked example</a:t>
            </a:r>
          </a:p>
          <a:p>
            <a:r>
              <a:t>Source: 'Math Week 7'!A44:F44</a:t>
            </a:r>
          </a:p>
          <a:p/>
          <a:p>
            <a:r>
              <a:t>2:40 PM–2:55 PM | 4 Together | 15 min</a:t>
            </a:r>
          </a:p>
          <a:p>
            <a:r>
              <a:t>Instructor: Pairs lay out nine sheets as three 2.4 m lengths by three 1.2 m widths. Compare the verified no-waste layout with the separate allowance quantity.</a:t>
            </a:r>
          </a:p>
          <a:p>
            <a:r>
              <a:t>Learners: Explain the method and check directions; work with a partner only where permitted.</a:t>
            </a:r>
          </a:p>
          <a:p>
            <a:r>
              <a:t>Materials/check: Exercise Book; tool above</a:t>
            </a:r>
          </a:p>
          <a:p>
            <a:r>
              <a:t>Source: 'Math Week 7'!A45:F45</a:t>
            </a:r>
          </a:p>
          <a:p/>
          <a:p>
            <a:r>
              <a:t>2:55 PM–3:15 PM | 5 Practise | 20 min</a:t>
            </a:r>
          </a:p>
          <a:p>
            <a:r>
              <a:t>Instructor: Prepare a quantity note: floor area, sheet area, nine-sheet base and stated 10% allowance. Then solve Exercise Book 10B Q2 for coating tins. Check units, final rounding and assumptions; no prices are assumed.</a:t>
            </a:r>
          </a:p>
          <a:p>
            <a:r>
              <a:t>Learners: Keep numbered written solutions and units. Use tools only under the conditions stated for this block.</a:t>
            </a:r>
          </a:p>
          <a:p>
            <a:r>
              <a:t>Materials/check: Paper first; tool second</a:t>
            </a:r>
          </a:p>
          <a:p>
            <a:r>
              <a:t>Source: 'Math Week 7'!A46:F46</a:t>
            </a:r>
          </a:p>
          <a:p/>
          <a:p>
            <a:r>
              <a:t>3:15 PM–3:25 PM | 6 Check | 10 min</a:t>
            </a:r>
          </a:p>
          <a:p>
            <a:r>
              <a:t>Instructor: Explain the nine-sheet base, allowance order, and why an area estimate alone does not prove every cutting layout.</a:t>
            </a:r>
          </a:p>
          <a:p>
            <a:r>
              <a:t>Learners: Submit work and demonstrate the checking strategy; identify a remaining difficulty.</a:t>
            </a:r>
          </a:p>
          <a:p>
            <a:r>
              <a:t>Materials/check: Teacher answers below</a:t>
            </a:r>
          </a:p>
          <a:p>
            <a:r>
              <a:t>Source: 'Math Week 7'!A47:F47</a:t>
            </a:r>
          </a:p>
          <a:p/>
          <a:p>
            <a:r>
              <a:t>3:25 PM–3:30 PM | 7 Wrap up | 5 min</a:t>
            </a:r>
          </a:p>
          <a:p>
            <a:r>
              <a:t>Instructor: Ask what improved, what needs another attempt and which resource will support the next step.</a:t>
            </a:r>
          </a:p>
          <a:p>
            <a:r>
              <a:t>Learners: Name the math and another essential skill used; record a concrete follow-up action.</a:t>
            </a:r>
          </a:p>
          <a:p>
            <a:r>
              <a:t>Materials/check: Notebook / error log</a:t>
            </a:r>
          </a:p>
          <a:p>
            <a:r>
              <a:t>Source: 'Math Week 7'!A48:F48</a:t>
            </a:r>
          </a:p>
          <a:p/>
          <a:p>
            <a:r>
              <a:t>INSTRUCTOR ONLY: REVEAL ASSESSMENT ANSWERS AFTER THE ATTEMPT</a:t>
            </a:r>
          </a:p>
          <a:p>
            <a:r>
              <a:t>Base: 25.92/2.88 = 9 sheets. Instructor 10% allowance: 9 × 1.10 = 9.9, rounded up to 10 sheets. 10B Q2: 4.57 L, so buy 5 tins (Answer Key p.28). Answer Key pp.19,28</a:t>
            </a:r>
          </a:p>
          <a:p/>
          <a:p>
            <a:r>
              <a:t>Use the drawing and quantity note to identify individual needs for Thursday’s targeted practice.</a:t>
            </a:r>
          </a:p>
          <a:p/>
          <a:p>
            <a:r>
              <a:t>Sources: 'Math Week 7'!A11:E11; 'Carpentry Schedule'!B72; 'Math Week 7'!A36</a:t>
            </a:r>
          </a:p>
          <a:p>
            <a:r>
              <a:t>Navigation/resource slides support these scheduled steps and do not add instructional time.</a:t>
            </a:r>
          </a:p>
          <a:p>
            <a:r>
              <a:t>SLIDE PLACEMENT: Wrap up, 3:25 PM–3:30 PM. All slides with this phase share these 5 minutes; do not restart the time allocation for each slide.</a:t>
            </a:r>
          </a:p>
          <a:p/>
          <a:p>
            <a:r>
              <a:t>Next scheduled learning: Use the drawing and quantity note to identify individual needs for Thursday’s targeted practice.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7.png"/><Relationship Id="rId4" Type="http://schemas.openxmlformats.org/officeDocument/2006/relationships/hyperlink" Target="../Resources/ACCESS-Tools/books/ACCESS-Trades-Numeracy-Textbook.pdf" TargetMode="External"/><Relationship Id="rId5" Type="http://schemas.openxmlformats.org/officeDocument/2006/relationships/hyperlink" Target="../Resources/ACCESS-Tools/books/ACCESS-Trades-Numeracy-Exercise-Book.pdf"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7.png"/><Relationship Id="rId4" Type="http://schemas.openxmlformats.org/officeDocument/2006/relationships/hyperlink" Target="../Resources/ACCESS-Tools/books/ACCESS-Trades-Numeracy-Textbook.pdf#page=44" TargetMode="External"/><Relationship Id="rId5" Type="http://schemas.openxmlformats.org/officeDocument/2006/relationships/hyperlink" Target="../Resources/ACCESS-Tools/books/ACCESS-Trades-Numeracy-Exercise-Book.pdf#page=65"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7.png"/><Relationship Id="rId4" Type="http://schemas.openxmlformats.org/officeDocument/2006/relationships/hyperlink" Target="../Resources/ACCESS-Tools/books/ACCESS-Trades-Numeracy-Textbook.pdf#page=44" TargetMode="External"/><Relationship Id="rId5" Type="http://schemas.openxmlformats.org/officeDocument/2006/relationships/hyperlink" Target="../Resources/ACCESS-Tools/books/ACCESS-Trades-Numeracy-Exercise-Book.pdf#page=65"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7.png"/><Relationship Id="rId4" Type="http://schemas.openxmlformats.org/officeDocument/2006/relationships/hyperlink" Target="../Resources/ACCESS-Tools/books/ACCESS-Trades-Numeracy-Textbook.pdf#page=44" TargetMode="External"/><Relationship Id="rId5" Type="http://schemas.openxmlformats.org/officeDocument/2006/relationships/hyperlink" Target="../Resources/ACCESS-Tools/books/ACCESS-Trades-Numeracy-Exercise-Book.pdf#page=65"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7.png"/><Relationship Id="rId4" Type="http://schemas.openxmlformats.org/officeDocument/2006/relationships/hyperlink" Target="../Resources/ACCESS-Tools/books/ACCESS-Trades-Numeracy-Textbook.pdf#page=44" TargetMode="External"/><Relationship Id="rId5" Type="http://schemas.openxmlformats.org/officeDocument/2006/relationships/hyperlink" Target="../Resources/ACCESS-Tools/books/ACCESS-Trades-Numeracy-Exercise-Book.pdf#page=65"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7.png"/><Relationship Id="rId4" Type="http://schemas.openxmlformats.org/officeDocument/2006/relationships/hyperlink" Target="../Resources/ACCESS-Tools/books/ACCESS-Trades-Numeracy-Textbook.pdf#page=44" TargetMode="External"/><Relationship Id="rId5" Type="http://schemas.openxmlformats.org/officeDocument/2006/relationships/hyperlink" Target="../Resources/ACCESS-Tools/books/ACCESS-Trades-Numeracy-Exercise-Book.pdf#page=65"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 Id="rId3" Type="http://schemas.openxmlformats.org/officeDocument/2006/relationships/image" Target="../media/image7.png"/><Relationship Id="rId4" Type="http://schemas.openxmlformats.org/officeDocument/2006/relationships/hyperlink" Target="../Resources/ACCESS-Tools/books/ACCESS-Trades-Numeracy-Textbook.pdf#page=44" TargetMode="External"/><Relationship Id="rId5" Type="http://schemas.openxmlformats.org/officeDocument/2006/relationships/hyperlink" Target="../Resources/ACCESS-Tools/books/ACCESS-Trades-Numeracy-Exercise-Book.pdf#page=65"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 Id="rId4" Type="http://schemas.openxmlformats.org/officeDocument/2006/relationships/image" Target="../media/image7.png"/><Relationship Id="rId5" Type="http://schemas.openxmlformats.org/officeDocument/2006/relationships/hyperlink" Target="../Resources/ACCESS-Tools/books/ACCESS-Trades-Numeracy-Textbook.pdf#page=140" TargetMode="External"/><Relationship Id="rId6" Type="http://schemas.openxmlformats.org/officeDocument/2006/relationships/hyperlink" Target="../Resources/ACCESS-Tools/books/ACCESS-Trades-Numeracy-Exercise-Book.pdf#page=6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7.png"/><Relationship Id="rId4" Type="http://schemas.openxmlformats.org/officeDocument/2006/relationships/hyperlink" Target="../Resources/ACCESS-Tools/books/ACCESS-Trades-Numeracy-Textbook.pdf#page=44" TargetMode="External"/><Relationship Id="rId5" Type="http://schemas.openxmlformats.org/officeDocument/2006/relationships/hyperlink" Target="../Resources/ACCESS-Tools/books/ACCESS-Trades-Numeracy-Exercise-Book.pdf#page=65"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7.png"/><Relationship Id="rId4" Type="http://schemas.openxmlformats.org/officeDocument/2006/relationships/hyperlink" Target="../Resources/ACCESS-Tools/books/ACCESS-Trades-Numeracy-Textbook.pdf#page=44" TargetMode="External"/><Relationship Id="rId5" Type="http://schemas.openxmlformats.org/officeDocument/2006/relationships/hyperlink" Target="../Resources/ACCESS-Tools/books/ACCESS-Trades-Numeracy-Exercise-Book.pdf#page=65"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hyperlink" Target="../Resources/ACCESS-Tools/books/ACCESS-Trades-Numeracy-Textbook.pdf#page=44" TargetMode="External"/><Relationship Id="rId6" Type="http://schemas.openxmlformats.org/officeDocument/2006/relationships/hyperlink" Target="../Resources/ACCESS-Tools/books/ACCESS-Trades-Numeracy-Exercise-Book.pdf#page=23"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hyperlink" Target="../Resources/ACCESS-Tools/books/ACCESS-Trades-Numeracy-Textbook.pdf#page=44" TargetMode="External"/><Relationship Id="rId6" Type="http://schemas.openxmlformats.org/officeDocument/2006/relationships/hyperlink" Target="../Resources/ACCESS-Tools/books/ACCESS-Trades-Numeracy-Exercise-Book.pdf#page=23"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7.png"/><Relationship Id="rId4" Type="http://schemas.openxmlformats.org/officeDocument/2006/relationships/hyperlink" Target="../Resources/ACCESS-Tools/books/ACCESS-Trades-Numeracy-Textbook.pdf#page=44" TargetMode="External"/><Relationship Id="rId5" Type="http://schemas.openxmlformats.org/officeDocument/2006/relationships/hyperlink" Target="../Resources/ACCESS-Tools/books/ACCESS-Trades-Numeracy-Exercise-Book.pdf#page=65"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3.png"/><Relationship Id="rId4" Type="http://schemas.openxmlformats.org/officeDocument/2006/relationships/image" Target="../media/image7.png"/><Relationship Id="rId5" Type="http://schemas.openxmlformats.org/officeDocument/2006/relationships/hyperlink" Target="../Resources/ACCESS-Tools/books/ACCESS-Trades-Numeracy-Textbook.pdf#page=44" TargetMode="External"/><Relationship Id="rId6" Type="http://schemas.openxmlformats.org/officeDocument/2006/relationships/hyperlink" Target="../Resources/ACCESS-Tools/books/ACCESS-Trades-Numeracy-Exercise-Book.pdf#page=6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7.png"/><Relationship Id="rId4" Type="http://schemas.openxmlformats.org/officeDocument/2006/relationships/hyperlink" Target="../Resources/ACCESS-Tools/books/ACCESS-Trades-Numeracy-Textbook.pdf#page=44" TargetMode="External"/><Relationship Id="rId5" Type="http://schemas.openxmlformats.org/officeDocument/2006/relationships/hyperlink" Target="../Resources/ACCESS-Tools/books/ACCESS-Trades-Numeracy-Exercise-Book.pdf#page=65"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hyperlink" Target="../Resources/ACCESS-Tools/books/ACCESS-Trades-Numeracy-Textbook.pdf#page=44" TargetMode="External"/><Relationship Id="rId6" Type="http://schemas.openxmlformats.org/officeDocument/2006/relationships/hyperlink" Target="../Resources/ACCESS-Tools/books/ACCESS-Trades-Numeracy-Exercise-Book.pdf#page=23"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7.png"/><Relationship Id="rId4" Type="http://schemas.openxmlformats.org/officeDocument/2006/relationships/hyperlink" Target="../Resources/ACCESS-Tools/books/ACCESS-Trades-Numeracy-Textbook.pdf#page=44" TargetMode="External"/><Relationship Id="rId5" Type="http://schemas.openxmlformats.org/officeDocument/2006/relationships/hyperlink" Target="../Resources/ACCESS-Tools/books/ACCESS-Trades-Numeracy-Exercise-Book.pdf#page=65"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7.png"/><Relationship Id="rId4" Type="http://schemas.openxmlformats.org/officeDocument/2006/relationships/hyperlink" Target="../Resources/ACCESS-Tools/books/ACCESS-Trades-Numeracy-Textbook.pdf#page=44" TargetMode="External"/><Relationship Id="rId5" Type="http://schemas.openxmlformats.org/officeDocument/2006/relationships/hyperlink" Target="../Resources/ACCESS-Tools/books/ACCESS-Trades-Numeracy-Exercise-Book.pdf#page=65"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7.png"/><Relationship Id="rId4" Type="http://schemas.openxmlformats.org/officeDocument/2006/relationships/hyperlink" Target="../Resources/ACCESS-Tools/books/ACCESS-Trades-Numeracy-Textbook.pdf" TargetMode="External"/><Relationship Id="rId5" Type="http://schemas.openxmlformats.org/officeDocument/2006/relationships/hyperlink" Target="../Resources/ACCESS-Tools/books/ACCESS-Trades-Numeracy-Exercise-Book.pdf"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7.png"/><Relationship Id="rId4" Type="http://schemas.openxmlformats.org/officeDocument/2006/relationships/hyperlink" Target="../Resources/ACCESS-Tools/books/ACCESS-Trades-Numeracy-Textbook.pdf#page=96" TargetMode="External"/><Relationship Id="rId5" Type="http://schemas.openxmlformats.org/officeDocument/2006/relationships/hyperlink" Target="../Resources/ACCESS-Tools/books/ACCESS-Trades-Numeracy-Exercise-Book.pdf#page=65"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7.png"/><Relationship Id="rId4" Type="http://schemas.openxmlformats.org/officeDocument/2006/relationships/hyperlink" Target="../Resources/ACCESS-Tools/books/ACCESS-Trades-Numeracy-Textbook.pdf#page=96" TargetMode="External"/><Relationship Id="rId5" Type="http://schemas.openxmlformats.org/officeDocument/2006/relationships/hyperlink" Target="../Resources/ACCESS-Tools/books/ACCESS-Trades-Numeracy-Exercise-Book.pdf#page=65"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7.png"/><Relationship Id="rId4" Type="http://schemas.openxmlformats.org/officeDocument/2006/relationships/hyperlink" Target="../Resources/ACCESS-Tools/books/ACCESS-Trades-Numeracy-Textbook.pdf#page=96" TargetMode="External"/><Relationship Id="rId5" Type="http://schemas.openxmlformats.org/officeDocument/2006/relationships/hyperlink" Target="../Resources/ACCESS-Tools/books/ACCESS-Trades-Numeracy-Exercise-Book.pdf#page=65"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7.png"/><Relationship Id="rId4" Type="http://schemas.openxmlformats.org/officeDocument/2006/relationships/hyperlink" Target="../Resources/ACCESS-Tools/books/ACCESS-Trades-Numeracy-Textbook.pdf#page=96" TargetMode="External"/><Relationship Id="rId5" Type="http://schemas.openxmlformats.org/officeDocument/2006/relationships/hyperlink" Target="../Resources/ACCESS-Tools/books/ACCESS-Trades-Numeracy-Exercise-Book.pdf#page=65"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 Id="rId3" Type="http://schemas.openxmlformats.org/officeDocument/2006/relationships/image" Target="../media/image7.png"/><Relationship Id="rId4" Type="http://schemas.openxmlformats.org/officeDocument/2006/relationships/hyperlink" Target="../Resources/ACCESS-Tools/books/ACCESS-Trades-Numeracy-Textbook.pdf#page=96" TargetMode="External"/><Relationship Id="rId5" Type="http://schemas.openxmlformats.org/officeDocument/2006/relationships/hyperlink" Target="../Resources/ACCESS-Tools/books/ACCESS-Trades-Numeracy-Exercise-Book.pdf#page=65"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4.png"/><Relationship Id="rId4" Type="http://schemas.openxmlformats.org/officeDocument/2006/relationships/image" Target="../media/image7.png"/><Relationship Id="rId5" Type="http://schemas.openxmlformats.org/officeDocument/2006/relationships/hyperlink" Target="../Resources/ACCESS-Tools/books/ACCESS-Trades-Numeracy-Textbook.pdf#page=96" TargetMode="External"/><Relationship Id="rId6" Type="http://schemas.openxmlformats.org/officeDocument/2006/relationships/hyperlink" Target="../Resources/ACCESS-Tools/books/ACCESS-Trades-Numeracy-Exercise-Book.pdf#page=6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5.png"/><Relationship Id="rId4" Type="http://schemas.openxmlformats.org/officeDocument/2006/relationships/image" Target="../media/image7.png"/><Relationship Id="rId5" Type="http://schemas.openxmlformats.org/officeDocument/2006/relationships/hyperlink" Target="../Resources/ACCESS-Tools/books/ACCESS-Trades-Numeracy-Textbook.pdf#page=96" TargetMode="External"/><Relationship Id="rId6" Type="http://schemas.openxmlformats.org/officeDocument/2006/relationships/hyperlink" Target="../Resources/ACCESS-Tools/books/ACCESS-Trades-Numeracy-Exercise-Book.pdf#page=6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7.png"/><Relationship Id="rId4" Type="http://schemas.openxmlformats.org/officeDocument/2006/relationships/hyperlink" Target="../Resources/ACCESS-Tools/books/ACCESS-Trades-Numeracy-Textbook.pdf#page=96" TargetMode="External"/><Relationship Id="rId5" Type="http://schemas.openxmlformats.org/officeDocument/2006/relationships/hyperlink" Target="../Resources/ACCESS-Tools/books/ACCESS-Trades-Numeracy-Exercise-Book.pdf#page=65"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7.png"/><Relationship Id="rId4" Type="http://schemas.openxmlformats.org/officeDocument/2006/relationships/hyperlink" Target="../Resources/ACCESS-Tools/books/ACCESS-Trades-Numeracy-Textbook.pdf#page=96" TargetMode="External"/><Relationship Id="rId5" Type="http://schemas.openxmlformats.org/officeDocument/2006/relationships/hyperlink" Target="../Resources/ACCESS-Tools/books/ACCESS-Trades-Numeracy-Exercise-Book.pdf#page=65"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7.png"/><Relationship Id="rId4" Type="http://schemas.openxmlformats.org/officeDocument/2006/relationships/hyperlink" Target="../Resources/ACCESS-Tools/books/ACCESS-Trades-Numeracy-Textbook.pdf#page=96" TargetMode="External"/><Relationship Id="rId5" Type="http://schemas.openxmlformats.org/officeDocument/2006/relationships/hyperlink" Target="../Resources/ACCESS-Tools/books/ACCESS-Trades-Numeracy-Exercise-Book.pdf#page=65"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3.png"/><Relationship Id="rId4" Type="http://schemas.openxmlformats.org/officeDocument/2006/relationships/image" Target="../media/image7.png"/><Relationship Id="rId5" Type="http://schemas.openxmlformats.org/officeDocument/2006/relationships/hyperlink" Target="../Resources/ACCESS-Tools/books/ACCESS-Trades-Numeracy-Textbook.pdf#page=96" TargetMode="External"/><Relationship Id="rId6" Type="http://schemas.openxmlformats.org/officeDocument/2006/relationships/hyperlink" Target="../Resources/ACCESS-Tools/books/ACCESS-Trades-Numeracy-Exercise-Book.pdf#page=6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7.png"/><Relationship Id="rId4" Type="http://schemas.openxmlformats.org/officeDocument/2006/relationships/hyperlink" Target="../Resources/ACCESS-Tools/books/ACCESS-Trades-Numeracy-Textbook.pdf#page=96" TargetMode="External"/><Relationship Id="rId5" Type="http://schemas.openxmlformats.org/officeDocument/2006/relationships/hyperlink" Target="../Resources/ACCESS-Tools/books/ACCESS-Trades-Numeracy-Exercise-Book.pdf#page=65"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hyperlink" Target="../Resources/ACCESS-Tools/books/ACCESS-Trades-Numeracy-Textbook.pdf#page=96" TargetMode="External"/><Relationship Id="rId6" Type="http://schemas.openxmlformats.org/officeDocument/2006/relationships/hyperlink" Target="../Resources/ACCESS-Tools/books/ACCESS-Trades-Numeracy-Exercise-Book.pdf#page=6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7.png"/><Relationship Id="rId4" Type="http://schemas.openxmlformats.org/officeDocument/2006/relationships/hyperlink" Target="../Resources/ACCESS-Tools/books/ACCESS-Trades-Numeracy-Textbook.pdf#page=96" TargetMode="External"/><Relationship Id="rId5" Type="http://schemas.openxmlformats.org/officeDocument/2006/relationships/hyperlink" Target="../Resources/ACCESS-Tools/books/ACCESS-Trades-Numeracy-Exercise-Book.pdf#page=65"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7.png"/><Relationship Id="rId4" Type="http://schemas.openxmlformats.org/officeDocument/2006/relationships/hyperlink" Target="../Resources/ACCESS-Tools/books/ACCESS-Trades-Numeracy-Textbook.pdf#page=96" TargetMode="External"/><Relationship Id="rId5" Type="http://schemas.openxmlformats.org/officeDocument/2006/relationships/hyperlink" Target="../Resources/ACCESS-Tools/books/ACCESS-Trades-Numeracy-Exercise-Book.pdf#page=65"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38912"/>
            <a:ext cx="914400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t>ACCESS  /  CARPENTRY FOUNDATION  /  INTAKE 141</a:t>
            </a:r>
          </a:p>
        </p:txBody>
      </p:sp>
      <p:sp>
        <p:nvSpPr>
          <p:cNvPr id="3" name="TextBox 2"/>
          <p:cNvSpPr txBox="1"/>
          <p:nvPr/>
        </p:nvSpPr>
        <p:spPr>
          <a:xfrm>
            <a:off x="612648" y="1143000"/>
            <a:ext cx="10789920" cy="640080"/>
          </a:xfrm>
          <a:prstGeom prst="rect">
            <a:avLst/>
          </a:prstGeom>
          <a:noFill/>
        </p:spPr>
        <p:txBody>
          <a:bodyPr wrap="square" lIns="0" rIns="0" tIns="0" bIns="0">
            <a:spAutoFit/>
          </a:bodyPr>
          <a:lstStyle/>
          <a:p>
            <a:pPr>
              <a:spcBef>
                <a:spcPts val="0"/>
              </a:spcBef>
              <a:spcAft>
                <a:spcPts val="300"/>
              </a:spcAft>
              <a:defRPr sz="3600" b="1">
                <a:solidFill>
                  <a:srgbClr val="1A1A1A"/>
                </a:solidFill>
                <a:latin typeface="Arial"/>
              </a:defRPr>
            </a:pPr>
            <a:r>
              <a:t>Day 23  |  Monday</a:t>
            </a:r>
          </a:p>
        </p:txBody>
      </p:sp>
      <p:sp>
        <p:nvSpPr>
          <p:cNvPr id="4" name="TextBox 3"/>
          <p:cNvSpPr txBox="1"/>
          <p:nvPr/>
        </p:nvSpPr>
        <p:spPr>
          <a:xfrm>
            <a:off x="612648" y="1883664"/>
            <a:ext cx="10789920" cy="457200"/>
          </a:xfrm>
          <a:prstGeom prst="rect">
            <a:avLst/>
          </a:prstGeom>
          <a:noFill/>
        </p:spPr>
        <p:txBody>
          <a:bodyPr wrap="square" lIns="0" rIns="0" tIns="0" bIns="0">
            <a:spAutoFit/>
          </a:bodyPr>
          <a:lstStyle/>
          <a:p>
            <a:pPr>
              <a:spcBef>
                <a:spcPts val="0"/>
              </a:spcBef>
              <a:spcAft>
                <a:spcPts val="300"/>
              </a:spcAft>
              <a:defRPr sz="2600" b="0">
                <a:solidFill>
                  <a:srgbClr val="4A4E54"/>
                </a:solidFill>
                <a:latin typeface="Arial"/>
              </a:defRPr>
            </a:pPr>
            <a:r>
              <a:t>December 7, 2026</a:t>
            </a:r>
          </a:p>
        </p:txBody>
      </p:sp>
      <p:sp>
        <p:nvSpPr>
          <p:cNvPr id="5" name="Rectangle 4"/>
          <p:cNvSpPr/>
          <p:nvPr/>
        </p:nvSpPr>
        <p:spPr>
          <a:xfrm>
            <a:off x="612648" y="2633472"/>
            <a:ext cx="109728" cy="2194560"/>
          </a:xfrm>
          <a:prstGeom prst="rect">
            <a:avLst/>
          </a:prstGeom>
          <a:solidFill>
            <a:srgbClr val="D2181F"/>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6" name="TextBox 5"/>
          <p:cNvSpPr txBox="1"/>
          <p:nvPr/>
        </p:nvSpPr>
        <p:spPr>
          <a:xfrm>
            <a:off x="932688" y="274320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t>Carpentry drawing: floor layout and cut list</a:t>
            </a:r>
          </a:p>
        </p:txBody>
      </p:sp>
      <p:sp>
        <p:nvSpPr>
          <p:cNvPr id="7" name="TextBox 6"/>
          <p:cNvSpPr txBox="1"/>
          <p:nvPr/>
        </p:nvSpPr>
        <p:spPr>
          <a:xfrm>
            <a:off x="932688" y="320040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t>12:45 PM–2:00 PM  •  Math  •  75 min</a:t>
            </a:r>
          </a:p>
        </p:txBody>
      </p:sp>
      <p:sp>
        <p:nvSpPr>
          <p:cNvPr id="8" name="TextBox 7"/>
          <p:cNvSpPr txBox="1"/>
          <p:nvPr/>
        </p:nvSpPr>
        <p:spPr>
          <a:xfrm>
            <a:off x="932688" y="384048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t>Materials practice: sheeting and allowance</a:t>
            </a:r>
          </a:p>
        </p:txBody>
      </p:sp>
      <p:sp>
        <p:nvSpPr>
          <p:cNvPr id="9" name="TextBox 8"/>
          <p:cNvSpPr txBox="1"/>
          <p:nvPr/>
        </p:nvSpPr>
        <p:spPr>
          <a:xfrm>
            <a:off x="932688" y="429768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t>2:15 PM–3:30 PM  •  Calculation Practice  •  75 min</a:t>
            </a:r>
          </a:p>
        </p:txBody>
      </p:sp>
      <p:sp>
        <p:nvSpPr>
          <p:cNvPr id="10" name="TextBox 9"/>
          <p:cNvSpPr txBox="1"/>
          <p:nvPr/>
        </p:nvSpPr>
        <p:spPr>
          <a:xfrm>
            <a:off x="612648" y="5440680"/>
            <a:ext cx="10881360" cy="411480"/>
          </a:xfrm>
          <a:prstGeom prst="rect">
            <a:avLst/>
          </a:prstGeom>
          <a:noFill/>
        </p:spPr>
        <p:txBody>
          <a:bodyPr wrap="square" lIns="0" rIns="0" tIns="0" bIns="0">
            <a:spAutoFit/>
          </a:bodyPr>
          <a:lstStyle/>
          <a:p>
            <a:pPr>
              <a:spcBef>
                <a:spcPts val="0"/>
              </a:spcBef>
              <a:spcAft>
                <a:spcPts val="300"/>
              </a:spcAft>
              <a:defRPr sz="1800" b="1">
                <a:solidFill>
                  <a:srgbClr val="D2181F"/>
                </a:solidFill>
                <a:latin typeface="Arial"/>
              </a:defRPr>
            </a:pPr>
            <a:r>
              <a:t>Week 7  •  2 scheduled blocks  •  150 teaching minutes</a:t>
            </a:r>
          </a:p>
        </p:txBody>
      </p:sp>
      <p:sp>
        <p:nvSpPr>
          <p:cNvPr id="11" name="TextBox 10"/>
          <p:cNvSpPr txBox="1"/>
          <p:nvPr/>
        </p:nvSpPr>
        <p:spPr>
          <a:xfrm>
            <a:off x="612648" y="5943600"/>
            <a:ext cx="10881360" cy="27432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Rectangle 12"/>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4" name="TextBox 13"/>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5" name="TextBox 14"/>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6" name="TextBox 15"/>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7" name="TextBox 16"/>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8" name="TextBox 17"/>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t>Day 23  •  2026-12-07  •  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57200"/>
            <a:ext cx="941832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t>DAY 23  /  WEEK 7  /  CLASS TIMETABLE</a:t>
            </a:r>
          </a:p>
        </p:txBody>
      </p:sp>
      <p:sp>
        <p:nvSpPr>
          <p:cNvPr id="3" name="TextBox 2"/>
          <p:cNvSpPr txBox="1"/>
          <p:nvPr/>
        </p:nvSpPr>
        <p:spPr>
          <a:xfrm>
            <a:off x="612648" y="877824"/>
            <a:ext cx="10972800" cy="502920"/>
          </a:xfrm>
          <a:prstGeom prst="rect">
            <a:avLst/>
          </a:prstGeom>
          <a:noFill/>
        </p:spPr>
        <p:txBody>
          <a:bodyPr wrap="square" lIns="0" rIns="0" tIns="0" bIns="0">
            <a:spAutoFit/>
          </a:bodyPr>
          <a:lstStyle/>
          <a:p>
            <a:pPr>
              <a:spcBef>
                <a:spcPts val="0"/>
              </a:spcBef>
              <a:spcAft>
                <a:spcPts val="300"/>
              </a:spcAft>
              <a:defRPr sz="3000" b="1">
                <a:solidFill>
                  <a:srgbClr val="1A1A1A"/>
                </a:solidFill>
                <a:latin typeface="Arial"/>
              </a:defRPr>
            </a:pPr>
            <a:r>
              <a:rPr/>
              <a:t>Today’s exact schedule</a:t>
            </a:r>
          </a:p>
        </p:txBody>
      </p:sp>
      <p:sp>
        <p:nvSpPr>
          <p:cNvPr id="4" name="TextBox 3"/>
          <p:cNvSpPr txBox="1"/>
          <p:nvPr/>
        </p:nvSpPr>
        <p:spPr>
          <a:xfrm>
            <a:off x="61264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a:t>12:45 PM–2:00 PM  •  75 min</a:t>
            </a:r>
          </a:p>
        </p:txBody>
      </p:sp>
      <p:sp>
        <p:nvSpPr>
          <p:cNvPr id="5" name="TextBox 4"/>
          <p:cNvSpPr txBox="1"/>
          <p:nvPr/>
        </p:nvSpPr>
        <p:spPr>
          <a:xfrm>
            <a:off x="61264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a:t>Carpentry drawing: floor layout and cut list</a:t>
            </a:r>
          </a:p>
        </p:txBody>
      </p:sp>
      <p:sp>
        <p:nvSpPr>
          <p:cNvPr id="6" name="TextBox 5"/>
          <p:cNvSpPr txBox="1"/>
          <p:nvPr/>
        </p:nvSpPr>
        <p:spPr>
          <a:xfrm>
            <a:off x="61264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12:45 PM–12:50 PM</a:t>
            </a:r>
          </a:p>
        </p:txBody>
      </p:sp>
      <p:sp>
        <p:nvSpPr>
          <p:cNvPr id="7" name="TextBox 6"/>
          <p:cNvSpPr txBox="1"/>
          <p:nvPr/>
        </p:nvSpPr>
        <p:spPr>
          <a:xfrm>
            <a:off x="289864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Start</a:t>
            </a:r>
          </a:p>
        </p:txBody>
      </p:sp>
      <p:sp>
        <p:nvSpPr>
          <p:cNvPr id="8" name="TextBox 7"/>
          <p:cNvSpPr txBox="1"/>
          <p:nvPr/>
        </p:nvSpPr>
        <p:spPr>
          <a:xfrm>
            <a:off x="536752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9" name="TextBox 8"/>
          <p:cNvSpPr txBox="1"/>
          <p:nvPr/>
        </p:nvSpPr>
        <p:spPr>
          <a:xfrm>
            <a:off x="61264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12:50 PM–12:55 PM</a:t>
            </a:r>
          </a:p>
        </p:txBody>
      </p:sp>
      <p:sp>
        <p:nvSpPr>
          <p:cNvPr id="10" name="TextBox 9"/>
          <p:cNvSpPr txBox="1"/>
          <p:nvPr/>
        </p:nvSpPr>
        <p:spPr>
          <a:xfrm>
            <a:off x="289864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Recall</a:t>
            </a:r>
          </a:p>
        </p:txBody>
      </p:sp>
      <p:sp>
        <p:nvSpPr>
          <p:cNvPr id="11" name="TextBox 10"/>
          <p:cNvSpPr txBox="1"/>
          <p:nvPr/>
        </p:nvSpPr>
        <p:spPr>
          <a:xfrm>
            <a:off x="536752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12" name="TextBox 11"/>
          <p:cNvSpPr txBox="1"/>
          <p:nvPr/>
        </p:nvSpPr>
        <p:spPr>
          <a:xfrm>
            <a:off x="61264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12:55 PM–1:10 PM</a:t>
            </a:r>
          </a:p>
        </p:txBody>
      </p:sp>
      <p:sp>
        <p:nvSpPr>
          <p:cNvPr id="13" name="TextBox 12"/>
          <p:cNvSpPr txBox="1"/>
          <p:nvPr/>
        </p:nvSpPr>
        <p:spPr>
          <a:xfrm>
            <a:off x="289864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Teach</a:t>
            </a:r>
          </a:p>
        </p:txBody>
      </p:sp>
      <p:sp>
        <p:nvSpPr>
          <p:cNvPr id="14" name="TextBox 13"/>
          <p:cNvSpPr txBox="1"/>
          <p:nvPr/>
        </p:nvSpPr>
        <p:spPr>
          <a:xfrm>
            <a:off x="536752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15" name="TextBox 14"/>
          <p:cNvSpPr txBox="1"/>
          <p:nvPr/>
        </p:nvSpPr>
        <p:spPr>
          <a:xfrm>
            <a:off x="61264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1:10 PM–1:25 PM</a:t>
            </a:r>
          </a:p>
        </p:txBody>
      </p:sp>
      <p:sp>
        <p:nvSpPr>
          <p:cNvPr id="16" name="TextBox 15"/>
          <p:cNvSpPr txBox="1"/>
          <p:nvPr/>
        </p:nvSpPr>
        <p:spPr>
          <a:xfrm>
            <a:off x="289864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Together</a:t>
            </a:r>
          </a:p>
        </p:txBody>
      </p:sp>
      <p:sp>
        <p:nvSpPr>
          <p:cNvPr id="17" name="TextBox 16"/>
          <p:cNvSpPr txBox="1"/>
          <p:nvPr/>
        </p:nvSpPr>
        <p:spPr>
          <a:xfrm>
            <a:off x="536752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18" name="TextBox 17"/>
          <p:cNvSpPr txBox="1"/>
          <p:nvPr/>
        </p:nvSpPr>
        <p:spPr>
          <a:xfrm>
            <a:off x="61264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1:25 PM–1:45 PM</a:t>
            </a:r>
          </a:p>
        </p:txBody>
      </p:sp>
      <p:sp>
        <p:nvSpPr>
          <p:cNvPr id="19" name="TextBox 18"/>
          <p:cNvSpPr txBox="1"/>
          <p:nvPr/>
        </p:nvSpPr>
        <p:spPr>
          <a:xfrm>
            <a:off x="289864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Practise</a:t>
            </a:r>
          </a:p>
        </p:txBody>
      </p:sp>
      <p:sp>
        <p:nvSpPr>
          <p:cNvPr id="20" name="TextBox 19"/>
          <p:cNvSpPr txBox="1"/>
          <p:nvPr/>
        </p:nvSpPr>
        <p:spPr>
          <a:xfrm>
            <a:off x="536752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20</a:t>
            </a:r>
          </a:p>
        </p:txBody>
      </p:sp>
      <p:sp>
        <p:nvSpPr>
          <p:cNvPr id="21" name="TextBox 20"/>
          <p:cNvSpPr txBox="1"/>
          <p:nvPr/>
        </p:nvSpPr>
        <p:spPr>
          <a:xfrm>
            <a:off x="61264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1:45 PM–1:55 PM</a:t>
            </a:r>
          </a:p>
        </p:txBody>
      </p:sp>
      <p:sp>
        <p:nvSpPr>
          <p:cNvPr id="22" name="TextBox 21"/>
          <p:cNvSpPr txBox="1"/>
          <p:nvPr/>
        </p:nvSpPr>
        <p:spPr>
          <a:xfrm>
            <a:off x="289864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Check</a:t>
            </a:r>
          </a:p>
        </p:txBody>
      </p:sp>
      <p:sp>
        <p:nvSpPr>
          <p:cNvPr id="23" name="TextBox 22"/>
          <p:cNvSpPr txBox="1"/>
          <p:nvPr/>
        </p:nvSpPr>
        <p:spPr>
          <a:xfrm>
            <a:off x="536752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10</a:t>
            </a:r>
          </a:p>
        </p:txBody>
      </p:sp>
      <p:sp>
        <p:nvSpPr>
          <p:cNvPr id="24" name="TextBox 23"/>
          <p:cNvSpPr txBox="1"/>
          <p:nvPr/>
        </p:nvSpPr>
        <p:spPr>
          <a:xfrm>
            <a:off x="61264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1:55 PM–2:00 PM</a:t>
            </a:r>
          </a:p>
        </p:txBody>
      </p:sp>
      <p:sp>
        <p:nvSpPr>
          <p:cNvPr id="25" name="TextBox 24"/>
          <p:cNvSpPr txBox="1"/>
          <p:nvPr/>
        </p:nvSpPr>
        <p:spPr>
          <a:xfrm>
            <a:off x="289864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Wrap up</a:t>
            </a:r>
          </a:p>
        </p:txBody>
      </p:sp>
      <p:sp>
        <p:nvSpPr>
          <p:cNvPr id="26" name="TextBox 25"/>
          <p:cNvSpPr txBox="1"/>
          <p:nvPr/>
        </p:nvSpPr>
        <p:spPr>
          <a:xfrm>
            <a:off x="536752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27" name="TextBox 26"/>
          <p:cNvSpPr txBox="1"/>
          <p:nvPr/>
        </p:nvSpPr>
        <p:spPr>
          <a:xfrm>
            <a:off x="61264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Math  •  Math Week 7, Lesson 1</a:t>
            </a:r>
          </a:p>
        </p:txBody>
      </p:sp>
      <p:sp>
        <p:nvSpPr>
          <p:cNvPr id="28" name="TextBox 27"/>
          <p:cNvSpPr txBox="1"/>
          <p:nvPr/>
        </p:nvSpPr>
        <p:spPr>
          <a:xfrm>
            <a:off x="623620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a:t>2:15 PM–3:30 PM  •  75 min</a:t>
            </a:r>
          </a:p>
        </p:txBody>
      </p:sp>
      <p:sp>
        <p:nvSpPr>
          <p:cNvPr id="29" name="TextBox 28"/>
          <p:cNvSpPr txBox="1"/>
          <p:nvPr/>
        </p:nvSpPr>
        <p:spPr>
          <a:xfrm>
            <a:off x="623620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a:t>Materials practice: sheeting and allowance</a:t>
            </a:r>
          </a:p>
        </p:txBody>
      </p:sp>
      <p:sp>
        <p:nvSpPr>
          <p:cNvPr id="30" name="TextBox 29"/>
          <p:cNvSpPr txBox="1"/>
          <p:nvPr/>
        </p:nvSpPr>
        <p:spPr>
          <a:xfrm>
            <a:off x="623620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2:15 PM–2:20 PM</a:t>
            </a:r>
          </a:p>
        </p:txBody>
      </p:sp>
      <p:sp>
        <p:nvSpPr>
          <p:cNvPr id="31" name="TextBox 30"/>
          <p:cNvSpPr txBox="1"/>
          <p:nvPr/>
        </p:nvSpPr>
        <p:spPr>
          <a:xfrm>
            <a:off x="852220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Start</a:t>
            </a:r>
          </a:p>
        </p:txBody>
      </p:sp>
      <p:sp>
        <p:nvSpPr>
          <p:cNvPr id="32" name="TextBox 31"/>
          <p:cNvSpPr txBox="1"/>
          <p:nvPr/>
        </p:nvSpPr>
        <p:spPr>
          <a:xfrm>
            <a:off x="1099108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33" name="TextBox 32"/>
          <p:cNvSpPr txBox="1"/>
          <p:nvPr/>
        </p:nvSpPr>
        <p:spPr>
          <a:xfrm>
            <a:off x="623620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2:20 PM–2:25 PM</a:t>
            </a:r>
          </a:p>
        </p:txBody>
      </p:sp>
      <p:sp>
        <p:nvSpPr>
          <p:cNvPr id="34" name="TextBox 33"/>
          <p:cNvSpPr txBox="1"/>
          <p:nvPr/>
        </p:nvSpPr>
        <p:spPr>
          <a:xfrm>
            <a:off x="852220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Recall</a:t>
            </a:r>
          </a:p>
        </p:txBody>
      </p:sp>
      <p:sp>
        <p:nvSpPr>
          <p:cNvPr id="35" name="TextBox 34"/>
          <p:cNvSpPr txBox="1"/>
          <p:nvPr/>
        </p:nvSpPr>
        <p:spPr>
          <a:xfrm>
            <a:off x="1099108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36" name="TextBox 35"/>
          <p:cNvSpPr txBox="1"/>
          <p:nvPr/>
        </p:nvSpPr>
        <p:spPr>
          <a:xfrm>
            <a:off x="623620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2:25 PM–2:40 PM</a:t>
            </a:r>
          </a:p>
        </p:txBody>
      </p:sp>
      <p:sp>
        <p:nvSpPr>
          <p:cNvPr id="37" name="TextBox 36"/>
          <p:cNvSpPr txBox="1"/>
          <p:nvPr/>
        </p:nvSpPr>
        <p:spPr>
          <a:xfrm>
            <a:off x="852220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Teach</a:t>
            </a:r>
          </a:p>
        </p:txBody>
      </p:sp>
      <p:sp>
        <p:nvSpPr>
          <p:cNvPr id="38" name="TextBox 37"/>
          <p:cNvSpPr txBox="1"/>
          <p:nvPr/>
        </p:nvSpPr>
        <p:spPr>
          <a:xfrm>
            <a:off x="1099108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39" name="TextBox 38"/>
          <p:cNvSpPr txBox="1"/>
          <p:nvPr/>
        </p:nvSpPr>
        <p:spPr>
          <a:xfrm>
            <a:off x="623620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2:40 PM–2:55 PM</a:t>
            </a:r>
          </a:p>
        </p:txBody>
      </p:sp>
      <p:sp>
        <p:nvSpPr>
          <p:cNvPr id="40" name="TextBox 39"/>
          <p:cNvSpPr txBox="1"/>
          <p:nvPr/>
        </p:nvSpPr>
        <p:spPr>
          <a:xfrm>
            <a:off x="852220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Together</a:t>
            </a:r>
          </a:p>
        </p:txBody>
      </p:sp>
      <p:sp>
        <p:nvSpPr>
          <p:cNvPr id="41" name="TextBox 40"/>
          <p:cNvSpPr txBox="1"/>
          <p:nvPr/>
        </p:nvSpPr>
        <p:spPr>
          <a:xfrm>
            <a:off x="1099108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42" name="TextBox 41"/>
          <p:cNvSpPr txBox="1"/>
          <p:nvPr/>
        </p:nvSpPr>
        <p:spPr>
          <a:xfrm>
            <a:off x="623620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2:55 PM–3:15 PM</a:t>
            </a:r>
          </a:p>
        </p:txBody>
      </p:sp>
      <p:sp>
        <p:nvSpPr>
          <p:cNvPr id="43" name="TextBox 42"/>
          <p:cNvSpPr txBox="1"/>
          <p:nvPr/>
        </p:nvSpPr>
        <p:spPr>
          <a:xfrm>
            <a:off x="852220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Practise</a:t>
            </a:r>
          </a:p>
        </p:txBody>
      </p:sp>
      <p:sp>
        <p:nvSpPr>
          <p:cNvPr id="44" name="TextBox 43"/>
          <p:cNvSpPr txBox="1"/>
          <p:nvPr/>
        </p:nvSpPr>
        <p:spPr>
          <a:xfrm>
            <a:off x="1099108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20</a:t>
            </a:r>
          </a:p>
        </p:txBody>
      </p:sp>
      <p:sp>
        <p:nvSpPr>
          <p:cNvPr id="45" name="TextBox 44"/>
          <p:cNvSpPr txBox="1"/>
          <p:nvPr/>
        </p:nvSpPr>
        <p:spPr>
          <a:xfrm>
            <a:off x="623620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3:15 PM–3:25 PM</a:t>
            </a:r>
          </a:p>
        </p:txBody>
      </p:sp>
      <p:sp>
        <p:nvSpPr>
          <p:cNvPr id="46" name="TextBox 45"/>
          <p:cNvSpPr txBox="1"/>
          <p:nvPr/>
        </p:nvSpPr>
        <p:spPr>
          <a:xfrm>
            <a:off x="852220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Check</a:t>
            </a:r>
          </a:p>
        </p:txBody>
      </p:sp>
      <p:sp>
        <p:nvSpPr>
          <p:cNvPr id="47" name="TextBox 46"/>
          <p:cNvSpPr txBox="1"/>
          <p:nvPr/>
        </p:nvSpPr>
        <p:spPr>
          <a:xfrm>
            <a:off x="1099108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10</a:t>
            </a:r>
          </a:p>
        </p:txBody>
      </p:sp>
      <p:sp>
        <p:nvSpPr>
          <p:cNvPr id="48" name="TextBox 47"/>
          <p:cNvSpPr txBox="1"/>
          <p:nvPr/>
        </p:nvSpPr>
        <p:spPr>
          <a:xfrm>
            <a:off x="623620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3:25 PM–3:30 PM</a:t>
            </a:r>
          </a:p>
        </p:txBody>
      </p:sp>
      <p:sp>
        <p:nvSpPr>
          <p:cNvPr id="49" name="TextBox 48"/>
          <p:cNvSpPr txBox="1"/>
          <p:nvPr/>
        </p:nvSpPr>
        <p:spPr>
          <a:xfrm>
            <a:off x="852220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Wrap up</a:t>
            </a:r>
          </a:p>
        </p:txBody>
      </p:sp>
      <p:sp>
        <p:nvSpPr>
          <p:cNvPr id="50" name="TextBox 49"/>
          <p:cNvSpPr txBox="1"/>
          <p:nvPr/>
        </p:nvSpPr>
        <p:spPr>
          <a:xfrm>
            <a:off x="1099108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51" name="TextBox 50"/>
          <p:cNvSpPr txBox="1"/>
          <p:nvPr/>
        </p:nvSpPr>
        <p:spPr>
          <a:xfrm>
            <a:off x="623620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Calculation Practice  •  Math Week 7, Lesson 2</a:t>
            </a:r>
          </a:p>
        </p:txBody>
      </p:sp>
      <p:sp>
        <p:nvSpPr>
          <p:cNvPr id="52" name="TextBox 51"/>
          <p:cNvSpPr txBox="1"/>
          <p:nvPr/>
        </p:nvSpPr>
        <p:spPr>
          <a:xfrm>
            <a:off x="612648" y="6053328"/>
            <a:ext cx="10927080" cy="320040"/>
          </a:xfrm>
          <a:prstGeom prst="rect">
            <a:avLst/>
          </a:prstGeom>
          <a:noFill/>
        </p:spPr>
        <p:txBody>
          <a:bodyPr wrap="square" lIns="0" rIns="0" tIns="0" bIns="0">
            <a:spAutoFit/>
          </a:bodyPr>
          <a:lstStyle/>
          <a:p>
            <a:pPr>
              <a:spcBef>
                <a:spcPts val="0"/>
              </a:spcBef>
              <a:spcAft>
                <a:spcPts val="300"/>
              </a:spcAft>
              <a:defRPr sz="1500" b="0">
                <a:solidFill>
                  <a:srgbClr val="1A1A1A"/>
                </a:solidFill>
                <a:latin typeface="Arial"/>
              </a:defRPr>
            </a:pPr>
            <a:r>
              <a:rPr/>
              <a:t>Break: 2:00 PM–2:15 PM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4" name="Rectangle 5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55" name="TextBox 5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56" name="TextBox 5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57" name="TextBox 5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58" name="TextBox 5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59" name="TextBox 5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23  •  2026-12-07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W07-L01  •  START  •  12:45 PM–12:50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Carpentry drawing: floor layout and cut list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3 pp.44–51; Chapter 9 p.140; Chapter 10 pp.154–157</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a:t>Today’s goal: Extract dimensions from a drawing, calculate a perimeter and offcut, and explain assumptions in a cut list.</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Identify one target skill and the checking habit to use today.</a:t>
            </a:r>
          </a:p>
        </p:txBody>
      </p:sp>
      <p:sp>
        <p:nvSpPr>
          <p:cNvPr id="7" name="Rectangle 6"/>
          <p:cNvSpPr/>
          <p:nvPr/>
        </p:nvSpPr>
        <p:spPr>
          <a:xfrm>
            <a:off x="612648" y="4114800"/>
            <a:ext cx="10927080" cy="137160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t>Textbook Chapter 3 pp.44–51; Chapter 9 p.140; Chapter 10 pp.154–157</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t>Exercise Book 10B Q1 (p.65); 3C Q3 (p.23); 12B Q5 (p.78)</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t>Keep your notebook, assigned ACCESS books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23  •  2026-12-07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W07-L01  •  RECALL  •  12:50 PM–12:55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3 pp.44–51; Chapter 9 p.140; Chapter 10 pp.154–157</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Discuss which dimensions are needed for perimeter, area and diagonal; retrieve one kerf calculation.</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Review previous feedback and attempt the retrieval prompt without displayed solutions.</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10B Q1 (p.65); 3C Q3 (p.23); 12B Q5 (p.78)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23  •  2026-12-07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W07-L01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Match each floor measurement to its purpose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3 pp.44–51; Chapter 9 p.140; Chapter 10 pp.154–157</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The floor is a 7.2 m × 3.6 m rectangle: label both dimensions before choosing a calculation.</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Perimeter measures the boundary: 2(7.2 + 3.6) = 21.6 m. Area measures coverage: 7.2 × 3.6 = 25.92 m².</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The diagonal crosses the rectangle: √(7.2² + 3.6²) ≈ 8.05 m. It is a length, not an area.</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Keep the rectangular layout and no-waste assumptions visible. This is the instructor’s plywood adaptation of 10B Q1.</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23  •  2026-12-07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W07-L01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Keep the floor and stock calculations separate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3 pp.44–51; Chapter 9 p.140; Chapter 10 pp.154–157</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Exercise Book 3C Q3 is a separate 6,000 mm stock problem; its dimensions do not come from the floor drawing.</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Keep all four stated cuts and the 3 mm kerf in the stock equation: stock − total pieces − total kerf = offcut.</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Check backwards: total pieces + total kerf + offcut must equal the original stock length.</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Use metres for the floor and millimetres for the stock. Attach each unit and assumption to the correct sketch.</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23  •  2026-12-07  •  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CA"/>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t>W07-L01  •  TEACH  •  12:55 PM–1:10 PM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181818"/>
                </a:solidFill>
                <a:latin typeface="Arial" pitchFamily="34" charset="0"/>
                <a:ea typeface="Arial" pitchFamily="34" charset="-122"/>
                <a:cs typeface="Arial" pitchFamily="34" charset="-120"/>
              </a:rPr>
              <a:t>One floor, three different measurements</a:t>
            </a:r>
            <a:endParaRPr lang="en-US" sz="3000" dirty="0"/>
          </a:p>
        </p:txBody>
      </p:sp>
      <p:sp>
        <p:nvSpPr>
          <p:cNvPr id="5" name="Shape 3"/>
          <p:cNvSpPr/>
          <p:nvPr/>
        </p:nvSpPr>
        <p:spPr>
          <a:xfrm>
            <a:off x="952476" y="2333625"/>
            <a:ext cx="3809905" cy="1905000"/>
          </a:xfrm>
          <a:prstGeom prst="rect">
            <a:avLst/>
          </a:prstGeom>
          <a:solidFill>
            <a:srgbClr val="F3F4F5"/>
          </a:solidFill>
          <a:ln w="28575">
            <a:solidFill>
              <a:srgbClr val="C60016"/>
            </a:solidFill>
            <a:prstDash val="solid"/>
          </a:ln>
        </p:spPr>
        <p:txBody>
          <a:bodyPr/>
          <a:lstStyle/>
          <a:p>
            <a:endParaRPr lang="en-CA"/>
          </a:p>
        </p:txBody>
      </p:sp>
      <p:sp>
        <p:nvSpPr>
          <p:cNvPr id="6" name="Text 4"/>
          <p:cNvSpPr/>
          <p:nvPr/>
        </p:nvSpPr>
        <p:spPr>
          <a:xfrm>
            <a:off x="2143071" y="1857375"/>
            <a:ext cx="2381190" cy="319980"/>
          </a:xfrm>
          <a:prstGeom prst="rect">
            <a:avLst/>
          </a:prstGeom>
          <a:noFill/>
          <a:ln/>
        </p:spPr>
        <p:txBody>
          <a:bodyPr wrap="square" lIns="0" tIns="0" rIns="0" bIns="0" rtlCol="0" anchor="t"/>
          <a:lstStyle/>
          <a:p>
            <a:pPr marL="0" indent="0" algn="l">
              <a:buNone/>
            </a:pPr>
            <a:r>
              <a:rPr lang="en-US" sz="1800" dirty="0">
                <a:solidFill>
                  <a:srgbClr val="181818"/>
                </a:solidFill>
                <a:latin typeface="Arial" pitchFamily="34" charset="0"/>
                <a:ea typeface="Arial" pitchFamily="34" charset="-122"/>
                <a:cs typeface="Arial" pitchFamily="34" charset="-120"/>
              </a:rPr>
              <a:t>7.2 m</a:t>
            </a:r>
            <a:endParaRPr lang="en-US" sz="1800" dirty="0"/>
          </a:p>
        </p:txBody>
      </p:sp>
      <p:sp>
        <p:nvSpPr>
          <p:cNvPr id="7" name="Text 5"/>
          <p:cNvSpPr/>
          <p:nvPr/>
        </p:nvSpPr>
        <p:spPr>
          <a:xfrm>
            <a:off x="4952876" y="3095625"/>
            <a:ext cx="1142971" cy="319980"/>
          </a:xfrm>
          <a:prstGeom prst="rect">
            <a:avLst/>
          </a:prstGeom>
          <a:noFill/>
          <a:ln/>
        </p:spPr>
        <p:txBody>
          <a:bodyPr wrap="square" lIns="0" tIns="0" rIns="0" bIns="0" rtlCol="0" anchor="t"/>
          <a:lstStyle/>
          <a:p>
            <a:pPr marL="0" indent="0" algn="l">
              <a:buNone/>
            </a:pPr>
            <a:r>
              <a:rPr lang="en-US" sz="1800" dirty="0">
                <a:solidFill>
                  <a:srgbClr val="181818"/>
                </a:solidFill>
                <a:latin typeface="Arial" pitchFamily="34" charset="0"/>
                <a:ea typeface="Arial" pitchFamily="34" charset="-122"/>
                <a:cs typeface="Arial" pitchFamily="34" charset="-120"/>
              </a:rPr>
              <a:t>3.6 m</a:t>
            </a:r>
            <a:endParaRPr lang="en-US" sz="1800" dirty="0"/>
          </a:p>
        </p:txBody>
      </p:sp>
      <p:sp>
        <p:nvSpPr>
          <p:cNvPr id="8" name="Text 6"/>
          <p:cNvSpPr/>
          <p:nvPr/>
        </p:nvSpPr>
        <p:spPr>
          <a:xfrm>
            <a:off x="6762581" y="1952625"/>
            <a:ext cx="4667133" cy="1599902"/>
          </a:xfrm>
          <a:prstGeom prst="rect">
            <a:avLst/>
          </a:prstGeom>
          <a:noFill/>
          <a:ln/>
        </p:spPr>
        <p:txBody>
          <a:bodyPr wrap="square" lIns="0" tIns="0" rIns="0" bIns="0" rtlCol="0" anchor="t"/>
          <a:lstStyle/>
          <a:p>
            <a:pPr marL="0" indent="0" algn="l">
              <a:buNone/>
            </a:pPr>
            <a:r>
              <a:rPr lang="en-US" sz="1800" dirty="0">
                <a:solidFill>
                  <a:srgbClr val="181818"/>
                </a:solidFill>
                <a:latin typeface="Arial" pitchFamily="34" charset="0"/>
                <a:ea typeface="Arial" pitchFamily="34" charset="-122"/>
                <a:cs typeface="Arial" pitchFamily="34" charset="-120"/>
              </a:rPr>
              <a:t>Boundary: P = 2(7.2 + 3.6)</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 21.6 m</a:t>
            </a:r>
            <a:endParaRPr lang="en-US" sz="1800" dirty="0"/>
          </a:p>
          <a:p>
            <a:pPr marL="0" indent="0" algn="l">
              <a:buNone/>
            </a:pP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Coverage: A = 7.2 × 3.6</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 25.92 m²</a:t>
            </a:r>
            <a:endParaRPr lang="en-US" sz="1800" dirty="0"/>
          </a:p>
        </p:txBody>
      </p:sp>
      <p:sp>
        <p:nvSpPr>
          <p:cNvPr id="9" name="Text 7"/>
          <p:cNvSpPr/>
          <p:nvPr/>
        </p:nvSpPr>
        <p:spPr>
          <a:xfrm>
            <a:off x="609585" y="4667250"/>
            <a:ext cx="10972526" cy="639961"/>
          </a:xfrm>
          <a:prstGeom prst="rect">
            <a:avLst/>
          </a:prstGeom>
          <a:noFill/>
          <a:ln/>
        </p:spPr>
        <p:txBody>
          <a:bodyPr wrap="square" lIns="0" tIns="0" rIns="0" bIns="0" rtlCol="0" anchor="t"/>
          <a:lstStyle/>
          <a:p>
            <a:pPr marL="0" indent="0" algn="l">
              <a:buNone/>
            </a:pPr>
            <a:r>
              <a:rPr lang="en-US" sz="1800" dirty="0">
                <a:solidFill>
                  <a:srgbClr val="181818"/>
                </a:solidFill>
                <a:latin typeface="Arial" pitchFamily="34" charset="0"/>
                <a:ea typeface="Arial" pitchFamily="34" charset="-122"/>
                <a:cs typeface="Arial" pitchFamily="34" charset="-120"/>
              </a:rPr>
              <a:t>Diagonal: √(7.2² + 3.6²) ≈ 8.05 m.</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Keep rectangular-layout and no-waste assumptions explicit.</a:t>
            </a:r>
            <a:endParaRPr lang="en-US" sz="1800" dirty="0"/>
          </a:p>
        </p:txBody>
      </p:sp>
      <p:sp>
        <p:nvSpPr>
          <p:cNvPr id="10" name="Text 8"/>
          <p:cNvSpPr/>
          <p:nvPr/>
        </p:nvSpPr>
        <p:spPr>
          <a:xfrm>
            <a:off x="609585" y="5572125"/>
            <a:ext cx="10972526" cy="639961"/>
          </a:xfrm>
          <a:prstGeom prst="rect">
            <a:avLst/>
          </a:prstGeom>
          <a:noFill/>
          <a:ln/>
        </p:spPr>
        <p:txBody>
          <a:bodyPr wrap="square" lIns="0" tIns="0" rIns="0" bIns="0" rtlCol="0" anchor="t"/>
          <a:lstStyle/>
          <a:p>
            <a:pPr marL="0" indent="0" algn="l">
              <a:buNone/>
            </a:pPr>
            <a:r>
              <a:rPr lang="en-US" sz="1800" dirty="0">
                <a:solidFill>
                  <a:srgbClr val="181818"/>
                </a:solidFill>
                <a:latin typeface="Arial" pitchFamily="34" charset="0"/>
                <a:ea typeface="Arial" pitchFamily="34" charset="-122"/>
                <a:cs typeface="Arial" pitchFamily="34" charset="-120"/>
              </a:rPr>
              <a:t>Together • Annotate this floor and a separate 6,000 mm stock sketch.</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Identify which information belongs in each calculation before using tools.</a:t>
            </a:r>
            <a:endParaRPr lang="en-US" sz="1800" dirty="0"/>
          </a:p>
        </p:txBody>
      </p:sp>
      <p:sp>
        <p:nvSpPr>
          <p:cNvPr id="11" name="Text 9"/>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181818"/>
                </a:solidFill>
                <a:latin typeface="Arial" pitchFamily="34" charset="0"/>
                <a:ea typeface="Arial" pitchFamily="34" charset="-122"/>
                <a:cs typeface="Arial" pitchFamily="34" charset="-120"/>
              </a:rPr>
              <a:t>Instructor carpentry adaptation of 10B Q1; plywood replaces checker plate • Shape Canvas units: m • Schematic</a:t>
            </a:r>
            <a:endParaRPr lang="en-US" sz="1050" dirty="0"/>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Rectangle 12"/>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4" name="TextBox 13"/>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5" name="TextBox 14"/>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6" name="TextBox 15"/>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7" name="TextBox 16"/>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8" name="TextBox 17"/>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23  •  2026-12-07  •  07</a:t>
            </a:r>
          </a:p>
        </p:txBody>
      </p:sp>
    </p:spTree>
    <p:extLst>
      <p:ext uri="{BB962C8B-B14F-4D97-AF65-F5344CB8AC3E}">
        <p14:creationId xmlns:p14="http://schemas.microsoft.com/office/powerpoint/2010/main" val="502677205"/>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W07-L01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140</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3 pp.44–51; Chapter 9 p.140; Chapter 10 pp.154–157</a:t>
            </a:r>
          </a:p>
        </p:txBody>
      </p:sp>
      <p:pic>
        <p:nvPicPr>
          <p:cNvPr id="5" name="Picture 4" descr="W07-L01-1.png"/>
          <p:cNvPicPr>
            <a:picLocks noChangeAspect="1"/>
          </p:cNvPicPr>
          <p:nvPr/>
        </p:nvPicPr>
        <p:blipFill>
          <a:blip r:embed="rId3"/>
          <a:stretch>
            <a:fillRect/>
          </a:stretch>
        </p:blipFill>
        <p:spPr>
          <a:xfrm>
            <a:off x="685800" y="2136150"/>
            <a:ext cx="10698480" cy="318006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Example 9.1: label the boundary before calculating a perimeter.</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23  •  2026-12-07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W07-L01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3 pp.44–51; Chapter 9 p.140; Chapter 10 pp.154–157</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t>A cut-list equation subtracts the required pieces from 6,000 mm but has no kerf term. What quantity is missing?</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a:t>Include the material lost to all four stated cuts at 3 mm per cut. Keep this stock calculation separate from the floor, then check that pieces, kerf and offcut total 6,000 mm.</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Rectangle 8"/>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1" name="TextBox 10"/>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2" name="TextBox 11"/>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3" name="TextBox 12"/>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4" name="TextBox 13"/>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23  •  2026-12-07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W07-L01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3 pp.44–51; Chapter 9 p.140; Chapter 10 pp.154–157</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Partners annotate the floor rectangle and a separate 6,000 mm stock sketch from Exercise Book 3C Q3. Decide which information belongs to each calculation.</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Explain the method and check directions; work with a partner only where permitted.</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10B Q1 (p.65); 3C Q3 (p.23); 12B Q5 (p.78)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23  •  2026-12-07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W07-L01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Guided practice  |  3C Q3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3 pp.44–51; Chapter 9 p.140; Chapter 10 pp.154–157</a:t>
            </a:r>
          </a:p>
        </p:txBody>
      </p:sp>
      <p:pic>
        <p:nvPicPr>
          <p:cNvPr id="5" name="Picture 4" descr="3C-Q3.png"/>
          <p:cNvPicPr>
            <a:picLocks noChangeAspect="1"/>
          </p:cNvPicPr>
          <p:nvPr/>
        </p:nvPicPr>
        <p:blipFill>
          <a:blip r:embed="rId3"/>
          <a:stretch>
            <a:fillRect/>
          </a:stretch>
        </p:blipFill>
        <p:spPr>
          <a:xfrm>
            <a:off x="791988" y="1773936"/>
            <a:ext cx="1048610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23  •  2026-12-07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W07-L01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Compare your method  |  3C Q3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3 pp.44–51; Chapter 9 p.140; Chapter 10 pp.154–157</a:t>
            </a:r>
          </a:p>
        </p:txBody>
      </p:sp>
      <p:pic>
        <p:nvPicPr>
          <p:cNvPr id="5" name="Picture 4" descr="3C-Q3.png"/>
          <p:cNvPicPr>
            <a:picLocks noChangeAspect="1"/>
          </p:cNvPicPr>
          <p:nvPr/>
        </p:nvPicPr>
        <p:blipFill>
          <a:blip r:embed="rId3"/>
          <a:stretch>
            <a:fillRect/>
          </a:stretch>
        </p:blipFill>
        <p:spPr>
          <a:xfrm>
            <a:off x="3844904" y="1783080"/>
            <a:ext cx="4380270" cy="1508760"/>
          </a:xfrm>
          <a:prstGeom prst="rect">
            <a:avLst/>
          </a:prstGeom>
        </p:spPr>
      </p:pic>
      <p:sp>
        <p:nvSpPr>
          <p:cNvPr id="6" name="TextBox 5"/>
          <p:cNvSpPr txBox="1"/>
          <p:nvPr/>
        </p:nvSpPr>
        <p:spPr>
          <a:xfrm>
            <a:off x="685800" y="3611880"/>
            <a:ext cx="164592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a:t>1,188 mm</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Rectangle 8"/>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1" name="TextBox 10"/>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2" name="TextBox 11"/>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3" name="TextBox 12"/>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4" name="TextBox 13"/>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23  •  2026-12-07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W07-L01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3 pp.44–51; Chapter 9 p.140; Chapter 10 pp.154–157</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Draw and label the floor in Shape Canvas. Calculate perimeter, floor area and diagonal; solve Exercise Book 3C Q3 without changing its four cuts or 3 mm kerf. Record units and assumptions; do not mix the two problem contexts.</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Keep numbered written solutions and units. Use tools only under the conditions stated for this block.</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10B Q1 (p.65); 3C Q3 (p.23); 12B Q5 (p.78)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23  •  2026-12-07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W07-L01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Open the ACCESS tool for this activity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3 pp.44–51; Chapter 9 p.140; Chapter 10 pp.154–157</a:t>
            </a:r>
          </a:p>
        </p:txBody>
      </p:sp>
      <p:pic>
        <p:nvPicPr>
          <p:cNvPr id="5" name="Picture 4" descr="shape-rect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23  •  2026-12-07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W07-L01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tool activity: try, compare and record</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3 pp.44–51; Chapter 9 p.140; Chapter 10 pp.154–157</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In Shape Canvas, set units to m and draw the 7.2 m × 3.6 m floor rectangle; label the dimensions.</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Add a Text cut-list note that keeps the separate 6,000 mm stock problem, four cuts and 3 mm kerf explicit; retain the written equations and assumptions.</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000" b="0">
                <a:solidFill>
                  <a:srgbClr val="1A1A1A"/>
                </a:solidFill>
                <a:latin typeface="Arial"/>
              </a:defRPr>
            </a:pPr>
            <a:r>
              <a:rPr/>
              <a:t>After the paper calculations, use Numeracy Hub Calculator for numerical checks. Save the labelled floor sketch and assumptions for the next material-order block.</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23  •  2026-12-07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W07-L01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3C Q3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3 pp.44–51; Chapter 9 p.140; Chapter 10 pp.154–157</a:t>
            </a:r>
          </a:p>
        </p:txBody>
      </p:sp>
      <p:pic>
        <p:nvPicPr>
          <p:cNvPr id="5" name="Picture 4" descr="3C-Q3.png"/>
          <p:cNvPicPr>
            <a:picLocks noChangeAspect="1"/>
          </p:cNvPicPr>
          <p:nvPr/>
        </p:nvPicPr>
        <p:blipFill>
          <a:blip r:embed="rId3"/>
          <a:stretch>
            <a:fillRect/>
          </a:stretch>
        </p:blipFill>
        <p:spPr>
          <a:xfrm>
            <a:off x="791988" y="1773936"/>
            <a:ext cx="1048610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23  •  2026-12-07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W07-L01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3 pp.44–51; Chapter 9 p.140; Chapter 10 pp.154–157</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Submit the labelled floor plan, perimeter calculation and stock offcut equation.</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Submit work and demonstrate the checking strategy; identify a remaining difficulty.</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10B Q1 (p.65); 3C Q3 (p.23); 12B Q5 (p.78)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23  •  2026-12-07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W07-L01  •  WRAP UP  •  1:55 PM–2:00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3 pp.44–51; Chapter 9 p.140; Chapter 10 pp.154–157</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Identify what improved, what needs another attempt and which resource will support the next step.</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Name the math and another essential skill used; record a concrete follow-up action.</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10B Q1 (p.65); 3C Q3 (p.23); 12B Q5 (p.78)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23  •  2026-12-07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57200"/>
            <a:ext cx="9418320" cy="27432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t>DAY 23  •  SCHEDULED BREAK</a:t>
            </a:r>
          </a:p>
        </p:txBody>
      </p:sp>
      <p:sp>
        <p:nvSpPr>
          <p:cNvPr id="3" name="TextBox 2"/>
          <p:cNvSpPr txBox="1"/>
          <p:nvPr/>
        </p:nvSpPr>
        <p:spPr>
          <a:xfrm>
            <a:off x="612648" y="1371600"/>
            <a:ext cx="10972800" cy="914400"/>
          </a:xfrm>
          <a:prstGeom prst="rect">
            <a:avLst/>
          </a:prstGeom>
          <a:noFill/>
        </p:spPr>
        <p:txBody>
          <a:bodyPr wrap="square" lIns="0" rIns="0" tIns="0" bIns="0">
            <a:spAutoFit/>
          </a:bodyPr>
          <a:lstStyle/>
          <a:p>
            <a:pPr>
              <a:spcBef>
                <a:spcPts val="0"/>
              </a:spcBef>
              <a:spcAft>
                <a:spcPts val="300"/>
              </a:spcAft>
              <a:defRPr sz="4400" b="1">
                <a:solidFill>
                  <a:srgbClr val="1A1A1A"/>
                </a:solidFill>
                <a:latin typeface="Arial"/>
              </a:defRPr>
            </a:pPr>
            <a:r>
              <a:t>Break</a:t>
            </a:r>
          </a:p>
        </p:txBody>
      </p:sp>
      <p:sp>
        <p:nvSpPr>
          <p:cNvPr id="4" name="TextBox 3"/>
          <p:cNvSpPr txBox="1"/>
          <p:nvPr/>
        </p:nvSpPr>
        <p:spPr>
          <a:xfrm>
            <a:off x="612648" y="2743200"/>
            <a:ext cx="10972800" cy="548640"/>
          </a:xfrm>
          <a:prstGeom prst="rect">
            <a:avLst/>
          </a:prstGeom>
          <a:noFill/>
        </p:spPr>
        <p:txBody>
          <a:bodyPr wrap="square" lIns="0" rIns="0" tIns="0" bIns="0">
            <a:spAutoFit/>
          </a:bodyPr>
          <a:lstStyle/>
          <a:p>
            <a:pPr>
              <a:spcBef>
                <a:spcPts val="0"/>
              </a:spcBef>
              <a:spcAft>
                <a:spcPts val="300"/>
              </a:spcAft>
              <a:defRPr sz="3200" b="0">
                <a:solidFill>
                  <a:srgbClr val="D2181F"/>
                </a:solidFill>
                <a:latin typeface="Arial"/>
              </a:defRPr>
            </a:pPr>
            <a:r>
              <a:t>2:00 PM–2:15 PM</a:t>
            </a:r>
          </a:p>
        </p:txBody>
      </p:sp>
      <p:sp>
        <p:nvSpPr>
          <p:cNvPr id="5" name="TextBox 4"/>
          <p:cNvSpPr txBox="1"/>
          <p:nvPr/>
        </p:nvSpPr>
        <p:spPr>
          <a:xfrm>
            <a:off x="612648" y="3794760"/>
            <a:ext cx="10972800" cy="548640"/>
          </a:xfrm>
          <a:prstGeom prst="rect">
            <a:avLst/>
          </a:prstGeom>
          <a:noFill/>
        </p:spPr>
        <p:txBody>
          <a:bodyPr wrap="square" lIns="0" rIns="0" tIns="0" bIns="0">
            <a:spAutoFit/>
          </a:bodyPr>
          <a:lstStyle/>
          <a:p>
            <a:pPr>
              <a:spcBef>
                <a:spcPts val="0"/>
              </a:spcBef>
              <a:spcAft>
                <a:spcPts val="300"/>
              </a:spcAft>
              <a:defRPr sz="2300" b="0">
                <a:solidFill>
                  <a:srgbClr val="1A1A1A"/>
                </a:solidFill>
                <a:latin typeface="Arial"/>
              </a:defRPr>
            </a:pPr>
            <a:r>
              <a:t>Return ready for: Materials practice: sheeting and allowance</a:t>
            </a:r>
          </a:p>
        </p:txBody>
      </p:sp>
      <p:sp>
        <p:nvSpPr>
          <p:cNvPr id="6" name="TextBox 5"/>
          <p:cNvSpPr txBox="1"/>
          <p:nvPr/>
        </p:nvSpPr>
        <p:spPr>
          <a:xfrm>
            <a:off x="612648" y="5212080"/>
            <a:ext cx="10972800" cy="457200"/>
          </a:xfrm>
          <a:prstGeom prst="rect">
            <a:avLst/>
          </a:prstGeom>
          <a:noFill/>
        </p:spPr>
        <p:txBody>
          <a:bodyPr wrap="square" lIns="0" rIns="0" tIns="0" bIns="0">
            <a:spAutoFit/>
          </a:bodyPr>
          <a:lstStyle/>
          <a:p>
            <a:pPr>
              <a:spcBef>
                <a:spcPts val="0"/>
              </a:spcBef>
              <a:spcAft>
                <a:spcPts val="300"/>
              </a:spcAft>
              <a:defRPr sz="1800" b="0">
                <a:solidFill>
                  <a:srgbClr val="4A4E54"/>
                </a:solidFill>
                <a:latin typeface="Arial"/>
              </a:defRPr>
            </a:pPr>
            <a: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t>Day 23  •  2026-12-07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W07-L02  •  START  •  2:15 PM–2:20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Materials practice: sheeting and allowance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6.4 pp.96–97; Chapter 10 pp.154–164</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a:t>Today’s goal: Use area and a stated classroom allowance to build a material quantity and distinguish an estimate from a cutting layout.</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Identify one target skill and the checking habit to use today.</a:t>
            </a:r>
          </a:p>
        </p:txBody>
      </p:sp>
      <p:sp>
        <p:nvSpPr>
          <p:cNvPr id="7" name="Rectangle 6"/>
          <p:cNvSpPr/>
          <p:nvPr/>
        </p:nvSpPr>
        <p:spPr>
          <a:xfrm>
            <a:off x="612648" y="4114800"/>
            <a:ext cx="10927080" cy="137160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t>Textbook sections 6.4 pp.96–97; Chapter 10 pp.154–164</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t>Exercise Book 10B Q1–2 (p.65); 6B Q2 (p.41)</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t>Keep your notebook, assigned ACCESS books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23  •  2026-12-07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W07-L02  •  RECALL  •  2:20 PM–2:25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6.4 pp.96–97; Chapter 10 pp.154–164</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Retrieve the floor area and one-sheet area from the previous block. Explain why a fractional purchase quantity rounds up.</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Review previous feedback and attempt the retrieval prompt without displayed solutions.</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10B Q1–2 (p.65); 6B Q2 (p.41)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23  •  2026-12-07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W07-L02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An area count needs a matching layout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6.4 pp.96–97; Chapter 10 pp.154–164</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The floor area is 25.92 m². One 1.2 m × 2.4 m sheet covers 2.88 m².</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The no-waste area calculation gives 25.92 ÷ 2.88 = 9 sheets.</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Three 2.4 m lengths make 7.2 m; three 1.2 m widths make 3.6 m. This 3 × 3 arrangement verifies the nine-sheet rectangular layout.</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An area estimate alone does not prove that every cutting layout will fit. Here, both dimensions are checked against the arrangement.</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23  •  2026-12-07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W07-L02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Separate the base quantity from the allowance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6.4 pp.96–97; Chapter 10 pp.154–164</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Keep the nine-sheet no-waste base visible before adding any allowance.</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For this classroom exercise only, the stated 10% allowance gives 9 × 1.10 = 9.9 sheets.</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An order needs whole sheets, so round 9.9 up to 10. The additional sheet belongs to the allowance calculation.</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The 10% is instructor-provided problem data, not a universal site allowance. Do not add prices or other unstated job assumptions.</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23  •  2026-12-07  •  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CA"/>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t>W07-L02  •  TEACH  •  2:25 PM–2:40 PM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181818"/>
                </a:solidFill>
                <a:latin typeface="Arial" pitchFamily="34" charset="0"/>
                <a:ea typeface="Arial" pitchFamily="34" charset="-122"/>
                <a:cs typeface="Arial" pitchFamily="34" charset="-120"/>
              </a:rPr>
              <a:t>Verify the base layout before adding allowance</a:t>
            </a:r>
            <a:endParaRPr lang="en-US" sz="3000" dirty="0"/>
          </a:p>
        </p:txBody>
      </p:sp>
      <p:sp>
        <p:nvSpPr>
          <p:cNvPr id="5" name="Shape 3"/>
          <p:cNvSpPr/>
          <p:nvPr/>
        </p:nvSpPr>
        <p:spPr>
          <a:xfrm>
            <a:off x="904852" y="2286000"/>
            <a:ext cx="4286143" cy="2143125"/>
          </a:xfrm>
          <a:prstGeom prst="rect">
            <a:avLst/>
          </a:prstGeom>
          <a:solidFill>
            <a:srgbClr val="F3F4F5"/>
          </a:solidFill>
          <a:ln w="28575">
            <a:solidFill>
              <a:srgbClr val="C60016"/>
            </a:solidFill>
            <a:prstDash val="solid"/>
          </a:ln>
        </p:spPr>
        <p:txBody>
          <a:bodyPr/>
          <a:lstStyle/>
          <a:p>
            <a:endParaRPr lang="en-CA"/>
          </a:p>
        </p:txBody>
      </p:sp>
      <p:sp>
        <p:nvSpPr>
          <p:cNvPr id="6" name="Shape 4"/>
          <p:cNvSpPr/>
          <p:nvPr/>
        </p:nvSpPr>
        <p:spPr>
          <a:xfrm>
            <a:off x="2333567" y="2286000"/>
            <a:ext cx="19050" cy="2143125"/>
          </a:xfrm>
          <a:prstGeom prst="rect">
            <a:avLst/>
          </a:prstGeom>
          <a:solidFill>
            <a:srgbClr val="C60016"/>
          </a:solidFill>
          <a:ln w="12700">
            <a:solidFill>
              <a:srgbClr val="FFFFFF">
                <a:alpha val="0"/>
              </a:srgbClr>
            </a:solidFill>
            <a:prstDash val="solid"/>
          </a:ln>
        </p:spPr>
        <p:txBody>
          <a:bodyPr/>
          <a:lstStyle/>
          <a:p>
            <a:endParaRPr lang="en-CA"/>
          </a:p>
        </p:txBody>
      </p:sp>
      <p:sp>
        <p:nvSpPr>
          <p:cNvPr id="7" name="Shape 5"/>
          <p:cNvSpPr/>
          <p:nvPr/>
        </p:nvSpPr>
        <p:spPr>
          <a:xfrm>
            <a:off x="3762281" y="2286000"/>
            <a:ext cx="19050" cy="2143125"/>
          </a:xfrm>
          <a:prstGeom prst="rect">
            <a:avLst/>
          </a:prstGeom>
          <a:solidFill>
            <a:srgbClr val="C60016"/>
          </a:solidFill>
          <a:ln w="12700">
            <a:solidFill>
              <a:srgbClr val="FFFFFF">
                <a:alpha val="0"/>
              </a:srgbClr>
            </a:solidFill>
            <a:prstDash val="solid"/>
          </a:ln>
        </p:spPr>
        <p:txBody>
          <a:bodyPr/>
          <a:lstStyle/>
          <a:p>
            <a:endParaRPr lang="en-CA"/>
          </a:p>
        </p:txBody>
      </p:sp>
      <p:sp>
        <p:nvSpPr>
          <p:cNvPr id="8" name="Shape 6"/>
          <p:cNvSpPr/>
          <p:nvPr/>
        </p:nvSpPr>
        <p:spPr>
          <a:xfrm>
            <a:off x="904852" y="3000375"/>
            <a:ext cx="4286143" cy="19050"/>
          </a:xfrm>
          <a:prstGeom prst="rect">
            <a:avLst/>
          </a:prstGeom>
          <a:solidFill>
            <a:srgbClr val="C60016"/>
          </a:solidFill>
          <a:ln w="12700">
            <a:solidFill>
              <a:srgbClr val="FFFFFF">
                <a:alpha val="0"/>
              </a:srgbClr>
            </a:solidFill>
            <a:prstDash val="solid"/>
          </a:ln>
        </p:spPr>
        <p:txBody>
          <a:bodyPr/>
          <a:lstStyle/>
          <a:p>
            <a:endParaRPr lang="en-CA"/>
          </a:p>
        </p:txBody>
      </p:sp>
      <p:sp>
        <p:nvSpPr>
          <p:cNvPr id="9" name="Shape 7"/>
          <p:cNvSpPr/>
          <p:nvPr/>
        </p:nvSpPr>
        <p:spPr>
          <a:xfrm>
            <a:off x="904852" y="3714750"/>
            <a:ext cx="4286143" cy="19050"/>
          </a:xfrm>
          <a:prstGeom prst="rect">
            <a:avLst/>
          </a:prstGeom>
          <a:solidFill>
            <a:srgbClr val="C60016"/>
          </a:solidFill>
          <a:ln w="12700">
            <a:solidFill>
              <a:srgbClr val="FFFFFF">
                <a:alpha val="0"/>
              </a:srgbClr>
            </a:solidFill>
            <a:prstDash val="solid"/>
          </a:ln>
        </p:spPr>
        <p:txBody>
          <a:bodyPr/>
          <a:lstStyle/>
          <a:p>
            <a:endParaRPr lang="en-CA"/>
          </a:p>
        </p:txBody>
      </p:sp>
      <p:sp>
        <p:nvSpPr>
          <p:cNvPr id="10" name="Text 8"/>
          <p:cNvSpPr/>
          <p:nvPr/>
        </p:nvSpPr>
        <p:spPr>
          <a:xfrm>
            <a:off x="904852" y="1762125"/>
            <a:ext cx="4857629" cy="319980"/>
          </a:xfrm>
          <a:prstGeom prst="rect">
            <a:avLst/>
          </a:prstGeom>
          <a:noFill/>
          <a:ln/>
        </p:spPr>
        <p:txBody>
          <a:bodyPr wrap="square" lIns="0" tIns="0" rIns="0" bIns="0" rtlCol="0" anchor="t"/>
          <a:lstStyle/>
          <a:p>
            <a:pPr marL="0" indent="0" algn="l">
              <a:buNone/>
            </a:pPr>
            <a:r>
              <a:rPr lang="en-US" sz="1800" dirty="0">
                <a:solidFill>
                  <a:srgbClr val="181818"/>
                </a:solidFill>
                <a:latin typeface="Arial" pitchFamily="34" charset="0"/>
                <a:ea typeface="Arial" pitchFamily="34" charset="-122"/>
                <a:cs typeface="Arial" pitchFamily="34" charset="-120"/>
              </a:rPr>
              <a:t>3 × 2.4 m = 7.2 m</a:t>
            </a:r>
            <a:endParaRPr lang="en-US" sz="1800" dirty="0"/>
          </a:p>
        </p:txBody>
      </p:sp>
      <p:sp>
        <p:nvSpPr>
          <p:cNvPr id="11" name="Text 9"/>
          <p:cNvSpPr/>
          <p:nvPr/>
        </p:nvSpPr>
        <p:spPr>
          <a:xfrm>
            <a:off x="904852" y="4619625"/>
            <a:ext cx="4857629" cy="319980"/>
          </a:xfrm>
          <a:prstGeom prst="rect">
            <a:avLst/>
          </a:prstGeom>
          <a:noFill/>
          <a:ln/>
        </p:spPr>
        <p:txBody>
          <a:bodyPr wrap="square" lIns="0" tIns="0" rIns="0" bIns="0" rtlCol="0" anchor="t"/>
          <a:lstStyle/>
          <a:p>
            <a:pPr marL="0" indent="0" algn="l">
              <a:buNone/>
            </a:pPr>
            <a:r>
              <a:rPr lang="en-US" sz="1800" dirty="0">
                <a:solidFill>
                  <a:srgbClr val="181818"/>
                </a:solidFill>
                <a:latin typeface="Arial" pitchFamily="34" charset="0"/>
                <a:ea typeface="Arial" pitchFamily="34" charset="-122"/>
                <a:cs typeface="Arial" pitchFamily="34" charset="-120"/>
              </a:rPr>
              <a:t>3 × 1.2 m = 3.6 m • 9 sheets</a:t>
            </a:r>
            <a:endParaRPr lang="en-US" sz="1800" dirty="0"/>
          </a:p>
        </p:txBody>
      </p:sp>
      <p:sp>
        <p:nvSpPr>
          <p:cNvPr id="12" name="Text 10"/>
          <p:cNvSpPr/>
          <p:nvPr/>
        </p:nvSpPr>
        <p:spPr>
          <a:xfrm>
            <a:off x="6476838" y="1952625"/>
            <a:ext cx="4952876" cy="1119783"/>
          </a:xfrm>
          <a:prstGeom prst="rect">
            <a:avLst/>
          </a:prstGeom>
          <a:noFill/>
          <a:ln/>
        </p:spPr>
        <p:txBody>
          <a:bodyPr wrap="square" lIns="0" tIns="0" rIns="0" bIns="0" rtlCol="0" anchor="t"/>
          <a:lstStyle/>
          <a:p>
            <a:pPr marL="0" indent="0" algn="l">
              <a:buNone/>
            </a:pPr>
            <a:r>
              <a:rPr lang="en-US" sz="2100" dirty="0">
                <a:solidFill>
                  <a:srgbClr val="181818"/>
                </a:solidFill>
                <a:latin typeface="Arial" pitchFamily="34" charset="0"/>
                <a:ea typeface="Arial" pitchFamily="34" charset="-122"/>
                <a:cs typeface="Arial" pitchFamily="34" charset="-120"/>
              </a:rPr>
              <a:t>Base: 25.92 ÷ 2.88 = 9</a:t>
            </a:r>
            <a:endParaRPr lang="en-US" sz="2100" dirty="0"/>
          </a:p>
          <a:p>
            <a:pPr marL="0" indent="0" algn="l">
              <a:buNone/>
            </a:pPr>
            <a:r>
              <a:rPr lang="en-US" sz="2100" dirty="0">
                <a:solidFill>
                  <a:srgbClr val="181818"/>
                </a:solidFill>
                <a:latin typeface="Arial" pitchFamily="34" charset="0"/>
                <a:ea typeface="Arial" pitchFamily="34" charset="-122"/>
                <a:cs typeface="Arial" pitchFamily="34" charset="-120"/>
              </a:rPr>
              <a:t>With 10%: 9 × 1.10 = 9.9</a:t>
            </a:r>
            <a:endParaRPr lang="en-US" sz="2100" dirty="0"/>
          </a:p>
          <a:p>
            <a:pPr marL="0" indent="0" algn="l">
              <a:buNone/>
            </a:pPr>
            <a:r>
              <a:rPr lang="en-US" sz="2100" dirty="0">
                <a:solidFill>
                  <a:srgbClr val="181818"/>
                </a:solidFill>
                <a:latin typeface="Arial" pitchFamily="34" charset="0"/>
                <a:ea typeface="Arial" pitchFamily="34" charset="-122"/>
                <a:cs typeface="Arial" pitchFamily="34" charset="-120"/>
              </a:rPr>
              <a:t>Whole-sheet order: 10</a:t>
            </a:r>
            <a:endParaRPr lang="en-US" sz="2100" dirty="0"/>
          </a:p>
        </p:txBody>
      </p:sp>
      <p:sp>
        <p:nvSpPr>
          <p:cNvPr id="13" name="Text 11"/>
          <p:cNvSpPr/>
          <p:nvPr/>
        </p:nvSpPr>
        <p:spPr>
          <a:xfrm>
            <a:off x="6476838" y="3524250"/>
            <a:ext cx="4952876" cy="1279922"/>
          </a:xfrm>
          <a:prstGeom prst="rect">
            <a:avLst/>
          </a:prstGeom>
          <a:noFill/>
          <a:ln/>
        </p:spPr>
        <p:txBody>
          <a:bodyPr wrap="square" lIns="0" tIns="0" rIns="0" bIns="0" rtlCol="0" anchor="t"/>
          <a:lstStyle/>
          <a:p>
            <a:pPr marL="0" indent="0" algn="l">
              <a:buNone/>
            </a:pPr>
            <a:r>
              <a:rPr lang="en-US" sz="1800" dirty="0">
                <a:solidFill>
                  <a:srgbClr val="181818"/>
                </a:solidFill>
                <a:latin typeface="Arial" pitchFamily="34" charset="0"/>
                <a:ea typeface="Arial" pitchFamily="34" charset="-122"/>
                <a:cs typeface="Arial" pitchFamily="34" charset="-120"/>
              </a:rPr>
              <a:t>The nine-sheet arrangement verifies</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this simple rectangular base layout.</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The tenth sheet is the stated</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classroom planning allowance.</a:t>
            </a:r>
            <a:endParaRPr lang="en-US" sz="1800" dirty="0"/>
          </a:p>
        </p:txBody>
      </p:sp>
      <p:sp>
        <p:nvSpPr>
          <p:cNvPr id="14" name="Text 12"/>
          <p:cNvSpPr/>
          <p:nvPr/>
        </p:nvSpPr>
        <p:spPr>
          <a:xfrm>
            <a:off x="609585" y="5476875"/>
            <a:ext cx="10972526" cy="639961"/>
          </a:xfrm>
          <a:prstGeom prst="rect">
            <a:avLst/>
          </a:prstGeom>
          <a:noFill/>
          <a:ln/>
        </p:spPr>
        <p:txBody>
          <a:bodyPr wrap="square" lIns="0" tIns="0" rIns="0" bIns="0" rtlCol="0" anchor="t"/>
          <a:lstStyle/>
          <a:p>
            <a:pPr marL="0" indent="0" algn="l">
              <a:buNone/>
            </a:pPr>
            <a:r>
              <a:rPr lang="en-US" sz="1800" dirty="0">
                <a:solidFill>
                  <a:srgbClr val="181818"/>
                </a:solidFill>
                <a:latin typeface="Arial" pitchFamily="34" charset="0"/>
                <a:ea typeface="Arial" pitchFamily="34" charset="-122"/>
                <a:cs typeface="Arial" pitchFamily="34" charset="-120"/>
              </a:rPr>
              <a:t>Together • Recreate the 3 × 3 layout in Shape Canvas. Compare the exact</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no-waste layout with the separate allowance quantity; explain final rounding.</a:t>
            </a:r>
            <a:endParaRPr lang="en-US" sz="1800" dirty="0"/>
          </a:p>
        </p:txBody>
      </p:sp>
      <p:sp>
        <p:nvSpPr>
          <p:cNvPr id="15" name="Text 13"/>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181818"/>
                </a:solidFill>
                <a:latin typeface="Arial" pitchFamily="34" charset="0"/>
                <a:ea typeface="Arial" pitchFamily="34" charset="-122"/>
                <a:cs typeface="Arial" pitchFamily="34" charset="-120"/>
              </a:rPr>
              <a:t>Instructor adaptation • Sheet size 1.2 m × 2.4 m • 10% is classroom data, not a universal job allowance</a:t>
            </a:r>
            <a:endParaRPr lang="en-US" sz="1050" dirty="0"/>
          </a:p>
        </p:txBody>
      </p:sp>
      <p:pic>
        <p:nvPicPr>
          <p:cNvPr id="16" name="Picture 15"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7" name="Rectangle 16"/>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8" name="TextBox 17"/>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9" name="TextBox 18"/>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20" name="TextBox 19"/>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21" name="TextBox 20"/>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22" name="TextBox 21"/>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23  •  2026-12-07  •  24</a:t>
            </a:r>
          </a:p>
        </p:txBody>
      </p:sp>
    </p:spTree>
    <p:extLst>
      <p:ext uri="{BB962C8B-B14F-4D97-AF65-F5344CB8AC3E}">
        <p14:creationId xmlns:p14="http://schemas.microsoft.com/office/powerpoint/2010/main" val="1371028029"/>
      </p:ext>
    </p:extLst>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W07-L02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96</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6.4 pp.96–97; Chapter 10 pp.154–164</a:t>
            </a:r>
          </a:p>
        </p:txBody>
      </p:sp>
      <p:pic>
        <p:nvPicPr>
          <p:cNvPr id="5" name="Picture 4" descr="W07-L02-1.png"/>
          <p:cNvPicPr>
            <a:picLocks noChangeAspect="1"/>
          </p:cNvPicPr>
          <p:nvPr/>
        </p:nvPicPr>
        <p:blipFill>
          <a:blip r:embed="rId3"/>
          <a:stretch>
            <a:fillRect/>
          </a:stretch>
        </p:blipFill>
        <p:spPr>
          <a:xfrm>
            <a:off x="685800" y="2160292"/>
            <a:ext cx="10698480" cy="3131775"/>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Example 6.5: a stated allowance is added to the original quantity.</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23  •  2026-12-07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W07-L02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96</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6.4 pp.96–97; Chapter 10 pp.154–164</a:t>
            </a:r>
          </a:p>
        </p:txBody>
      </p:sp>
      <p:pic>
        <p:nvPicPr>
          <p:cNvPr id="5" name="Picture 4" descr="W07-L02-2.png"/>
          <p:cNvPicPr>
            <a:picLocks noChangeAspect="1"/>
          </p:cNvPicPr>
          <p:nvPr/>
        </p:nvPicPr>
        <p:blipFill>
          <a:blip r:embed="rId3"/>
          <a:stretch>
            <a:fillRect/>
          </a:stretch>
        </p:blipFill>
        <p:spPr>
          <a:xfrm>
            <a:off x="685800" y="1868959"/>
            <a:ext cx="10698479" cy="3714441"/>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Example 6.5: compare calculator entries and the whole-length order.</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23  •  2026-12-07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W07-L02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6.4 pp.96–97; Chapter 10 pp.154–164</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t>A quantity note shows 9.9 sheets and orders 9 because the base layout used nine. Why is the order short?</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a:t>The verified base and the allowance order answer different questions. Keep the base at nine, retain the stated 10% calculation, and round the final purchase quantity up to ten whole sheets.</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Rectangle 8"/>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1" name="TextBox 10"/>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2" name="TextBox 11"/>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3" name="TextBox 12"/>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4" name="TextBox 13"/>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23  •  2026-12-07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W07-L02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6.4 pp.96–97; Chapter 10 pp.154–164</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Pairs lay out nine sheets as three 2.4 m lengths by three 1.2 m widths. Compare the verified no-waste layout with the separate allowance quantity.</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Explain the method and check directions; work with a partner only where permitted.</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10B Q1–2 (p.65); 6B Q2 (p.41)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23  •  2026-12-07  •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W07-L02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6.4 pp.96–97; Chapter 10 pp.154–164</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Prepare a quantity note: floor area, sheet area, nine-sheet base and stated 10% allowance. Then solve Exercise Book 10B Q2 for coating tins. Check units, final rounding and assumptions; no prices are assumed.</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Keep numbered written solutions and units. Use tools only under the conditions stated for this block.</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10B Q1–2 (p.65); 6B Q2 (p.41)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23  •  2026-12-07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W07-L02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Open the ACCESS tool for this activity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6.4 pp.96–97; Chapter 10 pp.154–164</a:t>
            </a:r>
          </a:p>
        </p:txBody>
      </p:sp>
      <p:pic>
        <p:nvPicPr>
          <p:cNvPr id="5" name="Picture 4" descr="shape-rect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23  •  2026-12-07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W07-L02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tool activity: try, compare and record</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6.4 pp.96–97; Chapter 10 pp.154–164</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Open the floor sketch in Shape Canvas and use 1.2 m × 2.4 m sheet rectangles to recreate the scheduled 3 × 3 arrangement.</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Check the arrangement against the 7.2 m and 3.6 m floor dimensions; record the floor area, sheet area and nine-sheet base in the written quantity note.</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000" b="0">
                <a:solidFill>
                  <a:srgbClr val="1A1A1A"/>
                </a:solidFill>
                <a:latin typeface="Arial"/>
              </a:defRPr>
            </a:pPr>
            <a:r>
              <a:rPr/>
              <a:t>Use Numeracy Hub Calculator after paper working to compare the no-waste count with 9 × 1.10. Record the stated allowance and final whole-sheet rounding separately.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23  •  2026-12-07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W07-L02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10B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6.4 pp.96–97; Chapter 10 pp.154–164</a:t>
            </a:r>
          </a:p>
        </p:txBody>
      </p:sp>
      <p:pic>
        <p:nvPicPr>
          <p:cNvPr id="5" name="Picture 4" descr="10B-Q2.png"/>
          <p:cNvPicPr>
            <a:picLocks noChangeAspect="1"/>
          </p:cNvPicPr>
          <p:nvPr/>
        </p:nvPicPr>
        <p:blipFill>
          <a:blip r:embed="rId3"/>
          <a:stretch>
            <a:fillRect/>
          </a:stretch>
        </p:blipFill>
        <p:spPr>
          <a:xfrm>
            <a:off x="685800" y="2658618"/>
            <a:ext cx="10698480" cy="1842516"/>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23  •  2026-12-07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W07-L02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6.4 pp.96–97; Chapter 10 pp.154–164</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Explain the nine-sheet base, allowance order, and why an area estimate alone does not prove every cutting layout.</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Submit work and demonstrate the checking strategy; identify a remaining difficulty.</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10B Q1–2 (p.65); 6B Q2 (p.41)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23  •  2026-12-07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W07-L02  •  WRAP UP  •  3:25 PM–3:30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6.4 pp.96–97; Chapter 10 pp.154–164</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Identify what improved, what needs another attempt and which resource will support the next step.</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Name the math and another essential skill used; record a concrete follow-up action.</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10B Q1–2 (p.65); 6B Q2 (p.41)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23  •  2026-12-07  •  34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37</TotalTime>
  <Words>19960</Words>
  <Application>Microsoft Office PowerPoint</Application>
  <PresentationFormat>Widescreen</PresentationFormat>
  <Paragraphs>2040</Paragraphs>
  <Slides>165</Slides>
  <Notes>165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165</vt:i4>
      </vt:variant>
    </vt:vector>
  </HeadingPairs>
  <TitlesOfParts>
    <vt:vector size="168" baseType="lpstr">
      <vt:lpstr>Aptos</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ACCESS Carpentry Math | Full Day 23 | 2026-12-07</dc:title>
  <dc:creator>ACCESS Trades</dc:creator>
  <cp:lastModifiedBy>Gabriel Ostrowidzki</cp:lastModifiedBy>
  <cp:revision>3</cp:revision>
  <dcterms:created xsi:type="dcterms:W3CDTF">2026-10-19T18:44:52Z</dcterms:created>
  <dcterms:modified xsi:type="dcterms:W3CDTF">2026-10-19T19:22:04Z</dcterms:modified>
  <dc:subject>Carpentry drawing: floor layout and cut list; Materials practice: sheeting and allowance</dc:subject>
</cp:coreProperties>
</file>